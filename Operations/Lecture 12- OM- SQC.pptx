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64"/>
  </p:notesMasterIdLst>
  <p:sldIdLst>
    <p:sldId id="293" r:id="rId2"/>
    <p:sldId id="360" r:id="rId3"/>
    <p:sldId id="321" r:id="rId4"/>
    <p:sldId id="260" r:id="rId5"/>
    <p:sldId id="326" r:id="rId6"/>
    <p:sldId id="324" r:id="rId7"/>
    <p:sldId id="319" r:id="rId8"/>
    <p:sldId id="345" r:id="rId9"/>
    <p:sldId id="312" r:id="rId10"/>
    <p:sldId id="385" r:id="rId11"/>
    <p:sldId id="400" r:id="rId12"/>
    <p:sldId id="347" r:id="rId13"/>
    <p:sldId id="346" r:id="rId14"/>
    <p:sldId id="348" r:id="rId15"/>
    <p:sldId id="350" r:id="rId16"/>
    <p:sldId id="351" r:id="rId17"/>
    <p:sldId id="361" r:id="rId18"/>
    <p:sldId id="353" r:id="rId19"/>
    <p:sldId id="354" r:id="rId20"/>
    <p:sldId id="328" r:id="rId21"/>
    <p:sldId id="322" r:id="rId22"/>
    <p:sldId id="386" r:id="rId23"/>
    <p:sldId id="387" r:id="rId24"/>
    <p:sldId id="355" r:id="rId25"/>
    <p:sldId id="356" r:id="rId26"/>
    <p:sldId id="384" r:id="rId27"/>
    <p:sldId id="357" r:id="rId28"/>
    <p:sldId id="320" r:id="rId29"/>
    <p:sldId id="313" r:id="rId30"/>
    <p:sldId id="323" r:id="rId31"/>
    <p:sldId id="388" r:id="rId32"/>
    <p:sldId id="389" r:id="rId33"/>
    <p:sldId id="390" r:id="rId34"/>
    <p:sldId id="391" r:id="rId35"/>
    <p:sldId id="358" r:id="rId36"/>
    <p:sldId id="392" r:id="rId37"/>
    <p:sldId id="393" r:id="rId38"/>
    <p:sldId id="394" r:id="rId39"/>
    <p:sldId id="395" r:id="rId40"/>
    <p:sldId id="396" r:id="rId41"/>
    <p:sldId id="397" r:id="rId42"/>
    <p:sldId id="379" r:id="rId43"/>
    <p:sldId id="398" r:id="rId44"/>
    <p:sldId id="380" r:id="rId45"/>
    <p:sldId id="381" r:id="rId46"/>
    <p:sldId id="382" r:id="rId47"/>
    <p:sldId id="383" r:id="rId48"/>
    <p:sldId id="399" r:id="rId49"/>
    <p:sldId id="377" r:id="rId50"/>
    <p:sldId id="370" r:id="rId51"/>
    <p:sldId id="371" r:id="rId52"/>
    <p:sldId id="372" r:id="rId53"/>
    <p:sldId id="374" r:id="rId54"/>
    <p:sldId id="373" r:id="rId55"/>
    <p:sldId id="378" r:id="rId56"/>
    <p:sldId id="402" r:id="rId57"/>
    <p:sldId id="403" r:id="rId58"/>
    <p:sldId id="375" r:id="rId59"/>
    <p:sldId id="376" r:id="rId60"/>
    <p:sldId id="404" r:id="rId61"/>
    <p:sldId id="405" r:id="rId62"/>
    <p:sldId id="342"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273" autoAdjust="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40EF96-5C35-468D-BA6B-713F0AAF3A47}"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20E73109-D90E-4107-9D82-78A233F1AC2C}">
      <dgm:prSet phldrT="[Text]"/>
      <dgm:spPr/>
      <dgm:t>
        <a:bodyPr/>
        <a:lstStyle/>
        <a:p>
          <a:r>
            <a:rPr lang="en-US" dirty="0" smtClean="0">
              <a:solidFill>
                <a:schemeClr val="tx1"/>
              </a:solidFill>
            </a:rPr>
            <a:t>Quantitative aspect of quality management</a:t>
          </a:r>
          <a:endParaRPr lang="en-US" dirty="0">
            <a:solidFill>
              <a:schemeClr val="tx1"/>
            </a:solidFill>
          </a:endParaRPr>
        </a:p>
      </dgm:t>
    </dgm:pt>
    <dgm:pt modelId="{EBB7BD65-C4A7-41A2-A54F-AAC5E797BB8E}" type="parTrans" cxnId="{3D8A61F7-E73D-4AC9-BF7F-AD6D3D1D8606}">
      <dgm:prSet/>
      <dgm:spPr/>
      <dgm:t>
        <a:bodyPr/>
        <a:lstStyle/>
        <a:p>
          <a:endParaRPr lang="en-US"/>
        </a:p>
      </dgm:t>
    </dgm:pt>
    <dgm:pt modelId="{CEC8106B-3BC0-4EFC-A7D9-286B845E377F}" type="sibTrans" cxnId="{3D8A61F7-E73D-4AC9-BF7F-AD6D3D1D8606}">
      <dgm:prSet/>
      <dgm:spPr/>
      <dgm:t>
        <a:bodyPr/>
        <a:lstStyle/>
        <a:p>
          <a:endParaRPr lang="en-US"/>
        </a:p>
      </dgm:t>
    </dgm:pt>
    <dgm:pt modelId="{EEA48EB4-2FA2-440A-8864-155BC96E26DB}">
      <dgm:prSet phldrT="[Text]"/>
      <dgm:spPr/>
      <dgm:t>
        <a:bodyPr/>
        <a:lstStyle/>
        <a:p>
          <a:r>
            <a:rPr lang="en-US" dirty="0" smtClean="0">
              <a:solidFill>
                <a:schemeClr val="tx1"/>
              </a:solidFill>
            </a:rPr>
            <a:t>SQC</a:t>
          </a:r>
        </a:p>
        <a:p>
          <a:r>
            <a:rPr lang="en-US" dirty="0" smtClean="0">
              <a:solidFill>
                <a:schemeClr val="tx1"/>
              </a:solidFill>
            </a:rPr>
            <a:t>(Acceptance sampling)</a:t>
          </a:r>
          <a:endParaRPr lang="en-US" dirty="0">
            <a:solidFill>
              <a:schemeClr val="tx1"/>
            </a:solidFill>
          </a:endParaRPr>
        </a:p>
      </dgm:t>
    </dgm:pt>
    <dgm:pt modelId="{E973DC1A-6D4C-4592-ACE5-3143C601903E}" type="parTrans" cxnId="{EA8DD2C4-5949-483B-A639-3AEDA30262ED}">
      <dgm:prSet/>
      <dgm:spPr/>
      <dgm:t>
        <a:bodyPr/>
        <a:lstStyle/>
        <a:p>
          <a:endParaRPr lang="en-US"/>
        </a:p>
      </dgm:t>
    </dgm:pt>
    <dgm:pt modelId="{8DD1DC3B-3E43-41BC-8D09-AAC15BB360AA}" type="sibTrans" cxnId="{EA8DD2C4-5949-483B-A639-3AEDA30262ED}">
      <dgm:prSet/>
      <dgm:spPr/>
      <dgm:t>
        <a:bodyPr/>
        <a:lstStyle/>
        <a:p>
          <a:endParaRPr lang="en-US"/>
        </a:p>
      </dgm:t>
    </dgm:pt>
    <dgm:pt modelId="{EBD691ED-D5DD-47E8-9ED2-6B2E8747F288}">
      <dgm:prSet phldrT="[Text]"/>
      <dgm:spPr/>
      <dgm:t>
        <a:bodyPr/>
        <a:lstStyle/>
        <a:p>
          <a:r>
            <a:rPr lang="en-US" dirty="0" smtClean="0">
              <a:solidFill>
                <a:schemeClr val="tx1"/>
              </a:solidFill>
            </a:rPr>
            <a:t>SPC</a:t>
          </a:r>
        </a:p>
        <a:p>
          <a:r>
            <a:rPr lang="en-US" dirty="0" smtClean="0">
              <a:solidFill>
                <a:schemeClr val="tx1"/>
              </a:solidFill>
            </a:rPr>
            <a:t>(Process Control Charts )</a:t>
          </a:r>
          <a:endParaRPr lang="en-US" dirty="0">
            <a:solidFill>
              <a:schemeClr val="tx1"/>
            </a:solidFill>
          </a:endParaRPr>
        </a:p>
      </dgm:t>
    </dgm:pt>
    <dgm:pt modelId="{B18C7449-1516-43F1-9BB1-E4E5AE4D25B9}" type="parTrans" cxnId="{1FD4FC68-D0EF-4E0E-A337-C668F3C92C26}">
      <dgm:prSet/>
      <dgm:spPr/>
      <dgm:t>
        <a:bodyPr/>
        <a:lstStyle/>
        <a:p>
          <a:endParaRPr lang="en-US"/>
        </a:p>
      </dgm:t>
    </dgm:pt>
    <dgm:pt modelId="{DB5E5B25-E8C1-47E2-BDB1-CF820CA6074A}" type="sibTrans" cxnId="{1FD4FC68-D0EF-4E0E-A337-C668F3C92C26}">
      <dgm:prSet/>
      <dgm:spPr/>
      <dgm:t>
        <a:bodyPr/>
        <a:lstStyle/>
        <a:p>
          <a:endParaRPr lang="en-US"/>
        </a:p>
      </dgm:t>
    </dgm:pt>
    <dgm:pt modelId="{7429066A-70EA-45A7-9E9A-15A53BA2DB14}" type="pres">
      <dgm:prSet presAssocID="{6440EF96-5C35-468D-BA6B-713F0AAF3A47}" presName="hierChild1" presStyleCnt="0">
        <dgm:presLayoutVars>
          <dgm:orgChart val="1"/>
          <dgm:chPref val="1"/>
          <dgm:dir/>
          <dgm:animOne val="branch"/>
          <dgm:animLvl val="lvl"/>
          <dgm:resizeHandles/>
        </dgm:presLayoutVars>
      </dgm:prSet>
      <dgm:spPr/>
    </dgm:pt>
    <dgm:pt modelId="{844C349B-0233-4996-B2FE-BEF582BF0050}" type="pres">
      <dgm:prSet presAssocID="{20E73109-D90E-4107-9D82-78A233F1AC2C}" presName="hierRoot1" presStyleCnt="0">
        <dgm:presLayoutVars>
          <dgm:hierBranch val="init"/>
        </dgm:presLayoutVars>
      </dgm:prSet>
      <dgm:spPr/>
    </dgm:pt>
    <dgm:pt modelId="{2EE44835-85F7-4C68-BFFA-B5D23756538B}" type="pres">
      <dgm:prSet presAssocID="{20E73109-D90E-4107-9D82-78A233F1AC2C}" presName="rootComposite1" presStyleCnt="0"/>
      <dgm:spPr/>
    </dgm:pt>
    <dgm:pt modelId="{90EA96BA-E607-46C4-8B68-CA42D1BAAFC6}" type="pres">
      <dgm:prSet presAssocID="{20E73109-D90E-4107-9D82-78A233F1AC2C}" presName="rootText1" presStyleLbl="node0" presStyleIdx="0" presStyleCnt="1">
        <dgm:presLayoutVars>
          <dgm:chPref val="3"/>
        </dgm:presLayoutVars>
      </dgm:prSet>
      <dgm:spPr/>
      <dgm:t>
        <a:bodyPr/>
        <a:lstStyle/>
        <a:p>
          <a:endParaRPr lang="en-US"/>
        </a:p>
      </dgm:t>
    </dgm:pt>
    <dgm:pt modelId="{C47B5DC9-CAAB-4245-8491-3D01C287C1E5}" type="pres">
      <dgm:prSet presAssocID="{20E73109-D90E-4107-9D82-78A233F1AC2C}" presName="rootConnector1" presStyleLbl="node1" presStyleIdx="0" presStyleCnt="0"/>
      <dgm:spPr/>
    </dgm:pt>
    <dgm:pt modelId="{2F933FED-1807-4B04-A09B-3D31F4375817}" type="pres">
      <dgm:prSet presAssocID="{20E73109-D90E-4107-9D82-78A233F1AC2C}" presName="hierChild2" presStyleCnt="0"/>
      <dgm:spPr/>
    </dgm:pt>
    <dgm:pt modelId="{B3067AD2-40DB-4380-BD90-191DADAEC5B3}" type="pres">
      <dgm:prSet presAssocID="{E973DC1A-6D4C-4592-ACE5-3143C601903E}" presName="Name37" presStyleLbl="parChTrans1D2" presStyleIdx="0" presStyleCnt="2"/>
      <dgm:spPr/>
    </dgm:pt>
    <dgm:pt modelId="{0493366A-B93D-4F8A-A2B9-BFDF1F1F34CF}" type="pres">
      <dgm:prSet presAssocID="{EEA48EB4-2FA2-440A-8864-155BC96E26DB}" presName="hierRoot2" presStyleCnt="0">
        <dgm:presLayoutVars>
          <dgm:hierBranch val="init"/>
        </dgm:presLayoutVars>
      </dgm:prSet>
      <dgm:spPr/>
    </dgm:pt>
    <dgm:pt modelId="{C1FF1C21-848F-4F23-B4EA-69069BFAC839}" type="pres">
      <dgm:prSet presAssocID="{EEA48EB4-2FA2-440A-8864-155BC96E26DB}" presName="rootComposite" presStyleCnt="0"/>
      <dgm:spPr/>
    </dgm:pt>
    <dgm:pt modelId="{3AC16008-8C45-4816-9335-92DABE6DE900}" type="pres">
      <dgm:prSet presAssocID="{EEA48EB4-2FA2-440A-8864-155BC96E26DB}" presName="rootText" presStyleLbl="node2" presStyleIdx="0" presStyleCnt="2">
        <dgm:presLayoutVars>
          <dgm:chPref val="3"/>
        </dgm:presLayoutVars>
      </dgm:prSet>
      <dgm:spPr/>
      <dgm:t>
        <a:bodyPr/>
        <a:lstStyle/>
        <a:p>
          <a:endParaRPr lang="en-US"/>
        </a:p>
      </dgm:t>
    </dgm:pt>
    <dgm:pt modelId="{3D2D878E-B7FE-4C36-AF68-129B49C92036}" type="pres">
      <dgm:prSet presAssocID="{EEA48EB4-2FA2-440A-8864-155BC96E26DB}" presName="rootConnector" presStyleLbl="node2" presStyleIdx="0" presStyleCnt="2"/>
      <dgm:spPr/>
    </dgm:pt>
    <dgm:pt modelId="{4DD5EE11-DF81-49CD-9924-42F0E0BF4807}" type="pres">
      <dgm:prSet presAssocID="{EEA48EB4-2FA2-440A-8864-155BC96E26DB}" presName="hierChild4" presStyleCnt="0"/>
      <dgm:spPr/>
    </dgm:pt>
    <dgm:pt modelId="{E99C9B87-A67B-4F40-A81B-DFF47E82A3C5}" type="pres">
      <dgm:prSet presAssocID="{EEA48EB4-2FA2-440A-8864-155BC96E26DB}" presName="hierChild5" presStyleCnt="0"/>
      <dgm:spPr/>
    </dgm:pt>
    <dgm:pt modelId="{BB2B607D-0EE1-42B7-84A2-37FA46F7D50E}" type="pres">
      <dgm:prSet presAssocID="{B18C7449-1516-43F1-9BB1-E4E5AE4D25B9}" presName="Name37" presStyleLbl="parChTrans1D2" presStyleIdx="1" presStyleCnt="2"/>
      <dgm:spPr/>
    </dgm:pt>
    <dgm:pt modelId="{B8A2E118-CBA4-46CF-8186-1AC48B4E6D10}" type="pres">
      <dgm:prSet presAssocID="{EBD691ED-D5DD-47E8-9ED2-6B2E8747F288}" presName="hierRoot2" presStyleCnt="0">
        <dgm:presLayoutVars>
          <dgm:hierBranch val="init"/>
        </dgm:presLayoutVars>
      </dgm:prSet>
      <dgm:spPr/>
    </dgm:pt>
    <dgm:pt modelId="{E659FA03-4E75-4399-9F7C-872CE562190E}" type="pres">
      <dgm:prSet presAssocID="{EBD691ED-D5DD-47E8-9ED2-6B2E8747F288}" presName="rootComposite" presStyleCnt="0"/>
      <dgm:spPr/>
    </dgm:pt>
    <dgm:pt modelId="{B987291A-DDBD-4274-B320-CD6CFB87D009}" type="pres">
      <dgm:prSet presAssocID="{EBD691ED-D5DD-47E8-9ED2-6B2E8747F288}" presName="rootText" presStyleLbl="node2" presStyleIdx="1" presStyleCnt="2">
        <dgm:presLayoutVars>
          <dgm:chPref val="3"/>
        </dgm:presLayoutVars>
      </dgm:prSet>
      <dgm:spPr/>
      <dgm:t>
        <a:bodyPr/>
        <a:lstStyle/>
        <a:p>
          <a:endParaRPr lang="en-US"/>
        </a:p>
      </dgm:t>
    </dgm:pt>
    <dgm:pt modelId="{27C4CC17-1B8F-4B5E-9FE5-AF8689D03AA5}" type="pres">
      <dgm:prSet presAssocID="{EBD691ED-D5DD-47E8-9ED2-6B2E8747F288}" presName="rootConnector" presStyleLbl="node2" presStyleIdx="1" presStyleCnt="2"/>
      <dgm:spPr/>
    </dgm:pt>
    <dgm:pt modelId="{3EF16B3F-AC91-4FFD-82FB-CF58D8E2897D}" type="pres">
      <dgm:prSet presAssocID="{EBD691ED-D5DD-47E8-9ED2-6B2E8747F288}" presName="hierChild4" presStyleCnt="0"/>
      <dgm:spPr/>
    </dgm:pt>
    <dgm:pt modelId="{FEDDD188-FA4E-4B9E-83DD-281CA6DAB768}" type="pres">
      <dgm:prSet presAssocID="{EBD691ED-D5DD-47E8-9ED2-6B2E8747F288}" presName="hierChild5" presStyleCnt="0"/>
      <dgm:spPr/>
    </dgm:pt>
    <dgm:pt modelId="{315FB35D-DEAA-403B-AF8F-B8EF226842C5}" type="pres">
      <dgm:prSet presAssocID="{20E73109-D90E-4107-9D82-78A233F1AC2C}" presName="hierChild3" presStyleCnt="0"/>
      <dgm:spPr/>
    </dgm:pt>
  </dgm:ptLst>
  <dgm:cxnLst>
    <dgm:cxn modelId="{59EA6DF1-8DCF-434D-B0C2-B135051259D7}" type="presOf" srcId="{B18C7449-1516-43F1-9BB1-E4E5AE4D25B9}" destId="{BB2B607D-0EE1-42B7-84A2-37FA46F7D50E}" srcOrd="0" destOrd="0" presId="urn:microsoft.com/office/officeart/2005/8/layout/orgChart1"/>
    <dgm:cxn modelId="{EA8DD2C4-5949-483B-A639-3AEDA30262ED}" srcId="{20E73109-D90E-4107-9D82-78A233F1AC2C}" destId="{EEA48EB4-2FA2-440A-8864-155BC96E26DB}" srcOrd="0" destOrd="0" parTransId="{E973DC1A-6D4C-4592-ACE5-3143C601903E}" sibTransId="{8DD1DC3B-3E43-41BC-8D09-AAC15BB360AA}"/>
    <dgm:cxn modelId="{23679A8B-84B1-4BAB-BD97-759195DC4F08}" type="presOf" srcId="{E973DC1A-6D4C-4592-ACE5-3143C601903E}" destId="{B3067AD2-40DB-4380-BD90-191DADAEC5B3}" srcOrd="0" destOrd="0" presId="urn:microsoft.com/office/officeart/2005/8/layout/orgChart1"/>
    <dgm:cxn modelId="{1FD4FC68-D0EF-4E0E-A337-C668F3C92C26}" srcId="{20E73109-D90E-4107-9D82-78A233F1AC2C}" destId="{EBD691ED-D5DD-47E8-9ED2-6B2E8747F288}" srcOrd="1" destOrd="0" parTransId="{B18C7449-1516-43F1-9BB1-E4E5AE4D25B9}" sibTransId="{DB5E5B25-E8C1-47E2-BDB1-CF820CA6074A}"/>
    <dgm:cxn modelId="{57B16387-1688-459F-A7C7-C4E92F93C5A4}" type="presOf" srcId="{EBD691ED-D5DD-47E8-9ED2-6B2E8747F288}" destId="{B987291A-DDBD-4274-B320-CD6CFB87D009}" srcOrd="0" destOrd="0" presId="urn:microsoft.com/office/officeart/2005/8/layout/orgChart1"/>
    <dgm:cxn modelId="{F48A4F1E-607A-41DC-9E8F-C4D056276BC5}" type="presOf" srcId="{EEA48EB4-2FA2-440A-8864-155BC96E26DB}" destId="{3D2D878E-B7FE-4C36-AF68-129B49C92036}" srcOrd="1" destOrd="0" presId="urn:microsoft.com/office/officeart/2005/8/layout/orgChart1"/>
    <dgm:cxn modelId="{DAB85055-43C8-4EFE-A0DC-FFC7ACE5591C}" type="presOf" srcId="{20E73109-D90E-4107-9D82-78A233F1AC2C}" destId="{C47B5DC9-CAAB-4245-8491-3D01C287C1E5}" srcOrd="1" destOrd="0" presId="urn:microsoft.com/office/officeart/2005/8/layout/orgChart1"/>
    <dgm:cxn modelId="{3087FE82-8EA7-43CC-8C7E-56301A1A9C52}" type="presOf" srcId="{20E73109-D90E-4107-9D82-78A233F1AC2C}" destId="{90EA96BA-E607-46C4-8B68-CA42D1BAAFC6}" srcOrd="0" destOrd="0" presId="urn:microsoft.com/office/officeart/2005/8/layout/orgChart1"/>
    <dgm:cxn modelId="{F7E235AD-B42C-4B4D-9275-8306BB4099D9}" type="presOf" srcId="{6440EF96-5C35-468D-BA6B-713F0AAF3A47}" destId="{7429066A-70EA-45A7-9E9A-15A53BA2DB14}" srcOrd="0" destOrd="0" presId="urn:microsoft.com/office/officeart/2005/8/layout/orgChart1"/>
    <dgm:cxn modelId="{3D8A61F7-E73D-4AC9-BF7F-AD6D3D1D8606}" srcId="{6440EF96-5C35-468D-BA6B-713F0AAF3A47}" destId="{20E73109-D90E-4107-9D82-78A233F1AC2C}" srcOrd="0" destOrd="0" parTransId="{EBB7BD65-C4A7-41A2-A54F-AAC5E797BB8E}" sibTransId="{CEC8106B-3BC0-4EFC-A7D9-286B845E377F}"/>
    <dgm:cxn modelId="{547F8ECE-CCDB-48EF-B192-226D9AAF2277}" type="presOf" srcId="{EBD691ED-D5DD-47E8-9ED2-6B2E8747F288}" destId="{27C4CC17-1B8F-4B5E-9FE5-AF8689D03AA5}" srcOrd="1" destOrd="0" presId="urn:microsoft.com/office/officeart/2005/8/layout/orgChart1"/>
    <dgm:cxn modelId="{5CDC7E54-63F0-45FF-A617-91258EE4436D}" type="presOf" srcId="{EEA48EB4-2FA2-440A-8864-155BC96E26DB}" destId="{3AC16008-8C45-4816-9335-92DABE6DE900}" srcOrd="0" destOrd="0" presId="urn:microsoft.com/office/officeart/2005/8/layout/orgChart1"/>
    <dgm:cxn modelId="{77E2E438-CACE-472B-BEE4-3835E5BFE004}" type="presParOf" srcId="{7429066A-70EA-45A7-9E9A-15A53BA2DB14}" destId="{844C349B-0233-4996-B2FE-BEF582BF0050}" srcOrd="0" destOrd="0" presId="urn:microsoft.com/office/officeart/2005/8/layout/orgChart1"/>
    <dgm:cxn modelId="{08DC9381-066E-43DD-B4D2-403D38478643}" type="presParOf" srcId="{844C349B-0233-4996-B2FE-BEF582BF0050}" destId="{2EE44835-85F7-4C68-BFFA-B5D23756538B}" srcOrd="0" destOrd="0" presId="urn:microsoft.com/office/officeart/2005/8/layout/orgChart1"/>
    <dgm:cxn modelId="{A6799998-44A8-455E-83CF-DFF6E475D260}" type="presParOf" srcId="{2EE44835-85F7-4C68-BFFA-B5D23756538B}" destId="{90EA96BA-E607-46C4-8B68-CA42D1BAAFC6}" srcOrd="0" destOrd="0" presId="urn:microsoft.com/office/officeart/2005/8/layout/orgChart1"/>
    <dgm:cxn modelId="{F2B49CC8-26D1-453C-86EC-F84C39C7F8E5}" type="presParOf" srcId="{2EE44835-85F7-4C68-BFFA-B5D23756538B}" destId="{C47B5DC9-CAAB-4245-8491-3D01C287C1E5}" srcOrd="1" destOrd="0" presId="urn:microsoft.com/office/officeart/2005/8/layout/orgChart1"/>
    <dgm:cxn modelId="{8FA3D820-C1C8-4705-A602-FB9BAE60F7A6}" type="presParOf" srcId="{844C349B-0233-4996-B2FE-BEF582BF0050}" destId="{2F933FED-1807-4B04-A09B-3D31F4375817}" srcOrd="1" destOrd="0" presId="urn:microsoft.com/office/officeart/2005/8/layout/orgChart1"/>
    <dgm:cxn modelId="{A67B5A86-2A75-4EE9-A3C4-34B1EABFA861}" type="presParOf" srcId="{2F933FED-1807-4B04-A09B-3D31F4375817}" destId="{B3067AD2-40DB-4380-BD90-191DADAEC5B3}" srcOrd="0" destOrd="0" presId="urn:microsoft.com/office/officeart/2005/8/layout/orgChart1"/>
    <dgm:cxn modelId="{E51C3B53-976F-49B5-A656-CEFC1EAEC90E}" type="presParOf" srcId="{2F933FED-1807-4B04-A09B-3D31F4375817}" destId="{0493366A-B93D-4F8A-A2B9-BFDF1F1F34CF}" srcOrd="1" destOrd="0" presId="urn:microsoft.com/office/officeart/2005/8/layout/orgChart1"/>
    <dgm:cxn modelId="{2E80B6CD-57BC-48D8-AAA1-CFC860E938FC}" type="presParOf" srcId="{0493366A-B93D-4F8A-A2B9-BFDF1F1F34CF}" destId="{C1FF1C21-848F-4F23-B4EA-69069BFAC839}" srcOrd="0" destOrd="0" presId="urn:microsoft.com/office/officeart/2005/8/layout/orgChart1"/>
    <dgm:cxn modelId="{FA2F6AEE-D73A-4CB0-9CCA-8A2C1C73AA8F}" type="presParOf" srcId="{C1FF1C21-848F-4F23-B4EA-69069BFAC839}" destId="{3AC16008-8C45-4816-9335-92DABE6DE900}" srcOrd="0" destOrd="0" presId="urn:microsoft.com/office/officeart/2005/8/layout/orgChart1"/>
    <dgm:cxn modelId="{860F33F9-79A3-4C27-81D5-2E7627EB2306}" type="presParOf" srcId="{C1FF1C21-848F-4F23-B4EA-69069BFAC839}" destId="{3D2D878E-B7FE-4C36-AF68-129B49C92036}" srcOrd="1" destOrd="0" presId="urn:microsoft.com/office/officeart/2005/8/layout/orgChart1"/>
    <dgm:cxn modelId="{7E84285F-F677-438C-AF09-033CBB1AF24F}" type="presParOf" srcId="{0493366A-B93D-4F8A-A2B9-BFDF1F1F34CF}" destId="{4DD5EE11-DF81-49CD-9924-42F0E0BF4807}" srcOrd="1" destOrd="0" presId="urn:microsoft.com/office/officeart/2005/8/layout/orgChart1"/>
    <dgm:cxn modelId="{BAD628DC-0628-411A-957B-69BF2A78D6E7}" type="presParOf" srcId="{0493366A-B93D-4F8A-A2B9-BFDF1F1F34CF}" destId="{E99C9B87-A67B-4F40-A81B-DFF47E82A3C5}" srcOrd="2" destOrd="0" presId="urn:microsoft.com/office/officeart/2005/8/layout/orgChart1"/>
    <dgm:cxn modelId="{BDFC8786-79CF-4DF4-87BD-587FA75794B8}" type="presParOf" srcId="{2F933FED-1807-4B04-A09B-3D31F4375817}" destId="{BB2B607D-0EE1-42B7-84A2-37FA46F7D50E}" srcOrd="2" destOrd="0" presId="urn:microsoft.com/office/officeart/2005/8/layout/orgChart1"/>
    <dgm:cxn modelId="{15D9CDFA-6F2B-48C1-A6B6-94DF104CA912}" type="presParOf" srcId="{2F933FED-1807-4B04-A09B-3D31F4375817}" destId="{B8A2E118-CBA4-46CF-8186-1AC48B4E6D10}" srcOrd="3" destOrd="0" presId="urn:microsoft.com/office/officeart/2005/8/layout/orgChart1"/>
    <dgm:cxn modelId="{32E4603D-CCD2-4C61-8E02-38C1E8E6101E}" type="presParOf" srcId="{B8A2E118-CBA4-46CF-8186-1AC48B4E6D10}" destId="{E659FA03-4E75-4399-9F7C-872CE562190E}" srcOrd="0" destOrd="0" presId="urn:microsoft.com/office/officeart/2005/8/layout/orgChart1"/>
    <dgm:cxn modelId="{4FA73EDB-200B-4B5F-87C6-FA8D04F98D61}" type="presParOf" srcId="{E659FA03-4E75-4399-9F7C-872CE562190E}" destId="{B987291A-DDBD-4274-B320-CD6CFB87D009}" srcOrd="0" destOrd="0" presId="urn:microsoft.com/office/officeart/2005/8/layout/orgChart1"/>
    <dgm:cxn modelId="{7DDB217A-7ACD-4A72-90ED-48D6482D45B9}" type="presParOf" srcId="{E659FA03-4E75-4399-9F7C-872CE562190E}" destId="{27C4CC17-1B8F-4B5E-9FE5-AF8689D03AA5}" srcOrd="1" destOrd="0" presId="urn:microsoft.com/office/officeart/2005/8/layout/orgChart1"/>
    <dgm:cxn modelId="{E47A3198-EAA5-4442-9C15-2CF917F77EE0}" type="presParOf" srcId="{B8A2E118-CBA4-46CF-8186-1AC48B4E6D10}" destId="{3EF16B3F-AC91-4FFD-82FB-CF58D8E2897D}" srcOrd="1" destOrd="0" presId="urn:microsoft.com/office/officeart/2005/8/layout/orgChart1"/>
    <dgm:cxn modelId="{DBB8C339-E798-4F1F-B7E4-3E328A1B93FE}" type="presParOf" srcId="{B8A2E118-CBA4-46CF-8186-1AC48B4E6D10}" destId="{FEDDD188-FA4E-4B9E-83DD-281CA6DAB768}" srcOrd="2" destOrd="0" presId="urn:microsoft.com/office/officeart/2005/8/layout/orgChart1"/>
    <dgm:cxn modelId="{8C0161C1-8E89-4A8D-8C05-37AA299D930F}" type="presParOf" srcId="{844C349B-0233-4996-B2FE-BEF582BF0050}" destId="{315FB35D-DEAA-403B-AF8F-B8EF226842C5}"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2B607D-0EE1-42B7-84A2-37FA46F7D50E}">
      <dsp:nvSpPr>
        <dsp:cNvPr id="0" name=""/>
        <dsp:cNvSpPr/>
      </dsp:nvSpPr>
      <dsp:spPr>
        <a:xfrm>
          <a:off x="4064000" y="1555318"/>
          <a:ext cx="1881857" cy="653206"/>
        </a:xfrm>
        <a:custGeom>
          <a:avLst/>
          <a:gdLst/>
          <a:ahLst/>
          <a:cxnLst/>
          <a:rect l="0" t="0" r="0" b="0"/>
          <a:pathLst>
            <a:path>
              <a:moveTo>
                <a:pt x="0" y="0"/>
              </a:moveTo>
              <a:lnTo>
                <a:pt x="0" y="326603"/>
              </a:lnTo>
              <a:lnTo>
                <a:pt x="1881857" y="326603"/>
              </a:lnTo>
              <a:lnTo>
                <a:pt x="1881857" y="65320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067AD2-40DB-4380-BD90-191DADAEC5B3}">
      <dsp:nvSpPr>
        <dsp:cNvPr id="0" name=""/>
        <dsp:cNvSpPr/>
      </dsp:nvSpPr>
      <dsp:spPr>
        <a:xfrm>
          <a:off x="2182142" y="1555318"/>
          <a:ext cx="1881857" cy="653206"/>
        </a:xfrm>
        <a:custGeom>
          <a:avLst/>
          <a:gdLst/>
          <a:ahLst/>
          <a:cxnLst/>
          <a:rect l="0" t="0" r="0" b="0"/>
          <a:pathLst>
            <a:path>
              <a:moveTo>
                <a:pt x="1881857" y="0"/>
              </a:moveTo>
              <a:lnTo>
                <a:pt x="1881857" y="326603"/>
              </a:lnTo>
              <a:lnTo>
                <a:pt x="0" y="326603"/>
              </a:lnTo>
              <a:lnTo>
                <a:pt x="0" y="65320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0EA96BA-E607-46C4-8B68-CA42D1BAAFC6}">
      <dsp:nvSpPr>
        <dsp:cNvPr id="0" name=""/>
        <dsp:cNvSpPr/>
      </dsp:nvSpPr>
      <dsp:spPr>
        <a:xfrm>
          <a:off x="2508746" y="64"/>
          <a:ext cx="3110507" cy="155525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sz="3200" kern="1200" dirty="0" smtClean="0">
              <a:solidFill>
                <a:schemeClr val="tx1"/>
              </a:solidFill>
            </a:rPr>
            <a:t>Quantitative aspect of quality management</a:t>
          </a:r>
          <a:endParaRPr lang="en-US" sz="3200" kern="1200" dirty="0">
            <a:solidFill>
              <a:schemeClr val="tx1"/>
            </a:solidFill>
          </a:endParaRPr>
        </a:p>
      </dsp:txBody>
      <dsp:txXfrm>
        <a:off x="2508746" y="64"/>
        <a:ext cx="3110507" cy="1555253"/>
      </dsp:txXfrm>
    </dsp:sp>
    <dsp:sp modelId="{3AC16008-8C45-4816-9335-92DABE6DE900}">
      <dsp:nvSpPr>
        <dsp:cNvPr id="0" name=""/>
        <dsp:cNvSpPr/>
      </dsp:nvSpPr>
      <dsp:spPr>
        <a:xfrm>
          <a:off x="626888" y="2208524"/>
          <a:ext cx="3110507" cy="155525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sz="3200" kern="1200" dirty="0" smtClean="0">
              <a:solidFill>
                <a:schemeClr val="tx1"/>
              </a:solidFill>
            </a:rPr>
            <a:t>SQC</a:t>
          </a:r>
        </a:p>
        <a:p>
          <a:pPr lvl="0" algn="ctr" defTabSz="1422400">
            <a:lnSpc>
              <a:spcPct val="90000"/>
            </a:lnSpc>
            <a:spcBef>
              <a:spcPct val="0"/>
            </a:spcBef>
            <a:spcAft>
              <a:spcPct val="35000"/>
            </a:spcAft>
          </a:pPr>
          <a:r>
            <a:rPr lang="en-US" sz="3200" kern="1200" dirty="0" smtClean="0">
              <a:solidFill>
                <a:schemeClr val="tx1"/>
              </a:solidFill>
            </a:rPr>
            <a:t>(Acceptance sampling)</a:t>
          </a:r>
          <a:endParaRPr lang="en-US" sz="3200" kern="1200" dirty="0">
            <a:solidFill>
              <a:schemeClr val="tx1"/>
            </a:solidFill>
          </a:endParaRPr>
        </a:p>
      </dsp:txBody>
      <dsp:txXfrm>
        <a:off x="626888" y="2208524"/>
        <a:ext cx="3110507" cy="1555253"/>
      </dsp:txXfrm>
    </dsp:sp>
    <dsp:sp modelId="{B987291A-DDBD-4274-B320-CD6CFB87D009}">
      <dsp:nvSpPr>
        <dsp:cNvPr id="0" name=""/>
        <dsp:cNvSpPr/>
      </dsp:nvSpPr>
      <dsp:spPr>
        <a:xfrm>
          <a:off x="4390603" y="2208524"/>
          <a:ext cx="3110507" cy="155525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sz="3200" kern="1200" dirty="0" smtClean="0">
              <a:solidFill>
                <a:schemeClr val="tx1"/>
              </a:solidFill>
            </a:rPr>
            <a:t>SPC</a:t>
          </a:r>
        </a:p>
        <a:p>
          <a:pPr lvl="0" algn="ctr" defTabSz="1422400">
            <a:lnSpc>
              <a:spcPct val="90000"/>
            </a:lnSpc>
            <a:spcBef>
              <a:spcPct val="0"/>
            </a:spcBef>
            <a:spcAft>
              <a:spcPct val="35000"/>
            </a:spcAft>
          </a:pPr>
          <a:r>
            <a:rPr lang="en-US" sz="3200" kern="1200" dirty="0" smtClean="0">
              <a:solidFill>
                <a:schemeClr val="tx1"/>
              </a:solidFill>
            </a:rPr>
            <a:t>(Process Control Charts )</a:t>
          </a:r>
          <a:endParaRPr lang="en-US" sz="3200" kern="1200" dirty="0">
            <a:solidFill>
              <a:schemeClr val="tx1"/>
            </a:solidFill>
          </a:endParaRPr>
        </a:p>
      </dsp:txBody>
      <dsp:txXfrm>
        <a:off x="4390603" y="2208524"/>
        <a:ext cx="3110507" cy="1555253"/>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BF7B1F-17DF-4BA6-8D99-D5F16882F9FD}" type="datetimeFigureOut">
              <a:rPr lang="en-IN" smtClean="0"/>
              <a:t>18-02-2023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CE6734-619C-4C44-8DDA-28681AF99E23}" type="slidenum">
              <a:rPr lang="en-IN" smtClean="0"/>
              <a:t>‹#›</a:t>
            </a:fld>
            <a:endParaRPr lang="en-IN"/>
          </a:p>
        </p:txBody>
      </p:sp>
    </p:spTree>
    <p:extLst>
      <p:ext uri="{BB962C8B-B14F-4D97-AF65-F5344CB8AC3E}">
        <p14:creationId xmlns:p14="http://schemas.microsoft.com/office/powerpoint/2010/main" val="3431196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1CE6734-619C-4C44-8DDA-28681AF99E23}" type="slidenum">
              <a:rPr lang="en-IN" smtClean="0"/>
              <a:t>3</a:t>
            </a:fld>
            <a:endParaRPr lang="en-IN"/>
          </a:p>
        </p:txBody>
      </p:sp>
    </p:spTree>
    <p:extLst>
      <p:ext uri="{BB962C8B-B14F-4D97-AF65-F5344CB8AC3E}">
        <p14:creationId xmlns:p14="http://schemas.microsoft.com/office/powerpoint/2010/main" val="37132633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9E2ED03-6B94-4345-8944-CFCF63F6DEC1}" type="datetimeFigureOut">
              <a:rPr lang="en-IN" smtClean="0"/>
              <a:t>18-02-2023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1888992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9E2ED03-6B94-4345-8944-CFCF63F6DEC1}" type="datetimeFigureOut">
              <a:rPr lang="en-IN" smtClean="0"/>
              <a:t>18-02-2023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2229788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9E2ED03-6B94-4345-8944-CFCF63F6DEC1}" type="datetimeFigureOut">
              <a:rPr lang="en-IN" smtClean="0"/>
              <a:t>18-02-2023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4103904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9E2ED03-6B94-4345-8944-CFCF63F6DEC1}" type="datetimeFigureOut">
              <a:rPr lang="en-IN" smtClean="0"/>
              <a:t>18-02-2023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2106231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9E2ED03-6B94-4345-8944-CFCF63F6DEC1}" type="datetimeFigureOut">
              <a:rPr lang="en-IN" smtClean="0"/>
              <a:t>18-02-2023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3622886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9E2ED03-6B94-4345-8944-CFCF63F6DEC1}" type="datetimeFigureOut">
              <a:rPr lang="en-IN" smtClean="0"/>
              <a:t>18-02-2023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2930927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E2ED03-6B94-4345-8944-CFCF63F6DEC1}" type="datetimeFigureOut">
              <a:rPr lang="en-IN" smtClean="0"/>
              <a:t>18-02-2023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1648085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9E2ED03-6B94-4345-8944-CFCF63F6DEC1}" type="datetimeFigureOut">
              <a:rPr lang="en-IN" smtClean="0"/>
              <a:t>18-02-2023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387890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9E2ED03-6B94-4345-8944-CFCF63F6DEC1}" type="datetimeFigureOut">
              <a:rPr lang="en-IN" smtClean="0"/>
              <a:t>18-02-2023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566593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9E2ED03-6B94-4345-8944-CFCF63F6DEC1}" type="datetimeFigureOut">
              <a:rPr lang="en-IN" smtClean="0"/>
              <a:t>18-02-2023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455742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9E2ED03-6B94-4345-8944-CFCF63F6DEC1}" type="datetimeFigureOut">
              <a:rPr lang="en-IN" smtClean="0"/>
              <a:t>18-02-2023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2064479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E2ED03-6B94-4345-8944-CFCF63F6DEC1}" type="datetimeFigureOut">
              <a:rPr lang="en-IN" smtClean="0"/>
              <a:t>18-02-2023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A8C682-AE47-4C43-B1ED-12799A6AD0EB}" type="slidenum">
              <a:rPr lang="en-IN" smtClean="0"/>
              <a:t>‹#›</a:t>
            </a:fld>
            <a:endParaRPr lang="en-IN"/>
          </a:p>
        </p:txBody>
      </p:sp>
    </p:spTree>
    <p:extLst>
      <p:ext uri="{BB962C8B-B14F-4D97-AF65-F5344CB8AC3E}">
        <p14:creationId xmlns:p14="http://schemas.microsoft.com/office/powerpoint/2010/main" val="3938540936"/>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5003" y="237506"/>
            <a:ext cx="11792197" cy="6305798"/>
          </a:xfrm>
        </p:spPr>
        <p:txBody>
          <a:bodyPr>
            <a:normAutofit/>
          </a:bodyPr>
          <a:lstStyle/>
          <a:p>
            <a:endParaRPr lang="en-US" sz="3600" dirty="0">
              <a:solidFill>
                <a:srgbClr val="0070C0"/>
              </a:solidFill>
              <a:latin typeface="Algerian" panose="04020705040A02060702" pitchFamily="82" charset="0"/>
              <a:cs typeface="Arial" panose="020B0604020202020204" pitchFamily="34" charset="0"/>
            </a:endParaRPr>
          </a:p>
          <a:p>
            <a:endParaRPr lang="en-US" sz="3600" dirty="0" smtClean="0">
              <a:solidFill>
                <a:srgbClr val="0070C0"/>
              </a:solidFill>
              <a:latin typeface="Algerian" panose="04020705040A02060702" pitchFamily="82" charset="0"/>
              <a:cs typeface="Arial" panose="020B0604020202020204" pitchFamily="34" charset="0"/>
            </a:endParaRPr>
          </a:p>
          <a:p>
            <a:endParaRPr lang="en-US" sz="3600" dirty="0" smtClean="0">
              <a:solidFill>
                <a:srgbClr val="0070C0"/>
              </a:solidFill>
              <a:latin typeface="Algerian" panose="04020705040A02060702" pitchFamily="82" charset="0"/>
              <a:cs typeface="Arial" panose="020B0604020202020204" pitchFamily="34" charset="0"/>
            </a:endParaRPr>
          </a:p>
          <a:p>
            <a:endParaRPr lang="en-US" sz="3600" dirty="0">
              <a:solidFill>
                <a:srgbClr val="0070C0"/>
              </a:solidFill>
              <a:latin typeface="Algerian" panose="04020705040A02060702" pitchFamily="82" charset="0"/>
              <a:cs typeface="Arial" panose="020B0604020202020204" pitchFamily="34" charset="0"/>
            </a:endParaRPr>
          </a:p>
          <a:p>
            <a:r>
              <a:rPr lang="en-US" sz="3600" dirty="0" smtClean="0">
                <a:solidFill>
                  <a:srgbClr val="0070C0"/>
                </a:solidFill>
                <a:latin typeface="Algerian" panose="04020705040A02060702" pitchFamily="82" charset="0"/>
                <a:cs typeface="Arial" panose="020B0604020202020204" pitchFamily="34" charset="0"/>
              </a:rPr>
              <a:t>Statistical Quality Control(SQC)</a:t>
            </a:r>
            <a:endParaRPr lang="en-US" sz="3600" dirty="0">
              <a:solidFill>
                <a:srgbClr val="0070C0"/>
              </a:solidFill>
              <a:latin typeface="Algerian" panose="04020705040A02060702" pitchFamily="82" charset="0"/>
              <a:cs typeface="Arial" panose="020B0604020202020204" pitchFamily="34" charset="0"/>
            </a:endParaRPr>
          </a:p>
        </p:txBody>
      </p:sp>
    </p:spTree>
    <p:extLst>
      <p:ext uri="{BB962C8B-B14F-4D97-AF65-F5344CB8AC3E}">
        <p14:creationId xmlns:p14="http://schemas.microsoft.com/office/powerpoint/2010/main" val="4235275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4469" y="296092"/>
            <a:ext cx="11338560" cy="6331132"/>
          </a:xfrm>
        </p:spPr>
        <p:txBody>
          <a:bodyPr>
            <a:normAutofit fontScale="92500"/>
          </a:bodyPr>
          <a:lstStyle/>
          <a:p>
            <a:pPr marL="0" indent="0" algn="ctr">
              <a:buNone/>
            </a:pPr>
            <a:r>
              <a:rPr lang="en-IN" sz="3900" dirty="0">
                <a:solidFill>
                  <a:srgbClr val="7030A0"/>
                </a:solidFill>
                <a:latin typeface="Times New Roman" panose="02020603050405020304" pitchFamily="18" charset="0"/>
                <a:cs typeface="Times New Roman" panose="02020603050405020304" pitchFamily="18" charset="0"/>
              </a:rPr>
              <a:t>QUALITY </a:t>
            </a:r>
            <a:r>
              <a:rPr lang="en-IN" sz="3900" dirty="0" smtClean="0">
                <a:solidFill>
                  <a:srgbClr val="7030A0"/>
                </a:solidFill>
                <a:latin typeface="Times New Roman" panose="02020603050405020304" pitchFamily="18" charset="0"/>
                <a:cs typeface="Times New Roman" panose="02020603050405020304" pitchFamily="18" charset="0"/>
              </a:rPr>
              <a:t>CONTROL</a:t>
            </a:r>
          </a:p>
          <a:p>
            <a:pPr marL="0" indent="0">
              <a:buNone/>
            </a:pPr>
            <a:r>
              <a:rPr lang="en-US" sz="3000" dirty="0">
                <a:solidFill>
                  <a:srgbClr val="0070C0"/>
                </a:solidFill>
                <a:latin typeface="Times New Roman" panose="02020603050405020304" pitchFamily="18" charset="0"/>
                <a:cs typeface="Times New Roman" panose="02020603050405020304" pitchFamily="18" charset="0"/>
              </a:rPr>
              <a:t>DEFINITION OF QUALITY: </a:t>
            </a:r>
            <a:r>
              <a:rPr lang="en-US" sz="3000" dirty="0" smtClean="0">
                <a:solidFill>
                  <a:srgbClr val="0070C0"/>
                </a:solidFill>
                <a:latin typeface="Times New Roman" panose="02020603050405020304" pitchFamily="18" charset="0"/>
                <a:cs typeface="Times New Roman" panose="02020603050405020304" pitchFamily="18" charset="0"/>
              </a:rPr>
              <a:t> </a:t>
            </a:r>
          </a:p>
          <a:p>
            <a:r>
              <a:rPr lang="en-US" dirty="0" smtClean="0"/>
              <a:t>The </a:t>
            </a:r>
            <a:r>
              <a:rPr lang="en-US" dirty="0"/>
              <a:t>meaning of “Quality” is closely allied to cost and customer needs. “Quality” may simply be defined as fitness for purpose at lowest cost. </a:t>
            </a:r>
            <a:endParaRPr lang="en-US" dirty="0" smtClean="0"/>
          </a:p>
          <a:p>
            <a:r>
              <a:rPr lang="en-US" dirty="0" smtClean="0"/>
              <a:t> </a:t>
            </a:r>
            <a:r>
              <a:rPr lang="en-US" dirty="0"/>
              <a:t>The component is said to possess good quality, if it works well in the equipment for which it is meant. Quality is thus defined as fitness for purpose. </a:t>
            </a:r>
          </a:p>
          <a:p>
            <a:r>
              <a:rPr lang="en-US" dirty="0" smtClean="0"/>
              <a:t>Quality </a:t>
            </a:r>
            <a:r>
              <a:rPr lang="en-US" dirty="0"/>
              <a:t>is the ‘totality of features and characteristics’ both for the products and services that can satisfy both the explicit and implicit needs of the customers. </a:t>
            </a:r>
          </a:p>
          <a:p>
            <a:r>
              <a:rPr lang="en-US" dirty="0" smtClean="0"/>
              <a:t>“</a:t>
            </a:r>
            <a:r>
              <a:rPr lang="en-US" dirty="0"/>
              <a:t>Quality” of any product is regarded as the degree to which it fulfills the requirements of the customer. </a:t>
            </a:r>
            <a:endParaRPr lang="en-US" dirty="0" smtClean="0"/>
          </a:p>
          <a:p>
            <a:r>
              <a:rPr lang="en-US" dirty="0" smtClean="0"/>
              <a:t> </a:t>
            </a:r>
            <a:r>
              <a:rPr lang="en-US" dirty="0"/>
              <a:t>“Quality” means degree of perfection. Quality is not absolute but it can only be judged or realized by comparing with standards. It can be determined by some characteristics namely, design, size, material, chemical composition, mechanical functioning, workmanship, finish and other properties.</a:t>
            </a:r>
            <a:endParaRPr lang="en-IN" dirty="0"/>
          </a:p>
        </p:txBody>
      </p:sp>
    </p:spTree>
    <p:extLst>
      <p:ext uri="{BB962C8B-B14F-4D97-AF65-F5344CB8AC3E}">
        <p14:creationId xmlns:p14="http://schemas.microsoft.com/office/powerpoint/2010/main" val="2635097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Assembly Line"/>
          <p:cNvSpPr>
            <a:spLocks noGrp="1" noChangeAspect="1" noChangeArrowheads="1"/>
          </p:cNvSpPr>
          <p:nvPr>
            <p:ph idx="1"/>
          </p:nvPr>
        </p:nvSpPr>
        <p:spPr bwMode="auto">
          <a:xfrm>
            <a:off x="285750" y="177800"/>
            <a:ext cx="11672888" cy="64960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indent="0">
              <a:buNone/>
            </a:pPr>
            <a:r>
              <a:rPr lang="en-US" dirty="0">
                <a:solidFill>
                  <a:srgbClr val="0070C0"/>
                </a:solidFill>
                <a:latin typeface="Times New Roman" panose="02020603050405020304" pitchFamily="18" charset="0"/>
                <a:cs typeface="Times New Roman" panose="02020603050405020304" pitchFamily="18" charset="0"/>
              </a:rPr>
              <a:t>MEANING OF CONTROL </a:t>
            </a:r>
            <a:endParaRPr lang="en-US" dirty="0" smtClean="0">
              <a:solidFill>
                <a:srgbClr val="0070C0"/>
              </a:solidFill>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Control </a:t>
            </a:r>
            <a:r>
              <a:rPr lang="en-US" dirty="0">
                <a:latin typeface="Times New Roman" panose="02020603050405020304" pitchFamily="18" charset="0"/>
                <a:cs typeface="Times New Roman" panose="02020603050405020304" pitchFamily="18" charset="0"/>
              </a:rPr>
              <a:t>is a system for measuring and checking (inspecting) a phenomenon. It suggests when to inspect, how often to inspect and how much to inspect. In addition, it incorporates a feedback mechanism which explores the causes of poor quality and takes corrective action.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Control </a:t>
            </a:r>
            <a:r>
              <a:rPr lang="en-US" dirty="0">
                <a:latin typeface="Times New Roman" panose="02020603050405020304" pitchFamily="18" charset="0"/>
                <a:cs typeface="Times New Roman" panose="02020603050405020304" pitchFamily="18" charset="0"/>
              </a:rPr>
              <a:t>differs from ‘inspection’, as it ascertains quality characteristics of an item, compares the same with prescribed quality standards and separates defective items from non-defective ones. Inspection, however, does not involve any mechanism to take corrective action.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5843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947" y="288758"/>
            <a:ext cx="11405937" cy="6316579"/>
          </a:xfrm>
        </p:spPr>
        <p:txBody>
          <a:bodyPr>
            <a:normAutofit/>
          </a:bodyPr>
          <a:lstStyle/>
          <a:p>
            <a:pPr marL="0" indent="0" algn="just">
              <a:buNone/>
            </a:pPr>
            <a:r>
              <a:rPr lang="en-US" sz="3200" dirty="0">
                <a:solidFill>
                  <a:srgbClr val="7030A0"/>
                </a:solidFill>
                <a:latin typeface="Times New Roman" panose="02020603050405020304" pitchFamily="18" charset="0"/>
                <a:cs typeface="Times New Roman" panose="02020603050405020304" pitchFamily="18" charset="0"/>
              </a:rPr>
              <a:t>MEANING OF QUALITY CONTROL </a:t>
            </a:r>
            <a:endParaRPr lang="en-US" sz="3200" dirty="0" smtClean="0">
              <a:solidFill>
                <a:srgbClr val="7030A0"/>
              </a:solidFill>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Quality </a:t>
            </a:r>
            <a:r>
              <a:rPr lang="en-US" dirty="0">
                <a:latin typeface="Times New Roman" panose="02020603050405020304" pitchFamily="18" charset="0"/>
                <a:cs typeface="Times New Roman" panose="02020603050405020304" pitchFamily="18" charset="0"/>
              </a:rPr>
              <a:t>Control is a systematic control of various factors that affect the quality of the product. The various factors include material, tools, machines, type of labour, working conditions, measuring instruments, etc.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Quality </a:t>
            </a:r>
            <a:r>
              <a:rPr lang="en-US" dirty="0">
                <a:latin typeface="Times New Roman" panose="02020603050405020304" pitchFamily="18" charset="0"/>
                <a:cs typeface="Times New Roman" panose="02020603050405020304" pitchFamily="18" charset="0"/>
              </a:rPr>
              <a:t>Control can be defined as the entire collection of activities which ensures that the operation will produce the optimum Quality products at minimum cost.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As </a:t>
            </a:r>
            <a:r>
              <a:rPr lang="en-US" dirty="0">
                <a:latin typeface="Times New Roman" panose="02020603050405020304" pitchFamily="18" charset="0"/>
                <a:cs typeface="Times New Roman" panose="02020603050405020304" pitchFamily="18" charset="0"/>
              </a:rPr>
              <a:t>per A.Y. Feigorbaum Total Quality Control is: “An effective system for integrating the quality development, Quality maintenance and Quality improvement efforts of the various groups in an organization, so as to enable production and services at the most economical levels which allow full customer satisfaction”</a:t>
            </a:r>
            <a:endParaRPr lang="en-IN"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347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947" y="121920"/>
            <a:ext cx="11405937" cy="6483417"/>
          </a:xfrm>
        </p:spPr>
        <p:txBody>
          <a:bodyPr>
            <a:normAutofit/>
          </a:bodyPr>
          <a:lstStyle/>
          <a:p>
            <a:pPr marL="0" indent="0" algn="just">
              <a:buNone/>
            </a:pPr>
            <a:r>
              <a:rPr lang="en-US" dirty="0">
                <a:solidFill>
                  <a:srgbClr val="7030A0"/>
                </a:solidFill>
                <a:latin typeface="Times New Roman" panose="02020603050405020304" pitchFamily="18" charset="0"/>
                <a:cs typeface="Times New Roman" panose="02020603050405020304" pitchFamily="18" charset="0"/>
              </a:rPr>
              <a:t>FACTORS AFFECTING QUALITY </a:t>
            </a:r>
            <a:endParaRPr lang="en-US" dirty="0" smtClean="0">
              <a:solidFill>
                <a:srgbClr val="7030A0"/>
              </a:solidFill>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addition to men, materials, machines and manufacturing conditions there are some other factors which affect the product quality. These are: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Market Research i.e. </a:t>
            </a:r>
            <a:r>
              <a:rPr lang="en-US" dirty="0" smtClean="0">
                <a:latin typeface="Times New Roman" panose="02020603050405020304" pitchFamily="18" charset="0"/>
                <a:cs typeface="Times New Roman" panose="02020603050405020304" pitchFamily="18" charset="0"/>
              </a:rPr>
              <a:t>in depth </a:t>
            </a:r>
            <a:r>
              <a:rPr lang="en-US" dirty="0">
                <a:latin typeface="Times New Roman" panose="02020603050405020304" pitchFamily="18" charset="0"/>
                <a:cs typeface="Times New Roman" panose="02020603050405020304" pitchFamily="18" charset="0"/>
              </a:rPr>
              <a:t>into demands of purchaser. </a:t>
            </a:r>
          </a:p>
          <a:p>
            <a:pPr algn="just"/>
            <a:r>
              <a:rPr lang="en-US" dirty="0" smtClean="0">
                <a:latin typeface="Times New Roman" panose="02020603050405020304" pitchFamily="18" charset="0"/>
                <a:cs typeface="Times New Roman" panose="02020603050405020304" pitchFamily="18" charset="0"/>
              </a:rPr>
              <a:t>Money </a:t>
            </a:r>
            <a:r>
              <a:rPr lang="en-US" dirty="0">
                <a:latin typeface="Times New Roman" panose="02020603050405020304" pitchFamily="18" charset="0"/>
                <a:cs typeface="Times New Roman" panose="02020603050405020304" pitchFamily="18" charset="0"/>
              </a:rPr>
              <a:t>i.e. capability to invest.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Management i.e. Management policies for quality level.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Production methods and product design.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Modern </a:t>
            </a:r>
            <a:r>
              <a:rPr lang="en-US" dirty="0">
                <a:latin typeface="Times New Roman" panose="02020603050405020304" pitchFamily="18" charset="0"/>
                <a:cs typeface="Times New Roman" panose="02020603050405020304" pitchFamily="18" charset="0"/>
              </a:rPr>
              <a:t>quality control begins with an evaluation of the customer’s requirements and has a part to play at every stage from goods manufactured right through sales to a customer, who remains satisfied.</a:t>
            </a:r>
            <a:endParaRPr lang="en-IN"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072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947" y="130630"/>
            <a:ext cx="11405937" cy="6474708"/>
          </a:xfrm>
        </p:spPr>
        <p:txBody>
          <a:bodyPr>
            <a:normAutofit/>
          </a:bodyPr>
          <a:lstStyle/>
          <a:p>
            <a:pPr marL="0" indent="0" algn="just">
              <a:buNone/>
            </a:pPr>
            <a:r>
              <a:rPr lang="en-US" sz="3200" dirty="0">
                <a:solidFill>
                  <a:srgbClr val="7030A0"/>
                </a:solidFill>
                <a:latin typeface="Times New Roman" panose="02020603050405020304" pitchFamily="18" charset="0"/>
                <a:cs typeface="Times New Roman" panose="02020603050405020304" pitchFamily="18" charset="0"/>
              </a:rPr>
              <a:t>OBJECTIVES OF QUALITY CONTROL </a:t>
            </a:r>
            <a:endParaRPr lang="en-US" sz="3200" dirty="0" smtClean="0">
              <a:solidFill>
                <a:srgbClr val="7030A0"/>
              </a:solidFill>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decide about the standard of quality of a product that is easily acceptable to the customer and at the same time this standard should be economical to maintain.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To </a:t>
            </a:r>
            <a:r>
              <a:rPr lang="en-US" dirty="0">
                <a:latin typeface="Times New Roman" panose="02020603050405020304" pitchFamily="18" charset="0"/>
                <a:cs typeface="Times New Roman" panose="02020603050405020304" pitchFamily="18" charset="0"/>
              </a:rPr>
              <a:t>take different measures to improve the standard of quality of product.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To </a:t>
            </a:r>
            <a:r>
              <a:rPr lang="en-US" dirty="0">
                <a:latin typeface="Times New Roman" panose="02020603050405020304" pitchFamily="18" charset="0"/>
                <a:cs typeface="Times New Roman" panose="02020603050405020304" pitchFamily="18" charset="0"/>
              </a:rPr>
              <a:t>take various steps to solve any kind of deviations in the quality of the product during manufacturing.</a:t>
            </a:r>
            <a:endParaRPr lang="en-IN"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8872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9381" y="225630"/>
            <a:ext cx="11614067" cy="6412675"/>
          </a:xfrm>
        </p:spPr>
        <p:txBody>
          <a:bodyPr>
            <a:normAutofit/>
          </a:bodyPr>
          <a:lstStyle/>
          <a:p>
            <a:pPr marL="0" indent="0" algn="just">
              <a:buNone/>
            </a:pPr>
            <a:r>
              <a:rPr lang="en-US" dirty="0">
                <a:solidFill>
                  <a:srgbClr val="7030A0"/>
                </a:solidFill>
                <a:latin typeface="Times New Roman" panose="02020603050405020304" pitchFamily="18" charset="0"/>
                <a:cs typeface="Times New Roman" panose="02020603050405020304" pitchFamily="18" charset="0"/>
              </a:rPr>
              <a:t>ADVANTAGES OF QUALITY CONTROL </a:t>
            </a:r>
            <a:endParaRPr lang="en-US" dirty="0" smtClean="0">
              <a:solidFill>
                <a:srgbClr val="7030A0"/>
              </a:solidFill>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Quality </a:t>
            </a:r>
            <a:r>
              <a:rPr lang="en-US" dirty="0">
                <a:latin typeface="Times New Roman" panose="02020603050405020304" pitchFamily="18" charset="0"/>
                <a:cs typeface="Times New Roman" panose="02020603050405020304" pitchFamily="18" charset="0"/>
              </a:rPr>
              <a:t>of product is improved which in turn increases sales.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Scrap rejection and rework are minimized thus reducing wastage. So the cost of manufacturing reduces.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Good </a:t>
            </a:r>
            <a:r>
              <a:rPr lang="en-US" dirty="0">
                <a:latin typeface="Times New Roman" panose="02020603050405020304" pitchFamily="18" charset="0"/>
                <a:cs typeface="Times New Roman" panose="02020603050405020304" pitchFamily="18" charset="0"/>
              </a:rPr>
              <a:t>quality product improves reputation.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Inspection </a:t>
            </a:r>
            <a:r>
              <a:rPr lang="en-US" dirty="0">
                <a:latin typeface="Times New Roman" panose="02020603050405020304" pitchFamily="18" charset="0"/>
                <a:cs typeface="Times New Roman" panose="02020603050405020304" pitchFamily="18" charset="0"/>
              </a:rPr>
              <a:t>cost reduces to a great extent.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Uniformity </a:t>
            </a:r>
            <a:r>
              <a:rPr lang="en-US" dirty="0">
                <a:latin typeface="Times New Roman" panose="02020603050405020304" pitchFamily="18" charset="0"/>
                <a:cs typeface="Times New Roman" panose="02020603050405020304" pitchFamily="18" charset="0"/>
              </a:rPr>
              <a:t>in quality can be achieved. </a:t>
            </a:r>
          </a:p>
          <a:p>
            <a:pPr algn="just"/>
            <a:r>
              <a:rPr lang="en-US" dirty="0" smtClean="0">
                <a:latin typeface="Times New Roman" panose="02020603050405020304" pitchFamily="18" charset="0"/>
                <a:cs typeface="Times New Roman" panose="02020603050405020304" pitchFamily="18" charset="0"/>
              </a:rPr>
              <a:t>Improvement </a:t>
            </a:r>
            <a:r>
              <a:rPr lang="en-US" dirty="0">
                <a:latin typeface="Times New Roman" panose="02020603050405020304" pitchFamily="18" charset="0"/>
                <a:cs typeface="Times New Roman" panose="02020603050405020304" pitchFamily="18" charset="0"/>
              </a:rPr>
              <a:t>in manufacturer and consumer relations.</a:t>
            </a:r>
            <a:endParaRPr lang="en-IN"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3343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512618"/>
            <a:ext cx="11049000" cy="5664345"/>
          </a:xfrm>
        </p:spPr>
        <p:txBody>
          <a:bodyPr/>
          <a:lstStyle/>
          <a:p>
            <a:pPr marL="0" indent="0">
              <a:buNone/>
            </a:pPr>
            <a:r>
              <a:rPr lang="en-US" dirty="0">
                <a:solidFill>
                  <a:srgbClr val="7030A0"/>
                </a:solidFill>
                <a:latin typeface="Times New Roman" panose="02020603050405020304" pitchFamily="18" charset="0"/>
                <a:cs typeface="Times New Roman" panose="02020603050405020304" pitchFamily="18" charset="0"/>
              </a:rPr>
              <a:t>STATISTICAL QUALITY CONTROL (S.Q.C): </a:t>
            </a:r>
            <a:endParaRPr lang="en-US" dirty="0" smtClean="0"/>
          </a:p>
          <a:p>
            <a:pPr algn="just"/>
            <a:r>
              <a:rPr lang="en-US" dirty="0" smtClean="0">
                <a:latin typeface="Times New Roman" panose="02020603050405020304" pitchFamily="18" charset="0"/>
                <a:cs typeface="Times New Roman" panose="02020603050405020304" pitchFamily="18" charset="0"/>
              </a:rPr>
              <a:t>Statistics</a:t>
            </a:r>
            <a:r>
              <a:rPr lang="en-US" dirty="0">
                <a:latin typeface="Times New Roman" panose="02020603050405020304" pitchFamily="18" charset="0"/>
                <a:cs typeface="Times New Roman" panose="02020603050405020304" pitchFamily="18" charset="0"/>
              </a:rPr>
              <a:t>: Statistics means data, a good amount of data to obtain reliable results. The science of statistics handles this data in order to draw certain conclusions.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S.Q.C</a:t>
            </a:r>
            <a:r>
              <a:rPr lang="en-US" dirty="0">
                <a:latin typeface="Times New Roman" panose="02020603050405020304" pitchFamily="18" charset="0"/>
                <a:cs typeface="Times New Roman" panose="02020603050405020304" pitchFamily="18" charset="0"/>
              </a:rPr>
              <a:t>: This is a quality control system employing the statistical techniques to control quality by performing inspection, testing and analysis to conclude whether the quality of the product is as per the laid quality standards.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Using </a:t>
            </a:r>
            <a:r>
              <a:rPr lang="en-US" dirty="0">
                <a:latin typeface="Times New Roman" panose="02020603050405020304" pitchFamily="18" charset="0"/>
                <a:cs typeface="Times New Roman" panose="02020603050405020304" pitchFamily="18" charset="0"/>
              </a:rPr>
              <a:t>statistical techniques, S.Q.C. collects and analyses data in assessing and controlling product quality. The technique of S.Q.C. was though developed in 1924 by Dr.WalterA.Shewartan American scientist; it got recognition in industry only second world war. The technique permits a more fundamental control.</a:t>
            </a:r>
            <a:endParaRPr lang="en-IN"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59826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005" y="83127"/>
            <a:ext cx="11732821" cy="5957455"/>
          </a:xfrm>
        </p:spPr>
        <p:txBody>
          <a:bodyPr>
            <a:normAutofit/>
          </a:bodyPr>
          <a:lstStyle/>
          <a:p>
            <a:pPr marL="0" indent="0" algn="just">
              <a:buNone/>
            </a:pPr>
            <a:r>
              <a:rPr lang="en-US" dirty="0"/>
              <a:t>“</a:t>
            </a:r>
            <a:r>
              <a:rPr lang="en-US" dirty="0">
                <a:latin typeface="Times New Roman" panose="02020603050405020304" pitchFamily="18" charset="0"/>
                <a:cs typeface="Times New Roman" panose="02020603050405020304" pitchFamily="18" charset="0"/>
              </a:rPr>
              <a:t>Statistical quality control can be simply defined as an economic &amp; effective system of maintaining &amp; improving the quality of outputs throughout the whole operating process of specification, production &amp; inspection based on continuous testing with random samples.” -YA LUN </a:t>
            </a:r>
            <a:r>
              <a:rPr lang="en-US" dirty="0" smtClean="0">
                <a:latin typeface="Times New Roman" panose="02020603050405020304" pitchFamily="18" charset="0"/>
                <a:cs typeface="Times New Roman" panose="02020603050405020304" pitchFamily="18" charset="0"/>
              </a:rPr>
              <a:t>CHOU</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Statistical quality control should be viewed as a kit of tools which may influence decisions to the functions of specification, production or inspection. -EUGENE L. GRANT</a:t>
            </a:r>
            <a:endParaRPr lang="en-IN"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0925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01445" y="398206"/>
            <a:ext cx="10852355" cy="5778757"/>
          </a:xfrm>
        </p:spPr>
        <p:txBody>
          <a:bodyPr/>
          <a:lstStyle/>
          <a:p>
            <a:pPr marL="0" indent="0">
              <a:buNone/>
            </a:pPr>
            <a:r>
              <a:rPr lang="en-US" sz="4000" dirty="0">
                <a:solidFill>
                  <a:srgbClr val="C00000"/>
                </a:solidFill>
                <a:latin typeface="Times New Roman" panose="02020603050405020304" pitchFamily="18" charset="0"/>
                <a:cs typeface="Times New Roman" panose="02020603050405020304" pitchFamily="18" charset="0"/>
              </a:rPr>
              <a:t>Statistical quality control (SQC)</a:t>
            </a:r>
          </a:p>
          <a:p>
            <a:r>
              <a:rPr lang="en-US" dirty="0"/>
              <a:t>It is defined as quality control </a:t>
            </a:r>
            <a:r>
              <a:rPr lang="en-US" dirty="0" smtClean="0"/>
              <a:t>system </a:t>
            </a:r>
            <a:r>
              <a:rPr lang="en-US" dirty="0"/>
              <a:t>where statistical techniques are used  to control, improve and maintain quality</a:t>
            </a:r>
            <a:r>
              <a:rPr lang="en-US" dirty="0" smtClean="0"/>
              <a:t>.</a:t>
            </a:r>
          </a:p>
          <a:p>
            <a:pPr marL="0" indent="0">
              <a:buNone/>
            </a:pPr>
            <a:endParaRPr lang="en-US" dirty="0"/>
          </a:p>
          <a:p>
            <a:endParaRPr lang="en-IN" dirty="0"/>
          </a:p>
        </p:txBody>
      </p:sp>
      <p:graphicFrame>
        <p:nvGraphicFramePr>
          <p:cNvPr id="3" name="Diagram 2"/>
          <p:cNvGraphicFramePr/>
          <p:nvPr>
            <p:extLst>
              <p:ext uri="{D42A27DB-BD31-4B8C-83A1-F6EECF244321}">
                <p14:modId xmlns:p14="http://schemas.microsoft.com/office/powerpoint/2010/main" val="2453569781"/>
              </p:ext>
            </p:extLst>
          </p:nvPr>
        </p:nvGraphicFramePr>
        <p:xfrm>
          <a:off x="2032000" y="2374489"/>
          <a:ext cx="8128000" cy="37638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21297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0" y="339214"/>
            <a:ext cx="10515600" cy="5837750"/>
          </a:xfrm>
        </p:spPr>
        <p:txBody>
          <a:bodyPr/>
          <a:lstStyle/>
          <a:p>
            <a:pPr marL="0" indent="0">
              <a:buNone/>
            </a:pPr>
            <a:r>
              <a:rPr lang="en-US" sz="3600" dirty="0">
                <a:solidFill>
                  <a:srgbClr val="7030A0"/>
                </a:solidFill>
                <a:latin typeface="Times New Roman" panose="02020603050405020304" pitchFamily="18" charset="0"/>
                <a:cs typeface="Times New Roman" panose="02020603050405020304" pitchFamily="18" charset="0"/>
              </a:rPr>
              <a:t>Division of SQC</a:t>
            </a:r>
          </a:p>
          <a:p>
            <a:pPr marL="0" indent="0" algn="just">
              <a:buNone/>
            </a:pPr>
            <a:r>
              <a:rPr lang="en-US" dirty="0">
                <a:latin typeface="Times New Roman" panose="02020603050405020304" pitchFamily="18" charset="0"/>
                <a:cs typeface="Times New Roman" panose="02020603050405020304" pitchFamily="18" charset="0"/>
              </a:rPr>
              <a:t>SQC can be divided into three categories </a:t>
            </a:r>
          </a:p>
          <a:p>
            <a:pPr marL="0" indent="0" algn="just">
              <a:buNone/>
            </a:pPr>
            <a:r>
              <a:rPr lang="en-US" dirty="0">
                <a:latin typeface="Times New Roman" panose="02020603050405020304" pitchFamily="18" charset="0"/>
                <a:cs typeface="Times New Roman" panose="02020603050405020304" pitchFamily="18" charset="0"/>
              </a:rPr>
              <a:t>1)Descriptive statistics- that is used to describe quality characteristics and their relationships includes mean  S.D., Range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2)SPC -  involve inspection of random samples of an output of process and deciding whether process is producing product within predetermined range of characteristics.</a:t>
            </a:r>
            <a:endParaRPr lang="en-IN"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3)Acceptance Sampling- it is process of randomly inspecting  sample of goods and deciding whether to accept or reject the  entire lot based on results.</a:t>
            </a:r>
          </a:p>
          <a:p>
            <a:endParaRPr lang="en-IN" dirty="0"/>
          </a:p>
        </p:txBody>
      </p:sp>
    </p:spTree>
    <p:extLst>
      <p:ext uri="{BB962C8B-B14F-4D97-AF65-F5344CB8AC3E}">
        <p14:creationId xmlns:p14="http://schemas.microsoft.com/office/powerpoint/2010/main" val="741252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3211" y="78377"/>
            <a:ext cx="11240589" cy="6098586"/>
          </a:xfrm>
        </p:spPr>
        <p:txBody>
          <a:bodyPr/>
          <a:lstStyle/>
          <a:p>
            <a:pPr marL="0" indent="0">
              <a:buNone/>
            </a:pPr>
            <a:r>
              <a:rPr lang="en-US" dirty="0" smtClean="0">
                <a:solidFill>
                  <a:srgbClr val="7030A0"/>
                </a:solidFill>
                <a:latin typeface="Times New Roman" panose="02020603050405020304" pitchFamily="18" charset="0"/>
                <a:cs typeface="Times New Roman" panose="02020603050405020304" pitchFamily="18" charset="0"/>
              </a:rPr>
              <a:t>Causes of variation in quality characteristics</a:t>
            </a:r>
          </a:p>
          <a:p>
            <a:pPr algn="just"/>
            <a:r>
              <a:rPr lang="en-US" dirty="0" smtClean="0">
                <a:latin typeface="Times New Roman" panose="02020603050405020304" pitchFamily="18" charset="0"/>
                <a:cs typeface="Times New Roman" panose="02020603050405020304" pitchFamily="18" charset="0"/>
              </a:rPr>
              <a:t>Variation in manufactured products is inevitable, it is fact of nature and industrial life, even if production process is well designed or carefully maintained, no two products are identical</a:t>
            </a:r>
          </a:p>
          <a:p>
            <a:pPr algn="just"/>
            <a:r>
              <a:rPr lang="en-US" dirty="0" smtClean="0">
                <a:latin typeface="Times New Roman" panose="02020603050405020304" pitchFamily="18" charset="0"/>
                <a:cs typeface="Times New Roman" panose="02020603050405020304" pitchFamily="18" charset="0"/>
              </a:rPr>
              <a:t>The difference between two products could be very large, moderate, very small or even undetectable depending upon sources of variation.</a:t>
            </a:r>
          </a:p>
          <a:p>
            <a:pPr marL="0" indent="0" algn="just">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for example weight of particular model of automobile varies from unit to unit, weight of the packets of milk may differ slightly from each other, and the length of refill of ball pens, the diameter of cricket ball may also be different and so on.</a:t>
            </a:r>
          </a:p>
          <a:p>
            <a:pPr algn="just"/>
            <a:r>
              <a:rPr lang="en-US" dirty="0" smtClean="0">
                <a:latin typeface="Times New Roman" panose="02020603050405020304" pitchFamily="18" charset="0"/>
                <a:cs typeface="Times New Roman" panose="02020603050405020304" pitchFamily="18" charset="0"/>
              </a:rPr>
              <a:t>The existence of variation in products affects quality. So the aim of SQC is to trace the sources of such variation and try to eliminate as far as possible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6191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 y="174171"/>
            <a:ext cx="11617234" cy="6383383"/>
          </a:xfrm>
        </p:spPr>
        <p:txBody>
          <a:bodyPr>
            <a:normAutofit/>
          </a:bodyPr>
          <a:lstStyle/>
          <a:p>
            <a:pPr marL="0" indent="0">
              <a:buNone/>
            </a:pPr>
            <a:r>
              <a:rPr lang="en-US" dirty="0" smtClean="0">
                <a:solidFill>
                  <a:srgbClr val="7030A0"/>
                </a:solidFill>
                <a:latin typeface="Times New Roman" panose="02020603050405020304" pitchFamily="18" charset="0"/>
                <a:cs typeface="Times New Roman" panose="02020603050405020304" pitchFamily="18" charset="0"/>
              </a:rPr>
              <a:t>Causes of variation are broadly classified  into two categories</a:t>
            </a:r>
          </a:p>
          <a:p>
            <a:r>
              <a:rPr lang="en-US" dirty="0" smtClean="0">
                <a:latin typeface="Times New Roman" panose="02020603050405020304" pitchFamily="18" charset="0"/>
                <a:cs typeface="Times New Roman" panose="02020603050405020304" pitchFamily="18" charset="0"/>
              </a:rPr>
              <a:t>Chance causes</a:t>
            </a:r>
          </a:p>
          <a:p>
            <a:r>
              <a:rPr lang="en-US" dirty="0" smtClean="0">
                <a:latin typeface="Times New Roman" panose="02020603050405020304" pitchFamily="18" charset="0"/>
                <a:cs typeface="Times New Roman" panose="02020603050405020304" pitchFamily="18" charset="0"/>
              </a:rPr>
              <a:t>Assignable causes</a:t>
            </a:r>
          </a:p>
          <a:p>
            <a:pPr marL="0" indent="0">
              <a:buNone/>
            </a:pPr>
            <a:r>
              <a:rPr lang="en-US" dirty="0">
                <a:latin typeface="Times New Roman" panose="02020603050405020304" pitchFamily="18" charset="0"/>
                <a:cs typeface="Times New Roman" panose="02020603050405020304" pitchFamily="18" charset="0"/>
              </a:rPr>
              <a:t>Chance causes</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Chance causes are also called as random, natural or common causes. Even in well designed or carefully maintained production process, variation exist in product due some natural/ random causes.</a:t>
            </a:r>
          </a:p>
          <a:p>
            <a:pPr>
              <a:buFontTx/>
              <a:buChar char="-"/>
            </a:pPr>
            <a:r>
              <a:rPr lang="en-US" dirty="0" smtClean="0">
                <a:latin typeface="Times New Roman" panose="02020603050405020304" pitchFamily="18" charset="0"/>
                <a:cs typeface="Times New Roman" panose="02020603050405020304" pitchFamily="18" charset="0"/>
              </a:rPr>
              <a:t>There is slight variation in the weight of the cricket ball, fuel efficiency of a particular model of automobile is varies slightly and so on</a:t>
            </a:r>
            <a:r>
              <a:rPr lang="en-IN" dirty="0" smtClean="0">
                <a:latin typeface="Times New Roman" panose="02020603050405020304" pitchFamily="18" charset="0"/>
                <a:cs typeface="Times New Roman" panose="02020603050405020304" pitchFamily="18" charset="0"/>
              </a:rPr>
              <a:t>. Such causes are known as chance causes of variation</a:t>
            </a:r>
          </a:p>
          <a:p>
            <a:pPr>
              <a:buFontTx/>
              <a:buChar char="-"/>
            </a:pPr>
            <a:r>
              <a:rPr lang="en-IN" dirty="0" smtClean="0">
                <a:latin typeface="Times New Roman" panose="02020603050405020304" pitchFamily="18" charset="0"/>
                <a:cs typeface="Times New Roman" panose="02020603050405020304" pitchFamily="18" charset="0"/>
              </a:rPr>
              <a:t>These variation may arise due to inflexibility of aged machines, variability in purchased materials,, poor lighting, extent of extent of worker training.</a:t>
            </a:r>
          </a:p>
          <a:p>
            <a:pPr>
              <a:buFontTx/>
              <a:buChar char="-"/>
            </a:pPr>
            <a:r>
              <a:rPr lang="en-IN" dirty="0" smtClean="0">
                <a:latin typeface="Times New Roman" panose="02020603050405020304" pitchFamily="18" charset="0"/>
                <a:cs typeface="Times New Roman" panose="02020603050405020304" pitchFamily="18" charset="0"/>
              </a:rPr>
              <a:t>Elimination of chance causes is usually responsibility of management and not that of workers.</a:t>
            </a: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8539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9303" y="243840"/>
            <a:ext cx="11425646" cy="6418217"/>
          </a:xfrm>
        </p:spPr>
        <p:txBody>
          <a:bodyPr>
            <a:normAutofit/>
          </a:bodyPr>
          <a:lstStyle/>
          <a:p>
            <a:pPr marL="0" indent="0" algn="just">
              <a:buNone/>
            </a:pPr>
            <a:r>
              <a:rPr lang="en-IN" dirty="0" smtClean="0">
                <a:solidFill>
                  <a:srgbClr val="7030A0"/>
                </a:solidFill>
                <a:latin typeface="Times New Roman" panose="02020603050405020304" pitchFamily="18" charset="0"/>
                <a:cs typeface="Times New Roman" panose="02020603050405020304" pitchFamily="18" charset="0"/>
              </a:rPr>
              <a:t>Assignable Causes </a:t>
            </a:r>
          </a:p>
          <a:p>
            <a:pPr algn="just">
              <a:buFontTx/>
              <a:buChar char="-"/>
            </a:pPr>
            <a:r>
              <a:rPr lang="en-IN" dirty="0" smtClean="0">
                <a:latin typeface="Times New Roman" panose="02020603050405020304" pitchFamily="18" charset="0"/>
                <a:cs typeface="Times New Roman" panose="02020603050405020304" pitchFamily="18" charset="0"/>
              </a:rPr>
              <a:t>This type of causes are not due to process design, but take place due to change in material, machine, operator, environment or any other component.</a:t>
            </a:r>
          </a:p>
          <a:p>
            <a:pPr algn="just">
              <a:buFontTx/>
              <a:buChar char="-"/>
            </a:pPr>
            <a:r>
              <a:rPr lang="en-IN" dirty="0" smtClean="0">
                <a:latin typeface="Times New Roman" panose="02020603050405020304" pitchFamily="18" charset="0"/>
                <a:cs typeface="Times New Roman" panose="02020603050405020304" pitchFamily="18" charset="0"/>
              </a:rPr>
              <a:t>Theses causes are also called as special, non random or unnatural causes.</a:t>
            </a:r>
          </a:p>
          <a:p>
            <a:pPr algn="just">
              <a:buFontTx/>
              <a:buChar char="-"/>
            </a:pPr>
            <a:r>
              <a:rPr lang="en-IN" dirty="0" smtClean="0">
                <a:latin typeface="Times New Roman" panose="02020603050405020304" pitchFamily="18" charset="0"/>
                <a:cs typeface="Times New Roman" panose="02020603050405020304" pitchFamily="18" charset="0"/>
              </a:rPr>
              <a:t>Accidental improper setting of the machine, a worker fall ill, breakage, batch defective raw material.</a:t>
            </a:r>
          </a:p>
          <a:p>
            <a:pPr algn="just">
              <a:buFontTx/>
              <a:buChar char="-"/>
            </a:pPr>
            <a:r>
              <a:rPr lang="en-IN" dirty="0" smtClean="0">
                <a:latin typeface="Times New Roman" panose="02020603050405020304" pitchFamily="18" charset="0"/>
                <a:cs typeface="Times New Roman" panose="02020603050405020304" pitchFamily="18" charset="0"/>
              </a:rPr>
              <a:t>Since theses causes is localized within a process these may be eliminated by worker or their immediate supervisor.</a:t>
            </a:r>
          </a:p>
          <a:p>
            <a:pPr algn="just">
              <a:buFontTx/>
              <a:buChar char="-"/>
            </a:pPr>
            <a:r>
              <a:rPr lang="en-IN" dirty="0" smtClean="0">
                <a:latin typeface="Times New Roman" panose="02020603050405020304" pitchFamily="18" charset="0"/>
                <a:cs typeface="Times New Roman" panose="02020603050405020304" pitchFamily="18" charset="0"/>
              </a:rPr>
              <a:t>Variability due to assignable causes is generally larger that chance causes.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0288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6091" y="138545"/>
            <a:ext cx="11563400" cy="6456219"/>
          </a:xfrm>
        </p:spPr>
        <p:txBody>
          <a:bodyPr>
            <a:normAutofit lnSpcReduction="10000"/>
          </a:bodyPr>
          <a:lstStyle/>
          <a:p>
            <a:pPr marL="0" indent="0" algn="just">
              <a:buNone/>
            </a:pPr>
            <a:r>
              <a:rPr lang="en-US" dirty="0">
                <a:solidFill>
                  <a:srgbClr val="7030A0"/>
                </a:solidFill>
                <a:latin typeface="Times New Roman" panose="02020603050405020304" pitchFamily="18" charset="0"/>
                <a:cs typeface="Times New Roman" panose="02020603050405020304" pitchFamily="18" charset="0"/>
              </a:rPr>
              <a:t>PROCESS CONTROL </a:t>
            </a:r>
            <a:endParaRPr lang="en-US" dirty="0" smtClean="0">
              <a:solidFill>
                <a:srgbClr val="7030A0"/>
              </a:solidFill>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Under </a:t>
            </a:r>
            <a:r>
              <a:rPr lang="en-US" dirty="0">
                <a:latin typeface="Times New Roman" panose="02020603050405020304" pitchFamily="18" charset="0"/>
                <a:cs typeface="Times New Roman" panose="02020603050405020304" pitchFamily="18" charset="0"/>
              </a:rPr>
              <a:t>this the quality of the products is controlled while the products are in the process of production.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process control is secured with the technique of control charts</a:t>
            </a:r>
            <a:r>
              <a:rPr lang="en-US" dirty="0" smtClean="0">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Control charts are also used in the field of advertising, packing etc. They ensure that whether the products confirm to the specified quality standard or not.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Process </a:t>
            </a:r>
            <a:r>
              <a:rPr lang="en-US" dirty="0">
                <a:latin typeface="Times New Roman" panose="02020603050405020304" pitchFamily="18" charset="0"/>
                <a:cs typeface="Times New Roman" panose="02020603050405020304" pitchFamily="18" charset="0"/>
              </a:rPr>
              <a:t>Control consists of the systems and tools used to ensure that processes are well defined, performed correctly, and maintained so that the completed product conforms to established requirements.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Process </a:t>
            </a:r>
            <a:r>
              <a:rPr lang="en-US" dirty="0">
                <a:latin typeface="Times New Roman" panose="02020603050405020304" pitchFamily="18" charset="0"/>
                <a:cs typeface="Times New Roman" panose="02020603050405020304" pitchFamily="18" charset="0"/>
              </a:rPr>
              <a:t>Control is an essential element of managing risk to ensure the safety and reliability of the Space Shuttle Program.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is recognized that strict process control practices will aid in the prevention of process escapes that may result in or contribute to in-flight anomalies, mishaps, incidents and non-conformances</a:t>
            </a:r>
            <a:r>
              <a:rPr lang="en-US" dirty="0"/>
              <a:t>. </a:t>
            </a:r>
            <a:endParaRPr lang="en-IN"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6017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046" y="130630"/>
            <a:ext cx="11205754" cy="6046334"/>
          </a:xfrm>
        </p:spPr>
        <p:txBody>
          <a:bodyPr>
            <a:normAutofit/>
          </a:bodyPr>
          <a:lstStyle/>
          <a:p>
            <a:pPr marL="0" indent="0">
              <a:buNone/>
            </a:pPr>
            <a:r>
              <a:rPr lang="en-US" dirty="0">
                <a:solidFill>
                  <a:srgbClr val="7030A0"/>
                </a:solidFill>
                <a:latin typeface="Times New Roman" panose="02020603050405020304" pitchFamily="18" charset="0"/>
                <a:cs typeface="Times New Roman" panose="02020603050405020304" pitchFamily="18" charset="0"/>
              </a:rPr>
              <a:t>STATISTICAL PROCESS CONTROL (SPC</a:t>
            </a:r>
            <a:r>
              <a:rPr lang="en-US" dirty="0" smtClean="0">
                <a:solidFill>
                  <a:srgbClr val="7030A0"/>
                </a:solidFill>
                <a:latin typeface="Times New Roman" panose="02020603050405020304" pitchFamily="18" charset="0"/>
                <a:cs typeface="Times New Roman" panose="02020603050405020304" pitchFamily="18" charset="0"/>
              </a:rPr>
              <a:t>)</a:t>
            </a:r>
          </a:p>
          <a:p>
            <a:pPr algn="just"/>
            <a:r>
              <a:rPr lang="en-US" dirty="0" smtClean="0"/>
              <a:t> </a:t>
            </a:r>
            <a:r>
              <a:rPr lang="en-US" dirty="0">
                <a:latin typeface="Times New Roman" panose="02020603050405020304" pitchFamily="18" charset="0"/>
                <a:cs typeface="Times New Roman" panose="02020603050405020304" pitchFamily="18" charset="0"/>
              </a:rPr>
              <a:t>SPC is an effective method of monitoring a process through the use of control charts</a:t>
            </a:r>
            <a:r>
              <a:rPr lang="en-US" dirty="0" smtClean="0">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Much of its power lies in the ability to monitor both process center and its variation about that center</a:t>
            </a:r>
            <a:r>
              <a:rPr lang="en-US" dirty="0" smtClean="0">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By collecting data from samples at various points within the process, variations in the process that may affect the quality of the end product or service can be detected and corrected, thus reducing waste as well as the likelihood that problems will be passed on to the customer.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has an emphasis on early detection and prevention of problems.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168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8343" y="217714"/>
            <a:ext cx="11005457" cy="5959249"/>
          </a:xfrm>
        </p:spPr>
        <p:txBody>
          <a:bodyPr>
            <a:normAutofit/>
          </a:bodyPr>
          <a:lstStyle/>
          <a:p>
            <a:pPr marL="0" indent="0" algn="just">
              <a:buNone/>
            </a:pPr>
            <a:r>
              <a:rPr lang="en-IN" dirty="0">
                <a:solidFill>
                  <a:srgbClr val="7030A0"/>
                </a:solidFill>
                <a:latin typeface="Times New Roman" panose="02020603050405020304" pitchFamily="18" charset="0"/>
                <a:cs typeface="Times New Roman" panose="02020603050405020304" pitchFamily="18" charset="0"/>
              </a:rPr>
              <a:t>CONTROL </a:t>
            </a:r>
            <a:r>
              <a:rPr lang="en-IN" dirty="0" smtClean="0">
                <a:solidFill>
                  <a:srgbClr val="7030A0"/>
                </a:solidFill>
                <a:latin typeface="Times New Roman" panose="02020603050405020304" pitchFamily="18" charset="0"/>
                <a:cs typeface="Times New Roman" panose="02020603050405020304" pitchFamily="18" charset="0"/>
              </a:rPr>
              <a:t>CHARTS</a:t>
            </a:r>
          </a:p>
          <a:p>
            <a:pPr algn="just"/>
            <a:r>
              <a:rPr lang="en-US" dirty="0">
                <a:latin typeface="Times New Roman" panose="02020603050405020304" pitchFamily="18" charset="0"/>
                <a:cs typeface="Times New Roman" panose="02020603050405020304" pitchFamily="18" charset="0"/>
              </a:rPr>
              <a:t>Control charts are graphical representation and are based on statistical sampling theory, according to which an adequate sized random sample is drawn from each lot.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Control </a:t>
            </a:r>
            <a:r>
              <a:rPr lang="en-US" dirty="0">
                <a:latin typeface="Times New Roman" panose="02020603050405020304" pitchFamily="18" charset="0"/>
                <a:cs typeface="Times New Roman" panose="02020603050405020304" pitchFamily="18" charset="0"/>
              </a:rPr>
              <a:t>charts detect variations in the processing and warn if there is any departure from the specified tolerance limits.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These </a:t>
            </a:r>
            <a:r>
              <a:rPr lang="en-US" dirty="0">
                <a:latin typeface="Times New Roman" panose="02020603050405020304" pitchFamily="18" charset="0"/>
                <a:cs typeface="Times New Roman" panose="02020603050405020304" pitchFamily="18" charset="0"/>
              </a:rPr>
              <a:t>control charts immediately tell the undesired variations and help in detecting the cause and its removal</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In control charts, where both upper and lower values are specified for a quality characteristic, as soon as some products show variation outside the tolerances, a review of situation is taken and corrective step is immediately taken.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7265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2183" y="121920"/>
            <a:ext cx="10761617" cy="6055043"/>
          </a:xfrm>
        </p:spPr>
        <p:txBody>
          <a:bodyPr>
            <a:normAutofit/>
          </a:bodyPr>
          <a:lstStyle/>
          <a:p>
            <a:pPr algn="just"/>
            <a:r>
              <a:rPr lang="en-US" dirty="0">
                <a:latin typeface="Times New Roman" panose="02020603050405020304" pitchFamily="18" charset="0"/>
                <a:cs typeface="Times New Roman" panose="02020603050405020304" pitchFamily="18" charset="0"/>
              </a:rPr>
              <a:t>If analysis of the control chart indicates that the process is currently under control (i.e. is stable, with variation only coming from sources common to the process) then data from the process can be used to predict the future performance of the process</a:t>
            </a:r>
            <a:r>
              <a:rPr lang="en-US" dirty="0" smtClean="0">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If the chart indicates that the process being monitored is not in control, analysis of the chart can help determine the sources of variation, which can then be eliminated to bring the process back into control</a:t>
            </a:r>
            <a:r>
              <a:rPr lang="en-US"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16685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415636"/>
            <a:ext cx="11049000" cy="6179128"/>
          </a:xfrm>
        </p:spPr>
        <p:txBody>
          <a:bodyPr/>
          <a:lstStyle/>
          <a:p>
            <a:pPr marL="0" indent="0" algn="just">
              <a:buNone/>
            </a:pPr>
            <a:r>
              <a:rPr lang="en-US" dirty="0">
                <a:solidFill>
                  <a:srgbClr val="7030A0"/>
                </a:solidFill>
                <a:latin typeface="Times New Roman" panose="02020603050405020304" pitchFamily="18" charset="0"/>
                <a:cs typeface="Times New Roman" panose="02020603050405020304" pitchFamily="18" charset="0"/>
              </a:rPr>
              <a:t>PURPOSE AND ADVANTAGES: </a:t>
            </a:r>
            <a:endParaRPr lang="en-US" dirty="0" smtClean="0">
              <a:solidFill>
                <a:srgbClr val="7030A0"/>
              </a:solidFill>
              <a:latin typeface="Times New Roman" panose="02020603050405020304" pitchFamily="18" charset="0"/>
              <a:cs typeface="Times New Roman" panose="02020603050405020304" pitchFamily="18" charset="0"/>
            </a:endParaRPr>
          </a:p>
          <a:p>
            <a:pPr marL="0" indent="0" algn="just">
              <a:buNone/>
            </a:pPr>
            <a:r>
              <a:rPr lang="en-US" dirty="0" smtClean="0"/>
              <a:t>1</a:t>
            </a:r>
            <a:r>
              <a:rPr lang="en-US" dirty="0"/>
              <a:t>. </a:t>
            </a:r>
            <a:r>
              <a:rPr lang="en-US" dirty="0">
                <a:latin typeface="Times New Roman" panose="02020603050405020304" pitchFamily="18" charset="0"/>
                <a:cs typeface="Times New Roman" panose="02020603050405020304" pitchFamily="18" charset="0"/>
              </a:rPr>
              <a:t>A control charts indicates whether the process is in control or out of control.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It determines process variability and detects unusual variations taking place in a process.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It ensures product quality level.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4</a:t>
            </a:r>
            <a:r>
              <a:rPr lang="en-US" dirty="0">
                <a:latin typeface="Times New Roman" panose="02020603050405020304" pitchFamily="18" charset="0"/>
                <a:cs typeface="Times New Roman" panose="02020603050405020304" pitchFamily="18" charset="0"/>
              </a:rPr>
              <a:t>. It warns in time, and if the process is rectified at that time, scrap or percentage rejection can be reduced.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5</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Control charts build up the reputation of the organization through customer’s satisfaction.</a:t>
            </a:r>
            <a:endParaRPr lang="en-IN"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736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43345" y="360218"/>
            <a:ext cx="11236037" cy="6151418"/>
          </a:xfrm>
        </p:spPr>
        <p:txBody>
          <a:bodyPr/>
          <a:lstStyle/>
          <a:p>
            <a:pPr marL="0" indent="0">
              <a:buNone/>
            </a:pPr>
            <a:r>
              <a:rPr lang="en-US" dirty="0" smtClean="0">
                <a:latin typeface="Times New Roman" panose="02020603050405020304" pitchFamily="18" charset="0"/>
                <a:cs typeface="Times New Roman" panose="02020603050405020304" pitchFamily="18" charset="0"/>
              </a:rPr>
              <a:t>Control chart consist of</a:t>
            </a:r>
          </a:p>
          <a:p>
            <a:pPr marL="0" indent="0">
              <a:buNone/>
            </a:pPr>
            <a:r>
              <a:rPr lang="en-US" dirty="0" smtClean="0">
                <a:solidFill>
                  <a:srgbClr val="7030A0"/>
                </a:solidFill>
                <a:latin typeface="Times New Roman" panose="02020603050405020304" pitchFamily="18" charset="0"/>
                <a:cs typeface="Times New Roman" panose="02020603050405020304" pitchFamily="18" charset="0"/>
              </a:rPr>
              <a:t>Centre Line-</a:t>
            </a:r>
          </a:p>
          <a:p>
            <a:r>
              <a:rPr lang="en-US" dirty="0" smtClean="0">
                <a:latin typeface="Times New Roman" panose="02020603050405020304" pitchFamily="18" charset="0"/>
                <a:cs typeface="Times New Roman" panose="02020603050405020304" pitchFamily="18" charset="0"/>
              </a:rPr>
              <a:t> The centre line of the control chart represent the value which can have  different interpretation depending upon available data. </a:t>
            </a:r>
          </a:p>
          <a:p>
            <a:r>
              <a:rPr lang="en-US" dirty="0" smtClean="0">
                <a:latin typeface="Times New Roman" panose="02020603050405020304" pitchFamily="18" charset="0"/>
                <a:cs typeface="Times New Roman" panose="02020603050405020304" pitchFamily="18" charset="0"/>
              </a:rPr>
              <a:t>It can be average  value of quality characteristic or the average of plotted points. Second it can be standard value or reference value, based on representative prior data. </a:t>
            </a:r>
          </a:p>
          <a:p>
            <a:r>
              <a:rPr lang="en-US" dirty="0" smtClean="0">
                <a:latin typeface="Times New Roman" panose="02020603050405020304" pitchFamily="18" charset="0"/>
                <a:cs typeface="Times New Roman" panose="02020603050405020304" pitchFamily="18" charset="0"/>
              </a:rPr>
              <a:t>Centre line usually represented by solid line </a:t>
            </a:r>
          </a:p>
          <a:p>
            <a:pPr marL="0" indent="0">
              <a:buNone/>
            </a:pPr>
            <a:r>
              <a:rPr lang="en-US" dirty="0" smtClean="0">
                <a:solidFill>
                  <a:srgbClr val="7030A0"/>
                </a:solidFill>
                <a:latin typeface="Times New Roman" panose="02020603050405020304" pitchFamily="18" charset="0"/>
                <a:cs typeface="Times New Roman" panose="02020603050405020304" pitchFamily="18" charset="0"/>
              </a:rPr>
              <a:t>Upper control limit</a:t>
            </a:r>
          </a:p>
          <a:p>
            <a:pPr marL="0" indent="0">
              <a:buNone/>
            </a:pPr>
            <a:r>
              <a:rPr lang="en-US" dirty="0" smtClean="0">
                <a:latin typeface="Times New Roman" panose="02020603050405020304" pitchFamily="18" charset="0"/>
                <a:cs typeface="Times New Roman" panose="02020603050405020304" pitchFamily="18" charset="0"/>
              </a:rPr>
              <a:t>The upper control line represent the upper value of the variation in the quality characteristics. So this line called upper control limit(UCL), the UCL shown by dotted line.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11252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1257" y="142504"/>
            <a:ext cx="11092543" cy="6460177"/>
          </a:xfrm>
        </p:spPr>
        <p:txBody>
          <a:bodyPr>
            <a:normAutofit/>
          </a:bodyPr>
          <a:lstStyle/>
          <a:p>
            <a:pPr marL="0" indent="0" algn="just">
              <a:buNone/>
            </a:pPr>
            <a:r>
              <a:rPr lang="en-US" dirty="0" smtClean="0">
                <a:solidFill>
                  <a:srgbClr val="0070C0"/>
                </a:solidFill>
                <a:latin typeface="Times New Roman" panose="02020603050405020304" pitchFamily="18" charset="0"/>
                <a:cs typeface="Times New Roman" panose="02020603050405020304" pitchFamily="18" charset="0"/>
              </a:rPr>
              <a:t>Lower control line</a:t>
            </a:r>
          </a:p>
          <a:p>
            <a:pPr marL="0" indent="0" algn="just">
              <a:buNone/>
            </a:pPr>
            <a:r>
              <a:rPr lang="en-US" dirty="0">
                <a:latin typeface="Times New Roman" panose="02020603050405020304" pitchFamily="18" charset="0"/>
                <a:cs typeface="Times New Roman" panose="02020603050405020304" pitchFamily="18" charset="0"/>
              </a:rPr>
              <a:t>The </a:t>
            </a:r>
            <a:r>
              <a:rPr lang="en-US" dirty="0" smtClean="0">
                <a:latin typeface="Times New Roman" panose="02020603050405020304" pitchFamily="18" charset="0"/>
                <a:cs typeface="Times New Roman" panose="02020603050405020304" pitchFamily="18" charset="0"/>
              </a:rPr>
              <a:t>lower </a:t>
            </a:r>
            <a:r>
              <a:rPr lang="en-US" dirty="0">
                <a:latin typeface="Times New Roman" panose="02020603050405020304" pitchFamily="18" charset="0"/>
                <a:cs typeface="Times New Roman" panose="02020603050405020304" pitchFamily="18" charset="0"/>
              </a:rPr>
              <a:t>control line represent </a:t>
            </a:r>
            <a:r>
              <a:rPr lang="en-US" dirty="0" smtClean="0">
                <a:latin typeface="Times New Roman" panose="02020603050405020304" pitchFamily="18" charset="0"/>
                <a:cs typeface="Times New Roman" panose="02020603050405020304" pitchFamily="18" charset="0"/>
              </a:rPr>
              <a:t>the lower </a:t>
            </a:r>
            <a:r>
              <a:rPr lang="en-US" dirty="0">
                <a:latin typeface="Times New Roman" panose="02020603050405020304" pitchFamily="18" charset="0"/>
                <a:cs typeface="Times New Roman" panose="02020603050405020304" pitchFamily="18" charset="0"/>
              </a:rPr>
              <a:t>value of the variation in the quality characteristics. So this line </a:t>
            </a:r>
            <a:r>
              <a:rPr lang="en-US" dirty="0" smtClean="0">
                <a:latin typeface="Times New Roman" panose="02020603050405020304" pitchFamily="18" charset="0"/>
                <a:cs typeface="Times New Roman" panose="02020603050405020304" pitchFamily="18" charset="0"/>
              </a:rPr>
              <a:t>called lower </a:t>
            </a:r>
            <a:r>
              <a:rPr lang="en-US" dirty="0">
                <a:latin typeface="Times New Roman" panose="02020603050405020304" pitchFamily="18" charset="0"/>
                <a:cs typeface="Times New Roman" panose="02020603050405020304" pitchFamily="18" charset="0"/>
              </a:rPr>
              <a:t>control </a:t>
            </a:r>
            <a:r>
              <a:rPr lang="en-US" dirty="0" smtClean="0">
                <a:latin typeface="Times New Roman" panose="02020603050405020304" pitchFamily="18" charset="0"/>
                <a:cs typeface="Times New Roman" panose="02020603050405020304" pitchFamily="18" charset="0"/>
              </a:rPr>
              <a:t>limit(LCL</a:t>
            </a:r>
            <a:r>
              <a:rPr lang="en-US" dirty="0">
                <a:latin typeface="Times New Roman" panose="02020603050405020304" pitchFamily="18" charset="0"/>
                <a:cs typeface="Times New Roman" panose="02020603050405020304" pitchFamily="18" charset="0"/>
              </a:rPr>
              <a:t>), the </a:t>
            </a:r>
            <a:r>
              <a:rPr lang="en-US" dirty="0" smtClean="0">
                <a:latin typeface="Times New Roman" panose="02020603050405020304" pitchFamily="18" charset="0"/>
                <a:cs typeface="Times New Roman" panose="02020603050405020304" pitchFamily="18" charset="0"/>
              </a:rPr>
              <a:t>LCL </a:t>
            </a:r>
            <a:r>
              <a:rPr lang="en-US" dirty="0">
                <a:latin typeface="Times New Roman" panose="02020603050405020304" pitchFamily="18" charset="0"/>
                <a:cs typeface="Times New Roman" panose="02020603050405020304" pitchFamily="18" charset="0"/>
              </a:rPr>
              <a:t>shown by dotted line</a:t>
            </a:r>
            <a:r>
              <a:rPr lang="en-US" dirty="0" smtClean="0">
                <a:latin typeface="Times New Roman" panose="02020603050405020304" pitchFamily="18" charset="0"/>
                <a:cs typeface="Times New Roman" panose="02020603050405020304" pitchFamily="18" charset="0"/>
              </a:rPr>
              <a:t>.</a:t>
            </a:r>
          </a:p>
          <a:p>
            <a:pPr marL="0" indent="0" algn="just">
              <a:buNone/>
            </a:pPr>
            <a:r>
              <a:rPr lang="en-US" dirty="0" smtClean="0">
                <a:solidFill>
                  <a:srgbClr val="C00000"/>
                </a:solidFill>
                <a:latin typeface="Times New Roman" panose="02020603050405020304" pitchFamily="18" charset="0"/>
                <a:cs typeface="Times New Roman" panose="02020603050405020304" pitchFamily="18" charset="0"/>
              </a:rPr>
              <a:t>UCL  and LCL obtained by using </a:t>
            </a:r>
            <a:r>
              <a:rPr lang="en-US" dirty="0">
                <a:solidFill>
                  <a:srgbClr val="C00000"/>
                </a:solidFill>
                <a:latin typeface="Times New Roman" panose="02020603050405020304" pitchFamily="18" charset="0"/>
                <a:cs typeface="Times New Roman" panose="02020603050405020304" pitchFamily="18" charset="0"/>
              </a:rPr>
              <a:t>3-sigma </a:t>
            </a:r>
            <a:r>
              <a:rPr lang="en-US" dirty="0" smtClean="0">
                <a:solidFill>
                  <a:srgbClr val="C00000"/>
                </a:solidFill>
                <a:latin typeface="Times New Roman" panose="02020603050405020304" pitchFamily="18" charset="0"/>
                <a:cs typeface="Times New Roman" panose="02020603050405020304" pitchFamily="18" charset="0"/>
              </a:rPr>
              <a:t>concept.</a:t>
            </a:r>
          </a:p>
          <a:p>
            <a:pPr algn="just"/>
            <a:r>
              <a:rPr lang="en-US" dirty="0">
                <a:latin typeface="Times New Roman" panose="02020603050405020304" pitchFamily="18" charset="0"/>
                <a:cs typeface="Times New Roman" panose="02020603050405020304" pitchFamily="18" charset="0"/>
              </a:rPr>
              <a:t>Three-sigma limits (3-sigma limits) is a statistical calculation that refers to data within three standard deviations from a mean.</a:t>
            </a:r>
          </a:p>
          <a:p>
            <a:pPr algn="just"/>
            <a:r>
              <a:rPr lang="en-US" dirty="0">
                <a:latin typeface="Times New Roman" panose="02020603050405020304" pitchFamily="18" charset="0"/>
                <a:cs typeface="Times New Roman" panose="02020603050405020304" pitchFamily="18" charset="0"/>
              </a:rPr>
              <a:t>Three-sigma limits are used to set the upper and lower control limits in statistical quality control charts.</a:t>
            </a:r>
          </a:p>
          <a:p>
            <a:pPr algn="just"/>
            <a:r>
              <a:rPr lang="en-US" dirty="0">
                <a:latin typeface="Times New Roman" panose="02020603050405020304" pitchFamily="18" charset="0"/>
                <a:cs typeface="Times New Roman" panose="02020603050405020304" pitchFamily="18" charset="0"/>
              </a:rPr>
              <a:t>On a bell curve, data that lie above the average and beyond the three-sigma line represent less than 1% of all data points.</a:t>
            </a: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endParaRPr lang="en-IN"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40692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50982" y="341745"/>
            <a:ext cx="11185236" cy="5938982"/>
          </a:xfrm>
          <a:prstGeom prst="rect">
            <a:avLst/>
          </a:prstGeom>
        </p:spPr>
      </p:pic>
    </p:spTree>
    <p:extLst>
      <p:ext uri="{BB962C8B-B14F-4D97-AF65-F5344CB8AC3E}">
        <p14:creationId xmlns:p14="http://schemas.microsoft.com/office/powerpoint/2010/main" val="4944808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68218" y="396875"/>
            <a:ext cx="10455564" cy="5780088"/>
          </a:xfrm>
          <a:prstGeom prst="rect">
            <a:avLst/>
          </a:prstGeom>
        </p:spPr>
      </p:pic>
    </p:spTree>
    <p:extLst>
      <p:ext uri="{BB962C8B-B14F-4D97-AF65-F5344CB8AC3E}">
        <p14:creationId xmlns:p14="http://schemas.microsoft.com/office/powerpoint/2010/main" val="38914129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26473"/>
            <a:ext cx="10515600" cy="5650490"/>
          </a:xfrm>
        </p:spPr>
        <p:txBody>
          <a:bodyPr/>
          <a:lstStyle/>
          <a:p>
            <a:endParaRPr lang="en-US" altLang="en-US" u="sng" dirty="0">
              <a:solidFill>
                <a:srgbClr val="CC0000"/>
              </a:solidFill>
            </a:endParaRPr>
          </a:p>
          <a:p>
            <a:endParaRPr lang="en-IN"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9309" y="692726"/>
            <a:ext cx="8880764" cy="5306291"/>
          </a:xfrm>
          <a:prstGeom prst="rect">
            <a:avLst/>
          </a:prstGeom>
        </p:spPr>
      </p:pic>
    </p:spTree>
    <p:extLst>
      <p:ext uri="{BB962C8B-B14F-4D97-AF65-F5344CB8AC3E}">
        <p14:creationId xmlns:p14="http://schemas.microsoft.com/office/powerpoint/2010/main" val="10267767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rotWithShape="1">
          <a:blip r:embed="rId2"/>
          <a:srcRect t="2813" r="-666"/>
          <a:stretch/>
        </p:blipFill>
        <p:spPr>
          <a:xfrm>
            <a:off x="1223962" y="1357745"/>
            <a:ext cx="9744075" cy="4092143"/>
          </a:xfrm>
          <a:prstGeom prst="rect">
            <a:avLst/>
          </a:prstGeom>
        </p:spPr>
      </p:pic>
      <p:sp>
        <p:nvSpPr>
          <p:cNvPr id="4" name="TextBox 3"/>
          <p:cNvSpPr txBox="1"/>
          <p:nvPr/>
        </p:nvSpPr>
        <p:spPr>
          <a:xfrm>
            <a:off x="1136073" y="498764"/>
            <a:ext cx="4793672" cy="523220"/>
          </a:xfrm>
          <a:prstGeom prst="rect">
            <a:avLst/>
          </a:prstGeom>
          <a:noFill/>
        </p:spPr>
        <p:txBody>
          <a:bodyPr wrap="square" rtlCol="0">
            <a:spAutoFit/>
          </a:bodyPr>
          <a:lstStyle/>
          <a:p>
            <a:r>
              <a:rPr lang="en-US" sz="2800" dirty="0" smtClean="0">
                <a:solidFill>
                  <a:srgbClr val="7030A0"/>
                </a:solidFill>
                <a:latin typeface="Times New Roman" panose="02020603050405020304" pitchFamily="18" charset="0"/>
                <a:cs typeface="Times New Roman" panose="02020603050405020304" pitchFamily="18" charset="0"/>
              </a:rPr>
              <a:t>Types of control charts</a:t>
            </a:r>
            <a:endParaRPr lang="en-IN" sz="2800"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33734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49745" y="535709"/>
            <a:ext cx="10363200" cy="5039591"/>
          </a:xfrm>
          <a:prstGeom prst="rect">
            <a:avLst/>
          </a:prstGeom>
        </p:spPr>
      </p:pic>
    </p:spTree>
    <p:extLst>
      <p:ext uri="{BB962C8B-B14F-4D97-AF65-F5344CB8AC3E}">
        <p14:creationId xmlns:p14="http://schemas.microsoft.com/office/powerpoint/2010/main" val="27662266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8655" y="207818"/>
            <a:ext cx="11035145" cy="6386946"/>
          </a:xfrm>
        </p:spPr>
        <p:txBody>
          <a:bodyPr/>
          <a:lstStyle/>
          <a:p>
            <a:pPr marL="0" indent="0">
              <a:buNone/>
            </a:pPr>
            <a:r>
              <a:rPr lang="en-US" dirty="0">
                <a:solidFill>
                  <a:srgbClr val="7030A0"/>
                </a:solidFill>
              </a:rPr>
              <a:t>A control chart for </a:t>
            </a:r>
            <a:r>
              <a:rPr lang="en-US" dirty="0" smtClean="0">
                <a:solidFill>
                  <a:srgbClr val="7030A0"/>
                </a:solidFill>
              </a:rPr>
              <a:t>variables </a:t>
            </a:r>
          </a:p>
          <a:p>
            <a:r>
              <a:rPr lang="en-US" dirty="0" smtClean="0"/>
              <a:t>This chart is </a:t>
            </a:r>
            <a:r>
              <a:rPr lang="en-US" dirty="0"/>
              <a:t>used to monitor characteristics that can be measured and have a continuum of values, such as height, weight, or volume. A soft drink bottling operation is an example of a variable measure, since the amount of liquid in the bottles is measured and can take on a number of different values. </a:t>
            </a:r>
            <a:endParaRPr lang="en-US" dirty="0" smtClean="0"/>
          </a:p>
          <a:p>
            <a:r>
              <a:rPr lang="en-US" dirty="0" smtClean="0"/>
              <a:t>Other </a:t>
            </a:r>
            <a:r>
              <a:rPr lang="en-US" dirty="0"/>
              <a:t>examples are the weight of a bag of sugar, the temperature of a baking oven, or the diameter of plastic tubing.</a:t>
            </a:r>
            <a:endParaRPr lang="en-IN" dirty="0"/>
          </a:p>
        </p:txBody>
      </p:sp>
    </p:spTree>
    <p:extLst>
      <p:ext uri="{BB962C8B-B14F-4D97-AF65-F5344CB8AC3E}">
        <p14:creationId xmlns:p14="http://schemas.microsoft.com/office/powerpoint/2010/main" val="32231040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3756" y="225630"/>
            <a:ext cx="11140044" cy="6353299"/>
          </a:xfrm>
        </p:spPr>
        <p:txBody>
          <a:bodyPr>
            <a:normAutofit/>
          </a:bodyPr>
          <a:lstStyle/>
          <a:p>
            <a:pPr marL="0" indent="0" algn="just">
              <a:buNone/>
            </a:pPr>
            <a:r>
              <a:rPr lang="en-US" dirty="0">
                <a:solidFill>
                  <a:srgbClr val="7030A0"/>
                </a:solidFill>
                <a:latin typeface="Times New Roman" panose="02020603050405020304" pitchFamily="18" charset="0"/>
                <a:cs typeface="Times New Roman" panose="02020603050405020304" pitchFamily="18" charset="0"/>
              </a:rPr>
              <a:t>A control chart for </a:t>
            </a:r>
            <a:r>
              <a:rPr lang="en-US" dirty="0" smtClean="0">
                <a:solidFill>
                  <a:srgbClr val="7030A0"/>
                </a:solidFill>
                <a:latin typeface="Times New Roman" panose="02020603050405020304" pitchFamily="18" charset="0"/>
                <a:cs typeface="Times New Roman" panose="02020603050405020304" pitchFamily="18" charset="0"/>
              </a:rPr>
              <a:t>attributes </a:t>
            </a:r>
          </a:p>
          <a:p>
            <a:pPr algn="just"/>
            <a:r>
              <a:rPr lang="en-US" dirty="0" smtClean="0">
                <a:latin typeface="Times New Roman" panose="02020603050405020304" pitchFamily="18" charset="0"/>
                <a:cs typeface="Times New Roman" panose="02020603050405020304" pitchFamily="18" charset="0"/>
              </a:rPr>
              <a:t>This chart is </a:t>
            </a:r>
            <a:r>
              <a:rPr lang="en-US" dirty="0">
                <a:latin typeface="Times New Roman" panose="02020603050405020304" pitchFamily="18" charset="0"/>
                <a:cs typeface="Times New Roman" panose="02020603050405020304" pitchFamily="18" charset="0"/>
              </a:rPr>
              <a:t>used to monitor characteristics that have discrete values and can be counted. Often they can be evaluated with a simple yes or no decision. Examples include color, taste, or smell. The monitoring of attributes usually takes less time than that of variables because a variable needs to be </a:t>
            </a:r>
            <a:r>
              <a:rPr lang="en-US" dirty="0" smtClean="0">
                <a:latin typeface="Times New Roman" panose="02020603050405020304" pitchFamily="18" charset="0"/>
                <a:cs typeface="Times New Roman" panose="02020603050405020304" pitchFamily="18" charset="0"/>
              </a:rPr>
              <a:t>measured</a:t>
            </a:r>
          </a:p>
          <a:p>
            <a:pPr algn="just"/>
            <a:r>
              <a:rPr lang="en-US" dirty="0">
                <a:latin typeface="Times New Roman" panose="02020603050405020304" pitchFamily="18" charset="0"/>
                <a:cs typeface="Times New Roman" panose="02020603050405020304" pitchFamily="18" charset="0"/>
              </a:rPr>
              <a:t>An attribute requires only a single decision, such as yes or no, good or bad, acceptable or unacceptable (e.g., the apple is good or rotten, the meat is good or stale, the shoes have a defect or do not have a defect, the lightbulb works or it does not work) or counting the number of defects (e.g., the number of broken cookies in the box, the number of dents in the </a:t>
            </a:r>
            <a:r>
              <a:rPr lang="en-US" dirty="0" smtClean="0">
                <a:latin typeface="Times New Roman" panose="02020603050405020304" pitchFamily="18" charset="0"/>
                <a:cs typeface="Times New Roman" panose="02020603050405020304" pitchFamily="18" charset="0"/>
              </a:rPr>
              <a:t>car</a:t>
            </a:r>
            <a:endParaRPr lang="en-IN"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33234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7927" y="0"/>
            <a:ext cx="10965873" cy="6580909"/>
          </a:xfrm>
        </p:spPr>
        <p:txBody>
          <a:bodyPr>
            <a:normAutofit fontScale="92500" lnSpcReduction="20000"/>
          </a:bodyPr>
          <a:lstStyle/>
          <a:p>
            <a:pPr marL="0" indent="0" algn="just">
              <a:buNone/>
            </a:pPr>
            <a:r>
              <a:rPr lang="en-US" sz="3000" dirty="0">
                <a:solidFill>
                  <a:srgbClr val="7030A0"/>
                </a:solidFill>
                <a:latin typeface="Times New Roman" panose="02020603050405020304" pitchFamily="18" charset="0"/>
                <a:cs typeface="Times New Roman" panose="02020603050405020304" pitchFamily="18" charset="0"/>
              </a:rPr>
              <a:t>Mean (x-Bar) </a:t>
            </a:r>
            <a:r>
              <a:rPr lang="en-US" sz="3000" dirty="0" smtClean="0">
                <a:solidFill>
                  <a:srgbClr val="7030A0"/>
                </a:solidFill>
                <a:latin typeface="Times New Roman" panose="02020603050405020304" pitchFamily="18" charset="0"/>
                <a:cs typeface="Times New Roman" panose="02020603050405020304" pitchFamily="18" charset="0"/>
              </a:rPr>
              <a:t>Charts </a:t>
            </a:r>
          </a:p>
          <a:p>
            <a:pPr algn="just"/>
            <a:r>
              <a:rPr lang="en-US" sz="3000" dirty="0" smtClean="0">
                <a:latin typeface="Times New Roman" panose="02020603050405020304" pitchFamily="18" charset="0"/>
                <a:cs typeface="Times New Roman" panose="02020603050405020304" pitchFamily="18" charset="0"/>
              </a:rPr>
              <a:t>A </a:t>
            </a:r>
            <a:r>
              <a:rPr lang="en-US" sz="3000" dirty="0">
                <a:latin typeface="Times New Roman" panose="02020603050405020304" pitchFamily="18" charset="0"/>
                <a:cs typeface="Times New Roman" panose="02020603050405020304" pitchFamily="18" charset="0"/>
              </a:rPr>
              <a:t>mean control chart is often referred to as an x-bar chart. It is used to monitor changes in the mean of a process. </a:t>
            </a:r>
            <a:endParaRPr lang="en-US" sz="3000" dirty="0" smtClean="0">
              <a:latin typeface="Times New Roman" panose="02020603050405020304" pitchFamily="18" charset="0"/>
              <a:cs typeface="Times New Roman" panose="02020603050405020304" pitchFamily="18" charset="0"/>
            </a:endParaRPr>
          </a:p>
          <a:p>
            <a:pPr marL="0" indent="0" algn="just">
              <a:buNone/>
            </a:pPr>
            <a:r>
              <a:rPr lang="en-US" sz="3000" dirty="0" smtClean="0">
                <a:solidFill>
                  <a:srgbClr val="C00000"/>
                </a:solidFill>
                <a:latin typeface="Times New Roman" panose="02020603050405020304" pitchFamily="18" charset="0"/>
                <a:cs typeface="Times New Roman" panose="02020603050405020304" pitchFamily="18" charset="0"/>
              </a:rPr>
              <a:t>To </a:t>
            </a:r>
            <a:r>
              <a:rPr lang="en-US" sz="3000" dirty="0">
                <a:solidFill>
                  <a:srgbClr val="C00000"/>
                </a:solidFill>
                <a:latin typeface="Times New Roman" panose="02020603050405020304" pitchFamily="18" charset="0"/>
                <a:cs typeface="Times New Roman" panose="02020603050405020304" pitchFamily="18" charset="0"/>
              </a:rPr>
              <a:t>construct a mean chart </a:t>
            </a:r>
            <a:endParaRPr lang="en-US" sz="3000" dirty="0" smtClean="0">
              <a:solidFill>
                <a:srgbClr val="C00000"/>
              </a:solidFill>
              <a:latin typeface="Times New Roman" panose="02020603050405020304" pitchFamily="18" charset="0"/>
              <a:cs typeface="Times New Roman" panose="02020603050405020304" pitchFamily="18" charset="0"/>
            </a:endParaRPr>
          </a:p>
          <a:p>
            <a:pPr algn="just"/>
            <a:r>
              <a:rPr lang="en-US" sz="3000" dirty="0" smtClean="0">
                <a:latin typeface="Times New Roman" panose="02020603050405020304" pitchFamily="18" charset="0"/>
                <a:cs typeface="Times New Roman" panose="02020603050405020304" pitchFamily="18" charset="0"/>
              </a:rPr>
              <a:t>we </a:t>
            </a:r>
            <a:r>
              <a:rPr lang="en-US" sz="3000" dirty="0">
                <a:latin typeface="Times New Roman" panose="02020603050405020304" pitchFamily="18" charset="0"/>
                <a:cs typeface="Times New Roman" panose="02020603050405020304" pitchFamily="18" charset="0"/>
              </a:rPr>
              <a:t>first need to construct the center line of the chart. To do this we take multiple samples and compute their means. </a:t>
            </a:r>
            <a:endParaRPr lang="en-US" sz="3000" dirty="0" smtClean="0">
              <a:latin typeface="Times New Roman" panose="02020603050405020304" pitchFamily="18" charset="0"/>
              <a:cs typeface="Times New Roman" panose="02020603050405020304" pitchFamily="18" charset="0"/>
            </a:endParaRPr>
          </a:p>
          <a:p>
            <a:pPr algn="just"/>
            <a:r>
              <a:rPr lang="en-US" sz="3000" dirty="0" smtClean="0">
                <a:latin typeface="Times New Roman" panose="02020603050405020304" pitchFamily="18" charset="0"/>
                <a:cs typeface="Times New Roman" panose="02020603050405020304" pitchFamily="18" charset="0"/>
              </a:rPr>
              <a:t>Usually </a:t>
            </a:r>
            <a:r>
              <a:rPr lang="en-US" sz="3000" dirty="0">
                <a:latin typeface="Times New Roman" panose="02020603050405020304" pitchFamily="18" charset="0"/>
                <a:cs typeface="Times New Roman" panose="02020603050405020304" pitchFamily="18" charset="0"/>
              </a:rPr>
              <a:t>these samples are small, with about four or five observations. </a:t>
            </a:r>
            <a:endParaRPr lang="en-US" sz="3000" dirty="0" smtClean="0">
              <a:latin typeface="Times New Roman" panose="02020603050405020304" pitchFamily="18" charset="0"/>
              <a:cs typeface="Times New Roman" panose="02020603050405020304" pitchFamily="18" charset="0"/>
            </a:endParaRPr>
          </a:p>
          <a:p>
            <a:pPr algn="just"/>
            <a:r>
              <a:rPr lang="en-US" sz="3000" dirty="0" smtClean="0">
                <a:latin typeface="Times New Roman" panose="02020603050405020304" pitchFamily="18" charset="0"/>
                <a:cs typeface="Times New Roman" panose="02020603050405020304" pitchFamily="18" charset="0"/>
              </a:rPr>
              <a:t> </a:t>
            </a:r>
            <a:r>
              <a:rPr lang="en-US" sz="3000" dirty="0">
                <a:latin typeface="Times New Roman" panose="02020603050405020304" pitchFamily="18" charset="0"/>
                <a:cs typeface="Times New Roman" panose="02020603050405020304" pitchFamily="18" charset="0"/>
              </a:rPr>
              <a:t>sample has its own mean. The center line of the chart is then computed as the mean of all sample </a:t>
            </a:r>
            <a:r>
              <a:rPr lang="en-US" sz="3000" dirty="0" smtClean="0">
                <a:latin typeface="Times New Roman" panose="02020603050405020304" pitchFamily="18" charset="0"/>
                <a:cs typeface="Times New Roman" panose="02020603050405020304" pitchFamily="18" charset="0"/>
              </a:rPr>
              <a:t>means</a:t>
            </a:r>
          </a:p>
          <a:p>
            <a:pPr marL="0" indent="0" algn="just">
              <a:buNone/>
            </a:pPr>
            <a:r>
              <a:rPr lang="en-US" sz="3000" dirty="0" smtClean="0">
                <a:latin typeface="Times New Roman" panose="02020603050405020304" pitchFamily="18" charset="0"/>
                <a:cs typeface="Times New Roman" panose="02020603050405020304" pitchFamily="18" charset="0"/>
              </a:rPr>
              <a:t>1.It </a:t>
            </a:r>
            <a:r>
              <a:rPr lang="en-US" sz="3000" dirty="0">
                <a:latin typeface="Times New Roman" panose="02020603050405020304" pitchFamily="18" charset="0"/>
                <a:cs typeface="Times New Roman" panose="02020603050405020304" pitchFamily="18" charset="0"/>
              </a:rPr>
              <a:t>shows changes in process average and is affected by changes in process variability. </a:t>
            </a:r>
            <a:endParaRPr lang="en-US" sz="3000" dirty="0" smtClean="0">
              <a:latin typeface="Times New Roman" panose="02020603050405020304" pitchFamily="18" charset="0"/>
              <a:cs typeface="Times New Roman" panose="02020603050405020304" pitchFamily="18" charset="0"/>
            </a:endParaRPr>
          </a:p>
          <a:p>
            <a:pPr marL="0" indent="0" algn="just">
              <a:buNone/>
            </a:pPr>
            <a:r>
              <a:rPr lang="en-US" sz="3000" dirty="0" smtClean="0">
                <a:latin typeface="Times New Roman" panose="02020603050405020304" pitchFamily="18" charset="0"/>
                <a:cs typeface="Times New Roman" panose="02020603050405020304" pitchFamily="18" charset="0"/>
              </a:rPr>
              <a:t>2</a:t>
            </a:r>
            <a:r>
              <a:rPr lang="en-US" sz="3000" dirty="0">
                <a:latin typeface="Times New Roman" panose="02020603050405020304" pitchFamily="18" charset="0"/>
                <a:cs typeface="Times New Roman" panose="02020603050405020304" pitchFamily="18" charset="0"/>
              </a:rPr>
              <a:t>. It is a chart for the measure of central tendency. </a:t>
            </a:r>
            <a:endParaRPr lang="en-US" sz="3000" dirty="0" smtClean="0">
              <a:latin typeface="Times New Roman" panose="02020603050405020304" pitchFamily="18" charset="0"/>
              <a:cs typeface="Times New Roman" panose="02020603050405020304" pitchFamily="18" charset="0"/>
            </a:endParaRPr>
          </a:p>
          <a:p>
            <a:pPr marL="0" indent="0" algn="just">
              <a:buNone/>
            </a:pPr>
            <a:r>
              <a:rPr lang="en-US" sz="3000" dirty="0" smtClean="0">
                <a:latin typeface="Times New Roman" panose="02020603050405020304" pitchFamily="18" charset="0"/>
                <a:cs typeface="Times New Roman" panose="02020603050405020304" pitchFamily="18" charset="0"/>
              </a:rPr>
              <a:t>3</a:t>
            </a:r>
            <a:r>
              <a:rPr lang="en-US" sz="3000" dirty="0">
                <a:latin typeface="Times New Roman" panose="02020603050405020304" pitchFamily="18" charset="0"/>
                <a:cs typeface="Times New Roman" panose="02020603050405020304" pitchFamily="18" charset="0"/>
              </a:rPr>
              <a:t>. It shows erratic or cyclic shifts in the process. </a:t>
            </a:r>
            <a:endParaRPr lang="en-US" sz="3000" dirty="0" smtClean="0">
              <a:latin typeface="Times New Roman" panose="02020603050405020304" pitchFamily="18" charset="0"/>
              <a:cs typeface="Times New Roman" panose="02020603050405020304" pitchFamily="18" charset="0"/>
            </a:endParaRPr>
          </a:p>
          <a:p>
            <a:pPr marL="0" indent="0" algn="just">
              <a:buNone/>
            </a:pPr>
            <a:r>
              <a:rPr lang="en-US" sz="3000" dirty="0" smtClean="0">
                <a:latin typeface="Times New Roman" panose="02020603050405020304" pitchFamily="18" charset="0"/>
                <a:cs typeface="Times New Roman" panose="02020603050405020304" pitchFamily="18" charset="0"/>
              </a:rPr>
              <a:t>4</a:t>
            </a:r>
            <a:r>
              <a:rPr lang="en-US" sz="3000" dirty="0">
                <a:latin typeface="Times New Roman" panose="02020603050405020304" pitchFamily="18" charset="0"/>
                <a:cs typeface="Times New Roman" panose="02020603050405020304" pitchFamily="18" charset="0"/>
              </a:rPr>
              <a:t>. It detects steady progress changes, like tool wear. </a:t>
            </a:r>
            <a:endParaRPr lang="en-US" sz="3000" dirty="0" smtClean="0">
              <a:latin typeface="Times New Roman" panose="02020603050405020304" pitchFamily="18" charset="0"/>
              <a:cs typeface="Times New Roman" panose="02020603050405020304" pitchFamily="18" charset="0"/>
            </a:endParaRPr>
          </a:p>
          <a:p>
            <a:pPr marL="0" indent="0" algn="just">
              <a:buNone/>
            </a:pPr>
            <a:r>
              <a:rPr lang="en-US" sz="3000" dirty="0" smtClean="0">
                <a:latin typeface="Times New Roman" panose="02020603050405020304" pitchFamily="18" charset="0"/>
                <a:cs typeface="Times New Roman" panose="02020603050405020304" pitchFamily="18" charset="0"/>
              </a:rPr>
              <a:t>5</a:t>
            </a:r>
            <a:r>
              <a:rPr lang="en-US" sz="3000" dirty="0">
                <a:latin typeface="Times New Roman" panose="02020603050405020304" pitchFamily="18" charset="0"/>
                <a:cs typeface="Times New Roman" panose="02020603050405020304" pitchFamily="18" charset="0"/>
              </a:rPr>
              <a:t>. It is the most commonly used variables chart</a:t>
            </a:r>
            <a:r>
              <a:rPr lang="en-US" sz="3000" dirty="0" smtClean="0">
                <a:latin typeface="Times New Roman" panose="02020603050405020304" pitchFamily="18" charset="0"/>
                <a:cs typeface="Times New Roman" panose="02020603050405020304" pitchFamily="18" charset="0"/>
              </a:rPr>
              <a:t>.</a:t>
            </a:r>
          </a:p>
          <a:p>
            <a:pPr marL="0" indent="0" algn="just">
              <a:buNone/>
            </a:pPr>
            <a:r>
              <a:rPr lang="en-US" dirty="0" smtClean="0"/>
              <a:t> </a:t>
            </a:r>
            <a:endParaRPr lang="en-IN" dirty="0">
              <a:solidFill>
                <a:srgbClr val="7030A0"/>
              </a:solidFill>
            </a:endParaRPr>
          </a:p>
        </p:txBody>
      </p:sp>
    </p:spTree>
    <p:extLst>
      <p:ext uri="{BB962C8B-B14F-4D97-AF65-F5344CB8AC3E}">
        <p14:creationId xmlns:p14="http://schemas.microsoft.com/office/powerpoint/2010/main" val="40878830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5527" y="443346"/>
            <a:ext cx="10910455" cy="5816745"/>
          </a:xfrm>
        </p:spPr>
        <p:txBody>
          <a:bodyPr/>
          <a:lstStyle/>
          <a:p>
            <a:pPr marL="0" indent="0" algn="just">
              <a:buNone/>
            </a:pPr>
            <a:r>
              <a:rPr lang="en-US" dirty="0">
                <a:latin typeface="Times New Roman" panose="02020603050405020304" pitchFamily="18" charset="0"/>
                <a:cs typeface="Times New Roman" panose="02020603050405020304" pitchFamily="18" charset="0"/>
              </a:rPr>
              <a:t>6. When used along with R chart: </a:t>
            </a:r>
            <a:endParaRPr lang="en-US" dirty="0" smtClean="0">
              <a:latin typeface="Times New Roman" panose="02020603050405020304" pitchFamily="18" charset="0"/>
              <a:cs typeface="Times New Roman" panose="02020603050405020304" pitchFamily="18" charset="0"/>
            </a:endParaRPr>
          </a:p>
          <a:p>
            <a:pPr marL="514350" indent="-514350" algn="just">
              <a:buAutoNum type="alphaLcPeriod"/>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tells when to leave the process alone and when to chase and go for the causes leading to variation; </a:t>
            </a:r>
            <a:endParaRPr lang="en-US" dirty="0" smtClean="0">
              <a:latin typeface="Times New Roman" panose="02020603050405020304" pitchFamily="18" charset="0"/>
              <a:cs typeface="Times New Roman" panose="02020603050405020304" pitchFamily="18" charset="0"/>
            </a:endParaRPr>
          </a:p>
          <a:p>
            <a:pPr marL="514350" indent="-514350" algn="just">
              <a:buAutoNum type="alphaLcPeriod"/>
            </a:pPr>
            <a:r>
              <a:rPr lang="en-US" dirty="0" smtClean="0">
                <a:latin typeface="Times New Roman" panose="02020603050405020304" pitchFamily="18" charset="0"/>
                <a:cs typeface="Times New Roman" panose="02020603050405020304" pitchFamily="18" charset="0"/>
              </a:rPr>
              <a:t>b</a:t>
            </a:r>
            <a:r>
              <a:rPr lang="en-US" dirty="0">
                <a:latin typeface="Times New Roman" panose="02020603050405020304" pitchFamily="18" charset="0"/>
                <a:cs typeface="Times New Roman" panose="02020603050405020304" pitchFamily="18" charset="0"/>
              </a:rPr>
              <a:t>. It secures information in establishing or modifying processes, specifications or inspection procedures; c. It controls the quality of incoming material. </a:t>
            </a:r>
          </a:p>
          <a:p>
            <a:pPr marL="0" indent="0" algn="just">
              <a:buNone/>
            </a:pPr>
            <a:r>
              <a:rPr lang="en-US" dirty="0">
                <a:latin typeface="Times New Roman" panose="02020603050405020304" pitchFamily="18" charset="0"/>
                <a:cs typeface="Times New Roman" panose="02020603050405020304" pitchFamily="18" charset="0"/>
              </a:rPr>
              <a:t>7. X-Bar and R charts when used together form a powerful instrument for diagnosing quality problems.</a:t>
            </a:r>
            <a:endParaRPr lang="en-IN" dirty="0">
              <a:solidFill>
                <a:srgbClr val="7030A0"/>
              </a:solidFill>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09205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42109" y="350838"/>
            <a:ext cx="10113817" cy="5826125"/>
          </a:xfrm>
          <a:prstGeom prst="rect">
            <a:avLst/>
          </a:prstGeom>
        </p:spPr>
      </p:pic>
    </p:spTree>
    <p:extLst>
      <p:ext uri="{BB962C8B-B14F-4D97-AF65-F5344CB8AC3E}">
        <p14:creationId xmlns:p14="http://schemas.microsoft.com/office/powerpoint/2010/main" val="35616512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80656" y="498475"/>
            <a:ext cx="9541162" cy="5678488"/>
          </a:xfrm>
          <a:prstGeom prst="rect">
            <a:avLst/>
          </a:prstGeom>
        </p:spPr>
      </p:pic>
    </p:spTree>
    <p:extLst>
      <p:ext uri="{BB962C8B-B14F-4D97-AF65-F5344CB8AC3E}">
        <p14:creationId xmlns:p14="http://schemas.microsoft.com/office/powerpoint/2010/main" val="41936248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49745" y="481013"/>
            <a:ext cx="10086110" cy="6205537"/>
          </a:xfrm>
          <a:prstGeom prst="rect">
            <a:avLst/>
          </a:prstGeom>
        </p:spPr>
      </p:pic>
    </p:spTree>
    <p:extLst>
      <p:ext uri="{BB962C8B-B14F-4D97-AF65-F5344CB8AC3E}">
        <p14:creationId xmlns:p14="http://schemas.microsoft.com/office/powerpoint/2010/main" val="13917824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77455" y="305593"/>
            <a:ext cx="10612581" cy="6224515"/>
          </a:xfrm>
          <a:prstGeom prst="rect">
            <a:avLst/>
          </a:prstGeom>
        </p:spPr>
      </p:pic>
    </p:spTree>
    <p:extLst>
      <p:ext uri="{BB962C8B-B14F-4D97-AF65-F5344CB8AC3E}">
        <p14:creationId xmlns:p14="http://schemas.microsoft.com/office/powerpoint/2010/main" val="14490734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1257" y="130629"/>
            <a:ext cx="10981706" cy="6506145"/>
          </a:xfrm>
        </p:spPr>
        <p:txBody>
          <a:bodyPr>
            <a:noAutofit/>
          </a:bodyPr>
          <a:lstStyle/>
          <a:p>
            <a:pPr marL="0" indent="0" algn="just">
              <a:buNone/>
            </a:pPr>
            <a:r>
              <a:rPr lang="en-US" sz="2600" dirty="0">
                <a:solidFill>
                  <a:srgbClr val="7030A0"/>
                </a:solidFill>
                <a:latin typeface="Times New Roman" panose="02020603050405020304" pitchFamily="18" charset="0"/>
                <a:cs typeface="Times New Roman" panose="02020603050405020304" pitchFamily="18" charset="0"/>
              </a:rPr>
              <a:t>Range (R) charts </a:t>
            </a:r>
            <a:endParaRPr lang="en-US" sz="2600" dirty="0" smtClean="0">
              <a:solidFill>
                <a:srgbClr val="7030A0"/>
              </a:solidFill>
              <a:latin typeface="Times New Roman" panose="02020603050405020304" pitchFamily="18" charset="0"/>
              <a:cs typeface="Times New Roman" panose="02020603050405020304" pitchFamily="18" charset="0"/>
            </a:endParaRPr>
          </a:p>
          <a:p>
            <a:pPr marL="0" indent="0" algn="just">
              <a:buNone/>
            </a:pPr>
            <a:r>
              <a:rPr lang="en-US" sz="2600" dirty="0" smtClean="0">
                <a:latin typeface="Times New Roman" panose="02020603050405020304" pitchFamily="18" charset="0"/>
                <a:cs typeface="Times New Roman" panose="02020603050405020304" pitchFamily="18" charset="0"/>
              </a:rPr>
              <a:t>These </a:t>
            </a:r>
            <a:r>
              <a:rPr lang="en-US" sz="2600" dirty="0">
                <a:latin typeface="Times New Roman" panose="02020603050405020304" pitchFamily="18" charset="0"/>
                <a:cs typeface="Times New Roman" panose="02020603050405020304" pitchFamily="18" charset="0"/>
              </a:rPr>
              <a:t>are another type of control chart for variables. Whereas x-bar charts measure shift in the central tendency of the process, range charts monitor the dispersion or variability of the process. </a:t>
            </a:r>
            <a:endParaRPr lang="en-US" sz="2600" dirty="0" smtClean="0">
              <a:latin typeface="Times New Roman" panose="02020603050405020304" pitchFamily="18" charset="0"/>
              <a:cs typeface="Times New Roman" panose="02020603050405020304" pitchFamily="18" charset="0"/>
            </a:endParaRPr>
          </a:p>
          <a:p>
            <a:pPr marL="0" indent="0" algn="just">
              <a:buNone/>
            </a:pPr>
            <a:r>
              <a:rPr lang="en-US" sz="2600" dirty="0" smtClean="0">
                <a:latin typeface="Times New Roman" panose="02020603050405020304" pitchFamily="18" charset="0"/>
                <a:cs typeface="Times New Roman" panose="02020603050405020304" pitchFamily="18" charset="0"/>
              </a:rPr>
              <a:t>The </a:t>
            </a:r>
            <a:r>
              <a:rPr lang="en-US" sz="2600" dirty="0">
                <a:latin typeface="Times New Roman" panose="02020603050405020304" pitchFamily="18" charset="0"/>
                <a:cs typeface="Times New Roman" panose="02020603050405020304" pitchFamily="18" charset="0"/>
              </a:rPr>
              <a:t>method for developing and using R-charts are the same as that for x-bar charts. </a:t>
            </a:r>
            <a:endParaRPr lang="en-US" sz="2600" dirty="0" smtClean="0">
              <a:latin typeface="Times New Roman" panose="02020603050405020304" pitchFamily="18" charset="0"/>
              <a:cs typeface="Times New Roman" panose="02020603050405020304" pitchFamily="18" charset="0"/>
            </a:endParaRPr>
          </a:p>
          <a:p>
            <a:pPr marL="0" indent="0" algn="just">
              <a:buNone/>
            </a:pPr>
            <a:r>
              <a:rPr lang="en-US" sz="2600" dirty="0" smtClean="0">
                <a:latin typeface="Times New Roman" panose="02020603050405020304" pitchFamily="18" charset="0"/>
                <a:cs typeface="Times New Roman" panose="02020603050405020304" pitchFamily="18" charset="0"/>
              </a:rPr>
              <a:t>The </a:t>
            </a:r>
            <a:r>
              <a:rPr lang="en-US" sz="2600" dirty="0">
                <a:latin typeface="Times New Roman" panose="02020603050405020304" pitchFamily="18" charset="0"/>
                <a:cs typeface="Times New Roman" panose="02020603050405020304" pitchFamily="18" charset="0"/>
              </a:rPr>
              <a:t>center line of the control chart is the average range, and the upper and lower control limits are computed. </a:t>
            </a:r>
            <a:endParaRPr lang="en-US" sz="2600" dirty="0" smtClean="0">
              <a:latin typeface="Times New Roman" panose="02020603050405020304" pitchFamily="18" charset="0"/>
              <a:cs typeface="Times New Roman" panose="02020603050405020304" pitchFamily="18" charset="0"/>
            </a:endParaRPr>
          </a:p>
          <a:p>
            <a:pPr marL="0" indent="0" algn="just">
              <a:buNone/>
            </a:pPr>
            <a:r>
              <a:rPr lang="en-US" sz="2600" dirty="0">
                <a:latin typeface="Times New Roman" panose="02020603050405020304" pitchFamily="18" charset="0"/>
                <a:cs typeface="Times New Roman" panose="02020603050405020304" pitchFamily="18" charset="0"/>
              </a:rPr>
              <a:t>The R chart is used to monitor process variability when sample sizes are </a:t>
            </a:r>
            <a:r>
              <a:rPr lang="en-US" sz="2600" dirty="0" smtClean="0">
                <a:latin typeface="Times New Roman" panose="02020603050405020304" pitchFamily="18" charset="0"/>
                <a:cs typeface="Times New Roman" panose="02020603050405020304" pitchFamily="18" charset="0"/>
              </a:rPr>
              <a:t>small.</a:t>
            </a:r>
          </a:p>
          <a:p>
            <a:pPr marL="0" indent="0" algn="just">
              <a:buNone/>
            </a:pPr>
            <a:r>
              <a:rPr lang="en-US" sz="2600" dirty="0" smtClean="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This chart is called the R chart because the statistic being plotted is the sample range. </a:t>
            </a:r>
            <a:endParaRPr lang="en-US" sz="2600" dirty="0" smtClean="0">
              <a:latin typeface="Times New Roman" panose="02020603050405020304" pitchFamily="18" charset="0"/>
              <a:cs typeface="Times New Roman" panose="02020603050405020304" pitchFamily="18" charset="0"/>
            </a:endParaRPr>
          </a:p>
          <a:p>
            <a:pPr marL="514350" indent="-514350" algn="just">
              <a:buAutoNum type="arabicPeriod"/>
            </a:pPr>
            <a:r>
              <a:rPr lang="en-US" sz="2600" dirty="0" smtClean="0">
                <a:latin typeface="Times New Roman" panose="02020603050405020304" pitchFamily="18" charset="0"/>
                <a:cs typeface="Times New Roman" panose="02020603050405020304" pitchFamily="18" charset="0"/>
              </a:rPr>
              <a:t>It </a:t>
            </a:r>
            <a:r>
              <a:rPr lang="en-US" sz="2600" dirty="0">
                <a:latin typeface="Times New Roman" panose="02020603050405020304" pitchFamily="18" charset="0"/>
                <a:cs typeface="Times New Roman" panose="02020603050405020304" pitchFamily="18" charset="0"/>
              </a:rPr>
              <a:t>controls general variability of the process and is affected by changes in process variability. </a:t>
            </a:r>
            <a:endParaRPr lang="en-US" sz="2600" dirty="0" smtClean="0">
              <a:latin typeface="Times New Roman" panose="02020603050405020304" pitchFamily="18" charset="0"/>
              <a:cs typeface="Times New Roman" panose="02020603050405020304" pitchFamily="18" charset="0"/>
            </a:endParaRPr>
          </a:p>
          <a:p>
            <a:pPr marL="0" indent="0" algn="just">
              <a:buNone/>
            </a:pPr>
            <a:r>
              <a:rPr lang="en-US" sz="2600" dirty="0" smtClean="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It is a chart for measure of </a:t>
            </a:r>
            <a:r>
              <a:rPr lang="en-US" sz="2600" dirty="0" smtClean="0">
                <a:latin typeface="Times New Roman" panose="02020603050405020304" pitchFamily="18" charset="0"/>
                <a:cs typeface="Times New Roman" panose="02020603050405020304" pitchFamily="18" charset="0"/>
              </a:rPr>
              <a:t>spread. It </a:t>
            </a:r>
            <a:r>
              <a:rPr lang="en-US" sz="2600" dirty="0">
                <a:latin typeface="Times New Roman" panose="02020603050405020304" pitchFamily="18" charset="0"/>
                <a:cs typeface="Times New Roman" panose="02020603050405020304" pitchFamily="18" charset="0"/>
              </a:rPr>
              <a:t>is generally used along with X-bar chart. </a:t>
            </a:r>
            <a:endParaRPr lang="en-US" sz="26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34627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49745" y="184727"/>
            <a:ext cx="10492509" cy="6456217"/>
          </a:xfrm>
          <a:prstGeom prst="rect">
            <a:avLst/>
          </a:prstGeom>
        </p:spPr>
      </p:pic>
    </p:spTree>
    <p:extLst>
      <p:ext uri="{BB962C8B-B14F-4D97-AF65-F5344CB8AC3E}">
        <p14:creationId xmlns:p14="http://schemas.microsoft.com/office/powerpoint/2010/main" val="9778850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05164" y="304800"/>
            <a:ext cx="11286836" cy="6299200"/>
          </a:xfrm>
          <a:prstGeom prst="rect">
            <a:avLst/>
          </a:prstGeom>
        </p:spPr>
      </p:pic>
    </p:spTree>
    <p:extLst>
      <p:ext uri="{BB962C8B-B14F-4D97-AF65-F5344CB8AC3E}">
        <p14:creationId xmlns:p14="http://schemas.microsoft.com/office/powerpoint/2010/main" val="28804803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71418" y="563563"/>
            <a:ext cx="10196946" cy="5613400"/>
          </a:xfrm>
          <a:prstGeom prst="rect">
            <a:avLst/>
          </a:prstGeom>
        </p:spPr>
      </p:pic>
    </p:spTree>
    <p:extLst>
      <p:ext uri="{BB962C8B-B14F-4D97-AF65-F5344CB8AC3E}">
        <p14:creationId xmlns:p14="http://schemas.microsoft.com/office/powerpoint/2010/main" val="35345179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87927" y="193675"/>
            <a:ext cx="11277601" cy="6373813"/>
          </a:xfrm>
          <a:prstGeom prst="rect">
            <a:avLst/>
          </a:prstGeom>
        </p:spPr>
      </p:pic>
    </p:spTree>
    <p:extLst>
      <p:ext uri="{BB962C8B-B14F-4D97-AF65-F5344CB8AC3E}">
        <p14:creationId xmlns:p14="http://schemas.microsoft.com/office/powerpoint/2010/main" val="41246641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32873" y="285750"/>
            <a:ext cx="10510981" cy="6299200"/>
          </a:xfrm>
          <a:prstGeom prst="rect">
            <a:avLst/>
          </a:prstGeom>
        </p:spPr>
      </p:pic>
    </p:spTree>
    <p:extLst>
      <p:ext uri="{BB962C8B-B14F-4D97-AF65-F5344CB8AC3E}">
        <p14:creationId xmlns:p14="http://schemas.microsoft.com/office/powerpoint/2010/main" val="28773268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46545" y="230188"/>
            <a:ext cx="10917382" cy="6262687"/>
          </a:xfrm>
          <a:prstGeom prst="rect">
            <a:avLst/>
          </a:prstGeom>
        </p:spPr>
      </p:pic>
    </p:spTree>
    <p:extLst>
      <p:ext uri="{BB962C8B-B14F-4D97-AF65-F5344CB8AC3E}">
        <p14:creationId xmlns:p14="http://schemas.microsoft.com/office/powerpoint/2010/main" val="15070538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7703" y="457200"/>
            <a:ext cx="10926097" cy="5719763"/>
          </a:xfrm>
        </p:spPr>
        <p:txBody>
          <a:bodyPr/>
          <a:lstStyle/>
          <a:p>
            <a:pPr marL="0" indent="0" algn="just">
              <a:buNone/>
            </a:pPr>
            <a:r>
              <a:rPr lang="en-US" dirty="0" err="1" smtClean="0">
                <a:solidFill>
                  <a:srgbClr val="C00000"/>
                </a:solidFill>
                <a:latin typeface="Times New Roman" panose="02020603050405020304" pitchFamily="18" charset="0"/>
                <a:cs typeface="Times New Roman" panose="02020603050405020304" pitchFamily="18" charset="0"/>
              </a:rPr>
              <a:t>np</a:t>
            </a:r>
            <a:r>
              <a:rPr lang="en-US" dirty="0" smtClean="0">
                <a:solidFill>
                  <a:srgbClr val="C00000"/>
                </a:solidFill>
                <a:latin typeface="Times New Roman" panose="02020603050405020304" pitchFamily="18" charset="0"/>
                <a:cs typeface="Times New Roman" panose="02020603050405020304" pitchFamily="18" charset="0"/>
              </a:rPr>
              <a:t> Chart</a:t>
            </a: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np-chart is an adaptation of the basic p-chart. The purpose of this chart is to provide a better understanding to the operator who may understand actual number of defective items easily rather than the proportion defective.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However</a:t>
            </a:r>
            <a:r>
              <a:rPr lang="en-US" dirty="0">
                <a:latin typeface="Times New Roman" panose="02020603050405020304" pitchFamily="18" charset="0"/>
                <a:cs typeface="Times New Roman" panose="02020603050405020304" pitchFamily="18" charset="0"/>
              </a:rPr>
              <a:t>, there is one drawback of the np-chart: It is used only for equal sample size because the number of defectives cannot be compared for variable sample size.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For </a:t>
            </a:r>
            <a:r>
              <a:rPr lang="en-US" dirty="0">
                <a:latin typeface="Times New Roman" panose="02020603050405020304" pitchFamily="18" charset="0"/>
                <a:cs typeface="Times New Roman" panose="02020603050405020304" pitchFamily="18" charset="0"/>
              </a:rPr>
              <a:t>example, suppose we get one defective item in a sample of size 10 and one defective item in a sample of size 100. In both samples, we get one defective item, but the first sample shows a much higher rate of problems, that is 10%, in comparison to the second.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65106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03563" y="230909"/>
            <a:ext cx="10298545" cy="6049817"/>
          </a:xfrm>
          <a:prstGeom prst="rect">
            <a:avLst/>
          </a:prstGeom>
        </p:spPr>
      </p:pic>
    </p:spTree>
    <p:extLst>
      <p:ext uri="{BB962C8B-B14F-4D97-AF65-F5344CB8AC3E}">
        <p14:creationId xmlns:p14="http://schemas.microsoft.com/office/powerpoint/2010/main" val="2181760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Content Placeholder 15"/>
          <p:cNvPicPr>
            <a:picLocks noGrp="1" noChangeAspect="1"/>
          </p:cNvPicPr>
          <p:nvPr>
            <p:ph idx="1"/>
          </p:nvPr>
        </p:nvPicPr>
        <p:blipFill>
          <a:blip r:embed="rId2"/>
          <a:stretch>
            <a:fillRect/>
          </a:stretch>
        </p:blipFill>
        <p:spPr>
          <a:xfrm>
            <a:off x="2153265" y="515938"/>
            <a:ext cx="6181940" cy="5661025"/>
          </a:xfrm>
          <a:prstGeom prst="rect">
            <a:avLst/>
          </a:prstGeom>
        </p:spPr>
      </p:pic>
    </p:spTree>
    <p:extLst>
      <p:ext uri="{BB962C8B-B14F-4D97-AF65-F5344CB8AC3E}">
        <p14:creationId xmlns:p14="http://schemas.microsoft.com/office/powerpoint/2010/main" val="28413888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197510" y="235973"/>
            <a:ext cx="6091084" cy="6445045"/>
          </a:xfrm>
          <a:prstGeom prst="rect">
            <a:avLst/>
          </a:prstGeom>
        </p:spPr>
      </p:pic>
    </p:spTree>
    <p:extLst>
      <p:ext uri="{BB962C8B-B14F-4D97-AF65-F5344CB8AC3E}">
        <p14:creationId xmlns:p14="http://schemas.microsoft.com/office/powerpoint/2010/main" val="27744747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651819" y="368300"/>
            <a:ext cx="7669162" cy="6194732"/>
          </a:xfrm>
          <a:prstGeom prst="rect">
            <a:avLst/>
          </a:prstGeom>
        </p:spPr>
      </p:pic>
    </p:spTree>
    <p:extLst>
      <p:ext uri="{BB962C8B-B14F-4D97-AF65-F5344CB8AC3E}">
        <p14:creationId xmlns:p14="http://schemas.microsoft.com/office/powerpoint/2010/main" val="670194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45342" y="577770"/>
            <a:ext cx="8303342" cy="5613559"/>
          </a:xfrm>
        </p:spPr>
      </p:pic>
    </p:spTree>
    <p:extLst>
      <p:ext uri="{BB962C8B-B14F-4D97-AF65-F5344CB8AC3E}">
        <p14:creationId xmlns:p14="http://schemas.microsoft.com/office/powerpoint/2010/main" val="5420388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477" t="-5287" r="477" b="5287"/>
          <a:stretch/>
        </p:blipFill>
        <p:spPr>
          <a:xfrm>
            <a:off x="1468582" y="18039"/>
            <a:ext cx="9171709" cy="6521470"/>
          </a:xfrm>
          <a:prstGeom prst="rect">
            <a:avLst/>
          </a:prstGeom>
        </p:spPr>
      </p:pic>
    </p:spTree>
    <p:extLst>
      <p:ext uri="{BB962C8B-B14F-4D97-AF65-F5344CB8AC3E}">
        <p14:creationId xmlns:p14="http://schemas.microsoft.com/office/powerpoint/2010/main" val="1340331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3961" y="129309"/>
            <a:ext cx="11238271" cy="6315736"/>
          </a:xfrm>
        </p:spPr>
        <p:txBody>
          <a:bodyPr>
            <a:normAutofit fontScale="92500" lnSpcReduction="20000"/>
          </a:bodyPr>
          <a:lstStyle/>
          <a:p>
            <a:pPr marL="0" indent="0" algn="just">
              <a:buNone/>
            </a:pPr>
            <a:r>
              <a:rPr lang="en-US" dirty="0" smtClean="0">
                <a:solidFill>
                  <a:srgbClr val="C00000"/>
                </a:solidFill>
                <a:latin typeface="Times New Roman" panose="02020603050405020304" pitchFamily="18" charset="0"/>
                <a:cs typeface="Times New Roman" panose="02020603050405020304" pitchFamily="18" charset="0"/>
              </a:rPr>
              <a:t> Advantages Of SQC </a:t>
            </a:r>
            <a:r>
              <a:rPr lang="en-US" dirty="0">
                <a:solidFill>
                  <a:srgbClr val="C00000"/>
                </a:solidFill>
                <a:latin typeface="Times New Roman" panose="02020603050405020304" pitchFamily="18" charset="0"/>
                <a:cs typeface="Times New Roman" panose="02020603050405020304" pitchFamily="18" charset="0"/>
              </a:rPr>
              <a:t>over 100 percent inspection: </a:t>
            </a:r>
          </a:p>
          <a:p>
            <a:pPr algn="just"/>
            <a:r>
              <a:rPr lang="en-US" dirty="0" smtClean="0">
                <a:solidFill>
                  <a:srgbClr val="7030A0"/>
                </a:solidFill>
                <a:latin typeface="Times New Roman" panose="02020603050405020304" pitchFamily="18" charset="0"/>
                <a:cs typeface="Times New Roman" panose="02020603050405020304" pitchFamily="18" charset="0"/>
              </a:rPr>
              <a:t>Reduction </a:t>
            </a:r>
            <a:r>
              <a:rPr lang="en-US" dirty="0">
                <a:solidFill>
                  <a:srgbClr val="7030A0"/>
                </a:solidFill>
                <a:latin typeface="Times New Roman" panose="02020603050405020304" pitchFamily="18" charset="0"/>
                <a:cs typeface="Times New Roman" panose="02020603050405020304" pitchFamily="18" charset="0"/>
              </a:rPr>
              <a:t>in cost: </a:t>
            </a:r>
            <a:r>
              <a:rPr lang="en-US" dirty="0">
                <a:latin typeface="Times New Roman" panose="02020603050405020304" pitchFamily="18" charset="0"/>
                <a:cs typeface="Times New Roman" panose="02020603050405020304" pitchFamily="18" charset="0"/>
              </a:rPr>
              <a:t>Since only a fractional output is inspected, hence cost of inspection is greatly reduced.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a:t>
            </a:r>
            <a:r>
              <a:rPr lang="en-US" dirty="0">
                <a:solidFill>
                  <a:srgbClr val="7030A0"/>
                </a:solidFill>
                <a:latin typeface="Times New Roman" panose="02020603050405020304" pitchFamily="18" charset="0"/>
                <a:cs typeface="Times New Roman" panose="02020603050405020304" pitchFamily="18" charset="0"/>
              </a:rPr>
              <a:t>Greater efficiency: </a:t>
            </a:r>
            <a:r>
              <a:rPr lang="en-US" dirty="0">
                <a:latin typeface="Times New Roman" panose="02020603050405020304" pitchFamily="18" charset="0"/>
                <a:cs typeface="Times New Roman" panose="02020603050405020304" pitchFamily="18" charset="0"/>
              </a:rPr>
              <a:t>It requires lesser time and boredom as compared to the 100 percent inspection and hence the efficiency increases.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a:t>
            </a:r>
            <a:r>
              <a:rPr lang="en-US" dirty="0">
                <a:solidFill>
                  <a:srgbClr val="7030A0"/>
                </a:solidFill>
                <a:latin typeface="Times New Roman" panose="02020603050405020304" pitchFamily="18" charset="0"/>
                <a:cs typeface="Times New Roman" panose="02020603050405020304" pitchFamily="18" charset="0"/>
              </a:rPr>
              <a:t>Easy to apply:</a:t>
            </a:r>
            <a:r>
              <a:rPr lang="en-US" dirty="0">
                <a:latin typeface="Times New Roman" panose="02020603050405020304" pitchFamily="18" charset="0"/>
                <a:cs typeface="Times New Roman" panose="02020603050405020304" pitchFamily="18" charset="0"/>
              </a:rPr>
              <a:t> Once the S.Q.C plan is established, it is easy to apply even by man who does not have extensive specialized training.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a:t>
            </a:r>
            <a:r>
              <a:rPr lang="en-US" dirty="0">
                <a:solidFill>
                  <a:srgbClr val="7030A0"/>
                </a:solidFill>
                <a:latin typeface="Times New Roman" panose="02020603050405020304" pitchFamily="18" charset="0"/>
                <a:cs typeface="Times New Roman" panose="02020603050405020304" pitchFamily="18" charset="0"/>
              </a:rPr>
              <a:t>Accurate prediction: </a:t>
            </a:r>
            <a:r>
              <a:rPr lang="en-US" dirty="0">
                <a:latin typeface="Times New Roman" panose="02020603050405020304" pitchFamily="18" charset="0"/>
                <a:cs typeface="Times New Roman" panose="02020603050405020304" pitchFamily="18" charset="0"/>
              </a:rPr>
              <a:t>Specifications can easily be predicted for the future, which is not possible even with 100 percent inspection.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Can be used where inspection is needs destruction of items: In cases where destruction of product is necessary for inspecting it, 100 percent inspection is not possible (which will spoil all the products), sampling inspection is resorted to.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a:t>
            </a:r>
            <a:r>
              <a:rPr lang="en-US" dirty="0">
                <a:solidFill>
                  <a:srgbClr val="7030A0"/>
                </a:solidFill>
                <a:latin typeface="Times New Roman" panose="02020603050405020304" pitchFamily="18" charset="0"/>
                <a:cs typeface="Times New Roman" panose="02020603050405020304" pitchFamily="18" charset="0"/>
              </a:rPr>
              <a:t>Early detection of faults: </a:t>
            </a:r>
            <a:r>
              <a:rPr lang="en-US" dirty="0">
                <a:latin typeface="Times New Roman" panose="02020603050405020304" pitchFamily="18" charset="0"/>
                <a:cs typeface="Times New Roman" panose="02020603050405020304" pitchFamily="18" charset="0"/>
              </a:rPr>
              <a:t>The moment a sample point falls outside the control limits, it is taken as a danger signal and necessary corrective measures are taken. Whereas in 100 percent inspection, unwanted variations in quality may be detected after large number of defective items have already been produced. Thus by using the control charts, we can know from graphic picture that how the production is proceeding and where corrective action is required and where it is not required.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58104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7987" y="162232"/>
            <a:ext cx="11798710" cy="6386052"/>
          </a:xfrm>
        </p:spPr>
        <p:txBody>
          <a:bodyPr>
            <a:normAutofit lnSpcReduction="10000"/>
          </a:bodyPr>
          <a:lstStyle/>
          <a:p>
            <a:pPr marL="0" indent="0">
              <a:buNone/>
            </a:pPr>
            <a:r>
              <a:rPr lang="en-US" b="1" dirty="0">
                <a:solidFill>
                  <a:srgbClr val="7030A0"/>
                </a:solidFill>
                <a:latin typeface="Times New Roman" panose="02020603050405020304" pitchFamily="18" charset="0"/>
                <a:cs typeface="Times New Roman" panose="02020603050405020304" pitchFamily="18" charset="0"/>
              </a:rPr>
              <a:t>ACCEPTANCE SAMPLING </a:t>
            </a:r>
            <a:endParaRPr lang="en-US" b="1" dirty="0" smtClean="0">
              <a:solidFill>
                <a:srgbClr val="7030A0"/>
              </a:solidFill>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Acceptance Sampling is concerned with the decision to accept a mass of manufactured items as conforming to standards of quality or to reject the mass as non-conforming to quality. The decision is reached through sampling.” - SIMPSON AND </a:t>
            </a:r>
            <a:r>
              <a:rPr lang="en-US" dirty="0" smtClean="0">
                <a:latin typeface="Times New Roman" panose="02020603050405020304" pitchFamily="18" charset="0"/>
                <a:cs typeface="Times New Roman" panose="02020603050405020304" pitchFamily="18" charset="0"/>
              </a:rPr>
              <a:t>KAFKA</a:t>
            </a:r>
          </a:p>
          <a:p>
            <a:r>
              <a:rPr lang="en-US" dirty="0">
                <a:latin typeface="Times New Roman" panose="02020603050405020304" pitchFamily="18" charset="0"/>
                <a:cs typeface="Times New Roman" panose="02020603050405020304" pitchFamily="18" charset="0"/>
              </a:rPr>
              <a:t>Acceptance sampling uses statistical sampling to determine whether to accept or reject a production lot of material.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has been a common quality control technique used in industry and particularly the military for contracts and procurement</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It is usually done as products leave the factory, or in some cases even within the factory.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Most </a:t>
            </a:r>
            <a:r>
              <a:rPr lang="en-US" dirty="0">
                <a:latin typeface="Times New Roman" panose="02020603050405020304" pitchFamily="18" charset="0"/>
                <a:cs typeface="Times New Roman" panose="02020603050405020304" pitchFamily="18" charset="0"/>
              </a:rPr>
              <a:t>often a producer supplies a consumer a number of items and decision to accept or reject the lot is made by determining the number of defective items in a sample from the lot.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lot is accepted if the number of defects falls below where the acceptance number or otherwise the lot is rejected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52372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2955" y="324464"/>
            <a:ext cx="10940845" cy="6150077"/>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The purpose of Acceptance Sampling is, therefore a method used to make a decision as to whether to accept or to reject lots based on inspection of sample(s).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Acceptance Sampling is very widely used in practice due to the following merits: </a:t>
            </a:r>
            <a:endParaRPr lang="en-US" dirty="0" smtClean="0">
              <a:latin typeface="Times New Roman" panose="02020603050405020304" pitchFamily="18" charset="0"/>
              <a:cs typeface="Times New Roman" panose="02020603050405020304" pitchFamily="18" charset="0"/>
            </a:endParaRPr>
          </a:p>
          <a:p>
            <a:pPr marL="514350" indent="-514350" algn="just">
              <a:buAutoNum type="arabicPeriod"/>
            </a:pPr>
            <a:r>
              <a:rPr lang="en-US" dirty="0" smtClean="0">
                <a:latin typeface="Times New Roman" panose="02020603050405020304" pitchFamily="18" charset="0"/>
                <a:cs typeface="Times New Roman" panose="02020603050405020304" pitchFamily="18" charset="0"/>
              </a:rPr>
              <a:t>Acceptance </a:t>
            </a:r>
            <a:r>
              <a:rPr lang="en-US" dirty="0">
                <a:latin typeface="Times New Roman" panose="02020603050405020304" pitchFamily="18" charset="0"/>
                <a:cs typeface="Times New Roman" panose="02020603050405020304" pitchFamily="18" charset="0"/>
              </a:rPr>
              <a:t>Sampling is much less expensive than 100 percent inspection.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It is general experience that 100 percent inspection removes only 82 to 95 percent of defective material. Very good 100 percent inspection may remove at the most 99 percent of the defectives, but still cannot reach the level of 100 percent. Due to the effect of inspection fatigue involved in 100 percent inspection, a good sampling plan may actually give better results than that achieved by 100 percent inspection.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Because of its economy, it is possible to carry out sample inspection at various stages.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93134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2955" y="457200"/>
            <a:ext cx="10940845" cy="5719763"/>
          </a:xfrm>
        </p:spPr>
        <p:txBody>
          <a:bodyPr/>
          <a:lstStyle/>
          <a:p>
            <a:pPr algn="just"/>
            <a:r>
              <a:rPr lang="en-US" dirty="0">
                <a:latin typeface="Times New Roman" panose="02020603050405020304" pitchFamily="18" charset="0"/>
                <a:cs typeface="Times New Roman" panose="02020603050405020304" pitchFamily="18" charset="0"/>
              </a:rPr>
              <a:t>Using sampling rather than 100% inspection of the lots brings some risks both to the consumer and to the producer, which are called the consumer's and the producer's risks, respectively. We encounter making decisions on sampling in our daily affairs.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4555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9213" y="235974"/>
            <a:ext cx="11444748" cy="6282813"/>
          </a:xfrm>
        </p:spPr>
        <p:txBody>
          <a:bodyPr/>
          <a:lstStyle/>
          <a:p>
            <a:pPr marL="0" indent="0" algn="just">
              <a:buNone/>
            </a:pPr>
            <a:r>
              <a:rPr lang="en-US" dirty="0">
                <a:solidFill>
                  <a:srgbClr val="7030A0"/>
                </a:solidFill>
                <a:latin typeface="Times New Roman" panose="02020603050405020304" pitchFamily="18" charset="0"/>
                <a:cs typeface="Times New Roman" panose="02020603050405020304" pitchFamily="18" charset="0"/>
              </a:rPr>
              <a:t>Risks in Acceptance sampling </a:t>
            </a:r>
            <a:endParaRPr lang="en-US" dirty="0" smtClean="0">
              <a:solidFill>
                <a:srgbClr val="7030A0"/>
              </a:solidFill>
              <a:latin typeface="Times New Roman" panose="02020603050405020304" pitchFamily="18" charset="0"/>
              <a:cs typeface="Times New Roman" panose="02020603050405020304" pitchFamily="18" charset="0"/>
            </a:endParaRPr>
          </a:p>
          <a:p>
            <a:pPr marL="514350" indent="-514350" algn="just">
              <a:buAutoNum type="arabicPeriod"/>
            </a:pPr>
            <a:r>
              <a:rPr lang="en-US" dirty="0" smtClean="0">
                <a:latin typeface="Times New Roman" panose="02020603050405020304" pitchFamily="18" charset="0"/>
                <a:cs typeface="Times New Roman" panose="02020603050405020304" pitchFamily="18" charset="0"/>
              </a:rPr>
              <a:t>Producer’s </a:t>
            </a:r>
            <a:r>
              <a:rPr lang="en-US" dirty="0">
                <a:latin typeface="Times New Roman" panose="02020603050405020304" pitchFamily="18" charset="0"/>
                <a:cs typeface="Times New Roman" panose="02020603050405020304" pitchFamily="18" charset="0"/>
              </a:rPr>
              <a:t>risk-: Sometimes </a:t>
            </a:r>
            <a:r>
              <a:rPr lang="en-US" dirty="0" smtClean="0">
                <a:latin typeface="Times New Roman" panose="02020603050405020304" pitchFamily="18" charset="0"/>
                <a:cs typeface="Times New Roman" panose="02020603050405020304" pitchFamily="18" charset="0"/>
              </a:rPr>
              <a:t>in spite </a:t>
            </a:r>
            <a:r>
              <a:rPr lang="en-US" dirty="0">
                <a:latin typeface="Times New Roman" panose="02020603050405020304" pitchFamily="18" charset="0"/>
                <a:cs typeface="Times New Roman" panose="02020603050405020304" pitchFamily="18" charset="0"/>
              </a:rPr>
              <a:t>of good quality, the sample taken may show defective units as such the lot will be rejected, such type of risk is known as producer’s risk</a:t>
            </a:r>
            <a:r>
              <a:rPr lang="en-US" dirty="0" smtClean="0">
                <a:latin typeface="Times New Roman" panose="02020603050405020304" pitchFamily="18" charset="0"/>
                <a:cs typeface="Times New Roman" panose="02020603050405020304" pitchFamily="18" charset="0"/>
              </a:rPr>
              <a:t>.</a:t>
            </a:r>
          </a:p>
          <a:p>
            <a:pPr marL="0" indent="0" algn="just">
              <a:buNone/>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2. Consumer’s Risk-: Sometimes the quality of the lot is not good but the sample results show good quality units as such the consumer has to accept a defective lot, such a risk is known as consumer’s risk.</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32053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9205" y="383459"/>
            <a:ext cx="10842523" cy="5987844"/>
          </a:xfrm>
        </p:spPr>
        <p:txBody>
          <a:bodyPr/>
          <a:lstStyle/>
          <a:p>
            <a:pPr marL="0" indent="0" algn="just">
              <a:buNone/>
            </a:pPr>
            <a:r>
              <a:rPr lang="en-US" dirty="0">
                <a:solidFill>
                  <a:srgbClr val="7030A0"/>
                </a:solidFill>
                <a:latin typeface="Times New Roman" panose="02020603050405020304" pitchFamily="18" charset="0"/>
                <a:cs typeface="Times New Roman" panose="02020603050405020304" pitchFamily="18" charset="0"/>
              </a:rPr>
              <a:t>Operating Characteristic </a:t>
            </a:r>
            <a:r>
              <a:rPr lang="en-US" dirty="0" smtClean="0">
                <a:solidFill>
                  <a:srgbClr val="7030A0"/>
                </a:solidFill>
                <a:latin typeface="Times New Roman" panose="02020603050405020304" pitchFamily="18" charset="0"/>
                <a:cs typeface="Times New Roman" panose="02020603050405020304" pitchFamily="18" charset="0"/>
              </a:rPr>
              <a:t>Curve</a:t>
            </a: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Operating Characteristic Curve (OC Curve) shows you the probability that you will accept lots with various levels of quality. It is the working plan of acceptance sampling.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AQL </a:t>
            </a:r>
            <a:r>
              <a:rPr lang="en-US" dirty="0">
                <a:latin typeface="Times New Roman" panose="02020603050405020304" pitchFamily="18" charset="0"/>
                <a:cs typeface="Times New Roman" panose="02020603050405020304" pitchFamily="18" charset="0"/>
              </a:rPr>
              <a:t>– Acceptance Quality Level </a:t>
            </a:r>
            <a:r>
              <a:rPr lang="en-US" dirty="0" smtClean="0">
                <a:latin typeface="Times New Roman" panose="02020603050405020304" pitchFamily="18" charset="0"/>
                <a:cs typeface="Times New Roman" panose="02020603050405020304" pitchFamily="18" charset="0"/>
              </a:rPr>
              <a:t>- the </a:t>
            </a:r>
            <a:r>
              <a:rPr lang="en-US" dirty="0">
                <a:latin typeface="Times New Roman" panose="02020603050405020304" pitchFamily="18" charset="0"/>
                <a:cs typeface="Times New Roman" panose="02020603050405020304" pitchFamily="18" charset="0"/>
              </a:rPr>
              <a:t>maximum % </a:t>
            </a:r>
            <a:r>
              <a:rPr lang="en-US" dirty="0" smtClean="0">
                <a:latin typeface="Times New Roman" panose="02020603050405020304" pitchFamily="18" charset="0"/>
                <a:cs typeface="Times New Roman" panose="02020603050405020304" pitchFamily="18" charset="0"/>
              </a:rPr>
              <a:t>defective that can </a:t>
            </a:r>
            <a:r>
              <a:rPr lang="en-US" dirty="0">
                <a:latin typeface="Times New Roman" panose="02020603050405020304" pitchFamily="18" charset="0"/>
                <a:cs typeface="Times New Roman" panose="02020603050405020304" pitchFamily="18" charset="0"/>
              </a:rPr>
              <a:t>be considered satisfactory as a process average for sampling </a:t>
            </a:r>
            <a:r>
              <a:rPr lang="en-US" dirty="0" smtClean="0">
                <a:latin typeface="Times New Roman" panose="02020603050405020304" pitchFamily="18" charset="0"/>
                <a:cs typeface="Times New Roman" panose="02020603050405020304" pitchFamily="18" charset="0"/>
              </a:rPr>
              <a:t>inspection </a:t>
            </a:r>
          </a:p>
          <a:p>
            <a:pPr algn="just"/>
            <a:r>
              <a:rPr lang="en-US" dirty="0" smtClean="0">
                <a:latin typeface="Times New Roman" panose="02020603050405020304" pitchFamily="18" charset="0"/>
                <a:cs typeface="Times New Roman" panose="02020603050405020304" pitchFamily="18" charset="0"/>
              </a:rPr>
              <a:t>RQL </a:t>
            </a:r>
            <a:r>
              <a:rPr lang="en-US" dirty="0">
                <a:latin typeface="Times New Roman" panose="02020603050405020304" pitchFamily="18" charset="0"/>
                <a:cs typeface="Times New Roman" panose="02020603050405020304" pitchFamily="18" charset="0"/>
              </a:rPr>
              <a:t>– Rejectable Quality </a:t>
            </a:r>
            <a:r>
              <a:rPr lang="en-US" dirty="0" smtClean="0">
                <a:latin typeface="Times New Roman" panose="02020603050405020304" pitchFamily="18" charset="0"/>
                <a:cs typeface="Times New Roman" panose="02020603050405020304" pitchFamily="18" charset="0"/>
              </a:rPr>
              <a:t>Level- </a:t>
            </a:r>
            <a:r>
              <a:rPr lang="en-US" dirty="0">
                <a:latin typeface="Times New Roman" panose="02020603050405020304" pitchFamily="18" charset="0"/>
                <a:cs typeface="Times New Roman" panose="02020603050405020304" pitchFamily="18" charset="0"/>
              </a:rPr>
              <a:t>The RQL (Rejectable Quality Level) is the % defective that can be considered </a:t>
            </a:r>
            <a:r>
              <a:rPr lang="en-US" dirty="0" smtClean="0">
                <a:latin typeface="Times New Roman" panose="02020603050405020304" pitchFamily="18" charset="0"/>
                <a:cs typeface="Times New Roman" panose="02020603050405020304" pitchFamily="18" charset="0"/>
              </a:rPr>
              <a:t>unsatisfactory and hence rejected. It </a:t>
            </a:r>
            <a:r>
              <a:rPr lang="en-US" dirty="0">
                <a:latin typeface="Times New Roman" panose="02020603050405020304" pitchFamily="18" charset="0"/>
                <a:cs typeface="Times New Roman" panose="02020603050405020304" pitchFamily="18" charset="0"/>
              </a:rPr>
              <a:t>is also known as the Lot Tolerance Percent Defective (LTPD</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LTPD – Lot Tolerance Percent Defective The LTPD of a sampling plan is a level of quality routinely rejected by the sampling plan. It is generally defined as that level of quality (percent defective, defects per hundred units, etc.) which the sampling plan will accept 10% of the time.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29391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2"/>
          <a:stretch>
            <a:fillRect/>
          </a:stretch>
        </p:blipFill>
        <p:spPr>
          <a:xfrm>
            <a:off x="942109" y="517525"/>
            <a:ext cx="10363200" cy="5640388"/>
          </a:xfrm>
          <a:prstGeom prst="rect">
            <a:avLst/>
          </a:prstGeom>
        </p:spPr>
      </p:pic>
    </p:spTree>
    <p:extLst>
      <p:ext uri="{BB962C8B-B14F-4D97-AF65-F5344CB8AC3E}">
        <p14:creationId xmlns:p14="http://schemas.microsoft.com/office/powerpoint/2010/main" val="11070576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58982" y="239713"/>
            <a:ext cx="9966036" cy="5937250"/>
          </a:xfrm>
          <a:prstGeom prst="rect">
            <a:avLst/>
          </a:prstGeom>
        </p:spPr>
      </p:pic>
    </p:spTree>
    <p:extLst>
      <p:ext uri="{BB962C8B-B14F-4D97-AF65-F5344CB8AC3E}">
        <p14:creationId xmlns:p14="http://schemas.microsoft.com/office/powerpoint/2010/main" val="21718547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31272" y="534988"/>
            <a:ext cx="9827491" cy="5641975"/>
          </a:xfrm>
          <a:prstGeom prst="rect">
            <a:avLst/>
          </a:prstGeom>
        </p:spPr>
      </p:pic>
    </p:spTree>
    <p:extLst>
      <p:ext uri="{BB962C8B-B14F-4D97-AF65-F5344CB8AC3E}">
        <p14:creationId xmlns:p14="http://schemas.microsoft.com/office/powerpoint/2010/main" val="10411043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1445" y="545690"/>
            <a:ext cx="10852355" cy="5631273"/>
          </a:xfrm>
        </p:spPr>
        <p:txBody>
          <a:bodyPr/>
          <a:lstStyle/>
          <a:p>
            <a:pPr marL="0" indent="0" algn="just">
              <a:buNone/>
            </a:pPr>
            <a:r>
              <a:rPr lang="en-IN" dirty="0">
                <a:solidFill>
                  <a:srgbClr val="7030A0"/>
                </a:solidFill>
                <a:latin typeface="Times New Roman" panose="02020603050405020304" pitchFamily="18" charset="0"/>
                <a:cs typeface="Times New Roman" panose="02020603050405020304" pitchFamily="18" charset="0"/>
              </a:rPr>
              <a:t>ACCEPTANCE SAMPLING </a:t>
            </a:r>
            <a:r>
              <a:rPr lang="en-IN" dirty="0" smtClean="0">
                <a:solidFill>
                  <a:srgbClr val="7030A0"/>
                </a:solidFill>
                <a:latin typeface="Times New Roman" panose="02020603050405020304" pitchFamily="18" charset="0"/>
                <a:cs typeface="Times New Roman" panose="02020603050405020304" pitchFamily="18" charset="0"/>
              </a:rPr>
              <a:t>PLANS</a:t>
            </a:r>
          </a:p>
          <a:p>
            <a:pPr algn="just"/>
            <a:r>
              <a:rPr lang="en-US" dirty="0">
                <a:solidFill>
                  <a:srgbClr val="C00000"/>
                </a:solidFill>
                <a:latin typeface="Times New Roman" panose="02020603050405020304" pitchFamily="18" charset="0"/>
                <a:cs typeface="Times New Roman" panose="02020603050405020304" pitchFamily="18" charset="0"/>
              </a:rPr>
              <a:t>Single Sampling Plan </a:t>
            </a:r>
            <a:r>
              <a:rPr lang="en-US" dirty="0">
                <a:latin typeface="Times New Roman" panose="02020603050405020304" pitchFamily="18" charset="0"/>
                <a:cs typeface="Times New Roman" panose="02020603050405020304" pitchFamily="18" charset="0"/>
              </a:rPr>
              <a:t>In single sampling plan, the decision regarding the acceptance or rejection is made after drawing a sample from a bigger lot. Inspection is done and if the defectives exceed a certain number the lot is rejected. Otherwise, the lot is accepted when the number of defectives is less than the acceptance number. </a:t>
            </a:r>
            <a:endParaRPr lang="en-US" dirty="0" smtClean="0">
              <a:latin typeface="Times New Roman" panose="02020603050405020304" pitchFamily="18" charset="0"/>
              <a:cs typeface="Times New Roman" panose="02020603050405020304" pitchFamily="18" charset="0"/>
            </a:endParaRPr>
          </a:p>
          <a:p>
            <a:pPr algn="just"/>
            <a:r>
              <a:rPr lang="en-US" dirty="0" smtClean="0">
                <a:solidFill>
                  <a:srgbClr val="C00000"/>
                </a:solidFill>
                <a:latin typeface="Times New Roman" panose="02020603050405020304" pitchFamily="18" charset="0"/>
                <a:cs typeface="Times New Roman" panose="02020603050405020304" pitchFamily="18" charset="0"/>
              </a:rPr>
              <a:t>Double </a:t>
            </a:r>
            <a:r>
              <a:rPr lang="en-US" dirty="0">
                <a:solidFill>
                  <a:srgbClr val="C00000"/>
                </a:solidFill>
                <a:latin typeface="Times New Roman" panose="02020603050405020304" pitchFamily="18" charset="0"/>
                <a:cs typeface="Times New Roman" panose="02020603050405020304" pitchFamily="18" charset="0"/>
              </a:rPr>
              <a:t>Sampling Plan </a:t>
            </a:r>
            <a:r>
              <a:rPr lang="en-US" dirty="0">
                <a:latin typeface="Times New Roman" panose="02020603050405020304" pitchFamily="18" charset="0"/>
                <a:cs typeface="Times New Roman" panose="02020603050405020304" pitchFamily="18" charset="0"/>
              </a:rPr>
              <a:t>In this, a small sample is first drawn. If the number of defectives is less than or equal to the acceptance number (C1) the lot is accepted. If the number of defectives is more than another acceptance number (C2) which is </a:t>
            </a:r>
            <a:r>
              <a:rPr lang="en-US" dirty="0" smtClean="0">
                <a:latin typeface="Times New Roman" panose="02020603050405020304" pitchFamily="18" charset="0"/>
                <a:cs typeface="Times New Roman" panose="02020603050405020304" pitchFamily="18" charset="0"/>
              </a:rPr>
              <a:t>higher than </a:t>
            </a:r>
            <a:r>
              <a:rPr lang="en-US" dirty="0">
                <a:latin typeface="Times New Roman" panose="02020603050405020304" pitchFamily="18" charset="0"/>
                <a:cs typeface="Times New Roman" panose="02020603050405020304" pitchFamily="18" charset="0"/>
              </a:rPr>
              <a:t>C1 then the lot is rejected. If in case, the number in the inspection lies between C2 and C1, then a second sample is drawn. The entire lot is accepted or rejected on the basis of outcome of second inspection.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53628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6697" y="501445"/>
            <a:ext cx="10867103" cy="5675518"/>
          </a:xfrm>
        </p:spPr>
        <p:txBody>
          <a:bodyPr/>
          <a:lstStyle/>
          <a:p>
            <a:pPr marL="0" indent="0" algn="just">
              <a:buNone/>
            </a:pPr>
            <a:r>
              <a:rPr lang="en-US" dirty="0">
                <a:solidFill>
                  <a:srgbClr val="C00000"/>
                </a:solidFill>
                <a:latin typeface="Times New Roman" panose="02020603050405020304" pitchFamily="18" charset="0"/>
                <a:cs typeface="Times New Roman" panose="02020603050405020304" pitchFamily="18" charset="0"/>
              </a:rPr>
              <a:t>Sequential Sampling </a:t>
            </a:r>
            <a:r>
              <a:rPr lang="en-US" dirty="0" smtClean="0">
                <a:solidFill>
                  <a:srgbClr val="C00000"/>
                </a:solidFill>
                <a:latin typeface="Times New Roman" panose="02020603050405020304" pitchFamily="18" charset="0"/>
                <a:cs typeface="Times New Roman" panose="02020603050405020304" pitchFamily="18" charset="0"/>
              </a:rPr>
              <a:t>Plan </a:t>
            </a:r>
          </a:p>
          <a:p>
            <a:pPr algn="just"/>
            <a:r>
              <a:rPr lang="en-US" dirty="0" smtClean="0">
                <a:latin typeface="Times New Roman" panose="02020603050405020304" pitchFamily="18" charset="0"/>
                <a:cs typeface="Times New Roman" panose="02020603050405020304" pitchFamily="18" charset="0"/>
              </a:rPr>
              <a:t>Sequential </a:t>
            </a:r>
            <a:r>
              <a:rPr lang="en-US" dirty="0">
                <a:latin typeface="Times New Roman" panose="02020603050405020304" pitchFamily="18" charset="0"/>
                <a:cs typeface="Times New Roman" panose="02020603050405020304" pitchFamily="18" charset="0"/>
              </a:rPr>
              <a:t>sampling plan is used when three or more samples of stated size are permitted and when the decision on acceptance or rejection must be reached after a stated number of samples.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first sample of n1 is drawn, the lot is accepted if there are no more than c1 defectives, the lot is rejected if there are more than r1 defectives.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Otherwise </a:t>
            </a:r>
            <a:r>
              <a:rPr lang="en-US" dirty="0">
                <a:latin typeface="Times New Roman" panose="02020603050405020304" pitchFamily="18" charset="0"/>
                <a:cs typeface="Times New Roman" panose="02020603050405020304" pitchFamily="18" charset="0"/>
              </a:rPr>
              <a:t>a second sample of n2 is drawn. The lot is accepted if there are no more than c2 defectives in the combined sample of n1 + n2.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lot is rejected if there are more than r2 defectives in the combined sample of n1 + n2.</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82768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ChangeArrowheads="1"/>
          </p:cNvSpPr>
          <p:nvPr/>
        </p:nvSpPr>
        <p:spPr bwMode="auto">
          <a:xfrm>
            <a:off x="83128" y="444321"/>
            <a:ext cx="11887199" cy="123110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740083"/>
                </a:solidFill>
                <a:effectLst/>
                <a:latin typeface="Times New Roman" panose="02020603050405020304" pitchFamily="18" charset="0"/>
                <a:cs typeface="Times New Roman" panose="02020603050405020304" pitchFamily="18" charset="0"/>
              </a:rPr>
              <a:t>Questions for continuous internal evaluation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740083"/>
                </a:solidFill>
                <a:effectLst/>
                <a:latin typeface="Times New Roman" panose="02020603050405020304" pitchFamily="18" charset="0"/>
                <a:cs typeface="Times New Roman" panose="02020603050405020304" pitchFamily="18" charset="0"/>
              </a:rPr>
              <a:t>Example </a:t>
            </a:r>
            <a:r>
              <a:rPr lang="en-US" sz="1400" b="1" dirty="0">
                <a:solidFill>
                  <a:srgbClr val="740083"/>
                </a:solidFill>
                <a:latin typeface="Times New Roman" panose="02020603050405020304" pitchFamily="18" charset="0"/>
                <a:cs typeface="Times New Roman" panose="02020603050405020304" pitchFamily="18" charset="0"/>
              </a:rPr>
              <a:t>1</a:t>
            </a:r>
            <a:endParaRPr kumimoji="0" lang="en-US" sz="8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The following data gives the readings for 8 samples of size 6 each in the production of a certain product. Find the control limits using mean chart.</a:t>
            </a:r>
            <a:endParaRPr kumimoji="0" lang="en-US" sz="8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smtClean="0">
                <a:ln>
                  <a:noFill/>
                </a:ln>
                <a:solidFill>
                  <a:srgbClr val="333333"/>
                </a:solidFill>
                <a:effectLst/>
                <a:latin typeface="Helvetica Neue"/>
              </a:rPr>
              <a:t>  </a:t>
            </a:r>
            <a:r>
              <a:rPr kumimoji="0" lang="en-US" sz="5600" b="0" i="0" u="none" strike="noStrike" cap="none" normalizeH="0" baseline="0" dirty="0" smtClean="0">
                <a:ln>
                  <a:noFill/>
                </a:ln>
                <a:solidFill>
                  <a:srgbClr val="333333"/>
                </a:solidFill>
                <a:effectLst/>
                <a:latin typeface="Helvetica Neue"/>
              </a:rPr>
              <a:t/>
            </a:r>
            <a:br>
              <a:rPr kumimoji="0" lang="en-US" sz="5600" b="0" i="0" u="none" strike="noStrike" cap="none" normalizeH="0" baseline="0" dirty="0" smtClean="0">
                <a:ln>
                  <a:noFill/>
                </a:ln>
                <a:solidFill>
                  <a:srgbClr val="333333"/>
                </a:solidFill>
                <a:effectLst/>
                <a:latin typeface="Helvetica Neue"/>
              </a:rPr>
            </a:br>
            <a:endParaRPr kumimoji="0" lang="en-US" sz="8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rgbClr val="333333"/>
                </a:solidFill>
                <a:effectLst/>
                <a:latin typeface="Times New Roman" panose="02020603050405020304" pitchFamily="18" charset="0"/>
                <a:cs typeface="Times New Roman" panose="02020603050405020304" pitchFamily="18" charset="0"/>
              </a:rPr>
              <a:t>Given for n = 6, A</a:t>
            </a:r>
            <a:r>
              <a:rPr kumimoji="0" lang="en-US" sz="1000" b="0" i="0" u="none" strike="noStrike" cap="none" normalizeH="0" baseline="-30000" dirty="0" smtClean="0">
                <a:ln>
                  <a:noFill/>
                </a:ln>
                <a:solidFill>
                  <a:srgbClr val="333333"/>
                </a:solidFill>
                <a:effectLst/>
                <a:latin typeface="Times New Roman" panose="02020603050405020304" pitchFamily="18" charset="0"/>
                <a:cs typeface="Times New Roman" panose="02020603050405020304" pitchFamily="18" charset="0"/>
              </a:rPr>
              <a:t>2</a:t>
            </a:r>
            <a:r>
              <a:rPr kumimoji="0" lang="en-US" sz="1400" b="0" i="0" u="none" strike="noStrike" cap="none" normalizeH="0" baseline="0" dirty="0" smtClean="0">
                <a:ln>
                  <a:noFill/>
                </a:ln>
                <a:solidFill>
                  <a:srgbClr val="333333"/>
                </a:solidFill>
                <a:effectLst/>
                <a:latin typeface="Times New Roman" panose="02020603050405020304" pitchFamily="18" charset="0"/>
                <a:cs typeface="Times New Roman" panose="02020603050405020304" pitchFamily="18" charset="0"/>
              </a:rPr>
              <a:t> = 0.483,</a:t>
            </a:r>
            <a:endParaRPr kumimoji="0" lang="en-US" sz="1000" b="0" i="0" u="none" strike="noStrike" cap="none" normalizeH="0" baseline="0" dirty="0" smtClean="0">
              <a:ln>
                <a:noFill/>
              </a:ln>
              <a:solidFill>
                <a:srgbClr val="333333"/>
              </a:solidFill>
              <a:effectLst/>
              <a:latin typeface="Helvetica Neue"/>
            </a:endParaRPr>
          </a:p>
        </p:txBody>
      </p:sp>
      <p:pic>
        <p:nvPicPr>
          <p:cNvPr id="1028" name="Picture 4" descr="https://img.brainkart.com/imagebk40/AC3rg2i.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256" y="1847273"/>
            <a:ext cx="4762500" cy="148705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a:spLocks noChangeArrowheads="1"/>
          </p:cNvSpPr>
          <p:nvPr/>
        </p:nvSpPr>
        <p:spPr bwMode="auto">
          <a:xfrm>
            <a:off x="293256" y="3625274"/>
            <a:ext cx="11150599" cy="89255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740083"/>
                </a:solidFill>
                <a:effectLst/>
                <a:latin typeface="Times New Roman" panose="02020603050405020304" pitchFamily="18" charset="0"/>
                <a:cs typeface="Times New Roman" panose="02020603050405020304" pitchFamily="18" charset="0"/>
              </a:rPr>
              <a:t>Example 2</a:t>
            </a:r>
            <a:endParaRPr kumimoji="0" lang="en-US" sz="8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The following data gives readings of 10 samples of size 6 each in the production of a certain product. Draw control chart for mean and range with its control limits.</a:t>
            </a:r>
            <a:endParaRPr kumimoji="0" lang="en-US" sz="8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smtClean="0">
                <a:ln>
                  <a:noFill/>
                </a:ln>
                <a:solidFill>
                  <a:srgbClr val="333333"/>
                </a:solidFill>
                <a:effectLst/>
                <a:latin typeface="Helvetica Neue"/>
              </a:rPr>
              <a:t>  </a:t>
            </a:r>
            <a:endParaRPr kumimoji="0" lang="en-US" sz="5300" b="0" i="0" u="none" strike="noStrike" cap="none" normalizeH="0" baseline="0" dirty="0" smtClean="0">
              <a:ln>
                <a:noFill/>
              </a:ln>
              <a:solidFill>
                <a:srgbClr val="333333"/>
              </a:solidFill>
              <a:effectLst/>
              <a:latin typeface="Helvetica Neue"/>
            </a:endParaRPr>
          </a:p>
        </p:txBody>
      </p:sp>
      <p:pic>
        <p:nvPicPr>
          <p:cNvPr id="1030" name="Picture 6" descr="https://img.brainkart.com/imagebk40/Iq5Ukg3.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291" y="4313381"/>
            <a:ext cx="5543840" cy="1191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51834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5564" y="295564"/>
            <a:ext cx="11058236" cy="5881399"/>
          </a:xfrm>
        </p:spPr>
        <p:txBody>
          <a:bodyPr/>
          <a:lstStyle/>
          <a:p>
            <a:pPr marL="0" indent="0" algn="just">
              <a:buNone/>
            </a:pPr>
            <a:r>
              <a:rPr lang="en-US" dirty="0" smtClean="0">
                <a:latin typeface="Times New Roman" panose="02020603050405020304" pitchFamily="18" charset="0"/>
                <a:cs typeface="Times New Roman" panose="02020603050405020304" pitchFamily="18" charset="0"/>
              </a:rPr>
              <a:t>Q.3 Explain two </a:t>
            </a:r>
            <a:r>
              <a:rPr lang="en-US" dirty="0">
                <a:latin typeface="Times New Roman" panose="02020603050405020304" pitchFamily="18" charset="0"/>
                <a:cs typeface="Times New Roman" panose="02020603050405020304" pitchFamily="18" charset="0"/>
              </a:rPr>
              <a:t>types of causes for variation in a manufacturing </a:t>
            </a:r>
            <a:r>
              <a:rPr lang="en-US" dirty="0" smtClean="0">
                <a:latin typeface="Times New Roman" panose="02020603050405020304" pitchFamily="18" charset="0"/>
                <a:cs typeface="Times New Roman" panose="02020603050405020304" pitchFamily="18" charset="0"/>
              </a:rPr>
              <a:t>process</a:t>
            </a:r>
          </a:p>
          <a:p>
            <a:pPr marL="0" indent="0" algn="just">
              <a:buNone/>
            </a:pPr>
            <a:r>
              <a:rPr lang="en-US" dirty="0" smtClean="0">
                <a:latin typeface="Times New Roman" panose="02020603050405020304" pitchFamily="18" charset="0"/>
                <a:cs typeface="Times New Roman" panose="02020603050405020304" pitchFamily="18" charset="0"/>
              </a:rPr>
              <a:t>Q. 4 Explain</a:t>
            </a:r>
            <a:r>
              <a:rPr lang="en-US" dirty="0"/>
              <a:t> different types of control charts</a:t>
            </a:r>
            <a:r>
              <a:rPr lang="en-US" dirty="0" smtClean="0"/>
              <a:t>?</a:t>
            </a:r>
          </a:p>
          <a:p>
            <a:pPr marL="0" indent="0" algn="just">
              <a:buNone/>
            </a:pPr>
            <a:r>
              <a:rPr lang="en-US" dirty="0" smtClean="0"/>
              <a:t>Q. 5 What are the </a:t>
            </a:r>
            <a:r>
              <a:rPr lang="en-US" dirty="0"/>
              <a:t>single and double sampling plans</a:t>
            </a:r>
            <a:r>
              <a:rPr lang="en-US" dirty="0" smtClean="0"/>
              <a:t>?</a:t>
            </a:r>
          </a:p>
          <a:p>
            <a:pPr marL="0" indent="0" algn="just">
              <a:buNone/>
            </a:pPr>
            <a:r>
              <a:rPr lang="en-US" dirty="0" smtClean="0">
                <a:latin typeface="Times New Roman" panose="02020603050405020304" pitchFamily="18" charset="0"/>
                <a:cs typeface="Times New Roman" panose="02020603050405020304" pitchFamily="18" charset="0"/>
              </a:rPr>
              <a:t>Q. 6  Explain </a:t>
            </a:r>
            <a:r>
              <a:rPr lang="en-IN" dirty="0" smtClean="0"/>
              <a:t>acceptance sampling in detail.</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39810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1055" y="221673"/>
            <a:ext cx="10882745" cy="5955290"/>
          </a:xfrm>
        </p:spPr>
        <p:txBody>
          <a:bodyPr>
            <a:normAutofit/>
          </a:bodyPr>
          <a:lstStyle/>
          <a:p>
            <a:pPr marL="0" indent="0" algn="ctr">
              <a:buNone/>
            </a:pPr>
            <a:endParaRPr lang="en-US" sz="9600" dirty="0" smtClean="0">
              <a:solidFill>
                <a:schemeClr val="accent2"/>
              </a:solidFill>
              <a:latin typeface="Algerian" panose="04020705040A02060702" pitchFamily="82" charset="0"/>
            </a:endParaRPr>
          </a:p>
          <a:p>
            <a:pPr marL="0" indent="0" algn="ctr">
              <a:buNone/>
            </a:pPr>
            <a:endParaRPr lang="en-US" sz="9600" dirty="0" smtClean="0">
              <a:solidFill>
                <a:schemeClr val="accent2"/>
              </a:solidFill>
              <a:latin typeface="Algerian" panose="04020705040A02060702" pitchFamily="82" charset="0"/>
            </a:endParaRPr>
          </a:p>
          <a:p>
            <a:pPr marL="0" indent="0" algn="ctr">
              <a:buNone/>
            </a:pPr>
            <a:r>
              <a:rPr lang="en-US" sz="9600" dirty="0" smtClean="0">
                <a:solidFill>
                  <a:schemeClr val="accent2"/>
                </a:solidFill>
                <a:latin typeface="Algerian" panose="04020705040A02060702" pitchFamily="82" charset="0"/>
              </a:rPr>
              <a:t>Thank You</a:t>
            </a:r>
            <a:endParaRPr lang="en-IN" sz="9600" dirty="0">
              <a:solidFill>
                <a:schemeClr val="accent2"/>
              </a:solidFill>
              <a:latin typeface="Algerian" panose="04020705040A02060702" pitchFamily="82" charset="0"/>
            </a:endParaRPr>
          </a:p>
        </p:txBody>
      </p:sp>
    </p:spTree>
    <p:extLst>
      <p:ext uri="{BB962C8B-B14F-4D97-AF65-F5344CB8AC3E}">
        <p14:creationId xmlns:p14="http://schemas.microsoft.com/office/powerpoint/2010/main" val="19186887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3984</TotalTime>
  <Words>3913</Words>
  <Application>Microsoft Office PowerPoint</Application>
  <PresentationFormat>Widescreen</PresentationFormat>
  <Paragraphs>201</Paragraphs>
  <Slides>62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62</vt:i4>
      </vt:variant>
    </vt:vector>
  </HeadingPairs>
  <TitlesOfParts>
    <vt:vector size="69" baseType="lpstr">
      <vt:lpstr>Algerian</vt:lpstr>
      <vt:lpstr>Arial</vt:lpstr>
      <vt:lpstr>Calibri</vt:lpstr>
      <vt:lpstr>Calibri Light</vt:lpstr>
      <vt:lpstr>Helvetica Neue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Materials Management Overview</dc:title>
  <dc:creator>HP</dc:creator>
  <cp:lastModifiedBy>HP</cp:lastModifiedBy>
  <cp:revision>842</cp:revision>
  <dcterms:created xsi:type="dcterms:W3CDTF">2022-09-12T16:52:45Z</dcterms:created>
  <dcterms:modified xsi:type="dcterms:W3CDTF">2023-02-18T03:36:59Z</dcterms:modified>
</cp:coreProperties>
</file>