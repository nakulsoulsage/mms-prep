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2" r:id="rId2"/>
    <p:sldMasterId id="2147483714" r:id="rId3"/>
  </p:sldMasterIdLst>
  <p:sldIdLst>
    <p:sldId id="293" r:id="rId4"/>
    <p:sldId id="321" r:id="rId5"/>
    <p:sldId id="257" r:id="rId6"/>
    <p:sldId id="260" r:id="rId7"/>
    <p:sldId id="326" r:id="rId8"/>
    <p:sldId id="344" r:id="rId9"/>
    <p:sldId id="324" r:id="rId10"/>
    <p:sldId id="343" r:id="rId11"/>
    <p:sldId id="318" r:id="rId12"/>
    <p:sldId id="319" r:id="rId13"/>
    <p:sldId id="345" r:id="rId14"/>
    <p:sldId id="312" r:id="rId15"/>
    <p:sldId id="347" r:id="rId16"/>
    <p:sldId id="346" r:id="rId17"/>
    <p:sldId id="348" r:id="rId18"/>
    <p:sldId id="349" r:id="rId19"/>
    <p:sldId id="350" r:id="rId20"/>
    <p:sldId id="351" r:id="rId21"/>
    <p:sldId id="352" r:id="rId22"/>
    <p:sldId id="353" r:id="rId23"/>
    <p:sldId id="354" r:id="rId24"/>
    <p:sldId id="328" r:id="rId25"/>
    <p:sldId id="322" r:id="rId26"/>
    <p:sldId id="355" r:id="rId27"/>
    <p:sldId id="307" r:id="rId28"/>
    <p:sldId id="356" r:id="rId29"/>
    <p:sldId id="357" r:id="rId30"/>
    <p:sldId id="320" r:id="rId31"/>
    <p:sldId id="313" r:id="rId32"/>
    <p:sldId id="323" r:id="rId33"/>
    <p:sldId id="358" r:id="rId34"/>
    <p:sldId id="314" r:id="rId35"/>
    <p:sldId id="327" r:id="rId36"/>
    <p:sldId id="316" r:id="rId37"/>
    <p:sldId id="317" r:id="rId38"/>
    <p:sldId id="340" r:id="rId39"/>
    <p:sldId id="262" r:id="rId40"/>
    <p:sldId id="329" r:id="rId41"/>
    <p:sldId id="330" r:id="rId42"/>
    <p:sldId id="264" r:id="rId43"/>
    <p:sldId id="263" r:id="rId44"/>
    <p:sldId id="309" r:id="rId45"/>
    <p:sldId id="359" r:id="rId46"/>
    <p:sldId id="34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11" autoAdjust="0"/>
  </p:normalViewPr>
  <p:slideViewPr>
    <p:cSldViewPr snapToGrid="0">
      <p:cViewPr varScale="1">
        <p:scale>
          <a:sx n="109" d="100"/>
          <a:sy n="109" d="100"/>
        </p:scale>
        <p:origin x="5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07-02-2023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07-02-2023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07-02-2023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07-02-2023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07-02-2023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07-02-2023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07-02-2023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07-02-2023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07-02-2023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07-02-2023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07-02-2023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4227262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665921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280048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4108617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8102736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753939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647590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14139921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70463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012780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5847473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3354857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1410764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440459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1572741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900833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1466349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156502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19629949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231931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28094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3481992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07-02-2023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09600" y="1600201"/>
            <a:ext cx="109728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214586216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09600" y="1600201"/>
            <a:ext cx="109728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53DEB8A-1993-4D9E-A8E8-9EE204B8C72E}" type="datetimeFigureOut">
              <a:rPr lang="en-US" smtClean="0">
                <a:solidFill>
                  <a:prstClr val="black">
                    <a:tint val="75000"/>
                  </a:prstClr>
                </a:solidFill>
              </a:rPr>
              <a:pPr>
                <a:defRPr/>
              </a:pPr>
              <a:t>2/7/2023</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fontAlgn="base">
              <a:spcBef>
                <a:spcPct val="0"/>
              </a:spcBef>
              <a:spcAft>
                <a:spcPct val="0"/>
              </a:spcAft>
              <a:defRPr/>
            </a:pPr>
            <a:fld id="{7F0E97FF-B3C0-47B2-AA37-F2592B586BEE}" type="slidenum">
              <a:rPr lang="en-US" altLang="en-US" smtClean="0">
                <a:cs typeface="Arial" panose="020B0604020202020204" pitchFamily="34" charset="0"/>
              </a:rPr>
              <a:pPr fontAlgn="base">
                <a:spcBef>
                  <a:spcPct val="0"/>
                </a:spcBef>
                <a:spcAft>
                  <a:spcPct val="0"/>
                </a:spcAft>
                <a:defRPr/>
              </a:pPr>
              <a:t>‹#›</a:t>
            </a:fld>
            <a:endParaRPr lang="en-US" altLang="en-US" smtClean="0">
              <a:cs typeface="Arial" panose="020B0604020202020204" pitchFamily="34" charset="0"/>
            </a:endParaRPr>
          </a:p>
        </p:txBody>
      </p:sp>
    </p:spTree>
    <p:extLst>
      <p:ext uri="{BB962C8B-B14F-4D97-AF65-F5344CB8AC3E}">
        <p14:creationId xmlns:p14="http://schemas.microsoft.com/office/powerpoint/2010/main" val="192782391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003" y="237506"/>
            <a:ext cx="11792197" cy="6305798"/>
          </a:xfrm>
        </p:spPr>
        <p:txBody>
          <a:bodyPr>
            <a:normAutofit/>
          </a:bodyPr>
          <a:lstStyle/>
          <a:p>
            <a:endParaRPr lang="en-US" sz="3600" dirty="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endParaRPr lang="en-US" sz="3600" dirty="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r>
              <a:rPr lang="en-US" sz="7200" dirty="0" smtClean="0">
                <a:solidFill>
                  <a:srgbClr val="0070C0"/>
                </a:solidFill>
                <a:latin typeface="Algerian" panose="04020705040A02060702" pitchFamily="82" charset="0"/>
                <a:cs typeface="Arial" panose="020B0604020202020204" pitchFamily="34" charset="0"/>
              </a:rPr>
              <a:t>Supply chain Management: AN Introduction</a:t>
            </a:r>
            <a:endParaRPr lang="en-US" sz="7200" dirty="0" smtClean="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527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008" y="178130"/>
            <a:ext cx="11673444" cy="6495802"/>
          </a:xfrm>
        </p:spPr>
        <p:txBody>
          <a:bodyPr/>
          <a:lstStyle/>
          <a:p>
            <a:pPr marL="0" indent="0" algn="just">
              <a:buNone/>
            </a:pPr>
            <a:r>
              <a:rPr lang="en-US" sz="3600" dirty="0">
                <a:solidFill>
                  <a:schemeClr val="accent2"/>
                </a:solidFill>
                <a:latin typeface="Times New Roman" panose="02020603050405020304" pitchFamily="18" charset="0"/>
                <a:cs typeface="Times New Roman" panose="02020603050405020304" pitchFamily="18" charset="0"/>
              </a:rPr>
              <a:t>What Is a Supply Chain?</a:t>
            </a:r>
          </a:p>
          <a:p>
            <a:pPr marL="457200" indent="-457200" algn="just">
              <a:buFont typeface="Arial"/>
              <a:buChar char="•"/>
            </a:pPr>
            <a:r>
              <a:rPr lang="en-US" dirty="0">
                <a:solidFill>
                  <a:srgbClr val="7030A0"/>
                </a:solidFill>
                <a:latin typeface="Times New Roman"/>
                <a:cs typeface="Times New Roman"/>
              </a:rPr>
              <a:t>All stages involved, directly or indirectly, in fulfilling customer request</a:t>
            </a:r>
            <a:r>
              <a:rPr lang="en-US" dirty="0" smtClean="0">
                <a:solidFill>
                  <a:srgbClr val="7030A0"/>
                </a:solidFill>
                <a:latin typeface="Times New Roman"/>
                <a:cs typeface="Times New Roman"/>
              </a:rPr>
              <a:t>.</a:t>
            </a:r>
          </a:p>
          <a:p>
            <a:pPr marL="0" indent="0" algn="just">
              <a:buNone/>
            </a:pPr>
            <a:endParaRPr lang="en-US" dirty="0">
              <a:solidFill>
                <a:srgbClr val="7030A0"/>
              </a:solidFill>
              <a:latin typeface="Times New Roman"/>
              <a:cs typeface="Times New Roman"/>
            </a:endParaRPr>
          </a:p>
          <a:p>
            <a:pPr marL="457200" indent="-457200" algn="just">
              <a:buFont typeface="Arial"/>
              <a:buChar char="•"/>
            </a:pPr>
            <a:r>
              <a:rPr lang="en-US" dirty="0">
                <a:solidFill>
                  <a:srgbClr val="7030A0"/>
                </a:solidFill>
                <a:latin typeface="Times New Roman"/>
                <a:cs typeface="Times New Roman"/>
              </a:rPr>
              <a:t>Includes manufacturers, suppliers</a:t>
            </a:r>
            <a:r>
              <a:rPr lang="en-US" dirty="0" smtClean="0">
                <a:solidFill>
                  <a:srgbClr val="7030A0"/>
                </a:solidFill>
                <a:latin typeface="Times New Roman"/>
                <a:cs typeface="Times New Roman"/>
              </a:rPr>
              <a:t>, transporters, warehouses, retailers </a:t>
            </a:r>
            <a:r>
              <a:rPr lang="en-US" dirty="0">
                <a:solidFill>
                  <a:srgbClr val="7030A0"/>
                </a:solidFill>
                <a:latin typeface="Times New Roman"/>
                <a:cs typeface="Times New Roman"/>
              </a:rPr>
              <a:t>and customers</a:t>
            </a:r>
            <a:r>
              <a:rPr lang="en-US" dirty="0" smtClean="0">
                <a:solidFill>
                  <a:srgbClr val="7030A0"/>
                </a:solidFill>
                <a:latin typeface="Times New Roman"/>
                <a:cs typeface="Times New Roman"/>
              </a:rPr>
              <a:t>.</a:t>
            </a:r>
          </a:p>
          <a:p>
            <a:pPr marL="0" indent="0" algn="just">
              <a:buNone/>
            </a:pPr>
            <a:endParaRPr lang="en-US" dirty="0">
              <a:solidFill>
                <a:srgbClr val="7030A0"/>
              </a:solidFill>
              <a:latin typeface="Times New Roman"/>
              <a:cs typeface="Times New Roman"/>
            </a:endParaRPr>
          </a:p>
          <a:p>
            <a:pPr marL="457200" indent="-457200" algn="just">
              <a:buFont typeface="Arial"/>
              <a:buChar char="•"/>
            </a:pPr>
            <a:r>
              <a:rPr lang="en-US" dirty="0">
                <a:solidFill>
                  <a:srgbClr val="7030A0"/>
                </a:solidFill>
                <a:latin typeface="Times New Roman"/>
                <a:cs typeface="Times New Roman"/>
              </a:rPr>
              <a:t>Integration of demand and </a:t>
            </a:r>
            <a:r>
              <a:rPr lang="en-US" dirty="0" smtClean="0">
                <a:solidFill>
                  <a:srgbClr val="7030A0"/>
                </a:solidFill>
                <a:latin typeface="Times New Roman"/>
                <a:cs typeface="Times New Roman"/>
              </a:rPr>
              <a:t>supply</a:t>
            </a:r>
          </a:p>
          <a:p>
            <a:pPr marL="0" indent="0" algn="just">
              <a:buNone/>
            </a:pPr>
            <a:endParaRPr lang="en-US" dirty="0">
              <a:solidFill>
                <a:srgbClr val="7030A0"/>
              </a:solidFill>
              <a:latin typeface="Times New Roman"/>
              <a:cs typeface="Times New Roman"/>
            </a:endParaRPr>
          </a:p>
          <a:p>
            <a:pPr marL="457200" indent="-457200" algn="just">
              <a:buFont typeface="Arial"/>
              <a:buChar char="•"/>
            </a:pPr>
            <a:r>
              <a:rPr lang="en-US" dirty="0">
                <a:solidFill>
                  <a:srgbClr val="7030A0"/>
                </a:solidFill>
                <a:latin typeface="Times New Roman"/>
                <a:cs typeface="Times New Roman"/>
              </a:rPr>
              <a:t>Within each company, the supply chain includes all functions involved in fulfilling customer request( product development, operations, marketing, distribution, finance, customer service).</a:t>
            </a:r>
          </a:p>
          <a:p>
            <a:pPr marL="0" indent="0" algn="ctr">
              <a:buNone/>
            </a:pPr>
            <a:endParaRPr lang="en-US" dirty="0" smtClean="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84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290945"/>
            <a:ext cx="11007436" cy="5886018"/>
          </a:xfrm>
        </p:spPr>
        <p:txBody>
          <a:bodyPr>
            <a:normAutofit/>
          </a:bodyPr>
          <a:lstStyle/>
          <a:p>
            <a:pPr marL="457200" lvl="1" indent="0" algn="just">
              <a:buNone/>
            </a:pPr>
            <a:endParaRPr lang="en-US" sz="2800" dirty="0">
              <a:solidFill>
                <a:srgbClr val="0070C0"/>
              </a:solidFill>
              <a:latin typeface="Times New Roman" panose="02020603050405020304" pitchFamily="18" charset="0"/>
              <a:cs typeface="Times New Roman" panose="02020603050405020304" pitchFamily="18" charset="0"/>
            </a:endParaRPr>
          </a:p>
          <a:p>
            <a:pPr marL="457200" lvl="1" indent="0" algn="just">
              <a:buNone/>
            </a:pPr>
            <a:endParaRPr lang="en-US" sz="2800" dirty="0" smtClean="0">
              <a:solidFill>
                <a:srgbClr val="0070C0"/>
              </a:solidFill>
              <a:latin typeface="Times New Roman" panose="02020603050405020304" pitchFamily="18" charset="0"/>
              <a:cs typeface="Times New Roman" panose="02020603050405020304" pitchFamily="18" charset="0"/>
            </a:endParaRPr>
          </a:p>
          <a:p>
            <a:pPr marL="457200" lvl="1" indent="0" algn="just">
              <a:buNone/>
            </a:pPr>
            <a:endParaRPr lang="en-US" sz="2800" dirty="0" smtClean="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73" y="457200"/>
            <a:ext cx="10363200" cy="5597236"/>
          </a:xfrm>
          <a:prstGeom prst="rect">
            <a:avLst/>
          </a:prstGeom>
        </p:spPr>
      </p:pic>
    </p:spTree>
    <p:extLst>
      <p:ext uri="{BB962C8B-B14F-4D97-AF65-F5344CB8AC3E}">
        <p14:creationId xmlns:p14="http://schemas.microsoft.com/office/powerpoint/2010/main" val="2732347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288758"/>
            <a:ext cx="11405937" cy="6316579"/>
          </a:xfrm>
        </p:spPr>
        <p:txBody>
          <a:bodyPr>
            <a:normAutofit/>
          </a:bodyPr>
          <a:lstStyle/>
          <a:p>
            <a:pPr marL="457200" indent="-457200" algn="just">
              <a:buFont typeface="Arial"/>
              <a:buChar char="•"/>
            </a:pPr>
            <a:r>
              <a:rPr lang="en-US" dirty="0">
                <a:solidFill>
                  <a:srgbClr val="7030A0"/>
                </a:solidFill>
                <a:latin typeface="Times New Roman" panose="02020603050405020304" pitchFamily="18" charset="0"/>
                <a:cs typeface="Times New Roman" panose="02020603050405020304" pitchFamily="18" charset="0"/>
              </a:rPr>
              <a:t>Customer is an integral part of supply chain</a:t>
            </a:r>
          </a:p>
          <a:p>
            <a:pPr algn="just"/>
            <a:endParaRPr lang="en-US" dirty="0">
              <a:solidFill>
                <a:srgbClr val="7030A0"/>
              </a:solidFill>
              <a:latin typeface="Times New Roman" panose="02020603050405020304" pitchFamily="18" charset="0"/>
              <a:cs typeface="Times New Roman" panose="02020603050405020304" pitchFamily="18" charset="0"/>
            </a:endParaRPr>
          </a:p>
          <a:p>
            <a:pPr marL="457200" indent="-457200" algn="just">
              <a:buFont typeface="Arial"/>
              <a:buChar char="•"/>
            </a:pPr>
            <a:r>
              <a:rPr lang="en-US" dirty="0">
                <a:solidFill>
                  <a:srgbClr val="7030A0"/>
                </a:solidFill>
                <a:latin typeface="Times New Roman" panose="02020603050405020304" pitchFamily="18" charset="0"/>
                <a:cs typeface="Times New Roman" panose="02020603050405020304" pitchFamily="18" charset="0"/>
              </a:rPr>
              <a:t>Includes movement of products from suppliers to manufacturers to distributors, but also includes movement of information, funds, and products in both directions.</a:t>
            </a:r>
          </a:p>
          <a:p>
            <a:pPr algn="just"/>
            <a:endParaRPr lang="en-US" dirty="0">
              <a:solidFill>
                <a:srgbClr val="7030A0"/>
              </a:solidFill>
              <a:latin typeface="Times New Roman" panose="02020603050405020304" pitchFamily="18" charset="0"/>
              <a:cs typeface="Times New Roman" panose="02020603050405020304" pitchFamily="18" charset="0"/>
            </a:endParaRPr>
          </a:p>
          <a:p>
            <a:pPr marL="457200" indent="-457200" algn="just">
              <a:buFont typeface="Arial"/>
              <a:buChar char="•"/>
            </a:pPr>
            <a:r>
              <a:rPr lang="en-US" dirty="0">
                <a:solidFill>
                  <a:srgbClr val="7030A0"/>
                </a:solidFill>
                <a:latin typeface="Times New Roman" panose="02020603050405020304" pitchFamily="18" charset="0"/>
                <a:cs typeface="Times New Roman" panose="02020603050405020304" pitchFamily="18" charset="0"/>
              </a:rPr>
              <a:t>Probably more accurate to use term “ supply network” or “supply web”.</a:t>
            </a:r>
          </a:p>
          <a:p>
            <a:pPr marL="0" indent="0">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7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997526"/>
            <a:ext cx="11405937" cy="5607811"/>
          </a:xfrm>
        </p:spPr>
        <p:txBody>
          <a:bodyPr>
            <a:normAutofit/>
          </a:bodyPr>
          <a:lstStyle/>
          <a:p>
            <a:pPr marL="0" indent="0">
              <a:buNone/>
            </a:pPr>
            <a:endParaRPr lang="en-IN" dirty="0">
              <a:solidFill>
                <a:srgbClr val="7030A0"/>
              </a:solidFill>
              <a:latin typeface="Times New Roman" panose="02020603050405020304" pitchFamily="18" charset="0"/>
              <a:cs typeface="Times New Roman" panose="02020603050405020304" pitchFamily="18" charset="0"/>
            </a:endParaRPr>
          </a:p>
        </p:txBody>
      </p:sp>
      <p:pic>
        <p:nvPicPr>
          <p:cNvPr id="5" name="Picture 2" descr="C:\Users\Prof.Ubale\Desktop\network.jpg"/>
          <p:cNvPicPr>
            <a:picLocks noChangeAspect="1"/>
          </p:cNvPicPr>
          <p:nvPr/>
        </p:nvPicPr>
        <p:blipFill>
          <a:blip r:embed="rId2"/>
          <a:stretch>
            <a:fillRect/>
          </a:stretch>
        </p:blipFill>
        <p:spPr>
          <a:xfrm>
            <a:off x="360947" y="623454"/>
            <a:ext cx="10778107" cy="5701149"/>
          </a:xfrm>
          <a:prstGeom prst="rect">
            <a:avLst/>
          </a:prstGeom>
          <a:noFill/>
          <a:ln w="9525">
            <a:noFill/>
          </a:ln>
        </p:spPr>
      </p:pic>
    </p:spTree>
    <p:extLst>
      <p:ext uri="{BB962C8B-B14F-4D97-AF65-F5344CB8AC3E}">
        <p14:creationId xmlns:p14="http://schemas.microsoft.com/office/powerpoint/2010/main" val="131072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084394" y="236539"/>
            <a:ext cx="8156571" cy="457200"/>
          </a:xfrm>
          <a:ln/>
        </p:spPr>
        <p:txBody>
          <a:bodyPr vert="horz" wrap="square" lIns="91440" tIns="45720" rIns="91440" bIns="45720" anchor="ctr" anchorCtr="0"/>
          <a:lstStyle/>
          <a:p>
            <a:r>
              <a:rPr sz="3600" b="1" dirty="0">
                <a:solidFill>
                  <a:schemeClr val="accent2"/>
                </a:solidFill>
                <a:latin typeface="Arial"/>
                <a:cs typeface="Arial"/>
              </a:rPr>
              <a:t>Flows in Supply Chain </a:t>
            </a:r>
          </a:p>
        </p:txBody>
      </p:sp>
      <p:sp>
        <p:nvSpPr>
          <p:cNvPr id="4" name="Right Arrow 3"/>
          <p:cNvSpPr/>
          <p:nvPr/>
        </p:nvSpPr>
        <p:spPr>
          <a:xfrm>
            <a:off x="2836859" y="1090608"/>
            <a:ext cx="7580314" cy="2257425"/>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cxnSp>
        <p:nvCxnSpPr>
          <p:cNvPr id="6" name="Straight Connector 5"/>
          <p:cNvCxnSpPr/>
          <p:nvPr/>
        </p:nvCxnSpPr>
        <p:spPr>
          <a:xfrm>
            <a:off x="2822571" y="2020885"/>
            <a:ext cx="73882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851146" y="2374906"/>
            <a:ext cx="738981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246" name="TextBox 8"/>
          <p:cNvSpPr txBox="1"/>
          <p:nvPr/>
        </p:nvSpPr>
        <p:spPr>
          <a:xfrm>
            <a:off x="2836859" y="1592261"/>
            <a:ext cx="7092948" cy="46195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a:solidFill>
                  <a:prstClr val="black"/>
                </a:solidFill>
                <a:latin typeface="Calibri"/>
                <a:cs typeface="Arial"/>
              </a:rPr>
              <a:t>Capacity, promotion plans, delivery schedules</a:t>
            </a:r>
          </a:p>
        </p:txBody>
      </p:sp>
      <p:sp>
        <p:nvSpPr>
          <p:cNvPr id="10247" name="TextBox 9"/>
          <p:cNvSpPr txBox="1"/>
          <p:nvPr/>
        </p:nvSpPr>
        <p:spPr>
          <a:xfrm>
            <a:off x="2836859" y="1976433"/>
            <a:ext cx="7092948" cy="46195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dirty="0">
                <a:solidFill>
                  <a:prstClr val="black"/>
                </a:solidFill>
                <a:latin typeface="Calibri"/>
                <a:cs typeface="Arial"/>
              </a:rPr>
              <a:t>Raw materials, in-process products, finished goods</a:t>
            </a:r>
          </a:p>
        </p:txBody>
      </p:sp>
      <p:sp>
        <p:nvSpPr>
          <p:cNvPr id="10248" name="TextBox 10"/>
          <p:cNvSpPr txBox="1"/>
          <p:nvPr/>
        </p:nvSpPr>
        <p:spPr>
          <a:xfrm>
            <a:off x="2836859" y="2344741"/>
            <a:ext cx="7092948" cy="46195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a:solidFill>
                  <a:prstClr val="black"/>
                </a:solidFill>
                <a:latin typeface="Calibri"/>
                <a:cs typeface="Arial"/>
              </a:rPr>
              <a:t>Credits, consignment, payment terms, invoices</a:t>
            </a:r>
          </a:p>
        </p:txBody>
      </p:sp>
      <p:sp>
        <p:nvSpPr>
          <p:cNvPr id="12" name="Right Arrow 11"/>
          <p:cNvSpPr/>
          <p:nvPr/>
        </p:nvSpPr>
        <p:spPr>
          <a:xfrm flipH="1">
            <a:off x="1716085" y="4159253"/>
            <a:ext cx="7580314" cy="2255834"/>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cxnSp>
        <p:nvCxnSpPr>
          <p:cNvPr id="13" name="Straight Connector 12"/>
          <p:cNvCxnSpPr/>
          <p:nvPr/>
        </p:nvCxnSpPr>
        <p:spPr>
          <a:xfrm flipH="1">
            <a:off x="1908171" y="5102228"/>
            <a:ext cx="73882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1892293" y="5441946"/>
            <a:ext cx="738981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252" name="TextBox 17"/>
          <p:cNvSpPr txBox="1"/>
          <p:nvPr/>
        </p:nvSpPr>
        <p:spPr>
          <a:xfrm flipH="1">
            <a:off x="2571746" y="4675194"/>
            <a:ext cx="6694489" cy="46195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a:solidFill>
                  <a:prstClr val="black"/>
                </a:solidFill>
                <a:latin typeface="Calibri"/>
                <a:cs typeface="Arial"/>
              </a:rPr>
              <a:t>Sales, orders, inventory, quality, promotion plans</a:t>
            </a:r>
          </a:p>
        </p:txBody>
      </p:sp>
      <p:sp>
        <p:nvSpPr>
          <p:cNvPr id="10253" name="TextBox 18"/>
          <p:cNvSpPr txBox="1"/>
          <p:nvPr/>
        </p:nvSpPr>
        <p:spPr>
          <a:xfrm flipH="1">
            <a:off x="2571746" y="5029201"/>
            <a:ext cx="6694489" cy="46195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a:solidFill>
                  <a:prstClr val="black"/>
                </a:solidFill>
                <a:latin typeface="Calibri"/>
                <a:cs typeface="Arial"/>
              </a:rPr>
              <a:t>Returns, repairs, servicing, recycling, disposal</a:t>
            </a:r>
          </a:p>
        </p:txBody>
      </p:sp>
      <p:sp>
        <p:nvSpPr>
          <p:cNvPr id="10254" name="TextBox 19"/>
          <p:cNvSpPr txBox="1"/>
          <p:nvPr/>
        </p:nvSpPr>
        <p:spPr>
          <a:xfrm flipH="1">
            <a:off x="2571746" y="5413372"/>
            <a:ext cx="6694489" cy="460381"/>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2400">
                <a:solidFill>
                  <a:prstClr val="black"/>
                </a:solidFill>
                <a:latin typeface="Calibri"/>
                <a:cs typeface="Arial"/>
              </a:rPr>
              <a:t>Payments, consignment</a:t>
            </a:r>
          </a:p>
        </p:txBody>
      </p:sp>
      <p:grpSp>
        <p:nvGrpSpPr>
          <p:cNvPr id="10255" name="Group 30"/>
          <p:cNvGrpSpPr/>
          <p:nvPr/>
        </p:nvGrpSpPr>
        <p:grpSpPr>
          <a:xfrm>
            <a:off x="1717676" y="3565527"/>
            <a:ext cx="1522414" cy="476245"/>
            <a:chOff x="193899" y="3285566"/>
            <a:chExt cx="1521618" cy="475268"/>
          </a:xfrm>
        </p:grpSpPr>
        <p:sp>
          <p:nvSpPr>
            <p:cNvPr id="21" name="Rectangle 20"/>
            <p:cNvSpPr/>
            <p:nvPr/>
          </p:nvSpPr>
          <p:spPr>
            <a:xfrm>
              <a:off x="195476" y="3285566"/>
              <a:ext cx="1520028" cy="47526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0281" name="TextBox 21"/>
            <p:cNvSpPr txBox="1"/>
            <p:nvPr/>
          </p:nvSpPr>
          <p:spPr>
            <a:xfrm>
              <a:off x="193899" y="3345158"/>
              <a:ext cx="1502182" cy="33856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buNone/>
              </a:pPr>
              <a:r>
                <a:rPr sz="1600" b="1">
                  <a:solidFill>
                    <a:prstClr val="black"/>
                  </a:solidFill>
                  <a:latin typeface="Calibri"/>
                  <a:cs typeface="Arial"/>
                </a:rPr>
                <a:t>Suppliers</a:t>
              </a:r>
            </a:p>
          </p:txBody>
        </p:sp>
      </p:grpSp>
      <p:grpSp>
        <p:nvGrpSpPr>
          <p:cNvPr id="10256" name="Group 31"/>
          <p:cNvGrpSpPr/>
          <p:nvPr/>
        </p:nvGrpSpPr>
        <p:grpSpPr>
          <a:xfrm>
            <a:off x="8856669" y="3565527"/>
            <a:ext cx="1520823" cy="476245"/>
            <a:chOff x="193899" y="3285566"/>
            <a:chExt cx="1521618" cy="475268"/>
          </a:xfrm>
        </p:grpSpPr>
        <p:sp>
          <p:nvSpPr>
            <p:cNvPr id="33" name="Rectangle 32"/>
            <p:cNvSpPr/>
            <p:nvPr/>
          </p:nvSpPr>
          <p:spPr>
            <a:xfrm>
              <a:off x="195476" y="3285566"/>
              <a:ext cx="1520028" cy="47526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0279" name="TextBox 33"/>
            <p:cNvSpPr txBox="1"/>
            <p:nvPr/>
          </p:nvSpPr>
          <p:spPr>
            <a:xfrm>
              <a:off x="193899" y="3345158"/>
              <a:ext cx="1502182" cy="33856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buNone/>
              </a:pPr>
              <a:r>
                <a:rPr sz="1600" b="1">
                  <a:solidFill>
                    <a:prstClr val="black"/>
                  </a:solidFill>
                  <a:latin typeface="Calibri"/>
                  <a:cs typeface="Arial"/>
                </a:rPr>
                <a:t>Customers</a:t>
              </a:r>
            </a:p>
          </p:txBody>
        </p:sp>
      </p:grpSp>
      <p:grpSp>
        <p:nvGrpSpPr>
          <p:cNvPr id="10257" name="Group 34"/>
          <p:cNvGrpSpPr/>
          <p:nvPr/>
        </p:nvGrpSpPr>
        <p:grpSpPr>
          <a:xfrm>
            <a:off x="3502023" y="3565527"/>
            <a:ext cx="1522414" cy="476245"/>
            <a:chOff x="193899" y="3285566"/>
            <a:chExt cx="1521618" cy="475268"/>
          </a:xfrm>
        </p:grpSpPr>
        <p:sp>
          <p:nvSpPr>
            <p:cNvPr id="36" name="Rectangle 35"/>
            <p:cNvSpPr/>
            <p:nvPr/>
          </p:nvSpPr>
          <p:spPr>
            <a:xfrm>
              <a:off x="195476" y="3285566"/>
              <a:ext cx="1520028" cy="47526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0277" name="TextBox 36"/>
            <p:cNvSpPr txBox="1"/>
            <p:nvPr/>
          </p:nvSpPr>
          <p:spPr>
            <a:xfrm>
              <a:off x="193899" y="3345158"/>
              <a:ext cx="1502182" cy="33856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buNone/>
              </a:pPr>
              <a:r>
                <a:rPr sz="1600" b="1">
                  <a:solidFill>
                    <a:prstClr val="black"/>
                  </a:solidFill>
                  <a:latin typeface="Calibri"/>
                  <a:cs typeface="Arial"/>
                </a:rPr>
                <a:t>Manufacturer</a:t>
              </a:r>
            </a:p>
          </p:txBody>
        </p:sp>
      </p:grpSp>
      <p:grpSp>
        <p:nvGrpSpPr>
          <p:cNvPr id="10258" name="Group 37"/>
          <p:cNvGrpSpPr/>
          <p:nvPr/>
        </p:nvGrpSpPr>
        <p:grpSpPr>
          <a:xfrm>
            <a:off x="5286370" y="3565527"/>
            <a:ext cx="1522414" cy="476245"/>
            <a:chOff x="193899" y="3285566"/>
            <a:chExt cx="1521618" cy="475268"/>
          </a:xfrm>
        </p:grpSpPr>
        <p:sp>
          <p:nvSpPr>
            <p:cNvPr id="39" name="Rectangle 38"/>
            <p:cNvSpPr/>
            <p:nvPr/>
          </p:nvSpPr>
          <p:spPr>
            <a:xfrm>
              <a:off x="195476" y="3285566"/>
              <a:ext cx="1520028" cy="47526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0275" name="TextBox 39"/>
            <p:cNvSpPr txBox="1"/>
            <p:nvPr/>
          </p:nvSpPr>
          <p:spPr>
            <a:xfrm>
              <a:off x="193899" y="3345158"/>
              <a:ext cx="1502182" cy="33856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buNone/>
              </a:pPr>
              <a:r>
                <a:rPr sz="1600" b="1">
                  <a:solidFill>
                    <a:prstClr val="black"/>
                  </a:solidFill>
                  <a:latin typeface="Calibri"/>
                  <a:cs typeface="Arial"/>
                </a:rPr>
                <a:t>Distributor</a:t>
              </a:r>
            </a:p>
          </p:txBody>
        </p:sp>
      </p:grpSp>
      <p:grpSp>
        <p:nvGrpSpPr>
          <p:cNvPr id="10259" name="Group 40"/>
          <p:cNvGrpSpPr/>
          <p:nvPr/>
        </p:nvGrpSpPr>
        <p:grpSpPr>
          <a:xfrm>
            <a:off x="7072308" y="3565527"/>
            <a:ext cx="1520823" cy="476245"/>
            <a:chOff x="193899" y="3285566"/>
            <a:chExt cx="1521618" cy="475268"/>
          </a:xfrm>
        </p:grpSpPr>
        <p:sp>
          <p:nvSpPr>
            <p:cNvPr id="42" name="Rectangle 41"/>
            <p:cNvSpPr/>
            <p:nvPr/>
          </p:nvSpPr>
          <p:spPr>
            <a:xfrm>
              <a:off x="195476" y="3285566"/>
              <a:ext cx="1520028" cy="47526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0273" name="TextBox 42"/>
            <p:cNvSpPr txBox="1"/>
            <p:nvPr/>
          </p:nvSpPr>
          <p:spPr>
            <a:xfrm>
              <a:off x="193899" y="3345158"/>
              <a:ext cx="1502182" cy="33856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buNone/>
              </a:pPr>
              <a:r>
                <a:rPr sz="1600" b="1">
                  <a:solidFill>
                    <a:prstClr val="black"/>
                  </a:solidFill>
                  <a:latin typeface="Calibri"/>
                  <a:cs typeface="Arial"/>
                </a:rPr>
                <a:t>Resellers</a:t>
              </a:r>
            </a:p>
          </p:txBody>
        </p:sp>
      </p:grpSp>
      <p:cxnSp>
        <p:nvCxnSpPr>
          <p:cNvPr id="47" name="Straight Arrow Connector 46"/>
          <p:cNvCxnSpPr/>
          <p:nvPr/>
        </p:nvCxnSpPr>
        <p:spPr>
          <a:xfrm>
            <a:off x="3219454" y="3805232"/>
            <a:ext cx="280992" cy="1590"/>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5005393" y="3805232"/>
            <a:ext cx="279401" cy="1590"/>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a:xfrm>
            <a:off x="6804027" y="3805232"/>
            <a:ext cx="279401" cy="1590"/>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0" name="Straight Arrow Connector 49"/>
          <p:cNvCxnSpPr/>
          <p:nvPr/>
        </p:nvCxnSpPr>
        <p:spPr>
          <a:xfrm>
            <a:off x="8574086" y="3805232"/>
            <a:ext cx="279401" cy="1590"/>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0264" name="TextBox 50"/>
          <p:cNvSpPr txBox="1"/>
          <p:nvPr/>
        </p:nvSpPr>
        <p:spPr>
          <a:xfrm flipH="1">
            <a:off x="1538288" y="1652593"/>
            <a:ext cx="1474793" cy="36829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1800">
                <a:solidFill>
                  <a:srgbClr val="C0504D"/>
                </a:solidFill>
                <a:latin typeface="Calibri"/>
                <a:cs typeface="Arial"/>
              </a:rPr>
              <a:t>Information</a:t>
            </a:r>
          </a:p>
        </p:txBody>
      </p:sp>
      <p:sp>
        <p:nvSpPr>
          <p:cNvPr id="52" name="TextBox 51"/>
          <p:cNvSpPr txBox="1"/>
          <p:nvPr/>
        </p:nvSpPr>
        <p:spPr>
          <a:xfrm flipH="1">
            <a:off x="1538288" y="2005007"/>
            <a:ext cx="1474793" cy="369884"/>
          </a:xfrm>
          <a:prstGeom prst="rect">
            <a:avLst/>
          </a:prstGeom>
          <a:noFill/>
        </p:spPr>
        <p:txBody>
          <a:bodyPr>
            <a:spAutoFit/>
          </a:bodyPr>
          <a:lstStyle/>
          <a:p>
            <a:pPr eaLnBrk="0" fontAlgn="base" hangingPunct="0">
              <a:spcBef>
                <a:spcPct val="0"/>
              </a:spcBef>
              <a:spcAft>
                <a:spcPct val="0"/>
              </a:spcAft>
            </a:pPr>
            <a:r>
              <a:rPr>
                <a:solidFill>
                  <a:srgbClr val="4BACC6">
                    <a:lumMod val="75000"/>
                  </a:srgbClr>
                </a:solidFill>
                <a:latin typeface="Calibri"/>
              </a:rPr>
              <a:t>Material</a:t>
            </a:r>
          </a:p>
        </p:txBody>
      </p:sp>
      <p:sp>
        <p:nvSpPr>
          <p:cNvPr id="53" name="TextBox 52"/>
          <p:cNvSpPr txBox="1"/>
          <p:nvPr/>
        </p:nvSpPr>
        <p:spPr>
          <a:xfrm flipH="1">
            <a:off x="1538288" y="2389193"/>
            <a:ext cx="1474793" cy="369884"/>
          </a:xfrm>
          <a:prstGeom prst="rect">
            <a:avLst/>
          </a:prstGeom>
          <a:noFill/>
        </p:spPr>
        <p:txBody>
          <a:bodyPr>
            <a:spAutoFit/>
          </a:bodyPr>
          <a:lstStyle/>
          <a:p>
            <a:pPr eaLnBrk="0" fontAlgn="base" hangingPunct="0">
              <a:spcBef>
                <a:spcPct val="0"/>
              </a:spcBef>
              <a:spcAft>
                <a:spcPct val="0"/>
              </a:spcAft>
            </a:pPr>
            <a:r>
              <a:rPr>
                <a:solidFill>
                  <a:srgbClr val="9BBB59">
                    <a:lumMod val="75000"/>
                  </a:srgbClr>
                </a:solidFill>
                <a:latin typeface="Calibri"/>
              </a:rPr>
              <a:t>Finance</a:t>
            </a:r>
          </a:p>
        </p:txBody>
      </p:sp>
      <p:sp>
        <p:nvSpPr>
          <p:cNvPr id="10267" name="TextBox 53"/>
          <p:cNvSpPr txBox="1"/>
          <p:nvPr/>
        </p:nvSpPr>
        <p:spPr>
          <a:xfrm flipH="1">
            <a:off x="9326566" y="4719632"/>
            <a:ext cx="1474793" cy="36988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sz="1800">
                <a:solidFill>
                  <a:srgbClr val="C0504D"/>
                </a:solidFill>
                <a:latin typeface="Calibri"/>
                <a:cs typeface="Arial"/>
              </a:rPr>
              <a:t>Information</a:t>
            </a:r>
          </a:p>
        </p:txBody>
      </p:sp>
      <p:sp>
        <p:nvSpPr>
          <p:cNvPr id="55" name="TextBox 54"/>
          <p:cNvSpPr txBox="1"/>
          <p:nvPr/>
        </p:nvSpPr>
        <p:spPr>
          <a:xfrm flipH="1">
            <a:off x="9326566" y="5073653"/>
            <a:ext cx="1474793" cy="369884"/>
          </a:xfrm>
          <a:prstGeom prst="rect">
            <a:avLst/>
          </a:prstGeom>
          <a:noFill/>
        </p:spPr>
        <p:txBody>
          <a:bodyPr>
            <a:spAutoFit/>
          </a:bodyPr>
          <a:lstStyle/>
          <a:p>
            <a:pPr eaLnBrk="0" fontAlgn="base" hangingPunct="0">
              <a:spcBef>
                <a:spcPct val="0"/>
              </a:spcBef>
              <a:spcAft>
                <a:spcPct val="0"/>
              </a:spcAft>
            </a:pPr>
            <a:r>
              <a:rPr>
                <a:solidFill>
                  <a:srgbClr val="4BACC6">
                    <a:lumMod val="75000"/>
                  </a:srgbClr>
                </a:solidFill>
                <a:latin typeface="Calibri"/>
              </a:rPr>
              <a:t>Material</a:t>
            </a:r>
          </a:p>
        </p:txBody>
      </p:sp>
      <p:sp>
        <p:nvSpPr>
          <p:cNvPr id="56" name="TextBox 55"/>
          <p:cNvSpPr txBox="1"/>
          <p:nvPr/>
        </p:nvSpPr>
        <p:spPr>
          <a:xfrm flipH="1">
            <a:off x="9326566" y="5456234"/>
            <a:ext cx="1474793" cy="369884"/>
          </a:xfrm>
          <a:prstGeom prst="rect">
            <a:avLst/>
          </a:prstGeom>
          <a:noFill/>
        </p:spPr>
        <p:txBody>
          <a:bodyPr>
            <a:spAutoFit/>
          </a:bodyPr>
          <a:lstStyle/>
          <a:p>
            <a:pPr eaLnBrk="0" fontAlgn="base" hangingPunct="0">
              <a:spcBef>
                <a:spcPct val="0"/>
              </a:spcBef>
              <a:spcAft>
                <a:spcPct val="0"/>
              </a:spcAft>
            </a:pPr>
            <a:r>
              <a:rPr>
                <a:solidFill>
                  <a:srgbClr val="9BBB59">
                    <a:lumMod val="75000"/>
                  </a:srgbClr>
                </a:solidFill>
                <a:latin typeface="Calibri"/>
              </a:rPr>
              <a:t>Finance</a:t>
            </a:r>
          </a:p>
        </p:txBody>
      </p:sp>
      <p:sp>
        <p:nvSpPr>
          <p:cNvPr id="57" name="Curved Left Arrow 56"/>
          <p:cNvSpPr/>
          <p:nvPr/>
        </p:nvSpPr>
        <p:spPr>
          <a:xfrm>
            <a:off x="9945685" y="4129088"/>
            <a:ext cx="250826" cy="6635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58" name="Curved Left Arrow 57"/>
          <p:cNvSpPr/>
          <p:nvPr/>
        </p:nvSpPr>
        <p:spPr>
          <a:xfrm rot="10740000">
            <a:off x="1746252" y="2817818"/>
            <a:ext cx="273053" cy="66516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Tree>
    <p:extLst>
      <p:ext uri="{BB962C8B-B14F-4D97-AF65-F5344CB8AC3E}">
        <p14:creationId xmlns:p14="http://schemas.microsoft.com/office/powerpoint/2010/main" val="402320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130630"/>
            <a:ext cx="11405937" cy="6474708"/>
          </a:xfrm>
        </p:spPr>
        <p:txBody>
          <a:bodyPr>
            <a:normAutofit/>
          </a:bodyPr>
          <a:lstStyle/>
          <a:p>
            <a:pPr marL="0" indent="0">
              <a:buNone/>
            </a:pPr>
            <a:r>
              <a:rPr lang="en-US" sz="3600" dirty="0">
                <a:solidFill>
                  <a:schemeClr val="accent2"/>
                </a:solidFill>
                <a:latin typeface="Times New Roman" panose="02020603050405020304" pitchFamily="18" charset="0"/>
                <a:cs typeface="Times New Roman" panose="02020603050405020304" pitchFamily="18" charset="0"/>
              </a:rPr>
              <a:t>Different types of generic supply </a:t>
            </a:r>
            <a:r>
              <a:rPr lang="en-US" sz="3600" dirty="0" smtClean="0">
                <a:solidFill>
                  <a:schemeClr val="accent2"/>
                </a:solidFill>
                <a:latin typeface="Times New Roman" panose="02020603050405020304" pitchFamily="18" charset="0"/>
                <a:cs typeface="Times New Roman" panose="02020603050405020304" pitchFamily="18" charset="0"/>
              </a:rPr>
              <a:t>chains</a:t>
            </a:r>
          </a:p>
          <a:p>
            <a:pPr marL="0" indent="0">
              <a:buNone/>
            </a:pPr>
            <a:r>
              <a:rPr lang="en-US" sz="3600" dirty="0">
                <a:solidFill>
                  <a:schemeClr val="accent2"/>
                </a:solidFill>
                <a:latin typeface="Times New Roman" panose="02020603050405020304" pitchFamily="18" charset="0"/>
                <a:cs typeface="Times New Roman" panose="02020603050405020304" pitchFamily="18" charset="0"/>
              </a:rPr>
              <a:t> </a:t>
            </a:r>
            <a:endParaRPr lang="en-US" sz="3600" dirty="0" smtClean="0">
              <a:solidFill>
                <a:schemeClr val="accent2"/>
              </a:solidFill>
              <a:latin typeface="Times New Roman" panose="02020603050405020304" pitchFamily="18" charset="0"/>
              <a:cs typeface="Times New Roman" panose="02020603050405020304" pitchFamily="18" charset="0"/>
            </a:endParaRP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1) Manufacturer- Wholesaler-Retailer- Customer</a:t>
            </a:r>
          </a:p>
          <a:p>
            <a:pPr marL="0" indent="0">
              <a:buNone/>
            </a:pPr>
            <a:endParaRPr lang="en-US" dirty="0">
              <a:solidFill>
                <a:srgbClr val="7030A0"/>
              </a:solidFill>
              <a:latin typeface="Times New Roman" panose="02020603050405020304" pitchFamily="18" charset="0"/>
              <a:cs typeface="Times New Roman" panose="02020603050405020304" pitchFamily="18" charset="0"/>
            </a:endParaRP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2) Manufacturer- Retailer- Customer</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e.g. Big Bazaar, Reliance chains</a:t>
            </a:r>
          </a:p>
          <a:p>
            <a:pPr marL="0" indent="0">
              <a:buNone/>
            </a:pPr>
            <a:endParaRPr lang="en-US" dirty="0" smtClean="0">
              <a:solidFill>
                <a:srgbClr val="7030A0"/>
              </a:solidFill>
              <a:latin typeface="Times New Roman" panose="02020603050405020304" pitchFamily="18" charset="0"/>
              <a:cs typeface="Times New Roman" panose="02020603050405020304" pitchFamily="18" charset="0"/>
            </a:endParaRP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3) Manufacturer- Customer</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e.g. BHEL</a:t>
            </a:r>
          </a:p>
          <a:p>
            <a:pPr marL="0" indent="0">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872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951034" y="0"/>
            <a:ext cx="8304218" cy="1143000"/>
          </a:xfrm>
          <a:ln/>
        </p:spPr>
        <p:txBody>
          <a:bodyPr vert="horz" wrap="square" lIns="91440" tIns="45720" rIns="91440" bIns="45720" anchor="ctr" anchorCtr="0"/>
          <a:lstStyle/>
          <a:p>
            <a:r>
              <a:rPr sz="3600" b="1" dirty="0">
                <a:solidFill>
                  <a:srgbClr val="C00000"/>
                </a:solidFill>
                <a:latin typeface="Arial"/>
                <a:cs typeface="Arial"/>
              </a:rPr>
              <a:t>Stages of Detergent Supply Chain</a:t>
            </a:r>
          </a:p>
        </p:txBody>
      </p:sp>
      <p:sp>
        <p:nvSpPr>
          <p:cNvPr id="4" name="Rectangle 3"/>
          <p:cNvSpPr/>
          <p:nvPr/>
        </p:nvSpPr>
        <p:spPr>
          <a:xfrm>
            <a:off x="1951035" y="1633532"/>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5" name="TextBox 4"/>
          <p:cNvSpPr txBox="1"/>
          <p:nvPr/>
        </p:nvSpPr>
        <p:spPr>
          <a:xfrm>
            <a:off x="1954216" y="1752604"/>
            <a:ext cx="1800225" cy="646118"/>
          </a:xfrm>
          <a:prstGeom prst="rect">
            <a:avLst/>
          </a:prstGeom>
          <a:noFill/>
        </p:spPr>
        <p:txBody>
          <a:bodyPr>
            <a:spAutoFit/>
          </a:bodyPr>
          <a:lstStyle/>
          <a:p>
            <a:pPr algn="ctr" eaLnBrk="0" fontAlgn="base" hangingPunct="0">
              <a:spcBef>
                <a:spcPct val="0"/>
              </a:spcBef>
              <a:spcAft>
                <a:spcPct val="0"/>
              </a:spcAft>
            </a:pPr>
            <a:r>
              <a:rPr b="1" dirty="0">
                <a:solidFill>
                  <a:srgbClr val="9BBB59">
                    <a:lumMod val="50000"/>
                  </a:srgbClr>
                </a:solidFill>
                <a:latin typeface="Arial"/>
                <a:cs typeface="Arial"/>
              </a:rPr>
              <a:t>P&amp;G or others manufacturer</a:t>
            </a:r>
          </a:p>
        </p:txBody>
      </p:sp>
      <p:sp>
        <p:nvSpPr>
          <p:cNvPr id="6" name="Rectangle 5"/>
          <p:cNvSpPr/>
          <p:nvPr/>
        </p:nvSpPr>
        <p:spPr>
          <a:xfrm>
            <a:off x="4121144" y="1633532"/>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7" name="TextBox 6"/>
          <p:cNvSpPr txBox="1"/>
          <p:nvPr/>
        </p:nvSpPr>
        <p:spPr>
          <a:xfrm>
            <a:off x="4124326" y="1752604"/>
            <a:ext cx="180022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Martin’s or third party</a:t>
            </a:r>
          </a:p>
        </p:txBody>
      </p:sp>
      <p:sp>
        <p:nvSpPr>
          <p:cNvPr id="8" name="Rectangle 7"/>
          <p:cNvSpPr/>
          <p:nvPr/>
        </p:nvSpPr>
        <p:spPr>
          <a:xfrm>
            <a:off x="6278557" y="1633532"/>
            <a:ext cx="181769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9" name="TextBox 8"/>
          <p:cNvSpPr txBox="1"/>
          <p:nvPr/>
        </p:nvSpPr>
        <p:spPr>
          <a:xfrm>
            <a:off x="6281738" y="1752604"/>
            <a:ext cx="180181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Martin’s Supermarket</a:t>
            </a:r>
          </a:p>
        </p:txBody>
      </p:sp>
      <p:sp>
        <p:nvSpPr>
          <p:cNvPr id="10" name="Rectangle 9"/>
          <p:cNvSpPr/>
          <p:nvPr/>
        </p:nvSpPr>
        <p:spPr>
          <a:xfrm>
            <a:off x="8437560" y="1633532"/>
            <a:ext cx="1816103" cy="890582"/>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1" name="TextBox 10"/>
          <p:cNvSpPr txBox="1"/>
          <p:nvPr/>
        </p:nvSpPr>
        <p:spPr>
          <a:xfrm>
            <a:off x="8329608" y="1654168"/>
            <a:ext cx="2020885" cy="831856"/>
          </a:xfrm>
          <a:prstGeom prst="rect">
            <a:avLst/>
          </a:prstGeom>
          <a:noFill/>
        </p:spPr>
        <p:txBody>
          <a:bodyPr>
            <a:spAutoFit/>
          </a:bodyPr>
          <a:lstStyle/>
          <a:p>
            <a:pPr algn="ctr" eaLnBrk="0" fontAlgn="base" hangingPunct="0">
              <a:spcBef>
                <a:spcPct val="0"/>
              </a:spcBef>
              <a:spcAft>
                <a:spcPct val="0"/>
              </a:spcAft>
            </a:pPr>
            <a:r>
              <a:rPr sz="1600" b="1">
                <a:solidFill>
                  <a:srgbClr val="9BBB59">
                    <a:lumMod val="50000"/>
                  </a:srgbClr>
                </a:solidFill>
                <a:latin typeface="Arial"/>
                <a:cs typeface="Arial"/>
              </a:rPr>
              <a:t>Customer wants detergent and goes to Martin’s</a:t>
            </a:r>
          </a:p>
        </p:txBody>
      </p:sp>
      <p:sp>
        <p:nvSpPr>
          <p:cNvPr id="12" name="Rectangle 11"/>
          <p:cNvSpPr/>
          <p:nvPr/>
        </p:nvSpPr>
        <p:spPr>
          <a:xfrm>
            <a:off x="1951035" y="3243262"/>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3" name="TextBox 12"/>
          <p:cNvSpPr txBox="1"/>
          <p:nvPr/>
        </p:nvSpPr>
        <p:spPr>
          <a:xfrm>
            <a:off x="1954216" y="3362320"/>
            <a:ext cx="180022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Plastic</a:t>
            </a:r>
          </a:p>
          <a:p>
            <a:pPr algn="ctr" eaLnBrk="0" fontAlgn="base" hangingPunct="0">
              <a:spcBef>
                <a:spcPct val="0"/>
              </a:spcBef>
              <a:spcAft>
                <a:spcPct val="0"/>
              </a:spcAft>
            </a:pPr>
            <a:r>
              <a:rPr b="1">
                <a:solidFill>
                  <a:srgbClr val="9BBB59">
                    <a:lumMod val="50000"/>
                  </a:srgbClr>
                </a:solidFill>
                <a:latin typeface="Arial"/>
                <a:cs typeface="Arial"/>
              </a:rPr>
              <a:t>Producer</a:t>
            </a:r>
          </a:p>
        </p:txBody>
      </p:sp>
      <p:sp>
        <p:nvSpPr>
          <p:cNvPr id="14" name="Rectangle 13"/>
          <p:cNvSpPr/>
          <p:nvPr/>
        </p:nvSpPr>
        <p:spPr>
          <a:xfrm>
            <a:off x="1951035" y="4864098"/>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6" name="Rectangle 15"/>
          <p:cNvSpPr/>
          <p:nvPr/>
        </p:nvSpPr>
        <p:spPr>
          <a:xfrm>
            <a:off x="4121144" y="3243262"/>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7" name="TextBox 16"/>
          <p:cNvSpPr txBox="1"/>
          <p:nvPr/>
        </p:nvSpPr>
        <p:spPr>
          <a:xfrm>
            <a:off x="4124326" y="3362320"/>
            <a:ext cx="180022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Tenneco</a:t>
            </a:r>
          </a:p>
          <a:p>
            <a:pPr algn="ctr" eaLnBrk="0" fontAlgn="base" hangingPunct="0">
              <a:spcBef>
                <a:spcPct val="0"/>
              </a:spcBef>
              <a:spcAft>
                <a:spcPct val="0"/>
              </a:spcAft>
            </a:pPr>
            <a:r>
              <a:rPr b="1">
                <a:solidFill>
                  <a:srgbClr val="9BBB59">
                    <a:lumMod val="50000"/>
                  </a:srgbClr>
                </a:solidFill>
                <a:latin typeface="Arial"/>
                <a:cs typeface="Arial"/>
              </a:rPr>
              <a:t>Packaging</a:t>
            </a:r>
          </a:p>
        </p:txBody>
      </p:sp>
      <p:sp>
        <p:nvSpPr>
          <p:cNvPr id="18" name="Rectangle 17"/>
          <p:cNvSpPr/>
          <p:nvPr/>
        </p:nvSpPr>
        <p:spPr>
          <a:xfrm>
            <a:off x="7351710" y="3243262"/>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19" name="TextBox 18"/>
          <p:cNvSpPr txBox="1"/>
          <p:nvPr/>
        </p:nvSpPr>
        <p:spPr>
          <a:xfrm>
            <a:off x="7351710" y="3214688"/>
            <a:ext cx="1852617" cy="923929"/>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Chemical manufacturer</a:t>
            </a:r>
            <a:r>
              <a:rPr b="1">
                <a:solidFill>
                  <a:srgbClr val="9BBB59">
                    <a:lumMod val="50000"/>
                  </a:srgbClr>
                </a:solidFill>
                <a:latin typeface="Arial" panose="020B0604020202020204" pitchFamily="34" charset="0"/>
                <a:cs typeface="Arial"/>
              </a:rPr>
              <a:t/>
            </a:r>
            <a:br>
              <a:rPr b="1">
                <a:solidFill>
                  <a:srgbClr val="9BBB59">
                    <a:lumMod val="50000"/>
                  </a:srgbClr>
                </a:solidFill>
                <a:latin typeface="Arial" panose="020B0604020202020204" pitchFamily="34" charset="0"/>
                <a:cs typeface="Arial"/>
              </a:rPr>
            </a:br>
            <a:r>
              <a:rPr b="1">
                <a:solidFill>
                  <a:srgbClr val="9BBB59">
                    <a:lumMod val="50000"/>
                  </a:srgbClr>
                </a:solidFill>
                <a:latin typeface="Arial"/>
                <a:cs typeface="Arial"/>
              </a:rPr>
              <a:t>(e.g., Oil Co.)</a:t>
            </a:r>
          </a:p>
        </p:txBody>
      </p:sp>
      <p:sp>
        <p:nvSpPr>
          <p:cNvPr id="20" name="Rectangle 19"/>
          <p:cNvSpPr/>
          <p:nvPr/>
        </p:nvSpPr>
        <p:spPr>
          <a:xfrm>
            <a:off x="4121144" y="4864098"/>
            <a:ext cx="181610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21" name="TextBox 20"/>
          <p:cNvSpPr txBox="1"/>
          <p:nvPr/>
        </p:nvSpPr>
        <p:spPr>
          <a:xfrm>
            <a:off x="4124326" y="4983156"/>
            <a:ext cx="180022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Paper</a:t>
            </a:r>
          </a:p>
          <a:p>
            <a:pPr algn="ctr" eaLnBrk="0" fontAlgn="base" hangingPunct="0">
              <a:spcBef>
                <a:spcPct val="0"/>
              </a:spcBef>
              <a:spcAft>
                <a:spcPct val="0"/>
              </a:spcAft>
            </a:pPr>
            <a:r>
              <a:rPr b="1">
                <a:solidFill>
                  <a:srgbClr val="9BBB59">
                    <a:lumMod val="50000"/>
                  </a:srgbClr>
                </a:solidFill>
                <a:latin typeface="Arial"/>
                <a:cs typeface="Arial"/>
              </a:rPr>
              <a:t>Manufacturer</a:t>
            </a:r>
          </a:p>
        </p:txBody>
      </p:sp>
      <p:sp>
        <p:nvSpPr>
          <p:cNvPr id="22" name="Rectangle 21"/>
          <p:cNvSpPr/>
          <p:nvPr/>
        </p:nvSpPr>
        <p:spPr>
          <a:xfrm>
            <a:off x="6278557" y="4864098"/>
            <a:ext cx="1817693" cy="89058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endParaRPr>
              <a:solidFill>
                <a:prstClr val="white"/>
              </a:solidFill>
              <a:latin typeface="Calibri"/>
            </a:endParaRPr>
          </a:p>
        </p:txBody>
      </p:sp>
      <p:sp>
        <p:nvSpPr>
          <p:cNvPr id="23" name="TextBox 22"/>
          <p:cNvSpPr txBox="1"/>
          <p:nvPr/>
        </p:nvSpPr>
        <p:spPr>
          <a:xfrm>
            <a:off x="6281738" y="4983156"/>
            <a:ext cx="1801815" cy="646118"/>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Timber</a:t>
            </a:r>
          </a:p>
          <a:p>
            <a:pPr algn="ctr" eaLnBrk="0" fontAlgn="base" hangingPunct="0">
              <a:spcBef>
                <a:spcPct val="0"/>
              </a:spcBef>
              <a:spcAft>
                <a:spcPct val="0"/>
              </a:spcAft>
            </a:pPr>
            <a:r>
              <a:rPr b="1">
                <a:solidFill>
                  <a:srgbClr val="9BBB59">
                    <a:lumMod val="50000"/>
                  </a:srgbClr>
                </a:solidFill>
                <a:latin typeface="Arial"/>
                <a:cs typeface="Arial"/>
              </a:rPr>
              <a:t>Industry</a:t>
            </a:r>
          </a:p>
        </p:txBody>
      </p:sp>
      <p:cxnSp>
        <p:nvCxnSpPr>
          <p:cNvPr id="25" name="Straight Arrow Connector 24"/>
          <p:cNvCxnSpPr>
            <a:stCxn id="5" idx="3"/>
          </p:cNvCxnSpPr>
          <p:nvPr/>
        </p:nvCxnSpPr>
        <p:spPr>
          <a:xfrm flipV="1">
            <a:off x="3754441" y="2073278"/>
            <a:ext cx="366717"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5924551" y="2073278"/>
            <a:ext cx="366717"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8083553" y="2073278"/>
            <a:ext cx="365126"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0"/>
            <a:endCxn id="4" idx="2"/>
          </p:cNvCxnSpPr>
          <p:nvPr/>
        </p:nvCxnSpPr>
        <p:spPr>
          <a:xfrm rot="5400000" flipH="1" flipV="1">
            <a:off x="2498731" y="2882893"/>
            <a:ext cx="719132"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flipH="1" flipV="1">
            <a:off x="2498731" y="4479926"/>
            <a:ext cx="719132"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4632326" y="4479926"/>
            <a:ext cx="719132"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10800000">
            <a:off x="2852738" y="2925756"/>
            <a:ext cx="5510217" cy="159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flipH="1" flipV="1">
            <a:off x="4840291" y="3090857"/>
            <a:ext cx="304795"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5400000" flipH="1" flipV="1">
            <a:off x="8193082" y="3090857"/>
            <a:ext cx="304795"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3" idx="1"/>
          </p:cNvCxnSpPr>
          <p:nvPr/>
        </p:nvCxnSpPr>
        <p:spPr>
          <a:xfrm rot="10800000">
            <a:off x="5907081" y="5303844"/>
            <a:ext cx="374656" cy="318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925641" y="4849811"/>
            <a:ext cx="1854193" cy="922339"/>
          </a:xfrm>
          <a:prstGeom prst="rect">
            <a:avLst/>
          </a:prstGeom>
          <a:noFill/>
        </p:spPr>
        <p:txBody>
          <a:bodyPr>
            <a:spAutoFit/>
          </a:bodyPr>
          <a:lstStyle/>
          <a:p>
            <a:pPr algn="ctr" eaLnBrk="0" fontAlgn="base" hangingPunct="0">
              <a:spcBef>
                <a:spcPct val="0"/>
              </a:spcBef>
              <a:spcAft>
                <a:spcPct val="0"/>
              </a:spcAft>
            </a:pPr>
            <a:r>
              <a:rPr b="1">
                <a:solidFill>
                  <a:srgbClr val="9BBB59">
                    <a:lumMod val="50000"/>
                  </a:srgbClr>
                </a:solidFill>
                <a:latin typeface="Arial"/>
                <a:cs typeface="Arial"/>
              </a:rPr>
              <a:t>Chemical manufacturer</a:t>
            </a:r>
            <a:r>
              <a:rPr b="1">
                <a:solidFill>
                  <a:srgbClr val="9BBB59">
                    <a:lumMod val="50000"/>
                  </a:srgbClr>
                </a:solidFill>
                <a:latin typeface="Arial" panose="020B0604020202020204" pitchFamily="34" charset="0"/>
                <a:cs typeface="Arial"/>
              </a:rPr>
              <a:t/>
            </a:r>
            <a:br>
              <a:rPr b="1">
                <a:solidFill>
                  <a:srgbClr val="9BBB59">
                    <a:lumMod val="50000"/>
                  </a:srgbClr>
                </a:solidFill>
                <a:latin typeface="Arial" panose="020B0604020202020204" pitchFamily="34" charset="0"/>
                <a:cs typeface="Arial"/>
              </a:rPr>
            </a:br>
            <a:r>
              <a:rPr b="1">
                <a:solidFill>
                  <a:srgbClr val="9BBB59">
                    <a:lumMod val="50000"/>
                  </a:srgbClr>
                </a:solidFill>
                <a:latin typeface="Arial"/>
                <a:cs typeface="Arial"/>
              </a:rPr>
              <a:t>(e.g., Oil Co.)</a:t>
            </a:r>
          </a:p>
        </p:txBody>
      </p:sp>
    </p:spTree>
    <p:extLst>
      <p:ext uri="{BB962C8B-B14F-4D97-AF65-F5344CB8AC3E}">
        <p14:creationId xmlns:p14="http://schemas.microsoft.com/office/powerpoint/2010/main" val="198387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53291" y="124691"/>
            <a:ext cx="11520054" cy="6384781"/>
          </a:xfrm>
        </p:spPr>
        <p:txBody>
          <a:bodyPr/>
          <a:lstStyle/>
          <a:p>
            <a:pPr marL="0" indent="0">
              <a:buNone/>
            </a:pPr>
            <a:r>
              <a:rPr lang="en-US" sz="3600" dirty="0">
                <a:solidFill>
                  <a:schemeClr val="accent2"/>
                </a:solidFill>
                <a:latin typeface="Times New Roman" panose="02020603050405020304" pitchFamily="18" charset="0"/>
                <a:cs typeface="Times New Roman" panose="02020603050405020304" pitchFamily="18" charset="0"/>
              </a:rPr>
              <a:t>The objective of a supply </a:t>
            </a:r>
            <a:r>
              <a:rPr lang="en-US" sz="3600" dirty="0" smtClean="0">
                <a:solidFill>
                  <a:schemeClr val="accent2"/>
                </a:solidFill>
                <a:latin typeface="Times New Roman" panose="02020603050405020304" pitchFamily="18" charset="0"/>
                <a:cs typeface="Times New Roman" panose="02020603050405020304" pitchFamily="18" charset="0"/>
              </a:rPr>
              <a:t>chain Management</a:t>
            </a:r>
          </a:p>
          <a:p>
            <a:pPr marL="457200" indent="-457200">
              <a:buFont typeface="Arial"/>
              <a:buChar char="•"/>
            </a:pPr>
            <a:r>
              <a:rPr lang="en-US" dirty="0" smtClean="0">
                <a:solidFill>
                  <a:srgbClr val="7030A0"/>
                </a:solidFill>
                <a:latin typeface="Times New Roman"/>
                <a:cs typeface="Times New Roman"/>
              </a:rPr>
              <a:t>Maximize </a:t>
            </a:r>
            <a:r>
              <a:rPr lang="en-US" dirty="0">
                <a:solidFill>
                  <a:srgbClr val="7030A0"/>
                </a:solidFill>
                <a:latin typeface="Times New Roman"/>
                <a:cs typeface="Times New Roman"/>
              </a:rPr>
              <a:t>overall value </a:t>
            </a:r>
            <a:r>
              <a:rPr lang="en-US" dirty="0" smtClean="0">
                <a:solidFill>
                  <a:srgbClr val="7030A0"/>
                </a:solidFill>
                <a:latin typeface="Times New Roman"/>
                <a:cs typeface="Times New Roman"/>
              </a:rPr>
              <a:t>created</a:t>
            </a:r>
          </a:p>
          <a:p>
            <a:pPr marL="0" indent="0">
              <a:buNone/>
            </a:pPr>
            <a:endParaRPr lang="en-US" dirty="0">
              <a:solidFill>
                <a:srgbClr val="7030A0"/>
              </a:solidFill>
              <a:latin typeface="Times New Roman"/>
              <a:cs typeface="Times New Roman"/>
            </a:endParaRPr>
          </a:p>
          <a:p>
            <a:pPr marL="457200" indent="-457200">
              <a:buFont typeface="Arial"/>
              <a:buChar char="•"/>
            </a:pPr>
            <a:r>
              <a:rPr lang="en-US" dirty="0">
                <a:solidFill>
                  <a:srgbClr val="7030A0"/>
                </a:solidFill>
                <a:latin typeface="Times New Roman"/>
                <a:cs typeface="Times New Roman"/>
              </a:rPr>
              <a:t>Supply chain value: difference between what the final product is worth to the customer and the effort the supply chain expands in filling the customers request</a:t>
            </a:r>
            <a:r>
              <a:rPr lang="en-US" dirty="0" smtClean="0">
                <a:solidFill>
                  <a:srgbClr val="7030A0"/>
                </a:solidFill>
                <a:latin typeface="Times New Roman"/>
                <a:cs typeface="Times New Roman"/>
              </a:rPr>
              <a:t>.</a:t>
            </a:r>
          </a:p>
          <a:p>
            <a:pPr marL="0" indent="0">
              <a:buNone/>
            </a:pPr>
            <a:endParaRPr lang="en-US" dirty="0">
              <a:solidFill>
                <a:srgbClr val="7030A0"/>
              </a:solidFill>
              <a:latin typeface="Times New Roman"/>
              <a:cs typeface="Times New Roman"/>
            </a:endParaRPr>
          </a:p>
          <a:p>
            <a:pPr marL="457200" indent="-457200">
              <a:buFont typeface="Arial"/>
              <a:buChar char="•"/>
            </a:pPr>
            <a:r>
              <a:rPr lang="en-US" dirty="0">
                <a:solidFill>
                  <a:srgbClr val="7030A0"/>
                </a:solidFill>
                <a:latin typeface="Times New Roman"/>
                <a:cs typeface="Times New Roman"/>
              </a:rPr>
              <a:t>Value is correlated with supply chain profitability( difference between revenue generated from customer and overall cost across the supply chain)</a:t>
            </a:r>
          </a:p>
          <a:p>
            <a:endParaRPr lang="en-IN" dirty="0">
              <a:solidFill>
                <a:srgbClr val="0070C0"/>
              </a:solidFill>
            </a:endParaRPr>
          </a:p>
        </p:txBody>
      </p:sp>
    </p:spTree>
    <p:extLst>
      <p:ext uri="{BB962C8B-B14F-4D97-AF65-F5344CB8AC3E}">
        <p14:creationId xmlns:p14="http://schemas.microsoft.com/office/powerpoint/2010/main" val="2394285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25630"/>
            <a:ext cx="11614067" cy="6412675"/>
          </a:xfrm>
        </p:spPr>
        <p:txBody>
          <a:bodyPr>
            <a:normAutofit/>
          </a:bodyPr>
          <a:lstStyle/>
          <a:p>
            <a:pPr lvl="1" algn="just">
              <a:buFont typeface="Arial"/>
              <a:buChar char="•"/>
            </a:pPr>
            <a:r>
              <a:rPr lang="en-US" sz="2800" dirty="0">
                <a:solidFill>
                  <a:srgbClr val="7030A0"/>
                </a:solidFill>
                <a:latin typeface="Times New Roman" panose="02020603050405020304" pitchFamily="18" charset="0"/>
                <a:cs typeface="Times New Roman" panose="02020603050405020304" pitchFamily="18" charset="0"/>
              </a:rPr>
              <a:t>Example: Micromax receives Rs. 10,000 from customer for mobile phone(Revenue).</a:t>
            </a:r>
          </a:p>
          <a:p>
            <a:pPr lvl="1" algn="just">
              <a:buFont typeface="Arial"/>
              <a:buChar char="•"/>
            </a:pPr>
            <a:r>
              <a:rPr lang="en-US" sz="2800" dirty="0">
                <a:solidFill>
                  <a:srgbClr val="7030A0"/>
                </a:solidFill>
                <a:latin typeface="Times New Roman" panose="02020603050405020304" pitchFamily="18" charset="0"/>
                <a:cs typeface="Times New Roman" panose="02020603050405020304" pitchFamily="18" charset="0"/>
              </a:rPr>
              <a:t>Supply chain incur costs( information, storage, transportation, components, assembly etc.)</a:t>
            </a:r>
          </a:p>
          <a:p>
            <a:pPr lvl="1" algn="just">
              <a:buFont typeface="Arial"/>
              <a:buChar char="•"/>
            </a:pPr>
            <a:r>
              <a:rPr lang="en-US" sz="2800" dirty="0">
                <a:solidFill>
                  <a:srgbClr val="7030A0"/>
                </a:solidFill>
                <a:latin typeface="Times New Roman" panose="02020603050405020304" pitchFamily="18" charset="0"/>
                <a:cs typeface="Times New Roman" panose="02020603050405020304" pitchFamily="18" charset="0"/>
              </a:rPr>
              <a:t>Difference between </a:t>
            </a:r>
            <a:r>
              <a:rPr lang="en-US" sz="2800" dirty="0" err="1">
                <a:solidFill>
                  <a:srgbClr val="7030A0"/>
                </a:solidFill>
                <a:latin typeface="Times New Roman" panose="02020603050405020304" pitchFamily="18" charset="0"/>
                <a:cs typeface="Times New Roman" panose="02020603050405020304" pitchFamily="18" charset="0"/>
              </a:rPr>
              <a:t>Rs</a:t>
            </a:r>
            <a:r>
              <a:rPr lang="en-US" sz="2800" dirty="0">
                <a:solidFill>
                  <a:srgbClr val="7030A0"/>
                </a:solidFill>
                <a:latin typeface="Times New Roman" panose="02020603050405020304" pitchFamily="18" charset="0"/>
                <a:cs typeface="Times New Roman" panose="02020603050405020304" pitchFamily="18" charset="0"/>
              </a:rPr>
              <a:t> 10,000 and the sum of all these costs is the supply chain profit.</a:t>
            </a:r>
          </a:p>
          <a:p>
            <a:pPr lvl="1" algn="just">
              <a:buFont typeface="Arial"/>
              <a:buChar char="•"/>
            </a:pPr>
            <a:r>
              <a:rPr lang="en-US" sz="2800" dirty="0">
                <a:solidFill>
                  <a:srgbClr val="7030A0"/>
                </a:solidFill>
                <a:latin typeface="Times New Roman" panose="02020603050405020304" pitchFamily="18" charset="0"/>
                <a:cs typeface="Times New Roman" panose="02020603050405020304" pitchFamily="18" charset="0"/>
              </a:rPr>
              <a:t>Supply chain profitability is total profit shared to be shared across all stages of supply chain.</a:t>
            </a:r>
          </a:p>
          <a:p>
            <a:pPr lvl="1" algn="just">
              <a:buFont typeface="Arial"/>
              <a:buChar char="•"/>
            </a:pPr>
            <a:r>
              <a:rPr lang="en-US" sz="2800" dirty="0">
                <a:solidFill>
                  <a:srgbClr val="7030A0"/>
                </a:solidFill>
                <a:latin typeface="Times New Roman" panose="02020603050405020304" pitchFamily="18" charset="0"/>
                <a:cs typeface="Times New Roman" panose="02020603050405020304" pitchFamily="18" charset="0"/>
              </a:rPr>
              <a:t>Supply chain success should be measured by total supply chain profitability, not profits at individual stage.</a:t>
            </a:r>
          </a:p>
          <a:p>
            <a:pPr marL="0" indent="0" algn="just">
              <a:buNone/>
            </a:pP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343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12618"/>
            <a:ext cx="11049000" cy="5664345"/>
          </a:xfrm>
        </p:spPr>
        <p:txBody>
          <a:bodyPr/>
          <a:lstStyle/>
          <a:p>
            <a:pPr algn="just">
              <a:buFont typeface="Wingdings" panose="05000000000000000000" pitchFamily="2" charset="2"/>
              <a:buNone/>
            </a:pPr>
            <a:r>
              <a:rPr lang="en-US" altLang="en-US" dirty="0">
                <a:solidFill>
                  <a:srgbClr val="CC0000"/>
                </a:solidFill>
                <a:latin typeface="Times New Roman" panose="02020603050405020304" pitchFamily="18" charset="0"/>
                <a:cs typeface="Times New Roman" panose="02020603050405020304" pitchFamily="18" charset="0"/>
              </a:rPr>
              <a:t>Supply Chain Management</a:t>
            </a:r>
            <a:r>
              <a:rPr lang="en-US" altLang="en-US" dirty="0">
                <a:latin typeface="Times New Roman" panose="02020603050405020304" pitchFamily="18" charset="0"/>
                <a:cs typeface="Times New Roman" panose="02020603050405020304" pitchFamily="18" charset="0"/>
              </a:rPr>
              <a:t> </a:t>
            </a:r>
            <a:r>
              <a:rPr lang="en-US" altLang="en-US" dirty="0">
                <a:solidFill>
                  <a:srgbClr val="7030A0"/>
                </a:solidFill>
                <a:latin typeface="Times New Roman" panose="02020603050405020304" pitchFamily="18" charset="0"/>
                <a:cs typeface="Times New Roman" panose="02020603050405020304" pitchFamily="18" charset="0"/>
              </a:rPr>
              <a:t>entails</a:t>
            </a:r>
            <a:r>
              <a:rPr lang="en-US" altLang="en-US" dirty="0" smtClean="0">
                <a:solidFill>
                  <a:srgbClr val="7030A0"/>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None/>
            </a:pPr>
            <a:endParaRPr lang="en-US" altLang="en-US" dirty="0">
              <a:solidFill>
                <a:srgbClr val="7030A0"/>
              </a:solidFill>
              <a:latin typeface="Times New Roman" panose="02020603050405020304" pitchFamily="18" charset="0"/>
              <a:cs typeface="Times New Roman" panose="02020603050405020304" pitchFamily="18" charset="0"/>
            </a:endParaRPr>
          </a:p>
          <a:p>
            <a:pPr lvl="1" algn="just"/>
            <a:r>
              <a:rPr lang="en-US" altLang="en-US" sz="2800" dirty="0">
                <a:solidFill>
                  <a:srgbClr val="7030A0"/>
                </a:solidFill>
                <a:latin typeface="Times New Roman" panose="02020603050405020304" pitchFamily="18" charset="0"/>
                <a:cs typeface="Times New Roman" panose="02020603050405020304" pitchFamily="18" charset="0"/>
              </a:rPr>
              <a:t>Making decisions regarding the structure of the supply </a:t>
            </a:r>
            <a:r>
              <a:rPr lang="en-US" altLang="en-US" sz="2800" dirty="0" smtClean="0">
                <a:solidFill>
                  <a:srgbClr val="7030A0"/>
                </a:solidFill>
                <a:latin typeface="Times New Roman" panose="02020603050405020304" pitchFamily="18" charset="0"/>
                <a:cs typeface="Times New Roman" panose="02020603050405020304" pitchFamily="18" charset="0"/>
              </a:rPr>
              <a:t>chain</a:t>
            </a:r>
          </a:p>
          <a:p>
            <a:pPr marL="457200" lvl="1" indent="0" algn="just">
              <a:buNone/>
            </a:pPr>
            <a:endParaRPr lang="en-US" altLang="en-US" sz="2800" dirty="0">
              <a:solidFill>
                <a:srgbClr val="7030A0"/>
              </a:solidFill>
              <a:latin typeface="Times New Roman" panose="02020603050405020304" pitchFamily="18" charset="0"/>
              <a:cs typeface="Times New Roman" panose="02020603050405020304" pitchFamily="18" charset="0"/>
            </a:endParaRPr>
          </a:p>
          <a:p>
            <a:pPr lvl="1" algn="just"/>
            <a:r>
              <a:rPr lang="en-US" altLang="en-US" sz="2800" dirty="0">
                <a:solidFill>
                  <a:srgbClr val="7030A0"/>
                </a:solidFill>
                <a:latin typeface="Times New Roman" panose="02020603050405020304" pitchFamily="18" charset="0"/>
                <a:cs typeface="Times New Roman" panose="02020603050405020304" pitchFamily="18" charset="0"/>
              </a:rPr>
              <a:t>Coordinating the movement of goods and delivery of </a:t>
            </a:r>
            <a:r>
              <a:rPr lang="en-US" altLang="en-US" sz="2800" dirty="0" smtClean="0">
                <a:solidFill>
                  <a:srgbClr val="7030A0"/>
                </a:solidFill>
                <a:latin typeface="Times New Roman" panose="02020603050405020304" pitchFamily="18" charset="0"/>
                <a:cs typeface="Times New Roman" panose="02020603050405020304" pitchFamily="18" charset="0"/>
              </a:rPr>
              <a:t>services</a:t>
            </a:r>
          </a:p>
          <a:p>
            <a:pPr marL="457200" lvl="1" indent="0" algn="just">
              <a:buNone/>
            </a:pPr>
            <a:endParaRPr lang="en-US" altLang="en-US" sz="2800" dirty="0">
              <a:solidFill>
                <a:srgbClr val="7030A0"/>
              </a:solidFill>
              <a:latin typeface="Times New Roman" panose="02020603050405020304" pitchFamily="18" charset="0"/>
              <a:cs typeface="Times New Roman" panose="02020603050405020304" pitchFamily="18" charset="0"/>
            </a:endParaRPr>
          </a:p>
          <a:p>
            <a:pPr lvl="1" algn="just"/>
            <a:r>
              <a:rPr lang="en-US" altLang="en-US" sz="2800" dirty="0">
                <a:solidFill>
                  <a:srgbClr val="7030A0"/>
                </a:solidFill>
                <a:latin typeface="Times New Roman" panose="02020603050405020304" pitchFamily="18" charset="0"/>
                <a:cs typeface="Times New Roman" panose="02020603050405020304" pitchFamily="18" charset="0"/>
              </a:rPr>
              <a:t>Sharing information between members of the supply chain. </a:t>
            </a:r>
          </a:p>
          <a:p>
            <a:endParaRPr lang="en-IN" dirty="0">
              <a:solidFill>
                <a:srgbClr val="7030A0"/>
              </a:solidFill>
            </a:endParaRPr>
          </a:p>
        </p:txBody>
      </p:sp>
    </p:spTree>
    <p:extLst>
      <p:ext uri="{BB962C8B-B14F-4D97-AF65-F5344CB8AC3E}">
        <p14:creationId xmlns:p14="http://schemas.microsoft.com/office/powerpoint/2010/main" val="3595982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83127"/>
            <a:ext cx="11732821" cy="5957455"/>
          </a:xfrm>
        </p:spPr>
        <p:txBody>
          <a:bodyPr>
            <a:normAutofit/>
          </a:bodyPr>
          <a:lstStyle/>
          <a:p>
            <a:pPr marL="0" indent="0">
              <a:buNone/>
            </a:pPr>
            <a:r>
              <a:rPr lang="en-US" sz="3600" dirty="0">
                <a:solidFill>
                  <a:schemeClr val="accent2"/>
                </a:solidFill>
                <a:latin typeface="Times New Roman" panose="02020603050405020304" pitchFamily="18" charset="0"/>
                <a:cs typeface="Times New Roman" panose="02020603050405020304" pitchFamily="18" charset="0"/>
              </a:rPr>
              <a:t>Evolution of supply chain  </a:t>
            </a:r>
            <a:r>
              <a:rPr lang="en-US" sz="3600" dirty="0" smtClean="0">
                <a:solidFill>
                  <a:schemeClr val="accent2"/>
                </a:solidFill>
                <a:latin typeface="Times New Roman" panose="02020603050405020304" pitchFamily="18" charset="0"/>
                <a:cs typeface="Times New Roman" panose="02020603050405020304" pitchFamily="18" charset="0"/>
              </a:rPr>
              <a:t>management</a:t>
            </a: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The first revolution(Beginning of 20</a:t>
            </a:r>
            <a:r>
              <a:rPr lang="en-US" baseline="30000" dirty="0">
                <a:solidFill>
                  <a:srgbClr val="7030A0"/>
                </a:solidFill>
                <a:latin typeface="Times New Roman"/>
                <a:cs typeface="Times New Roman"/>
              </a:rPr>
              <a:t>th</a:t>
            </a:r>
            <a:r>
              <a:rPr lang="en-US" dirty="0">
                <a:solidFill>
                  <a:srgbClr val="7030A0"/>
                </a:solidFill>
                <a:latin typeface="Times New Roman"/>
                <a:cs typeface="Times New Roman"/>
              </a:rPr>
              <a:t> century)</a:t>
            </a:r>
          </a:p>
          <a:p>
            <a:pPr marL="0" marR="0" indent="0" algn="just">
              <a:lnSpc>
                <a:spcPct val="100000"/>
              </a:lnSpc>
              <a:spcBef>
                <a:spcPct val="20000"/>
              </a:spcBef>
              <a:spcAft>
                <a:spcPct val="0"/>
              </a:spcAft>
              <a:buNone/>
            </a:pPr>
            <a:r>
              <a:rPr lang="en-US" dirty="0">
                <a:solidFill>
                  <a:srgbClr val="7030A0"/>
                </a:solidFill>
                <a:latin typeface="Times New Roman"/>
                <a:cs typeface="Times New Roman"/>
              </a:rPr>
              <a:t>       -The Ford supply </a:t>
            </a:r>
            <a:r>
              <a:rPr lang="en-US" dirty="0" smtClean="0">
                <a:solidFill>
                  <a:srgbClr val="7030A0"/>
                </a:solidFill>
                <a:latin typeface="Times New Roman"/>
                <a:cs typeface="Times New Roman"/>
              </a:rPr>
              <a:t>chain</a:t>
            </a:r>
          </a:p>
          <a:p>
            <a:pPr marL="0" marR="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The second Revolution (Around 1960s)</a:t>
            </a:r>
          </a:p>
          <a:p>
            <a:pPr marL="0" marR="0" indent="0" algn="just">
              <a:lnSpc>
                <a:spcPct val="100000"/>
              </a:lnSpc>
              <a:spcBef>
                <a:spcPct val="20000"/>
              </a:spcBef>
              <a:spcAft>
                <a:spcPct val="0"/>
              </a:spcAft>
              <a:buNone/>
            </a:pPr>
            <a:r>
              <a:rPr lang="en-US" dirty="0">
                <a:solidFill>
                  <a:srgbClr val="7030A0"/>
                </a:solidFill>
                <a:latin typeface="Times New Roman"/>
                <a:cs typeface="Times New Roman"/>
              </a:rPr>
              <a:t>          -The Toyota supply </a:t>
            </a:r>
            <a:r>
              <a:rPr lang="en-US" dirty="0" smtClean="0">
                <a:solidFill>
                  <a:srgbClr val="7030A0"/>
                </a:solidFill>
                <a:latin typeface="Times New Roman"/>
                <a:cs typeface="Times New Roman"/>
              </a:rPr>
              <a:t>chain</a:t>
            </a:r>
          </a:p>
          <a:p>
            <a:pPr marL="0" marR="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The third revolution (Around 1995)</a:t>
            </a:r>
          </a:p>
          <a:p>
            <a:pPr marL="0" marR="0" indent="0" algn="just">
              <a:lnSpc>
                <a:spcPct val="100000"/>
              </a:lnSpc>
              <a:spcBef>
                <a:spcPct val="20000"/>
              </a:spcBef>
              <a:spcAft>
                <a:spcPct val="0"/>
              </a:spcAft>
              <a:buNone/>
            </a:pPr>
            <a:r>
              <a:rPr lang="en-US" dirty="0">
                <a:solidFill>
                  <a:srgbClr val="7030A0"/>
                </a:solidFill>
                <a:latin typeface="Times New Roman"/>
                <a:cs typeface="Times New Roman"/>
              </a:rPr>
              <a:t>        -The Dell supply chain</a:t>
            </a:r>
          </a:p>
          <a:p>
            <a:pPr marL="0" indent="0">
              <a:buNone/>
            </a:pP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925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211" y="387927"/>
            <a:ext cx="11240589" cy="5789036"/>
          </a:xfrm>
        </p:spPr>
        <p:txBody>
          <a:bodyPr/>
          <a:lstStyle/>
          <a:p>
            <a:pPr marL="0" indent="0">
              <a:buNone/>
            </a:pPr>
            <a:r>
              <a:rPr lang="en-US" sz="3600" dirty="0" smtClean="0">
                <a:solidFill>
                  <a:srgbClr val="C00000"/>
                </a:solidFill>
                <a:latin typeface="Times New Roman" panose="02020603050405020304" pitchFamily="18" charset="0"/>
                <a:cs typeface="Times New Roman" panose="02020603050405020304" pitchFamily="18" charset="0"/>
              </a:rPr>
              <a:t>Typical Supply chain</a:t>
            </a:r>
          </a:p>
          <a:p>
            <a:pPr marL="0" indent="0">
              <a:buNone/>
            </a:pPr>
            <a:r>
              <a:rPr lang="en-US" sz="3600" dirty="0">
                <a:latin typeface="Times New Roman" panose="02020603050405020304" pitchFamily="18" charset="0"/>
                <a:cs typeface="Times New Roman" panose="02020603050405020304" pitchFamily="18" charset="0"/>
              </a:rPr>
              <a:t> </a:t>
            </a:r>
            <a:endParaRPr lang="en-US" sz="3600" dirty="0" smtClean="0">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External suppliers-----Internal Functions---External distributors</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191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360218"/>
            <a:ext cx="10988040" cy="5816745"/>
          </a:xfrm>
        </p:spPr>
        <p:txBody>
          <a:bodyPr/>
          <a:lstStyle/>
          <a:p>
            <a:pPr marL="0" indent="0">
              <a:buNone/>
            </a:pPr>
            <a:r>
              <a:rPr lang="en-US" altLang="en-US" sz="3600" dirty="0">
                <a:solidFill>
                  <a:srgbClr val="C00000"/>
                </a:solidFill>
                <a:latin typeface="Times New Roman" panose="02020603050405020304" pitchFamily="18" charset="0"/>
                <a:ea typeface="+mj-ea"/>
                <a:cs typeface="Times New Roman" panose="02020603050405020304" pitchFamily="18" charset="0"/>
              </a:rPr>
              <a:t>External </a:t>
            </a:r>
            <a:r>
              <a:rPr lang="en-US" altLang="en-US" sz="3600" dirty="0" smtClean="0">
                <a:solidFill>
                  <a:srgbClr val="C00000"/>
                </a:solidFill>
                <a:latin typeface="Times New Roman" panose="02020603050405020304" pitchFamily="18" charset="0"/>
                <a:ea typeface="+mj-ea"/>
                <a:cs typeface="Times New Roman" panose="02020603050405020304" pitchFamily="18" charset="0"/>
              </a:rPr>
              <a:t>Suppliers</a:t>
            </a:r>
          </a:p>
          <a:p>
            <a:r>
              <a:rPr lang="en-US" altLang="en-US" dirty="0">
                <a:solidFill>
                  <a:srgbClr val="7030A0"/>
                </a:solidFill>
                <a:latin typeface="Times New Roman" panose="02020603050405020304" pitchFamily="18" charset="0"/>
                <a:cs typeface="Times New Roman" panose="02020603050405020304" pitchFamily="18" charset="0"/>
              </a:rPr>
              <a:t>External suppliers provide the necessary raw materials, services, and component parts.</a:t>
            </a:r>
          </a:p>
          <a:p>
            <a:r>
              <a:rPr lang="en-US" altLang="en-US" dirty="0">
                <a:solidFill>
                  <a:srgbClr val="7030A0"/>
                </a:solidFill>
                <a:latin typeface="Times New Roman" panose="02020603050405020304" pitchFamily="18" charset="0"/>
                <a:cs typeface="Times New Roman" panose="02020603050405020304" pitchFamily="18" charset="0"/>
              </a:rPr>
              <a:t>Purchased materials &amp; services frequently represent 50% (or more) of the costs of goods sold.</a:t>
            </a:r>
          </a:p>
          <a:p>
            <a:r>
              <a:rPr lang="en-US" altLang="en-US" dirty="0">
                <a:solidFill>
                  <a:srgbClr val="7030A0"/>
                </a:solidFill>
                <a:latin typeface="Times New Roman" panose="02020603050405020304" pitchFamily="18" charset="0"/>
                <a:cs typeface="Times New Roman" panose="02020603050405020304" pitchFamily="18" charset="0"/>
              </a:rPr>
              <a:t>Suppliers are frequently members of several supply chains – often in different roles.</a:t>
            </a:r>
          </a:p>
          <a:p>
            <a:pPr marL="0" indent="0">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8539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5636"/>
            <a:ext cx="10515600" cy="5761327"/>
          </a:xfrm>
        </p:spPr>
        <p:txBody>
          <a:bodyPr>
            <a:normAutofit/>
          </a:bodyPr>
          <a:lstStyle/>
          <a:p>
            <a:pPr marL="0" indent="0" algn="just">
              <a:buNone/>
            </a:pPr>
            <a:r>
              <a:rPr lang="en-US" altLang="en-US" dirty="0">
                <a:solidFill>
                  <a:srgbClr val="C00000"/>
                </a:solidFill>
                <a:latin typeface="Times New Roman" panose="02020603050405020304" pitchFamily="18" charset="0"/>
                <a:cs typeface="Times New Roman" panose="02020603050405020304" pitchFamily="18" charset="0"/>
              </a:rPr>
              <a:t>Tier one suppliers:</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Directly supplies materials or services to the firm that does business with the final customer </a:t>
            </a:r>
          </a:p>
          <a:p>
            <a:pPr marL="0" indent="0" algn="just">
              <a:buNone/>
            </a:pPr>
            <a:r>
              <a:rPr lang="en-US" altLang="en-US" dirty="0">
                <a:solidFill>
                  <a:srgbClr val="C00000"/>
                </a:solidFill>
                <a:latin typeface="Times New Roman" panose="02020603050405020304" pitchFamily="18" charset="0"/>
                <a:cs typeface="Times New Roman" panose="02020603050405020304" pitchFamily="18" charset="0"/>
              </a:rPr>
              <a:t>Tier two suppliers:</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Provides materials or services to tier one suppliers</a:t>
            </a:r>
          </a:p>
          <a:p>
            <a:pPr marL="0" indent="0" algn="just">
              <a:buNone/>
            </a:pPr>
            <a:r>
              <a:rPr lang="en-US" altLang="en-US" dirty="0">
                <a:solidFill>
                  <a:srgbClr val="C00000"/>
                </a:solidFill>
                <a:latin typeface="Times New Roman" panose="02020603050405020304" pitchFamily="18" charset="0"/>
                <a:cs typeface="Times New Roman" panose="02020603050405020304" pitchFamily="18" charset="0"/>
              </a:rPr>
              <a:t>Tier three suppliers:</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Providers materials or services to tier two suppliers</a:t>
            </a:r>
          </a:p>
          <a:p>
            <a:pPr algn="just"/>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0288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5636"/>
            <a:ext cx="10515600" cy="5761327"/>
          </a:xfrm>
        </p:spPr>
        <p:txBody>
          <a:bodyPr/>
          <a:lstStyle/>
          <a:p>
            <a:pPr marL="0" indent="0">
              <a:buNone/>
            </a:pPr>
            <a:r>
              <a:rPr lang="en-US" altLang="en-US" sz="3200" dirty="0">
                <a:solidFill>
                  <a:srgbClr val="C00000"/>
                </a:solidFill>
                <a:latin typeface="Times New Roman" panose="02020603050405020304" pitchFamily="18" charset="0"/>
                <a:cs typeface="Times New Roman" panose="02020603050405020304" pitchFamily="18" charset="0"/>
              </a:rPr>
              <a:t>Internal </a:t>
            </a:r>
            <a:r>
              <a:rPr lang="en-US" altLang="en-US" sz="3200" dirty="0" smtClean="0">
                <a:solidFill>
                  <a:srgbClr val="C00000"/>
                </a:solidFill>
                <a:latin typeface="Times New Roman" panose="02020603050405020304" pitchFamily="18" charset="0"/>
                <a:cs typeface="Times New Roman" panose="02020603050405020304" pitchFamily="18" charset="0"/>
              </a:rPr>
              <a:t>Functions</a:t>
            </a:r>
          </a:p>
          <a:p>
            <a:pPr marL="0" indent="0">
              <a:buNone/>
            </a:pPr>
            <a:r>
              <a:rPr lang="en-US" altLang="en-US" dirty="0">
                <a:solidFill>
                  <a:srgbClr val="7030A0"/>
                </a:solidFill>
                <a:latin typeface="Times New Roman" panose="02020603050405020304" pitchFamily="18" charset="0"/>
                <a:cs typeface="Times New Roman" panose="02020603050405020304" pitchFamily="18" charset="0"/>
              </a:rPr>
              <a:t>Vary by industry &amp; firm, but might include:</a:t>
            </a:r>
          </a:p>
          <a:p>
            <a:pPr lvl="1"/>
            <a:r>
              <a:rPr lang="en-US" altLang="en-US" dirty="0">
                <a:solidFill>
                  <a:srgbClr val="7030A0"/>
                </a:solidFill>
                <a:latin typeface="Times New Roman" panose="02020603050405020304" pitchFamily="18" charset="0"/>
                <a:cs typeface="Times New Roman" panose="02020603050405020304" pitchFamily="18" charset="0"/>
              </a:rPr>
              <a:t>Processing</a:t>
            </a:r>
          </a:p>
          <a:p>
            <a:pPr lvl="1"/>
            <a:r>
              <a:rPr lang="en-US" altLang="en-US" dirty="0">
                <a:solidFill>
                  <a:srgbClr val="7030A0"/>
                </a:solidFill>
                <a:latin typeface="Times New Roman" panose="02020603050405020304" pitchFamily="18" charset="0"/>
                <a:cs typeface="Times New Roman" panose="02020603050405020304" pitchFamily="18" charset="0"/>
              </a:rPr>
              <a:t>Purchasing</a:t>
            </a:r>
          </a:p>
          <a:p>
            <a:pPr lvl="1"/>
            <a:r>
              <a:rPr lang="en-US" altLang="en-US" dirty="0">
                <a:solidFill>
                  <a:srgbClr val="7030A0"/>
                </a:solidFill>
                <a:latin typeface="Times New Roman" panose="02020603050405020304" pitchFamily="18" charset="0"/>
                <a:cs typeface="Times New Roman" panose="02020603050405020304" pitchFamily="18" charset="0"/>
              </a:rPr>
              <a:t>Production Planning &amp; Control</a:t>
            </a:r>
          </a:p>
          <a:p>
            <a:pPr lvl="1"/>
            <a:r>
              <a:rPr lang="en-US" altLang="en-US" dirty="0">
                <a:solidFill>
                  <a:srgbClr val="7030A0"/>
                </a:solidFill>
                <a:latin typeface="Times New Roman" panose="02020603050405020304" pitchFamily="18" charset="0"/>
                <a:cs typeface="Times New Roman" panose="02020603050405020304" pitchFamily="18" charset="0"/>
              </a:rPr>
              <a:t>Quality Assurance</a:t>
            </a:r>
          </a:p>
          <a:p>
            <a:pPr lvl="1"/>
            <a:r>
              <a:rPr lang="en-US" altLang="en-US" dirty="0">
                <a:solidFill>
                  <a:srgbClr val="7030A0"/>
                </a:solidFill>
                <a:latin typeface="Times New Roman" panose="02020603050405020304" pitchFamily="18" charset="0"/>
                <a:cs typeface="Times New Roman" panose="02020603050405020304" pitchFamily="18" charset="0"/>
              </a:rPr>
              <a:t>Shipping</a:t>
            </a:r>
          </a:p>
          <a:p>
            <a:pPr marL="0" indent="0">
              <a:buNone/>
            </a:pPr>
            <a:endParaRPr lang="en-IN" dirty="0"/>
          </a:p>
        </p:txBody>
      </p:sp>
    </p:spTree>
    <p:extLst>
      <p:ext uri="{BB962C8B-B14F-4D97-AF65-F5344CB8AC3E}">
        <p14:creationId xmlns:p14="http://schemas.microsoft.com/office/powerpoint/2010/main" val="3074487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091" y="346364"/>
            <a:ext cx="11057709" cy="5830599"/>
          </a:xfrm>
        </p:spPr>
        <p:txBody>
          <a:bodyPr/>
          <a:lstStyle/>
          <a:p>
            <a:pPr marL="0" indent="0">
              <a:buNone/>
            </a:pPr>
            <a:r>
              <a:rPr lang="en-US" altLang="en-US" dirty="0">
                <a:solidFill>
                  <a:srgbClr val="C00000"/>
                </a:solidFill>
                <a:latin typeface="Times New Roman" panose="02020603050405020304" pitchFamily="18" charset="0"/>
                <a:cs typeface="Times New Roman" panose="02020603050405020304" pitchFamily="18" charset="0"/>
              </a:rPr>
              <a:t>Logistics &amp; </a:t>
            </a:r>
            <a:r>
              <a:rPr lang="en-US" altLang="en-US" dirty="0" smtClean="0">
                <a:solidFill>
                  <a:srgbClr val="C00000"/>
                </a:solidFill>
                <a:latin typeface="Times New Roman" panose="02020603050405020304" pitchFamily="18" charset="0"/>
                <a:cs typeface="Times New Roman" panose="02020603050405020304" pitchFamily="18" charset="0"/>
              </a:rPr>
              <a:t>Distribution</a:t>
            </a:r>
          </a:p>
          <a:p>
            <a:pPr marL="0" indent="0" algn="just">
              <a:buNone/>
            </a:pPr>
            <a:r>
              <a:rPr lang="en-US" altLang="en-US" dirty="0">
                <a:solidFill>
                  <a:srgbClr val="C00000"/>
                </a:solidFill>
                <a:latin typeface="Times New Roman" panose="02020603050405020304" pitchFamily="18" charset="0"/>
                <a:cs typeface="Times New Roman" panose="02020603050405020304" pitchFamily="18" charset="0"/>
              </a:rPr>
              <a:t>Logistics: </a:t>
            </a:r>
            <a:r>
              <a:rPr lang="en-US" altLang="en-US" dirty="0">
                <a:solidFill>
                  <a:srgbClr val="7030A0"/>
                </a:solidFill>
                <a:latin typeface="Times New Roman" panose="02020603050405020304" pitchFamily="18" charset="0"/>
                <a:cs typeface="Times New Roman" panose="02020603050405020304" pitchFamily="18" charset="0"/>
              </a:rPr>
              <a:t>getting the right material to the right place at the right time in the right quantity:</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Traffic Management: </a:t>
            </a:r>
          </a:p>
          <a:p>
            <a:pPr lvl="2" algn="just"/>
            <a:r>
              <a:rPr lang="en-US" altLang="en-US" sz="2800" dirty="0">
                <a:solidFill>
                  <a:srgbClr val="7030A0"/>
                </a:solidFill>
                <a:latin typeface="Times New Roman" panose="02020603050405020304" pitchFamily="18" charset="0"/>
                <a:cs typeface="Times New Roman" panose="02020603050405020304" pitchFamily="18" charset="0"/>
              </a:rPr>
              <a:t>The selection, scheduling &amp; control of carriers (e.g.: trucks &amp; rail) for both incoming &amp; outgoing materials &amp; products </a:t>
            </a:r>
          </a:p>
          <a:p>
            <a:pPr marL="914400" lvl="2" indent="0" algn="just">
              <a:buNone/>
            </a:pPr>
            <a:r>
              <a:rPr lang="en-US" altLang="en-US" sz="2800" dirty="0" smtClean="0">
                <a:solidFill>
                  <a:srgbClr val="C00000"/>
                </a:solidFill>
                <a:latin typeface="Times New Roman" panose="02020603050405020304" pitchFamily="18" charset="0"/>
                <a:cs typeface="Times New Roman" panose="02020603050405020304" pitchFamily="18" charset="0"/>
              </a:rPr>
              <a:t>Distribution </a:t>
            </a:r>
            <a:r>
              <a:rPr lang="en-US" altLang="en-US" sz="2800" dirty="0">
                <a:solidFill>
                  <a:srgbClr val="C00000"/>
                </a:solidFill>
                <a:latin typeface="Times New Roman" panose="02020603050405020304" pitchFamily="18" charset="0"/>
                <a:cs typeface="Times New Roman" panose="02020603050405020304" pitchFamily="18" charset="0"/>
              </a:rPr>
              <a:t>Management: </a:t>
            </a:r>
          </a:p>
          <a:p>
            <a:pPr lvl="2" algn="just"/>
            <a:r>
              <a:rPr lang="en-US" altLang="en-US" sz="2800" dirty="0">
                <a:solidFill>
                  <a:srgbClr val="7030A0"/>
                </a:solidFill>
                <a:latin typeface="Times New Roman" panose="02020603050405020304" pitchFamily="18" charset="0"/>
                <a:cs typeface="Times New Roman" panose="02020603050405020304" pitchFamily="18" charset="0"/>
              </a:rPr>
              <a:t>The packaging, storing &amp; handling of products in transit to the end-user.</a:t>
            </a: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017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046" y="457200"/>
            <a:ext cx="11205754" cy="5719763"/>
          </a:xfrm>
        </p:spPr>
        <p:txBody>
          <a:bodyPr/>
          <a:lstStyle/>
          <a:p>
            <a:pPr marL="0" indent="0">
              <a:buNone/>
            </a:pPr>
            <a:r>
              <a:rPr lang="en-US" altLang="en-US" sz="3200" dirty="0">
                <a:solidFill>
                  <a:srgbClr val="C00000"/>
                </a:solidFill>
                <a:latin typeface="Times New Roman" panose="02020603050405020304" pitchFamily="18" charset="0"/>
                <a:cs typeface="Times New Roman" panose="02020603050405020304" pitchFamily="18" charset="0"/>
              </a:rPr>
              <a:t>Vertical </a:t>
            </a:r>
            <a:r>
              <a:rPr lang="en-US" altLang="en-US" sz="3200" dirty="0" smtClean="0">
                <a:solidFill>
                  <a:srgbClr val="C00000"/>
                </a:solidFill>
                <a:latin typeface="Times New Roman" panose="02020603050405020304" pitchFamily="18" charset="0"/>
                <a:cs typeface="Times New Roman" panose="02020603050405020304" pitchFamily="18" charset="0"/>
              </a:rPr>
              <a:t>Integration</a:t>
            </a:r>
          </a:p>
          <a:p>
            <a:pPr algn="just"/>
            <a:r>
              <a:rPr lang="en-US" altLang="en-US" dirty="0">
                <a:solidFill>
                  <a:srgbClr val="7030A0"/>
                </a:solidFill>
                <a:latin typeface="Times New Roman" panose="02020603050405020304" pitchFamily="18" charset="0"/>
                <a:cs typeface="Times New Roman" panose="02020603050405020304" pitchFamily="18" charset="0"/>
              </a:rPr>
              <a:t>A measure of how much of the supply chain is controlled by the manufacturer.</a:t>
            </a:r>
          </a:p>
          <a:p>
            <a:pPr lvl="1" algn="just"/>
            <a:r>
              <a:rPr lang="en-US" altLang="en-US" dirty="0">
                <a:solidFill>
                  <a:srgbClr val="7030A0"/>
                </a:solidFill>
                <a:latin typeface="Times New Roman" panose="02020603050405020304" pitchFamily="18" charset="0"/>
                <a:cs typeface="Times New Roman" panose="02020603050405020304" pitchFamily="18" charset="0"/>
              </a:rPr>
              <a:t>Backward integration: </a:t>
            </a:r>
          </a:p>
          <a:p>
            <a:pPr lvl="2" algn="just"/>
            <a:r>
              <a:rPr lang="en-US" altLang="en-US" dirty="0">
                <a:solidFill>
                  <a:srgbClr val="7030A0"/>
                </a:solidFill>
                <a:latin typeface="Times New Roman" panose="02020603050405020304" pitchFamily="18" charset="0"/>
                <a:cs typeface="Times New Roman" panose="02020603050405020304" pitchFamily="18" charset="0"/>
              </a:rPr>
              <a:t>Acquiring control of raw material suppliers.</a:t>
            </a:r>
          </a:p>
          <a:p>
            <a:pPr lvl="1" algn="just"/>
            <a:r>
              <a:rPr lang="en-US" altLang="en-US" dirty="0">
                <a:solidFill>
                  <a:srgbClr val="7030A0"/>
                </a:solidFill>
                <a:latin typeface="Times New Roman" panose="02020603050405020304" pitchFamily="18" charset="0"/>
                <a:cs typeface="Times New Roman" panose="02020603050405020304" pitchFamily="18" charset="0"/>
              </a:rPr>
              <a:t>Forward integration: </a:t>
            </a:r>
          </a:p>
          <a:p>
            <a:pPr lvl="2" algn="just"/>
            <a:r>
              <a:rPr lang="en-US" altLang="en-US" dirty="0">
                <a:solidFill>
                  <a:srgbClr val="7030A0"/>
                </a:solidFill>
                <a:latin typeface="Times New Roman" panose="02020603050405020304" pitchFamily="18" charset="0"/>
                <a:cs typeface="Times New Roman" panose="02020603050405020304" pitchFamily="18" charset="0"/>
              </a:rPr>
              <a:t>Acquiring control of distribution channels.</a:t>
            </a:r>
          </a:p>
          <a:p>
            <a:endParaRPr lang="en-IN" dirty="0"/>
          </a:p>
        </p:txBody>
      </p:sp>
    </p:spTree>
    <p:extLst>
      <p:ext uri="{BB962C8B-B14F-4D97-AF65-F5344CB8AC3E}">
        <p14:creationId xmlns:p14="http://schemas.microsoft.com/office/powerpoint/2010/main" val="389168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782"/>
            <a:ext cx="10515600" cy="5775181"/>
          </a:xfrm>
        </p:spPr>
        <p:txBody>
          <a:bodyPr/>
          <a:lstStyle/>
          <a:p>
            <a:pPr marL="0" indent="0">
              <a:buNone/>
            </a:pPr>
            <a:r>
              <a:rPr lang="en-US" altLang="en-US" sz="3600" dirty="0" smtClean="0">
                <a:solidFill>
                  <a:srgbClr val="C00000"/>
                </a:solidFill>
                <a:latin typeface="Times New Roman" panose="02020603050405020304" pitchFamily="18" charset="0"/>
                <a:cs typeface="Times New Roman" panose="02020603050405020304" pitchFamily="18" charset="0"/>
              </a:rPr>
              <a:t>Outsourcing</a:t>
            </a:r>
          </a:p>
          <a:p>
            <a:r>
              <a:rPr lang="en-US" altLang="en-US" dirty="0">
                <a:solidFill>
                  <a:srgbClr val="7030A0"/>
                </a:solidFill>
                <a:latin typeface="Times New Roman" panose="02020603050405020304" pitchFamily="18" charset="0"/>
                <a:cs typeface="Times New Roman" panose="02020603050405020304" pitchFamily="18" charset="0"/>
              </a:rPr>
              <a:t>Entails paying third-party suppliers to provide raw materials and services, rather than making them in-house</a:t>
            </a:r>
            <a:r>
              <a:rPr lang="en-US" altLang="en-US" dirty="0" smtClean="0">
                <a:solidFill>
                  <a:srgbClr val="7030A0"/>
                </a:solidFill>
                <a:latin typeface="Times New Roman" panose="02020603050405020304" pitchFamily="18" charset="0"/>
                <a:cs typeface="Times New Roman" panose="02020603050405020304" pitchFamily="18" charset="0"/>
              </a:rPr>
              <a:t>.</a:t>
            </a:r>
          </a:p>
          <a:p>
            <a:pPr marL="0" indent="0">
              <a:buNone/>
            </a:pPr>
            <a:endParaRPr lang="en-US" altLang="en-US" dirty="0">
              <a:solidFill>
                <a:srgbClr val="7030A0"/>
              </a:solidFill>
              <a:latin typeface="Times New Roman" panose="02020603050405020304" pitchFamily="18" charset="0"/>
              <a:cs typeface="Times New Roman" panose="02020603050405020304" pitchFamily="18" charset="0"/>
            </a:endParaRPr>
          </a:p>
          <a:p>
            <a:r>
              <a:rPr lang="en-US" altLang="en-US" dirty="0">
                <a:solidFill>
                  <a:srgbClr val="7030A0"/>
                </a:solidFill>
                <a:latin typeface="Times New Roman" panose="02020603050405020304" pitchFamily="18" charset="0"/>
                <a:cs typeface="Times New Roman" panose="02020603050405020304" pitchFamily="18" charset="0"/>
              </a:rPr>
              <a:t>Outsourcing is increasing as many firms try to focus their internal operations on what they do best.</a:t>
            </a:r>
          </a:p>
          <a:p>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650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8764"/>
            <a:ext cx="10515600" cy="5678199"/>
          </a:xfrm>
        </p:spPr>
        <p:txBody>
          <a:bodyPr/>
          <a:lstStyle/>
          <a:p>
            <a:pPr marL="0" indent="0">
              <a:buNone/>
            </a:pPr>
            <a:r>
              <a:rPr lang="en-US" altLang="en-US" sz="3600" dirty="0">
                <a:solidFill>
                  <a:srgbClr val="C00000"/>
                </a:solidFill>
                <a:latin typeface="Times New Roman" panose="02020603050405020304" pitchFamily="18" charset="0"/>
                <a:cs typeface="Times New Roman" panose="02020603050405020304" pitchFamily="18" charset="0"/>
              </a:rPr>
              <a:t>Partnering with </a:t>
            </a:r>
            <a:r>
              <a:rPr lang="en-US" altLang="en-US" sz="3600" dirty="0" smtClean="0">
                <a:solidFill>
                  <a:srgbClr val="C00000"/>
                </a:solidFill>
                <a:latin typeface="Times New Roman" panose="02020603050405020304" pitchFamily="18" charset="0"/>
                <a:cs typeface="Times New Roman" panose="02020603050405020304" pitchFamily="18" charset="0"/>
              </a:rPr>
              <a:t>Suppliers</a:t>
            </a:r>
          </a:p>
          <a:p>
            <a:pPr algn="just"/>
            <a:r>
              <a:rPr lang="en-US" altLang="en-US" dirty="0">
                <a:solidFill>
                  <a:srgbClr val="7030A0"/>
                </a:solidFill>
                <a:latin typeface="Times New Roman" panose="02020603050405020304" pitchFamily="18" charset="0"/>
                <a:cs typeface="Times New Roman" panose="02020603050405020304" pitchFamily="18" charset="0"/>
              </a:rPr>
              <a:t>Involves developing a long-term, mutually-beneficial relationship:</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Requires trust to share information, risk, opportunities, &amp; investing in compatible technology</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Work together to reduce waste and inefficiency &amp; develop new products</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Agree to share the gains</a:t>
            </a:r>
          </a:p>
          <a:p>
            <a:endParaRPr lang="en-IN" dirty="0"/>
          </a:p>
        </p:txBody>
      </p:sp>
    </p:spTree>
    <p:extLst>
      <p:ext uri="{BB962C8B-B14F-4D97-AF65-F5344CB8AC3E}">
        <p14:creationId xmlns:p14="http://schemas.microsoft.com/office/powerpoint/2010/main" val="3416685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5636"/>
            <a:ext cx="10515600" cy="5761327"/>
          </a:xfrm>
        </p:spPr>
        <p:txBody>
          <a:bodyPr/>
          <a:lstStyle/>
          <a:p>
            <a:pPr marL="0" indent="0">
              <a:buNone/>
            </a:pPr>
            <a:r>
              <a:rPr lang="en-US" altLang="en-US" sz="3600" dirty="0">
                <a:solidFill>
                  <a:srgbClr val="C00000"/>
                </a:solidFill>
                <a:latin typeface="Times New Roman" panose="02020603050405020304" pitchFamily="18" charset="0"/>
                <a:cs typeface="Times New Roman" panose="02020603050405020304" pitchFamily="18" charset="0"/>
              </a:rPr>
              <a:t>Supplier Relationships and </a:t>
            </a:r>
            <a:r>
              <a:rPr lang="en-US" altLang="en-US" sz="3600" dirty="0" smtClean="0">
                <a:solidFill>
                  <a:srgbClr val="C00000"/>
                </a:solidFill>
                <a:latin typeface="Times New Roman" panose="02020603050405020304" pitchFamily="18" charset="0"/>
                <a:cs typeface="Times New Roman" panose="02020603050405020304" pitchFamily="18" charset="0"/>
              </a:rPr>
              <a:t>JIT</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Use single-source suppliers when possible</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Build long-term relationships</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Work together to certify processes</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Co-locate facilities to reduce transport if possible</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Stabilize delivery schedules</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Share cost &amp; other information</a:t>
            </a:r>
          </a:p>
          <a:p>
            <a:pPr algn="just">
              <a:lnSpc>
                <a:spcPct val="120000"/>
              </a:lnSpc>
            </a:pPr>
            <a:r>
              <a:rPr lang="en-US" altLang="en-US" dirty="0">
                <a:solidFill>
                  <a:srgbClr val="7030A0"/>
                </a:solidFill>
                <a:latin typeface="Times New Roman" panose="02020603050405020304" pitchFamily="18" charset="0"/>
                <a:cs typeface="Times New Roman" panose="02020603050405020304" pitchFamily="18" charset="0"/>
              </a:rPr>
              <a:t>Early involvement during new product designs</a:t>
            </a:r>
          </a:p>
          <a:p>
            <a:pPr algn="just"/>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36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1241355" y="387350"/>
            <a:ext cx="10465735" cy="5789613"/>
          </a:xfrm>
          <a:prstGeom prst="rect">
            <a:avLst/>
          </a:prstGeom>
        </p:spPr>
      </p:pic>
    </p:spTree>
    <p:extLst>
      <p:ext uri="{BB962C8B-B14F-4D97-AF65-F5344CB8AC3E}">
        <p14:creationId xmlns:p14="http://schemas.microsoft.com/office/powerpoint/2010/main" val="791125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42504"/>
            <a:ext cx="11092543" cy="6460177"/>
          </a:xfrm>
        </p:spPr>
        <p:txBody>
          <a:bodyPr>
            <a:normAutofit/>
          </a:bodyPr>
          <a:lstStyle/>
          <a:p>
            <a:pPr marL="0" indent="0" algn="just">
              <a:buNone/>
            </a:pPr>
            <a:endParaRPr lang="en-IN" sz="4400" dirty="0">
              <a:solidFill>
                <a:srgbClr val="0070C0"/>
              </a:solidFill>
              <a:latin typeface="Times New Roman" panose="02020603050405020304" pitchFamily="18" charset="0"/>
              <a:cs typeface="Times New Roman" panose="02020603050405020304" pitchFamily="18" charset="0"/>
            </a:endParaRPr>
          </a:p>
        </p:txBody>
      </p:sp>
      <p:pic>
        <p:nvPicPr>
          <p:cNvPr id="4" name="Picture 2" descr="Image result for push/pull view of supply chain"/>
          <p:cNvPicPr>
            <a:picLocks noChangeAspect="1"/>
          </p:cNvPicPr>
          <p:nvPr/>
        </p:nvPicPr>
        <p:blipFill rotWithShape="1">
          <a:blip r:embed="rId2"/>
          <a:srcRect r="3480" b="1830"/>
          <a:stretch/>
        </p:blipFill>
        <p:spPr>
          <a:xfrm>
            <a:off x="261258" y="142505"/>
            <a:ext cx="11207932" cy="6136376"/>
          </a:xfrm>
          <a:prstGeom prst="rect">
            <a:avLst/>
          </a:prstGeom>
          <a:noFill/>
          <a:ln w="9525">
            <a:noFill/>
          </a:ln>
        </p:spPr>
      </p:pic>
    </p:spTree>
    <p:extLst>
      <p:ext uri="{BB962C8B-B14F-4D97-AF65-F5344CB8AC3E}">
        <p14:creationId xmlns:p14="http://schemas.microsoft.com/office/powerpoint/2010/main" val="3434069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6473"/>
            <a:ext cx="10515600" cy="5650490"/>
          </a:xfrm>
        </p:spPr>
        <p:txBody>
          <a:bodyPr/>
          <a:lstStyle/>
          <a:p>
            <a:pPr marL="0" indent="0">
              <a:buNone/>
            </a:pPr>
            <a:r>
              <a:rPr lang="en-US" altLang="en-US" sz="3200" dirty="0">
                <a:solidFill>
                  <a:srgbClr val="C00000"/>
                </a:solidFill>
                <a:latin typeface="Times New Roman" panose="02020603050405020304" pitchFamily="18" charset="0"/>
                <a:cs typeface="Times New Roman" panose="02020603050405020304" pitchFamily="18" charset="0"/>
              </a:rPr>
              <a:t>Information </a:t>
            </a:r>
            <a:r>
              <a:rPr lang="en-US" altLang="en-US" sz="3200" dirty="0" smtClean="0">
                <a:solidFill>
                  <a:srgbClr val="C00000"/>
                </a:solidFill>
                <a:latin typeface="Times New Roman" panose="02020603050405020304" pitchFamily="18" charset="0"/>
                <a:cs typeface="Times New Roman" panose="02020603050405020304" pitchFamily="18" charset="0"/>
              </a:rPr>
              <a:t>Sharing</a:t>
            </a:r>
          </a:p>
          <a:p>
            <a:pPr algn="just"/>
            <a:r>
              <a:rPr lang="en-US" altLang="en-US" dirty="0">
                <a:solidFill>
                  <a:srgbClr val="7030A0"/>
                </a:solidFill>
                <a:latin typeface="Times New Roman" panose="02020603050405020304" pitchFamily="18" charset="0"/>
                <a:cs typeface="Times New Roman" panose="02020603050405020304" pitchFamily="18" charset="0"/>
              </a:rPr>
              <a:t>Supply chain partners can benefit by sharing information on sales, demand forecasts, inventory levels &amp; marketing campaigns</a:t>
            </a:r>
          </a:p>
          <a:p>
            <a:pPr algn="just"/>
            <a:r>
              <a:rPr lang="en-US" altLang="en-US" dirty="0">
                <a:solidFill>
                  <a:srgbClr val="7030A0"/>
                </a:solidFill>
                <a:latin typeface="Times New Roman" panose="02020603050405020304" pitchFamily="18" charset="0"/>
                <a:cs typeface="Times New Roman" panose="02020603050405020304" pitchFamily="18" charset="0"/>
              </a:rPr>
              <a:t>Inaccurate or distorted information leads to the </a:t>
            </a:r>
            <a:r>
              <a:rPr lang="en-US" altLang="en-US" dirty="0" smtClean="0">
                <a:solidFill>
                  <a:srgbClr val="7030A0"/>
                </a:solidFill>
                <a:latin typeface="Times New Roman" panose="02020603050405020304" pitchFamily="18" charset="0"/>
                <a:cs typeface="Times New Roman" panose="02020603050405020304" pitchFamily="18" charset="0"/>
              </a:rPr>
              <a:t>Bullwhip Effect</a:t>
            </a:r>
          </a:p>
          <a:p>
            <a:pPr algn="just"/>
            <a:r>
              <a:rPr lang="en-US" altLang="en-US" dirty="0" smtClean="0">
                <a:solidFill>
                  <a:srgbClr val="7030A0"/>
                </a:solidFill>
                <a:latin typeface="Times New Roman" panose="02020603050405020304" pitchFamily="18" charset="0"/>
                <a:cs typeface="Times New Roman" panose="02020603050405020304" pitchFamily="18" charset="0"/>
              </a:rPr>
              <a:t>If </a:t>
            </a:r>
            <a:r>
              <a:rPr lang="en-US" altLang="en-US" dirty="0">
                <a:solidFill>
                  <a:srgbClr val="7030A0"/>
                </a:solidFill>
                <a:latin typeface="Times New Roman" panose="02020603050405020304" pitchFamily="18" charset="0"/>
                <a:cs typeface="Times New Roman" panose="02020603050405020304" pitchFamily="18" charset="0"/>
              </a:rPr>
              <a:t>information isn’t shared, everyone has to guess what is going on downstream.</a:t>
            </a:r>
          </a:p>
          <a:p>
            <a:pPr algn="just"/>
            <a:r>
              <a:rPr lang="en-US" altLang="en-US" dirty="0">
                <a:solidFill>
                  <a:srgbClr val="7030A0"/>
                </a:solidFill>
                <a:latin typeface="Times New Roman" panose="02020603050405020304" pitchFamily="18" charset="0"/>
                <a:cs typeface="Times New Roman" panose="02020603050405020304" pitchFamily="18" charset="0"/>
              </a:rPr>
              <a:t>Guessing wrong leads to too much or too little inventory:</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If too much, firms hold off buying more until inventories fall (leading suppliers to think demand has fallen).</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If too little, firms demand a rush order &amp; order more than usual to avoid being caught short in the future (leading suppliers to think demand has </a:t>
            </a:r>
            <a:r>
              <a:rPr lang="en-US" altLang="en-US" dirty="0">
                <a:solidFill>
                  <a:srgbClr val="7030A0"/>
                </a:solidFill>
              </a:rPr>
              <a:t>risen).</a:t>
            </a:r>
          </a:p>
          <a:p>
            <a:endParaRPr lang="en-US" altLang="en-US" u="sng" dirty="0">
              <a:solidFill>
                <a:srgbClr val="CC0000"/>
              </a:solidFill>
            </a:endParaRPr>
          </a:p>
          <a:p>
            <a:endParaRPr lang="en-IN" dirty="0"/>
          </a:p>
        </p:txBody>
      </p:sp>
    </p:spTree>
    <p:extLst>
      <p:ext uri="{BB962C8B-B14F-4D97-AF65-F5344CB8AC3E}">
        <p14:creationId xmlns:p14="http://schemas.microsoft.com/office/powerpoint/2010/main" val="1026776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66255"/>
            <a:ext cx="11582400" cy="6400800"/>
          </a:xfrm>
        </p:spPr>
        <p:txBody>
          <a:bodyPr>
            <a:normAutofit/>
          </a:bodyPr>
          <a:lstStyle/>
          <a:p>
            <a:pPr marL="0" indent="0" algn="ctr">
              <a:buNone/>
            </a:pPr>
            <a:r>
              <a:rPr lang="en-US" dirty="0" smtClean="0"/>
              <a:t>                </a:t>
            </a:r>
            <a:endParaRPr lang="en-US" dirty="0" smtClean="0">
              <a:solidFill>
                <a:srgbClr val="0070C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136073" y="692728"/>
            <a:ext cx="10155382" cy="5361708"/>
          </a:xfrm>
          <a:prstGeom prst="rect">
            <a:avLst/>
          </a:prstGeom>
        </p:spPr>
      </p:pic>
    </p:spTree>
    <p:extLst>
      <p:ext uri="{BB962C8B-B14F-4D97-AF65-F5344CB8AC3E}">
        <p14:creationId xmlns:p14="http://schemas.microsoft.com/office/powerpoint/2010/main" val="3942451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4909"/>
            <a:ext cx="10515600" cy="5692054"/>
          </a:xfrm>
        </p:spPr>
        <p:txBody>
          <a:bodyPr/>
          <a:lstStyle/>
          <a:p>
            <a:pPr marL="0" indent="0">
              <a:buNone/>
            </a:pPr>
            <a:r>
              <a:rPr lang="en-US" altLang="en-US" sz="3200" dirty="0">
                <a:solidFill>
                  <a:srgbClr val="C00000"/>
                </a:solidFill>
                <a:latin typeface="Times New Roman" panose="02020603050405020304" pitchFamily="18" charset="0"/>
                <a:ea typeface="+mj-ea"/>
                <a:cs typeface="Times New Roman" panose="02020603050405020304" pitchFamily="18" charset="0"/>
              </a:rPr>
              <a:t>Short-Circuit the </a:t>
            </a:r>
            <a:r>
              <a:rPr lang="en-US" altLang="en-US" sz="3200" dirty="0" smtClean="0">
                <a:solidFill>
                  <a:srgbClr val="C00000"/>
                </a:solidFill>
                <a:latin typeface="Times New Roman" panose="02020603050405020304" pitchFamily="18" charset="0"/>
                <a:ea typeface="+mj-ea"/>
                <a:cs typeface="Times New Roman" panose="02020603050405020304" pitchFamily="18" charset="0"/>
              </a:rPr>
              <a:t>Bullwhip</a:t>
            </a:r>
          </a:p>
          <a:p>
            <a:pPr algn="just"/>
            <a:r>
              <a:rPr lang="en-US" altLang="en-US" dirty="0">
                <a:solidFill>
                  <a:srgbClr val="7030A0"/>
                </a:solidFill>
                <a:latin typeface="Times New Roman" panose="02020603050405020304" pitchFamily="18" charset="0"/>
                <a:cs typeface="Times New Roman" panose="02020603050405020304" pitchFamily="18" charset="0"/>
              </a:rPr>
              <a:t>Make information transparent:</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Use Electronic Data Interchange (EDI) to support Just-In-Time supplier replenishment</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Use bar codes &amp; electronic scanning to capture &amp; share point-of-sale data</a:t>
            </a:r>
          </a:p>
          <a:p>
            <a:pPr algn="just"/>
            <a:r>
              <a:rPr lang="en-US" altLang="en-US" dirty="0">
                <a:solidFill>
                  <a:srgbClr val="7030A0"/>
                </a:solidFill>
                <a:latin typeface="Times New Roman" panose="02020603050405020304" pitchFamily="18" charset="0"/>
                <a:cs typeface="Times New Roman" panose="02020603050405020304" pitchFamily="18" charset="0"/>
              </a:rPr>
              <a:t>Eliminate wholesale price promotions &amp; quantity discounts</a:t>
            </a: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373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8764"/>
            <a:ext cx="10515600" cy="5678199"/>
          </a:xfrm>
        </p:spPr>
        <p:txBody>
          <a:bodyPr/>
          <a:lstStyle/>
          <a:p>
            <a:pPr marL="0" indent="0">
              <a:buNone/>
            </a:pPr>
            <a:r>
              <a:rPr lang="en-US" altLang="en-US" dirty="0">
                <a:solidFill>
                  <a:srgbClr val="C00000"/>
                </a:solidFill>
                <a:latin typeface="Times New Roman" panose="02020603050405020304" pitchFamily="18" charset="0"/>
                <a:cs typeface="Times New Roman" panose="02020603050405020304" pitchFamily="18" charset="0"/>
              </a:rPr>
              <a:t>Electronic Data </a:t>
            </a:r>
            <a:r>
              <a:rPr lang="en-US" altLang="en-US" dirty="0" smtClean="0">
                <a:solidFill>
                  <a:srgbClr val="C00000"/>
                </a:solidFill>
                <a:latin typeface="Times New Roman" panose="02020603050405020304" pitchFamily="18" charset="0"/>
                <a:cs typeface="Times New Roman" panose="02020603050405020304" pitchFamily="18" charset="0"/>
              </a:rPr>
              <a:t>Interchange</a:t>
            </a:r>
          </a:p>
          <a:p>
            <a:pPr algn="just"/>
            <a:r>
              <a:rPr lang="en-US" altLang="en-US" dirty="0"/>
              <a:t>T</a:t>
            </a:r>
            <a:r>
              <a:rPr lang="en-US" altLang="en-US" dirty="0">
                <a:solidFill>
                  <a:srgbClr val="7030A0"/>
                </a:solidFill>
                <a:latin typeface="Times New Roman" panose="02020603050405020304" pitchFamily="18" charset="0"/>
                <a:cs typeface="Times New Roman" panose="02020603050405020304" pitchFamily="18" charset="0"/>
              </a:rPr>
              <a:t>he most common method of using computer-to-computer links to exchange data between supply chain partners in a standardized format.  </a:t>
            </a:r>
          </a:p>
          <a:p>
            <a:pPr algn="just"/>
            <a:r>
              <a:rPr lang="en-US" altLang="en-US" dirty="0">
                <a:solidFill>
                  <a:srgbClr val="7030A0"/>
                </a:solidFill>
                <a:latin typeface="Times New Roman" panose="02020603050405020304" pitchFamily="18" charset="0"/>
                <a:cs typeface="Times New Roman" panose="02020603050405020304" pitchFamily="18" charset="0"/>
              </a:rPr>
              <a:t>Benefits include:</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Quick transfer of information</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Reduced paperwork &amp; administration</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Improved data accuracy &amp; tracking capability</a:t>
            </a:r>
          </a:p>
          <a:p>
            <a:endParaRPr lang="en-IN" dirty="0"/>
          </a:p>
        </p:txBody>
      </p:sp>
    </p:spTree>
    <p:extLst>
      <p:ext uri="{BB962C8B-B14F-4D97-AF65-F5344CB8AC3E}">
        <p14:creationId xmlns:p14="http://schemas.microsoft.com/office/powerpoint/2010/main" val="3223104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756" y="225630"/>
            <a:ext cx="11140044" cy="6353299"/>
          </a:xfrm>
        </p:spPr>
        <p:txBody>
          <a:bodyPr>
            <a:normAutofit/>
          </a:bodyPr>
          <a:lstStyle/>
          <a:p>
            <a:pPr marL="0" indent="0" algn="just">
              <a:buNone/>
            </a:pPr>
            <a:r>
              <a:rPr lang="en-US" dirty="0">
                <a:solidFill>
                  <a:srgbClr val="C00000"/>
                </a:solidFill>
                <a:latin typeface="Times New Roman"/>
                <a:cs typeface="Times New Roman"/>
              </a:rPr>
              <a:t>Ways to Reduce Bullwhip </a:t>
            </a:r>
            <a:r>
              <a:rPr lang="en-US" dirty="0" smtClean="0">
                <a:solidFill>
                  <a:srgbClr val="C00000"/>
                </a:solidFill>
                <a:latin typeface="Times New Roman"/>
                <a:cs typeface="Times New Roman"/>
              </a:rPr>
              <a:t>Effect</a:t>
            </a:r>
          </a:p>
          <a:p>
            <a:r>
              <a:rPr lang="en-US" dirty="0">
                <a:solidFill>
                  <a:srgbClr val="7030A0"/>
                </a:solidFill>
                <a:latin typeface="Times New Roman"/>
                <a:cs typeface="Times New Roman"/>
              </a:rPr>
              <a:t>Good Demand </a:t>
            </a:r>
            <a:r>
              <a:rPr lang="en-US" dirty="0" smtClean="0">
                <a:solidFill>
                  <a:srgbClr val="7030A0"/>
                </a:solidFill>
                <a:latin typeface="Times New Roman"/>
                <a:cs typeface="Times New Roman"/>
              </a:rPr>
              <a:t>forecasting</a:t>
            </a:r>
          </a:p>
          <a:p>
            <a:pPr marL="0" indent="0">
              <a:buNone/>
            </a:pPr>
            <a:endParaRPr lang="en-US" dirty="0">
              <a:solidFill>
                <a:srgbClr val="7030A0"/>
              </a:solidFill>
              <a:latin typeface="Times New Roman"/>
              <a:cs typeface="Times New Roman"/>
            </a:endParaRPr>
          </a:p>
          <a:p>
            <a:r>
              <a:rPr lang="en-US" dirty="0">
                <a:solidFill>
                  <a:srgbClr val="7030A0"/>
                </a:solidFill>
                <a:latin typeface="Times New Roman"/>
                <a:cs typeface="Times New Roman"/>
              </a:rPr>
              <a:t>Information </a:t>
            </a:r>
            <a:r>
              <a:rPr lang="en-US" dirty="0" smtClean="0">
                <a:solidFill>
                  <a:srgbClr val="7030A0"/>
                </a:solidFill>
                <a:latin typeface="Times New Roman"/>
                <a:cs typeface="Times New Roman"/>
              </a:rPr>
              <a:t>sharing</a:t>
            </a:r>
          </a:p>
          <a:p>
            <a:pPr marL="0" indent="0">
              <a:buNone/>
            </a:pPr>
            <a:endParaRPr lang="en-US" dirty="0">
              <a:solidFill>
                <a:srgbClr val="7030A0"/>
              </a:solidFill>
              <a:latin typeface="Times New Roman"/>
              <a:cs typeface="Times New Roman"/>
            </a:endParaRPr>
          </a:p>
          <a:p>
            <a:r>
              <a:rPr lang="en-US" dirty="0">
                <a:solidFill>
                  <a:srgbClr val="7030A0"/>
                </a:solidFill>
                <a:latin typeface="Times New Roman"/>
                <a:cs typeface="Times New Roman"/>
              </a:rPr>
              <a:t>Coordination</a:t>
            </a: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323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7" y="360218"/>
            <a:ext cx="10965873" cy="5816745"/>
          </a:xfrm>
        </p:spPr>
        <p:txBody>
          <a:bodyPr>
            <a:normAutofit lnSpcReduction="10000"/>
          </a:bodyPr>
          <a:lstStyle/>
          <a:p>
            <a:pPr marL="0" indent="0">
              <a:buNone/>
            </a:pPr>
            <a:r>
              <a:rPr lang="en-US" dirty="0">
                <a:solidFill>
                  <a:srgbClr val="C00000"/>
                </a:solidFill>
              </a:rPr>
              <a:t>Benefits of Supply Chain </a:t>
            </a:r>
            <a:r>
              <a:rPr lang="en-US" dirty="0" smtClean="0">
                <a:solidFill>
                  <a:srgbClr val="C00000"/>
                </a:solidFill>
              </a:rPr>
              <a:t>Management</a:t>
            </a: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Lower </a:t>
            </a:r>
            <a:r>
              <a:rPr lang="en-US" dirty="0" smtClean="0">
                <a:solidFill>
                  <a:srgbClr val="7030A0"/>
                </a:solidFill>
                <a:latin typeface="Times New Roman"/>
                <a:cs typeface="Times New Roman"/>
              </a:rPr>
              <a:t>inventories</a:t>
            </a:r>
          </a:p>
          <a:p>
            <a:pPr marL="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Higher </a:t>
            </a:r>
            <a:r>
              <a:rPr lang="en-US" dirty="0" smtClean="0">
                <a:solidFill>
                  <a:srgbClr val="7030A0"/>
                </a:solidFill>
                <a:latin typeface="Times New Roman"/>
                <a:cs typeface="Times New Roman"/>
              </a:rPr>
              <a:t>productivity</a:t>
            </a:r>
          </a:p>
          <a:p>
            <a:pPr marL="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Shorter lead </a:t>
            </a:r>
            <a:r>
              <a:rPr lang="en-US" dirty="0" smtClean="0">
                <a:solidFill>
                  <a:srgbClr val="7030A0"/>
                </a:solidFill>
                <a:latin typeface="Times New Roman"/>
                <a:cs typeface="Times New Roman"/>
              </a:rPr>
              <a:t>times</a:t>
            </a:r>
          </a:p>
          <a:p>
            <a:pPr marL="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Higher </a:t>
            </a:r>
            <a:r>
              <a:rPr lang="en-US" dirty="0" smtClean="0">
                <a:solidFill>
                  <a:srgbClr val="7030A0"/>
                </a:solidFill>
                <a:latin typeface="Times New Roman"/>
                <a:cs typeface="Times New Roman"/>
              </a:rPr>
              <a:t>profits</a:t>
            </a:r>
          </a:p>
          <a:p>
            <a:pPr marL="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Greater customer </a:t>
            </a:r>
            <a:r>
              <a:rPr lang="en-US" dirty="0" smtClean="0">
                <a:solidFill>
                  <a:srgbClr val="7030A0"/>
                </a:solidFill>
                <a:latin typeface="Times New Roman"/>
                <a:cs typeface="Times New Roman"/>
              </a:rPr>
              <a:t>loyalty</a:t>
            </a:r>
          </a:p>
          <a:p>
            <a:pPr marL="0" indent="0" algn="just">
              <a:lnSpc>
                <a:spcPct val="100000"/>
              </a:lnSpc>
              <a:spcBef>
                <a:spcPct val="20000"/>
              </a:spcBef>
              <a:spcAft>
                <a:spcPct val="0"/>
              </a:spcAft>
              <a:buNone/>
            </a:pPr>
            <a:endParaRPr lang="en-US" dirty="0">
              <a:solidFill>
                <a:srgbClr val="7030A0"/>
              </a:solidFill>
              <a:latin typeface="Times New Roman"/>
              <a:cs typeface="Times New Roman"/>
            </a:endParaRPr>
          </a:p>
          <a:p>
            <a:pPr marL="457200" indent="-457200" algn="just">
              <a:lnSpc>
                <a:spcPct val="100000"/>
              </a:lnSpc>
              <a:spcBef>
                <a:spcPct val="20000"/>
              </a:spcBef>
              <a:spcAft>
                <a:spcPct val="0"/>
              </a:spcAft>
              <a:buFont typeface="Arial"/>
              <a:buChar char="•"/>
            </a:pPr>
            <a:r>
              <a:rPr lang="en-US" dirty="0">
                <a:solidFill>
                  <a:srgbClr val="7030A0"/>
                </a:solidFill>
                <a:latin typeface="Times New Roman"/>
                <a:cs typeface="Times New Roman"/>
              </a:rPr>
              <a:t>Integrates separate organizations into a cohesive operating system</a:t>
            </a:r>
          </a:p>
          <a:p>
            <a:pPr marL="0" indent="0" algn="just">
              <a:buNone/>
            </a:pPr>
            <a:endParaRPr lang="en-IN" dirty="0">
              <a:solidFill>
                <a:srgbClr val="7030A0"/>
              </a:solidFill>
            </a:endParaRPr>
          </a:p>
        </p:txBody>
      </p:sp>
    </p:spTree>
    <p:extLst>
      <p:ext uri="{BB962C8B-B14F-4D97-AF65-F5344CB8AC3E}">
        <p14:creationId xmlns:p14="http://schemas.microsoft.com/office/powerpoint/2010/main" val="4087883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443346"/>
            <a:ext cx="10910455" cy="5816745"/>
          </a:xfrm>
        </p:spPr>
        <p:txBody>
          <a:bodyPr/>
          <a:lstStyle/>
          <a:p>
            <a:pPr marL="0" indent="0">
              <a:buNone/>
            </a:pPr>
            <a:r>
              <a:rPr lang="en-IN" sz="3600" dirty="0">
                <a:solidFill>
                  <a:srgbClr val="C00000"/>
                </a:solidFill>
                <a:latin typeface="Times New Roman"/>
                <a:cs typeface="Times New Roman"/>
              </a:rPr>
              <a:t>Successful Supply Chain </a:t>
            </a:r>
            <a:r>
              <a:rPr lang="en-IN" sz="3600" dirty="0" smtClean="0">
                <a:solidFill>
                  <a:srgbClr val="C00000"/>
                </a:solidFill>
                <a:latin typeface="Times New Roman"/>
                <a:cs typeface="Times New Roman"/>
              </a:rPr>
              <a:t>Management</a:t>
            </a:r>
          </a:p>
          <a:p>
            <a:pPr>
              <a:lnSpc>
                <a:spcPct val="100000"/>
              </a:lnSpc>
              <a:spcBef>
                <a:spcPct val="45000"/>
              </a:spcBef>
              <a:spcAft>
                <a:spcPct val="0"/>
              </a:spcAft>
            </a:pPr>
            <a:r>
              <a:rPr lang="en-US" sz="3200" dirty="0">
                <a:solidFill>
                  <a:srgbClr val="7030A0"/>
                </a:solidFill>
                <a:latin typeface="Times New Roman"/>
                <a:cs typeface="Times New Roman"/>
              </a:rPr>
              <a:t>Trust among trading partners</a:t>
            </a:r>
          </a:p>
          <a:p>
            <a:pPr>
              <a:lnSpc>
                <a:spcPct val="100000"/>
              </a:lnSpc>
              <a:spcBef>
                <a:spcPct val="45000"/>
              </a:spcBef>
              <a:spcAft>
                <a:spcPct val="0"/>
              </a:spcAft>
            </a:pPr>
            <a:r>
              <a:rPr lang="en-US" sz="3200" dirty="0">
                <a:solidFill>
                  <a:srgbClr val="7030A0"/>
                </a:solidFill>
                <a:latin typeface="Times New Roman"/>
                <a:cs typeface="Times New Roman"/>
              </a:rPr>
              <a:t>Effective communications</a:t>
            </a:r>
          </a:p>
          <a:p>
            <a:pPr>
              <a:lnSpc>
                <a:spcPct val="100000"/>
              </a:lnSpc>
              <a:spcBef>
                <a:spcPct val="45000"/>
              </a:spcBef>
              <a:spcAft>
                <a:spcPct val="0"/>
              </a:spcAft>
            </a:pPr>
            <a:r>
              <a:rPr lang="en-US" sz="3200" dirty="0">
                <a:solidFill>
                  <a:srgbClr val="7030A0"/>
                </a:solidFill>
                <a:latin typeface="Times New Roman"/>
                <a:cs typeface="Times New Roman"/>
              </a:rPr>
              <a:t>Supply chain visibility</a:t>
            </a:r>
          </a:p>
          <a:p>
            <a:pPr>
              <a:lnSpc>
                <a:spcPct val="100000"/>
              </a:lnSpc>
              <a:spcBef>
                <a:spcPct val="45000"/>
              </a:spcBef>
              <a:spcAft>
                <a:spcPct val="0"/>
              </a:spcAft>
            </a:pPr>
            <a:r>
              <a:rPr lang="en-US" sz="3200" dirty="0">
                <a:solidFill>
                  <a:srgbClr val="7030A0"/>
                </a:solidFill>
                <a:latin typeface="Times New Roman"/>
                <a:cs typeface="Times New Roman"/>
              </a:rPr>
              <a:t>Event-management capability</a:t>
            </a:r>
          </a:p>
          <a:p>
            <a:pPr marL="457200" marR="0" lvl="1" indent="0">
              <a:lnSpc>
                <a:spcPct val="100000"/>
              </a:lnSpc>
              <a:spcBef>
                <a:spcPct val="45000"/>
              </a:spcBef>
              <a:spcAft>
                <a:spcPct val="0"/>
              </a:spcAft>
              <a:buNone/>
            </a:pPr>
            <a:r>
              <a:rPr lang="en-US" sz="3200" dirty="0">
                <a:solidFill>
                  <a:srgbClr val="7030A0"/>
                </a:solidFill>
                <a:latin typeface="Times New Roman"/>
                <a:cs typeface="Times New Roman"/>
              </a:rPr>
              <a:t>The ability to detect and respond to unplanned events</a:t>
            </a:r>
          </a:p>
          <a:p>
            <a:pPr marL="0" indent="0">
              <a:buNone/>
            </a:pPr>
            <a:endParaRPr lang="en-IN" dirty="0"/>
          </a:p>
        </p:txBody>
      </p:sp>
    </p:spTree>
    <p:extLst>
      <p:ext uri="{BB962C8B-B14F-4D97-AF65-F5344CB8AC3E}">
        <p14:creationId xmlns:p14="http://schemas.microsoft.com/office/powerpoint/2010/main" val="1950920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30630"/>
            <a:ext cx="10981706" cy="6143316"/>
          </a:xfrm>
        </p:spPr>
        <p:txBody>
          <a:bodyPr>
            <a:normAutofit/>
          </a:bodyPr>
          <a:lstStyle/>
          <a:p>
            <a:pPr marL="0" indent="0" algn="just">
              <a:buNone/>
            </a:pPr>
            <a:r>
              <a:rPr lang="en-US" altLang="en-US" sz="3200" b="1" dirty="0">
                <a:solidFill>
                  <a:srgbClr val="C00000"/>
                </a:solidFill>
                <a:latin typeface="Times New Roman" panose="02020603050405020304" pitchFamily="18" charset="0"/>
                <a:cs typeface="Times New Roman" panose="02020603050405020304" pitchFamily="18" charset="0"/>
              </a:rPr>
              <a:t>Integrated </a:t>
            </a:r>
            <a:r>
              <a:rPr lang="en-US" altLang="en-US" sz="3200" b="1" dirty="0" smtClean="0">
                <a:solidFill>
                  <a:srgbClr val="C00000"/>
                </a:solidFill>
                <a:latin typeface="Times New Roman" panose="02020603050405020304" pitchFamily="18" charset="0"/>
                <a:cs typeface="Times New Roman" panose="02020603050405020304" pitchFamily="18" charset="0"/>
              </a:rPr>
              <a:t>SCM</a:t>
            </a:r>
          </a:p>
          <a:p>
            <a:pPr marL="0" indent="0" algn="just">
              <a:buNone/>
            </a:pPr>
            <a:r>
              <a:rPr lang="en-US" altLang="en-US" dirty="0">
                <a:solidFill>
                  <a:srgbClr val="7030A0"/>
                </a:solidFill>
                <a:latin typeface="Times New Roman" panose="02020603050405020304" pitchFamily="18" charset="0"/>
                <a:cs typeface="Times New Roman" panose="02020603050405020304" pitchFamily="18" charset="0"/>
              </a:rPr>
              <a:t>Implementing integrated SCM requires: </a:t>
            </a:r>
          </a:p>
          <a:p>
            <a:pPr lvl="1" algn="just"/>
            <a:r>
              <a:rPr lang="en-US" altLang="en-US" sz="2800" dirty="0">
                <a:solidFill>
                  <a:srgbClr val="7030A0"/>
                </a:solidFill>
                <a:latin typeface="Times New Roman" panose="02020603050405020304" pitchFamily="18" charset="0"/>
                <a:cs typeface="Times New Roman" panose="02020603050405020304" pitchFamily="18" charset="0"/>
              </a:rPr>
              <a:t>Analyzing the whole supply </a:t>
            </a:r>
            <a:r>
              <a:rPr lang="en-US" altLang="en-US" sz="2800" dirty="0" smtClean="0">
                <a:solidFill>
                  <a:srgbClr val="7030A0"/>
                </a:solidFill>
                <a:latin typeface="Times New Roman" panose="02020603050405020304" pitchFamily="18" charset="0"/>
                <a:cs typeface="Times New Roman" panose="02020603050405020304" pitchFamily="18" charset="0"/>
              </a:rPr>
              <a:t>chain</a:t>
            </a:r>
          </a:p>
          <a:p>
            <a:pPr marL="457200" lvl="1" indent="0" algn="just">
              <a:buNone/>
            </a:pPr>
            <a:endParaRPr lang="en-US" altLang="en-US" sz="2800" dirty="0">
              <a:solidFill>
                <a:srgbClr val="7030A0"/>
              </a:solidFill>
              <a:latin typeface="Times New Roman" panose="02020603050405020304" pitchFamily="18" charset="0"/>
              <a:cs typeface="Times New Roman" panose="02020603050405020304" pitchFamily="18" charset="0"/>
            </a:endParaRPr>
          </a:p>
          <a:p>
            <a:pPr lvl="1" algn="just"/>
            <a:r>
              <a:rPr lang="en-US" altLang="en-US" sz="2800" dirty="0">
                <a:solidFill>
                  <a:srgbClr val="7030A0"/>
                </a:solidFill>
                <a:latin typeface="Times New Roman" panose="02020603050405020304" pitchFamily="18" charset="0"/>
                <a:cs typeface="Times New Roman" panose="02020603050405020304" pitchFamily="18" charset="0"/>
              </a:rPr>
              <a:t>Starting by integrating internal functions </a:t>
            </a:r>
            <a:r>
              <a:rPr lang="en-US" altLang="en-US" sz="2800" dirty="0" smtClean="0">
                <a:solidFill>
                  <a:srgbClr val="7030A0"/>
                </a:solidFill>
                <a:latin typeface="Times New Roman" panose="02020603050405020304" pitchFamily="18" charset="0"/>
                <a:cs typeface="Times New Roman" panose="02020603050405020304" pitchFamily="18" charset="0"/>
              </a:rPr>
              <a:t>first</a:t>
            </a:r>
          </a:p>
          <a:p>
            <a:pPr marL="457200" lvl="1" indent="0" algn="just">
              <a:buNone/>
            </a:pPr>
            <a:endParaRPr lang="en-US" altLang="en-US" sz="2800" dirty="0">
              <a:solidFill>
                <a:srgbClr val="7030A0"/>
              </a:solidFill>
              <a:latin typeface="Times New Roman" panose="02020603050405020304" pitchFamily="18" charset="0"/>
              <a:cs typeface="Times New Roman" panose="02020603050405020304" pitchFamily="18" charset="0"/>
            </a:endParaRPr>
          </a:p>
          <a:p>
            <a:pPr lvl="1" algn="just"/>
            <a:r>
              <a:rPr lang="en-US" altLang="en-US" sz="2800" dirty="0">
                <a:solidFill>
                  <a:srgbClr val="7030A0"/>
                </a:solidFill>
                <a:latin typeface="Times New Roman" panose="02020603050405020304" pitchFamily="18" charset="0"/>
                <a:cs typeface="Times New Roman" panose="02020603050405020304" pitchFamily="18" charset="0"/>
              </a:rPr>
              <a:t>Integrating external suppliers through partnerships </a:t>
            </a: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462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2" y="178130"/>
            <a:ext cx="11673444" cy="6424551"/>
          </a:xfrm>
        </p:spPr>
        <p:txBody>
          <a:bodyPr>
            <a:normAutofit/>
          </a:bodyPr>
          <a:lstStyle/>
          <a:p>
            <a:pPr marL="0" indent="0">
              <a:buNone/>
            </a:pPr>
            <a:r>
              <a:rPr lang="en-US" sz="3600" b="1" dirty="0">
                <a:solidFill>
                  <a:srgbClr val="C00000"/>
                </a:solidFill>
                <a:latin typeface="Times New Roman" panose="02020603050405020304" pitchFamily="18" charset="0"/>
                <a:cs typeface="Times New Roman" panose="02020603050405020304" pitchFamily="18" charset="0"/>
              </a:rPr>
              <a:t>Amazing Supply Chain of </a:t>
            </a:r>
            <a:r>
              <a:rPr lang="en-US" sz="3600" b="1" dirty="0" smtClean="0">
                <a:solidFill>
                  <a:srgbClr val="C00000"/>
                </a:solidFill>
                <a:latin typeface="Times New Roman" panose="02020603050405020304" pitchFamily="18" charset="0"/>
                <a:cs typeface="Times New Roman" panose="02020603050405020304" pitchFamily="18" charset="0"/>
              </a:rPr>
              <a:t>Coca-Cola </a:t>
            </a:r>
            <a:r>
              <a:rPr lang="en-US" b="1" dirty="0" smtClean="0">
                <a:solidFill>
                  <a:srgbClr val="C00000"/>
                </a:solidFill>
              </a:rPr>
              <a:t>- </a:t>
            </a:r>
            <a:r>
              <a:rPr lang="en-US" dirty="0" smtClean="0">
                <a:solidFill>
                  <a:srgbClr val="C00000"/>
                </a:solidFill>
              </a:rPr>
              <a:t>written </a:t>
            </a:r>
            <a:r>
              <a:rPr lang="en-US" dirty="0">
                <a:solidFill>
                  <a:srgbClr val="C00000"/>
                </a:solidFill>
              </a:rPr>
              <a:t>by Luisa </a:t>
            </a:r>
            <a:r>
              <a:rPr lang="en-US" dirty="0" err="1">
                <a:solidFill>
                  <a:srgbClr val="C00000"/>
                </a:solidFill>
              </a:rPr>
              <a:t>Walendy</a:t>
            </a:r>
            <a:r>
              <a:rPr lang="en-US" dirty="0"/>
              <a:t> </a:t>
            </a:r>
            <a:endParaRPr lang="en-US" dirty="0" smtClean="0"/>
          </a:p>
          <a:p>
            <a:pPr algn="just"/>
            <a:r>
              <a:rPr lang="en-US" dirty="0">
                <a:solidFill>
                  <a:srgbClr val="7030A0"/>
                </a:solidFill>
                <a:latin typeface="Times New Roman" panose="02020603050405020304" pitchFamily="18" charset="0"/>
                <a:cs typeface="Times New Roman" panose="02020603050405020304" pitchFamily="18" charset="0"/>
              </a:rPr>
              <a:t>Cola is one of the most popular drinks in the world anyway and Coca-Cola one of the most famous brands. More than 1.9 billion servings of Coca-Cola are sold worldwide every day in more than 200 countries</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Coca-Cola is a global company that operates at a local level. This means that there are currently around 225 bottling partners worldwide. </a:t>
            </a: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The </a:t>
            </a:r>
            <a:r>
              <a:rPr lang="en-US" dirty="0">
                <a:solidFill>
                  <a:srgbClr val="7030A0"/>
                </a:solidFill>
                <a:latin typeface="Times New Roman" panose="02020603050405020304" pitchFamily="18" charset="0"/>
                <a:cs typeface="Times New Roman" panose="02020603050405020304" pitchFamily="18" charset="0"/>
              </a:rPr>
              <a:t>supply chain begins with the procurement of raw materials, which in the case of Coca-Cola also includes agricultural products (e.g. sugar cane or fruit) and water. The most important ingredients such as water and sugar are sourced locally, with the partners being able to choose only the type of sugar used. In Europe, mainly beet sugar is used, in Asia cane sugar and in America sugar from corn syrup.</a:t>
            </a:r>
          </a:p>
          <a:p>
            <a:pPr marL="0" indent="0" algn="ctr">
              <a:buNone/>
            </a:pPr>
            <a:endParaRPr lang="en-IN" sz="24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432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263236"/>
            <a:ext cx="11180618" cy="6095999"/>
          </a:xfrm>
        </p:spPr>
        <p:txBody>
          <a:bodyPr>
            <a:normAutofit lnSpcReduction="10000"/>
          </a:bodyPr>
          <a:lstStyle/>
          <a:p>
            <a:pPr algn="just"/>
            <a:r>
              <a:rPr lang="en-US" dirty="0">
                <a:solidFill>
                  <a:srgbClr val="7030A0"/>
                </a:solidFill>
                <a:latin typeface="Times New Roman" panose="02020603050405020304" pitchFamily="18" charset="0"/>
                <a:cs typeface="Times New Roman" panose="02020603050405020304" pitchFamily="18" charset="0"/>
              </a:rPr>
              <a:t>One of the first steps in Coca-Cola’s supply chain is the production of the concentrate, which is mixed with water, sugar and carbon dioxide by the bottling plants. The concentrate itself is produced at other plants. According to legend, the secret recipe is kept in a safe in Atlanta. The legend also states that never more than two people should have access to it and know the exact recipe</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After mixing, the bottlers package, market and distribute the finished beverages to grocery stores, restaurants, cinemas, etc. Therefore, the management of supplier relationships and the continuous monitoring of suppliers is of great importance to the company</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With the help of technology such as warehouse automation, the company wants to continuously improve its supply chain management. Diversification and personalization of the portfolio are also important issues, which the company intends to pursue through the use of new technologies.</a:t>
            </a:r>
            <a:endParaRPr lang="en-US" dirty="0" smtClean="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56912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782" y="415636"/>
            <a:ext cx="10952018" cy="6054437"/>
          </a:xfrm>
        </p:spPr>
        <p:txBody>
          <a:bodyPr/>
          <a:lstStyle/>
          <a:p>
            <a:pPr algn="just"/>
            <a:r>
              <a:rPr lang="en-US" dirty="0">
                <a:solidFill>
                  <a:srgbClr val="7030A0"/>
                </a:solidFill>
                <a:latin typeface="Times New Roman" panose="02020603050405020304" pitchFamily="18" charset="0"/>
                <a:cs typeface="Times New Roman" panose="02020603050405020304" pitchFamily="18" charset="0"/>
              </a:rPr>
              <a:t>A current example of the use of new technologies in the supply chain of Coca-Cola is blockchain</a:t>
            </a:r>
            <a:r>
              <a:rPr lang="en-US" dirty="0" smtClean="0">
                <a:solidFill>
                  <a:srgbClr val="7030A0"/>
                </a:solidFill>
                <a:latin typeface="Times New Roman" panose="02020603050405020304" pitchFamily="18" charset="0"/>
                <a:cs typeface="Times New Roman" panose="02020603050405020304" pitchFamily="18" charset="0"/>
              </a:rPr>
              <a:t>.</a:t>
            </a:r>
            <a:r>
              <a:rPr lang="en-US" dirty="0">
                <a:solidFill>
                  <a:srgbClr val="7030A0"/>
                </a:solidFill>
                <a:latin typeface="Times New Roman" panose="02020603050405020304" pitchFamily="18" charset="0"/>
                <a:cs typeface="Times New Roman" panose="02020603050405020304" pitchFamily="18" charset="0"/>
              </a:rPr>
              <a:t> As part of a cooperation with the technology company SAP, Coca-Cola wants to optimize the cooperation with its partners and the 160,000 orders per day, create more transparency and reduce costs using blockchain technology. </a:t>
            </a:r>
            <a:r>
              <a:rPr lang="en-US" dirty="0" smtClean="0">
                <a:solidFill>
                  <a:srgbClr val="7030A0"/>
                </a:solidFill>
                <a:latin typeface="Times New Roman" panose="02020603050405020304" pitchFamily="18" charset="0"/>
                <a:cs typeface="Times New Roman" panose="02020603050405020304" pitchFamily="18" charset="0"/>
              </a:rPr>
              <a:t> </a:t>
            </a:r>
            <a:r>
              <a:rPr lang="en-US" dirty="0">
                <a:solidFill>
                  <a:srgbClr val="7030A0"/>
                </a:solidFill>
                <a:latin typeface="Times New Roman" panose="02020603050405020304" pitchFamily="18" charset="0"/>
                <a:cs typeface="Times New Roman" panose="02020603050405020304" pitchFamily="18" charset="0"/>
              </a:rPr>
              <a:t>Coca-Cola already uses an IT platform specifically for the communication of the bottlers</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Another example of innovative technologies at Coca Cola is the production of bottles from plastic waste from beaches and the sea. Nearly 300 sample bottles were produced using 25 percent recycled marine plastic. The sample bottles were developed to demonstrate the potential of improved recycling technologies.</a:t>
            </a:r>
            <a:endParaRPr lang="en-US" dirty="0" smtClean="0">
              <a:solidFill>
                <a:srgbClr val="7030A0"/>
              </a:solidFill>
              <a:latin typeface="Times New Roman" panose="02020603050405020304" pitchFamily="18" charset="0"/>
              <a:cs typeface="Times New Roman" panose="02020603050405020304" pitchFamily="18" charset="0"/>
            </a:endParaRPr>
          </a:p>
          <a:p>
            <a:pPr marL="0" indent="0">
              <a:buNone/>
            </a:pP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706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003" y="106879"/>
            <a:ext cx="11946576" cy="6155376"/>
          </a:xfrm>
        </p:spPr>
        <p:txBody>
          <a:bodyPr>
            <a:normAutofit lnSpcReduction="10000"/>
          </a:bodyPr>
          <a:lstStyle/>
          <a:p>
            <a:pPr algn="just"/>
            <a:r>
              <a:rPr lang="en-US" dirty="0">
                <a:solidFill>
                  <a:srgbClr val="7030A0"/>
                </a:solidFill>
                <a:latin typeface="Times New Roman" panose="02020603050405020304" pitchFamily="18" charset="0"/>
                <a:cs typeface="Times New Roman" panose="02020603050405020304" pitchFamily="18" charset="0"/>
              </a:rPr>
              <a:t>These innovative processes make it possible to turn used plastic of any quality back into high-quality plastic. In the process, the components of the plastic (polymers) are broken down and impurities in the material are removed. It is then possible to reassemble the individual components (monomers) so that the resulting material is as good as new. </a:t>
            </a: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a:solidFill>
                  <a:srgbClr val="7030A0"/>
                </a:solidFill>
                <a:latin typeface="Times New Roman" panose="02020603050405020304" pitchFamily="18" charset="0"/>
                <a:cs typeface="Times New Roman" panose="02020603050405020304" pitchFamily="18" charset="0"/>
              </a:rPr>
              <a:t>This means that inferior plastics, which were previously often incinerated or deposited in landfills, can thus remain in the material cycle and be used again for packaging food. This increases the amount of recyclable material in the cycle. This in turn reduces the amount of new PET and thus fossil materials needed to produce new packaging and could therefore mean strong changes for the Coca Cola supply chain</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smtClean="0">
                <a:solidFill>
                  <a:srgbClr val="7030A0"/>
                </a:solidFill>
                <a:latin typeface="Times New Roman" panose="02020603050405020304" pitchFamily="18" charset="0"/>
                <a:cs typeface="Times New Roman" panose="02020603050405020304" pitchFamily="18" charset="0"/>
              </a:rPr>
              <a:t>Coca-Cola </a:t>
            </a:r>
            <a:r>
              <a:rPr lang="en-US" dirty="0">
                <a:solidFill>
                  <a:srgbClr val="7030A0"/>
                </a:solidFill>
                <a:latin typeface="Times New Roman" panose="02020603050405020304" pitchFamily="18" charset="0"/>
                <a:cs typeface="Times New Roman" panose="02020603050405020304" pitchFamily="18" charset="0"/>
              </a:rPr>
              <a:t>has long been a global player. Accordingly, the company is continuously optimizing and modernizing its supply chain. Due to the high sales of the soft drink, the supply chain focuses on the management of partner companies. Here, smooth communication with the partners and the subsequent smooth distribution to the points of sale play a major role.</a:t>
            </a:r>
            <a:endParaRPr lang="en-US" sz="2400" dirty="0" smtClean="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939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182" y="318655"/>
            <a:ext cx="10799618" cy="5858308"/>
          </a:xfrm>
        </p:spPr>
        <p:txBody>
          <a:bodyPr/>
          <a:lstStyle/>
          <a:p>
            <a:pPr marL="0" indent="0" algn="just">
              <a:buNone/>
            </a:pPr>
            <a:r>
              <a:rPr lang="en-US" sz="3200" b="1" dirty="0">
                <a:solidFill>
                  <a:srgbClr val="C00000"/>
                </a:solidFill>
                <a:latin typeface="Times New Roman" panose="02020603050405020304" pitchFamily="18" charset="0"/>
                <a:cs typeface="Times New Roman" panose="02020603050405020304" pitchFamily="18" charset="0"/>
              </a:rPr>
              <a:t>The Amazing Supply Chain of </a:t>
            </a:r>
            <a:r>
              <a:rPr lang="en-US" sz="3200" b="1" dirty="0" smtClean="0">
                <a:solidFill>
                  <a:srgbClr val="C00000"/>
                </a:solidFill>
                <a:latin typeface="Times New Roman" panose="02020603050405020304" pitchFamily="18" charset="0"/>
                <a:cs typeface="Times New Roman" panose="02020603050405020304" pitchFamily="18" charset="0"/>
              </a:rPr>
              <a:t>McDonalds- </a:t>
            </a:r>
            <a:r>
              <a:rPr lang="en-US" sz="3200" dirty="0" smtClean="0">
                <a:solidFill>
                  <a:srgbClr val="C00000"/>
                </a:solidFill>
                <a:latin typeface="Times New Roman" panose="02020603050405020304" pitchFamily="18" charset="0"/>
                <a:cs typeface="Times New Roman" panose="02020603050405020304" pitchFamily="18" charset="0"/>
              </a:rPr>
              <a:t>written </a:t>
            </a:r>
            <a:r>
              <a:rPr lang="en-US" sz="3200" dirty="0">
                <a:solidFill>
                  <a:srgbClr val="C00000"/>
                </a:solidFill>
                <a:latin typeface="Times New Roman" panose="02020603050405020304" pitchFamily="18" charset="0"/>
                <a:cs typeface="Times New Roman" panose="02020603050405020304" pitchFamily="18" charset="0"/>
              </a:rPr>
              <a:t>by Emilia Ashton</a:t>
            </a:r>
            <a:r>
              <a:rPr lang="en-US" dirty="0">
                <a:solidFill>
                  <a:srgbClr val="C00000"/>
                </a:solidFill>
                <a:latin typeface="Times New Roman" panose="02020603050405020304" pitchFamily="18" charset="0"/>
                <a:cs typeface="Times New Roman" panose="02020603050405020304" pitchFamily="18" charset="0"/>
              </a:rPr>
              <a:t> </a:t>
            </a:r>
            <a:endParaRPr lang="en-US" dirty="0" smtClean="0">
              <a:solidFill>
                <a:srgbClr val="C00000"/>
              </a:solidFill>
              <a:latin typeface="Times New Roman" panose="02020603050405020304" pitchFamily="18" charset="0"/>
              <a:cs typeface="Times New Roman" panose="02020603050405020304" pitchFamily="18" charset="0"/>
            </a:endParaRPr>
          </a:p>
          <a:p>
            <a:pPr algn="just"/>
            <a:r>
              <a:rPr lang="en-US" dirty="0">
                <a:solidFill>
                  <a:srgbClr val="7030A0"/>
                </a:solidFill>
                <a:latin typeface="Times New Roman" panose="02020603050405020304" pitchFamily="18" charset="0"/>
                <a:cs typeface="Times New Roman" panose="02020603050405020304" pitchFamily="18" charset="0"/>
              </a:rPr>
              <a:t>Back in 1940, brothers Richard and Maurice McDonald, founded McDonalds in San Bernardino, California, USA. Flash forward to 2022 and the fast-food giant has one of the most recognizable logos in the world and serves 68 million customers a day across 39,000 restaurants in over 120 countries and territories.</a:t>
            </a:r>
          </a:p>
          <a:p>
            <a:pPr algn="just"/>
            <a:r>
              <a:rPr lang="en-US" dirty="0">
                <a:solidFill>
                  <a:srgbClr val="7030A0"/>
                </a:solidFill>
                <a:latin typeface="Times New Roman" panose="02020603050405020304" pitchFamily="18" charset="0"/>
                <a:cs typeface="Times New Roman" panose="02020603050405020304" pitchFamily="18" charset="0"/>
              </a:rPr>
              <a:t>While the franchising model means that each restaurant has different owners, the menu remains almost the same no matter which McDonalds in the world is visited. This is logistically a big task and one that makes the supply chain particularly interesting.</a:t>
            </a:r>
          </a:p>
          <a:p>
            <a:endParaRPr lang="en-US" dirty="0">
              <a:solidFill>
                <a:srgbClr val="7030A0"/>
              </a:solidFill>
            </a:endParaRP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5689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192504"/>
            <a:ext cx="11682663" cy="6436895"/>
          </a:xfrm>
        </p:spPr>
        <p:txBody>
          <a:bodyPr>
            <a:normAutofit/>
          </a:bodyPr>
          <a:lstStyle/>
          <a:p>
            <a:pPr marL="0" indent="0">
              <a:buNone/>
            </a:pPr>
            <a:r>
              <a:rPr lang="en-US" sz="3600" b="1" dirty="0">
                <a:solidFill>
                  <a:srgbClr val="C00000"/>
                </a:solidFill>
                <a:latin typeface="Times New Roman" panose="02020603050405020304" pitchFamily="18" charset="0"/>
                <a:cs typeface="Times New Roman" panose="02020603050405020304" pitchFamily="18" charset="0"/>
              </a:rPr>
              <a:t>The secret to McDonald’s supply chain success</a:t>
            </a:r>
          </a:p>
          <a:p>
            <a:pPr marL="0" indent="0" algn="just">
              <a:buNone/>
            </a:pPr>
            <a:r>
              <a:rPr lang="en-US" b="1" dirty="0">
                <a:solidFill>
                  <a:srgbClr val="7030A0"/>
                </a:solidFill>
                <a:latin typeface="Times New Roman" panose="02020603050405020304" pitchFamily="18" charset="0"/>
                <a:cs typeface="Times New Roman" panose="02020603050405020304" pitchFamily="18" charset="0"/>
              </a:rPr>
              <a:t>Maximizing Long-term Supplier Relationships</a:t>
            </a:r>
          </a:p>
          <a:p>
            <a:pPr algn="just"/>
            <a:r>
              <a:rPr lang="en-US" dirty="0">
                <a:solidFill>
                  <a:srgbClr val="7030A0"/>
                </a:solidFill>
                <a:latin typeface="Times New Roman" panose="02020603050405020304" pitchFamily="18" charset="0"/>
                <a:cs typeface="Times New Roman" panose="02020603050405020304" pitchFamily="18" charset="0"/>
              </a:rPr>
              <a:t>The key to the success of McDonald’s supply chain was established by Ray Kroc, who is credited for turning the fast-food giant into one of the most successful in the world. His approach, which is still used today, relies on achieving mutual positive outcomes for franchisees, suppliers and employees.</a:t>
            </a:r>
          </a:p>
          <a:p>
            <a:pPr algn="just"/>
            <a:r>
              <a:rPr lang="en-US" dirty="0">
                <a:solidFill>
                  <a:srgbClr val="7030A0"/>
                </a:solidFill>
                <a:latin typeface="Times New Roman" panose="02020603050405020304" pitchFamily="18" charset="0"/>
                <a:cs typeface="Times New Roman" panose="02020603050405020304" pitchFamily="18" charset="0"/>
              </a:rPr>
              <a:t>Known as the 3-legged </a:t>
            </a:r>
            <a:r>
              <a:rPr lang="en-US" dirty="0" smtClean="0">
                <a:solidFill>
                  <a:srgbClr val="7030A0"/>
                </a:solidFill>
                <a:latin typeface="Times New Roman" panose="02020603050405020304" pitchFamily="18" charset="0"/>
                <a:cs typeface="Times New Roman" panose="02020603050405020304" pitchFamily="18" charset="0"/>
              </a:rPr>
              <a:t>tool</a:t>
            </a:r>
            <a:r>
              <a:rPr lang="en-US" dirty="0">
                <a:solidFill>
                  <a:srgbClr val="7030A0"/>
                </a:solidFill>
                <a:latin typeface="Times New Roman" panose="02020603050405020304" pitchFamily="18" charset="0"/>
                <a:cs typeface="Times New Roman" panose="02020603050405020304" pitchFamily="18" charset="0"/>
              </a:rPr>
              <a:t>, the methodology is simple: When McDonalds succeeds so do its suppliers.  The model allows the fast-food giant and its suppliers to help create value for each other rather than simply exchanging value. This therefore leads to more beneficial, long-term partnerships.</a:t>
            </a:r>
          </a:p>
          <a:p>
            <a:pPr algn="just"/>
            <a:r>
              <a:rPr lang="en-US" dirty="0">
                <a:solidFill>
                  <a:srgbClr val="7030A0"/>
                </a:solidFill>
                <a:latin typeface="Times New Roman" panose="02020603050405020304" pitchFamily="18" charset="0"/>
                <a:cs typeface="Times New Roman" panose="02020603050405020304" pitchFamily="18" charset="0"/>
              </a:rPr>
              <a:t>For example, one of the company’s largest distributors, The Martin-Brower Company, began by supplying paper napkins to the company’s Des Plaines, Illinois branch in 1956. Today, the supplier delivers supplies to almost all 15,000 McDonald’s locations in North America.</a:t>
            </a:r>
          </a:p>
          <a:p>
            <a:pPr marL="0" indent="0">
              <a:buNone/>
            </a:pPr>
            <a:endParaRPr lang="en-US" dirty="0" smtClean="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850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374073"/>
            <a:ext cx="11346872" cy="6248400"/>
          </a:xfrm>
        </p:spPr>
        <p:txBody>
          <a:bodyPr>
            <a:normAutofit/>
          </a:bodyPr>
          <a:lstStyle/>
          <a:p>
            <a:pPr marL="0" indent="0" algn="just">
              <a:buNone/>
            </a:pPr>
            <a:r>
              <a:rPr lang="en-US" b="1" dirty="0">
                <a:solidFill>
                  <a:srgbClr val="7030A0"/>
                </a:solidFill>
                <a:latin typeface="Times New Roman" panose="02020603050405020304" pitchFamily="18" charset="0"/>
                <a:cs typeface="Times New Roman" panose="02020603050405020304" pitchFamily="18" charset="0"/>
              </a:rPr>
              <a:t>Effective Vertical Integration</a:t>
            </a:r>
          </a:p>
          <a:p>
            <a:pPr algn="just"/>
            <a:r>
              <a:rPr lang="en-US" dirty="0">
                <a:solidFill>
                  <a:srgbClr val="7030A0"/>
                </a:solidFill>
                <a:latin typeface="Times New Roman" panose="02020603050405020304" pitchFamily="18" charset="0"/>
                <a:cs typeface="Times New Roman" panose="02020603050405020304" pitchFamily="18" charset="0"/>
              </a:rPr>
              <a:t>Typically, a restaurant will be the final part of the supply chain and will source ingredients from third-party suppliers. McDonalds, on the other hand, is the source of its products through effective use of vertical integration.  McDonalds is integrated in every stage of the supply chain through partnerships with contracted suppliers. This means that the fast-food chain processes the meat themselves, grows its potatoes and transports its own materials.</a:t>
            </a:r>
          </a:p>
          <a:p>
            <a:pPr algn="just"/>
            <a:r>
              <a:rPr lang="en-US" dirty="0">
                <a:solidFill>
                  <a:srgbClr val="7030A0"/>
                </a:solidFill>
                <a:latin typeface="Times New Roman" panose="02020603050405020304" pitchFamily="18" charset="0"/>
                <a:cs typeface="Times New Roman" panose="02020603050405020304" pitchFamily="18" charset="0"/>
              </a:rPr>
              <a:t>As a result of McDonald’s taking control of the component and distribution element of the supply chain, it can achieve an overall lower cost for its restaurants. The use of these vertical integration techniques is the primary reason why McDonald’s is one of the cheapest fast-food chains in the world.</a:t>
            </a:r>
          </a:p>
          <a:p>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4002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7927"/>
            <a:ext cx="11651673" cy="5789036"/>
          </a:xfrm>
        </p:spPr>
        <p:txBody>
          <a:bodyPr>
            <a:normAutofit lnSpcReduction="10000"/>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The future of McDonald’s supply chain</a:t>
            </a:r>
          </a:p>
          <a:p>
            <a:pPr marL="0" indent="0" algn="just">
              <a:buNone/>
            </a:pPr>
            <a:r>
              <a:rPr lang="en-US" b="1" dirty="0">
                <a:solidFill>
                  <a:srgbClr val="7030A0"/>
                </a:solidFill>
                <a:latin typeface="Times New Roman" panose="02020603050405020304" pitchFamily="18" charset="0"/>
                <a:cs typeface="Times New Roman" panose="02020603050405020304" pitchFamily="18" charset="0"/>
              </a:rPr>
              <a:t>Environmental </a:t>
            </a:r>
            <a:r>
              <a:rPr lang="en-US" b="1" dirty="0" smtClean="0">
                <a:solidFill>
                  <a:srgbClr val="7030A0"/>
                </a:solidFill>
                <a:latin typeface="Times New Roman" panose="02020603050405020304" pitchFamily="18" charset="0"/>
                <a:cs typeface="Times New Roman" panose="02020603050405020304" pitchFamily="18" charset="0"/>
              </a:rPr>
              <a:t>Sustainability</a:t>
            </a:r>
          </a:p>
          <a:p>
            <a:pPr algn="just"/>
            <a:r>
              <a:rPr lang="en-US" dirty="0">
                <a:solidFill>
                  <a:srgbClr val="7030A0"/>
                </a:solidFill>
                <a:latin typeface="Times New Roman" panose="02020603050405020304" pitchFamily="18" charset="0"/>
                <a:cs typeface="Times New Roman" panose="02020603050405020304" pitchFamily="18" charset="0"/>
              </a:rPr>
              <a:t>McDonald’s is no different with the firm working on many different sustainability initiatives. For example, in 2018, the fast food giant announced that it had formed, alongside Starbucks, the </a:t>
            </a:r>
            <a:r>
              <a:rPr lang="en-US" dirty="0" err="1">
                <a:solidFill>
                  <a:srgbClr val="7030A0"/>
                </a:solidFill>
                <a:latin typeface="Times New Roman" panose="02020603050405020304" pitchFamily="18" charset="0"/>
                <a:cs typeface="Times New Roman" panose="02020603050405020304" pitchFamily="18" charset="0"/>
              </a:rPr>
              <a:t>NextGen</a:t>
            </a:r>
            <a:r>
              <a:rPr lang="en-US" dirty="0">
                <a:solidFill>
                  <a:srgbClr val="7030A0"/>
                </a:solidFill>
                <a:latin typeface="Times New Roman" panose="02020603050405020304" pitchFamily="18" charset="0"/>
                <a:cs typeface="Times New Roman" panose="02020603050405020304" pitchFamily="18" charset="0"/>
              </a:rPr>
              <a:t> Cup Consortium, which was formed to help develop both a hot and cold cup that can be completely recycled</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smtClean="0">
                <a:solidFill>
                  <a:srgbClr val="7030A0"/>
                </a:solidFill>
                <a:latin typeface="Times New Roman" panose="02020603050405020304" pitchFamily="18" charset="0"/>
                <a:cs typeface="Times New Roman" panose="02020603050405020304" pitchFamily="18" charset="0"/>
              </a:rPr>
              <a:t>alongside </a:t>
            </a:r>
            <a:r>
              <a:rPr lang="en-US" dirty="0">
                <a:solidFill>
                  <a:srgbClr val="7030A0"/>
                </a:solidFill>
                <a:latin typeface="Times New Roman" panose="02020603050405020304" pitchFamily="18" charset="0"/>
                <a:cs typeface="Times New Roman" panose="02020603050405020304" pitchFamily="18" charset="0"/>
              </a:rPr>
              <a:t>this McDonalds have pledged that, by 2025, 100% of the fast-food chain’s guest packaging will be sourced from renewable, recycled, or certified sources</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McDonald’s plans to use AI technology to help revolutionize the way consumers use the drive-thru. The use of AI technology, according to McDonald’s, will help reduce service times and make the ordering process more efficient thus improving the overall customer experience.</a:t>
            </a:r>
            <a:endParaRPr lang="en-US" b="1" dirty="0">
              <a:solidFill>
                <a:srgbClr val="7030A0"/>
              </a:solidFill>
              <a:latin typeface="Times New Roman" panose="02020603050405020304" pitchFamily="18" charset="0"/>
              <a:cs typeface="Times New Roman" panose="02020603050405020304" pitchFamily="18" charset="0"/>
            </a:endParaRPr>
          </a:p>
          <a:p>
            <a:pPr marL="0" indent="0" algn="just">
              <a:buNone/>
            </a:pP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892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473" y="152400"/>
            <a:ext cx="11670631" cy="6549189"/>
          </a:xfrm>
        </p:spPr>
        <p:txBody>
          <a:bodyPr>
            <a:noAutofit/>
          </a:bodyPr>
          <a:lstStyle/>
          <a:p>
            <a:pPr marL="0" indent="0">
              <a:buNone/>
            </a:pPr>
            <a:r>
              <a:rPr lang="en-US" sz="3600" b="1" dirty="0">
                <a:solidFill>
                  <a:srgbClr val="C00000"/>
                </a:solidFill>
                <a:latin typeface="Times New Roman" panose="02020603050405020304" pitchFamily="18" charset="0"/>
                <a:cs typeface="Times New Roman" panose="02020603050405020304" pitchFamily="18" charset="0"/>
              </a:rPr>
              <a:t>What can cause a supply chain to fail?</a:t>
            </a:r>
          </a:p>
          <a:p>
            <a:pPr algn="just"/>
            <a:r>
              <a:rPr lang="en-US" dirty="0">
                <a:solidFill>
                  <a:srgbClr val="7030A0"/>
                </a:solidFill>
                <a:latin typeface="Times New Roman" panose="02020603050405020304" pitchFamily="18" charset="0"/>
                <a:cs typeface="Times New Roman" panose="02020603050405020304" pitchFamily="18" charset="0"/>
              </a:rPr>
              <a:t>Before we get into the examples, here are some reasons why supply chains can fail, according to a report published by risk management professionals </a:t>
            </a:r>
            <a:r>
              <a:rPr lang="en-US" dirty="0" err="1">
                <a:solidFill>
                  <a:srgbClr val="7030A0"/>
                </a:solidFill>
                <a:latin typeface="Times New Roman" panose="02020603050405020304" pitchFamily="18" charset="0"/>
                <a:cs typeface="Times New Roman" panose="02020603050405020304" pitchFamily="18" charset="0"/>
              </a:rPr>
              <a:t>Airmic</a:t>
            </a:r>
            <a:r>
              <a:rPr lang="en-US" dirty="0">
                <a:solidFill>
                  <a:srgbClr val="7030A0"/>
                </a:solidFill>
                <a:latin typeface="Times New Roman" panose="02020603050405020304" pitchFamily="18" charset="0"/>
                <a:cs typeface="Times New Roman" panose="02020603050405020304" pitchFamily="18" charset="0"/>
              </a:rPr>
              <a:t>:</a:t>
            </a:r>
          </a:p>
          <a:p>
            <a:pPr algn="just"/>
            <a:r>
              <a:rPr lang="en-US" b="1" dirty="0">
                <a:solidFill>
                  <a:srgbClr val="7030A0"/>
                </a:solidFill>
                <a:latin typeface="Times New Roman" panose="02020603050405020304" pitchFamily="18" charset="0"/>
                <a:cs typeface="Times New Roman" panose="02020603050405020304" pitchFamily="18" charset="0"/>
              </a:rPr>
              <a:t>Offshoring</a:t>
            </a:r>
            <a:r>
              <a:rPr lang="en-US" dirty="0">
                <a:solidFill>
                  <a:srgbClr val="7030A0"/>
                </a:solidFill>
                <a:latin typeface="Times New Roman" panose="02020603050405020304" pitchFamily="18" charset="0"/>
                <a:cs typeface="Times New Roman" panose="02020603050405020304" pitchFamily="18" charset="0"/>
              </a:rPr>
              <a:t>– meaning monitoring activity can be difficult</a:t>
            </a:r>
          </a:p>
          <a:p>
            <a:pPr algn="just"/>
            <a:r>
              <a:rPr lang="en-US" b="1" dirty="0">
                <a:solidFill>
                  <a:srgbClr val="7030A0"/>
                </a:solidFill>
                <a:latin typeface="Times New Roman" panose="02020603050405020304" pitchFamily="18" charset="0"/>
                <a:cs typeface="Times New Roman" panose="02020603050405020304" pitchFamily="18" charset="0"/>
              </a:rPr>
              <a:t>Increasing complexity of supply chains</a:t>
            </a:r>
            <a:r>
              <a:rPr lang="en-US" dirty="0">
                <a:solidFill>
                  <a:srgbClr val="7030A0"/>
                </a:solidFill>
                <a:latin typeface="Times New Roman" panose="02020603050405020304" pitchFamily="18" charset="0"/>
                <a:cs typeface="Times New Roman" panose="02020603050405020304" pitchFamily="18" charset="0"/>
              </a:rPr>
              <a:t>– causing a lack of clarity about who suppliers are subcontracting to</a:t>
            </a:r>
          </a:p>
          <a:p>
            <a:pPr algn="just"/>
            <a:r>
              <a:rPr lang="en-US" b="1" dirty="0">
                <a:solidFill>
                  <a:srgbClr val="7030A0"/>
                </a:solidFill>
                <a:latin typeface="Times New Roman" panose="02020603050405020304" pitchFamily="18" charset="0"/>
                <a:cs typeface="Times New Roman" panose="02020603050405020304" pitchFamily="18" charset="0"/>
              </a:rPr>
              <a:t>Cost pressures-</a:t>
            </a:r>
            <a:r>
              <a:rPr lang="en-US" dirty="0">
                <a:solidFill>
                  <a:srgbClr val="7030A0"/>
                </a:solidFill>
                <a:latin typeface="Times New Roman" panose="02020603050405020304" pitchFamily="18" charset="0"/>
                <a:cs typeface="Times New Roman" panose="02020603050405020304" pitchFamily="18" charset="0"/>
              </a:rPr>
              <a:t> causing companies to compromise on quality and/or ethics</a:t>
            </a:r>
          </a:p>
          <a:p>
            <a:pPr algn="just"/>
            <a:r>
              <a:rPr lang="en-US" b="1" dirty="0">
                <a:solidFill>
                  <a:srgbClr val="7030A0"/>
                </a:solidFill>
                <a:latin typeface="Times New Roman" panose="02020603050405020304" pitchFamily="18" charset="0"/>
                <a:cs typeface="Times New Roman" panose="02020603050405020304" pitchFamily="18" charset="0"/>
              </a:rPr>
              <a:t>Geographic clustering</a:t>
            </a:r>
            <a:r>
              <a:rPr lang="en-US" dirty="0">
                <a:solidFill>
                  <a:srgbClr val="7030A0"/>
                </a:solidFill>
                <a:latin typeface="Times New Roman" panose="02020603050405020304" pitchFamily="18" charset="0"/>
                <a:cs typeface="Times New Roman" panose="02020603050405020304" pitchFamily="18" charset="0"/>
              </a:rPr>
              <a:t>– making manufacturers vulnerable to a localized disaster</a:t>
            </a:r>
          </a:p>
          <a:p>
            <a:pPr algn="just"/>
            <a:r>
              <a:rPr lang="en-US" b="1" dirty="0">
                <a:solidFill>
                  <a:srgbClr val="7030A0"/>
                </a:solidFill>
                <a:latin typeface="Times New Roman" panose="02020603050405020304" pitchFamily="18" charset="0"/>
                <a:cs typeface="Times New Roman" panose="02020603050405020304" pitchFamily="18" charset="0"/>
              </a:rPr>
              <a:t>Modern communications</a:t>
            </a:r>
            <a:r>
              <a:rPr lang="en-US" dirty="0">
                <a:solidFill>
                  <a:srgbClr val="7030A0"/>
                </a:solidFill>
                <a:latin typeface="Times New Roman" panose="02020603050405020304" pitchFamily="18" charset="0"/>
                <a:cs typeface="Times New Roman" panose="02020603050405020304" pitchFamily="18" charset="0"/>
              </a:rPr>
              <a:t>– which can quickly damage reputations</a:t>
            </a:r>
          </a:p>
          <a:p>
            <a:pPr algn="just"/>
            <a:r>
              <a:rPr lang="en-US" b="1" dirty="0">
                <a:solidFill>
                  <a:srgbClr val="7030A0"/>
                </a:solidFill>
                <a:latin typeface="Times New Roman" panose="02020603050405020304" pitchFamily="18" charset="0"/>
                <a:cs typeface="Times New Roman" panose="02020603050405020304" pitchFamily="18" charset="0"/>
              </a:rPr>
              <a:t>Just-in-time production methods</a:t>
            </a:r>
            <a:r>
              <a:rPr lang="en-US" dirty="0">
                <a:solidFill>
                  <a:srgbClr val="7030A0"/>
                </a:solidFill>
                <a:latin typeface="Times New Roman" panose="02020603050405020304" pitchFamily="18" charset="0"/>
                <a:cs typeface="Times New Roman" panose="02020603050405020304" pitchFamily="18" charset="0"/>
              </a:rPr>
              <a:t>– which have reduced the time to recover from supply chain failure</a:t>
            </a:r>
          </a:p>
          <a:p>
            <a:pPr algn="just"/>
            <a:r>
              <a:rPr lang="en-US" b="1" dirty="0">
                <a:solidFill>
                  <a:srgbClr val="7030A0"/>
                </a:solidFill>
                <a:latin typeface="Times New Roman" panose="02020603050405020304" pitchFamily="18" charset="0"/>
                <a:cs typeface="Times New Roman" panose="02020603050405020304" pitchFamily="18" charset="0"/>
              </a:rPr>
              <a:t>Dependence on multiple suppliers</a:t>
            </a:r>
            <a:r>
              <a:rPr lang="en-US" dirty="0">
                <a:solidFill>
                  <a:srgbClr val="7030A0"/>
                </a:solidFill>
                <a:latin typeface="Times New Roman" panose="02020603050405020304" pitchFamily="18" charset="0"/>
                <a:cs typeface="Times New Roman" panose="02020603050405020304" pitchFamily="18" charset="0"/>
              </a:rPr>
              <a:t>– which can increase overall vulnerability</a:t>
            </a:r>
            <a:r>
              <a:rPr lang="en-US" dirty="0"/>
              <a:t>.</a:t>
            </a:r>
          </a:p>
          <a:p>
            <a:pPr marL="0" indent="0" algn="ctr">
              <a:buNone/>
            </a:pPr>
            <a:endParaRPr lang="en-US" dirty="0" smtClean="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595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613" y="166256"/>
            <a:ext cx="11706726" cy="6691744"/>
          </a:xfrm>
        </p:spPr>
        <p:txBody>
          <a:bodyPr>
            <a:normAutofit lnSpcReduction="10000"/>
          </a:bodyPr>
          <a:lstStyle/>
          <a:p>
            <a:pPr marL="0" indent="0">
              <a:buNone/>
            </a:pPr>
            <a:r>
              <a:rPr lang="en-US" sz="3600" b="1" dirty="0">
                <a:solidFill>
                  <a:srgbClr val="C00000"/>
                </a:solidFill>
                <a:latin typeface="Times New Roman" panose="02020603050405020304" pitchFamily="18" charset="0"/>
                <a:cs typeface="Times New Roman" panose="02020603050405020304" pitchFamily="18" charset="0"/>
              </a:rPr>
              <a:t>Examples of supply chain fails</a:t>
            </a:r>
          </a:p>
          <a:p>
            <a:pPr marL="0" indent="0" algn="just">
              <a:buNone/>
            </a:pPr>
            <a:r>
              <a:rPr lang="en-US" b="1" dirty="0">
                <a:solidFill>
                  <a:srgbClr val="7030A0"/>
                </a:solidFill>
                <a:latin typeface="Times New Roman" panose="02020603050405020304" pitchFamily="18" charset="0"/>
                <a:cs typeface="Times New Roman" panose="02020603050405020304" pitchFamily="18" charset="0"/>
              </a:rPr>
              <a:t>Boeing’s production of the 787 </a:t>
            </a:r>
            <a:r>
              <a:rPr lang="en-US" b="1" dirty="0" smtClean="0">
                <a:solidFill>
                  <a:srgbClr val="7030A0"/>
                </a:solidFill>
                <a:latin typeface="Times New Roman" panose="02020603050405020304" pitchFamily="18" charset="0"/>
                <a:cs typeface="Times New Roman" panose="02020603050405020304" pitchFamily="18" charset="0"/>
              </a:rPr>
              <a:t>Dreamliner</a:t>
            </a:r>
          </a:p>
          <a:p>
            <a:pPr algn="just"/>
            <a:r>
              <a:rPr lang="en-US" dirty="0" smtClean="0">
                <a:solidFill>
                  <a:srgbClr val="7030A0"/>
                </a:solidFill>
                <a:latin typeface="Times New Roman" panose="02020603050405020304" pitchFamily="18" charset="0"/>
                <a:cs typeface="Times New Roman" panose="02020603050405020304" pitchFamily="18" charset="0"/>
              </a:rPr>
              <a:t>Boeing</a:t>
            </a:r>
            <a:r>
              <a:rPr lang="en-US" dirty="0">
                <a:solidFill>
                  <a:srgbClr val="7030A0"/>
                </a:solidFill>
                <a:latin typeface="Times New Roman" panose="02020603050405020304" pitchFamily="18" charset="0"/>
                <a:cs typeface="Times New Roman" panose="02020603050405020304" pitchFamily="18" charset="0"/>
              </a:rPr>
              <a:t>, the American multinational aircraft producer, really sold the idea of its new 787 Dreamliner aircraft in the early 2000s. The company said it would set record production times and the aircraft would have the most revolutionary design in the history of passenger air travel. Airlines believed these promises and it became the fastest selling plane in aviation history. And, of course, Boeing had the confidence to roll out their new plane with a new and unproven method</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a:solidFill>
                  <a:srgbClr val="7030A0"/>
                </a:solidFill>
                <a:latin typeface="Times New Roman" panose="02020603050405020304" pitchFamily="18" charset="0"/>
                <a:cs typeface="Times New Roman" panose="02020603050405020304" pitchFamily="18" charset="0"/>
              </a:rPr>
              <a:t>Boeing decided to outsource areas of its business to meet its goals cheaply and quickly. One major mistake was that it outsourced core functions, leading to a full reliance on over 50 suppliers. This meant that there was no way that the people in charge could oversee what was going on, and this led to some serious quality control issues. Planes were grounded as lithium-ion batteries were overheating and caused fires on board. The company was supposed to trial the aircraft in 2007 and then complete the first delivery in 2008, however it didn’t enter commercial service until 2011.</a:t>
            </a:r>
            <a:endParaRPr lang="en-US" b="1" dirty="0">
              <a:solidFill>
                <a:srgbClr val="7030A0"/>
              </a:solidFill>
              <a:latin typeface="Times New Roman" panose="02020603050405020304" pitchFamily="18" charset="0"/>
              <a:cs typeface="Times New Roman" panose="02020603050405020304" pitchFamily="18" charset="0"/>
            </a:endParaRPr>
          </a:p>
          <a:p>
            <a:pPr marL="0" indent="0" algn="just">
              <a:buNone/>
            </a:pPr>
            <a:endParaRPr lang="en-US" dirty="0" smtClean="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132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77091"/>
            <a:ext cx="11720945" cy="6289964"/>
          </a:xfrm>
        </p:spPr>
        <p:txBody>
          <a:bodyPr>
            <a:normAutofit/>
          </a:bodyPr>
          <a:lstStyle/>
          <a:p>
            <a:pPr marL="0" indent="0">
              <a:buNone/>
            </a:pPr>
            <a:r>
              <a:rPr lang="en-US" sz="3600" b="1" dirty="0">
                <a:solidFill>
                  <a:srgbClr val="C00000"/>
                </a:solidFill>
                <a:latin typeface="Times New Roman" panose="02020603050405020304" pitchFamily="18" charset="0"/>
                <a:cs typeface="Times New Roman" panose="02020603050405020304" pitchFamily="18" charset="0"/>
              </a:rPr>
              <a:t>KFC’s chicken shortage</a:t>
            </a:r>
          </a:p>
          <a:p>
            <a:pPr algn="just"/>
            <a:r>
              <a:rPr lang="en-US" dirty="0">
                <a:solidFill>
                  <a:srgbClr val="7030A0"/>
                </a:solidFill>
                <a:latin typeface="Times New Roman" panose="02020603050405020304" pitchFamily="18" charset="0"/>
                <a:cs typeface="Times New Roman" panose="02020603050405020304" pitchFamily="18" charset="0"/>
              </a:rPr>
              <a:t>When you think of KFC, you think of chicken, right? It was therefore inevitable that the fast-food giant had to halt operations in UK due to a shortage of chicken in 2018. Over 700 of KFC’s UK stores were forced to close due to problems with its new foodservice suppliers at the time, DHL. Issues included failed deliveries and supervision problems as well as store closures.</a:t>
            </a:r>
          </a:p>
          <a:p>
            <a:pPr algn="just"/>
            <a:r>
              <a:rPr lang="en-US" dirty="0">
                <a:solidFill>
                  <a:srgbClr val="7030A0"/>
                </a:solidFill>
                <a:latin typeface="Times New Roman" panose="02020603050405020304" pitchFamily="18" charset="0"/>
                <a:cs typeface="Times New Roman" panose="02020603050405020304" pitchFamily="18" charset="0"/>
              </a:rPr>
              <a:t>There were numerous factors from both KFC and DHL that led to the collapse of the supply chain. Perhaps the biggest mistake KFC made was actually choosing DHL to begin with, as it had no prior experience in chilled foods and therefore lacked the expertise to fulfil this role successfully. DHL also only had one distribution center in UK, meaning all of its eggs were in one basket, which is not a sensible idea when providing for such a large company. Management issues stemming from KFC also led to the failure, such as insufficient due diligence and no contingency plans being in place.</a:t>
            </a:r>
          </a:p>
          <a:p>
            <a:pPr marL="0" indent="0">
              <a:buNone/>
            </a:pP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012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387927"/>
            <a:ext cx="10993582" cy="5789036"/>
          </a:xfrm>
        </p:spPr>
        <p:txBody>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Questions for continuous internal evaluation</a:t>
            </a:r>
          </a:p>
          <a:p>
            <a:pPr marL="0" indent="0" algn="just">
              <a:buNone/>
            </a:pPr>
            <a:r>
              <a:rPr lang="en-US" dirty="0" smtClean="0"/>
              <a:t> </a:t>
            </a:r>
            <a:r>
              <a:rPr lang="en-US" dirty="0" smtClean="0">
                <a:solidFill>
                  <a:srgbClr val="7030A0"/>
                </a:solidFill>
                <a:latin typeface="Times New Roman" panose="02020603050405020304" pitchFamily="18" charset="0"/>
                <a:cs typeface="Times New Roman" panose="02020603050405020304" pitchFamily="18" charset="0"/>
              </a:rPr>
              <a:t>Q 1) </a:t>
            </a:r>
            <a:r>
              <a:rPr lang="en-IN" dirty="0" smtClean="0">
                <a:solidFill>
                  <a:srgbClr val="7030A0"/>
                </a:solidFill>
                <a:latin typeface="Times New Roman" panose="02020603050405020304" pitchFamily="18" charset="0"/>
                <a:cs typeface="Times New Roman" panose="02020603050405020304" pitchFamily="18" charset="0"/>
              </a:rPr>
              <a:t>state the objectives and explain different components of supply chain management</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Q 2) Explain 2 cases  of successful supply chain management and  analyze reasons behind there success</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Q.3) Explain 2 cases of supply chain failure and analyze reasons behind there failure</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Q 4) Explain Bullwhip effects and different ways to reduce that Bullwhip effect.</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737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055" y="221673"/>
            <a:ext cx="10882745" cy="5955290"/>
          </a:xfrm>
        </p:spPr>
        <p:txBody>
          <a:bodyPr>
            <a:normAutofit/>
          </a:bodyPr>
          <a:lstStyle/>
          <a:p>
            <a:pPr marL="0" indent="0" algn="ctr">
              <a:buNone/>
            </a:pPr>
            <a:endParaRPr lang="en-US" sz="9600" dirty="0" smtClean="0">
              <a:solidFill>
                <a:schemeClr val="accent2"/>
              </a:solidFill>
              <a:latin typeface="Algerian" panose="04020705040A02060702" pitchFamily="82" charset="0"/>
            </a:endParaRPr>
          </a:p>
          <a:p>
            <a:pPr marL="0" indent="0" algn="ctr">
              <a:buNone/>
            </a:pPr>
            <a:endParaRPr lang="en-US" sz="9600" dirty="0" smtClean="0">
              <a:solidFill>
                <a:schemeClr val="accent2"/>
              </a:solidFill>
              <a:latin typeface="Algerian" panose="04020705040A02060702" pitchFamily="82" charset="0"/>
            </a:endParaRPr>
          </a:p>
          <a:p>
            <a:pPr marL="0" indent="0" algn="ctr">
              <a:buNone/>
            </a:pPr>
            <a:r>
              <a:rPr lang="en-US" sz="9600" dirty="0" smtClean="0">
                <a:solidFill>
                  <a:schemeClr val="accent2"/>
                </a:solidFill>
                <a:latin typeface="Algerian" panose="04020705040A02060702" pitchFamily="82" charset="0"/>
              </a:rPr>
              <a:t>Thank You</a:t>
            </a:r>
            <a:endParaRPr lang="en-IN" sz="9600" dirty="0">
              <a:solidFill>
                <a:schemeClr val="accent2"/>
              </a:solidFill>
              <a:latin typeface="Algerian" panose="04020705040A02060702" pitchFamily="82" charset="0"/>
            </a:endParaRPr>
          </a:p>
        </p:txBody>
      </p:sp>
    </p:spTree>
    <p:extLst>
      <p:ext uri="{BB962C8B-B14F-4D97-AF65-F5344CB8AC3E}">
        <p14:creationId xmlns:p14="http://schemas.microsoft.com/office/powerpoint/2010/main" val="1918688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3442</TotalTime>
  <Words>1695</Words>
  <Application>Microsoft Office PowerPoint</Application>
  <PresentationFormat>Widescreen</PresentationFormat>
  <Paragraphs>240</Paragraphs>
  <Slides>44</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44</vt:i4>
      </vt:variant>
    </vt:vector>
  </HeadingPairs>
  <TitlesOfParts>
    <vt:vector size="53" baseType="lpstr">
      <vt:lpstr>Algerian</vt:lpstr>
      <vt:lpstr>Arial</vt:lpstr>
      <vt:lpstr>Calibri</vt:lpstr>
      <vt:lpstr>Calibri Light</vt:lpstr>
      <vt:lpstr>Times New Roman</vt:lpstr>
      <vt:lpstr>Wingdings</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Flows in Supply Chain </vt:lpstr>
      <vt:lpstr>PowerPoint Presentation</vt:lpstr>
      <vt:lpstr>Stages of Detergent Supply Chain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Lenovo</cp:lastModifiedBy>
  <cp:revision>722</cp:revision>
  <dcterms:created xsi:type="dcterms:W3CDTF">2022-09-12T16:52:45Z</dcterms:created>
  <dcterms:modified xsi:type="dcterms:W3CDTF">2023-02-07T07:13:39Z</dcterms:modified>
</cp:coreProperties>
</file>