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70"/>
  </p:notesMasterIdLst>
  <p:sldIdLst>
    <p:sldId id="293" r:id="rId2"/>
    <p:sldId id="321" r:id="rId3"/>
    <p:sldId id="257" r:id="rId4"/>
    <p:sldId id="258" r:id="rId5"/>
    <p:sldId id="259" r:id="rId6"/>
    <p:sldId id="260" r:id="rId7"/>
    <p:sldId id="261" r:id="rId8"/>
    <p:sldId id="318" r:id="rId9"/>
    <p:sldId id="305" r:id="rId10"/>
    <p:sldId id="319" r:id="rId11"/>
    <p:sldId id="312" r:id="rId12"/>
    <p:sldId id="322" r:id="rId13"/>
    <p:sldId id="307" r:id="rId14"/>
    <p:sldId id="320" r:id="rId15"/>
    <p:sldId id="313" r:id="rId16"/>
    <p:sldId id="323" r:id="rId17"/>
    <p:sldId id="314" r:id="rId18"/>
    <p:sldId id="315" r:id="rId19"/>
    <p:sldId id="332" r:id="rId20"/>
    <p:sldId id="316" r:id="rId21"/>
    <p:sldId id="317" r:id="rId22"/>
    <p:sldId id="262" r:id="rId23"/>
    <p:sldId id="263" r:id="rId24"/>
    <p:sldId id="309" r:id="rId25"/>
    <p:sldId id="264" r:id="rId26"/>
    <p:sldId id="267" r:id="rId27"/>
    <p:sldId id="268" r:id="rId28"/>
    <p:sldId id="308" r:id="rId29"/>
    <p:sldId id="311" r:id="rId30"/>
    <p:sldId id="270" r:id="rId31"/>
    <p:sldId id="271" r:id="rId32"/>
    <p:sldId id="325" r:id="rId33"/>
    <p:sldId id="326" r:id="rId34"/>
    <p:sldId id="334" r:id="rId35"/>
    <p:sldId id="327" r:id="rId36"/>
    <p:sldId id="328" r:id="rId37"/>
    <p:sldId id="335" r:id="rId38"/>
    <p:sldId id="329" r:id="rId39"/>
    <p:sldId id="330" r:id="rId40"/>
    <p:sldId id="336" r:id="rId41"/>
    <p:sldId id="337" r:id="rId42"/>
    <p:sldId id="339" r:id="rId43"/>
    <p:sldId id="338" r:id="rId44"/>
    <p:sldId id="340" r:id="rId45"/>
    <p:sldId id="342" r:id="rId46"/>
    <p:sldId id="341" r:id="rId47"/>
    <p:sldId id="343" r:id="rId48"/>
    <p:sldId id="344" r:id="rId49"/>
    <p:sldId id="345" r:id="rId50"/>
    <p:sldId id="346" r:id="rId51"/>
    <p:sldId id="347" r:id="rId52"/>
    <p:sldId id="348" r:id="rId53"/>
    <p:sldId id="349" r:id="rId54"/>
    <p:sldId id="350" r:id="rId55"/>
    <p:sldId id="351" r:id="rId56"/>
    <p:sldId id="352" r:id="rId57"/>
    <p:sldId id="353" r:id="rId58"/>
    <p:sldId id="354" r:id="rId59"/>
    <p:sldId id="360" r:id="rId60"/>
    <p:sldId id="357" r:id="rId61"/>
    <p:sldId id="359" r:id="rId62"/>
    <p:sldId id="358" r:id="rId63"/>
    <p:sldId id="361" r:id="rId64"/>
    <p:sldId id="362" r:id="rId65"/>
    <p:sldId id="364" r:id="rId66"/>
    <p:sldId id="355" r:id="rId67"/>
    <p:sldId id="356" r:id="rId68"/>
    <p:sldId id="363"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635" autoAdjust="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55BABD-8F00-412C-8B2F-EDF975617C92}" type="datetimeFigureOut">
              <a:rPr lang="en-IN" smtClean="0"/>
              <a:t>31-01-2023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79E5DB-2DFD-4919-A98D-CC3D0C94556A}" type="slidenum">
              <a:rPr lang="en-IN" smtClean="0"/>
              <a:t>‹#›</a:t>
            </a:fld>
            <a:endParaRPr lang="en-IN"/>
          </a:p>
        </p:txBody>
      </p:sp>
    </p:spTree>
    <p:extLst>
      <p:ext uri="{BB962C8B-B14F-4D97-AF65-F5344CB8AC3E}">
        <p14:creationId xmlns:p14="http://schemas.microsoft.com/office/powerpoint/2010/main" val="2674237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31-01-2023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1888992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31-01-2023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229788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9E2ED03-6B94-4345-8944-CFCF63F6DEC1}" type="datetimeFigureOut">
              <a:rPr lang="en-IN" smtClean="0"/>
              <a:t>31-01-2023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4103904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9E2ED03-6B94-4345-8944-CFCF63F6DEC1}" type="datetimeFigureOut">
              <a:rPr lang="en-IN" smtClean="0"/>
              <a:t>31-01-2023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106231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9E2ED03-6B94-4345-8944-CFCF63F6DEC1}" type="datetimeFigureOut">
              <a:rPr lang="en-IN" smtClean="0"/>
              <a:t>31-01-2023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3622886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9E2ED03-6B94-4345-8944-CFCF63F6DEC1}" type="datetimeFigureOut">
              <a:rPr lang="en-IN" smtClean="0"/>
              <a:t>31-01-2023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93092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E2ED03-6B94-4345-8944-CFCF63F6DEC1}" type="datetimeFigureOut">
              <a:rPr lang="en-IN" smtClean="0"/>
              <a:t>31-01-2023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1648085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E2ED03-6B94-4345-8944-CFCF63F6DEC1}" type="datetimeFigureOut">
              <a:rPr lang="en-IN" smtClean="0"/>
              <a:t>31-01-2023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387890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E2ED03-6B94-4345-8944-CFCF63F6DEC1}" type="datetimeFigureOut">
              <a:rPr lang="en-IN" smtClean="0"/>
              <a:t>31-01-2023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566593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31-01-2023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455742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31-01-2023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064479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E2ED03-6B94-4345-8944-CFCF63F6DEC1}" type="datetimeFigureOut">
              <a:rPr lang="en-IN" smtClean="0"/>
              <a:t>31-01-2023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8C682-AE47-4C43-B1ED-12799A6AD0EB}" type="slidenum">
              <a:rPr lang="en-IN" smtClean="0"/>
              <a:t>‹#›</a:t>
            </a:fld>
            <a:endParaRPr lang="en-IN"/>
          </a:p>
        </p:txBody>
      </p:sp>
    </p:spTree>
    <p:extLst>
      <p:ext uri="{BB962C8B-B14F-4D97-AF65-F5344CB8AC3E}">
        <p14:creationId xmlns:p14="http://schemas.microsoft.com/office/powerpoint/2010/main" val="393854093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www.slideserve.come/" TargetMode="External"/><Relationship Id="rId2" Type="http://schemas.openxmlformats.org/officeDocument/2006/relationships/hyperlink" Target="http://www.slideshare.com/"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5003" y="237506"/>
            <a:ext cx="11792197" cy="6305798"/>
          </a:xfrm>
        </p:spPr>
        <p:txBody>
          <a:bodyPr>
            <a:normAutofit/>
          </a:bodyPr>
          <a:lstStyle/>
          <a:p>
            <a:endParaRPr lang="en-US" dirty="0" smtClean="0">
              <a:solidFill>
                <a:srgbClr val="0070C0"/>
              </a:solidFill>
              <a:latin typeface="Arial" panose="020B0604020202020204" pitchFamily="34" charset="0"/>
              <a:cs typeface="Arial" panose="020B0604020202020204" pitchFamily="34" charset="0"/>
            </a:endParaRPr>
          </a:p>
          <a:p>
            <a:endParaRPr lang="en-US" sz="3600" dirty="0" smtClean="0">
              <a:solidFill>
                <a:srgbClr val="0070C0"/>
              </a:solidFill>
              <a:latin typeface="Algerian" panose="04020705040A02060702" pitchFamily="82" charset="0"/>
              <a:cs typeface="Arial" panose="020B0604020202020204" pitchFamily="34" charset="0"/>
            </a:endParaRPr>
          </a:p>
          <a:p>
            <a:endParaRPr lang="en-US" sz="3600" dirty="0">
              <a:solidFill>
                <a:srgbClr val="0070C0"/>
              </a:solidFill>
              <a:latin typeface="Algerian" panose="04020705040A02060702" pitchFamily="82" charset="0"/>
              <a:cs typeface="Arial" panose="020B0604020202020204" pitchFamily="34" charset="0"/>
            </a:endParaRPr>
          </a:p>
          <a:p>
            <a:endParaRPr lang="en-US" sz="3600" dirty="0" smtClean="0">
              <a:solidFill>
                <a:srgbClr val="0070C0"/>
              </a:solidFill>
              <a:latin typeface="Algerian" panose="04020705040A02060702" pitchFamily="82" charset="0"/>
              <a:cs typeface="Arial" panose="020B0604020202020204" pitchFamily="34" charset="0"/>
            </a:endParaRPr>
          </a:p>
          <a:p>
            <a:r>
              <a:rPr lang="en-US" sz="6000" dirty="0" smtClean="0">
                <a:solidFill>
                  <a:srgbClr val="0070C0"/>
                </a:solidFill>
                <a:latin typeface="Algerian" panose="04020705040A02060702" pitchFamily="82" charset="0"/>
                <a:cs typeface="Arial" panose="020B0604020202020204" pitchFamily="34" charset="0"/>
              </a:rPr>
              <a:t> </a:t>
            </a:r>
            <a:endParaRPr lang="en-US" sz="6000" dirty="0">
              <a:solidFill>
                <a:srgbClr val="0070C0"/>
              </a:solidFill>
              <a:latin typeface="Algerian" panose="04020705040A02060702" pitchFamily="82" charset="0"/>
              <a:cs typeface="Arial" panose="020B0604020202020204" pitchFamily="34" charset="0"/>
            </a:endParaRPr>
          </a:p>
        </p:txBody>
      </p:sp>
      <p:sp>
        <p:nvSpPr>
          <p:cNvPr id="2" name="TextBox 1"/>
          <p:cNvSpPr txBox="1"/>
          <p:nvPr/>
        </p:nvSpPr>
        <p:spPr>
          <a:xfrm>
            <a:off x="2180492" y="1533378"/>
            <a:ext cx="8173330" cy="1569660"/>
          </a:xfrm>
          <a:prstGeom prst="rect">
            <a:avLst/>
          </a:prstGeom>
          <a:noFill/>
        </p:spPr>
        <p:txBody>
          <a:bodyPr wrap="square" rtlCol="0">
            <a:spAutoFit/>
          </a:bodyPr>
          <a:lstStyle/>
          <a:p>
            <a:r>
              <a:rPr lang="en-US" sz="9600" dirty="0" smtClean="0">
                <a:solidFill>
                  <a:srgbClr val="0070C0"/>
                </a:solidFill>
                <a:latin typeface="Algerian" panose="04020705040A02060702" pitchFamily="82" charset="0"/>
              </a:rPr>
              <a:t>Sequencing</a:t>
            </a:r>
            <a:endParaRPr lang="en-IN" sz="9600" dirty="0">
              <a:solidFill>
                <a:srgbClr val="0070C0"/>
              </a:solidFill>
              <a:latin typeface="Algerian" panose="04020705040A02060702" pitchFamily="82" charset="0"/>
            </a:endParaRPr>
          </a:p>
        </p:txBody>
      </p:sp>
    </p:spTree>
    <p:extLst>
      <p:ext uri="{BB962C8B-B14F-4D97-AF65-F5344CB8AC3E}">
        <p14:creationId xmlns:p14="http://schemas.microsoft.com/office/powerpoint/2010/main" val="4235275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9994" y="295423"/>
            <a:ext cx="10466363" cy="6316392"/>
          </a:xfrm>
        </p:spPr>
      </p:pic>
    </p:spTree>
    <p:extLst>
      <p:ext uri="{BB962C8B-B14F-4D97-AF65-F5344CB8AC3E}">
        <p14:creationId xmlns:p14="http://schemas.microsoft.com/office/powerpoint/2010/main" val="4035843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2197" y="239151"/>
            <a:ext cx="10339754" cy="6035040"/>
          </a:xfrm>
        </p:spPr>
      </p:pic>
    </p:spTree>
    <p:extLst>
      <p:ext uri="{BB962C8B-B14F-4D97-AF65-F5344CB8AC3E}">
        <p14:creationId xmlns:p14="http://schemas.microsoft.com/office/powerpoint/2010/main" val="2732347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817" y="213756"/>
            <a:ext cx="11707091" cy="6422571"/>
          </a:xfrm>
        </p:spPr>
        <p:txBody>
          <a:bodyPr>
            <a:normAutofit/>
          </a:bodyPr>
          <a:lstStyle/>
          <a:p>
            <a:pPr algn="just"/>
            <a:endParaRPr lang="en-US" sz="2400" dirty="0" smtClean="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844062" y="213756"/>
            <a:ext cx="10494498" cy="6422571"/>
          </a:xfrm>
          <a:prstGeom prst="rect">
            <a:avLst/>
          </a:prstGeom>
        </p:spPr>
      </p:pic>
    </p:spTree>
    <p:extLst>
      <p:ext uri="{BB962C8B-B14F-4D97-AF65-F5344CB8AC3E}">
        <p14:creationId xmlns:p14="http://schemas.microsoft.com/office/powerpoint/2010/main" val="39478605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3137" y="84221"/>
            <a:ext cx="10956758" cy="6417595"/>
          </a:xfrm>
        </p:spPr>
        <p:txBody>
          <a:bodyPr>
            <a:normAutofit/>
          </a:bodyPr>
          <a:lstStyle/>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590843" y="393895"/>
            <a:ext cx="10986868" cy="5922499"/>
          </a:xfrm>
          <a:prstGeom prst="rect">
            <a:avLst/>
          </a:prstGeom>
        </p:spPr>
      </p:pic>
    </p:spTree>
    <p:extLst>
      <p:ext uri="{BB962C8B-B14F-4D97-AF65-F5344CB8AC3E}">
        <p14:creationId xmlns:p14="http://schemas.microsoft.com/office/powerpoint/2010/main" val="14857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947" y="288758"/>
            <a:ext cx="11405937" cy="6316579"/>
          </a:xfrm>
        </p:spPr>
        <p:txBody>
          <a:bodyPr>
            <a:normAutofit/>
          </a:bodyPr>
          <a:lstStyle/>
          <a:p>
            <a:pPr algn="just"/>
            <a:endParaRPr lang="en-US" sz="2400" dirty="0" smtClean="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506437" y="288758"/>
            <a:ext cx="11057206" cy="6013568"/>
          </a:xfrm>
          <a:prstGeom prst="rect">
            <a:avLst/>
          </a:prstGeom>
        </p:spPr>
      </p:pic>
    </p:spTree>
    <p:extLst>
      <p:ext uri="{BB962C8B-B14F-4D97-AF65-F5344CB8AC3E}">
        <p14:creationId xmlns:p14="http://schemas.microsoft.com/office/powerpoint/2010/main" val="323347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347" y="385011"/>
            <a:ext cx="11790948" cy="6316578"/>
          </a:xfrm>
        </p:spPr>
        <p:txBody>
          <a:bodyPr>
            <a:normAutofit/>
          </a:bodyPr>
          <a:lstStyle/>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618978" y="385012"/>
            <a:ext cx="11015003" cy="6128330"/>
          </a:xfrm>
          <a:prstGeom prst="rect">
            <a:avLst/>
          </a:prstGeom>
        </p:spPr>
      </p:pic>
    </p:spTree>
    <p:extLst>
      <p:ext uri="{BB962C8B-B14F-4D97-AF65-F5344CB8AC3E}">
        <p14:creationId xmlns:p14="http://schemas.microsoft.com/office/powerpoint/2010/main" val="3280733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858129" y="534572"/>
            <a:ext cx="10691446" cy="5753685"/>
          </a:xfrm>
          <a:prstGeom prst="rect">
            <a:avLst/>
          </a:prstGeom>
        </p:spPr>
      </p:pic>
    </p:spTree>
    <p:extLst>
      <p:ext uri="{BB962C8B-B14F-4D97-AF65-F5344CB8AC3E}">
        <p14:creationId xmlns:p14="http://schemas.microsoft.com/office/powerpoint/2010/main" val="2394285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218" y="290945"/>
            <a:ext cx="11430000" cy="6276110"/>
          </a:xfrm>
        </p:spPr>
        <p:txBody>
          <a:bodyPr>
            <a:normAutofit/>
          </a:bodyPr>
          <a:lstStyle/>
          <a:p>
            <a:pPr marL="0" indent="0">
              <a:buNone/>
            </a:pPr>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pPr marL="0" indent="0">
              <a:buNone/>
            </a:pPr>
            <a:endParaRPr lang="en-US" sz="4400" dirty="0" smtClean="0">
              <a:solidFill>
                <a:srgbClr val="7030A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360219" y="164335"/>
            <a:ext cx="11430000" cy="6152058"/>
          </a:xfrm>
          <a:prstGeom prst="rect">
            <a:avLst/>
          </a:prstGeom>
        </p:spPr>
      </p:pic>
    </p:spTree>
    <p:extLst>
      <p:ext uri="{BB962C8B-B14F-4D97-AF65-F5344CB8AC3E}">
        <p14:creationId xmlns:p14="http://schemas.microsoft.com/office/powerpoint/2010/main" val="1120338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436099" y="365760"/>
            <a:ext cx="11240086" cy="6147582"/>
          </a:xfrm>
          <a:prstGeom prst="rect">
            <a:avLst/>
          </a:prstGeom>
        </p:spPr>
      </p:pic>
    </p:spTree>
    <p:extLst>
      <p:ext uri="{BB962C8B-B14F-4D97-AF65-F5344CB8AC3E}">
        <p14:creationId xmlns:p14="http://schemas.microsoft.com/office/powerpoint/2010/main" val="3463343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90500" y="316575"/>
            <a:ext cx="11731625" cy="6307400"/>
          </a:xfrm>
          <a:prstGeom prst="rect">
            <a:avLst/>
          </a:prstGeom>
        </p:spPr>
      </p:pic>
    </p:spTree>
    <p:extLst>
      <p:ext uri="{BB962C8B-B14F-4D97-AF65-F5344CB8AC3E}">
        <p14:creationId xmlns:p14="http://schemas.microsoft.com/office/powerpoint/2010/main" val="2800925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675249" y="351692"/>
            <a:ext cx="10522634" cy="6077243"/>
          </a:xfrm>
          <a:prstGeom prst="rect">
            <a:avLst/>
          </a:prstGeom>
        </p:spPr>
      </p:pic>
    </p:spTree>
    <p:extLst>
      <p:ext uri="{BB962C8B-B14F-4D97-AF65-F5344CB8AC3E}">
        <p14:creationId xmlns:p14="http://schemas.microsoft.com/office/powerpoint/2010/main" val="3434069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509" y="166255"/>
            <a:ext cx="11582400" cy="6400800"/>
          </a:xfrm>
        </p:spPr>
        <p:txBody>
          <a:bodyPr>
            <a:normAutofit/>
          </a:bodyPr>
          <a:lstStyle/>
          <a:p>
            <a:pPr marL="0" indent="0" algn="ctr">
              <a:buNone/>
            </a:pPr>
            <a:r>
              <a:rPr lang="en-US" dirty="0" smtClean="0"/>
              <a:t>                </a:t>
            </a:r>
            <a:endParaRPr lang="en-US" dirty="0" smtClean="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436099" y="422031"/>
            <a:ext cx="10944664" cy="5992837"/>
          </a:xfrm>
          <a:prstGeom prst="rect">
            <a:avLst/>
          </a:prstGeom>
        </p:spPr>
      </p:pic>
    </p:spTree>
    <p:extLst>
      <p:ext uri="{BB962C8B-B14F-4D97-AF65-F5344CB8AC3E}">
        <p14:creationId xmlns:p14="http://schemas.microsoft.com/office/powerpoint/2010/main" val="3942451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214313" y="225083"/>
            <a:ext cx="11461872" cy="6231988"/>
          </a:xfrm>
          <a:prstGeom prst="rect">
            <a:avLst/>
          </a:prstGeom>
        </p:spPr>
      </p:pic>
    </p:spTree>
    <p:extLst>
      <p:ext uri="{BB962C8B-B14F-4D97-AF65-F5344CB8AC3E}">
        <p14:creationId xmlns:p14="http://schemas.microsoft.com/office/powerpoint/2010/main" val="2593323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1881" y="190005"/>
            <a:ext cx="11863449" cy="6412676"/>
          </a:xfrm>
        </p:spPr>
        <p:txBody>
          <a:bodyPr>
            <a:normAutofit/>
          </a:bodyPr>
          <a:lstStyle/>
          <a:p>
            <a:pPr marL="0" indent="0" algn="ctr">
              <a:buNone/>
            </a:pPr>
            <a:r>
              <a:rPr lang="en-US" dirty="0" smtClean="0">
                <a:latin typeface="Times New Roman" panose="02020603050405020304" pitchFamily="18" charset="0"/>
                <a:cs typeface="Times New Roman" panose="02020603050405020304" pitchFamily="18" charset="0"/>
              </a:rPr>
              <a:t>.</a:t>
            </a:r>
          </a:p>
        </p:txBody>
      </p:sp>
      <p:pic>
        <p:nvPicPr>
          <p:cNvPr id="2" name="Picture 1"/>
          <p:cNvPicPr>
            <a:picLocks noChangeAspect="1"/>
          </p:cNvPicPr>
          <p:nvPr/>
        </p:nvPicPr>
        <p:blipFill>
          <a:blip r:embed="rId2"/>
          <a:stretch>
            <a:fillRect/>
          </a:stretch>
        </p:blipFill>
        <p:spPr>
          <a:xfrm>
            <a:off x="534572" y="506437"/>
            <a:ext cx="10902462" cy="6096244"/>
          </a:xfrm>
          <a:prstGeom prst="rect">
            <a:avLst/>
          </a:prstGeom>
        </p:spPr>
      </p:pic>
    </p:spTree>
    <p:extLst>
      <p:ext uri="{BB962C8B-B14F-4D97-AF65-F5344CB8AC3E}">
        <p14:creationId xmlns:p14="http://schemas.microsoft.com/office/powerpoint/2010/main" val="4087883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323557" y="731520"/>
            <a:ext cx="10832123" cy="5486399"/>
          </a:xfrm>
          <a:prstGeom prst="rect">
            <a:avLst/>
          </a:prstGeom>
        </p:spPr>
      </p:pic>
    </p:spTree>
    <p:extLst>
      <p:ext uri="{BB962C8B-B14F-4D97-AF65-F5344CB8AC3E}">
        <p14:creationId xmlns:p14="http://schemas.microsoft.com/office/powerpoint/2010/main" val="1950920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249238" y="404101"/>
            <a:ext cx="11672887" cy="6151443"/>
          </a:xfrm>
          <a:prstGeom prst="rect">
            <a:avLst/>
          </a:prstGeom>
        </p:spPr>
      </p:pic>
    </p:spTree>
    <p:extLst>
      <p:ext uri="{BB962C8B-B14F-4D97-AF65-F5344CB8AC3E}">
        <p14:creationId xmlns:p14="http://schemas.microsoft.com/office/powerpoint/2010/main" val="668432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344488" y="126609"/>
            <a:ext cx="11518900" cy="6386733"/>
          </a:xfrm>
          <a:prstGeom prst="rect">
            <a:avLst/>
          </a:prstGeom>
        </p:spPr>
      </p:pic>
    </p:spTree>
    <p:extLst>
      <p:ext uri="{BB962C8B-B14F-4D97-AF65-F5344CB8AC3E}">
        <p14:creationId xmlns:p14="http://schemas.microsoft.com/office/powerpoint/2010/main" val="1667348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78301" y="239151"/>
            <a:ext cx="11099409" cy="6274191"/>
          </a:xfrm>
          <a:prstGeom prst="rect">
            <a:avLst/>
          </a:prstGeom>
        </p:spPr>
      </p:pic>
    </p:spTree>
    <p:extLst>
      <p:ext uri="{BB962C8B-B14F-4D97-AF65-F5344CB8AC3E}">
        <p14:creationId xmlns:p14="http://schemas.microsoft.com/office/powerpoint/2010/main" val="4060423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214313" y="112542"/>
            <a:ext cx="11672887" cy="6527409"/>
          </a:xfrm>
          <a:prstGeom prst="rect">
            <a:avLst/>
          </a:prstGeom>
        </p:spPr>
      </p:pic>
    </p:spTree>
    <p:extLst>
      <p:ext uri="{BB962C8B-B14F-4D97-AF65-F5344CB8AC3E}">
        <p14:creationId xmlns:p14="http://schemas.microsoft.com/office/powerpoint/2010/main" val="3509706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003" y="106878"/>
            <a:ext cx="11946576" cy="6751121"/>
          </a:xfrm>
        </p:spPr>
        <p:txBody>
          <a:bodyPr>
            <a:normAutofit/>
          </a:bodyPr>
          <a:lstStyle/>
          <a:p>
            <a:pPr marL="0" indent="0" algn="ctr">
              <a:buNone/>
            </a:pP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267286" y="295422"/>
            <a:ext cx="11183816" cy="6063175"/>
          </a:xfrm>
          <a:prstGeom prst="rect">
            <a:avLst/>
          </a:prstGeom>
        </p:spPr>
      </p:pic>
    </p:spTree>
    <p:extLst>
      <p:ext uri="{BB962C8B-B14F-4D97-AF65-F5344CB8AC3E}">
        <p14:creationId xmlns:p14="http://schemas.microsoft.com/office/powerpoint/2010/main" val="2258939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23557" y="239151"/>
            <a:ext cx="11057206" cy="6217919"/>
          </a:xfrm>
          <a:prstGeom prst="rect">
            <a:avLst/>
          </a:prstGeom>
        </p:spPr>
      </p:pic>
    </p:spTree>
    <p:extLst>
      <p:ext uri="{BB962C8B-B14F-4D97-AF65-F5344CB8AC3E}">
        <p14:creationId xmlns:p14="http://schemas.microsoft.com/office/powerpoint/2010/main" val="3541850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478302" y="196948"/>
            <a:ext cx="11029069" cy="6471138"/>
          </a:xfrm>
          <a:prstGeom prst="rect">
            <a:avLst/>
          </a:prstGeom>
        </p:spPr>
      </p:pic>
    </p:spTree>
    <p:extLst>
      <p:ext uri="{BB962C8B-B14F-4D97-AF65-F5344CB8AC3E}">
        <p14:creationId xmlns:p14="http://schemas.microsoft.com/office/powerpoint/2010/main" val="4121132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548640" y="337625"/>
            <a:ext cx="10649243" cy="5839338"/>
          </a:xfrm>
          <a:prstGeom prst="rect">
            <a:avLst/>
          </a:prstGeom>
        </p:spPr>
      </p:pic>
    </p:spTree>
    <p:extLst>
      <p:ext uri="{BB962C8B-B14F-4D97-AF65-F5344CB8AC3E}">
        <p14:creationId xmlns:p14="http://schemas.microsoft.com/office/powerpoint/2010/main" val="2204012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379828" y="323557"/>
            <a:ext cx="11408898" cy="6302325"/>
          </a:xfrm>
          <a:prstGeom prst="rect">
            <a:avLst/>
          </a:prstGeom>
        </p:spPr>
      </p:pic>
    </p:spTree>
    <p:extLst>
      <p:ext uri="{BB962C8B-B14F-4D97-AF65-F5344CB8AC3E}">
        <p14:creationId xmlns:p14="http://schemas.microsoft.com/office/powerpoint/2010/main" val="3879595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379" y="196948"/>
            <a:ext cx="11851105" cy="6661052"/>
          </a:xfrm>
        </p:spPr>
        <p:txBody>
          <a:bodyPr>
            <a:normAutofit/>
          </a:bodyPr>
          <a:lstStyle/>
          <a:p>
            <a:pPr algn="just"/>
            <a:endParaRPr lang="en-US" dirty="0" smtClean="0">
              <a:latin typeface="Times New Roman" panose="02020603050405020304" pitchFamily="18" charset="0"/>
              <a:cs typeface="Times New Roman" panose="02020603050405020304" pitchFamily="18" charset="0"/>
            </a:endParaRPr>
          </a:p>
          <a:p>
            <a:pPr marL="0" indent="0">
              <a:buNone/>
            </a:pPr>
            <a:endParaRPr lang="en-US" sz="2400" dirty="0" smtClean="0">
              <a:solidFill>
                <a:srgbClr val="C00000"/>
              </a:solidFill>
            </a:endParaRPr>
          </a:p>
        </p:txBody>
      </p:sp>
      <p:pic>
        <p:nvPicPr>
          <p:cNvPr id="2" name="Picture 1"/>
          <p:cNvPicPr>
            <a:picLocks noChangeAspect="1"/>
          </p:cNvPicPr>
          <p:nvPr/>
        </p:nvPicPr>
        <p:blipFill>
          <a:blip r:embed="rId2"/>
          <a:stretch>
            <a:fillRect/>
          </a:stretch>
        </p:blipFill>
        <p:spPr>
          <a:xfrm>
            <a:off x="576775" y="323557"/>
            <a:ext cx="10325687" cy="5781821"/>
          </a:xfrm>
          <a:prstGeom prst="rect">
            <a:avLst/>
          </a:prstGeom>
        </p:spPr>
      </p:pic>
    </p:spTree>
    <p:extLst>
      <p:ext uri="{BB962C8B-B14F-4D97-AF65-F5344CB8AC3E}">
        <p14:creationId xmlns:p14="http://schemas.microsoft.com/office/powerpoint/2010/main" val="4054715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44463" y="618978"/>
            <a:ext cx="11706225" cy="4813419"/>
          </a:xfrm>
          <a:prstGeom prst="rect">
            <a:avLst/>
          </a:prstGeom>
        </p:spPr>
      </p:pic>
    </p:spTree>
    <p:extLst>
      <p:ext uri="{BB962C8B-B14F-4D97-AF65-F5344CB8AC3E}">
        <p14:creationId xmlns:p14="http://schemas.microsoft.com/office/powerpoint/2010/main" val="1532145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3675" y="281354"/>
            <a:ext cx="11679238" cy="6035039"/>
          </a:xfrm>
          <a:prstGeom prst="rect">
            <a:avLst/>
          </a:prstGeom>
        </p:spPr>
      </p:pic>
    </p:spTree>
    <p:extLst>
      <p:ext uri="{BB962C8B-B14F-4D97-AF65-F5344CB8AC3E}">
        <p14:creationId xmlns:p14="http://schemas.microsoft.com/office/powerpoint/2010/main" val="35012627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80975" y="337625"/>
            <a:ext cx="11424871" cy="5890005"/>
          </a:xfrm>
          <a:prstGeom prst="rect">
            <a:avLst/>
          </a:prstGeom>
        </p:spPr>
      </p:pic>
    </p:spTree>
    <p:extLst>
      <p:ext uri="{BB962C8B-B14F-4D97-AF65-F5344CB8AC3E}">
        <p14:creationId xmlns:p14="http://schemas.microsoft.com/office/powerpoint/2010/main" val="26541444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2688" y="225082"/>
            <a:ext cx="10934237" cy="6091311"/>
          </a:xfrm>
        </p:spPr>
      </p:pic>
    </p:spTree>
    <p:extLst>
      <p:ext uri="{BB962C8B-B14F-4D97-AF65-F5344CB8AC3E}">
        <p14:creationId xmlns:p14="http://schemas.microsoft.com/office/powerpoint/2010/main" val="35875809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241300" y="450166"/>
            <a:ext cx="11669713" cy="5809957"/>
          </a:xfrm>
          <a:prstGeom prst="rect">
            <a:avLst/>
          </a:prstGeom>
        </p:spPr>
      </p:pic>
    </p:spTree>
    <p:extLst>
      <p:ext uri="{BB962C8B-B14F-4D97-AF65-F5344CB8AC3E}">
        <p14:creationId xmlns:p14="http://schemas.microsoft.com/office/powerpoint/2010/main" val="3650297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a:stretch>
            <a:fillRect/>
          </a:stretch>
        </p:blipFill>
        <p:spPr>
          <a:xfrm>
            <a:off x="296863" y="768546"/>
            <a:ext cx="11056937" cy="4865296"/>
          </a:xfrm>
          <a:prstGeom prst="rect">
            <a:avLst/>
          </a:prstGeom>
        </p:spPr>
      </p:pic>
    </p:spTree>
    <p:extLst>
      <p:ext uri="{BB962C8B-B14F-4D97-AF65-F5344CB8AC3E}">
        <p14:creationId xmlns:p14="http://schemas.microsoft.com/office/powerpoint/2010/main" val="5265916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42875" y="253218"/>
            <a:ext cx="11631783" cy="6344529"/>
          </a:xfrm>
          <a:prstGeom prst="rect">
            <a:avLst/>
          </a:prstGeom>
        </p:spPr>
      </p:pic>
    </p:spTree>
    <p:extLst>
      <p:ext uri="{BB962C8B-B14F-4D97-AF65-F5344CB8AC3E}">
        <p14:creationId xmlns:p14="http://schemas.microsoft.com/office/powerpoint/2010/main" val="1980781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83336" y="507169"/>
            <a:ext cx="10851825" cy="5824538"/>
          </a:xfrm>
          <a:prstGeom prst="rect">
            <a:avLst/>
          </a:prstGeom>
        </p:spPr>
      </p:pic>
    </p:spTree>
    <p:extLst>
      <p:ext uri="{BB962C8B-B14F-4D97-AF65-F5344CB8AC3E}">
        <p14:creationId xmlns:p14="http://schemas.microsoft.com/office/powerpoint/2010/main" val="15663606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42875" y="168812"/>
            <a:ext cx="11696700" cy="6527410"/>
          </a:xfrm>
          <a:prstGeom prst="rect">
            <a:avLst/>
          </a:prstGeom>
        </p:spPr>
      </p:pic>
    </p:spTree>
    <p:extLst>
      <p:ext uri="{BB962C8B-B14F-4D97-AF65-F5344CB8AC3E}">
        <p14:creationId xmlns:p14="http://schemas.microsoft.com/office/powerpoint/2010/main" val="19975324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409449" y="196948"/>
            <a:ext cx="11068301" cy="6370540"/>
          </a:xfrm>
          <a:prstGeom prst="rect">
            <a:avLst/>
          </a:prstGeom>
        </p:spPr>
      </p:pic>
    </p:spTree>
    <p:extLst>
      <p:ext uri="{BB962C8B-B14F-4D97-AF65-F5344CB8AC3E}">
        <p14:creationId xmlns:p14="http://schemas.microsoft.com/office/powerpoint/2010/main" val="9343942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86621" y="154744"/>
            <a:ext cx="10761428" cy="6344529"/>
          </a:xfrm>
          <a:prstGeom prst="rect">
            <a:avLst/>
          </a:prstGeom>
        </p:spPr>
      </p:pic>
    </p:spTree>
    <p:extLst>
      <p:ext uri="{BB962C8B-B14F-4D97-AF65-F5344CB8AC3E}">
        <p14:creationId xmlns:p14="http://schemas.microsoft.com/office/powerpoint/2010/main" val="12925122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77800" y="661182"/>
            <a:ext cx="11698288" cy="4986257"/>
          </a:xfrm>
          <a:prstGeom prst="rect">
            <a:avLst/>
          </a:prstGeom>
        </p:spPr>
      </p:pic>
    </p:spTree>
    <p:extLst>
      <p:ext uri="{BB962C8B-B14F-4D97-AF65-F5344CB8AC3E}">
        <p14:creationId xmlns:p14="http://schemas.microsoft.com/office/powerpoint/2010/main" val="31951777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331068" y="295421"/>
            <a:ext cx="11402864" cy="6319691"/>
          </a:xfrm>
          <a:prstGeom prst="rect">
            <a:avLst/>
          </a:prstGeom>
        </p:spPr>
      </p:pic>
    </p:spTree>
    <p:extLst>
      <p:ext uri="{BB962C8B-B14F-4D97-AF65-F5344CB8AC3E}">
        <p14:creationId xmlns:p14="http://schemas.microsoft.com/office/powerpoint/2010/main" val="12551225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71593" y="323850"/>
            <a:ext cx="10575739" cy="6133221"/>
          </a:xfrm>
          <a:prstGeom prst="rect">
            <a:avLst/>
          </a:prstGeom>
        </p:spPr>
      </p:pic>
    </p:spTree>
    <p:extLst>
      <p:ext uri="{BB962C8B-B14F-4D97-AF65-F5344CB8AC3E}">
        <p14:creationId xmlns:p14="http://schemas.microsoft.com/office/powerpoint/2010/main" val="1402681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95275" y="182880"/>
            <a:ext cx="11058525" cy="5992837"/>
          </a:xfrm>
          <a:prstGeom prst="rect">
            <a:avLst/>
          </a:prstGeom>
        </p:spPr>
      </p:pic>
    </p:spTree>
    <p:extLst>
      <p:ext uri="{BB962C8B-B14F-4D97-AF65-F5344CB8AC3E}">
        <p14:creationId xmlns:p14="http://schemas.microsoft.com/office/powerpoint/2010/main" val="5805327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22275" y="253218"/>
            <a:ext cx="10888663" cy="6146807"/>
          </a:xfrm>
          <a:prstGeom prst="rect">
            <a:avLst/>
          </a:prstGeom>
        </p:spPr>
      </p:pic>
    </p:spTree>
    <p:extLst>
      <p:ext uri="{BB962C8B-B14F-4D97-AF65-F5344CB8AC3E}">
        <p14:creationId xmlns:p14="http://schemas.microsoft.com/office/powerpoint/2010/main" val="21998473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93700" y="229251"/>
            <a:ext cx="10960100" cy="6143414"/>
          </a:xfrm>
          <a:prstGeom prst="rect">
            <a:avLst/>
          </a:prstGeom>
        </p:spPr>
      </p:pic>
    </p:spTree>
    <p:extLst>
      <p:ext uri="{BB962C8B-B14F-4D97-AF65-F5344CB8AC3E}">
        <p14:creationId xmlns:p14="http://schemas.microsoft.com/office/powerpoint/2010/main" val="3998454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298662"/>
            <a:ext cx="10515600" cy="6270949"/>
          </a:xfrm>
          <a:prstGeom prst="rect">
            <a:avLst/>
          </a:prstGeom>
        </p:spPr>
      </p:pic>
    </p:spTree>
    <p:extLst>
      <p:ext uri="{BB962C8B-B14F-4D97-AF65-F5344CB8AC3E}">
        <p14:creationId xmlns:p14="http://schemas.microsoft.com/office/powerpoint/2010/main" val="19306382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323558"/>
            <a:ext cx="11034932" cy="6161648"/>
          </a:xfrm>
          <a:prstGeom prst="rect">
            <a:avLst/>
          </a:prstGeom>
        </p:spPr>
      </p:pic>
    </p:spTree>
    <p:extLst>
      <p:ext uri="{BB962C8B-B14F-4D97-AF65-F5344CB8AC3E}">
        <p14:creationId xmlns:p14="http://schemas.microsoft.com/office/powerpoint/2010/main" val="455127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8275" y="168812"/>
            <a:ext cx="11185525" cy="6246055"/>
          </a:xfrm>
          <a:prstGeom prst="rect">
            <a:avLst/>
          </a:prstGeom>
        </p:spPr>
      </p:pic>
    </p:spTree>
    <p:extLst>
      <p:ext uri="{BB962C8B-B14F-4D97-AF65-F5344CB8AC3E}">
        <p14:creationId xmlns:p14="http://schemas.microsoft.com/office/powerpoint/2010/main" val="18941187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39151" y="98475"/>
            <a:ext cx="11648049" cy="6541476"/>
          </a:xfrm>
          <a:prstGeom prst="rect">
            <a:avLst/>
          </a:prstGeom>
        </p:spPr>
      </p:pic>
    </p:spTree>
    <p:extLst>
      <p:ext uri="{BB962C8B-B14F-4D97-AF65-F5344CB8AC3E}">
        <p14:creationId xmlns:p14="http://schemas.microsoft.com/office/powerpoint/2010/main" val="5356024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39151" y="154745"/>
            <a:ext cx="11802794" cy="6527409"/>
          </a:xfrm>
          <a:prstGeom prst="rect">
            <a:avLst/>
          </a:prstGeom>
        </p:spPr>
      </p:pic>
    </p:spTree>
    <p:extLst>
      <p:ext uri="{BB962C8B-B14F-4D97-AF65-F5344CB8AC3E}">
        <p14:creationId xmlns:p14="http://schemas.microsoft.com/office/powerpoint/2010/main" val="4778131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81355" y="211015"/>
            <a:ext cx="11746522" cy="6485207"/>
          </a:xfrm>
          <a:prstGeom prst="rect">
            <a:avLst/>
          </a:prstGeom>
        </p:spPr>
      </p:pic>
    </p:spTree>
    <p:extLst>
      <p:ext uri="{BB962C8B-B14F-4D97-AF65-F5344CB8AC3E}">
        <p14:creationId xmlns:p14="http://schemas.microsoft.com/office/powerpoint/2010/main" val="39926113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4745" y="126609"/>
            <a:ext cx="11718387" cy="6611815"/>
          </a:xfrm>
          <a:prstGeom prst="rect">
            <a:avLst/>
          </a:prstGeom>
        </p:spPr>
      </p:pic>
    </p:spTree>
    <p:extLst>
      <p:ext uri="{BB962C8B-B14F-4D97-AF65-F5344CB8AC3E}">
        <p14:creationId xmlns:p14="http://schemas.microsoft.com/office/powerpoint/2010/main" val="41878687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65761" y="309489"/>
            <a:ext cx="11310424" cy="6161650"/>
          </a:xfrm>
          <a:prstGeom prst="rect">
            <a:avLst/>
          </a:prstGeom>
        </p:spPr>
      </p:pic>
    </p:spTree>
    <p:extLst>
      <p:ext uri="{BB962C8B-B14F-4D97-AF65-F5344CB8AC3E}">
        <p14:creationId xmlns:p14="http://schemas.microsoft.com/office/powerpoint/2010/main" val="21727861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53218" y="323556"/>
            <a:ext cx="11479237" cy="6344529"/>
          </a:xfrm>
          <a:prstGeom prst="rect">
            <a:avLst/>
          </a:prstGeom>
        </p:spPr>
      </p:pic>
    </p:spTree>
    <p:extLst>
      <p:ext uri="{BB962C8B-B14F-4D97-AF65-F5344CB8AC3E}">
        <p14:creationId xmlns:p14="http://schemas.microsoft.com/office/powerpoint/2010/main" val="8239546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09489" y="211015"/>
            <a:ext cx="11507373" cy="6428936"/>
          </a:xfrm>
          <a:prstGeom prst="rect">
            <a:avLst/>
          </a:prstGeom>
        </p:spPr>
      </p:pic>
    </p:spTree>
    <p:extLst>
      <p:ext uri="{BB962C8B-B14F-4D97-AF65-F5344CB8AC3E}">
        <p14:creationId xmlns:p14="http://schemas.microsoft.com/office/powerpoint/2010/main" val="15679570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81354" y="281354"/>
            <a:ext cx="11451101" cy="6288257"/>
          </a:xfrm>
          <a:prstGeom prst="rect">
            <a:avLst/>
          </a:prstGeom>
        </p:spPr>
      </p:pic>
    </p:spTree>
    <p:extLst>
      <p:ext uri="{BB962C8B-B14F-4D97-AF65-F5344CB8AC3E}">
        <p14:creationId xmlns:p14="http://schemas.microsoft.com/office/powerpoint/2010/main" val="2055070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51692" y="211015"/>
            <a:ext cx="11549576" cy="6217920"/>
          </a:xfrm>
          <a:prstGeom prst="rect">
            <a:avLst/>
          </a:prstGeom>
        </p:spPr>
      </p:pic>
    </p:spTree>
    <p:extLst>
      <p:ext uri="{BB962C8B-B14F-4D97-AF65-F5344CB8AC3E}">
        <p14:creationId xmlns:p14="http://schemas.microsoft.com/office/powerpoint/2010/main" val="11541807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92369" y="436098"/>
            <a:ext cx="10986867" cy="6119447"/>
          </a:xfrm>
          <a:prstGeom prst="rect">
            <a:avLst/>
          </a:prstGeom>
        </p:spPr>
      </p:pic>
    </p:spTree>
    <p:extLst>
      <p:ext uri="{BB962C8B-B14F-4D97-AF65-F5344CB8AC3E}">
        <p14:creationId xmlns:p14="http://schemas.microsoft.com/office/powerpoint/2010/main" val="20328780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06436" y="309490"/>
            <a:ext cx="11380763" cy="6105378"/>
          </a:xfrm>
          <a:prstGeom prst="rect">
            <a:avLst/>
          </a:prstGeom>
        </p:spPr>
      </p:pic>
    </p:spTree>
    <p:extLst>
      <p:ext uri="{BB962C8B-B14F-4D97-AF65-F5344CB8AC3E}">
        <p14:creationId xmlns:p14="http://schemas.microsoft.com/office/powerpoint/2010/main" val="25992039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64235" y="281354"/>
            <a:ext cx="11394830" cy="6316393"/>
          </a:xfrm>
          <a:prstGeom prst="rect">
            <a:avLst/>
          </a:prstGeom>
        </p:spPr>
      </p:pic>
    </p:spTree>
    <p:extLst>
      <p:ext uri="{BB962C8B-B14F-4D97-AF65-F5344CB8AC3E}">
        <p14:creationId xmlns:p14="http://schemas.microsoft.com/office/powerpoint/2010/main" val="29949058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95422" y="281354"/>
            <a:ext cx="11648049" cy="6400799"/>
          </a:xfrm>
          <a:prstGeom prst="rect">
            <a:avLst/>
          </a:prstGeom>
        </p:spPr>
      </p:pic>
    </p:spTree>
    <p:extLst>
      <p:ext uri="{BB962C8B-B14F-4D97-AF65-F5344CB8AC3E}">
        <p14:creationId xmlns:p14="http://schemas.microsoft.com/office/powerpoint/2010/main" val="39652595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81354" y="253218"/>
            <a:ext cx="11633981" cy="6358597"/>
          </a:xfrm>
          <a:prstGeom prst="rect">
            <a:avLst/>
          </a:prstGeom>
        </p:spPr>
      </p:pic>
    </p:spTree>
    <p:extLst>
      <p:ext uri="{BB962C8B-B14F-4D97-AF65-F5344CB8AC3E}">
        <p14:creationId xmlns:p14="http://schemas.microsoft.com/office/powerpoint/2010/main" val="11968438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48640" y="351693"/>
            <a:ext cx="10564837" cy="6105378"/>
          </a:xfrm>
          <a:prstGeom prst="rect">
            <a:avLst/>
          </a:prstGeom>
        </p:spPr>
      </p:pic>
    </p:spTree>
    <p:extLst>
      <p:ext uri="{BB962C8B-B14F-4D97-AF65-F5344CB8AC3E}">
        <p14:creationId xmlns:p14="http://schemas.microsoft.com/office/powerpoint/2010/main" val="4355144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78301" y="309489"/>
            <a:ext cx="11085341" cy="6302325"/>
          </a:xfrm>
          <a:prstGeom prst="rect">
            <a:avLst/>
          </a:prstGeom>
        </p:spPr>
      </p:pic>
    </p:spTree>
    <p:extLst>
      <p:ext uri="{BB962C8B-B14F-4D97-AF65-F5344CB8AC3E}">
        <p14:creationId xmlns:p14="http://schemas.microsoft.com/office/powerpoint/2010/main" val="33748032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478302" y="1026942"/>
            <a:ext cx="11339754" cy="4811149"/>
          </a:xfrm>
          <a:prstGeom prst="rect">
            <a:avLst/>
          </a:prstGeom>
        </p:spPr>
      </p:pic>
    </p:spTree>
    <p:extLst>
      <p:ext uri="{BB962C8B-B14F-4D97-AF65-F5344CB8AC3E}">
        <p14:creationId xmlns:p14="http://schemas.microsoft.com/office/powerpoint/2010/main" val="11413909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0505"/>
            <a:ext cx="10515600" cy="5656458"/>
          </a:xfrm>
        </p:spPr>
        <p:txBody>
          <a:bodyPr/>
          <a:lstStyle/>
          <a:p>
            <a:pPr marL="0" indent="0" algn="just">
              <a:buNone/>
            </a:pPr>
            <a:r>
              <a:rPr lang="en-US" dirty="0" smtClean="0">
                <a:latin typeface="Times New Roman" panose="02020603050405020304" pitchFamily="18" charset="0"/>
                <a:cs typeface="Times New Roman" panose="02020603050405020304" pitchFamily="18" charset="0"/>
              </a:rPr>
              <a:t>The optimal schedule on various machines for job 1 and job 2</a:t>
            </a:r>
          </a:p>
          <a:p>
            <a:pPr marL="0" indent="0" algn="just">
              <a:buNone/>
            </a:pPr>
            <a:r>
              <a:rPr lang="en-US" dirty="0" smtClean="0">
                <a:latin typeface="Times New Roman" panose="02020603050405020304" pitchFamily="18" charset="0"/>
                <a:cs typeface="Times New Roman" panose="02020603050405020304" pitchFamily="18" charset="0"/>
              </a:rPr>
              <a:t>Machine A :    J1-J2</a:t>
            </a:r>
          </a:p>
          <a:p>
            <a:pPr marL="0" indent="0" algn="just">
              <a:buNone/>
            </a:pPr>
            <a:r>
              <a:rPr lang="en-US" dirty="0" smtClean="0">
                <a:latin typeface="Times New Roman" panose="02020603050405020304" pitchFamily="18" charset="0"/>
                <a:cs typeface="Times New Roman" panose="02020603050405020304" pitchFamily="18" charset="0"/>
              </a:rPr>
              <a:t>Machine B:    J2-J1</a:t>
            </a:r>
          </a:p>
          <a:p>
            <a:pPr marL="0" indent="0" algn="just">
              <a:buNone/>
            </a:pPr>
            <a:r>
              <a:rPr lang="en-US" dirty="0" smtClean="0">
                <a:latin typeface="Times New Roman" panose="02020603050405020304" pitchFamily="18" charset="0"/>
                <a:cs typeface="Times New Roman" panose="02020603050405020304" pitchFamily="18" charset="0"/>
              </a:rPr>
              <a:t>Machine C:    J2-J1</a:t>
            </a:r>
          </a:p>
          <a:p>
            <a:pPr marL="0" indent="0" algn="just">
              <a:buNone/>
            </a:pPr>
            <a:r>
              <a:rPr lang="en-US" dirty="0" smtClean="0">
                <a:latin typeface="Times New Roman" panose="02020603050405020304" pitchFamily="18" charset="0"/>
                <a:cs typeface="Times New Roman" panose="02020603050405020304" pitchFamily="18" charset="0"/>
              </a:rPr>
              <a:t>Machine D:    J2-J1</a:t>
            </a:r>
          </a:p>
          <a:p>
            <a:pPr marL="0" indent="0" algn="just">
              <a:buNone/>
            </a:pPr>
            <a:r>
              <a:rPr lang="en-US" dirty="0" smtClean="0">
                <a:latin typeface="Times New Roman" panose="02020603050405020304" pitchFamily="18" charset="0"/>
                <a:cs typeface="Times New Roman" panose="02020603050405020304" pitchFamily="18" charset="0"/>
              </a:rPr>
              <a:t>Machine E :    J2-J1</a:t>
            </a:r>
          </a:p>
          <a:p>
            <a:pPr marL="0" indent="0">
              <a:buNone/>
            </a:pPr>
            <a:endParaRPr lang="en-US" dirty="0" smtClean="0"/>
          </a:p>
          <a:p>
            <a:pPr marL="0" indent="0">
              <a:buNone/>
            </a:pPr>
            <a:endParaRPr lang="en-IN" dirty="0"/>
          </a:p>
        </p:txBody>
      </p:sp>
    </p:spTree>
    <p:extLst>
      <p:ext uri="{BB962C8B-B14F-4D97-AF65-F5344CB8AC3E}">
        <p14:creationId xmlns:p14="http://schemas.microsoft.com/office/powerpoint/2010/main" val="7052557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 y="436098"/>
            <a:ext cx="11170920" cy="5740865"/>
          </a:xfrm>
        </p:spPr>
        <p:txBody>
          <a:bodyPr/>
          <a:lstStyle/>
          <a:p>
            <a:pPr marL="0" indent="0">
              <a:buNone/>
            </a:pPr>
            <a:r>
              <a:rPr lang="en-US" dirty="0" smtClean="0">
                <a:solidFill>
                  <a:srgbClr val="FF0000"/>
                </a:solidFill>
                <a:latin typeface="Times New Roman" panose="02020603050405020304" pitchFamily="18" charset="0"/>
                <a:cs typeface="Times New Roman" panose="02020603050405020304" pitchFamily="18" charset="0"/>
              </a:rPr>
              <a:t>Sources</a:t>
            </a:r>
          </a:p>
          <a:p>
            <a:pPr marL="0" indent="0" algn="just">
              <a:buNone/>
            </a:pPr>
            <a:r>
              <a:rPr lang="en-IN" dirty="0" smtClean="0">
                <a:solidFill>
                  <a:srgbClr val="0070C0"/>
                </a:solidFill>
              </a:rPr>
              <a:t>nptel.ac.in</a:t>
            </a:r>
          </a:p>
          <a:p>
            <a:pPr marL="0" indent="0" algn="just">
              <a:buNone/>
            </a:pPr>
            <a:r>
              <a:rPr lang="en-US" dirty="0" smtClean="0">
                <a:solidFill>
                  <a:srgbClr val="0070C0"/>
                </a:solidFill>
              </a:rPr>
              <a:t>Start practicing</a:t>
            </a:r>
          </a:p>
          <a:p>
            <a:pPr marL="0" indent="0" algn="just">
              <a:buNone/>
            </a:pPr>
            <a:r>
              <a:rPr lang="en-US" dirty="0" smtClean="0">
                <a:solidFill>
                  <a:srgbClr val="0070C0"/>
                </a:solidFill>
                <a:hlinkClick r:id="rId2"/>
              </a:rPr>
              <a:t>www.slideshare.com</a:t>
            </a:r>
            <a:endParaRPr lang="en-US" dirty="0" smtClean="0">
              <a:solidFill>
                <a:srgbClr val="0070C0"/>
              </a:solidFill>
            </a:endParaRPr>
          </a:p>
          <a:p>
            <a:pPr marL="0" indent="0" algn="just">
              <a:buNone/>
            </a:pPr>
            <a:r>
              <a:rPr lang="en-US" dirty="0" smtClean="0">
                <a:solidFill>
                  <a:srgbClr val="0070C0"/>
                </a:solidFill>
                <a:hlinkClick r:id="rId3"/>
              </a:rPr>
              <a:t>www.slideserve.come</a:t>
            </a:r>
            <a:endParaRPr lang="en-US" dirty="0" smtClean="0">
              <a:solidFill>
                <a:srgbClr val="0070C0"/>
              </a:solidFill>
            </a:endParaRPr>
          </a:p>
          <a:p>
            <a:pPr marL="0" indent="0">
              <a:buNone/>
            </a:pPr>
            <a:endParaRPr lang="en-IN" dirty="0"/>
          </a:p>
        </p:txBody>
      </p:sp>
    </p:spTree>
    <p:extLst>
      <p:ext uri="{BB962C8B-B14F-4D97-AF65-F5344CB8AC3E}">
        <p14:creationId xmlns:p14="http://schemas.microsoft.com/office/powerpoint/2010/main" val="19297359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6098" y="393894"/>
            <a:ext cx="11071274" cy="6091311"/>
          </a:xfrm>
        </p:spPr>
        <p:txBody>
          <a:bodyPr>
            <a:normAutofit/>
          </a:bodyPr>
          <a:lstStyle/>
          <a:p>
            <a:pPr marL="0" indent="0" algn="ctr">
              <a:buNone/>
            </a:pPr>
            <a:r>
              <a:rPr lang="en-US" sz="2400" dirty="0" smtClean="0">
                <a:solidFill>
                  <a:srgbClr val="0070C0"/>
                </a:solidFill>
                <a:latin typeface="Times New Roman" panose="02020603050405020304" pitchFamily="18" charset="0"/>
                <a:cs typeface="Times New Roman" panose="02020603050405020304" pitchFamily="18" charset="0"/>
              </a:rPr>
              <a:t>Questions For Continuous evaluation</a:t>
            </a:r>
          </a:p>
          <a:p>
            <a:pPr marL="0" indent="0" algn="just">
              <a:buNone/>
            </a:pPr>
            <a:r>
              <a:rPr lang="en-US" sz="2000" dirty="0" smtClean="0">
                <a:solidFill>
                  <a:srgbClr val="00B0F0"/>
                </a:solidFill>
                <a:latin typeface="Times New Roman" panose="02020603050405020304" pitchFamily="18" charset="0"/>
                <a:cs typeface="Times New Roman" panose="02020603050405020304" pitchFamily="18" charset="0"/>
              </a:rPr>
              <a:t>Example </a:t>
            </a:r>
            <a:r>
              <a:rPr lang="en-US" sz="2000" dirty="0">
                <a:solidFill>
                  <a:srgbClr val="00B0F0"/>
                </a:solidFill>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There are 5 jobs, each of which has to go through the machines A and B in the order AB. The processing times (in hours) are given as </a:t>
            </a:r>
            <a:endParaRPr lang="en-US" sz="2000" dirty="0" smtClean="0">
              <a:latin typeface="Times New Roman" panose="02020603050405020304" pitchFamily="18" charset="0"/>
              <a:cs typeface="Times New Roman" panose="02020603050405020304" pitchFamily="18" charset="0"/>
            </a:endParaRPr>
          </a:p>
          <a:p>
            <a:pPr marL="0" indent="0" algn="just">
              <a:buNone/>
            </a:pPr>
            <a:r>
              <a:rPr lang="en-US" sz="2000" dirty="0" smtClean="0">
                <a:latin typeface="Times New Roman" panose="02020603050405020304" pitchFamily="18" charset="0"/>
                <a:cs typeface="Times New Roman" panose="02020603050405020304" pitchFamily="18" charset="0"/>
              </a:rPr>
              <a:t>Job </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J1    </a:t>
            </a:r>
            <a:r>
              <a:rPr lang="en-US" sz="2000" dirty="0">
                <a:latin typeface="Times New Roman" panose="02020603050405020304" pitchFamily="18" charset="0"/>
                <a:cs typeface="Times New Roman" panose="02020603050405020304" pitchFamily="18" charset="0"/>
              </a:rPr>
              <a:t>J2 </a:t>
            </a:r>
            <a:r>
              <a:rPr lang="en-US" sz="2000" dirty="0" smtClean="0">
                <a:latin typeface="Times New Roman" panose="02020603050405020304" pitchFamily="18" charset="0"/>
                <a:cs typeface="Times New Roman" panose="02020603050405020304" pitchFamily="18" charset="0"/>
              </a:rPr>
              <a:t>  J3    J4   J5 </a:t>
            </a:r>
          </a:p>
          <a:p>
            <a:pPr marL="0" indent="0" algn="just">
              <a:buNone/>
            </a:pPr>
            <a:r>
              <a:rPr lang="en-US" sz="2000" dirty="0" smtClean="0">
                <a:latin typeface="Times New Roman" panose="02020603050405020304" pitchFamily="18" charset="0"/>
                <a:cs typeface="Times New Roman" panose="02020603050405020304" pitchFamily="18" charset="0"/>
              </a:rPr>
              <a:t>Machine </a:t>
            </a:r>
            <a:r>
              <a:rPr lang="en-US" sz="2000" dirty="0">
                <a:latin typeface="Times New Roman" panose="02020603050405020304" pitchFamily="18" charset="0"/>
                <a:cs typeface="Times New Roman" panose="02020603050405020304" pitchFamily="18" charset="0"/>
              </a:rPr>
              <a:t>A : 2 </a:t>
            </a:r>
            <a:r>
              <a:rPr lang="en-US" sz="2000" dirty="0" smtClean="0">
                <a:latin typeface="Times New Roman" panose="02020603050405020304" pitchFamily="18" charset="0"/>
                <a:cs typeface="Times New Roman" panose="02020603050405020304" pitchFamily="18" charset="0"/>
              </a:rPr>
              <a:t>    4    5      </a:t>
            </a:r>
            <a:r>
              <a:rPr lang="en-US" sz="2000" dirty="0">
                <a:latin typeface="Times New Roman" panose="02020603050405020304" pitchFamily="18" charset="0"/>
                <a:cs typeface="Times New Roman" panose="02020603050405020304" pitchFamily="18" charset="0"/>
              </a:rPr>
              <a:t>7 </a:t>
            </a:r>
            <a:r>
              <a:rPr lang="en-US" sz="2000" dirty="0" smtClean="0">
                <a:latin typeface="Times New Roman" panose="02020603050405020304" pitchFamily="18" charset="0"/>
                <a:cs typeface="Times New Roman" panose="02020603050405020304" pitchFamily="18" charset="0"/>
              </a:rPr>
              <a:t>   1 </a:t>
            </a:r>
          </a:p>
          <a:p>
            <a:pPr marL="0" indent="0" algn="just">
              <a:buNone/>
            </a:pPr>
            <a:r>
              <a:rPr lang="en-US" sz="2000" dirty="0" smtClean="0">
                <a:latin typeface="Times New Roman" panose="02020603050405020304" pitchFamily="18" charset="0"/>
                <a:cs typeface="Times New Roman" panose="02020603050405020304" pitchFamily="18" charset="0"/>
              </a:rPr>
              <a:t>Machine </a:t>
            </a:r>
            <a:r>
              <a:rPr lang="en-US" sz="2000" dirty="0">
                <a:latin typeface="Times New Roman" panose="02020603050405020304" pitchFamily="18" charset="0"/>
                <a:cs typeface="Times New Roman" panose="02020603050405020304" pitchFamily="18" charset="0"/>
              </a:rPr>
              <a:t>B : 3 </a:t>
            </a:r>
            <a:r>
              <a:rPr lang="en-US" sz="2000" dirty="0" smtClean="0">
                <a:latin typeface="Times New Roman" panose="02020603050405020304" pitchFamily="18" charset="0"/>
                <a:cs typeface="Times New Roman" panose="02020603050405020304" pitchFamily="18" charset="0"/>
              </a:rPr>
              <a:t>     6    1     4     8 </a:t>
            </a:r>
          </a:p>
          <a:p>
            <a:pPr marL="0" indent="0" algn="just">
              <a:buNone/>
            </a:pPr>
            <a:r>
              <a:rPr lang="en-US" sz="2000" dirty="0" smtClean="0">
                <a:latin typeface="Times New Roman" panose="02020603050405020304" pitchFamily="18" charset="0"/>
                <a:cs typeface="Times New Roman" panose="02020603050405020304" pitchFamily="18" charset="0"/>
              </a:rPr>
              <a:t>Determine </a:t>
            </a:r>
            <a:r>
              <a:rPr lang="en-US" sz="2000" dirty="0">
                <a:latin typeface="Times New Roman" panose="02020603050405020304" pitchFamily="18" charset="0"/>
                <a:cs typeface="Times New Roman" panose="02020603050405020304" pitchFamily="18" charset="0"/>
              </a:rPr>
              <a:t>a sequence of these jobs that will </a:t>
            </a:r>
            <a:r>
              <a:rPr lang="en-US" sz="2000" dirty="0" smtClean="0">
                <a:latin typeface="Times New Roman" panose="02020603050405020304" pitchFamily="18" charset="0"/>
                <a:cs typeface="Times New Roman" panose="02020603050405020304" pitchFamily="18" charset="0"/>
              </a:rPr>
              <a:t>minimize </a:t>
            </a:r>
            <a:r>
              <a:rPr lang="en-US" sz="2000" dirty="0">
                <a:latin typeface="Times New Roman" panose="02020603050405020304" pitchFamily="18" charset="0"/>
                <a:cs typeface="Times New Roman" panose="02020603050405020304" pitchFamily="18" charset="0"/>
              </a:rPr>
              <a:t>the total elapsed time T. Also obtain: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the minimum elapsed time; and ii) the idle time for each of the machines</a:t>
            </a:r>
            <a:r>
              <a:rPr lang="en-US" sz="2000" dirty="0" smtClean="0">
                <a:latin typeface="Times New Roman" panose="02020603050405020304" pitchFamily="18" charset="0"/>
                <a:cs typeface="Times New Roman" panose="02020603050405020304" pitchFamily="18" charset="0"/>
              </a:rPr>
              <a:t>.</a:t>
            </a:r>
          </a:p>
          <a:p>
            <a:pPr marL="0" indent="0" algn="just">
              <a:buNone/>
            </a:pPr>
            <a:r>
              <a:rPr lang="en-US" sz="2000" dirty="0" smtClean="0">
                <a:solidFill>
                  <a:srgbClr val="00B0F0"/>
                </a:solidFill>
                <a:latin typeface="Times New Roman" panose="02020603050405020304" pitchFamily="18" charset="0"/>
                <a:cs typeface="Times New Roman" panose="02020603050405020304" pitchFamily="18" charset="0"/>
              </a:rPr>
              <a:t>Example 2:</a:t>
            </a:r>
            <a:r>
              <a:rPr lang="en-US" sz="2000" dirty="0" smtClean="0">
                <a:latin typeface="Times New Roman" panose="02020603050405020304" pitchFamily="18" charset="0"/>
                <a:cs typeface="Times New Roman" panose="02020603050405020304" pitchFamily="18" charset="0"/>
              </a:rPr>
              <a:t> Use </a:t>
            </a:r>
            <a:r>
              <a:rPr lang="en-US" sz="2000" dirty="0">
                <a:latin typeface="Times New Roman" panose="02020603050405020304" pitchFamily="18" charset="0"/>
                <a:cs typeface="Times New Roman" panose="02020603050405020304" pitchFamily="18" charset="0"/>
              </a:rPr>
              <a:t>the graphical method to </a:t>
            </a:r>
            <a:r>
              <a:rPr lang="en-US" sz="2000" dirty="0" smtClean="0">
                <a:latin typeface="Times New Roman" panose="02020603050405020304" pitchFamily="18" charset="0"/>
                <a:cs typeface="Times New Roman" panose="02020603050405020304" pitchFamily="18" charset="0"/>
              </a:rPr>
              <a:t>minimize </a:t>
            </a:r>
            <a:r>
              <a:rPr lang="en-US" sz="2000" dirty="0">
                <a:latin typeface="Times New Roman" panose="02020603050405020304" pitchFamily="18" charset="0"/>
                <a:cs typeface="Times New Roman" panose="02020603050405020304" pitchFamily="18" charset="0"/>
              </a:rPr>
              <a:t>the time required to process the following jobs on the machines, that is, for each machine specify the job that should be done first. Also calculate the total elapsed time for completing both jobs. </a:t>
            </a:r>
            <a:endParaRPr lang="en-US" sz="2000" dirty="0" smtClean="0">
              <a:latin typeface="Times New Roman" panose="02020603050405020304" pitchFamily="18" charset="0"/>
              <a:cs typeface="Times New Roman" panose="02020603050405020304" pitchFamily="18" charset="0"/>
            </a:endParaRPr>
          </a:p>
          <a:p>
            <a:pPr marL="0" indent="0" algn="just">
              <a:buNone/>
            </a:pPr>
            <a:r>
              <a:rPr lang="en-US" sz="2000" dirty="0" smtClean="0">
                <a:latin typeface="Times New Roman" panose="02020603050405020304" pitchFamily="18" charset="0"/>
                <a:cs typeface="Times New Roman" panose="02020603050405020304" pitchFamily="18" charset="0"/>
              </a:rPr>
              <a:t>Job </a:t>
            </a:r>
            <a:r>
              <a:rPr lang="en-US" sz="2000" dirty="0">
                <a:latin typeface="Times New Roman" panose="02020603050405020304" pitchFamily="18" charset="0"/>
                <a:cs typeface="Times New Roman" panose="02020603050405020304" pitchFamily="18" charset="0"/>
              </a:rPr>
              <a:t>1 Sequence : A </a:t>
            </a:r>
            <a:r>
              <a:rPr lang="en-US" sz="2000" dirty="0" smtClean="0">
                <a:latin typeface="Times New Roman" panose="02020603050405020304" pitchFamily="18" charset="0"/>
                <a:cs typeface="Times New Roman" panose="02020603050405020304" pitchFamily="18" charset="0"/>
              </a:rPr>
              <a:t>   B    C     </a:t>
            </a:r>
            <a:r>
              <a:rPr lang="en-US" sz="2000" dirty="0">
                <a:latin typeface="Times New Roman" panose="02020603050405020304" pitchFamily="18" charset="0"/>
                <a:cs typeface="Times New Roman" panose="02020603050405020304" pitchFamily="18" charset="0"/>
              </a:rPr>
              <a:t>D </a:t>
            </a:r>
            <a:r>
              <a:rPr lang="en-US" sz="2000" dirty="0" smtClean="0">
                <a:latin typeface="Times New Roman" panose="02020603050405020304" pitchFamily="18" charset="0"/>
                <a:cs typeface="Times New Roman" panose="02020603050405020304" pitchFamily="18" charset="0"/>
              </a:rPr>
              <a:t>     E </a:t>
            </a:r>
          </a:p>
          <a:p>
            <a:pPr marL="0" indent="0" algn="just">
              <a:buNone/>
            </a:pPr>
            <a:r>
              <a:rPr lang="en-US" sz="2000" dirty="0" smtClean="0">
                <a:latin typeface="Times New Roman" panose="02020603050405020304" pitchFamily="18" charset="0"/>
                <a:cs typeface="Times New Roman" panose="02020603050405020304" pitchFamily="18" charset="0"/>
              </a:rPr>
              <a:t>Time </a:t>
            </a:r>
            <a:r>
              <a:rPr lang="en-US" sz="2000" dirty="0">
                <a:latin typeface="Times New Roman" panose="02020603050405020304" pitchFamily="18" charset="0"/>
                <a:cs typeface="Times New Roman" panose="02020603050405020304" pitchFamily="18" charset="0"/>
              </a:rPr>
              <a:t>(in </a:t>
            </a:r>
            <a:r>
              <a:rPr lang="en-US" sz="2000" dirty="0" err="1">
                <a:latin typeface="Times New Roman" panose="02020603050405020304" pitchFamily="18" charset="0"/>
                <a:cs typeface="Times New Roman" panose="02020603050405020304" pitchFamily="18" charset="0"/>
              </a:rPr>
              <a:t>hrs</a:t>
            </a:r>
            <a:r>
              <a:rPr lang="en-US" sz="2000" dirty="0">
                <a:latin typeface="Times New Roman" panose="02020603050405020304" pitchFamily="18" charset="0"/>
                <a:cs typeface="Times New Roman" panose="02020603050405020304" pitchFamily="18" charset="0"/>
              </a:rPr>
              <a:t>) : </a:t>
            </a:r>
            <a:r>
              <a:rPr lang="en-US" sz="2000" dirty="0" smtClean="0">
                <a:latin typeface="Times New Roman" panose="02020603050405020304" pitchFamily="18" charset="0"/>
                <a:cs typeface="Times New Roman" panose="02020603050405020304" pitchFamily="18" charset="0"/>
              </a:rPr>
              <a:t>     6     8    </a:t>
            </a:r>
            <a:r>
              <a:rPr lang="en-US" sz="2000" dirty="0">
                <a:latin typeface="Times New Roman" panose="02020603050405020304" pitchFamily="18" charset="0"/>
                <a:cs typeface="Times New Roman" panose="02020603050405020304" pitchFamily="18" charset="0"/>
              </a:rPr>
              <a:t>4 </a:t>
            </a:r>
            <a:r>
              <a:rPr lang="en-US" sz="2000" dirty="0" smtClean="0">
                <a:latin typeface="Times New Roman" panose="02020603050405020304" pitchFamily="18" charset="0"/>
                <a:cs typeface="Times New Roman" panose="02020603050405020304" pitchFamily="18" charset="0"/>
              </a:rPr>
              <a:t>    12    </a:t>
            </a:r>
            <a:r>
              <a:rPr lang="en-US" sz="2000" dirty="0">
                <a:latin typeface="Times New Roman" panose="02020603050405020304" pitchFamily="18" charset="0"/>
                <a:cs typeface="Times New Roman" panose="02020603050405020304" pitchFamily="18" charset="0"/>
              </a:rPr>
              <a:t>3 </a:t>
            </a:r>
            <a:endParaRPr lang="en-US" sz="2000" dirty="0" smtClean="0">
              <a:latin typeface="Times New Roman" panose="02020603050405020304" pitchFamily="18" charset="0"/>
              <a:cs typeface="Times New Roman" panose="02020603050405020304" pitchFamily="18" charset="0"/>
            </a:endParaRPr>
          </a:p>
          <a:p>
            <a:pPr marL="0" indent="0" algn="just">
              <a:buNone/>
            </a:pPr>
            <a:r>
              <a:rPr lang="en-US" sz="2000" dirty="0" smtClean="0">
                <a:latin typeface="Times New Roman" panose="02020603050405020304" pitchFamily="18" charset="0"/>
                <a:cs typeface="Times New Roman" panose="02020603050405020304" pitchFamily="18" charset="0"/>
              </a:rPr>
              <a:t>Job </a:t>
            </a:r>
            <a:r>
              <a:rPr lang="en-US" sz="2000" dirty="0">
                <a:latin typeface="Times New Roman" panose="02020603050405020304" pitchFamily="18" charset="0"/>
                <a:cs typeface="Times New Roman" panose="02020603050405020304" pitchFamily="18" charset="0"/>
              </a:rPr>
              <a:t>2 Sequence : </a:t>
            </a:r>
            <a:r>
              <a:rPr lang="en-US" sz="2000" dirty="0" smtClean="0">
                <a:latin typeface="Times New Roman" panose="02020603050405020304" pitchFamily="18" charset="0"/>
                <a:cs typeface="Times New Roman" panose="02020603050405020304" pitchFamily="18" charset="0"/>
              </a:rPr>
              <a:t>B    </a:t>
            </a:r>
            <a:r>
              <a:rPr lang="en-US" sz="2000" dirty="0">
                <a:latin typeface="Times New Roman" panose="02020603050405020304" pitchFamily="18" charset="0"/>
                <a:cs typeface="Times New Roman" panose="02020603050405020304" pitchFamily="18" charset="0"/>
              </a:rPr>
              <a:t>C </a:t>
            </a:r>
            <a:r>
              <a:rPr lang="en-US" sz="2000" dirty="0" smtClean="0">
                <a:latin typeface="Times New Roman" panose="02020603050405020304" pitchFamily="18" charset="0"/>
                <a:cs typeface="Times New Roman" panose="02020603050405020304" pitchFamily="18" charset="0"/>
              </a:rPr>
              <a:t>   A      D     E </a:t>
            </a:r>
          </a:p>
          <a:p>
            <a:pPr marL="0" indent="0" algn="just">
              <a:buNone/>
            </a:pPr>
            <a:r>
              <a:rPr lang="en-US" sz="2000" dirty="0" smtClean="0">
                <a:latin typeface="Times New Roman" panose="02020603050405020304" pitchFamily="18" charset="0"/>
                <a:cs typeface="Times New Roman" panose="02020603050405020304" pitchFamily="18" charset="0"/>
              </a:rPr>
              <a:t>Time </a:t>
            </a:r>
            <a:r>
              <a:rPr lang="en-US" sz="2000" dirty="0">
                <a:latin typeface="Times New Roman" panose="02020603050405020304" pitchFamily="18" charset="0"/>
                <a:cs typeface="Times New Roman" panose="02020603050405020304" pitchFamily="18" charset="0"/>
              </a:rPr>
              <a:t>(in </a:t>
            </a:r>
            <a:r>
              <a:rPr lang="en-US" sz="2000" dirty="0" err="1">
                <a:latin typeface="Times New Roman" panose="02020603050405020304" pitchFamily="18" charset="0"/>
                <a:cs typeface="Times New Roman" panose="02020603050405020304" pitchFamily="18" charset="0"/>
              </a:rPr>
              <a:t>hrs</a:t>
            </a:r>
            <a:r>
              <a:rPr lang="en-US" sz="2000" dirty="0">
                <a:latin typeface="Times New Roman" panose="02020603050405020304" pitchFamily="18" charset="0"/>
                <a:cs typeface="Times New Roman" panose="02020603050405020304" pitchFamily="18" charset="0"/>
              </a:rPr>
              <a:t>) : </a:t>
            </a:r>
            <a:r>
              <a:rPr lang="en-US" sz="2000" dirty="0" smtClean="0">
                <a:latin typeface="Times New Roman" panose="02020603050405020304" pitchFamily="18" charset="0"/>
                <a:cs typeface="Times New Roman" panose="02020603050405020304" pitchFamily="18" charset="0"/>
              </a:rPr>
              <a:t>    10    8    6      4     12</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1468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309489"/>
            <a:ext cx="10988040" cy="5867474"/>
          </a:xfrm>
        </p:spPr>
        <p:txBody>
          <a:bodyPr>
            <a:normAutofit/>
          </a:bodyPr>
          <a:lstStyle/>
          <a:p>
            <a:pPr marL="0" indent="0">
              <a:buNone/>
            </a:pPr>
            <a:r>
              <a:rPr lang="en-US" sz="2000" dirty="0" smtClean="0">
                <a:solidFill>
                  <a:srgbClr val="00B0F0"/>
                </a:solidFill>
                <a:latin typeface="Times New Roman" panose="02020603050405020304" pitchFamily="18" charset="0"/>
                <a:cs typeface="Times New Roman" panose="02020603050405020304" pitchFamily="18" charset="0"/>
              </a:rPr>
              <a:t>Example 3-</a:t>
            </a:r>
            <a:r>
              <a:rPr lang="en-US" sz="2000" dirty="0" smtClean="0">
                <a:latin typeface="Times New Roman" panose="02020603050405020304" pitchFamily="18" charset="0"/>
                <a:cs typeface="Times New Roman" panose="02020603050405020304" pitchFamily="18" charset="0"/>
              </a:rPr>
              <a:t>Find the sequence that minimizes the total time required in performing the </a:t>
            </a:r>
            <a:r>
              <a:rPr lang="en-US" sz="2000" dirty="0">
                <a:latin typeface="Times New Roman" panose="02020603050405020304" pitchFamily="18" charset="0"/>
                <a:cs typeface="Times New Roman" panose="02020603050405020304" pitchFamily="18" charset="0"/>
              </a:rPr>
              <a:t>following jobs on three machines in order ABC. Processing times (in hours) are given in the following table :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Job </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1       2     3     4    </a:t>
            </a:r>
            <a:r>
              <a:rPr lang="en-US" sz="2000" dirty="0">
                <a:latin typeface="Times New Roman" panose="02020603050405020304" pitchFamily="18" charset="0"/>
                <a:cs typeface="Times New Roman" panose="02020603050405020304" pitchFamily="18" charset="0"/>
              </a:rPr>
              <a:t>5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Machine </a:t>
            </a:r>
            <a:r>
              <a:rPr lang="en-US" sz="2000" dirty="0">
                <a:latin typeface="Times New Roman" panose="02020603050405020304" pitchFamily="18" charset="0"/>
                <a:cs typeface="Times New Roman" panose="02020603050405020304" pitchFamily="18" charset="0"/>
              </a:rPr>
              <a:t>A : 8 </a:t>
            </a:r>
            <a:r>
              <a:rPr lang="en-US" sz="2000" dirty="0" smtClean="0">
                <a:latin typeface="Times New Roman" panose="02020603050405020304" pitchFamily="18" charset="0"/>
                <a:cs typeface="Times New Roman" panose="02020603050405020304" pitchFamily="18" charset="0"/>
              </a:rPr>
              <a:t>     10    6     7   11 </a:t>
            </a:r>
          </a:p>
          <a:p>
            <a:r>
              <a:rPr lang="en-US" sz="2000" dirty="0" smtClean="0">
                <a:latin typeface="Times New Roman" panose="02020603050405020304" pitchFamily="18" charset="0"/>
                <a:cs typeface="Times New Roman" panose="02020603050405020304" pitchFamily="18" charset="0"/>
              </a:rPr>
              <a:t>Machine </a:t>
            </a:r>
            <a:r>
              <a:rPr lang="en-US" sz="2000" dirty="0">
                <a:latin typeface="Times New Roman" panose="02020603050405020304" pitchFamily="18" charset="0"/>
                <a:cs typeface="Times New Roman" panose="02020603050405020304" pitchFamily="18" charset="0"/>
              </a:rPr>
              <a:t>B : 5 </a:t>
            </a:r>
            <a:r>
              <a:rPr lang="en-US" sz="2000" dirty="0" smtClean="0">
                <a:latin typeface="Times New Roman" panose="02020603050405020304" pitchFamily="18" charset="0"/>
                <a:cs typeface="Times New Roman" panose="02020603050405020304" pitchFamily="18" charset="0"/>
              </a:rPr>
              <a:t>     6       2    3     4 </a:t>
            </a:r>
          </a:p>
          <a:p>
            <a:r>
              <a:rPr lang="en-US" sz="2000" dirty="0" smtClean="0">
                <a:latin typeface="Times New Roman" panose="02020603050405020304" pitchFamily="18" charset="0"/>
                <a:cs typeface="Times New Roman" panose="02020603050405020304" pitchFamily="18" charset="0"/>
              </a:rPr>
              <a:t>Machine </a:t>
            </a:r>
            <a:r>
              <a:rPr lang="en-US" sz="2000" dirty="0">
                <a:latin typeface="Times New Roman" panose="02020603050405020304" pitchFamily="18" charset="0"/>
                <a:cs typeface="Times New Roman" panose="02020603050405020304" pitchFamily="18" charset="0"/>
              </a:rPr>
              <a:t>C : 4 </a:t>
            </a:r>
            <a:r>
              <a:rPr lang="en-US" sz="2000" dirty="0" smtClean="0">
                <a:latin typeface="Times New Roman" panose="02020603050405020304" pitchFamily="18" charset="0"/>
                <a:cs typeface="Times New Roman" panose="02020603050405020304" pitchFamily="18" charset="0"/>
              </a:rPr>
              <a:t>    9       8      </a:t>
            </a:r>
            <a:r>
              <a:rPr lang="en-US" sz="2000" dirty="0">
                <a:latin typeface="Times New Roman" panose="02020603050405020304" pitchFamily="18" charset="0"/>
                <a:cs typeface="Times New Roman" panose="02020603050405020304" pitchFamily="18" charset="0"/>
              </a:rPr>
              <a:t>6 </a:t>
            </a:r>
            <a:r>
              <a:rPr lang="en-US" sz="2000"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5</a:t>
            </a:r>
          </a:p>
          <a:p>
            <a:pPr marL="0" indent="0">
              <a:buNone/>
            </a:pPr>
            <a:r>
              <a:rPr lang="en-US" sz="2000" dirty="0" smtClean="0">
                <a:solidFill>
                  <a:srgbClr val="00B0F0"/>
                </a:solidFill>
                <a:latin typeface="Times New Roman" panose="02020603050405020304" pitchFamily="18" charset="0"/>
                <a:cs typeface="Times New Roman" panose="02020603050405020304" pitchFamily="18" charset="0"/>
              </a:rPr>
              <a:t>Example 4- </a:t>
            </a:r>
            <a:r>
              <a:rPr lang="en-US" sz="2000" dirty="0">
                <a:latin typeface="Times New Roman" panose="02020603050405020304" pitchFamily="18" charset="0"/>
                <a:cs typeface="Times New Roman" panose="02020603050405020304" pitchFamily="18" charset="0"/>
              </a:rPr>
              <a:t>Find solution of </a:t>
            </a:r>
            <a:r>
              <a:rPr lang="en-US" sz="2000" dirty="0" smtClean="0">
                <a:latin typeface="Times New Roman" panose="02020603050405020304" pitchFamily="18" charset="0"/>
                <a:cs typeface="Times New Roman" panose="02020603050405020304" pitchFamily="18" charset="0"/>
              </a:rPr>
              <a:t>Processing </a:t>
            </a:r>
            <a:r>
              <a:rPr lang="en-US" sz="2000" dirty="0">
                <a:latin typeface="Times New Roman" panose="02020603050405020304" pitchFamily="18" charset="0"/>
                <a:cs typeface="Times New Roman" panose="02020603050405020304" pitchFamily="18" charset="0"/>
              </a:rPr>
              <a:t>5 Jobs Through 4 Machines </a:t>
            </a:r>
            <a:r>
              <a:rPr lang="en-US" sz="2000" dirty="0" smtClean="0">
                <a:latin typeface="Times New Roman" panose="02020603050405020304" pitchFamily="18" charset="0"/>
                <a:cs typeface="Times New Roman" panose="02020603050405020304" pitchFamily="18" charset="0"/>
              </a:rPr>
              <a:t>Problem</a:t>
            </a:r>
          </a:p>
          <a:p>
            <a:pPr marL="0" indent="0">
              <a:buNone/>
            </a:pPr>
            <a:endParaRPr lang="en-IN" sz="2000"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4284213777"/>
              </p:ext>
            </p:extLst>
          </p:nvPr>
        </p:nvGraphicFramePr>
        <p:xfrm>
          <a:off x="838200" y="3077366"/>
          <a:ext cx="7278858" cy="1972935"/>
        </p:xfrm>
        <a:graphic>
          <a:graphicData uri="http://schemas.openxmlformats.org/drawingml/2006/table">
            <a:tbl>
              <a:tblPr/>
              <a:tblGrid>
                <a:gridCol w="1213143">
                  <a:extLst>
                    <a:ext uri="{9D8B030D-6E8A-4147-A177-3AD203B41FA5}">
                      <a16:colId xmlns:a16="http://schemas.microsoft.com/office/drawing/2014/main" val="3076971239"/>
                    </a:ext>
                  </a:extLst>
                </a:gridCol>
                <a:gridCol w="1213143">
                  <a:extLst>
                    <a:ext uri="{9D8B030D-6E8A-4147-A177-3AD203B41FA5}">
                      <a16:colId xmlns:a16="http://schemas.microsoft.com/office/drawing/2014/main" val="3926049368"/>
                    </a:ext>
                  </a:extLst>
                </a:gridCol>
                <a:gridCol w="1213143">
                  <a:extLst>
                    <a:ext uri="{9D8B030D-6E8A-4147-A177-3AD203B41FA5}">
                      <a16:colId xmlns:a16="http://schemas.microsoft.com/office/drawing/2014/main" val="3565362380"/>
                    </a:ext>
                  </a:extLst>
                </a:gridCol>
                <a:gridCol w="1213143">
                  <a:extLst>
                    <a:ext uri="{9D8B030D-6E8A-4147-A177-3AD203B41FA5}">
                      <a16:colId xmlns:a16="http://schemas.microsoft.com/office/drawing/2014/main" val="2618833081"/>
                    </a:ext>
                  </a:extLst>
                </a:gridCol>
                <a:gridCol w="1213143">
                  <a:extLst>
                    <a:ext uri="{9D8B030D-6E8A-4147-A177-3AD203B41FA5}">
                      <a16:colId xmlns:a16="http://schemas.microsoft.com/office/drawing/2014/main" val="213402665"/>
                    </a:ext>
                  </a:extLst>
                </a:gridCol>
                <a:gridCol w="1213143">
                  <a:extLst>
                    <a:ext uri="{9D8B030D-6E8A-4147-A177-3AD203B41FA5}">
                      <a16:colId xmlns:a16="http://schemas.microsoft.com/office/drawing/2014/main" val="2947249339"/>
                    </a:ext>
                  </a:extLst>
                </a:gridCol>
              </a:tblGrid>
              <a:tr h="394587">
                <a:tc>
                  <a:txBody>
                    <a:bodyPr/>
                    <a:lstStyle/>
                    <a:p>
                      <a:r>
                        <a:rPr lang="en-IN">
                          <a:effectLst/>
                        </a:rPr>
                        <a:t>Job</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1</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2</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3</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4</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5</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extLst>
                  <a:ext uri="{0D108BD9-81ED-4DB2-BD59-A6C34878D82A}">
                    <a16:rowId xmlns:a16="http://schemas.microsoft.com/office/drawing/2014/main" val="3761123679"/>
                  </a:ext>
                </a:extLst>
              </a:tr>
              <a:tr h="394587">
                <a:tc>
                  <a:txBody>
                    <a:bodyPr/>
                    <a:lstStyle/>
                    <a:p>
                      <a:r>
                        <a:rPr lang="en-IN">
                          <a:effectLst/>
                        </a:rPr>
                        <a:t>Machine-1</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11</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13</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9</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16</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17</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extLst>
                  <a:ext uri="{0D108BD9-81ED-4DB2-BD59-A6C34878D82A}">
                    <a16:rowId xmlns:a16="http://schemas.microsoft.com/office/drawing/2014/main" val="2509464911"/>
                  </a:ext>
                </a:extLst>
              </a:tr>
              <a:tr h="394587">
                <a:tc>
                  <a:txBody>
                    <a:bodyPr/>
                    <a:lstStyle/>
                    <a:p>
                      <a:r>
                        <a:rPr lang="en-IN">
                          <a:effectLst/>
                        </a:rPr>
                        <a:t>Machine-2</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4</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3</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5</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2</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6</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extLst>
                  <a:ext uri="{0D108BD9-81ED-4DB2-BD59-A6C34878D82A}">
                    <a16:rowId xmlns:a16="http://schemas.microsoft.com/office/drawing/2014/main" val="1210900096"/>
                  </a:ext>
                </a:extLst>
              </a:tr>
              <a:tr h="394587">
                <a:tc>
                  <a:txBody>
                    <a:bodyPr/>
                    <a:lstStyle/>
                    <a:p>
                      <a:r>
                        <a:rPr lang="en-IN">
                          <a:effectLst/>
                        </a:rPr>
                        <a:t>Machine-3</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6</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7</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5</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8</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4</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extLst>
                  <a:ext uri="{0D108BD9-81ED-4DB2-BD59-A6C34878D82A}">
                    <a16:rowId xmlns:a16="http://schemas.microsoft.com/office/drawing/2014/main" val="4277440973"/>
                  </a:ext>
                </a:extLst>
              </a:tr>
              <a:tr h="394587">
                <a:tc>
                  <a:txBody>
                    <a:bodyPr/>
                    <a:lstStyle/>
                    <a:p>
                      <a:r>
                        <a:rPr lang="en-IN">
                          <a:effectLst/>
                        </a:rPr>
                        <a:t>Machine-4</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15</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8</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dirty="0">
                          <a:effectLst/>
                        </a:rPr>
                        <a:t>13</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a:effectLst/>
                        </a:rPr>
                        <a:t>9</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tc>
                  <a:txBody>
                    <a:bodyPr/>
                    <a:lstStyle/>
                    <a:p>
                      <a:r>
                        <a:rPr lang="en-IN" dirty="0">
                          <a:effectLst/>
                        </a:rPr>
                        <a:t>11</a:t>
                      </a:r>
                    </a:p>
                  </a:txBody>
                  <a:tcPr marL="47625" marR="47625"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1EFFD"/>
                    </a:solidFill>
                  </a:tcPr>
                </a:tc>
                <a:extLst>
                  <a:ext uri="{0D108BD9-81ED-4DB2-BD59-A6C34878D82A}">
                    <a16:rowId xmlns:a16="http://schemas.microsoft.com/office/drawing/2014/main" val="2202048348"/>
                  </a:ext>
                </a:extLst>
              </a:tr>
            </a:tbl>
          </a:graphicData>
        </a:graphic>
      </p:graphicFrame>
    </p:spTree>
    <p:extLst>
      <p:ext uri="{BB962C8B-B14F-4D97-AF65-F5344CB8AC3E}">
        <p14:creationId xmlns:p14="http://schemas.microsoft.com/office/powerpoint/2010/main" val="39674115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963" y="520505"/>
            <a:ext cx="10945837" cy="6020972"/>
          </a:xfrm>
        </p:spPr>
        <p:txBody>
          <a:bodyPr>
            <a:normAutofit/>
          </a:bodyPr>
          <a:lstStyle/>
          <a:p>
            <a:pPr marL="0" indent="0" algn="ctr">
              <a:buNone/>
            </a:pPr>
            <a:endParaRPr lang="en-US" sz="9600" dirty="0" smtClean="0">
              <a:latin typeface="Algerian" panose="04020705040A02060702" pitchFamily="82" charset="0"/>
            </a:endParaRPr>
          </a:p>
          <a:p>
            <a:pPr marL="0" indent="0" algn="ctr">
              <a:buNone/>
            </a:pPr>
            <a:r>
              <a:rPr lang="en-US" sz="9600" dirty="0" smtClean="0">
                <a:solidFill>
                  <a:srgbClr val="FF0000"/>
                </a:solidFill>
                <a:latin typeface="Algerian" panose="04020705040A02060702" pitchFamily="82" charset="0"/>
              </a:rPr>
              <a:t>Thank You</a:t>
            </a:r>
            <a:endParaRPr lang="en-IN" sz="9600" dirty="0">
              <a:solidFill>
                <a:srgbClr val="FF0000"/>
              </a:solidFill>
              <a:latin typeface="Algerian" panose="04020705040A02060702" pitchFamily="82" charset="0"/>
            </a:endParaRPr>
          </a:p>
        </p:txBody>
      </p:sp>
    </p:spTree>
    <p:extLst>
      <p:ext uri="{BB962C8B-B14F-4D97-AF65-F5344CB8AC3E}">
        <p14:creationId xmlns:p14="http://schemas.microsoft.com/office/powerpoint/2010/main" val="1756220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2711</TotalTime>
  <Words>339</Words>
  <Application>Microsoft Office PowerPoint</Application>
  <PresentationFormat>Widescreen</PresentationFormat>
  <Paragraphs>70</Paragraphs>
  <Slides>68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Algerian</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Materials Management Overview</dc:title>
  <dc:creator>HP</dc:creator>
  <cp:lastModifiedBy>HP</cp:lastModifiedBy>
  <cp:revision>690</cp:revision>
  <dcterms:created xsi:type="dcterms:W3CDTF">2022-09-12T16:52:45Z</dcterms:created>
  <dcterms:modified xsi:type="dcterms:W3CDTF">2023-01-31T12:49:24Z</dcterms:modified>
</cp:coreProperties>
</file>