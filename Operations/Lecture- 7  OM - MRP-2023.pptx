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77" r:id="rId2"/>
    <p:sldId id="326" r:id="rId3"/>
    <p:sldId id="278" r:id="rId4"/>
    <p:sldId id="280" r:id="rId5"/>
    <p:sldId id="293" r:id="rId6"/>
    <p:sldId id="284" r:id="rId7"/>
    <p:sldId id="294" r:id="rId8"/>
    <p:sldId id="313" r:id="rId9"/>
    <p:sldId id="295" r:id="rId10"/>
    <p:sldId id="286" r:id="rId11"/>
    <p:sldId id="281" r:id="rId12"/>
    <p:sldId id="314" r:id="rId13"/>
    <p:sldId id="315" r:id="rId14"/>
    <p:sldId id="316" r:id="rId15"/>
    <p:sldId id="317" r:id="rId16"/>
    <p:sldId id="283" r:id="rId17"/>
    <p:sldId id="296" r:id="rId18"/>
    <p:sldId id="318" r:id="rId19"/>
    <p:sldId id="285" r:id="rId20"/>
    <p:sldId id="297" r:id="rId21"/>
    <p:sldId id="298" r:id="rId22"/>
    <p:sldId id="299" r:id="rId23"/>
    <p:sldId id="312" r:id="rId24"/>
    <p:sldId id="300" r:id="rId25"/>
    <p:sldId id="301" r:id="rId26"/>
    <p:sldId id="302" r:id="rId27"/>
    <p:sldId id="303" r:id="rId28"/>
    <p:sldId id="304" r:id="rId29"/>
    <p:sldId id="291" r:id="rId30"/>
    <p:sldId id="292" r:id="rId31"/>
    <p:sldId id="305" r:id="rId32"/>
    <p:sldId id="308" r:id="rId33"/>
    <p:sldId id="309" r:id="rId34"/>
    <p:sldId id="310" r:id="rId35"/>
    <p:sldId id="321" r:id="rId36"/>
    <p:sldId id="322" r:id="rId37"/>
    <p:sldId id="323" r:id="rId38"/>
    <p:sldId id="324" r:id="rId39"/>
    <p:sldId id="325" r:id="rId40"/>
    <p:sldId id="319" r:id="rId41"/>
    <p:sldId id="320" r:id="rId42"/>
    <p:sldId id="306" r:id="rId43"/>
    <p:sldId id="307" r:id="rId44"/>
    <p:sldId id="287" r:id="rId45"/>
    <p:sldId id="31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104" autoAdjust="0"/>
  </p:normalViewPr>
  <p:slideViewPr>
    <p:cSldViewPr snapToGrid="0">
      <p:cViewPr varScale="1">
        <p:scale>
          <a:sx n="67" d="100"/>
          <a:sy n="67" d="100"/>
        </p:scale>
        <p:origin x="8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262A0C-FC51-44B8-B4D7-343704999986}"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2AE9DF3-E408-40D0-8D44-1A8275E8C88E}">
      <dgm:prSet phldrT="[Text]"/>
      <dgm:spPr/>
      <dgm:t>
        <a:bodyPr/>
        <a:lstStyle/>
        <a:p>
          <a:r>
            <a:rPr lang="en-US" dirty="0" smtClean="0"/>
            <a:t>X</a:t>
          </a:r>
          <a:endParaRPr lang="en-US" dirty="0"/>
        </a:p>
      </dgm:t>
    </dgm:pt>
    <dgm:pt modelId="{DB9E48FC-CAAC-4B20-AC13-3BF7ED33A05B}" type="parTrans" cxnId="{BB658824-EE60-4E80-B90D-9F9D769CDA5B}">
      <dgm:prSet/>
      <dgm:spPr/>
      <dgm:t>
        <a:bodyPr/>
        <a:lstStyle/>
        <a:p>
          <a:endParaRPr lang="en-US"/>
        </a:p>
      </dgm:t>
    </dgm:pt>
    <dgm:pt modelId="{3B65A871-9475-4535-8D59-030EF65D505A}" type="sibTrans" cxnId="{BB658824-EE60-4E80-B90D-9F9D769CDA5B}">
      <dgm:prSet/>
      <dgm:spPr/>
      <dgm:t>
        <a:bodyPr/>
        <a:lstStyle/>
        <a:p>
          <a:endParaRPr lang="en-US"/>
        </a:p>
      </dgm:t>
    </dgm:pt>
    <dgm:pt modelId="{636A53EA-1F67-4CE6-AC5F-2E83F134465F}">
      <dgm:prSet phldrT="[Text]"/>
      <dgm:spPr/>
      <dgm:t>
        <a:bodyPr/>
        <a:lstStyle/>
        <a:p>
          <a:r>
            <a:rPr lang="en-US" dirty="0" smtClean="0"/>
            <a:t>A(1)</a:t>
          </a:r>
          <a:endParaRPr lang="en-US" dirty="0"/>
        </a:p>
      </dgm:t>
    </dgm:pt>
    <dgm:pt modelId="{35730804-6DE8-42FA-B014-BA2A6A299A20}" type="parTrans" cxnId="{49D4E930-D2CC-49BB-A93C-4DAA6760C61E}">
      <dgm:prSet/>
      <dgm:spPr/>
      <dgm:t>
        <a:bodyPr/>
        <a:lstStyle/>
        <a:p>
          <a:endParaRPr lang="en-US"/>
        </a:p>
      </dgm:t>
    </dgm:pt>
    <dgm:pt modelId="{429DF1E6-D1F4-440E-BF19-6A25F9056212}" type="sibTrans" cxnId="{49D4E930-D2CC-49BB-A93C-4DAA6760C61E}">
      <dgm:prSet/>
      <dgm:spPr/>
      <dgm:t>
        <a:bodyPr/>
        <a:lstStyle/>
        <a:p>
          <a:endParaRPr lang="en-US"/>
        </a:p>
      </dgm:t>
    </dgm:pt>
    <dgm:pt modelId="{25F087D5-FB26-4FC0-9CBE-9E1AA101C8A9}">
      <dgm:prSet phldrT="[Text]"/>
      <dgm:spPr/>
      <dgm:t>
        <a:bodyPr/>
        <a:lstStyle/>
        <a:p>
          <a:r>
            <a:rPr lang="en-US" dirty="0" smtClean="0"/>
            <a:t>D(1)</a:t>
          </a:r>
          <a:endParaRPr lang="en-US" dirty="0"/>
        </a:p>
      </dgm:t>
    </dgm:pt>
    <dgm:pt modelId="{308A3D3D-1720-4EE1-ADCC-015CBD0B4AAE}" type="parTrans" cxnId="{EC675064-BF1E-4903-A262-F9C2459FE2E2}">
      <dgm:prSet/>
      <dgm:spPr/>
      <dgm:t>
        <a:bodyPr/>
        <a:lstStyle/>
        <a:p>
          <a:endParaRPr lang="en-US"/>
        </a:p>
      </dgm:t>
    </dgm:pt>
    <dgm:pt modelId="{C0397D40-3735-456B-833E-826B03BD9A62}" type="sibTrans" cxnId="{EC675064-BF1E-4903-A262-F9C2459FE2E2}">
      <dgm:prSet/>
      <dgm:spPr/>
      <dgm:t>
        <a:bodyPr/>
        <a:lstStyle/>
        <a:p>
          <a:endParaRPr lang="en-US"/>
        </a:p>
      </dgm:t>
    </dgm:pt>
    <dgm:pt modelId="{4B9F3511-8218-4883-A1EA-B7D9E5FE9742}">
      <dgm:prSet phldrT="[Text]"/>
      <dgm:spPr/>
      <dgm:t>
        <a:bodyPr/>
        <a:lstStyle/>
        <a:p>
          <a:r>
            <a:rPr lang="en-US" dirty="0" smtClean="0"/>
            <a:t>E(2)</a:t>
          </a:r>
          <a:endParaRPr lang="en-US" dirty="0"/>
        </a:p>
      </dgm:t>
    </dgm:pt>
    <dgm:pt modelId="{3626EE1F-EEB4-4DE0-ACBB-17CAC434FEC1}" type="parTrans" cxnId="{DE071E08-AD23-4AB0-A823-C7724B976ECC}">
      <dgm:prSet/>
      <dgm:spPr/>
      <dgm:t>
        <a:bodyPr/>
        <a:lstStyle/>
        <a:p>
          <a:endParaRPr lang="en-US"/>
        </a:p>
      </dgm:t>
    </dgm:pt>
    <dgm:pt modelId="{6FE80E4E-08A0-4E98-9E7D-C25B617902CF}" type="sibTrans" cxnId="{DE071E08-AD23-4AB0-A823-C7724B976ECC}">
      <dgm:prSet/>
      <dgm:spPr/>
      <dgm:t>
        <a:bodyPr/>
        <a:lstStyle/>
        <a:p>
          <a:endParaRPr lang="en-US"/>
        </a:p>
      </dgm:t>
    </dgm:pt>
    <dgm:pt modelId="{CDECF2F9-F1B3-487B-A963-0505D33AF6AE}">
      <dgm:prSet phldrT="[Text]"/>
      <dgm:spPr/>
      <dgm:t>
        <a:bodyPr/>
        <a:lstStyle/>
        <a:p>
          <a:r>
            <a:rPr lang="en-US" dirty="0" smtClean="0"/>
            <a:t>C(2)</a:t>
          </a:r>
          <a:endParaRPr lang="en-US" dirty="0"/>
        </a:p>
      </dgm:t>
    </dgm:pt>
    <dgm:pt modelId="{62A7821B-E533-4B0D-9150-35F301D50C21}" type="parTrans" cxnId="{96DDE7F0-0A05-4D4F-9678-6D21E10BE829}">
      <dgm:prSet/>
      <dgm:spPr/>
      <dgm:t>
        <a:bodyPr/>
        <a:lstStyle/>
        <a:p>
          <a:endParaRPr lang="en-US"/>
        </a:p>
      </dgm:t>
    </dgm:pt>
    <dgm:pt modelId="{07389967-F6B8-42C0-86B4-9BC45733B2BF}" type="sibTrans" cxnId="{96DDE7F0-0A05-4D4F-9678-6D21E10BE829}">
      <dgm:prSet/>
      <dgm:spPr/>
      <dgm:t>
        <a:bodyPr/>
        <a:lstStyle/>
        <a:p>
          <a:endParaRPr lang="en-US"/>
        </a:p>
      </dgm:t>
    </dgm:pt>
    <dgm:pt modelId="{ADDABB5C-BDDF-4C5D-B063-B3F50AC51CDA}">
      <dgm:prSet phldrT="[Text]"/>
      <dgm:spPr/>
      <dgm:t>
        <a:bodyPr/>
        <a:lstStyle/>
        <a:p>
          <a:r>
            <a:rPr lang="en-US" dirty="0" smtClean="0"/>
            <a:t>I(2)</a:t>
          </a:r>
          <a:endParaRPr lang="en-US" dirty="0"/>
        </a:p>
      </dgm:t>
    </dgm:pt>
    <dgm:pt modelId="{4924FF62-4633-4CA0-9FFF-DAF6208CAFCC}" type="parTrans" cxnId="{933E5046-AD4F-4E3F-8CAC-A698C690BB45}">
      <dgm:prSet/>
      <dgm:spPr/>
      <dgm:t>
        <a:bodyPr/>
        <a:lstStyle/>
        <a:p>
          <a:endParaRPr lang="en-US"/>
        </a:p>
      </dgm:t>
    </dgm:pt>
    <dgm:pt modelId="{84E83683-48DC-4EA8-A5DC-AEE6E2F5DBCC}" type="sibTrans" cxnId="{933E5046-AD4F-4E3F-8CAC-A698C690BB45}">
      <dgm:prSet/>
      <dgm:spPr/>
      <dgm:t>
        <a:bodyPr/>
        <a:lstStyle/>
        <a:p>
          <a:endParaRPr lang="en-US"/>
        </a:p>
      </dgm:t>
    </dgm:pt>
    <dgm:pt modelId="{839D77C4-4DE2-4FB9-89FC-1F9DB1F543B6}">
      <dgm:prSet phldrT="[Text]"/>
      <dgm:spPr/>
      <dgm:t>
        <a:bodyPr/>
        <a:lstStyle/>
        <a:p>
          <a:r>
            <a:rPr lang="en-US" dirty="0" smtClean="0"/>
            <a:t>Level 0</a:t>
          </a:r>
          <a:endParaRPr lang="en-US" dirty="0"/>
        </a:p>
      </dgm:t>
    </dgm:pt>
    <dgm:pt modelId="{4A0AFAEC-D83A-485E-A346-12664F92BEBE}" type="parTrans" cxnId="{F6BF5EEC-F243-4644-870A-0D389275C5E5}">
      <dgm:prSet/>
      <dgm:spPr/>
      <dgm:t>
        <a:bodyPr/>
        <a:lstStyle/>
        <a:p>
          <a:endParaRPr lang="en-US"/>
        </a:p>
      </dgm:t>
    </dgm:pt>
    <dgm:pt modelId="{0146A5AF-B817-475F-9574-0B6AB48A64A6}" type="sibTrans" cxnId="{F6BF5EEC-F243-4644-870A-0D389275C5E5}">
      <dgm:prSet/>
      <dgm:spPr/>
      <dgm:t>
        <a:bodyPr/>
        <a:lstStyle/>
        <a:p>
          <a:endParaRPr lang="en-US"/>
        </a:p>
      </dgm:t>
    </dgm:pt>
    <dgm:pt modelId="{A5F16375-870B-40DF-B6F3-FC072D378843}">
      <dgm:prSet phldrT="[Text]"/>
      <dgm:spPr/>
      <dgm:t>
        <a:bodyPr/>
        <a:lstStyle/>
        <a:p>
          <a:r>
            <a:rPr lang="en-US" dirty="0" smtClean="0"/>
            <a:t>Level1</a:t>
          </a:r>
          <a:endParaRPr lang="en-US" dirty="0"/>
        </a:p>
      </dgm:t>
    </dgm:pt>
    <dgm:pt modelId="{82DDC144-DB87-404C-B6F0-0891BC480DC5}" type="parTrans" cxnId="{08B8CA1C-A3DA-4569-B12A-97765E32EFDD}">
      <dgm:prSet/>
      <dgm:spPr/>
      <dgm:t>
        <a:bodyPr/>
        <a:lstStyle/>
        <a:p>
          <a:endParaRPr lang="en-US"/>
        </a:p>
      </dgm:t>
    </dgm:pt>
    <dgm:pt modelId="{A2AEC90F-6D15-4D87-A03B-B84A8E8B020A}" type="sibTrans" cxnId="{08B8CA1C-A3DA-4569-B12A-97765E32EFDD}">
      <dgm:prSet/>
      <dgm:spPr/>
      <dgm:t>
        <a:bodyPr/>
        <a:lstStyle/>
        <a:p>
          <a:endParaRPr lang="en-US"/>
        </a:p>
      </dgm:t>
    </dgm:pt>
    <dgm:pt modelId="{09950250-274B-49DB-A3A7-23B59EC924C3}">
      <dgm:prSet phldrT="[Text]"/>
      <dgm:spPr/>
      <dgm:t>
        <a:bodyPr/>
        <a:lstStyle/>
        <a:p>
          <a:r>
            <a:rPr lang="en-US" dirty="0" smtClean="0"/>
            <a:t>Level 2</a:t>
          </a:r>
          <a:endParaRPr lang="en-US" dirty="0"/>
        </a:p>
      </dgm:t>
    </dgm:pt>
    <dgm:pt modelId="{E8B22D78-AFE6-436C-B9F6-EB547E339EA8}" type="parTrans" cxnId="{41073736-0781-41F1-B39A-E5C8344531D0}">
      <dgm:prSet/>
      <dgm:spPr/>
      <dgm:t>
        <a:bodyPr/>
        <a:lstStyle/>
        <a:p>
          <a:endParaRPr lang="en-US"/>
        </a:p>
      </dgm:t>
    </dgm:pt>
    <dgm:pt modelId="{8ED3B059-C3D0-49F8-9731-C6E2395CF610}" type="sibTrans" cxnId="{41073736-0781-41F1-B39A-E5C8344531D0}">
      <dgm:prSet/>
      <dgm:spPr/>
      <dgm:t>
        <a:bodyPr/>
        <a:lstStyle/>
        <a:p>
          <a:endParaRPr lang="en-US"/>
        </a:p>
      </dgm:t>
    </dgm:pt>
    <dgm:pt modelId="{950DE27E-5ED4-42FC-BB87-0CBAEFAE19EC}">
      <dgm:prSet/>
      <dgm:spPr/>
      <dgm:t>
        <a:bodyPr/>
        <a:lstStyle/>
        <a:p>
          <a:r>
            <a:rPr lang="en-US" dirty="0" smtClean="0"/>
            <a:t>B(3)</a:t>
          </a:r>
          <a:endParaRPr lang="en-US" dirty="0"/>
        </a:p>
      </dgm:t>
    </dgm:pt>
    <dgm:pt modelId="{2D03CB7A-BE66-40BC-8CFD-40C3FA16774E}" type="parTrans" cxnId="{81C52083-28EA-4072-9675-2A50DCC25037}">
      <dgm:prSet/>
      <dgm:spPr/>
      <dgm:t>
        <a:bodyPr/>
        <a:lstStyle/>
        <a:p>
          <a:endParaRPr lang="en-US"/>
        </a:p>
      </dgm:t>
    </dgm:pt>
    <dgm:pt modelId="{7039A314-FFD6-4C53-98E6-586AF1BF9D10}" type="sibTrans" cxnId="{81C52083-28EA-4072-9675-2A50DCC25037}">
      <dgm:prSet/>
      <dgm:spPr/>
      <dgm:t>
        <a:bodyPr/>
        <a:lstStyle/>
        <a:p>
          <a:endParaRPr lang="en-US"/>
        </a:p>
      </dgm:t>
    </dgm:pt>
    <dgm:pt modelId="{4FBB2510-53F6-440F-8657-C22217D90363}">
      <dgm:prSet/>
      <dgm:spPr/>
      <dgm:t>
        <a:bodyPr/>
        <a:lstStyle/>
        <a:p>
          <a:r>
            <a:rPr lang="en-US" dirty="0" smtClean="0"/>
            <a:t>H(2)</a:t>
          </a:r>
          <a:endParaRPr lang="en-US" dirty="0"/>
        </a:p>
      </dgm:t>
    </dgm:pt>
    <dgm:pt modelId="{A7F9A0D9-F910-4DD8-B0D7-BE0D5BB60F0F}" type="parTrans" cxnId="{AB72C9AC-B76C-49E5-9496-87C2A93F79B3}">
      <dgm:prSet/>
      <dgm:spPr/>
      <dgm:t>
        <a:bodyPr/>
        <a:lstStyle/>
        <a:p>
          <a:endParaRPr lang="en-US"/>
        </a:p>
      </dgm:t>
    </dgm:pt>
    <dgm:pt modelId="{9E856D19-F9BA-451E-BC16-BF61CD1870F5}" type="sibTrans" cxnId="{AB72C9AC-B76C-49E5-9496-87C2A93F79B3}">
      <dgm:prSet/>
      <dgm:spPr/>
      <dgm:t>
        <a:bodyPr/>
        <a:lstStyle/>
        <a:p>
          <a:endParaRPr lang="en-US"/>
        </a:p>
      </dgm:t>
    </dgm:pt>
    <dgm:pt modelId="{C556B3F9-27D1-42D9-8FFF-578439832D93}" type="pres">
      <dgm:prSet presAssocID="{47262A0C-FC51-44B8-B4D7-343704999986}" presName="mainComposite" presStyleCnt="0">
        <dgm:presLayoutVars>
          <dgm:chPref val="1"/>
          <dgm:dir/>
          <dgm:animOne val="branch"/>
          <dgm:animLvl val="lvl"/>
          <dgm:resizeHandles val="exact"/>
        </dgm:presLayoutVars>
      </dgm:prSet>
      <dgm:spPr/>
      <dgm:t>
        <a:bodyPr/>
        <a:lstStyle/>
        <a:p>
          <a:endParaRPr lang="en-IN"/>
        </a:p>
      </dgm:t>
    </dgm:pt>
    <dgm:pt modelId="{6308ED26-3205-475F-A3AE-E74D57D33735}" type="pres">
      <dgm:prSet presAssocID="{47262A0C-FC51-44B8-B4D7-343704999986}" presName="hierFlow" presStyleCnt="0"/>
      <dgm:spPr/>
    </dgm:pt>
    <dgm:pt modelId="{D2FBC933-DFAA-4B39-A7DA-7EBA7028C975}" type="pres">
      <dgm:prSet presAssocID="{47262A0C-FC51-44B8-B4D7-343704999986}" presName="firstBuf" presStyleCnt="0"/>
      <dgm:spPr/>
    </dgm:pt>
    <dgm:pt modelId="{4F81E92A-898D-4BA2-A826-069D70585550}" type="pres">
      <dgm:prSet presAssocID="{47262A0C-FC51-44B8-B4D7-343704999986}" presName="hierChild1" presStyleCnt="0">
        <dgm:presLayoutVars>
          <dgm:chPref val="1"/>
          <dgm:animOne val="branch"/>
          <dgm:animLvl val="lvl"/>
        </dgm:presLayoutVars>
      </dgm:prSet>
      <dgm:spPr/>
    </dgm:pt>
    <dgm:pt modelId="{638BC2FE-4983-449D-BB54-07296DABC59F}" type="pres">
      <dgm:prSet presAssocID="{92AE9DF3-E408-40D0-8D44-1A8275E8C88E}" presName="Name14" presStyleCnt="0"/>
      <dgm:spPr/>
    </dgm:pt>
    <dgm:pt modelId="{B7F12131-652B-404A-A62D-582BAB87876A}" type="pres">
      <dgm:prSet presAssocID="{92AE9DF3-E408-40D0-8D44-1A8275E8C88E}" presName="level1Shape" presStyleLbl="node0" presStyleIdx="0" presStyleCnt="1" custScaleX="159675">
        <dgm:presLayoutVars>
          <dgm:chPref val="3"/>
        </dgm:presLayoutVars>
      </dgm:prSet>
      <dgm:spPr/>
      <dgm:t>
        <a:bodyPr/>
        <a:lstStyle/>
        <a:p>
          <a:endParaRPr lang="en-IN"/>
        </a:p>
      </dgm:t>
    </dgm:pt>
    <dgm:pt modelId="{C1C5A304-8032-4F38-8BAE-B8B30116B97A}" type="pres">
      <dgm:prSet presAssocID="{92AE9DF3-E408-40D0-8D44-1A8275E8C88E}" presName="hierChild2" presStyleCnt="0"/>
      <dgm:spPr/>
    </dgm:pt>
    <dgm:pt modelId="{62CA9D27-2E7E-47BE-A9B3-8A2A721958F2}" type="pres">
      <dgm:prSet presAssocID="{35730804-6DE8-42FA-B014-BA2A6A299A20}" presName="Name19" presStyleLbl="parChTrans1D2" presStyleIdx="0" presStyleCnt="3"/>
      <dgm:spPr/>
      <dgm:t>
        <a:bodyPr/>
        <a:lstStyle/>
        <a:p>
          <a:endParaRPr lang="en-IN"/>
        </a:p>
      </dgm:t>
    </dgm:pt>
    <dgm:pt modelId="{3D7D485F-8CC3-4C79-B168-5A11F49C4205}" type="pres">
      <dgm:prSet presAssocID="{636A53EA-1F67-4CE6-AC5F-2E83F134465F}" presName="Name21" presStyleCnt="0"/>
      <dgm:spPr/>
    </dgm:pt>
    <dgm:pt modelId="{FACBCD80-072B-4C63-9FC6-AF95E8D64EE2}" type="pres">
      <dgm:prSet presAssocID="{636A53EA-1F67-4CE6-AC5F-2E83F134465F}" presName="level2Shape" presStyleLbl="node2" presStyleIdx="0" presStyleCnt="3" custScaleY="78190"/>
      <dgm:spPr/>
      <dgm:t>
        <a:bodyPr/>
        <a:lstStyle/>
        <a:p>
          <a:endParaRPr lang="en-IN"/>
        </a:p>
      </dgm:t>
    </dgm:pt>
    <dgm:pt modelId="{B98D3F23-CEB3-4B12-8948-C947404CEE12}" type="pres">
      <dgm:prSet presAssocID="{636A53EA-1F67-4CE6-AC5F-2E83F134465F}" presName="hierChild3" presStyleCnt="0"/>
      <dgm:spPr/>
    </dgm:pt>
    <dgm:pt modelId="{17E19A6B-D3BE-4C4C-8E81-B6424491562B}" type="pres">
      <dgm:prSet presAssocID="{308A3D3D-1720-4EE1-ADCC-015CBD0B4AAE}" presName="Name19" presStyleLbl="parChTrans1D3" presStyleIdx="0" presStyleCnt="4"/>
      <dgm:spPr/>
      <dgm:t>
        <a:bodyPr/>
        <a:lstStyle/>
        <a:p>
          <a:endParaRPr lang="en-IN"/>
        </a:p>
      </dgm:t>
    </dgm:pt>
    <dgm:pt modelId="{A770F174-84E9-437C-8A04-631962C93580}" type="pres">
      <dgm:prSet presAssocID="{25F087D5-FB26-4FC0-9CBE-9E1AA101C8A9}" presName="Name21" presStyleCnt="0"/>
      <dgm:spPr/>
    </dgm:pt>
    <dgm:pt modelId="{B646F030-F4E8-4DBD-A1C5-0461384013FB}" type="pres">
      <dgm:prSet presAssocID="{25F087D5-FB26-4FC0-9CBE-9E1AA101C8A9}" presName="level2Shape" presStyleLbl="node3" presStyleIdx="0" presStyleCnt="4"/>
      <dgm:spPr/>
      <dgm:t>
        <a:bodyPr/>
        <a:lstStyle/>
        <a:p>
          <a:endParaRPr lang="en-US"/>
        </a:p>
      </dgm:t>
    </dgm:pt>
    <dgm:pt modelId="{68ECD71E-B111-4DD7-9AC2-E9FBCE686D3E}" type="pres">
      <dgm:prSet presAssocID="{25F087D5-FB26-4FC0-9CBE-9E1AA101C8A9}" presName="hierChild3" presStyleCnt="0"/>
      <dgm:spPr/>
    </dgm:pt>
    <dgm:pt modelId="{13866DC4-BAA3-4717-8EDB-7ECE0185802B}" type="pres">
      <dgm:prSet presAssocID="{3626EE1F-EEB4-4DE0-ACBB-17CAC434FEC1}" presName="Name19" presStyleLbl="parChTrans1D3" presStyleIdx="1" presStyleCnt="4"/>
      <dgm:spPr/>
      <dgm:t>
        <a:bodyPr/>
        <a:lstStyle/>
        <a:p>
          <a:endParaRPr lang="en-IN"/>
        </a:p>
      </dgm:t>
    </dgm:pt>
    <dgm:pt modelId="{3143CF5C-A6F2-4A02-8468-FBDC9B7FEBD4}" type="pres">
      <dgm:prSet presAssocID="{4B9F3511-8218-4883-A1EA-B7D9E5FE9742}" presName="Name21" presStyleCnt="0"/>
      <dgm:spPr/>
    </dgm:pt>
    <dgm:pt modelId="{2BB7225F-4C68-4F40-A5B0-26C40C24B098}" type="pres">
      <dgm:prSet presAssocID="{4B9F3511-8218-4883-A1EA-B7D9E5FE9742}" presName="level2Shape" presStyleLbl="node3" presStyleIdx="1" presStyleCnt="4"/>
      <dgm:spPr/>
      <dgm:t>
        <a:bodyPr/>
        <a:lstStyle/>
        <a:p>
          <a:endParaRPr lang="en-US"/>
        </a:p>
      </dgm:t>
    </dgm:pt>
    <dgm:pt modelId="{2100165D-A3CA-4A6A-BBAE-F07291918655}" type="pres">
      <dgm:prSet presAssocID="{4B9F3511-8218-4883-A1EA-B7D9E5FE9742}" presName="hierChild3" presStyleCnt="0"/>
      <dgm:spPr/>
    </dgm:pt>
    <dgm:pt modelId="{6931CDB7-FA9A-4C29-A78C-49088FD78FDF}" type="pres">
      <dgm:prSet presAssocID="{2D03CB7A-BE66-40BC-8CFD-40C3FA16774E}" presName="Name19" presStyleLbl="parChTrans1D2" presStyleIdx="1" presStyleCnt="3"/>
      <dgm:spPr/>
      <dgm:t>
        <a:bodyPr/>
        <a:lstStyle/>
        <a:p>
          <a:endParaRPr lang="en-IN"/>
        </a:p>
      </dgm:t>
    </dgm:pt>
    <dgm:pt modelId="{CAA218F6-63F2-4879-90EC-CBAD980561E5}" type="pres">
      <dgm:prSet presAssocID="{950DE27E-5ED4-42FC-BB87-0CBAEFAE19EC}" presName="Name21" presStyleCnt="0"/>
      <dgm:spPr/>
    </dgm:pt>
    <dgm:pt modelId="{7148F295-1619-40EE-B3CE-61C668F3AF93}" type="pres">
      <dgm:prSet presAssocID="{950DE27E-5ED4-42FC-BB87-0CBAEFAE19EC}" presName="level2Shape" presStyleLbl="node2" presStyleIdx="1" presStyleCnt="3" custScaleY="76025"/>
      <dgm:spPr/>
      <dgm:t>
        <a:bodyPr/>
        <a:lstStyle/>
        <a:p>
          <a:endParaRPr lang="en-IN"/>
        </a:p>
      </dgm:t>
    </dgm:pt>
    <dgm:pt modelId="{FF617047-0F11-465B-99FD-F0B55080598E}" type="pres">
      <dgm:prSet presAssocID="{950DE27E-5ED4-42FC-BB87-0CBAEFAE19EC}" presName="hierChild3" presStyleCnt="0"/>
      <dgm:spPr/>
    </dgm:pt>
    <dgm:pt modelId="{E1AF041B-45A6-4047-9B36-AAD98432EBA2}" type="pres">
      <dgm:prSet presAssocID="{62A7821B-E533-4B0D-9150-35F301D50C21}" presName="Name19" presStyleLbl="parChTrans1D2" presStyleIdx="2" presStyleCnt="3"/>
      <dgm:spPr/>
      <dgm:t>
        <a:bodyPr/>
        <a:lstStyle/>
        <a:p>
          <a:endParaRPr lang="en-IN"/>
        </a:p>
      </dgm:t>
    </dgm:pt>
    <dgm:pt modelId="{BB7E70E8-652D-4897-9CB9-051FD5F14566}" type="pres">
      <dgm:prSet presAssocID="{CDECF2F9-F1B3-487B-A963-0505D33AF6AE}" presName="Name21" presStyleCnt="0"/>
      <dgm:spPr/>
    </dgm:pt>
    <dgm:pt modelId="{1AE2CF76-5555-41E7-A7C5-E7C881ACF0E9}" type="pres">
      <dgm:prSet presAssocID="{CDECF2F9-F1B3-487B-A963-0505D33AF6AE}" presName="level2Shape" presStyleLbl="node2" presStyleIdx="2" presStyleCnt="3" custScaleY="69533"/>
      <dgm:spPr/>
      <dgm:t>
        <a:bodyPr/>
        <a:lstStyle/>
        <a:p>
          <a:endParaRPr lang="en-IN"/>
        </a:p>
      </dgm:t>
    </dgm:pt>
    <dgm:pt modelId="{093B849D-EB98-4A63-9D8E-A6B32C676ADB}" type="pres">
      <dgm:prSet presAssocID="{CDECF2F9-F1B3-487B-A963-0505D33AF6AE}" presName="hierChild3" presStyleCnt="0"/>
      <dgm:spPr/>
    </dgm:pt>
    <dgm:pt modelId="{82539C3C-841E-4261-8311-11972955F2B4}" type="pres">
      <dgm:prSet presAssocID="{A7F9A0D9-F910-4DD8-B0D7-BE0D5BB60F0F}" presName="Name19" presStyleLbl="parChTrans1D3" presStyleIdx="2" presStyleCnt="4"/>
      <dgm:spPr/>
      <dgm:t>
        <a:bodyPr/>
        <a:lstStyle/>
        <a:p>
          <a:endParaRPr lang="en-IN"/>
        </a:p>
      </dgm:t>
    </dgm:pt>
    <dgm:pt modelId="{AE1A5E7A-3829-4198-847B-A0CFFE678842}" type="pres">
      <dgm:prSet presAssocID="{4FBB2510-53F6-440F-8657-C22217D90363}" presName="Name21" presStyleCnt="0"/>
      <dgm:spPr/>
    </dgm:pt>
    <dgm:pt modelId="{287CDCD2-DACE-4AE8-83A6-6B781052595B}" type="pres">
      <dgm:prSet presAssocID="{4FBB2510-53F6-440F-8657-C22217D90363}" presName="level2Shape" presStyleLbl="node3" presStyleIdx="2" presStyleCnt="4" custScaleY="70867"/>
      <dgm:spPr/>
      <dgm:t>
        <a:bodyPr/>
        <a:lstStyle/>
        <a:p>
          <a:endParaRPr lang="en-IN"/>
        </a:p>
      </dgm:t>
    </dgm:pt>
    <dgm:pt modelId="{4686BE95-0B49-432D-9F6D-D07005AED66D}" type="pres">
      <dgm:prSet presAssocID="{4FBB2510-53F6-440F-8657-C22217D90363}" presName="hierChild3" presStyleCnt="0"/>
      <dgm:spPr/>
    </dgm:pt>
    <dgm:pt modelId="{D571CED4-F08A-4D77-8460-6E975E58099C}" type="pres">
      <dgm:prSet presAssocID="{4924FF62-4633-4CA0-9FFF-DAF6208CAFCC}" presName="Name19" presStyleLbl="parChTrans1D3" presStyleIdx="3" presStyleCnt="4"/>
      <dgm:spPr/>
      <dgm:t>
        <a:bodyPr/>
        <a:lstStyle/>
        <a:p>
          <a:endParaRPr lang="en-IN"/>
        </a:p>
      </dgm:t>
    </dgm:pt>
    <dgm:pt modelId="{50ECC9EC-3109-48AA-B6B4-5F1681514998}" type="pres">
      <dgm:prSet presAssocID="{ADDABB5C-BDDF-4C5D-B063-B3F50AC51CDA}" presName="Name21" presStyleCnt="0"/>
      <dgm:spPr/>
    </dgm:pt>
    <dgm:pt modelId="{5113F681-C982-4ACC-98A6-C45BF0B6B1CC}" type="pres">
      <dgm:prSet presAssocID="{ADDABB5C-BDDF-4C5D-B063-B3F50AC51CDA}" presName="level2Shape" presStyleLbl="node3" presStyleIdx="3" presStyleCnt="4"/>
      <dgm:spPr/>
      <dgm:t>
        <a:bodyPr/>
        <a:lstStyle/>
        <a:p>
          <a:endParaRPr lang="en-US"/>
        </a:p>
      </dgm:t>
    </dgm:pt>
    <dgm:pt modelId="{F2E55E6E-ACF0-4F64-BE31-7162E0BF51F2}" type="pres">
      <dgm:prSet presAssocID="{ADDABB5C-BDDF-4C5D-B063-B3F50AC51CDA}" presName="hierChild3" presStyleCnt="0"/>
      <dgm:spPr/>
    </dgm:pt>
    <dgm:pt modelId="{B4A17D2E-1CD7-4DF4-8346-0A6EDC7CF477}" type="pres">
      <dgm:prSet presAssocID="{47262A0C-FC51-44B8-B4D7-343704999986}" presName="bgShapesFlow" presStyleCnt="0"/>
      <dgm:spPr/>
    </dgm:pt>
    <dgm:pt modelId="{D1667431-EA49-43EE-A4DD-A9AD3733164C}" type="pres">
      <dgm:prSet presAssocID="{839D77C4-4DE2-4FB9-89FC-1F9DB1F543B6}" presName="rectComp" presStyleCnt="0"/>
      <dgm:spPr/>
    </dgm:pt>
    <dgm:pt modelId="{118B6B36-261D-4876-B69E-347C9B438518}" type="pres">
      <dgm:prSet presAssocID="{839D77C4-4DE2-4FB9-89FC-1F9DB1F543B6}" presName="bgRect" presStyleLbl="bgShp" presStyleIdx="0" presStyleCnt="3" custScaleY="105169"/>
      <dgm:spPr/>
      <dgm:t>
        <a:bodyPr/>
        <a:lstStyle/>
        <a:p>
          <a:endParaRPr lang="en-IN"/>
        </a:p>
      </dgm:t>
    </dgm:pt>
    <dgm:pt modelId="{E586B45B-B882-46BB-835C-ABE588A6EE07}" type="pres">
      <dgm:prSet presAssocID="{839D77C4-4DE2-4FB9-89FC-1F9DB1F543B6}" presName="bgRectTx" presStyleLbl="bgShp" presStyleIdx="0" presStyleCnt="3">
        <dgm:presLayoutVars>
          <dgm:bulletEnabled val="1"/>
        </dgm:presLayoutVars>
      </dgm:prSet>
      <dgm:spPr/>
      <dgm:t>
        <a:bodyPr/>
        <a:lstStyle/>
        <a:p>
          <a:endParaRPr lang="en-IN"/>
        </a:p>
      </dgm:t>
    </dgm:pt>
    <dgm:pt modelId="{245D51EB-296B-40A5-A245-23F857458476}" type="pres">
      <dgm:prSet presAssocID="{839D77C4-4DE2-4FB9-89FC-1F9DB1F543B6}" presName="spComp" presStyleCnt="0"/>
      <dgm:spPr/>
    </dgm:pt>
    <dgm:pt modelId="{3B63600A-D49C-44D0-A9EF-F2DBC28AAAB5}" type="pres">
      <dgm:prSet presAssocID="{839D77C4-4DE2-4FB9-89FC-1F9DB1F543B6}" presName="vSp" presStyleCnt="0"/>
      <dgm:spPr/>
    </dgm:pt>
    <dgm:pt modelId="{EE7F2EE1-C68B-47ED-BE69-310B6F5F3D20}" type="pres">
      <dgm:prSet presAssocID="{A5F16375-870B-40DF-B6F3-FC072D378843}" presName="rectComp" presStyleCnt="0"/>
      <dgm:spPr/>
    </dgm:pt>
    <dgm:pt modelId="{72606DCB-C3A3-4B15-A649-E88514AB76C9}" type="pres">
      <dgm:prSet presAssocID="{A5F16375-870B-40DF-B6F3-FC072D378843}" presName="bgRect" presStyleLbl="bgShp" presStyleIdx="1" presStyleCnt="3"/>
      <dgm:spPr/>
      <dgm:t>
        <a:bodyPr/>
        <a:lstStyle/>
        <a:p>
          <a:endParaRPr lang="en-IN"/>
        </a:p>
      </dgm:t>
    </dgm:pt>
    <dgm:pt modelId="{00ACF071-C380-467D-BEFE-31FD2DF0825F}" type="pres">
      <dgm:prSet presAssocID="{A5F16375-870B-40DF-B6F3-FC072D378843}" presName="bgRectTx" presStyleLbl="bgShp" presStyleIdx="1" presStyleCnt="3">
        <dgm:presLayoutVars>
          <dgm:bulletEnabled val="1"/>
        </dgm:presLayoutVars>
      </dgm:prSet>
      <dgm:spPr/>
      <dgm:t>
        <a:bodyPr/>
        <a:lstStyle/>
        <a:p>
          <a:endParaRPr lang="en-IN"/>
        </a:p>
      </dgm:t>
    </dgm:pt>
    <dgm:pt modelId="{C7ADA76F-2BD7-4D71-B756-5F59CD3612EA}" type="pres">
      <dgm:prSet presAssocID="{A5F16375-870B-40DF-B6F3-FC072D378843}" presName="spComp" presStyleCnt="0"/>
      <dgm:spPr/>
    </dgm:pt>
    <dgm:pt modelId="{729F2AF7-30B0-4E43-B4E5-3C949674A31C}" type="pres">
      <dgm:prSet presAssocID="{A5F16375-870B-40DF-B6F3-FC072D378843}" presName="vSp" presStyleCnt="0"/>
      <dgm:spPr/>
    </dgm:pt>
    <dgm:pt modelId="{0962AE06-7A6D-4874-971D-0FD00D4B80F3}" type="pres">
      <dgm:prSet presAssocID="{09950250-274B-49DB-A3A7-23B59EC924C3}" presName="rectComp" presStyleCnt="0"/>
      <dgm:spPr/>
    </dgm:pt>
    <dgm:pt modelId="{7A410454-492A-4E1E-8071-664901430A08}" type="pres">
      <dgm:prSet presAssocID="{09950250-274B-49DB-A3A7-23B59EC924C3}" presName="bgRect" presStyleLbl="bgShp" presStyleIdx="2" presStyleCnt="3" custScaleY="74596"/>
      <dgm:spPr/>
      <dgm:t>
        <a:bodyPr/>
        <a:lstStyle/>
        <a:p>
          <a:endParaRPr lang="en-IN"/>
        </a:p>
      </dgm:t>
    </dgm:pt>
    <dgm:pt modelId="{AAA28984-E9D6-4513-8AB9-32D814830C74}" type="pres">
      <dgm:prSet presAssocID="{09950250-274B-49DB-A3A7-23B59EC924C3}" presName="bgRectTx" presStyleLbl="bgShp" presStyleIdx="2" presStyleCnt="3">
        <dgm:presLayoutVars>
          <dgm:bulletEnabled val="1"/>
        </dgm:presLayoutVars>
      </dgm:prSet>
      <dgm:spPr/>
      <dgm:t>
        <a:bodyPr/>
        <a:lstStyle/>
        <a:p>
          <a:endParaRPr lang="en-IN"/>
        </a:p>
      </dgm:t>
    </dgm:pt>
  </dgm:ptLst>
  <dgm:cxnLst>
    <dgm:cxn modelId="{96DDE7F0-0A05-4D4F-9678-6D21E10BE829}" srcId="{92AE9DF3-E408-40D0-8D44-1A8275E8C88E}" destId="{CDECF2F9-F1B3-487B-A963-0505D33AF6AE}" srcOrd="2" destOrd="0" parTransId="{62A7821B-E533-4B0D-9150-35F301D50C21}" sibTransId="{07389967-F6B8-42C0-86B4-9BC45733B2BF}"/>
    <dgm:cxn modelId="{C171E343-31EC-4907-AD92-2961875AAED4}" type="presOf" srcId="{CDECF2F9-F1B3-487B-A963-0505D33AF6AE}" destId="{1AE2CF76-5555-41E7-A7C5-E7C881ACF0E9}" srcOrd="0" destOrd="0" presId="urn:microsoft.com/office/officeart/2005/8/layout/hierarchy6"/>
    <dgm:cxn modelId="{C77F77BB-DBDC-4533-831B-721F6BFD84F2}" type="presOf" srcId="{950DE27E-5ED4-42FC-BB87-0CBAEFAE19EC}" destId="{7148F295-1619-40EE-B3CE-61C668F3AF93}" srcOrd="0" destOrd="0" presId="urn:microsoft.com/office/officeart/2005/8/layout/hierarchy6"/>
    <dgm:cxn modelId="{F6BF5EEC-F243-4644-870A-0D389275C5E5}" srcId="{47262A0C-FC51-44B8-B4D7-343704999986}" destId="{839D77C4-4DE2-4FB9-89FC-1F9DB1F543B6}" srcOrd="1" destOrd="0" parTransId="{4A0AFAEC-D83A-485E-A346-12664F92BEBE}" sibTransId="{0146A5AF-B817-475F-9574-0B6AB48A64A6}"/>
    <dgm:cxn modelId="{4277105C-DE17-46A7-A072-CDECBBC237A5}" type="presOf" srcId="{A5F16375-870B-40DF-B6F3-FC072D378843}" destId="{00ACF071-C380-467D-BEFE-31FD2DF0825F}" srcOrd="1" destOrd="0" presId="urn:microsoft.com/office/officeart/2005/8/layout/hierarchy6"/>
    <dgm:cxn modelId="{C61EFF6F-0101-41AC-97CA-32953C16B39A}" type="presOf" srcId="{839D77C4-4DE2-4FB9-89FC-1F9DB1F543B6}" destId="{118B6B36-261D-4876-B69E-347C9B438518}" srcOrd="0" destOrd="0" presId="urn:microsoft.com/office/officeart/2005/8/layout/hierarchy6"/>
    <dgm:cxn modelId="{41073736-0781-41F1-B39A-E5C8344531D0}" srcId="{47262A0C-FC51-44B8-B4D7-343704999986}" destId="{09950250-274B-49DB-A3A7-23B59EC924C3}" srcOrd="3" destOrd="0" parTransId="{E8B22D78-AFE6-436C-B9F6-EB547E339EA8}" sibTransId="{8ED3B059-C3D0-49F8-9731-C6E2395CF610}"/>
    <dgm:cxn modelId="{AB72C9AC-B76C-49E5-9496-87C2A93F79B3}" srcId="{CDECF2F9-F1B3-487B-A963-0505D33AF6AE}" destId="{4FBB2510-53F6-440F-8657-C22217D90363}" srcOrd="0" destOrd="0" parTransId="{A7F9A0D9-F910-4DD8-B0D7-BE0D5BB60F0F}" sibTransId="{9E856D19-F9BA-451E-BC16-BF61CD1870F5}"/>
    <dgm:cxn modelId="{2D4E5ECF-6231-4A58-9D92-1F23AC6F9E9B}" type="presOf" srcId="{92AE9DF3-E408-40D0-8D44-1A8275E8C88E}" destId="{B7F12131-652B-404A-A62D-582BAB87876A}" srcOrd="0" destOrd="0" presId="urn:microsoft.com/office/officeart/2005/8/layout/hierarchy6"/>
    <dgm:cxn modelId="{08B8CA1C-A3DA-4569-B12A-97765E32EFDD}" srcId="{47262A0C-FC51-44B8-B4D7-343704999986}" destId="{A5F16375-870B-40DF-B6F3-FC072D378843}" srcOrd="2" destOrd="0" parTransId="{82DDC144-DB87-404C-B6F0-0891BC480DC5}" sibTransId="{A2AEC90F-6D15-4D87-A03B-B84A8E8B020A}"/>
    <dgm:cxn modelId="{07CCA7B6-C51B-48FE-9335-66F43FBCF040}" type="presOf" srcId="{4FBB2510-53F6-440F-8657-C22217D90363}" destId="{287CDCD2-DACE-4AE8-83A6-6B781052595B}" srcOrd="0" destOrd="0" presId="urn:microsoft.com/office/officeart/2005/8/layout/hierarchy6"/>
    <dgm:cxn modelId="{9812AA1F-077E-4F0B-BA65-D7965C8169EA}" type="presOf" srcId="{839D77C4-4DE2-4FB9-89FC-1F9DB1F543B6}" destId="{E586B45B-B882-46BB-835C-ABE588A6EE07}" srcOrd="1" destOrd="0" presId="urn:microsoft.com/office/officeart/2005/8/layout/hierarchy6"/>
    <dgm:cxn modelId="{B872D909-0D22-4D00-A686-FC141F474CEB}" type="presOf" srcId="{4924FF62-4633-4CA0-9FFF-DAF6208CAFCC}" destId="{D571CED4-F08A-4D77-8460-6E975E58099C}" srcOrd="0" destOrd="0" presId="urn:microsoft.com/office/officeart/2005/8/layout/hierarchy6"/>
    <dgm:cxn modelId="{606492D8-554A-40C9-AD87-794E30B0F421}" type="presOf" srcId="{35730804-6DE8-42FA-B014-BA2A6A299A20}" destId="{62CA9D27-2E7E-47BE-A9B3-8A2A721958F2}" srcOrd="0" destOrd="0" presId="urn:microsoft.com/office/officeart/2005/8/layout/hierarchy6"/>
    <dgm:cxn modelId="{EC675064-BF1E-4903-A262-F9C2459FE2E2}" srcId="{636A53EA-1F67-4CE6-AC5F-2E83F134465F}" destId="{25F087D5-FB26-4FC0-9CBE-9E1AA101C8A9}" srcOrd="0" destOrd="0" parTransId="{308A3D3D-1720-4EE1-ADCC-015CBD0B4AAE}" sibTransId="{C0397D40-3735-456B-833E-826B03BD9A62}"/>
    <dgm:cxn modelId="{C0830EFA-7A6F-4271-8983-FBED47CBD9E1}" type="presOf" srcId="{308A3D3D-1720-4EE1-ADCC-015CBD0B4AAE}" destId="{17E19A6B-D3BE-4C4C-8E81-B6424491562B}" srcOrd="0" destOrd="0" presId="urn:microsoft.com/office/officeart/2005/8/layout/hierarchy6"/>
    <dgm:cxn modelId="{DE071E08-AD23-4AB0-A823-C7724B976ECC}" srcId="{636A53EA-1F67-4CE6-AC5F-2E83F134465F}" destId="{4B9F3511-8218-4883-A1EA-B7D9E5FE9742}" srcOrd="1" destOrd="0" parTransId="{3626EE1F-EEB4-4DE0-ACBB-17CAC434FEC1}" sibTransId="{6FE80E4E-08A0-4E98-9E7D-C25B617902CF}"/>
    <dgm:cxn modelId="{81C52083-28EA-4072-9675-2A50DCC25037}" srcId="{92AE9DF3-E408-40D0-8D44-1A8275E8C88E}" destId="{950DE27E-5ED4-42FC-BB87-0CBAEFAE19EC}" srcOrd="1" destOrd="0" parTransId="{2D03CB7A-BE66-40BC-8CFD-40C3FA16774E}" sibTransId="{7039A314-FFD6-4C53-98E6-586AF1BF9D10}"/>
    <dgm:cxn modelId="{127A6F22-2852-4EDF-8412-5B146B9A5860}" type="presOf" srcId="{2D03CB7A-BE66-40BC-8CFD-40C3FA16774E}" destId="{6931CDB7-FA9A-4C29-A78C-49088FD78FDF}" srcOrd="0" destOrd="0" presId="urn:microsoft.com/office/officeart/2005/8/layout/hierarchy6"/>
    <dgm:cxn modelId="{933E5046-AD4F-4E3F-8CAC-A698C690BB45}" srcId="{CDECF2F9-F1B3-487B-A963-0505D33AF6AE}" destId="{ADDABB5C-BDDF-4C5D-B063-B3F50AC51CDA}" srcOrd="1" destOrd="0" parTransId="{4924FF62-4633-4CA0-9FFF-DAF6208CAFCC}" sibTransId="{84E83683-48DC-4EA8-A5DC-AEE6E2F5DBCC}"/>
    <dgm:cxn modelId="{B11AE592-729B-4DBD-8D10-9CA92FFD6F9F}" type="presOf" srcId="{636A53EA-1F67-4CE6-AC5F-2E83F134465F}" destId="{FACBCD80-072B-4C63-9FC6-AF95E8D64EE2}" srcOrd="0" destOrd="0" presId="urn:microsoft.com/office/officeart/2005/8/layout/hierarchy6"/>
    <dgm:cxn modelId="{BFC73686-4B7B-459E-8C33-90E00B02A0D9}" type="presOf" srcId="{09950250-274B-49DB-A3A7-23B59EC924C3}" destId="{AAA28984-E9D6-4513-8AB9-32D814830C74}" srcOrd="1" destOrd="0" presId="urn:microsoft.com/office/officeart/2005/8/layout/hierarchy6"/>
    <dgm:cxn modelId="{BB658824-EE60-4E80-B90D-9F9D769CDA5B}" srcId="{47262A0C-FC51-44B8-B4D7-343704999986}" destId="{92AE9DF3-E408-40D0-8D44-1A8275E8C88E}" srcOrd="0" destOrd="0" parTransId="{DB9E48FC-CAAC-4B20-AC13-3BF7ED33A05B}" sibTransId="{3B65A871-9475-4535-8D59-030EF65D505A}"/>
    <dgm:cxn modelId="{862965D9-9440-4AE2-B4E2-ED9CE09ACBCF}" type="presOf" srcId="{A5F16375-870B-40DF-B6F3-FC072D378843}" destId="{72606DCB-C3A3-4B15-A649-E88514AB76C9}" srcOrd="0" destOrd="0" presId="urn:microsoft.com/office/officeart/2005/8/layout/hierarchy6"/>
    <dgm:cxn modelId="{DE5C9448-2AD7-408A-B06C-078F666D4BDD}" type="presOf" srcId="{A7F9A0D9-F910-4DD8-B0D7-BE0D5BB60F0F}" destId="{82539C3C-841E-4261-8311-11972955F2B4}" srcOrd="0" destOrd="0" presId="urn:microsoft.com/office/officeart/2005/8/layout/hierarchy6"/>
    <dgm:cxn modelId="{613D0A24-A3F3-4B41-B2CE-2EFBF6A1DB92}" type="presOf" srcId="{25F087D5-FB26-4FC0-9CBE-9E1AA101C8A9}" destId="{B646F030-F4E8-4DBD-A1C5-0461384013FB}" srcOrd="0" destOrd="0" presId="urn:microsoft.com/office/officeart/2005/8/layout/hierarchy6"/>
    <dgm:cxn modelId="{FCCA42E1-4587-44D0-8EFA-F7A764712C38}" type="presOf" srcId="{4B9F3511-8218-4883-A1EA-B7D9E5FE9742}" destId="{2BB7225F-4C68-4F40-A5B0-26C40C24B098}" srcOrd="0" destOrd="0" presId="urn:microsoft.com/office/officeart/2005/8/layout/hierarchy6"/>
    <dgm:cxn modelId="{68DA184F-FDF1-4D0E-947A-9C10CBD0673A}" type="presOf" srcId="{09950250-274B-49DB-A3A7-23B59EC924C3}" destId="{7A410454-492A-4E1E-8071-664901430A08}" srcOrd="0" destOrd="0" presId="urn:microsoft.com/office/officeart/2005/8/layout/hierarchy6"/>
    <dgm:cxn modelId="{01298F97-6D17-4364-824F-167AE1ED9B70}" type="presOf" srcId="{47262A0C-FC51-44B8-B4D7-343704999986}" destId="{C556B3F9-27D1-42D9-8FFF-578439832D93}" srcOrd="0" destOrd="0" presId="urn:microsoft.com/office/officeart/2005/8/layout/hierarchy6"/>
    <dgm:cxn modelId="{F49949A8-B1FF-4472-A946-0249DBAF434E}" type="presOf" srcId="{62A7821B-E533-4B0D-9150-35F301D50C21}" destId="{E1AF041B-45A6-4047-9B36-AAD98432EBA2}" srcOrd="0" destOrd="0" presId="urn:microsoft.com/office/officeart/2005/8/layout/hierarchy6"/>
    <dgm:cxn modelId="{B04E090D-B7DC-403C-A2A4-5C422F57F9CF}" type="presOf" srcId="{3626EE1F-EEB4-4DE0-ACBB-17CAC434FEC1}" destId="{13866DC4-BAA3-4717-8EDB-7ECE0185802B}" srcOrd="0" destOrd="0" presId="urn:microsoft.com/office/officeart/2005/8/layout/hierarchy6"/>
    <dgm:cxn modelId="{ABCC815B-D248-4CC9-943B-CB97A751BE32}" type="presOf" srcId="{ADDABB5C-BDDF-4C5D-B063-B3F50AC51CDA}" destId="{5113F681-C982-4ACC-98A6-C45BF0B6B1CC}" srcOrd="0" destOrd="0" presId="urn:microsoft.com/office/officeart/2005/8/layout/hierarchy6"/>
    <dgm:cxn modelId="{49D4E930-D2CC-49BB-A93C-4DAA6760C61E}" srcId="{92AE9DF3-E408-40D0-8D44-1A8275E8C88E}" destId="{636A53EA-1F67-4CE6-AC5F-2E83F134465F}" srcOrd="0" destOrd="0" parTransId="{35730804-6DE8-42FA-B014-BA2A6A299A20}" sibTransId="{429DF1E6-D1F4-440E-BF19-6A25F9056212}"/>
    <dgm:cxn modelId="{E1E7B521-E9CF-4B33-8BBC-866A5C817553}" type="presParOf" srcId="{C556B3F9-27D1-42D9-8FFF-578439832D93}" destId="{6308ED26-3205-475F-A3AE-E74D57D33735}" srcOrd="0" destOrd="0" presId="urn:microsoft.com/office/officeart/2005/8/layout/hierarchy6"/>
    <dgm:cxn modelId="{B5ED00BB-9FE6-41C8-A72A-714CC784728B}" type="presParOf" srcId="{6308ED26-3205-475F-A3AE-E74D57D33735}" destId="{D2FBC933-DFAA-4B39-A7DA-7EBA7028C975}" srcOrd="0" destOrd="0" presId="urn:microsoft.com/office/officeart/2005/8/layout/hierarchy6"/>
    <dgm:cxn modelId="{373FB1E4-4643-441E-9003-1310B96BFB17}" type="presParOf" srcId="{6308ED26-3205-475F-A3AE-E74D57D33735}" destId="{4F81E92A-898D-4BA2-A826-069D70585550}" srcOrd="1" destOrd="0" presId="urn:microsoft.com/office/officeart/2005/8/layout/hierarchy6"/>
    <dgm:cxn modelId="{8E9E44AD-3952-496C-823E-C50E7F343848}" type="presParOf" srcId="{4F81E92A-898D-4BA2-A826-069D70585550}" destId="{638BC2FE-4983-449D-BB54-07296DABC59F}" srcOrd="0" destOrd="0" presId="urn:microsoft.com/office/officeart/2005/8/layout/hierarchy6"/>
    <dgm:cxn modelId="{6654FAAF-CF6B-4329-998C-8B18DFE437A6}" type="presParOf" srcId="{638BC2FE-4983-449D-BB54-07296DABC59F}" destId="{B7F12131-652B-404A-A62D-582BAB87876A}" srcOrd="0" destOrd="0" presId="urn:microsoft.com/office/officeart/2005/8/layout/hierarchy6"/>
    <dgm:cxn modelId="{8ECA65B1-E8DA-4E71-AC22-EAFD5088252A}" type="presParOf" srcId="{638BC2FE-4983-449D-BB54-07296DABC59F}" destId="{C1C5A304-8032-4F38-8BAE-B8B30116B97A}" srcOrd="1" destOrd="0" presId="urn:microsoft.com/office/officeart/2005/8/layout/hierarchy6"/>
    <dgm:cxn modelId="{C8BD5940-6AA2-4929-BEB7-7DB298957B2C}" type="presParOf" srcId="{C1C5A304-8032-4F38-8BAE-B8B30116B97A}" destId="{62CA9D27-2E7E-47BE-A9B3-8A2A721958F2}" srcOrd="0" destOrd="0" presId="urn:microsoft.com/office/officeart/2005/8/layout/hierarchy6"/>
    <dgm:cxn modelId="{AE1E4B07-A95B-464F-8001-717859FE1929}" type="presParOf" srcId="{C1C5A304-8032-4F38-8BAE-B8B30116B97A}" destId="{3D7D485F-8CC3-4C79-B168-5A11F49C4205}" srcOrd="1" destOrd="0" presId="urn:microsoft.com/office/officeart/2005/8/layout/hierarchy6"/>
    <dgm:cxn modelId="{4128C088-175F-4A08-B8F2-C60797592A20}" type="presParOf" srcId="{3D7D485F-8CC3-4C79-B168-5A11F49C4205}" destId="{FACBCD80-072B-4C63-9FC6-AF95E8D64EE2}" srcOrd="0" destOrd="0" presId="urn:microsoft.com/office/officeart/2005/8/layout/hierarchy6"/>
    <dgm:cxn modelId="{EB7383A4-F326-4A2D-AD45-DEE7745A2816}" type="presParOf" srcId="{3D7D485F-8CC3-4C79-B168-5A11F49C4205}" destId="{B98D3F23-CEB3-4B12-8948-C947404CEE12}" srcOrd="1" destOrd="0" presId="urn:microsoft.com/office/officeart/2005/8/layout/hierarchy6"/>
    <dgm:cxn modelId="{9E9871D0-ECDB-47AB-8376-4D8E0D3CE811}" type="presParOf" srcId="{B98D3F23-CEB3-4B12-8948-C947404CEE12}" destId="{17E19A6B-D3BE-4C4C-8E81-B6424491562B}" srcOrd="0" destOrd="0" presId="urn:microsoft.com/office/officeart/2005/8/layout/hierarchy6"/>
    <dgm:cxn modelId="{5F0B65D1-9AF3-4DC0-A424-DC354479C8F1}" type="presParOf" srcId="{B98D3F23-CEB3-4B12-8948-C947404CEE12}" destId="{A770F174-84E9-437C-8A04-631962C93580}" srcOrd="1" destOrd="0" presId="urn:microsoft.com/office/officeart/2005/8/layout/hierarchy6"/>
    <dgm:cxn modelId="{A4241FE6-D520-4448-8022-AA265DBA2A85}" type="presParOf" srcId="{A770F174-84E9-437C-8A04-631962C93580}" destId="{B646F030-F4E8-4DBD-A1C5-0461384013FB}" srcOrd="0" destOrd="0" presId="urn:microsoft.com/office/officeart/2005/8/layout/hierarchy6"/>
    <dgm:cxn modelId="{BEBDF604-D4A5-4FB7-912F-82D76829C864}" type="presParOf" srcId="{A770F174-84E9-437C-8A04-631962C93580}" destId="{68ECD71E-B111-4DD7-9AC2-E9FBCE686D3E}" srcOrd="1" destOrd="0" presId="urn:microsoft.com/office/officeart/2005/8/layout/hierarchy6"/>
    <dgm:cxn modelId="{1DE39670-C0D2-4BA2-B6BD-1AB15161AFF5}" type="presParOf" srcId="{B98D3F23-CEB3-4B12-8948-C947404CEE12}" destId="{13866DC4-BAA3-4717-8EDB-7ECE0185802B}" srcOrd="2" destOrd="0" presId="urn:microsoft.com/office/officeart/2005/8/layout/hierarchy6"/>
    <dgm:cxn modelId="{8C375AD6-0050-4BB5-AE67-78C3F8F2B42B}" type="presParOf" srcId="{B98D3F23-CEB3-4B12-8948-C947404CEE12}" destId="{3143CF5C-A6F2-4A02-8468-FBDC9B7FEBD4}" srcOrd="3" destOrd="0" presId="urn:microsoft.com/office/officeart/2005/8/layout/hierarchy6"/>
    <dgm:cxn modelId="{FB0366F5-C442-4D3E-A243-19F8149DE1DB}" type="presParOf" srcId="{3143CF5C-A6F2-4A02-8468-FBDC9B7FEBD4}" destId="{2BB7225F-4C68-4F40-A5B0-26C40C24B098}" srcOrd="0" destOrd="0" presId="urn:microsoft.com/office/officeart/2005/8/layout/hierarchy6"/>
    <dgm:cxn modelId="{B499CCF4-873C-402E-83F7-216661E73E8C}" type="presParOf" srcId="{3143CF5C-A6F2-4A02-8468-FBDC9B7FEBD4}" destId="{2100165D-A3CA-4A6A-BBAE-F07291918655}" srcOrd="1" destOrd="0" presId="urn:microsoft.com/office/officeart/2005/8/layout/hierarchy6"/>
    <dgm:cxn modelId="{5A063D0B-E1BF-4B02-84C9-27703EAD2E07}" type="presParOf" srcId="{C1C5A304-8032-4F38-8BAE-B8B30116B97A}" destId="{6931CDB7-FA9A-4C29-A78C-49088FD78FDF}" srcOrd="2" destOrd="0" presId="urn:microsoft.com/office/officeart/2005/8/layout/hierarchy6"/>
    <dgm:cxn modelId="{60D37201-D8AE-4752-828C-649D410BA0C7}" type="presParOf" srcId="{C1C5A304-8032-4F38-8BAE-B8B30116B97A}" destId="{CAA218F6-63F2-4879-90EC-CBAD980561E5}" srcOrd="3" destOrd="0" presId="urn:microsoft.com/office/officeart/2005/8/layout/hierarchy6"/>
    <dgm:cxn modelId="{01FABF2D-AF64-454F-B39B-5F77D91B8452}" type="presParOf" srcId="{CAA218F6-63F2-4879-90EC-CBAD980561E5}" destId="{7148F295-1619-40EE-B3CE-61C668F3AF93}" srcOrd="0" destOrd="0" presId="urn:microsoft.com/office/officeart/2005/8/layout/hierarchy6"/>
    <dgm:cxn modelId="{3BBFD952-CC17-49A5-91ED-C051471F1C5E}" type="presParOf" srcId="{CAA218F6-63F2-4879-90EC-CBAD980561E5}" destId="{FF617047-0F11-465B-99FD-F0B55080598E}" srcOrd="1" destOrd="0" presId="urn:microsoft.com/office/officeart/2005/8/layout/hierarchy6"/>
    <dgm:cxn modelId="{11D4B482-2AA4-4284-9AF7-C41CBF86A139}" type="presParOf" srcId="{C1C5A304-8032-4F38-8BAE-B8B30116B97A}" destId="{E1AF041B-45A6-4047-9B36-AAD98432EBA2}" srcOrd="4" destOrd="0" presId="urn:microsoft.com/office/officeart/2005/8/layout/hierarchy6"/>
    <dgm:cxn modelId="{28A0CA80-7762-4DA5-864A-225AD657EF20}" type="presParOf" srcId="{C1C5A304-8032-4F38-8BAE-B8B30116B97A}" destId="{BB7E70E8-652D-4897-9CB9-051FD5F14566}" srcOrd="5" destOrd="0" presId="urn:microsoft.com/office/officeart/2005/8/layout/hierarchy6"/>
    <dgm:cxn modelId="{942DCA39-696D-4213-8879-1F6AB4C8E57A}" type="presParOf" srcId="{BB7E70E8-652D-4897-9CB9-051FD5F14566}" destId="{1AE2CF76-5555-41E7-A7C5-E7C881ACF0E9}" srcOrd="0" destOrd="0" presId="urn:microsoft.com/office/officeart/2005/8/layout/hierarchy6"/>
    <dgm:cxn modelId="{157680E0-DDB7-4FB8-8D2F-44055A091F7D}" type="presParOf" srcId="{BB7E70E8-652D-4897-9CB9-051FD5F14566}" destId="{093B849D-EB98-4A63-9D8E-A6B32C676ADB}" srcOrd="1" destOrd="0" presId="urn:microsoft.com/office/officeart/2005/8/layout/hierarchy6"/>
    <dgm:cxn modelId="{F92F0115-3857-4337-9830-054BBB32E3C4}" type="presParOf" srcId="{093B849D-EB98-4A63-9D8E-A6B32C676ADB}" destId="{82539C3C-841E-4261-8311-11972955F2B4}" srcOrd="0" destOrd="0" presId="urn:microsoft.com/office/officeart/2005/8/layout/hierarchy6"/>
    <dgm:cxn modelId="{78668FD3-24C6-405C-9070-422826418696}" type="presParOf" srcId="{093B849D-EB98-4A63-9D8E-A6B32C676ADB}" destId="{AE1A5E7A-3829-4198-847B-A0CFFE678842}" srcOrd="1" destOrd="0" presId="urn:microsoft.com/office/officeart/2005/8/layout/hierarchy6"/>
    <dgm:cxn modelId="{AB8B63B6-871E-468D-B3F6-6BCD963C616C}" type="presParOf" srcId="{AE1A5E7A-3829-4198-847B-A0CFFE678842}" destId="{287CDCD2-DACE-4AE8-83A6-6B781052595B}" srcOrd="0" destOrd="0" presId="urn:microsoft.com/office/officeart/2005/8/layout/hierarchy6"/>
    <dgm:cxn modelId="{126AC964-357B-4B59-93B9-BBB3E3B3673E}" type="presParOf" srcId="{AE1A5E7A-3829-4198-847B-A0CFFE678842}" destId="{4686BE95-0B49-432D-9F6D-D07005AED66D}" srcOrd="1" destOrd="0" presId="urn:microsoft.com/office/officeart/2005/8/layout/hierarchy6"/>
    <dgm:cxn modelId="{1984F4D7-2578-433E-A621-1077D6894F49}" type="presParOf" srcId="{093B849D-EB98-4A63-9D8E-A6B32C676ADB}" destId="{D571CED4-F08A-4D77-8460-6E975E58099C}" srcOrd="2" destOrd="0" presId="urn:microsoft.com/office/officeart/2005/8/layout/hierarchy6"/>
    <dgm:cxn modelId="{ED462264-803C-411A-B532-200656615E81}" type="presParOf" srcId="{093B849D-EB98-4A63-9D8E-A6B32C676ADB}" destId="{50ECC9EC-3109-48AA-B6B4-5F1681514998}" srcOrd="3" destOrd="0" presId="urn:microsoft.com/office/officeart/2005/8/layout/hierarchy6"/>
    <dgm:cxn modelId="{18797D4F-3811-462C-8FB0-44D6E6905CB1}" type="presParOf" srcId="{50ECC9EC-3109-48AA-B6B4-5F1681514998}" destId="{5113F681-C982-4ACC-98A6-C45BF0B6B1CC}" srcOrd="0" destOrd="0" presId="urn:microsoft.com/office/officeart/2005/8/layout/hierarchy6"/>
    <dgm:cxn modelId="{3862B47E-E0B7-4C26-AA0B-1DC765B7BD51}" type="presParOf" srcId="{50ECC9EC-3109-48AA-B6B4-5F1681514998}" destId="{F2E55E6E-ACF0-4F64-BE31-7162E0BF51F2}" srcOrd="1" destOrd="0" presId="urn:microsoft.com/office/officeart/2005/8/layout/hierarchy6"/>
    <dgm:cxn modelId="{03DDF1F2-2759-4072-8E2A-3FB954B15B72}" type="presParOf" srcId="{C556B3F9-27D1-42D9-8FFF-578439832D93}" destId="{B4A17D2E-1CD7-4DF4-8346-0A6EDC7CF477}" srcOrd="1" destOrd="0" presId="urn:microsoft.com/office/officeart/2005/8/layout/hierarchy6"/>
    <dgm:cxn modelId="{09BD43B5-A586-4EB5-AF0A-36DFDAEE806C}" type="presParOf" srcId="{B4A17D2E-1CD7-4DF4-8346-0A6EDC7CF477}" destId="{D1667431-EA49-43EE-A4DD-A9AD3733164C}" srcOrd="0" destOrd="0" presId="urn:microsoft.com/office/officeart/2005/8/layout/hierarchy6"/>
    <dgm:cxn modelId="{6A9884C2-53AA-4E37-A750-368045D52096}" type="presParOf" srcId="{D1667431-EA49-43EE-A4DD-A9AD3733164C}" destId="{118B6B36-261D-4876-B69E-347C9B438518}" srcOrd="0" destOrd="0" presId="urn:microsoft.com/office/officeart/2005/8/layout/hierarchy6"/>
    <dgm:cxn modelId="{2BFD5F59-8700-4EFE-ADB5-808202D67603}" type="presParOf" srcId="{D1667431-EA49-43EE-A4DD-A9AD3733164C}" destId="{E586B45B-B882-46BB-835C-ABE588A6EE07}" srcOrd="1" destOrd="0" presId="urn:microsoft.com/office/officeart/2005/8/layout/hierarchy6"/>
    <dgm:cxn modelId="{61512831-C46D-46E3-882D-0E6536E1207E}" type="presParOf" srcId="{B4A17D2E-1CD7-4DF4-8346-0A6EDC7CF477}" destId="{245D51EB-296B-40A5-A245-23F857458476}" srcOrd="1" destOrd="0" presId="urn:microsoft.com/office/officeart/2005/8/layout/hierarchy6"/>
    <dgm:cxn modelId="{A71AD553-061D-4474-926D-E38A504A4BE0}" type="presParOf" srcId="{245D51EB-296B-40A5-A245-23F857458476}" destId="{3B63600A-D49C-44D0-A9EF-F2DBC28AAAB5}" srcOrd="0" destOrd="0" presId="urn:microsoft.com/office/officeart/2005/8/layout/hierarchy6"/>
    <dgm:cxn modelId="{F73953E9-062D-48A1-B3A4-487C408BBEE4}" type="presParOf" srcId="{B4A17D2E-1CD7-4DF4-8346-0A6EDC7CF477}" destId="{EE7F2EE1-C68B-47ED-BE69-310B6F5F3D20}" srcOrd="2" destOrd="0" presId="urn:microsoft.com/office/officeart/2005/8/layout/hierarchy6"/>
    <dgm:cxn modelId="{551E8FC0-BAEC-45F3-BA7B-A4B1BDCF9D5F}" type="presParOf" srcId="{EE7F2EE1-C68B-47ED-BE69-310B6F5F3D20}" destId="{72606DCB-C3A3-4B15-A649-E88514AB76C9}" srcOrd="0" destOrd="0" presId="urn:microsoft.com/office/officeart/2005/8/layout/hierarchy6"/>
    <dgm:cxn modelId="{78833CCA-D1DE-4B14-8C12-BFF58BE43235}" type="presParOf" srcId="{EE7F2EE1-C68B-47ED-BE69-310B6F5F3D20}" destId="{00ACF071-C380-467D-BEFE-31FD2DF0825F}" srcOrd="1" destOrd="0" presId="urn:microsoft.com/office/officeart/2005/8/layout/hierarchy6"/>
    <dgm:cxn modelId="{CE2B1746-1C7E-4BDB-B1BB-BE4404E07EC6}" type="presParOf" srcId="{B4A17D2E-1CD7-4DF4-8346-0A6EDC7CF477}" destId="{C7ADA76F-2BD7-4D71-B756-5F59CD3612EA}" srcOrd="3" destOrd="0" presId="urn:microsoft.com/office/officeart/2005/8/layout/hierarchy6"/>
    <dgm:cxn modelId="{7F792146-0680-4996-A6AC-9C13EA2C2128}" type="presParOf" srcId="{C7ADA76F-2BD7-4D71-B756-5F59CD3612EA}" destId="{729F2AF7-30B0-4E43-B4E5-3C949674A31C}" srcOrd="0" destOrd="0" presId="urn:microsoft.com/office/officeart/2005/8/layout/hierarchy6"/>
    <dgm:cxn modelId="{A4D1707F-163A-4141-80A9-01C62164BE7D}" type="presParOf" srcId="{B4A17D2E-1CD7-4DF4-8346-0A6EDC7CF477}" destId="{0962AE06-7A6D-4874-971D-0FD00D4B80F3}" srcOrd="4" destOrd="0" presId="urn:microsoft.com/office/officeart/2005/8/layout/hierarchy6"/>
    <dgm:cxn modelId="{795F1F28-AC0B-4B33-A95E-9F6505B20609}" type="presParOf" srcId="{0962AE06-7A6D-4874-971D-0FD00D4B80F3}" destId="{7A410454-492A-4E1E-8071-664901430A08}" srcOrd="0" destOrd="0" presId="urn:microsoft.com/office/officeart/2005/8/layout/hierarchy6"/>
    <dgm:cxn modelId="{84292875-2835-4713-AEC6-7BB1F9B95237}" type="presParOf" srcId="{0962AE06-7A6D-4874-971D-0FD00D4B80F3}" destId="{AAA28984-E9D6-4513-8AB9-32D814830C74}"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410454-492A-4E1E-8071-664901430A08}">
      <dsp:nvSpPr>
        <dsp:cNvPr id="0" name=""/>
        <dsp:cNvSpPr/>
      </dsp:nvSpPr>
      <dsp:spPr>
        <a:xfrm>
          <a:off x="0" y="4342956"/>
          <a:ext cx="11685276" cy="96701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1808" tIns="241808" rIns="241808" bIns="241808" numCol="1" spcCol="1270" anchor="ctr" anchorCtr="0">
          <a:noAutofit/>
        </a:bodyPr>
        <a:lstStyle/>
        <a:p>
          <a:pPr lvl="0" algn="ctr" defTabSz="1511300">
            <a:lnSpc>
              <a:spcPct val="90000"/>
            </a:lnSpc>
            <a:spcBef>
              <a:spcPct val="0"/>
            </a:spcBef>
            <a:spcAft>
              <a:spcPct val="35000"/>
            </a:spcAft>
          </a:pPr>
          <a:r>
            <a:rPr lang="en-US" sz="3400" kern="1200" dirty="0" smtClean="0"/>
            <a:t>Level 2</a:t>
          </a:r>
          <a:endParaRPr lang="en-US" sz="3400" kern="1200" dirty="0"/>
        </a:p>
      </dsp:txBody>
      <dsp:txXfrm>
        <a:off x="0" y="4342956"/>
        <a:ext cx="3505583" cy="967014"/>
      </dsp:txXfrm>
    </dsp:sp>
    <dsp:sp modelId="{72606DCB-C3A3-4B15-A649-E88514AB76C9}">
      <dsp:nvSpPr>
        <dsp:cNvPr id="0" name=""/>
        <dsp:cNvSpPr/>
      </dsp:nvSpPr>
      <dsp:spPr>
        <a:xfrm>
          <a:off x="0" y="2830565"/>
          <a:ext cx="11685276" cy="12963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1808" tIns="241808" rIns="241808" bIns="241808" numCol="1" spcCol="1270" anchor="ctr" anchorCtr="0">
          <a:noAutofit/>
        </a:bodyPr>
        <a:lstStyle/>
        <a:p>
          <a:pPr lvl="0" algn="ctr" defTabSz="1511300">
            <a:lnSpc>
              <a:spcPct val="90000"/>
            </a:lnSpc>
            <a:spcBef>
              <a:spcPct val="0"/>
            </a:spcBef>
            <a:spcAft>
              <a:spcPct val="35000"/>
            </a:spcAft>
          </a:pPr>
          <a:r>
            <a:rPr lang="en-US" sz="3400" kern="1200" dirty="0" smtClean="0"/>
            <a:t>Level1</a:t>
          </a:r>
          <a:endParaRPr lang="en-US" sz="3400" kern="1200" dirty="0"/>
        </a:p>
      </dsp:txBody>
      <dsp:txXfrm>
        <a:off x="0" y="2830565"/>
        <a:ext cx="3505583" cy="1296335"/>
      </dsp:txXfrm>
    </dsp:sp>
    <dsp:sp modelId="{118B6B36-261D-4876-B69E-347C9B438518}">
      <dsp:nvSpPr>
        <dsp:cNvPr id="0" name=""/>
        <dsp:cNvSpPr/>
      </dsp:nvSpPr>
      <dsp:spPr>
        <a:xfrm>
          <a:off x="0" y="1251166"/>
          <a:ext cx="11685276" cy="1363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241808" tIns="241808" rIns="241808" bIns="241808" numCol="1" spcCol="1270" anchor="ctr" anchorCtr="0">
          <a:noAutofit/>
        </a:bodyPr>
        <a:lstStyle/>
        <a:p>
          <a:pPr lvl="0" algn="ctr" defTabSz="1511300">
            <a:lnSpc>
              <a:spcPct val="90000"/>
            </a:lnSpc>
            <a:spcBef>
              <a:spcPct val="0"/>
            </a:spcBef>
            <a:spcAft>
              <a:spcPct val="35000"/>
            </a:spcAft>
          </a:pPr>
          <a:r>
            <a:rPr lang="en-US" sz="3400" kern="1200" dirty="0" smtClean="0"/>
            <a:t>Level 0</a:t>
          </a:r>
          <a:endParaRPr lang="en-US" sz="3400" kern="1200" dirty="0"/>
        </a:p>
      </dsp:txBody>
      <dsp:txXfrm>
        <a:off x="0" y="1251166"/>
        <a:ext cx="3505583" cy="1363342"/>
      </dsp:txXfrm>
    </dsp:sp>
    <dsp:sp modelId="{B7F12131-652B-404A-A62D-582BAB87876A}">
      <dsp:nvSpPr>
        <dsp:cNvPr id="0" name=""/>
        <dsp:cNvSpPr/>
      </dsp:nvSpPr>
      <dsp:spPr>
        <a:xfrm>
          <a:off x="6184875" y="1359194"/>
          <a:ext cx="2587404" cy="10802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X</a:t>
          </a:r>
          <a:endParaRPr lang="en-US" sz="3200" kern="1200" dirty="0"/>
        </a:p>
      </dsp:txBody>
      <dsp:txXfrm>
        <a:off x="6216515" y="1390834"/>
        <a:ext cx="2524124" cy="1016999"/>
      </dsp:txXfrm>
    </dsp:sp>
    <dsp:sp modelId="{62CA9D27-2E7E-47BE-A9B3-8A2A721958F2}">
      <dsp:nvSpPr>
        <dsp:cNvPr id="0" name=""/>
        <dsp:cNvSpPr/>
      </dsp:nvSpPr>
      <dsp:spPr>
        <a:xfrm>
          <a:off x="5372032" y="2439473"/>
          <a:ext cx="2106545" cy="432111"/>
        </a:xfrm>
        <a:custGeom>
          <a:avLst/>
          <a:gdLst/>
          <a:ahLst/>
          <a:cxnLst/>
          <a:rect l="0" t="0" r="0" b="0"/>
          <a:pathLst>
            <a:path>
              <a:moveTo>
                <a:pt x="2106545" y="0"/>
              </a:moveTo>
              <a:lnTo>
                <a:pt x="2106545" y="216055"/>
              </a:lnTo>
              <a:lnTo>
                <a:pt x="0" y="216055"/>
              </a:lnTo>
              <a:lnTo>
                <a:pt x="0" y="4321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CBCD80-072B-4C63-9FC6-AF95E8D64EE2}">
      <dsp:nvSpPr>
        <dsp:cNvPr id="0" name=""/>
        <dsp:cNvSpPr/>
      </dsp:nvSpPr>
      <dsp:spPr>
        <a:xfrm>
          <a:off x="4561822" y="2871585"/>
          <a:ext cx="1620419" cy="8446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A(1)</a:t>
          </a:r>
          <a:endParaRPr lang="en-US" sz="3200" kern="1200" dirty="0"/>
        </a:p>
      </dsp:txBody>
      <dsp:txXfrm>
        <a:off x="4586562" y="2896325"/>
        <a:ext cx="1570939" cy="795190"/>
      </dsp:txXfrm>
    </dsp:sp>
    <dsp:sp modelId="{17E19A6B-D3BE-4C4C-8E81-B6424491562B}">
      <dsp:nvSpPr>
        <dsp:cNvPr id="0" name=""/>
        <dsp:cNvSpPr/>
      </dsp:nvSpPr>
      <dsp:spPr>
        <a:xfrm>
          <a:off x="4318759" y="3716256"/>
          <a:ext cx="1053272" cy="432111"/>
        </a:xfrm>
        <a:custGeom>
          <a:avLst/>
          <a:gdLst/>
          <a:ahLst/>
          <a:cxnLst/>
          <a:rect l="0" t="0" r="0" b="0"/>
          <a:pathLst>
            <a:path>
              <a:moveTo>
                <a:pt x="1053272" y="0"/>
              </a:moveTo>
              <a:lnTo>
                <a:pt x="1053272" y="216055"/>
              </a:lnTo>
              <a:lnTo>
                <a:pt x="0" y="216055"/>
              </a:lnTo>
              <a:lnTo>
                <a:pt x="0" y="4321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646F030-F4E8-4DBD-A1C5-0461384013FB}">
      <dsp:nvSpPr>
        <dsp:cNvPr id="0" name=""/>
        <dsp:cNvSpPr/>
      </dsp:nvSpPr>
      <dsp:spPr>
        <a:xfrm>
          <a:off x="3508550" y="4148367"/>
          <a:ext cx="1620419" cy="10802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D(1)</a:t>
          </a:r>
          <a:endParaRPr lang="en-US" sz="3200" kern="1200" dirty="0"/>
        </a:p>
      </dsp:txBody>
      <dsp:txXfrm>
        <a:off x="3540190" y="4180007"/>
        <a:ext cx="1557139" cy="1016999"/>
      </dsp:txXfrm>
    </dsp:sp>
    <dsp:sp modelId="{13866DC4-BAA3-4717-8EDB-7ECE0185802B}">
      <dsp:nvSpPr>
        <dsp:cNvPr id="0" name=""/>
        <dsp:cNvSpPr/>
      </dsp:nvSpPr>
      <dsp:spPr>
        <a:xfrm>
          <a:off x="5372032" y="3716256"/>
          <a:ext cx="1053272" cy="432111"/>
        </a:xfrm>
        <a:custGeom>
          <a:avLst/>
          <a:gdLst/>
          <a:ahLst/>
          <a:cxnLst/>
          <a:rect l="0" t="0" r="0" b="0"/>
          <a:pathLst>
            <a:path>
              <a:moveTo>
                <a:pt x="0" y="0"/>
              </a:moveTo>
              <a:lnTo>
                <a:pt x="0" y="216055"/>
              </a:lnTo>
              <a:lnTo>
                <a:pt x="1053272" y="216055"/>
              </a:lnTo>
              <a:lnTo>
                <a:pt x="1053272" y="4321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B7225F-4C68-4F40-A5B0-26C40C24B098}">
      <dsp:nvSpPr>
        <dsp:cNvPr id="0" name=""/>
        <dsp:cNvSpPr/>
      </dsp:nvSpPr>
      <dsp:spPr>
        <a:xfrm>
          <a:off x="5615095" y="4148367"/>
          <a:ext cx="1620419" cy="10802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E(2)</a:t>
          </a:r>
          <a:endParaRPr lang="en-US" sz="3200" kern="1200" dirty="0"/>
        </a:p>
      </dsp:txBody>
      <dsp:txXfrm>
        <a:off x="5646735" y="4180007"/>
        <a:ext cx="1557139" cy="1016999"/>
      </dsp:txXfrm>
    </dsp:sp>
    <dsp:sp modelId="{6931CDB7-FA9A-4C29-A78C-49088FD78FDF}">
      <dsp:nvSpPr>
        <dsp:cNvPr id="0" name=""/>
        <dsp:cNvSpPr/>
      </dsp:nvSpPr>
      <dsp:spPr>
        <a:xfrm>
          <a:off x="7432857" y="2439473"/>
          <a:ext cx="91440" cy="432111"/>
        </a:xfrm>
        <a:custGeom>
          <a:avLst/>
          <a:gdLst/>
          <a:ahLst/>
          <a:cxnLst/>
          <a:rect l="0" t="0" r="0" b="0"/>
          <a:pathLst>
            <a:path>
              <a:moveTo>
                <a:pt x="45720" y="0"/>
              </a:moveTo>
              <a:lnTo>
                <a:pt x="45720" y="4321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148F295-1619-40EE-B3CE-61C668F3AF93}">
      <dsp:nvSpPr>
        <dsp:cNvPr id="0" name=""/>
        <dsp:cNvSpPr/>
      </dsp:nvSpPr>
      <dsp:spPr>
        <a:xfrm>
          <a:off x="6668367" y="2871585"/>
          <a:ext cx="1620419" cy="82128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B(3)</a:t>
          </a:r>
          <a:endParaRPr lang="en-US" sz="3200" kern="1200" dirty="0"/>
        </a:p>
      </dsp:txBody>
      <dsp:txXfrm>
        <a:off x="6692422" y="2895640"/>
        <a:ext cx="1572309" cy="773172"/>
      </dsp:txXfrm>
    </dsp:sp>
    <dsp:sp modelId="{E1AF041B-45A6-4047-9B36-AAD98432EBA2}">
      <dsp:nvSpPr>
        <dsp:cNvPr id="0" name=""/>
        <dsp:cNvSpPr/>
      </dsp:nvSpPr>
      <dsp:spPr>
        <a:xfrm>
          <a:off x="7478577" y="2439473"/>
          <a:ext cx="2106545" cy="432111"/>
        </a:xfrm>
        <a:custGeom>
          <a:avLst/>
          <a:gdLst/>
          <a:ahLst/>
          <a:cxnLst/>
          <a:rect l="0" t="0" r="0" b="0"/>
          <a:pathLst>
            <a:path>
              <a:moveTo>
                <a:pt x="0" y="0"/>
              </a:moveTo>
              <a:lnTo>
                <a:pt x="0" y="216055"/>
              </a:lnTo>
              <a:lnTo>
                <a:pt x="2106545" y="216055"/>
              </a:lnTo>
              <a:lnTo>
                <a:pt x="2106545" y="43211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E2CF76-5555-41E7-A7C5-E7C881ACF0E9}">
      <dsp:nvSpPr>
        <dsp:cNvPr id="0" name=""/>
        <dsp:cNvSpPr/>
      </dsp:nvSpPr>
      <dsp:spPr>
        <a:xfrm>
          <a:off x="8774912" y="2871585"/>
          <a:ext cx="1620419" cy="75115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C(2)</a:t>
          </a:r>
          <a:endParaRPr lang="en-US" sz="3200" kern="1200" dirty="0"/>
        </a:p>
      </dsp:txBody>
      <dsp:txXfrm>
        <a:off x="8796912" y="2893585"/>
        <a:ext cx="1576419" cy="707150"/>
      </dsp:txXfrm>
    </dsp:sp>
    <dsp:sp modelId="{82539C3C-841E-4261-8311-11972955F2B4}">
      <dsp:nvSpPr>
        <dsp:cNvPr id="0" name=""/>
        <dsp:cNvSpPr/>
      </dsp:nvSpPr>
      <dsp:spPr>
        <a:xfrm>
          <a:off x="8531849" y="3622736"/>
          <a:ext cx="1053272" cy="432111"/>
        </a:xfrm>
        <a:custGeom>
          <a:avLst/>
          <a:gdLst/>
          <a:ahLst/>
          <a:cxnLst/>
          <a:rect l="0" t="0" r="0" b="0"/>
          <a:pathLst>
            <a:path>
              <a:moveTo>
                <a:pt x="1053272" y="0"/>
              </a:moveTo>
              <a:lnTo>
                <a:pt x="1053272" y="216055"/>
              </a:lnTo>
              <a:lnTo>
                <a:pt x="0" y="216055"/>
              </a:lnTo>
              <a:lnTo>
                <a:pt x="0" y="4321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7CDCD2-DACE-4AE8-83A6-6B781052595B}">
      <dsp:nvSpPr>
        <dsp:cNvPr id="0" name=""/>
        <dsp:cNvSpPr/>
      </dsp:nvSpPr>
      <dsp:spPr>
        <a:xfrm>
          <a:off x="7721640" y="4054848"/>
          <a:ext cx="1620419" cy="76556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H(2)</a:t>
          </a:r>
          <a:endParaRPr lang="en-US" sz="3200" kern="1200" dirty="0"/>
        </a:p>
      </dsp:txBody>
      <dsp:txXfrm>
        <a:off x="7744063" y="4077271"/>
        <a:ext cx="1575573" cy="720715"/>
      </dsp:txXfrm>
    </dsp:sp>
    <dsp:sp modelId="{D571CED4-F08A-4D77-8460-6E975E58099C}">
      <dsp:nvSpPr>
        <dsp:cNvPr id="0" name=""/>
        <dsp:cNvSpPr/>
      </dsp:nvSpPr>
      <dsp:spPr>
        <a:xfrm>
          <a:off x="9585122" y="3622736"/>
          <a:ext cx="1053272" cy="432111"/>
        </a:xfrm>
        <a:custGeom>
          <a:avLst/>
          <a:gdLst/>
          <a:ahLst/>
          <a:cxnLst/>
          <a:rect l="0" t="0" r="0" b="0"/>
          <a:pathLst>
            <a:path>
              <a:moveTo>
                <a:pt x="0" y="0"/>
              </a:moveTo>
              <a:lnTo>
                <a:pt x="0" y="216055"/>
              </a:lnTo>
              <a:lnTo>
                <a:pt x="1053272" y="216055"/>
              </a:lnTo>
              <a:lnTo>
                <a:pt x="1053272" y="432111"/>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113F681-C982-4ACC-98A6-C45BF0B6B1CC}">
      <dsp:nvSpPr>
        <dsp:cNvPr id="0" name=""/>
        <dsp:cNvSpPr/>
      </dsp:nvSpPr>
      <dsp:spPr>
        <a:xfrm>
          <a:off x="9828185" y="4054848"/>
          <a:ext cx="1620419" cy="108027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lvl="0" algn="ctr" defTabSz="1422400">
            <a:lnSpc>
              <a:spcPct val="90000"/>
            </a:lnSpc>
            <a:spcBef>
              <a:spcPct val="0"/>
            </a:spcBef>
            <a:spcAft>
              <a:spcPct val="35000"/>
            </a:spcAft>
          </a:pPr>
          <a:r>
            <a:rPr lang="en-US" sz="3200" kern="1200" dirty="0" smtClean="0"/>
            <a:t>I(2)</a:t>
          </a:r>
          <a:endParaRPr lang="en-US" sz="3200" kern="1200" dirty="0"/>
        </a:p>
      </dsp:txBody>
      <dsp:txXfrm>
        <a:off x="9859825" y="4086488"/>
        <a:ext cx="1557139" cy="101699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16-10-2023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888992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16-10-2023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229788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E2ED03-6B94-4345-8944-CFCF63F6DEC1}" type="datetimeFigureOut">
              <a:rPr lang="en-IN" smtClean="0"/>
              <a:t>16-10-2023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103904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79E2ED03-6B94-4345-8944-CFCF63F6DEC1}" type="datetimeFigureOut">
              <a:rPr lang="en-IN" smtClean="0"/>
              <a:t>16-10-2023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106231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9E2ED03-6B94-4345-8944-CFCF63F6DEC1}" type="datetimeFigureOut">
              <a:rPr lang="en-IN" smtClean="0"/>
              <a:t>16-10-2023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622886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9E2ED03-6B94-4345-8944-CFCF63F6DEC1}" type="datetimeFigureOut">
              <a:rPr lang="en-IN" smtClean="0"/>
              <a:t>16-10-2023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93092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E2ED03-6B94-4345-8944-CFCF63F6DEC1}" type="datetimeFigureOut">
              <a:rPr lang="en-IN" smtClean="0"/>
              <a:t>16-10-2023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16480855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16-10-2023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387890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E2ED03-6B94-4345-8944-CFCF63F6DEC1}" type="datetimeFigureOut">
              <a:rPr lang="en-IN" smtClean="0"/>
              <a:t>16-10-2023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566593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16-10-2023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455742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79E2ED03-6B94-4345-8944-CFCF63F6DEC1}" type="datetimeFigureOut">
              <a:rPr lang="en-IN" smtClean="0"/>
              <a:t>16-10-2023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8C682-AE47-4C43-B1ED-12799A6AD0EB}" type="slidenum">
              <a:rPr lang="en-IN" smtClean="0"/>
              <a:t>‹#›</a:t>
            </a:fld>
            <a:endParaRPr lang="en-IN"/>
          </a:p>
        </p:txBody>
      </p:sp>
    </p:spTree>
    <p:extLst>
      <p:ext uri="{BB962C8B-B14F-4D97-AF65-F5344CB8AC3E}">
        <p14:creationId xmlns:p14="http://schemas.microsoft.com/office/powerpoint/2010/main" val="20644798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E2ED03-6B94-4345-8944-CFCF63F6DEC1}" type="datetimeFigureOut">
              <a:rPr lang="en-IN" smtClean="0"/>
              <a:t>16-10-2023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8C682-AE47-4C43-B1ED-12799A6AD0EB}" type="slidenum">
              <a:rPr lang="en-IN" smtClean="0"/>
              <a:t>‹#›</a:t>
            </a:fld>
            <a:endParaRPr lang="en-IN"/>
          </a:p>
        </p:txBody>
      </p:sp>
    </p:spTree>
    <p:extLst>
      <p:ext uri="{BB962C8B-B14F-4D97-AF65-F5344CB8AC3E}">
        <p14:creationId xmlns:p14="http://schemas.microsoft.com/office/powerpoint/2010/main" val="3938540936"/>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138" y="365125"/>
            <a:ext cx="10890662" cy="5382532"/>
          </a:xfrm>
        </p:spPr>
        <p:txBody>
          <a:bodyPr>
            <a:normAutofit/>
          </a:bodyPr>
          <a:lstStyle/>
          <a:p>
            <a:pPr algn="ctr"/>
            <a:r>
              <a:rPr lang="en-US" sz="5400" i="1" dirty="0" smtClean="0">
                <a:solidFill>
                  <a:srgbClr val="C00000"/>
                </a:solidFill>
                <a:latin typeface="Berlin Sans FB Demi" panose="020E0802020502020306" pitchFamily="34" charset="0"/>
                <a:cs typeface="Arial" panose="020B0604020202020204" pitchFamily="34" charset="0"/>
              </a:rPr>
              <a:t>Basics of  Materials Requirement Planning(MRP)</a:t>
            </a:r>
            <a:endParaRPr lang="en-IN" sz="5400" i="1" dirty="0">
              <a:solidFill>
                <a:srgbClr val="C00000"/>
              </a:solidFill>
              <a:latin typeface="Berlin Sans FB Demi" panose="020E0802020502020306" pitchFamily="34" charset="0"/>
              <a:cs typeface="Arial" panose="020B0604020202020204" pitchFamily="34" charset="0"/>
            </a:endParaRPr>
          </a:p>
        </p:txBody>
      </p:sp>
    </p:spTree>
    <p:extLst>
      <p:ext uri="{BB962C8B-B14F-4D97-AF65-F5344CB8AC3E}">
        <p14:creationId xmlns:p14="http://schemas.microsoft.com/office/powerpoint/2010/main" val="300090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8638" y="328614"/>
            <a:ext cx="10825162" cy="5848350"/>
          </a:xfrm>
        </p:spPr>
        <p:txBody>
          <a:bodyPr>
            <a:normAutofit/>
          </a:bodyPr>
          <a:lstStyle/>
          <a:p>
            <a:pPr marL="0" indent="0" algn="just">
              <a:buNone/>
            </a:pPr>
            <a:r>
              <a:rPr lang="en-US" sz="3600" b="1" i="1" dirty="0" smtClean="0">
                <a:solidFill>
                  <a:srgbClr val="C00000"/>
                </a:solidFill>
                <a:latin typeface="Times New Roman" panose="02020603050405020304" pitchFamily="18" charset="0"/>
                <a:cs typeface="Times New Roman" panose="02020603050405020304" pitchFamily="18" charset="0"/>
              </a:rPr>
              <a:t>Materials</a:t>
            </a:r>
          </a:p>
          <a:p>
            <a:pPr algn="just"/>
            <a:r>
              <a:rPr lang="en-US" sz="2400" dirty="0" smtClean="0">
                <a:solidFill>
                  <a:srgbClr val="002060"/>
                </a:solidFill>
                <a:latin typeface="Times New Roman" panose="02020603050405020304" pitchFamily="18" charset="0"/>
                <a:cs typeface="Times New Roman" panose="02020603050405020304" pitchFamily="18" charset="0"/>
              </a:rPr>
              <a:t>Materials </a:t>
            </a:r>
            <a:r>
              <a:rPr lang="en-US" sz="2400" dirty="0">
                <a:solidFill>
                  <a:srgbClr val="002060"/>
                </a:solidFill>
                <a:latin typeface="Times New Roman" panose="02020603050405020304" pitchFamily="18" charset="0"/>
                <a:cs typeface="Times New Roman" panose="02020603050405020304" pitchFamily="18" charset="0"/>
              </a:rPr>
              <a:t>are key resource in an industrial </a:t>
            </a:r>
            <a:r>
              <a:rPr lang="en-US" sz="2400" dirty="0" smtClean="0">
                <a:solidFill>
                  <a:srgbClr val="002060"/>
                </a:solidFill>
                <a:latin typeface="Times New Roman" panose="02020603050405020304" pitchFamily="18" charset="0"/>
                <a:cs typeface="Times New Roman" panose="02020603050405020304" pitchFamily="18" charset="0"/>
              </a:rPr>
              <a:t>enterprise</a:t>
            </a:r>
          </a:p>
          <a:p>
            <a:pPr marL="0" indent="0" algn="just">
              <a:buNone/>
            </a:pPr>
            <a:endParaRPr lang="en-US" sz="2400" dirty="0">
              <a:solidFill>
                <a:srgbClr val="002060"/>
              </a:solidFill>
              <a:latin typeface="Times New Roman" panose="02020603050405020304" pitchFamily="18" charset="0"/>
              <a:cs typeface="Times New Roman" panose="02020603050405020304" pitchFamily="18" charset="0"/>
            </a:endParaRPr>
          </a:p>
          <a:p>
            <a:pPr algn="just"/>
            <a:r>
              <a:rPr lang="en-US" sz="2400" dirty="0">
                <a:solidFill>
                  <a:srgbClr val="002060"/>
                </a:solidFill>
                <a:latin typeface="Times New Roman" panose="02020603050405020304" pitchFamily="18" charset="0"/>
                <a:cs typeface="Times New Roman" panose="02020603050405020304" pitchFamily="18" charset="0"/>
              </a:rPr>
              <a:t>Production is not possible without </a:t>
            </a:r>
            <a:r>
              <a:rPr lang="en-US" sz="2400" dirty="0" smtClean="0">
                <a:solidFill>
                  <a:srgbClr val="002060"/>
                </a:solidFill>
                <a:latin typeface="Times New Roman" panose="02020603050405020304" pitchFamily="18" charset="0"/>
                <a:cs typeface="Times New Roman" panose="02020603050405020304" pitchFamily="18" charset="0"/>
              </a:rPr>
              <a:t>materials</a:t>
            </a:r>
          </a:p>
          <a:p>
            <a:pPr marL="0" indent="0" algn="just">
              <a:buNone/>
            </a:pPr>
            <a:endParaRPr lang="en-US" sz="2400" dirty="0">
              <a:solidFill>
                <a:srgbClr val="002060"/>
              </a:solidFill>
              <a:latin typeface="Times New Roman" panose="02020603050405020304" pitchFamily="18" charset="0"/>
              <a:cs typeface="Times New Roman" panose="02020603050405020304" pitchFamily="18" charset="0"/>
            </a:endParaRPr>
          </a:p>
          <a:p>
            <a:pPr algn="just"/>
            <a:r>
              <a:rPr lang="en-US" sz="2400" dirty="0">
                <a:solidFill>
                  <a:srgbClr val="002060"/>
                </a:solidFill>
                <a:latin typeface="Times New Roman" panose="02020603050405020304" pitchFamily="18" charset="0"/>
                <a:cs typeface="Times New Roman" panose="02020603050405020304" pitchFamily="18" charset="0"/>
              </a:rPr>
              <a:t>Materials cost is major constitute of the cost of the </a:t>
            </a:r>
            <a:r>
              <a:rPr lang="en-US" sz="2400" dirty="0" smtClean="0">
                <a:solidFill>
                  <a:srgbClr val="002060"/>
                </a:solidFill>
                <a:latin typeface="Times New Roman" panose="02020603050405020304" pitchFamily="18" charset="0"/>
                <a:cs typeface="Times New Roman" panose="02020603050405020304" pitchFamily="18" charset="0"/>
              </a:rPr>
              <a:t>product</a:t>
            </a:r>
          </a:p>
          <a:p>
            <a:pPr marL="0" indent="0" algn="just">
              <a:buNone/>
            </a:pPr>
            <a:endParaRPr lang="en-US" sz="2400" dirty="0">
              <a:solidFill>
                <a:srgbClr val="002060"/>
              </a:solidFill>
              <a:latin typeface="Times New Roman" panose="02020603050405020304" pitchFamily="18" charset="0"/>
              <a:cs typeface="Times New Roman" panose="02020603050405020304" pitchFamily="18" charset="0"/>
            </a:endParaRPr>
          </a:p>
          <a:p>
            <a:pPr algn="just"/>
            <a:r>
              <a:rPr lang="en-US" sz="2400" dirty="0">
                <a:solidFill>
                  <a:srgbClr val="002060"/>
                </a:solidFill>
                <a:latin typeface="Times New Roman" panose="02020603050405020304" pitchFamily="18" charset="0"/>
                <a:cs typeface="Times New Roman" panose="02020603050405020304" pitchFamily="18" charset="0"/>
              </a:rPr>
              <a:t>Proper control over material purchase, storage, issue, movement and consumption is necessary. Materials management does this for enterprise</a:t>
            </a:r>
          </a:p>
          <a:p>
            <a:pPr algn="just"/>
            <a:endParaRPr lang="en-IN" sz="2400" dirty="0"/>
          </a:p>
        </p:txBody>
      </p:sp>
    </p:spTree>
    <p:extLst>
      <p:ext uri="{BB962C8B-B14F-4D97-AF65-F5344CB8AC3E}">
        <p14:creationId xmlns:p14="http://schemas.microsoft.com/office/powerpoint/2010/main" val="11504250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76382" y="142840"/>
            <a:ext cx="11281558" cy="6198919"/>
          </a:xfrm>
        </p:spPr>
        <p:txBody>
          <a:bodyPr>
            <a:normAutofit/>
          </a:bodyPr>
          <a:lstStyle/>
          <a:p>
            <a:pPr marL="0" indent="0" algn="ctr">
              <a:buNone/>
            </a:pPr>
            <a:r>
              <a:rPr lang="en-US" sz="3600" b="1" dirty="0" smtClean="0">
                <a:solidFill>
                  <a:srgbClr val="C00000"/>
                </a:solidFill>
              </a:rPr>
              <a:t> </a:t>
            </a:r>
            <a:r>
              <a:rPr lang="en-US" sz="3600" b="1" dirty="0" smtClean="0">
                <a:solidFill>
                  <a:srgbClr val="C00000"/>
                </a:solidFill>
                <a:latin typeface="Algerian" panose="04020705040A02060702" pitchFamily="82" charset="0"/>
              </a:rPr>
              <a:t>Material Planning</a:t>
            </a:r>
          </a:p>
          <a:p>
            <a:pPr algn="just"/>
            <a:r>
              <a:rPr lang="en-US" sz="2400" dirty="0" smtClean="0">
                <a:solidFill>
                  <a:srgbClr val="002060"/>
                </a:solidFill>
                <a:latin typeface="Times New Roman" panose="02020603050405020304" pitchFamily="18" charset="0"/>
                <a:cs typeface="Times New Roman" panose="02020603050405020304" pitchFamily="18" charset="0"/>
              </a:rPr>
              <a:t>Materials planning is important function of materials management</a:t>
            </a:r>
          </a:p>
          <a:p>
            <a:pPr algn="just"/>
            <a:r>
              <a:rPr lang="en-US" sz="2400" dirty="0" smtClean="0">
                <a:solidFill>
                  <a:srgbClr val="002060"/>
                </a:solidFill>
                <a:latin typeface="Times New Roman" panose="02020603050405020304" pitchFamily="18" charset="0"/>
                <a:cs typeface="Times New Roman" panose="02020603050405020304" pitchFamily="18" charset="0"/>
              </a:rPr>
              <a:t>Materials planning is the scientific way of determining requirements of raw materials, bought out part and others and ensuring their availability in the right quantities, at right time with minimum capital locked up</a:t>
            </a:r>
          </a:p>
          <a:p>
            <a:pPr algn="just"/>
            <a:r>
              <a:rPr lang="en-US" sz="2400" dirty="0" smtClean="0">
                <a:solidFill>
                  <a:srgbClr val="002060"/>
                </a:solidFill>
                <a:latin typeface="Times New Roman" panose="02020603050405020304" pitchFamily="18" charset="0"/>
                <a:cs typeface="Times New Roman" panose="02020603050405020304" pitchFamily="18" charset="0"/>
              </a:rPr>
              <a:t>Lack of materials planning causes ill-planned purchased which gives over ordering and under ordering. Over ordering results in over investment, improper use of working capital, shortage of storage facilities and deterioration of stock. Under ordering causes stock outs and partial utilization of facilities.</a:t>
            </a:r>
          </a:p>
          <a:p>
            <a:pPr algn="just"/>
            <a:r>
              <a:rPr lang="en-US" sz="2400" dirty="0" smtClean="0">
                <a:solidFill>
                  <a:srgbClr val="002060"/>
                </a:solidFill>
                <a:latin typeface="Times New Roman" panose="02020603050405020304" pitchFamily="18" charset="0"/>
                <a:cs typeface="Times New Roman" panose="02020603050405020304" pitchFamily="18" charset="0"/>
              </a:rPr>
              <a:t>Lack of materials planning leads to unwanted emergency orders which are usually processed at high cost.</a:t>
            </a:r>
          </a:p>
          <a:p>
            <a:pPr algn="just"/>
            <a:r>
              <a:rPr lang="en-US" sz="2400" dirty="0" smtClean="0">
                <a:solidFill>
                  <a:srgbClr val="002060"/>
                </a:solidFill>
                <a:latin typeface="Times New Roman" panose="02020603050405020304" pitchFamily="18" charset="0"/>
                <a:cs typeface="Times New Roman" panose="02020603050405020304" pitchFamily="18" charset="0"/>
              </a:rPr>
              <a:t>Improper materials planning increases work load of the purchase department, receiving stores and inspection hence increasing manpower requirement.</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3385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0527"/>
          </a:xfrm>
        </p:spPr>
        <p:txBody>
          <a:bodyPr>
            <a:normAutofit/>
          </a:bodyPr>
          <a:lstStyle/>
          <a:p>
            <a:pPr algn="ctr"/>
            <a:r>
              <a:rPr lang="en-US" sz="3600" dirty="0" smtClean="0">
                <a:solidFill>
                  <a:srgbClr val="0070C0"/>
                </a:solidFill>
                <a:latin typeface="Arial" panose="020B0604020202020204" pitchFamily="34" charset="0"/>
                <a:cs typeface="Arial" panose="020B0604020202020204" pitchFamily="34" charset="0"/>
              </a:rPr>
              <a:t>Techniques of Materials Planning</a:t>
            </a:r>
            <a:endParaRPr lang="en-IN" sz="3600" dirty="0">
              <a:solidFill>
                <a:srgbClr val="0070C0"/>
              </a:solidFill>
              <a:latin typeface="Arial" panose="020B0604020202020204" pitchFamily="34" charset="0"/>
              <a:cs typeface="Arial" panose="020B0604020202020204" pitchFamily="34" charset="0"/>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46524882"/>
              </p:ext>
            </p:extLst>
          </p:nvPr>
        </p:nvGraphicFramePr>
        <p:xfrm>
          <a:off x="331788" y="985837"/>
          <a:ext cx="11496676" cy="5284336"/>
        </p:xfrm>
        <a:graphic>
          <a:graphicData uri="http://schemas.openxmlformats.org/drawingml/2006/table">
            <a:tbl>
              <a:tblPr firstRow="1" bandRow="1">
                <a:tableStyleId>{5C22544A-7EE6-4342-B048-85BDC9FD1C3A}</a:tableStyleId>
              </a:tblPr>
              <a:tblGrid>
                <a:gridCol w="5748338">
                  <a:extLst>
                    <a:ext uri="{9D8B030D-6E8A-4147-A177-3AD203B41FA5}">
                      <a16:colId xmlns="" xmlns:a16="http://schemas.microsoft.com/office/drawing/2014/main" val="1689603057"/>
                    </a:ext>
                  </a:extLst>
                </a:gridCol>
                <a:gridCol w="5748338">
                  <a:extLst>
                    <a:ext uri="{9D8B030D-6E8A-4147-A177-3AD203B41FA5}">
                      <a16:colId xmlns="" xmlns:a16="http://schemas.microsoft.com/office/drawing/2014/main" val="1370674634"/>
                    </a:ext>
                  </a:extLst>
                </a:gridCol>
              </a:tblGrid>
              <a:tr h="609410">
                <a:tc>
                  <a:txBody>
                    <a:bodyPr/>
                    <a:lstStyle/>
                    <a:p>
                      <a:pPr algn="ctr"/>
                      <a:r>
                        <a:rPr lang="en-US" dirty="0" smtClean="0"/>
                        <a:t>Materials Group</a:t>
                      </a:r>
                      <a:endParaRPr lang="en-IN" dirty="0"/>
                    </a:p>
                  </a:txBody>
                  <a:tcPr/>
                </a:tc>
                <a:tc>
                  <a:txBody>
                    <a:bodyPr/>
                    <a:lstStyle/>
                    <a:p>
                      <a:pPr algn="ctr"/>
                      <a:r>
                        <a:rPr lang="en-US" dirty="0" smtClean="0"/>
                        <a:t>Technique</a:t>
                      </a:r>
                      <a:endParaRPr lang="en-IN" dirty="0"/>
                    </a:p>
                  </a:txBody>
                  <a:tcPr/>
                </a:tc>
                <a:extLst>
                  <a:ext uri="{0D108BD9-81ED-4DB2-BD59-A6C34878D82A}">
                    <a16:rowId xmlns="" xmlns:a16="http://schemas.microsoft.com/office/drawing/2014/main" val="409857892"/>
                  </a:ext>
                </a:extLst>
              </a:tr>
              <a:tr h="609410">
                <a:tc>
                  <a:txBody>
                    <a:bodyPr/>
                    <a:lstStyle/>
                    <a:p>
                      <a:r>
                        <a:rPr lang="en-US" dirty="0" smtClean="0">
                          <a:solidFill>
                            <a:srgbClr val="002060"/>
                          </a:solidFill>
                        </a:rPr>
                        <a:t>A. Direct Materials </a:t>
                      </a:r>
                      <a:endParaRPr lang="en-IN" dirty="0">
                        <a:solidFill>
                          <a:srgbClr val="002060"/>
                        </a:solidFill>
                      </a:endParaRPr>
                    </a:p>
                  </a:txBody>
                  <a:tcPr/>
                </a:tc>
                <a:tc>
                  <a:txBody>
                    <a:bodyPr/>
                    <a:lstStyle/>
                    <a:p>
                      <a:endParaRPr lang="en-IN">
                        <a:solidFill>
                          <a:srgbClr val="002060"/>
                        </a:solidFill>
                      </a:endParaRPr>
                    </a:p>
                  </a:txBody>
                  <a:tcPr/>
                </a:tc>
                <a:extLst>
                  <a:ext uri="{0D108BD9-81ED-4DB2-BD59-A6C34878D82A}">
                    <a16:rowId xmlns="" xmlns:a16="http://schemas.microsoft.com/office/drawing/2014/main" val="2707920024"/>
                  </a:ext>
                </a:extLst>
              </a:tr>
              <a:tr h="1502655">
                <a:tc>
                  <a:txBody>
                    <a:bodyPr/>
                    <a:lstStyle/>
                    <a:p>
                      <a:r>
                        <a:rPr lang="en-US" dirty="0" smtClean="0">
                          <a:solidFill>
                            <a:srgbClr val="002060"/>
                          </a:solidFill>
                        </a:rPr>
                        <a:t>a) High Value</a:t>
                      </a:r>
                      <a:endParaRPr lang="en-IN" dirty="0">
                        <a:solidFill>
                          <a:srgbClr val="002060"/>
                        </a:solidFill>
                      </a:endParaRPr>
                    </a:p>
                  </a:txBody>
                  <a:tcPr/>
                </a:tc>
                <a:tc>
                  <a:txBody>
                    <a:bodyPr/>
                    <a:lstStyle/>
                    <a:p>
                      <a:pPr marL="400050" indent="-400050">
                        <a:buAutoNum type="romanLcParenR"/>
                      </a:pPr>
                      <a:r>
                        <a:rPr lang="en-US" baseline="0" dirty="0" smtClean="0">
                          <a:solidFill>
                            <a:srgbClr val="002060"/>
                          </a:solidFill>
                        </a:rPr>
                        <a:t>Bill of materials/ Explosion Charts</a:t>
                      </a:r>
                    </a:p>
                    <a:p>
                      <a:pPr marL="400050" indent="-400050">
                        <a:buAutoNum type="romanLcParenR"/>
                      </a:pPr>
                      <a:r>
                        <a:rPr lang="en-US" baseline="0" dirty="0" smtClean="0">
                          <a:solidFill>
                            <a:srgbClr val="002060"/>
                          </a:solidFill>
                        </a:rPr>
                        <a:t>MRP</a:t>
                      </a:r>
                    </a:p>
                    <a:p>
                      <a:pPr marL="400050" indent="-400050">
                        <a:buAutoNum type="romanLcParenR"/>
                      </a:pPr>
                      <a:r>
                        <a:rPr lang="en-US" baseline="0" dirty="0" smtClean="0">
                          <a:solidFill>
                            <a:srgbClr val="002060"/>
                          </a:solidFill>
                        </a:rPr>
                        <a:t>Inventory Control</a:t>
                      </a:r>
                      <a:endParaRPr lang="en-IN" dirty="0">
                        <a:solidFill>
                          <a:srgbClr val="002060"/>
                        </a:solidFill>
                      </a:endParaRPr>
                    </a:p>
                  </a:txBody>
                  <a:tcPr/>
                </a:tc>
                <a:extLst>
                  <a:ext uri="{0D108BD9-81ED-4DB2-BD59-A6C34878D82A}">
                    <a16:rowId xmlns="" xmlns:a16="http://schemas.microsoft.com/office/drawing/2014/main" val="2432083042"/>
                  </a:ext>
                </a:extLst>
              </a:tr>
              <a:tr h="609410">
                <a:tc>
                  <a:txBody>
                    <a:bodyPr/>
                    <a:lstStyle/>
                    <a:p>
                      <a:r>
                        <a:rPr lang="en-US" dirty="0" smtClean="0">
                          <a:solidFill>
                            <a:srgbClr val="002060"/>
                          </a:solidFill>
                        </a:rPr>
                        <a:t>b) Low</a:t>
                      </a:r>
                      <a:r>
                        <a:rPr lang="en-US" baseline="0" dirty="0" smtClean="0">
                          <a:solidFill>
                            <a:srgbClr val="002060"/>
                          </a:solidFill>
                        </a:rPr>
                        <a:t> Value</a:t>
                      </a:r>
                      <a:endParaRPr lang="en-IN" dirty="0">
                        <a:solidFill>
                          <a:srgbClr val="002060"/>
                        </a:solidFill>
                      </a:endParaRPr>
                    </a:p>
                  </a:txBody>
                  <a:tcPr/>
                </a:tc>
                <a:tc>
                  <a:txBody>
                    <a:bodyPr/>
                    <a:lstStyle/>
                    <a:p>
                      <a:r>
                        <a:rPr lang="en-US" dirty="0" err="1" smtClean="0">
                          <a:solidFill>
                            <a:srgbClr val="002060"/>
                          </a:solidFill>
                        </a:rPr>
                        <a:t>i</a:t>
                      </a:r>
                      <a:r>
                        <a:rPr lang="en-US" dirty="0" smtClean="0">
                          <a:solidFill>
                            <a:srgbClr val="002060"/>
                          </a:solidFill>
                        </a:rPr>
                        <a:t>)</a:t>
                      </a:r>
                      <a:r>
                        <a:rPr lang="en-US" baseline="0" dirty="0" smtClean="0">
                          <a:solidFill>
                            <a:srgbClr val="002060"/>
                          </a:solidFill>
                        </a:rPr>
                        <a:t> Inventory Control</a:t>
                      </a:r>
                      <a:endParaRPr lang="en-IN" dirty="0">
                        <a:solidFill>
                          <a:srgbClr val="002060"/>
                        </a:solidFill>
                      </a:endParaRPr>
                    </a:p>
                  </a:txBody>
                  <a:tcPr/>
                </a:tc>
                <a:extLst>
                  <a:ext uri="{0D108BD9-81ED-4DB2-BD59-A6C34878D82A}">
                    <a16:rowId xmlns="" xmlns:a16="http://schemas.microsoft.com/office/drawing/2014/main" val="2444097877"/>
                  </a:ext>
                </a:extLst>
              </a:tr>
              <a:tr h="1953451">
                <a:tc>
                  <a:txBody>
                    <a:bodyPr/>
                    <a:lstStyle/>
                    <a:p>
                      <a:r>
                        <a:rPr lang="en-US" dirty="0" smtClean="0">
                          <a:solidFill>
                            <a:srgbClr val="002060"/>
                          </a:solidFill>
                        </a:rPr>
                        <a:t>B. Indirect Materials</a:t>
                      </a:r>
                      <a:endParaRPr lang="en-IN" dirty="0">
                        <a:solidFill>
                          <a:srgbClr val="002060"/>
                        </a:solidFill>
                      </a:endParaRPr>
                    </a:p>
                  </a:txBody>
                  <a:tcPr/>
                </a:tc>
                <a:tc>
                  <a:txBody>
                    <a:bodyPr/>
                    <a:lstStyle/>
                    <a:p>
                      <a:pPr marL="400050" indent="-400050">
                        <a:buAutoNum type="romanLcParenR"/>
                      </a:pPr>
                      <a:r>
                        <a:rPr lang="en-US" dirty="0" smtClean="0">
                          <a:solidFill>
                            <a:srgbClr val="002060"/>
                          </a:solidFill>
                        </a:rPr>
                        <a:t>Past Consumption Analysis</a:t>
                      </a:r>
                    </a:p>
                    <a:p>
                      <a:pPr marL="400050" indent="-400050">
                        <a:buAutoNum type="romanLcParenR"/>
                      </a:pPr>
                      <a:r>
                        <a:rPr lang="en-US" dirty="0" smtClean="0">
                          <a:solidFill>
                            <a:srgbClr val="002060"/>
                          </a:solidFill>
                        </a:rPr>
                        <a:t>Moving Average method</a:t>
                      </a:r>
                    </a:p>
                    <a:p>
                      <a:pPr marL="400050" indent="-400050">
                        <a:buAutoNum type="romanLcParenR"/>
                      </a:pPr>
                      <a:r>
                        <a:rPr lang="en-US" dirty="0" smtClean="0">
                          <a:solidFill>
                            <a:srgbClr val="002060"/>
                          </a:solidFill>
                        </a:rPr>
                        <a:t>Exponential smoothing</a:t>
                      </a:r>
                    </a:p>
                    <a:p>
                      <a:pPr marL="400050" indent="-400050">
                        <a:buAutoNum type="romanLcParenR"/>
                      </a:pPr>
                      <a:r>
                        <a:rPr lang="en-US" dirty="0" smtClean="0">
                          <a:solidFill>
                            <a:srgbClr val="002060"/>
                          </a:solidFill>
                        </a:rPr>
                        <a:t>Inventory Control</a:t>
                      </a:r>
                      <a:endParaRPr lang="en-IN" dirty="0">
                        <a:solidFill>
                          <a:srgbClr val="002060"/>
                        </a:solidFill>
                      </a:endParaRPr>
                    </a:p>
                  </a:txBody>
                  <a:tcPr/>
                </a:tc>
                <a:extLst>
                  <a:ext uri="{0D108BD9-81ED-4DB2-BD59-A6C34878D82A}">
                    <a16:rowId xmlns="" xmlns:a16="http://schemas.microsoft.com/office/drawing/2014/main" val="1069308751"/>
                  </a:ext>
                </a:extLst>
              </a:tr>
            </a:tbl>
          </a:graphicData>
        </a:graphic>
      </p:graphicFrame>
    </p:spTree>
    <p:extLst>
      <p:ext uri="{BB962C8B-B14F-4D97-AF65-F5344CB8AC3E}">
        <p14:creationId xmlns:p14="http://schemas.microsoft.com/office/powerpoint/2010/main" val="30536173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10551" y="172528"/>
            <a:ext cx="11043249" cy="6383547"/>
          </a:xfrm>
        </p:spPr>
        <p:txBody>
          <a:bodyPr/>
          <a:lstStyle/>
          <a:p>
            <a:pPr marL="0" indent="0" algn="ctr">
              <a:buNone/>
            </a:pPr>
            <a:r>
              <a:rPr lang="en-IN" sz="3600" b="1" dirty="0" smtClean="0">
                <a:solidFill>
                  <a:srgbClr val="C00000"/>
                </a:solidFill>
                <a:latin typeface="Times New Roman" panose="02020603050405020304" pitchFamily="18" charset="0"/>
                <a:cs typeface="Times New Roman" panose="02020603050405020304" pitchFamily="18" charset="0"/>
              </a:rPr>
              <a:t>MRP- Introduction</a:t>
            </a:r>
          </a:p>
          <a:p>
            <a:pPr algn="just"/>
            <a:r>
              <a:rPr lang="en-IN" sz="2400" dirty="0" smtClean="0">
                <a:solidFill>
                  <a:srgbClr val="002060"/>
                </a:solidFill>
                <a:latin typeface="Times New Roman" panose="02020603050405020304" pitchFamily="18" charset="0"/>
                <a:cs typeface="Times New Roman" panose="02020603050405020304" pitchFamily="18" charset="0"/>
              </a:rPr>
              <a:t>Materials requirement Planning (MRP) is determining the number of parts, components and materials needed to produce product</a:t>
            </a:r>
          </a:p>
          <a:p>
            <a:pPr algn="just"/>
            <a:r>
              <a:rPr lang="en-IN" sz="2400" dirty="0" smtClean="0">
                <a:solidFill>
                  <a:srgbClr val="002060"/>
                </a:solidFill>
                <a:latin typeface="Times New Roman" panose="02020603050405020304" pitchFamily="18" charset="0"/>
                <a:cs typeface="Times New Roman" panose="02020603050405020304" pitchFamily="18" charset="0"/>
              </a:rPr>
              <a:t>MRP provides time scheduling information specifying when each of the materials, parts and components should ordered or produced</a:t>
            </a:r>
          </a:p>
          <a:p>
            <a:pPr marL="0" indent="0" algn="just">
              <a:buNone/>
            </a:pPr>
            <a:r>
              <a:rPr lang="en-IN" sz="2400" dirty="0">
                <a:solidFill>
                  <a:srgbClr val="002060"/>
                </a:solidFill>
                <a:latin typeface="Times New Roman" panose="02020603050405020304" pitchFamily="18" charset="0"/>
                <a:cs typeface="Times New Roman" panose="02020603050405020304" pitchFamily="18" charset="0"/>
              </a:rPr>
              <a:t> </a:t>
            </a:r>
            <a:endParaRPr lang="en-IN" sz="2400" dirty="0" smtClean="0">
              <a:solidFill>
                <a:srgbClr val="002060"/>
              </a:solidFill>
              <a:latin typeface="Times New Roman" panose="02020603050405020304" pitchFamily="18" charset="0"/>
              <a:cs typeface="Times New Roman" panose="02020603050405020304" pitchFamily="18" charset="0"/>
            </a:endParaRPr>
          </a:p>
          <a:p>
            <a:pPr marL="0" indent="0" algn="just">
              <a:buNone/>
            </a:pPr>
            <a:r>
              <a:rPr lang="en-IN" sz="2400" dirty="0" smtClean="0">
                <a:solidFill>
                  <a:srgbClr val="002060"/>
                </a:solidFill>
                <a:latin typeface="Times New Roman" panose="02020603050405020304" pitchFamily="18" charset="0"/>
                <a:cs typeface="Times New Roman" panose="02020603050405020304" pitchFamily="18" charset="0"/>
              </a:rPr>
              <a:t>Definition</a:t>
            </a:r>
          </a:p>
          <a:p>
            <a:pPr marL="0" indent="0" algn="just">
              <a:buNone/>
            </a:pPr>
            <a:r>
              <a:rPr lang="en-IN" sz="2400" dirty="0" smtClean="0">
                <a:solidFill>
                  <a:srgbClr val="002060"/>
                </a:solidFill>
                <a:latin typeface="Times New Roman" panose="02020603050405020304" pitchFamily="18" charset="0"/>
                <a:cs typeface="Times New Roman" panose="02020603050405020304" pitchFamily="18" charset="0"/>
              </a:rPr>
              <a:t>“ MRP constitutes a set of techniques that use bill of materials, inventory data and master production schedule to calculate requirements of materials”</a:t>
            </a:r>
          </a:p>
          <a:p>
            <a:pPr marL="0" indent="0" algn="just">
              <a:buNone/>
            </a:pPr>
            <a:r>
              <a:rPr lang="en-IN" sz="2400" dirty="0">
                <a:solidFill>
                  <a:srgbClr val="002060"/>
                </a:solidFill>
                <a:latin typeface="Times New Roman" panose="02020603050405020304" pitchFamily="18" charset="0"/>
                <a:cs typeface="Times New Roman" panose="02020603050405020304" pitchFamily="18" charset="0"/>
              </a:rPr>
              <a:t> </a:t>
            </a:r>
            <a:r>
              <a:rPr lang="en-IN" sz="2400" dirty="0" smtClean="0">
                <a:solidFill>
                  <a:srgbClr val="002060"/>
                </a:solidFill>
                <a:latin typeface="Times New Roman" panose="02020603050405020304" pitchFamily="18" charset="0"/>
                <a:cs typeface="Times New Roman" panose="02020603050405020304" pitchFamily="18" charset="0"/>
              </a:rPr>
              <a:t>                                                                                            -APICS Dictionary</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1029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878"/>
            <a:ext cx="10515600" cy="736271"/>
          </a:xfrm>
        </p:spPr>
        <p:txBody>
          <a:bodyPr>
            <a:normAutofit/>
          </a:bodyPr>
          <a:lstStyle/>
          <a:p>
            <a:pPr algn="ctr"/>
            <a:r>
              <a:rPr lang="en-US" sz="3600" b="1" dirty="0" smtClean="0">
                <a:solidFill>
                  <a:srgbClr val="C00000"/>
                </a:solidFill>
                <a:latin typeface="Times New Roman" panose="02020603050405020304" pitchFamily="18" charset="0"/>
                <a:cs typeface="Times New Roman" panose="02020603050405020304" pitchFamily="18" charset="0"/>
              </a:rPr>
              <a:t>Materials requirement Planning(MRP)</a:t>
            </a:r>
            <a:endParaRPr lang="en-IN" sz="36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85007" y="653143"/>
            <a:ext cx="11542815" cy="5878286"/>
          </a:xfrm>
        </p:spPr>
        <p:txBody>
          <a:bodyPr>
            <a:normAutofit/>
          </a:bodyPr>
          <a:lstStyle/>
          <a:p>
            <a:pPr marL="0" indent="0" algn="just">
              <a:buNone/>
            </a:pPr>
            <a:r>
              <a:rPr lang="en-US" b="1" dirty="0" smtClean="0">
                <a:solidFill>
                  <a:srgbClr val="002060"/>
                </a:solidFill>
                <a:latin typeface="Times New Roman" panose="02020603050405020304" pitchFamily="18" charset="0"/>
                <a:cs typeface="Times New Roman" panose="02020603050405020304" pitchFamily="18" charset="0"/>
              </a:rPr>
              <a:t>Objectives of MRP</a:t>
            </a:r>
          </a:p>
          <a:p>
            <a:pPr marL="0" indent="0" algn="just">
              <a:buNone/>
            </a:pPr>
            <a:r>
              <a:rPr lang="en-US" sz="2400" b="1" dirty="0" smtClean="0">
                <a:solidFill>
                  <a:srgbClr val="C00000"/>
                </a:solidFill>
                <a:latin typeface="Times New Roman" panose="02020603050405020304" pitchFamily="18" charset="0"/>
                <a:cs typeface="Times New Roman" panose="02020603050405020304" pitchFamily="18" charset="0"/>
              </a:rPr>
              <a:t>1) Determine requirements</a:t>
            </a:r>
          </a:p>
          <a:p>
            <a:pPr marL="0" indent="0" algn="just">
              <a:buNone/>
            </a:pPr>
            <a:r>
              <a:rPr lang="en-US" sz="2400" dirty="0" smtClean="0">
                <a:solidFill>
                  <a:srgbClr val="002060"/>
                </a:solidFill>
                <a:latin typeface="Times New Roman" panose="02020603050405020304" pitchFamily="18" charset="0"/>
                <a:cs typeface="Times New Roman" panose="02020603050405020304" pitchFamily="18" charset="0"/>
              </a:rPr>
              <a:t>MRP main objective is to determine what components are needed to meet master production schedule and based on lead time, to calculate periods when the components must available. It must determine </a:t>
            </a:r>
          </a:p>
          <a:p>
            <a:pPr algn="just"/>
            <a:r>
              <a:rPr lang="en-US" sz="2400" dirty="0" smtClean="0">
                <a:solidFill>
                  <a:srgbClr val="002060"/>
                </a:solidFill>
                <a:latin typeface="Times New Roman" panose="02020603050405020304" pitchFamily="18" charset="0"/>
                <a:cs typeface="Times New Roman" panose="02020603050405020304" pitchFamily="18" charset="0"/>
              </a:rPr>
              <a:t>What to order</a:t>
            </a:r>
          </a:p>
          <a:p>
            <a:pPr algn="just"/>
            <a:r>
              <a:rPr lang="en-US" sz="2400" dirty="0" smtClean="0">
                <a:solidFill>
                  <a:srgbClr val="002060"/>
                </a:solidFill>
                <a:latin typeface="Times New Roman" panose="02020603050405020304" pitchFamily="18" charset="0"/>
                <a:cs typeface="Times New Roman" panose="02020603050405020304" pitchFamily="18" charset="0"/>
              </a:rPr>
              <a:t>How much to order</a:t>
            </a:r>
          </a:p>
          <a:p>
            <a:pPr algn="just"/>
            <a:r>
              <a:rPr lang="en-US" sz="2400" dirty="0" smtClean="0">
                <a:solidFill>
                  <a:srgbClr val="002060"/>
                </a:solidFill>
                <a:latin typeface="Times New Roman" panose="02020603050405020304" pitchFamily="18" charset="0"/>
                <a:cs typeface="Times New Roman" panose="02020603050405020304" pitchFamily="18" charset="0"/>
              </a:rPr>
              <a:t>When to order</a:t>
            </a:r>
          </a:p>
          <a:p>
            <a:pPr algn="just"/>
            <a:r>
              <a:rPr lang="en-US" sz="2400" dirty="0" smtClean="0">
                <a:solidFill>
                  <a:srgbClr val="002060"/>
                </a:solidFill>
                <a:latin typeface="Times New Roman" panose="02020603050405020304" pitchFamily="18" charset="0"/>
                <a:cs typeface="Times New Roman" panose="02020603050405020304" pitchFamily="18" charset="0"/>
              </a:rPr>
              <a:t>When to schedule delivery</a:t>
            </a:r>
          </a:p>
          <a:p>
            <a:pPr marL="0" indent="0" algn="just">
              <a:buNone/>
            </a:pPr>
            <a:r>
              <a:rPr lang="en-US" sz="2400" b="1" dirty="0" smtClean="0">
                <a:solidFill>
                  <a:srgbClr val="C00000"/>
                </a:solidFill>
                <a:latin typeface="Times New Roman" panose="02020603050405020304" pitchFamily="18" charset="0"/>
                <a:cs typeface="Times New Roman" panose="02020603050405020304" pitchFamily="18" charset="0"/>
              </a:rPr>
              <a:t>2) Keep priorities current</a:t>
            </a:r>
          </a:p>
          <a:p>
            <a:pPr marL="0" indent="0" algn="just">
              <a:buNone/>
            </a:pPr>
            <a:r>
              <a:rPr lang="en-US" sz="2400" dirty="0" smtClean="0">
                <a:solidFill>
                  <a:srgbClr val="002060"/>
                </a:solidFill>
                <a:latin typeface="Times New Roman" panose="02020603050405020304" pitchFamily="18" charset="0"/>
                <a:cs typeface="Times New Roman" panose="02020603050405020304" pitchFamily="18" charset="0"/>
              </a:rPr>
              <a:t>The demand and supply of the components changes daily. Customer enter or change orders. Component get used up, suppliers are late with deliveries, scrap occurs, machine break down. In this ever changing world MRP reorganize the priorities to keep plan current. It must be able to add, delete, expedite, delay and change orders </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5541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1155"/>
            <a:ext cx="10896600" cy="5995808"/>
          </a:xfrm>
        </p:spPr>
        <p:txBody>
          <a:bodyPr/>
          <a:lstStyle/>
          <a:p>
            <a:pPr marL="0" indent="0" algn="ctr">
              <a:buNone/>
            </a:pPr>
            <a:r>
              <a:rPr lang="en-IN" b="1" dirty="0" smtClean="0">
                <a:solidFill>
                  <a:srgbClr val="C00000"/>
                </a:solidFill>
                <a:latin typeface="Times New Roman" panose="02020603050405020304" pitchFamily="18" charset="0"/>
                <a:cs typeface="Times New Roman" panose="02020603050405020304" pitchFamily="18" charset="0"/>
              </a:rPr>
              <a:t>Material Requirement planning system</a:t>
            </a:r>
          </a:p>
          <a:p>
            <a:pPr marL="0" indent="0">
              <a:buNone/>
            </a:pPr>
            <a:r>
              <a:rPr lang="en-IN" sz="2400" dirty="0" smtClean="0">
                <a:solidFill>
                  <a:srgbClr val="002060"/>
                </a:solidFill>
                <a:latin typeface="Times New Roman" panose="02020603050405020304" pitchFamily="18" charset="0"/>
                <a:cs typeface="Times New Roman" panose="02020603050405020304" pitchFamily="18" charset="0"/>
              </a:rPr>
              <a:t>Based on a MPS , a material requirement planning system</a:t>
            </a:r>
          </a:p>
          <a:p>
            <a:r>
              <a:rPr lang="en-IN" sz="2400" dirty="0" smtClean="0">
                <a:solidFill>
                  <a:srgbClr val="002060"/>
                </a:solidFill>
                <a:latin typeface="Times New Roman" panose="02020603050405020304" pitchFamily="18" charset="0"/>
                <a:cs typeface="Times New Roman" panose="02020603050405020304" pitchFamily="18" charset="0"/>
              </a:rPr>
              <a:t>Creates schedules identifying the specific parts and materials required to produce end Items</a:t>
            </a:r>
          </a:p>
          <a:p>
            <a:r>
              <a:rPr lang="en-IN" sz="2400" dirty="0" smtClean="0">
                <a:solidFill>
                  <a:srgbClr val="002060"/>
                </a:solidFill>
                <a:latin typeface="Times New Roman" panose="02020603050405020304" pitchFamily="18" charset="0"/>
                <a:cs typeface="Times New Roman" panose="02020603050405020304" pitchFamily="18" charset="0"/>
              </a:rPr>
              <a:t>Determines exact unit number needed</a:t>
            </a:r>
          </a:p>
          <a:p>
            <a:r>
              <a:rPr lang="en-IN" sz="2400" dirty="0" smtClean="0">
                <a:solidFill>
                  <a:srgbClr val="002060"/>
                </a:solidFill>
                <a:latin typeface="Times New Roman" panose="02020603050405020304" pitchFamily="18" charset="0"/>
                <a:cs typeface="Times New Roman" panose="02020603050405020304" pitchFamily="18" charset="0"/>
              </a:rPr>
              <a:t>Determine the dates when orders for those materials be released, based on lead time</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9560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88520" y="287338"/>
            <a:ext cx="10550105" cy="5995988"/>
          </a:xfrm>
          <a:prstGeom prst="rect">
            <a:avLst/>
          </a:prstGeom>
        </p:spPr>
      </p:pic>
    </p:spTree>
    <p:extLst>
      <p:ext uri="{BB962C8B-B14F-4D97-AF65-F5344CB8AC3E}">
        <p14:creationId xmlns:p14="http://schemas.microsoft.com/office/powerpoint/2010/main" val="1633317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8574" y="353683"/>
            <a:ext cx="10905226" cy="5823280"/>
          </a:xfrm>
        </p:spPr>
        <p:txBody>
          <a:bodyPr>
            <a:normAutofit/>
          </a:bodyPr>
          <a:lstStyle/>
          <a:p>
            <a:pPr marL="0" indent="0" algn="ctr">
              <a:buNone/>
            </a:pPr>
            <a:r>
              <a:rPr lang="en-US" sz="3600" b="1" dirty="0">
                <a:solidFill>
                  <a:srgbClr val="C00000"/>
                </a:solidFill>
                <a:latin typeface="Times New Roman" panose="02020603050405020304" pitchFamily="18" charset="0"/>
                <a:cs typeface="Times New Roman" panose="02020603050405020304" pitchFamily="18" charset="0"/>
              </a:rPr>
              <a:t>Inputs to </a:t>
            </a:r>
            <a:r>
              <a:rPr lang="en-US" sz="3600" b="1" dirty="0" smtClean="0">
                <a:solidFill>
                  <a:srgbClr val="C00000"/>
                </a:solidFill>
                <a:latin typeface="Times New Roman" panose="02020603050405020304" pitchFamily="18" charset="0"/>
                <a:cs typeface="Times New Roman" panose="02020603050405020304" pitchFamily="18" charset="0"/>
              </a:rPr>
              <a:t>MRP</a:t>
            </a:r>
          </a:p>
          <a:p>
            <a:pPr marL="0" indent="0" algn="ctr">
              <a:buNone/>
            </a:pPr>
            <a:endParaRPr lang="en-IN" sz="3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85837" y="1052512"/>
            <a:ext cx="10220325" cy="5262024"/>
          </a:xfrm>
          <a:prstGeom prst="rect">
            <a:avLst/>
          </a:prstGeom>
        </p:spPr>
      </p:pic>
    </p:spTree>
    <p:extLst>
      <p:ext uri="{BB962C8B-B14F-4D97-AF65-F5344CB8AC3E}">
        <p14:creationId xmlns:p14="http://schemas.microsoft.com/office/powerpoint/2010/main" val="357047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878"/>
            <a:ext cx="10515600" cy="593766"/>
          </a:xfrm>
        </p:spPr>
        <p:txBody>
          <a:bodyPr>
            <a:normAutofit/>
          </a:bodyPr>
          <a:lstStyle/>
          <a:p>
            <a:pPr algn="ctr"/>
            <a:r>
              <a:rPr lang="en-US" sz="3600" b="1" dirty="0" smtClean="0">
                <a:solidFill>
                  <a:srgbClr val="C00000"/>
                </a:solidFill>
                <a:latin typeface="Times New Roman" panose="02020603050405020304" pitchFamily="18" charset="0"/>
                <a:cs typeface="Times New Roman" panose="02020603050405020304" pitchFamily="18" charset="0"/>
              </a:rPr>
              <a:t>Inputs to MRP</a:t>
            </a:r>
            <a:endParaRPr lang="en-IN" sz="36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20634" y="546265"/>
            <a:ext cx="11033166" cy="6139543"/>
          </a:xfrm>
        </p:spPr>
        <p:txBody>
          <a:bodyPr>
            <a:normAutofit/>
          </a:bodyPr>
          <a:lstStyle/>
          <a:p>
            <a:pPr algn="just"/>
            <a:r>
              <a:rPr lang="en-US" sz="2400" b="1" dirty="0" smtClean="0">
                <a:solidFill>
                  <a:srgbClr val="C00000"/>
                </a:solidFill>
                <a:latin typeface="Times New Roman" panose="02020603050405020304" pitchFamily="18" charset="0"/>
                <a:cs typeface="Times New Roman" panose="02020603050405020304" pitchFamily="18" charset="0"/>
              </a:rPr>
              <a:t>Master production schedule- </a:t>
            </a:r>
          </a:p>
          <a:p>
            <a:pPr marL="0" indent="0" algn="just">
              <a:buNone/>
            </a:pPr>
            <a:r>
              <a:rPr lang="en-US" sz="2400" dirty="0">
                <a:solidFill>
                  <a:srgbClr val="C00000"/>
                </a:solidFill>
                <a:latin typeface="Times New Roman" panose="02020603050405020304" pitchFamily="18" charset="0"/>
                <a:cs typeface="Times New Roman" panose="02020603050405020304" pitchFamily="18" charset="0"/>
              </a:rPr>
              <a:t> </a:t>
            </a:r>
            <a:r>
              <a:rPr lang="en-US" sz="2400" dirty="0" smtClean="0">
                <a:solidFill>
                  <a:srgbClr val="002060"/>
                </a:solidFill>
                <a:latin typeface="Times New Roman" panose="02020603050405020304" pitchFamily="18" charset="0"/>
                <a:cs typeface="Times New Roman" panose="02020603050405020304" pitchFamily="18" charset="0"/>
              </a:rPr>
              <a:t> -It is statement of which end items are to be produced, the quantity of each, and the dates they are to be completed. It provides initial input to MRP for the items needed.</a:t>
            </a:r>
          </a:p>
          <a:p>
            <a:pPr algn="just">
              <a:buFontTx/>
              <a:buChar char="-"/>
            </a:pPr>
            <a:r>
              <a:rPr lang="en-US" sz="2400" dirty="0" smtClean="0">
                <a:solidFill>
                  <a:srgbClr val="002060"/>
                </a:solidFill>
                <a:latin typeface="Times New Roman" panose="02020603050405020304" pitchFamily="18" charset="0"/>
                <a:cs typeface="Times New Roman" panose="02020603050405020304" pitchFamily="18" charset="0"/>
              </a:rPr>
              <a:t>It is list of items , indicating end products to be produced. This contain item name and code, quantity to be produced and the timings for completing production</a:t>
            </a:r>
          </a:p>
          <a:p>
            <a:pPr algn="just">
              <a:buFontTx/>
              <a:buChar char="-"/>
            </a:pPr>
            <a:r>
              <a:rPr lang="en-US" sz="2400" dirty="0" smtClean="0">
                <a:solidFill>
                  <a:srgbClr val="002060"/>
                </a:solidFill>
                <a:latin typeface="Times New Roman" panose="02020603050405020304" pitchFamily="18" charset="0"/>
                <a:cs typeface="Times New Roman" panose="02020603050405020304" pitchFamily="18" charset="0"/>
              </a:rPr>
              <a:t>This is based on estimates of product demand </a:t>
            </a:r>
            <a:r>
              <a:rPr lang="en-US" sz="2400" dirty="0" err="1" smtClean="0">
                <a:solidFill>
                  <a:srgbClr val="002060"/>
                </a:solidFill>
                <a:latin typeface="Times New Roman" panose="02020603050405020304" pitchFamily="18" charset="0"/>
                <a:cs typeface="Times New Roman" panose="02020603050405020304" pitchFamily="18" charset="0"/>
              </a:rPr>
              <a:t>i</a:t>
            </a:r>
            <a:r>
              <a:rPr lang="en-US" sz="2400" dirty="0" smtClean="0">
                <a:solidFill>
                  <a:srgbClr val="002060"/>
                </a:solidFill>
                <a:latin typeface="Times New Roman" panose="02020603050405020304" pitchFamily="18" charset="0"/>
                <a:cs typeface="Times New Roman" panose="02020603050405020304" pitchFamily="18" charset="0"/>
              </a:rPr>
              <a:t>. e. sales forecast</a:t>
            </a:r>
          </a:p>
          <a:p>
            <a:pPr algn="just">
              <a:buFontTx/>
              <a:buChar char="-"/>
            </a:pPr>
            <a:endParaRPr lang="en-US" sz="2400" dirty="0" smtClean="0">
              <a:solidFill>
                <a:srgbClr val="002060"/>
              </a:solidFill>
              <a:latin typeface="Times New Roman" panose="02020603050405020304" pitchFamily="18" charset="0"/>
              <a:cs typeface="Times New Roman" panose="02020603050405020304" pitchFamily="18" charset="0"/>
            </a:endParaRPr>
          </a:p>
          <a:p>
            <a:pPr algn="just">
              <a:buFontTx/>
              <a:buChar char="-"/>
            </a:pPr>
            <a:endParaRPr lang="en-US" sz="2400" dirty="0" smtClean="0">
              <a:solidFill>
                <a:srgbClr val="002060"/>
              </a:solidFill>
              <a:latin typeface="Times New Roman" panose="02020603050405020304" pitchFamily="18" charset="0"/>
              <a:cs typeface="Times New Roman" panose="02020603050405020304" pitchFamily="18" charset="0"/>
            </a:endParaRPr>
          </a:p>
          <a:p>
            <a:pPr marL="0" indent="0" algn="just">
              <a:buNone/>
            </a:pPr>
            <a:r>
              <a:rPr lang="en-US" sz="2400" dirty="0">
                <a:solidFill>
                  <a:srgbClr val="002060"/>
                </a:solidFill>
                <a:latin typeface="Times New Roman" panose="02020603050405020304" pitchFamily="18" charset="0"/>
                <a:cs typeface="Times New Roman" panose="02020603050405020304" pitchFamily="18" charset="0"/>
              </a:rPr>
              <a:t> </a:t>
            </a:r>
            <a:r>
              <a:rPr lang="en-US" sz="2400" dirty="0" smtClean="0">
                <a:solidFill>
                  <a:srgbClr val="002060"/>
                </a:solidFill>
                <a:latin typeface="Times New Roman" panose="02020603050405020304" pitchFamily="18" charset="0"/>
                <a:cs typeface="Times New Roman" panose="02020603050405020304" pitchFamily="18" charset="0"/>
              </a:rPr>
              <a:t>     </a:t>
            </a:r>
          </a:p>
        </p:txBody>
      </p:sp>
      <p:pic>
        <p:nvPicPr>
          <p:cNvPr id="4" name="Picture 3"/>
          <p:cNvPicPr>
            <a:picLocks noChangeAspect="1"/>
          </p:cNvPicPr>
          <p:nvPr/>
        </p:nvPicPr>
        <p:blipFill>
          <a:blip r:embed="rId2"/>
          <a:stretch>
            <a:fillRect/>
          </a:stretch>
        </p:blipFill>
        <p:spPr>
          <a:xfrm>
            <a:off x="1004887" y="3027873"/>
            <a:ext cx="10182225" cy="3657935"/>
          </a:xfrm>
          <a:prstGeom prst="rect">
            <a:avLst/>
          </a:prstGeom>
        </p:spPr>
      </p:pic>
    </p:spTree>
    <p:extLst>
      <p:ext uri="{BB962C8B-B14F-4D97-AF65-F5344CB8AC3E}">
        <p14:creationId xmlns:p14="http://schemas.microsoft.com/office/powerpoint/2010/main" val="3112265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1862"/>
            <a:ext cx="10515600" cy="736270"/>
          </a:xfrm>
        </p:spPr>
        <p:txBody>
          <a:bodyPr>
            <a:normAutofit/>
          </a:bodyPr>
          <a:lstStyle/>
          <a:p>
            <a:pPr algn="ctr"/>
            <a:r>
              <a:rPr lang="en-US" sz="3600" b="1" dirty="0" smtClean="0">
                <a:solidFill>
                  <a:srgbClr val="C00000"/>
                </a:solidFill>
                <a:latin typeface="Arial" panose="020B0604020202020204" pitchFamily="34" charset="0"/>
                <a:cs typeface="Arial" panose="020B0604020202020204" pitchFamily="34" charset="0"/>
              </a:rPr>
              <a:t>Bill of Materials</a:t>
            </a:r>
            <a:endParaRPr lang="en-IN" sz="3600" b="1" dirty="0">
              <a:solidFill>
                <a:srgbClr val="C0000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20633" y="750498"/>
            <a:ext cx="11697195" cy="5947185"/>
          </a:xfrm>
        </p:spPr>
        <p:txBody>
          <a:bodyPr>
            <a:normAutofit lnSpcReduction="10000"/>
          </a:bodyPr>
          <a:lstStyle/>
          <a:p>
            <a:pPr algn="just"/>
            <a:r>
              <a:rPr lang="en-US" sz="2400" dirty="0">
                <a:solidFill>
                  <a:srgbClr val="002060"/>
                </a:solidFill>
                <a:latin typeface="Times New Roman" panose="02020603050405020304" pitchFamily="18" charset="0"/>
                <a:cs typeface="Times New Roman" panose="02020603050405020304" pitchFamily="18" charset="0"/>
              </a:rPr>
              <a:t>BOM is very important document which gives requirement of the inventory</a:t>
            </a:r>
            <a:r>
              <a:rPr lang="en-US" sz="2400" dirty="0" smtClean="0">
                <a:solidFill>
                  <a:srgbClr val="002060"/>
                </a:solidFill>
                <a:latin typeface="Times New Roman" panose="02020603050405020304" pitchFamily="18" charset="0"/>
                <a:cs typeface="Times New Roman" panose="02020603050405020304" pitchFamily="18" charset="0"/>
              </a:rPr>
              <a:t>.</a:t>
            </a:r>
          </a:p>
          <a:p>
            <a:pPr algn="just"/>
            <a:r>
              <a:rPr lang="en-US" sz="2400" dirty="0" smtClean="0">
                <a:solidFill>
                  <a:srgbClr val="002060"/>
                </a:solidFill>
                <a:latin typeface="Times New Roman" panose="02020603050405020304" pitchFamily="18" charset="0"/>
                <a:cs typeface="Times New Roman" panose="02020603050405020304" pitchFamily="18" charset="0"/>
              </a:rPr>
              <a:t>Bill of materials(BOM) also called part list or building list</a:t>
            </a:r>
          </a:p>
          <a:p>
            <a:pPr algn="just"/>
            <a:r>
              <a:rPr lang="en-US" sz="2400" dirty="0" smtClean="0">
                <a:solidFill>
                  <a:srgbClr val="002060"/>
                </a:solidFill>
                <a:latin typeface="Times New Roman" panose="02020603050405020304" pitchFamily="18" charset="0"/>
                <a:cs typeface="Times New Roman" panose="02020603050405020304" pitchFamily="18" charset="0"/>
              </a:rPr>
              <a:t>It is document generated at the design stage</a:t>
            </a:r>
          </a:p>
          <a:p>
            <a:pPr algn="just"/>
            <a:r>
              <a:rPr lang="en-US" sz="2400" dirty="0" smtClean="0">
                <a:solidFill>
                  <a:srgbClr val="002060"/>
                </a:solidFill>
                <a:latin typeface="Times New Roman" panose="02020603050405020304" pitchFamily="18" charset="0"/>
                <a:cs typeface="Times New Roman" panose="02020603050405020304" pitchFamily="18" charset="0"/>
              </a:rPr>
              <a:t>It details the structure of the product by dividing the final assembly into major assemblies, Major assemblies into sub assemblies and sub assemblies into parts.</a:t>
            </a:r>
          </a:p>
          <a:p>
            <a:pPr algn="just"/>
            <a:r>
              <a:rPr lang="en-US" sz="2400" dirty="0" smtClean="0">
                <a:solidFill>
                  <a:srgbClr val="002060"/>
                </a:solidFill>
                <a:latin typeface="Times New Roman" panose="02020603050405020304" pitchFamily="18" charset="0"/>
                <a:cs typeface="Times New Roman" panose="02020603050405020304" pitchFamily="18" charset="0"/>
              </a:rPr>
              <a:t>BOM provides details such as part number, description, quantity required, material specifications etc.</a:t>
            </a:r>
          </a:p>
          <a:p>
            <a:pPr algn="just"/>
            <a:r>
              <a:rPr lang="en-US" sz="2400" dirty="0" smtClean="0">
                <a:solidFill>
                  <a:srgbClr val="002060"/>
                </a:solidFill>
                <a:latin typeface="Times New Roman" panose="02020603050405020304" pitchFamily="18" charset="0"/>
                <a:cs typeface="Times New Roman" panose="02020603050405020304" pitchFamily="18" charset="0"/>
              </a:rPr>
              <a:t>For determining the materials requirement each product is split ( Product Explosion) its basic requirement( Bought out parts, work made parts and raw material for it) by using BOM</a:t>
            </a:r>
          </a:p>
          <a:p>
            <a:pPr algn="just"/>
            <a:r>
              <a:rPr lang="en-US" sz="2400" dirty="0" smtClean="0">
                <a:solidFill>
                  <a:srgbClr val="002060"/>
                </a:solidFill>
                <a:latin typeface="Times New Roman" panose="02020603050405020304" pitchFamily="18" charset="0"/>
                <a:cs typeface="Times New Roman" panose="02020603050405020304" pitchFamily="18" charset="0"/>
              </a:rPr>
              <a:t>Quantity required per item multiplied by quantity of the product to be produced gives total requirement of each product.</a:t>
            </a:r>
          </a:p>
          <a:p>
            <a:pPr algn="just"/>
            <a:r>
              <a:rPr lang="en-US" sz="2400" dirty="0" smtClean="0">
                <a:solidFill>
                  <a:srgbClr val="002060"/>
                </a:solidFill>
                <a:latin typeface="Times New Roman" panose="02020603050405020304" pitchFamily="18" charset="0"/>
                <a:cs typeface="Times New Roman" panose="02020603050405020304" pitchFamily="18" charset="0"/>
              </a:rPr>
              <a:t>Requirements are adjusted for rejection during manufacturing</a:t>
            </a:r>
          </a:p>
          <a:p>
            <a:pPr algn="just"/>
            <a:r>
              <a:rPr lang="en-US" sz="2400" dirty="0" smtClean="0">
                <a:solidFill>
                  <a:srgbClr val="002060"/>
                </a:solidFill>
                <a:latin typeface="Times New Roman" panose="02020603050405020304" pitchFamily="18" charset="0"/>
                <a:cs typeface="Times New Roman" panose="02020603050405020304" pitchFamily="18" charset="0"/>
              </a:rPr>
              <a:t>BOM technique is suitable for engineering industry since large number of components are required for final product.</a:t>
            </a:r>
          </a:p>
          <a:p>
            <a:pPr algn="just"/>
            <a:r>
              <a:rPr lang="en-US" sz="2400" dirty="0" smtClean="0">
                <a:solidFill>
                  <a:srgbClr val="002060"/>
                </a:solidFill>
                <a:latin typeface="Times New Roman" panose="02020603050405020304" pitchFamily="18" charset="0"/>
                <a:cs typeface="Times New Roman" panose="02020603050405020304" pitchFamily="18" charset="0"/>
              </a:rPr>
              <a:t>BOM file is revise every time there is change in product design or specification</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511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93544" y="117475"/>
            <a:ext cx="8228650" cy="5857812"/>
          </a:xfrm>
          <a:prstGeom prst="rect">
            <a:avLst/>
          </a:prstGeom>
        </p:spPr>
      </p:pic>
    </p:spTree>
    <p:extLst>
      <p:ext uri="{BB962C8B-B14F-4D97-AF65-F5344CB8AC3E}">
        <p14:creationId xmlns:p14="http://schemas.microsoft.com/office/powerpoint/2010/main" val="3141909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l="844" r="8718" b="798"/>
          <a:stretch/>
        </p:blipFill>
        <p:spPr>
          <a:xfrm>
            <a:off x="414338" y="36513"/>
            <a:ext cx="10158413" cy="5921374"/>
          </a:xfrm>
          <a:prstGeom prst="rect">
            <a:avLst/>
          </a:prstGeom>
        </p:spPr>
      </p:pic>
    </p:spTree>
    <p:extLst>
      <p:ext uri="{BB962C8B-B14F-4D97-AF65-F5344CB8AC3E}">
        <p14:creationId xmlns:p14="http://schemas.microsoft.com/office/powerpoint/2010/main" val="12982118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r="3811" b="492"/>
          <a:stretch/>
        </p:blipFill>
        <p:spPr>
          <a:xfrm>
            <a:off x="1032095" y="381000"/>
            <a:ext cx="9926418" cy="5776913"/>
          </a:xfrm>
          <a:prstGeom prst="rect">
            <a:avLst/>
          </a:prstGeom>
        </p:spPr>
      </p:pic>
    </p:spTree>
    <p:extLst>
      <p:ext uri="{BB962C8B-B14F-4D97-AF65-F5344CB8AC3E}">
        <p14:creationId xmlns:p14="http://schemas.microsoft.com/office/powerpoint/2010/main" val="12547043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9712" y="226337"/>
            <a:ext cx="5540720" cy="5486547"/>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2200" y="226337"/>
            <a:ext cx="6002450" cy="5658595"/>
          </a:xfrm>
          <a:prstGeom prst="rect">
            <a:avLst/>
          </a:prstGeom>
        </p:spPr>
      </p:pic>
    </p:spTree>
    <p:extLst>
      <p:ext uri="{BB962C8B-B14F-4D97-AF65-F5344CB8AC3E}">
        <p14:creationId xmlns:p14="http://schemas.microsoft.com/office/powerpoint/2010/main" val="1306491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440270722"/>
              </p:ext>
            </p:extLst>
          </p:nvPr>
        </p:nvGraphicFramePr>
        <p:xfrm>
          <a:off x="190047" y="261237"/>
          <a:ext cx="11685277" cy="65611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p:cNvSpPr/>
          <p:nvPr/>
        </p:nvSpPr>
        <p:spPr>
          <a:xfrm>
            <a:off x="5985163" y="5866410"/>
            <a:ext cx="1520042" cy="65314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G(1)</a:t>
            </a:r>
            <a:endParaRPr lang="en-IN" dirty="0"/>
          </a:p>
        </p:txBody>
      </p:sp>
      <p:sp>
        <p:nvSpPr>
          <p:cNvPr id="6" name="Rectangle 5"/>
          <p:cNvSpPr/>
          <p:nvPr/>
        </p:nvSpPr>
        <p:spPr>
          <a:xfrm>
            <a:off x="8087096" y="5866410"/>
            <a:ext cx="1710047" cy="5462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D(1)</a:t>
            </a:r>
            <a:endParaRPr lang="en-IN" dirty="0"/>
          </a:p>
        </p:txBody>
      </p:sp>
      <p:sp>
        <p:nvSpPr>
          <p:cNvPr id="8" name="Rectangle 7"/>
          <p:cNvSpPr/>
          <p:nvPr/>
        </p:nvSpPr>
        <p:spPr>
          <a:xfrm>
            <a:off x="10295905" y="5866410"/>
            <a:ext cx="1579419" cy="344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J(1)</a:t>
            </a:r>
            <a:endParaRPr lang="en-IN" dirty="0"/>
          </a:p>
        </p:txBody>
      </p:sp>
      <p:sp>
        <p:nvSpPr>
          <p:cNvPr id="9" name="Rectangle 8"/>
          <p:cNvSpPr/>
          <p:nvPr/>
        </p:nvSpPr>
        <p:spPr>
          <a:xfrm>
            <a:off x="10295905" y="6377049"/>
            <a:ext cx="1579419" cy="4453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B(1)</a:t>
            </a:r>
            <a:endParaRPr lang="en-IN" dirty="0"/>
          </a:p>
        </p:txBody>
      </p:sp>
      <p:cxnSp>
        <p:nvCxnSpPr>
          <p:cNvPr id="14" name="Straight Arrow Connector 13"/>
          <p:cNvCxnSpPr/>
          <p:nvPr/>
        </p:nvCxnSpPr>
        <p:spPr>
          <a:xfrm>
            <a:off x="6745184" y="5379522"/>
            <a:ext cx="11876" cy="475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9025247" y="5035138"/>
            <a:ext cx="0" cy="8312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0972801" y="5379522"/>
            <a:ext cx="11874" cy="4754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11115304" y="6210795"/>
            <a:ext cx="11875" cy="166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3087584" y="6192981"/>
            <a:ext cx="2897579" cy="17814"/>
          </a:xfrm>
          <a:prstGeom prst="line">
            <a:avLst/>
          </a:prstGeom>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916378" y="6053883"/>
            <a:ext cx="2171206" cy="646331"/>
          </a:xfrm>
          <a:prstGeom prst="rect">
            <a:avLst/>
          </a:prstGeom>
          <a:noFill/>
        </p:spPr>
        <p:txBody>
          <a:bodyPr wrap="square" rtlCol="0">
            <a:spAutoFit/>
          </a:bodyPr>
          <a:lstStyle/>
          <a:p>
            <a:r>
              <a:rPr lang="en-US" dirty="0" smtClean="0"/>
              <a:t>         Level 3</a:t>
            </a:r>
          </a:p>
          <a:p>
            <a:r>
              <a:rPr lang="en-US" dirty="0" smtClean="0"/>
              <a:t>          Level 4</a:t>
            </a:r>
            <a:endParaRPr lang="en-IN" dirty="0"/>
          </a:p>
        </p:txBody>
      </p:sp>
      <p:cxnSp>
        <p:nvCxnSpPr>
          <p:cNvPr id="32" name="Straight Connector 31"/>
          <p:cNvCxnSpPr/>
          <p:nvPr/>
        </p:nvCxnSpPr>
        <p:spPr>
          <a:xfrm flipH="1" flipV="1">
            <a:off x="3087585" y="6627696"/>
            <a:ext cx="7208320" cy="6108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32142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1925" y="120770"/>
            <a:ext cx="11611154" cy="6323162"/>
          </a:xfrm>
        </p:spPr>
        <p:txBody>
          <a:bodyPr>
            <a:normAutofit/>
          </a:bodyPr>
          <a:lstStyle/>
          <a:p>
            <a:pPr marL="0" indent="0" algn="just">
              <a:buNone/>
            </a:pPr>
            <a:r>
              <a:rPr lang="en-US" sz="2400" b="1" dirty="0">
                <a:solidFill>
                  <a:srgbClr val="C00000"/>
                </a:solidFill>
                <a:latin typeface="Times New Roman" panose="02020603050405020304" pitchFamily="18" charset="0"/>
                <a:cs typeface="Times New Roman" panose="02020603050405020304" pitchFamily="18" charset="0"/>
              </a:rPr>
              <a:t>Inventory Records- </a:t>
            </a:r>
            <a:endParaRPr lang="en-US" sz="2400" b="1" dirty="0" smtClean="0">
              <a:solidFill>
                <a:srgbClr val="C00000"/>
              </a:solidFill>
              <a:latin typeface="Times New Roman" panose="02020603050405020304" pitchFamily="18" charset="0"/>
              <a:cs typeface="Times New Roman" panose="02020603050405020304" pitchFamily="18" charset="0"/>
            </a:endParaRPr>
          </a:p>
          <a:p>
            <a:pPr algn="just"/>
            <a:r>
              <a:rPr lang="en-US" sz="2400" dirty="0" smtClean="0">
                <a:solidFill>
                  <a:srgbClr val="002060"/>
                </a:solidFill>
                <a:latin typeface="Times New Roman" panose="02020603050405020304" pitchFamily="18" charset="0"/>
                <a:cs typeface="Times New Roman" panose="02020603050405020304" pitchFamily="18" charset="0"/>
              </a:rPr>
              <a:t>A </a:t>
            </a:r>
            <a:r>
              <a:rPr lang="en-US" sz="2400" dirty="0">
                <a:solidFill>
                  <a:srgbClr val="002060"/>
                </a:solidFill>
                <a:latin typeface="Times New Roman" panose="02020603050405020304" pitchFamily="18" charset="0"/>
                <a:cs typeface="Times New Roman" panose="02020603050405020304" pitchFamily="18" charset="0"/>
              </a:rPr>
              <a:t>major input to the MRP system is inventory. When calculation is made to find out how many are needed, the quantities available must be considered. </a:t>
            </a:r>
          </a:p>
          <a:p>
            <a:pPr algn="just"/>
            <a:r>
              <a:rPr lang="en-US" sz="2400" dirty="0">
                <a:solidFill>
                  <a:srgbClr val="002060"/>
                </a:solidFill>
                <a:latin typeface="Times New Roman" panose="02020603050405020304" pitchFamily="18" charset="0"/>
                <a:cs typeface="Times New Roman" panose="02020603050405020304" pitchFamily="18" charset="0"/>
              </a:rPr>
              <a:t> </a:t>
            </a:r>
            <a:r>
              <a:rPr lang="en-US" sz="2400" dirty="0" smtClean="0">
                <a:solidFill>
                  <a:srgbClr val="002060"/>
                </a:solidFill>
                <a:latin typeface="Times New Roman" panose="02020603050405020304" pitchFamily="18" charset="0"/>
                <a:cs typeface="Times New Roman" panose="02020603050405020304" pitchFamily="18" charset="0"/>
              </a:rPr>
              <a:t>There </a:t>
            </a:r>
            <a:r>
              <a:rPr lang="en-US" sz="2400" dirty="0">
                <a:solidFill>
                  <a:srgbClr val="002060"/>
                </a:solidFill>
                <a:latin typeface="Times New Roman" panose="02020603050405020304" pitchFamily="18" charset="0"/>
                <a:cs typeface="Times New Roman" panose="02020603050405020304" pitchFamily="18" charset="0"/>
              </a:rPr>
              <a:t>are two kinds of information needed. First is planning factors such as    order quantities, lead times, safety stock and scrap. This information is needed to plan what quantities to order and when to order for timely delivery.</a:t>
            </a:r>
          </a:p>
          <a:p>
            <a:pPr algn="just"/>
            <a:r>
              <a:rPr lang="en-US" sz="2400" dirty="0" smtClean="0">
                <a:solidFill>
                  <a:srgbClr val="002060"/>
                </a:solidFill>
                <a:latin typeface="Times New Roman" panose="02020603050405020304" pitchFamily="18" charset="0"/>
                <a:cs typeface="Times New Roman" panose="02020603050405020304" pitchFamily="18" charset="0"/>
              </a:rPr>
              <a:t> Second </a:t>
            </a:r>
            <a:r>
              <a:rPr lang="en-US" sz="2400" dirty="0">
                <a:solidFill>
                  <a:srgbClr val="002060"/>
                </a:solidFill>
                <a:latin typeface="Times New Roman" panose="02020603050405020304" pitchFamily="18" charset="0"/>
                <a:cs typeface="Times New Roman" panose="02020603050405020304" pitchFamily="18" charset="0"/>
              </a:rPr>
              <a:t>information needed is status of the each item. MRP requires how much is available, how much is allocated and how much is available for future demand. This information is dynamic and changes with every </a:t>
            </a:r>
            <a:r>
              <a:rPr lang="en-US" sz="2400" dirty="0" smtClean="0">
                <a:solidFill>
                  <a:srgbClr val="002060"/>
                </a:solidFill>
                <a:latin typeface="Times New Roman" panose="02020603050405020304" pitchFamily="18" charset="0"/>
                <a:cs typeface="Times New Roman" panose="02020603050405020304" pitchFamily="18" charset="0"/>
              </a:rPr>
              <a:t>transaction. Such </a:t>
            </a:r>
            <a:r>
              <a:rPr lang="en-US" sz="2400" dirty="0">
                <a:solidFill>
                  <a:srgbClr val="002060"/>
                </a:solidFill>
                <a:latin typeface="Times New Roman" panose="02020603050405020304" pitchFamily="18" charset="0"/>
                <a:cs typeface="Times New Roman" panose="02020603050405020304" pitchFamily="18" charset="0"/>
              </a:rPr>
              <a:t>data maintained in an inventory record </a:t>
            </a:r>
            <a:r>
              <a:rPr lang="en-US" sz="2400" dirty="0" smtClean="0">
                <a:solidFill>
                  <a:srgbClr val="002060"/>
                </a:solidFill>
                <a:latin typeface="Times New Roman" panose="02020603050405020304" pitchFamily="18" charset="0"/>
                <a:cs typeface="Times New Roman" panose="02020603050405020304" pitchFamily="18" charset="0"/>
              </a:rPr>
              <a:t>file</a:t>
            </a:r>
          </a:p>
          <a:p>
            <a:pPr algn="just"/>
            <a:r>
              <a:rPr lang="en-US" sz="2400" dirty="0">
                <a:solidFill>
                  <a:srgbClr val="002060"/>
                </a:solidFill>
                <a:latin typeface="Times New Roman" panose="02020603050405020304" pitchFamily="18" charset="0"/>
                <a:cs typeface="Times New Roman" panose="02020603050405020304" pitchFamily="18" charset="0"/>
              </a:rPr>
              <a:t>It provides computerized record of each material physically held in the system</a:t>
            </a:r>
          </a:p>
          <a:p>
            <a:pPr algn="just"/>
            <a:r>
              <a:rPr lang="en-US" sz="2400" dirty="0">
                <a:solidFill>
                  <a:srgbClr val="002060"/>
                </a:solidFill>
                <a:latin typeface="Times New Roman" panose="02020603050405020304" pitchFamily="18" charset="0"/>
                <a:cs typeface="Times New Roman" panose="02020603050405020304" pitchFamily="18" charset="0"/>
              </a:rPr>
              <a:t>There will be only one inventory status for individual material, even if it is used in different levels of production or different end products.</a:t>
            </a:r>
          </a:p>
          <a:p>
            <a:pPr algn="just"/>
            <a:r>
              <a:rPr lang="en-US" sz="2400" dirty="0">
                <a:solidFill>
                  <a:srgbClr val="002060"/>
                </a:solidFill>
                <a:latin typeface="Times New Roman" panose="02020603050405020304" pitchFamily="18" charset="0"/>
                <a:cs typeface="Times New Roman" panose="02020603050405020304" pitchFamily="18" charset="0"/>
              </a:rPr>
              <a:t>The file indicates material code, material name, inventory on- hand( physically available), inventory on order( ordered but yet to arrive), customer order for item</a:t>
            </a:r>
            <a:endParaRPr lang="en-US" sz="2000" dirty="0">
              <a:solidFill>
                <a:srgbClr val="002060"/>
              </a:solidFill>
              <a:latin typeface="Times New Roman" panose="02020603050405020304" pitchFamily="18" charset="0"/>
              <a:cs typeface="Times New Roman" panose="02020603050405020304" pitchFamily="18" charset="0"/>
            </a:endParaRPr>
          </a:p>
          <a:p>
            <a:pPr marL="0" indent="0" algn="just">
              <a:buNone/>
            </a:pPr>
            <a:endParaRPr lang="en-US" sz="2400" dirty="0" smtClean="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58662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76014" y="157164"/>
            <a:ext cx="11425474" cy="6376988"/>
          </a:xfrm>
          <a:prstGeom prst="rect">
            <a:avLst/>
          </a:prstGeom>
        </p:spPr>
      </p:pic>
    </p:spTree>
    <p:extLst>
      <p:ext uri="{BB962C8B-B14F-4D97-AF65-F5344CB8AC3E}">
        <p14:creationId xmlns:p14="http://schemas.microsoft.com/office/powerpoint/2010/main" val="20691640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1257" y="190006"/>
            <a:ext cx="11685320" cy="6495802"/>
          </a:xfrm>
        </p:spPr>
        <p:txBody>
          <a:bodyPr>
            <a:normAutofit/>
          </a:bodyPr>
          <a:lstStyle/>
          <a:p>
            <a:pPr marL="0" indent="0" algn="ctr">
              <a:buNone/>
            </a:pPr>
            <a:r>
              <a:rPr lang="en-US" sz="3200" b="1" dirty="0" smtClean="0">
                <a:solidFill>
                  <a:srgbClr val="C00000"/>
                </a:solidFill>
              </a:rPr>
              <a:t>Steps Involved in MRP</a:t>
            </a:r>
          </a:p>
          <a:p>
            <a:pPr marL="0" indent="0" algn="ctr">
              <a:buNone/>
            </a:pPr>
            <a:r>
              <a:rPr lang="en-US" sz="2400" dirty="0" smtClean="0">
                <a:solidFill>
                  <a:schemeClr val="accent5"/>
                </a:solidFill>
              </a:rPr>
              <a:t> </a:t>
            </a:r>
            <a:endParaRPr lang="en-IN" sz="2400" dirty="0">
              <a:solidFill>
                <a:schemeClr val="accent5"/>
              </a:solidFill>
            </a:endParaRPr>
          </a:p>
        </p:txBody>
      </p:sp>
      <p:sp>
        <p:nvSpPr>
          <p:cNvPr id="4" name="Rounded Rectangle 3"/>
          <p:cNvSpPr/>
          <p:nvPr/>
        </p:nvSpPr>
        <p:spPr>
          <a:xfrm>
            <a:off x="5041075" y="620489"/>
            <a:ext cx="2357252" cy="90548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Determine gross requirement of finished product</a:t>
            </a:r>
            <a:endParaRPr lang="en-IN" dirty="0">
              <a:solidFill>
                <a:schemeClr val="tx1"/>
              </a:solidFill>
            </a:endParaRPr>
          </a:p>
        </p:txBody>
      </p:sp>
      <p:sp>
        <p:nvSpPr>
          <p:cNvPr id="5" name="Rounded Rectangle 4"/>
          <p:cNvSpPr/>
          <p:nvPr/>
        </p:nvSpPr>
        <p:spPr>
          <a:xfrm>
            <a:off x="4963885" y="1626919"/>
            <a:ext cx="2434441" cy="77189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Determine </a:t>
            </a:r>
            <a:r>
              <a:rPr lang="en-US" dirty="0" smtClean="0">
                <a:solidFill>
                  <a:schemeClr val="tx1"/>
                </a:solidFill>
              </a:rPr>
              <a:t>net </a:t>
            </a:r>
            <a:r>
              <a:rPr lang="en-US" dirty="0">
                <a:solidFill>
                  <a:schemeClr val="tx1"/>
                </a:solidFill>
              </a:rPr>
              <a:t>requirement of finished product</a:t>
            </a:r>
            <a:endParaRPr lang="en-IN" dirty="0">
              <a:solidFill>
                <a:schemeClr val="tx1"/>
              </a:solidFill>
            </a:endParaRPr>
          </a:p>
        </p:txBody>
      </p:sp>
      <p:sp>
        <p:nvSpPr>
          <p:cNvPr id="6" name="Rounded Rectangle 5"/>
          <p:cNvSpPr/>
          <p:nvPr/>
        </p:nvSpPr>
        <p:spPr>
          <a:xfrm>
            <a:off x="4963886" y="2499755"/>
            <a:ext cx="2434440" cy="44532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Develop MPS</a:t>
            </a:r>
            <a:endParaRPr lang="en-IN" dirty="0">
              <a:solidFill>
                <a:schemeClr val="tx1"/>
              </a:solidFill>
            </a:endParaRPr>
          </a:p>
        </p:txBody>
      </p:sp>
      <p:sp>
        <p:nvSpPr>
          <p:cNvPr id="7" name="Rounded Rectangle 6"/>
          <p:cNvSpPr/>
          <p:nvPr/>
        </p:nvSpPr>
        <p:spPr>
          <a:xfrm>
            <a:off x="4910447" y="3087582"/>
            <a:ext cx="2487879" cy="45720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Explode BOM to determine GPR</a:t>
            </a:r>
            <a:endParaRPr lang="en-IN" dirty="0">
              <a:solidFill>
                <a:schemeClr val="tx1"/>
              </a:solidFill>
            </a:endParaRPr>
          </a:p>
        </p:txBody>
      </p:sp>
      <p:sp>
        <p:nvSpPr>
          <p:cNvPr id="8" name="Rounded Rectangle 7"/>
          <p:cNvSpPr/>
          <p:nvPr/>
        </p:nvSpPr>
        <p:spPr>
          <a:xfrm>
            <a:off x="4963886" y="3728853"/>
            <a:ext cx="2434440" cy="51063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Determine NPR</a:t>
            </a:r>
            <a:endParaRPr lang="en-IN" dirty="0">
              <a:solidFill>
                <a:schemeClr val="tx1"/>
              </a:solidFill>
            </a:endParaRPr>
          </a:p>
        </p:txBody>
      </p:sp>
      <p:sp>
        <p:nvSpPr>
          <p:cNvPr id="9" name="Rounded Rectangle 8"/>
          <p:cNvSpPr/>
          <p:nvPr/>
        </p:nvSpPr>
        <p:spPr>
          <a:xfrm>
            <a:off x="5058890" y="4423559"/>
            <a:ext cx="2173181" cy="58782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Adjust requirement for scrap allowance</a:t>
            </a:r>
            <a:endParaRPr lang="en-IN" dirty="0">
              <a:solidFill>
                <a:schemeClr val="tx1"/>
              </a:solidFill>
            </a:endParaRPr>
          </a:p>
        </p:txBody>
      </p:sp>
      <p:sp>
        <p:nvSpPr>
          <p:cNvPr id="10" name="Rounded Rectangle 9"/>
          <p:cNvSpPr/>
          <p:nvPr/>
        </p:nvSpPr>
        <p:spPr>
          <a:xfrm>
            <a:off x="5058891" y="5118266"/>
            <a:ext cx="2173181" cy="43344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Schedule/release planned orders</a:t>
            </a:r>
            <a:endParaRPr lang="en-IN" dirty="0">
              <a:solidFill>
                <a:schemeClr val="tx1"/>
              </a:solidFill>
            </a:endParaRPr>
          </a:p>
        </p:txBody>
      </p:sp>
      <p:cxnSp>
        <p:nvCxnSpPr>
          <p:cNvPr id="12" name="Straight Arrow Connector 11"/>
          <p:cNvCxnSpPr>
            <a:endCxn id="4" idx="1"/>
          </p:cNvCxnSpPr>
          <p:nvPr/>
        </p:nvCxnSpPr>
        <p:spPr>
          <a:xfrm>
            <a:off x="2113808" y="1068779"/>
            <a:ext cx="2927267" cy="44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2113808" y="1377538"/>
            <a:ext cx="2927267"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570017" y="967838"/>
            <a:ext cx="1543792" cy="923330"/>
          </a:xfrm>
          <a:prstGeom prst="rect">
            <a:avLst/>
          </a:prstGeom>
          <a:noFill/>
        </p:spPr>
        <p:txBody>
          <a:bodyPr wrap="square" rtlCol="0">
            <a:spAutoFit/>
          </a:bodyPr>
          <a:lstStyle/>
          <a:p>
            <a:r>
              <a:rPr lang="en-US" dirty="0" smtClean="0"/>
              <a:t>Sales Orders</a:t>
            </a:r>
          </a:p>
          <a:p>
            <a:r>
              <a:rPr lang="en-US" dirty="0" smtClean="0"/>
              <a:t>forecast</a:t>
            </a:r>
          </a:p>
          <a:p>
            <a:r>
              <a:rPr lang="en-US" dirty="0" smtClean="0"/>
              <a:t> </a:t>
            </a:r>
            <a:endParaRPr lang="en-IN" dirty="0"/>
          </a:p>
        </p:txBody>
      </p:sp>
      <p:sp>
        <p:nvSpPr>
          <p:cNvPr id="20" name="Flowchart: Decision 19"/>
          <p:cNvSpPr/>
          <p:nvPr/>
        </p:nvSpPr>
        <p:spPr>
          <a:xfrm>
            <a:off x="4702628" y="5551715"/>
            <a:ext cx="2933205" cy="87877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Have all level been exploded</a:t>
            </a:r>
            <a:endParaRPr lang="en-IN" dirty="0">
              <a:solidFill>
                <a:schemeClr val="tx1"/>
              </a:solidFill>
            </a:endParaRPr>
          </a:p>
        </p:txBody>
      </p:sp>
      <p:cxnSp>
        <p:nvCxnSpPr>
          <p:cNvPr id="22" name="Straight Arrow Connector 21"/>
          <p:cNvCxnSpPr>
            <a:stCxn id="28" idx="2"/>
            <a:endCxn id="9" idx="1"/>
          </p:cNvCxnSpPr>
          <p:nvPr/>
        </p:nvCxnSpPr>
        <p:spPr>
          <a:xfrm flipV="1">
            <a:off x="3384468" y="4717473"/>
            <a:ext cx="1674422" cy="27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2565070" y="4423560"/>
            <a:ext cx="1151907" cy="646331"/>
          </a:xfrm>
          <a:prstGeom prst="rect">
            <a:avLst/>
          </a:prstGeom>
          <a:noFill/>
        </p:spPr>
        <p:txBody>
          <a:bodyPr wrap="square" rtlCol="0">
            <a:spAutoFit/>
          </a:bodyPr>
          <a:lstStyle/>
          <a:p>
            <a:r>
              <a:rPr lang="en-US" dirty="0" smtClean="0"/>
              <a:t>Scrap Allowance</a:t>
            </a:r>
            <a:endParaRPr lang="en-IN" dirty="0"/>
          </a:p>
        </p:txBody>
      </p:sp>
      <p:cxnSp>
        <p:nvCxnSpPr>
          <p:cNvPr id="25" name="Straight Arrow Connector 24"/>
          <p:cNvCxnSpPr>
            <a:endCxn id="8" idx="1"/>
          </p:cNvCxnSpPr>
          <p:nvPr/>
        </p:nvCxnSpPr>
        <p:spPr>
          <a:xfrm>
            <a:off x="4096987" y="3966358"/>
            <a:ext cx="866899" cy="17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327564" y="3544785"/>
            <a:ext cx="2113807" cy="1200329"/>
          </a:xfrm>
          <a:prstGeom prst="rect">
            <a:avLst/>
          </a:prstGeom>
          <a:noFill/>
        </p:spPr>
        <p:txBody>
          <a:bodyPr wrap="square" rtlCol="0">
            <a:spAutoFit/>
          </a:bodyPr>
          <a:lstStyle/>
          <a:p>
            <a:r>
              <a:rPr lang="en-US" dirty="0"/>
              <a:t>Component parts and raw materials inventory</a:t>
            </a:r>
            <a:endParaRPr lang="en-IN" dirty="0"/>
          </a:p>
          <a:p>
            <a:endParaRPr lang="en-IN" dirty="0"/>
          </a:p>
        </p:txBody>
      </p:sp>
      <p:cxnSp>
        <p:nvCxnSpPr>
          <p:cNvPr id="34" name="Straight Connector 33"/>
          <p:cNvCxnSpPr>
            <a:stCxn id="20" idx="1"/>
          </p:cNvCxnSpPr>
          <p:nvPr/>
        </p:nvCxnSpPr>
        <p:spPr>
          <a:xfrm flipH="1" flipV="1">
            <a:off x="1128156" y="5973288"/>
            <a:ext cx="3574472" cy="17814"/>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a:off x="5973288" y="1525978"/>
            <a:ext cx="0" cy="100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5" idx="2"/>
            <a:endCxn id="5" idx="2"/>
          </p:cNvCxnSpPr>
          <p:nvPr/>
        </p:nvCxnSpPr>
        <p:spPr>
          <a:xfrm>
            <a:off x="6181106" y="2398814"/>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5" idx="2"/>
            <a:endCxn id="6" idx="0"/>
          </p:cNvCxnSpPr>
          <p:nvPr/>
        </p:nvCxnSpPr>
        <p:spPr>
          <a:xfrm>
            <a:off x="6181106" y="2398814"/>
            <a:ext cx="0" cy="1009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7" idx="2"/>
            <a:endCxn id="8" idx="0"/>
          </p:cNvCxnSpPr>
          <p:nvPr/>
        </p:nvCxnSpPr>
        <p:spPr>
          <a:xfrm>
            <a:off x="6154387" y="3544785"/>
            <a:ext cx="26719" cy="1840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8" idx="2"/>
          </p:cNvCxnSpPr>
          <p:nvPr/>
        </p:nvCxnSpPr>
        <p:spPr>
          <a:xfrm>
            <a:off x="6181106" y="4239492"/>
            <a:ext cx="20783" cy="1959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9" idx="2"/>
            <a:endCxn id="10" idx="0"/>
          </p:cNvCxnSpPr>
          <p:nvPr/>
        </p:nvCxnSpPr>
        <p:spPr>
          <a:xfrm>
            <a:off x="6145481" y="5011386"/>
            <a:ext cx="1" cy="106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2113808" y="5688281"/>
            <a:ext cx="1270659" cy="369332"/>
          </a:xfrm>
          <a:prstGeom prst="rect">
            <a:avLst/>
          </a:prstGeom>
          <a:noFill/>
        </p:spPr>
        <p:txBody>
          <a:bodyPr wrap="square" rtlCol="0">
            <a:spAutoFit/>
          </a:bodyPr>
          <a:lstStyle/>
          <a:p>
            <a:r>
              <a:rPr lang="en-US" dirty="0" smtClean="0"/>
              <a:t>NO</a:t>
            </a:r>
            <a:endParaRPr lang="en-IN" dirty="0"/>
          </a:p>
        </p:txBody>
      </p:sp>
      <p:cxnSp>
        <p:nvCxnSpPr>
          <p:cNvPr id="52" name="Straight Connector 51"/>
          <p:cNvCxnSpPr/>
          <p:nvPr/>
        </p:nvCxnSpPr>
        <p:spPr>
          <a:xfrm flipH="1" flipV="1">
            <a:off x="1128155" y="2993845"/>
            <a:ext cx="1" cy="2979443"/>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flipH="1">
            <a:off x="6090557" y="2922594"/>
            <a:ext cx="26719" cy="1425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1128155" y="2997827"/>
            <a:ext cx="5026231" cy="30147"/>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20" idx="3"/>
          </p:cNvCxnSpPr>
          <p:nvPr/>
        </p:nvCxnSpPr>
        <p:spPr>
          <a:xfrm>
            <a:off x="7635833" y="5991102"/>
            <a:ext cx="1306286" cy="33255"/>
          </a:xfrm>
          <a:prstGeom prst="line">
            <a:avLst/>
          </a:prstGeom>
        </p:spPr>
        <p:style>
          <a:lnRef idx="1">
            <a:schemeClr val="accent1"/>
          </a:lnRef>
          <a:fillRef idx="0">
            <a:schemeClr val="accent1"/>
          </a:fillRef>
          <a:effectRef idx="0">
            <a:schemeClr val="accent1"/>
          </a:effectRef>
          <a:fontRef idx="minor">
            <a:schemeClr val="tx1"/>
          </a:fontRef>
        </p:style>
      </p:cxnSp>
      <p:sp>
        <p:nvSpPr>
          <p:cNvPr id="67" name="TextBox 66"/>
          <p:cNvSpPr txBox="1"/>
          <p:nvPr/>
        </p:nvSpPr>
        <p:spPr>
          <a:xfrm>
            <a:off x="7825838" y="5688281"/>
            <a:ext cx="973778" cy="369332"/>
          </a:xfrm>
          <a:prstGeom prst="rect">
            <a:avLst/>
          </a:prstGeom>
          <a:noFill/>
        </p:spPr>
        <p:txBody>
          <a:bodyPr wrap="square" rtlCol="0">
            <a:spAutoFit/>
          </a:bodyPr>
          <a:lstStyle/>
          <a:p>
            <a:r>
              <a:rPr lang="en-US" dirty="0" smtClean="0"/>
              <a:t>Yes</a:t>
            </a:r>
            <a:endParaRPr lang="en-IN" dirty="0"/>
          </a:p>
        </p:txBody>
      </p:sp>
      <p:cxnSp>
        <p:nvCxnSpPr>
          <p:cNvPr id="70" name="Straight Connector 69"/>
          <p:cNvCxnSpPr/>
          <p:nvPr/>
        </p:nvCxnSpPr>
        <p:spPr>
          <a:xfrm flipV="1">
            <a:off x="8953994" y="2173184"/>
            <a:ext cx="0" cy="3809011"/>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8953994" y="2173184"/>
            <a:ext cx="9975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9951522" y="2173184"/>
            <a:ext cx="0" cy="439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ounded Rectangle 75"/>
          <p:cNvSpPr/>
          <p:nvPr/>
        </p:nvSpPr>
        <p:spPr>
          <a:xfrm>
            <a:off x="9345881" y="2612571"/>
            <a:ext cx="1698171" cy="82533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Aggregate inventory requirements</a:t>
            </a:r>
            <a:endParaRPr lang="en-IN" dirty="0">
              <a:solidFill>
                <a:schemeClr val="tx1"/>
              </a:solidFill>
            </a:endParaRPr>
          </a:p>
        </p:txBody>
      </p:sp>
      <p:cxnSp>
        <p:nvCxnSpPr>
          <p:cNvPr id="78" name="Straight Arrow Connector 77"/>
          <p:cNvCxnSpPr>
            <a:stCxn id="76" idx="2"/>
          </p:cNvCxnSpPr>
          <p:nvPr/>
        </p:nvCxnSpPr>
        <p:spPr>
          <a:xfrm>
            <a:off x="10194967" y="3437907"/>
            <a:ext cx="5937" cy="2909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9" name="Rounded Rectangle 78"/>
          <p:cNvSpPr/>
          <p:nvPr/>
        </p:nvSpPr>
        <p:spPr>
          <a:xfrm>
            <a:off x="9429008" y="3728853"/>
            <a:ext cx="1615043" cy="6056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Issue Planned orders</a:t>
            </a:r>
            <a:endParaRPr lang="en-IN" dirty="0">
              <a:solidFill>
                <a:schemeClr val="tx1"/>
              </a:solidFill>
            </a:endParaRPr>
          </a:p>
        </p:txBody>
      </p:sp>
      <p:sp>
        <p:nvSpPr>
          <p:cNvPr id="80" name="Rounded Rectangle 79"/>
          <p:cNvSpPr/>
          <p:nvPr/>
        </p:nvSpPr>
        <p:spPr>
          <a:xfrm>
            <a:off x="9458696" y="4717473"/>
            <a:ext cx="1704109" cy="74517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Compared planned and delivered</a:t>
            </a:r>
            <a:endParaRPr lang="en-IN" dirty="0">
              <a:solidFill>
                <a:schemeClr val="tx1"/>
              </a:solidFill>
            </a:endParaRPr>
          </a:p>
        </p:txBody>
      </p:sp>
      <p:sp>
        <p:nvSpPr>
          <p:cNvPr id="81" name="Rounded Rectangle 80"/>
          <p:cNvSpPr/>
          <p:nvPr/>
        </p:nvSpPr>
        <p:spPr>
          <a:xfrm>
            <a:off x="9583387" y="5845628"/>
            <a:ext cx="1840675" cy="5848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Expedite(If necessary)</a:t>
            </a:r>
            <a:endParaRPr lang="en-IN" dirty="0">
              <a:solidFill>
                <a:schemeClr val="tx1"/>
              </a:solidFill>
            </a:endParaRPr>
          </a:p>
        </p:txBody>
      </p:sp>
      <p:cxnSp>
        <p:nvCxnSpPr>
          <p:cNvPr id="83" name="Straight Arrow Connector 82"/>
          <p:cNvCxnSpPr>
            <a:stCxn id="79" idx="2"/>
            <a:endCxn id="80" idx="0"/>
          </p:cNvCxnSpPr>
          <p:nvPr/>
        </p:nvCxnSpPr>
        <p:spPr>
          <a:xfrm>
            <a:off x="10236530" y="4334494"/>
            <a:ext cx="74221" cy="3829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80" idx="2"/>
          </p:cNvCxnSpPr>
          <p:nvPr/>
        </p:nvCxnSpPr>
        <p:spPr>
          <a:xfrm>
            <a:off x="10310751" y="5462649"/>
            <a:ext cx="44533" cy="4064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p:cNvCxnSpPr/>
          <p:nvPr/>
        </p:nvCxnSpPr>
        <p:spPr>
          <a:xfrm>
            <a:off x="3384467" y="2173184"/>
            <a:ext cx="15259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9" name="TextBox 98"/>
          <p:cNvSpPr txBox="1"/>
          <p:nvPr/>
        </p:nvSpPr>
        <p:spPr>
          <a:xfrm>
            <a:off x="2749137" y="1745673"/>
            <a:ext cx="1781299" cy="646331"/>
          </a:xfrm>
          <a:prstGeom prst="rect">
            <a:avLst/>
          </a:prstGeom>
          <a:noFill/>
        </p:spPr>
        <p:txBody>
          <a:bodyPr wrap="square" rtlCol="0">
            <a:spAutoFit/>
          </a:bodyPr>
          <a:lstStyle/>
          <a:p>
            <a:r>
              <a:rPr lang="en-US" dirty="0" smtClean="0"/>
              <a:t>Inventory on hand</a:t>
            </a:r>
            <a:endParaRPr lang="en-IN" dirty="0"/>
          </a:p>
        </p:txBody>
      </p:sp>
    </p:spTree>
    <p:extLst>
      <p:ext uri="{BB962C8B-B14F-4D97-AF65-F5344CB8AC3E}">
        <p14:creationId xmlns:p14="http://schemas.microsoft.com/office/powerpoint/2010/main" val="3169590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07034" y="163902"/>
            <a:ext cx="11146766" cy="6469811"/>
          </a:xfrm>
        </p:spPr>
        <p:txBody>
          <a:bodyPr/>
          <a:lstStyle/>
          <a:p>
            <a:pPr marL="0" indent="0" algn="ctr">
              <a:buNone/>
            </a:pPr>
            <a:r>
              <a:rPr lang="en-IN" sz="3600" b="1" dirty="0" smtClean="0">
                <a:solidFill>
                  <a:srgbClr val="C00000"/>
                </a:solidFill>
                <a:latin typeface="Times New Roman" panose="02020603050405020304" pitchFamily="18" charset="0"/>
                <a:cs typeface="Times New Roman" panose="02020603050405020304" pitchFamily="18" charset="0"/>
              </a:rPr>
              <a:t>Lead Time</a:t>
            </a:r>
          </a:p>
          <a:p>
            <a:pPr algn="just"/>
            <a:r>
              <a:rPr lang="en-IN" sz="2400" dirty="0" smtClean="0">
                <a:latin typeface="Times New Roman" panose="02020603050405020304" pitchFamily="18" charset="0"/>
                <a:cs typeface="Times New Roman" panose="02020603050405020304" pitchFamily="18" charset="0"/>
              </a:rPr>
              <a:t>It is time needed for completing the job from the initial stage to the final stage</a:t>
            </a:r>
          </a:p>
          <a:p>
            <a:pPr algn="just"/>
            <a:r>
              <a:rPr lang="en-IN" sz="2400" dirty="0" smtClean="0">
                <a:latin typeface="Times New Roman" panose="02020603050405020304" pitchFamily="18" charset="0"/>
                <a:cs typeface="Times New Roman" panose="02020603050405020304" pitchFamily="18" charset="0"/>
              </a:rPr>
              <a:t>Ordering lead time- Start of purchasing process to receipt from supplier(s)</a:t>
            </a:r>
          </a:p>
          <a:p>
            <a:pPr algn="just"/>
            <a:r>
              <a:rPr lang="en-IN" sz="2400" dirty="0" smtClean="0">
                <a:latin typeface="Times New Roman" panose="02020603050405020304" pitchFamily="18" charset="0"/>
                <a:cs typeface="Times New Roman" panose="02020603050405020304" pitchFamily="18" charset="0"/>
              </a:rPr>
              <a:t>Manufacturing lead time – processing of part through the machines specified on route sheet</a:t>
            </a:r>
          </a:p>
          <a:p>
            <a:pPr algn="just"/>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4294" y="2406770"/>
            <a:ext cx="8160589" cy="3925019"/>
          </a:xfrm>
          <a:prstGeom prst="rect">
            <a:avLst/>
          </a:prstGeom>
        </p:spPr>
      </p:pic>
    </p:spTree>
    <p:extLst>
      <p:ext uri="{BB962C8B-B14F-4D97-AF65-F5344CB8AC3E}">
        <p14:creationId xmlns:p14="http://schemas.microsoft.com/office/powerpoint/2010/main" val="9081566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1925" y="258792"/>
            <a:ext cx="11464505" cy="6193766"/>
          </a:xfrm>
        </p:spPr>
        <p:txBody>
          <a:bodyPr/>
          <a:lstStyle/>
          <a:p>
            <a:pPr marL="0" indent="0" algn="ctr">
              <a:buNone/>
            </a:pPr>
            <a:r>
              <a:rPr lang="en-IN" sz="3600" b="1" dirty="0" smtClean="0">
                <a:solidFill>
                  <a:srgbClr val="C00000"/>
                </a:solidFill>
                <a:latin typeface="Times New Roman" panose="02020603050405020304" pitchFamily="18" charset="0"/>
                <a:cs typeface="Times New Roman" panose="02020603050405020304" pitchFamily="18" charset="0"/>
              </a:rPr>
              <a:t>Characteristics of demand</a:t>
            </a:r>
          </a:p>
          <a:p>
            <a:pPr algn="just"/>
            <a:r>
              <a:rPr lang="en-IN" dirty="0" smtClean="0">
                <a:solidFill>
                  <a:srgbClr val="C00000"/>
                </a:solidFill>
                <a:latin typeface="Times New Roman" panose="02020603050405020304" pitchFamily="18" charset="0"/>
                <a:cs typeface="Times New Roman" panose="02020603050405020304" pitchFamily="18" charset="0"/>
              </a:rPr>
              <a:t>Dependent demand</a:t>
            </a:r>
          </a:p>
          <a:p>
            <a:pPr marL="0" indent="0" algn="just">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 Product demand related to other items as item is component of other product</a:t>
            </a:r>
          </a:p>
          <a:p>
            <a:pPr algn="just"/>
            <a:r>
              <a:rPr lang="en-IN" dirty="0" smtClean="0">
                <a:solidFill>
                  <a:srgbClr val="C00000"/>
                </a:solidFill>
                <a:latin typeface="Times New Roman" panose="02020603050405020304" pitchFamily="18" charset="0"/>
                <a:cs typeface="Times New Roman" panose="02020603050405020304" pitchFamily="18" charset="0"/>
              </a:rPr>
              <a:t>Lumpy Demand</a:t>
            </a:r>
          </a:p>
          <a:p>
            <a:pPr marL="0" indent="0" algn="just">
              <a:buNone/>
            </a:pP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 Demand is sudden or in large quantity/ increased so as to make a batch of final product </a:t>
            </a:r>
          </a:p>
          <a:p>
            <a:endParaRPr lang="en-IN" dirty="0"/>
          </a:p>
        </p:txBody>
      </p:sp>
    </p:spTree>
    <p:extLst>
      <p:ext uri="{BB962C8B-B14F-4D97-AF65-F5344CB8AC3E}">
        <p14:creationId xmlns:p14="http://schemas.microsoft.com/office/powerpoint/2010/main" val="1378912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2860" y="448574"/>
            <a:ext cx="9661585" cy="5822830"/>
          </a:xfrm>
        </p:spPr>
      </p:pic>
    </p:spTree>
    <p:extLst>
      <p:ext uri="{BB962C8B-B14F-4D97-AF65-F5344CB8AC3E}">
        <p14:creationId xmlns:p14="http://schemas.microsoft.com/office/powerpoint/2010/main" val="1954645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34838" y="396187"/>
            <a:ext cx="10360324" cy="5772150"/>
          </a:xfrm>
          <a:prstGeom prst="rect">
            <a:avLst/>
          </a:prstGeom>
        </p:spPr>
      </p:pic>
    </p:spTree>
    <p:extLst>
      <p:ext uri="{BB962C8B-B14F-4D97-AF65-F5344CB8AC3E}">
        <p14:creationId xmlns:p14="http://schemas.microsoft.com/office/powerpoint/2010/main" val="32585028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1985" y="655608"/>
            <a:ext cx="8436634" cy="4164623"/>
          </a:xfrm>
        </p:spPr>
      </p:pic>
    </p:spTree>
    <p:extLst>
      <p:ext uri="{BB962C8B-B14F-4D97-AF65-F5344CB8AC3E}">
        <p14:creationId xmlns:p14="http://schemas.microsoft.com/office/powerpoint/2010/main" val="1958542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0217" y="138546"/>
            <a:ext cx="11457709" cy="6539345"/>
          </a:xfrm>
        </p:spPr>
        <p:txBody>
          <a:bodyPr>
            <a:normAutofit/>
          </a:bodyPr>
          <a:lstStyle/>
          <a:p>
            <a:pPr marL="0" indent="0" algn="ctr">
              <a:buNone/>
            </a:pPr>
            <a:r>
              <a:rPr lang="en-US" sz="3600" b="1" dirty="0" smtClean="0">
                <a:solidFill>
                  <a:srgbClr val="C00000"/>
                </a:solidFill>
                <a:latin typeface="Times New Roman" panose="02020603050405020304" pitchFamily="18" charset="0"/>
                <a:cs typeface="Times New Roman" panose="02020603050405020304" pitchFamily="18" charset="0"/>
              </a:rPr>
              <a:t>How MRP works</a:t>
            </a: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Bucketing</a:t>
            </a:r>
          </a:p>
          <a:p>
            <a:pPr algn="just"/>
            <a:r>
              <a:rPr lang="en-US" dirty="0" smtClean="0">
                <a:solidFill>
                  <a:srgbClr val="002060"/>
                </a:solidFill>
                <a:latin typeface="Times New Roman" panose="02020603050405020304" pitchFamily="18" charset="0"/>
                <a:cs typeface="Times New Roman" panose="02020603050405020304" pitchFamily="18" charset="0"/>
              </a:rPr>
              <a:t>At </a:t>
            </a:r>
            <a:r>
              <a:rPr lang="en-US" dirty="0" smtClean="0">
                <a:solidFill>
                  <a:srgbClr val="0070C0"/>
                </a:solidFill>
                <a:latin typeface="Times New Roman" panose="02020603050405020304" pitchFamily="18" charset="0"/>
                <a:cs typeface="Times New Roman" panose="02020603050405020304" pitchFamily="18" charset="0"/>
              </a:rPr>
              <a:t>what time </a:t>
            </a:r>
            <a:r>
              <a:rPr lang="en-US" dirty="0" smtClean="0">
                <a:solidFill>
                  <a:srgbClr val="002060"/>
                </a:solidFill>
                <a:latin typeface="Times New Roman" panose="02020603050405020304" pitchFamily="18" charset="0"/>
                <a:cs typeface="Times New Roman" panose="02020603050405020304" pitchFamily="18" charset="0"/>
              </a:rPr>
              <a:t>and in </a:t>
            </a:r>
            <a:r>
              <a:rPr lang="en-US" dirty="0" smtClean="0">
                <a:solidFill>
                  <a:srgbClr val="0070C0"/>
                </a:solidFill>
                <a:latin typeface="Times New Roman" panose="02020603050405020304" pitchFamily="18" charset="0"/>
                <a:cs typeface="Times New Roman" panose="02020603050405020304" pitchFamily="18" charset="0"/>
              </a:rPr>
              <a:t>what quantity </a:t>
            </a:r>
            <a:r>
              <a:rPr lang="en-US" dirty="0" smtClean="0">
                <a:solidFill>
                  <a:srgbClr val="002060"/>
                </a:solidFill>
                <a:latin typeface="Times New Roman" panose="02020603050405020304" pitchFamily="18" charset="0"/>
                <a:cs typeface="Times New Roman" panose="02020603050405020304" pitchFamily="18" charset="0"/>
              </a:rPr>
              <a:t>a product is needed</a:t>
            </a:r>
          </a:p>
          <a:p>
            <a:pPr algn="just"/>
            <a:r>
              <a:rPr lang="en-US" dirty="0" smtClean="0">
                <a:solidFill>
                  <a:srgbClr val="002060"/>
                </a:solidFill>
                <a:latin typeface="Times New Roman" panose="02020603050405020304" pitchFamily="18" charset="0"/>
                <a:cs typeface="Times New Roman" panose="02020603050405020304" pitchFamily="18" charset="0"/>
              </a:rPr>
              <a:t>MRP starts with consolidating period requirement for different end products</a:t>
            </a:r>
          </a:p>
          <a:p>
            <a:pPr algn="just"/>
            <a:r>
              <a:rPr lang="en-US" dirty="0" smtClean="0">
                <a:solidFill>
                  <a:srgbClr val="002060"/>
                </a:solidFill>
                <a:latin typeface="Times New Roman" panose="02020603050405020304" pitchFamily="18" charset="0"/>
                <a:cs typeface="Times New Roman" panose="02020603050405020304" pitchFamily="18" charset="0"/>
              </a:rPr>
              <a:t>These time periods are call “ Buckets”</a:t>
            </a:r>
          </a:p>
          <a:p>
            <a:pPr algn="just"/>
            <a:r>
              <a:rPr lang="en-US" dirty="0" smtClean="0">
                <a:solidFill>
                  <a:srgbClr val="002060"/>
                </a:solidFill>
                <a:latin typeface="Times New Roman" panose="02020603050405020304" pitchFamily="18" charset="0"/>
                <a:cs typeface="Times New Roman" panose="02020603050405020304" pitchFamily="18" charset="0"/>
              </a:rPr>
              <a:t>Add services (spare parts), which are not included in MPS</a:t>
            </a: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Part Explosion</a:t>
            </a:r>
          </a:p>
          <a:p>
            <a:pPr marL="0" indent="0" algn="just">
              <a:buNone/>
            </a:pPr>
            <a:r>
              <a:rPr lang="en-US" dirty="0" smtClean="0">
                <a:solidFill>
                  <a:srgbClr val="002060"/>
                </a:solidFill>
                <a:latin typeface="Times New Roman" panose="02020603050405020304" pitchFamily="18" charset="0"/>
                <a:cs typeface="Times New Roman" panose="02020603050405020304" pitchFamily="18" charset="0"/>
              </a:rPr>
              <a:t> -Each item exploded ( divided) into constituents materials.</a:t>
            </a: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Offsetting</a:t>
            </a:r>
          </a:p>
          <a:p>
            <a:pPr marL="0" indent="0" algn="just">
              <a:buNone/>
            </a:pPr>
            <a:r>
              <a:rPr lang="en-US" dirty="0">
                <a:solidFill>
                  <a:srgbClr val="002060"/>
                </a:solidFill>
                <a:latin typeface="Times New Roman" panose="02020603050405020304" pitchFamily="18" charset="0"/>
                <a:cs typeface="Times New Roman" panose="02020603050405020304" pitchFamily="18" charset="0"/>
              </a:rPr>
              <a:t> </a:t>
            </a:r>
            <a:r>
              <a:rPr lang="en-US" dirty="0" smtClean="0">
                <a:solidFill>
                  <a:srgbClr val="002060"/>
                </a:solidFill>
                <a:latin typeface="Times New Roman" panose="02020603050405020304" pitchFamily="18" charset="0"/>
                <a:cs typeface="Times New Roman" panose="02020603050405020304" pitchFamily="18" charset="0"/>
              </a:rPr>
              <a:t>-Displacing requirement  by a period equal to the lead time of the product</a:t>
            </a:r>
          </a:p>
        </p:txBody>
      </p:sp>
    </p:spTree>
    <p:extLst>
      <p:ext uri="{BB962C8B-B14F-4D97-AF65-F5344CB8AC3E}">
        <p14:creationId xmlns:p14="http://schemas.microsoft.com/office/powerpoint/2010/main" val="15470751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235" y="318655"/>
            <a:ext cx="11457709" cy="6206836"/>
          </a:xfrm>
        </p:spPr>
        <p:txBody>
          <a:bodyPr/>
          <a:lstStyle/>
          <a:p>
            <a:pPr marL="0" indent="0" algn="just">
              <a:buNone/>
            </a:pPr>
            <a:r>
              <a:rPr lang="en-US" dirty="0">
                <a:solidFill>
                  <a:srgbClr val="C00000"/>
                </a:solidFill>
                <a:latin typeface="Times New Roman" panose="02020603050405020304" pitchFamily="18" charset="0"/>
                <a:cs typeface="Times New Roman" panose="02020603050405020304" pitchFamily="18" charset="0"/>
              </a:rPr>
              <a:t>Aggregation</a:t>
            </a:r>
          </a:p>
          <a:p>
            <a:pPr marL="0" indent="0" algn="just">
              <a:buNone/>
            </a:pPr>
            <a:r>
              <a:rPr lang="en-US" dirty="0">
                <a:solidFill>
                  <a:srgbClr val="002060"/>
                </a:solidFill>
                <a:latin typeface="Times New Roman" panose="02020603050405020304" pitchFamily="18" charset="0"/>
                <a:cs typeface="Times New Roman" panose="02020603050405020304" pitchFamily="18" charset="0"/>
              </a:rPr>
              <a:t>  -Finding gross requirement  for each component</a:t>
            </a:r>
          </a:p>
          <a:p>
            <a:pPr marL="0" indent="0" algn="just">
              <a:buNone/>
            </a:pPr>
            <a:r>
              <a:rPr lang="en-US" dirty="0">
                <a:solidFill>
                  <a:srgbClr val="C00000"/>
                </a:solidFill>
                <a:latin typeface="Times New Roman" panose="02020603050405020304" pitchFamily="18" charset="0"/>
                <a:cs typeface="Times New Roman" panose="02020603050405020304" pitchFamily="18" charset="0"/>
              </a:rPr>
              <a:t>Netting</a:t>
            </a:r>
          </a:p>
          <a:p>
            <a:pPr marL="0" indent="0" algn="just">
              <a:buNone/>
            </a:pPr>
            <a:r>
              <a:rPr lang="en-US" dirty="0">
                <a:solidFill>
                  <a:srgbClr val="002060"/>
                </a:solidFill>
                <a:latin typeface="Times New Roman" panose="02020603050405020304" pitchFamily="18" charset="0"/>
                <a:cs typeface="Times New Roman" panose="02020603050405020304" pitchFamily="18" charset="0"/>
              </a:rPr>
              <a:t> - involves modification of aggregated (or gross) requirement</a:t>
            </a: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  Net </a:t>
            </a:r>
            <a:r>
              <a:rPr lang="en-US" dirty="0" smtClean="0">
                <a:solidFill>
                  <a:srgbClr val="0070C0"/>
                </a:solidFill>
                <a:latin typeface="Times New Roman" panose="02020603050405020304" pitchFamily="18" charset="0"/>
                <a:cs typeface="Times New Roman" panose="02020603050405020304" pitchFamily="18" charset="0"/>
              </a:rPr>
              <a:t>Req. </a:t>
            </a:r>
            <a:r>
              <a:rPr lang="en-US" dirty="0">
                <a:solidFill>
                  <a:srgbClr val="0070C0"/>
                </a:solidFill>
                <a:latin typeface="Times New Roman" panose="02020603050405020304" pitchFamily="18" charset="0"/>
                <a:cs typeface="Times New Roman" panose="02020603050405020304" pitchFamily="18" charset="0"/>
              </a:rPr>
              <a:t>=( Gross </a:t>
            </a:r>
            <a:r>
              <a:rPr lang="en-US" dirty="0" smtClean="0">
                <a:solidFill>
                  <a:srgbClr val="0070C0"/>
                </a:solidFill>
                <a:latin typeface="Times New Roman" panose="02020603050405020304" pitchFamily="18" charset="0"/>
                <a:cs typeface="Times New Roman" panose="02020603050405020304" pitchFamily="18" charset="0"/>
              </a:rPr>
              <a:t>req.) - </a:t>
            </a:r>
            <a:r>
              <a:rPr lang="en-US" dirty="0">
                <a:solidFill>
                  <a:srgbClr val="0070C0"/>
                </a:solidFill>
                <a:latin typeface="Times New Roman" panose="02020603050405020304" pitchFamily="18" charset="0"/>
                <a:cs typeface="Times New Roman" panose="02020603050405020304" pitchFamily="18" charset="0"/>
              </a:rPr>
              <a:t>( inventory on hand - safety stock - inventory allocated to other users</a:t>
            </a:r>
            <a:r>
              <a:rPr lang="en-US" dirty="0" smtClean="0">
                <a:solidFill>
                  <a:srgbClr val="0070C0"/>
                </a:solidFill>
                <a:latin typeface="Times New Roman" panose="02020603050405020304" pitchFamily="18" charset="0"/>
                <a:cs typeface="Times New Roman" panose="02020603050405020304" pitchFamily="18" charset="0"/>
              </a:rPr>
              <a:t>)</a:t>
            </a:r>
            <a:endParaRPr lang="en-IN"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Procurement schedule</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 The requirement is now advanced by a lead time for final assembly</a:t>
            </a: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Lot sizing</a:t>
            </a:r>
          </a:p>
          <a:p>
            <a:pPr marL="0" indent="0" algn="just">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-This is used to consolidate the requirement in pre-specified lot , so the “ Economic order Quantity” may be ordered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0919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5636" y="166255"/>
            <a:ext cx="10938164" cy="6373089"/>
          </a:xfrm>
        </p:spPr>
        <p:txBody>
          <a:bodyPr/>
          <a:lstStyle/>
          <a:p>
            <a:pPr marL="0" indent="0" algn="ctr">
              <a:buNone/>
            </a:pPr>
            <a:r>
              <a:rPr lang="en-US" dirty="0" smtClean="0"/>
              <a:t> </a:t>
            </a:r>
            <a:r>
              <a:rPr lang="en-US" sz="3600" b="1" dirty="0" smtClean="0">
                <a:solidFill>
                  <a:srgbClr val="C00000"/>
                </a:solidFill>
                <a:latin typeface="Times New Roman" panose="02020603050405020304" pitchFamily="18" charset="0"/>
                <a:cs typeface="Times New Roman" panose="02020603050405020304" pitchFamily="18" charset="0"/>
              </a:rPr>
              <a:t>MRP Outputs</a:t>
            </a:r>
            <a:endParaRPr lang="en-IN" sz="3600" b="1" dirty="0">
              <a:solidFill>
                <a:srgbClr val="C00000"/>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886692"/>
            <a:ext cx="10141528" cy="5264726"/>
          </a:xfrm>
          <a:prstGeom prst="rect">
            <a:avLst/>
          </a:prstGeom>
        </p:spPr>
      </p:pic>
    </p:spTree>
    <p:extLst>
      <p:ext uri="{BB962C8B-B14F-4D97-AF65-F5344CB8AC3E}">
        <p14:creationId xmlns:p14="http://schemas.microsoft.com/office/powerpoint/2010/main" val="2979916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4909" y="374073"/>
            <a:ext cx="11194473" cy="6109854"/>
          </a:xfrm>
        </p:spPr>
        <p:txBody>
          <a:bodyPr>
            <a:normAutofit fontScale="92500" lnSpcReduction="20000"/>
          </a:bodyPr>
          <a:lstStyle/>
          <a:p>
            <a:pPr marL="0" indent="0" algn="ctr">
              <a:buNone/>
            </a:pPr>
            <a:r>
              <a:rPr lang="en-US" sz="3600" b="1" dirty="0" smtClean="0">
                <a:solidFill>
                  <a:srgbClr val="C00000"/>
                </a:solidFill>
                <a:latin typeface="Times New Roman" panose="02020603050405020304" pitchFamily="18" charset="0"/>
                <a:cs typeface="Times New Roman" panose="02020603050405020304" pitchFamily="18" charset="0"/>
              </a:rPr>
              <a:t>MRP Outputs</a:t>
            </a: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Primary outputs</a:t>
            </a:r>
          </a:p>
          <a:p>
            <a:pPr marL="0" indent="0" algn="just">
              <a:buNone/>
            </a:pPr>
            <a:r>
              <a:rPr lang="en-US" dirty="0" smtClean="0">
                <a:solidFill>
                  <a:srgbClr val="0070C0"/>
                </a:solidFill>
                <a:latin typeface="Times New Roman" panose="02020603050405020304" pitchFamily="18" charset="0"/>
                <a:cs typeface="Times New Roman" panose="02020603050405020304" pitchFamily="18" charset="0"/>
              </a:rPr>
              <a:t>Planned order schedule </a:t>
            </a:r>
          </a:p>
          <a:p>
            <a:pPr marL="0" indent="0" algn="just">
              <a:buNone/>
            </a:pPr>
            <a:r>
              <a:rPr lang="en-US" dirty="0" smtClean="0">
                <a:solidFill>
                  <a:srgbClr val="002060"/>
                </a:solidFill>
                <a:latin typeface="Times New Roman" panose="02020603050405020304" pitchFamily="18" charset="0"/>
                <a:cs typeface="Times New Roman" panose="02020603050405020304" pitchFamily="18" charset="0"/>
              </a:rPr>
              <a:t>Used to determine future production and supply at suppliers end along with guide for in-house production schedule</a:t>
            </a:r>
          </a:p>
          <a:p>
            <a:pPr marL="0" indent="0" algn="just">
              <a:buNone/>
            </a:pPr>
            <a:r>
              <a:rPr lang="en-US" dirty="0" smtClean="0">
                <a:solidFill>
                  <a:srgbClr val="0070C0"/>
                </a:solidFill>
                <a:latin typeface="Times New Roman" panose="02020603050405020304" pitchFamily="18" charset="0"/>
                <a:cs typeface="Times New Roman" panose="02020603050405020304" pitchFamily="18" charset="0"/>
              </a:rPr>
              <a:t>Changes in planned orders</a:t>
            </a:r>
            <a:r>
              <a:rPr lang="en-US" dirty="0" smtClean="0">
                <a:solidFill>
                  <a:srgbClr val="002060"/>
                </a:solidFill>
                <a:latin typeface="Times New Roman" panose="02020603050405020304" pitchFamily="18" charset="0"/>
                <a:cs typeface="Times New Roman" panose="02020603050405020304" pitchFamily="18" charset="0"/>
              </a:rPr>
              <a:t> </a:t>
            </a:r>
          </a:p>
          <a:p>
            <a:pPr marL="0" indent="0" algn="just">
              <a:buNone/>
            </a:pPr>
            <a:r>
              <a:rPr lang="en-US" dirty="0">
                <a:solidFill>
                  <a:srgbClr val="002060"/>
                </a:solidFill>
                <a:latin typeface="Times New Roman" panose="02020603050405020304" pitchFamily="18" charset="0"/>
                <a:cs typeface="Times New Roman" panose="02020603050405020304" pitchFamily="18" charset="0"/>
              </a:rPr>
              <a:t>M</a:t>
            </a:r>
            <a:r>
              <a:rPr lang="en-US" dirty="0" smtClean="0">
                <a:solidFill>
                  <a:srgbClr val="002060"/>
                </a:solidFill>
                <a:latin typeface="Times New Roman" panose="02020603050405020304" pitchFamily="18" charset="0"/>
                <a:cs typeface="Times New Roman" panose="02020603050405020304" pitchFamily="18" charset="0"/>
              </a:rPr>
              <a:t>odification in previously planned orders</a:t>
            </a:r>
          </a:p>
          <a:p>
            <a:pPr marL="0" indent="0" algn="just">
              <a:buNone/>
            </a:pPr>
            <a:r>
              <a:rPr lang="en-US" dirty="0" smtClean="0">
                <a:solidFill>
                  <a:srgbClr val="C00000"/>
                </a:solidFill>
                <a:latin typeface="Times New Roman" panose="02020603050405020304" pitchFamily="18" charset="0"/>
                <a:cs typeface="Times New Roman" panose="02020603050405020304" pitchFamily="18" charset="0"/>
              </a:rPr>
              <a:t>Secondary outputs</a:t>
            </a:r>
          </a:p>
          <a:p>
            <a:pPr marL="0" indent="0" algn="just">
              <a:buNone/>
            </a:pPr>
            <a:r>
              <a:rPr lang="en-US" dirty="0" smtClean="0">
                <a:solidFill>
                  <a:srgbClr val="0070C0"/>
                </a:solidFill>
                <a:latin typeface="Times New Roman" panose="02020603050405020304" pitchFamily="18" charset="0"/>
                <a:cs typeface="Times New Roman" panose="02020603050405020304" pitchFamily="18" charset="0"/>
              </a:rPr>
              <a:t>Planning  report </a:t>
            </a:r>
          </a:p>
          <a:p>
            <a:pPr marL="0" indent="0" algn="just">
              <a:buNone/>
            </a:pPr>
            <a:r>
              <a:rPr lang="en-US" dirty="0">
                <a:solidFill>
                  <a:srgbClr val="002060"/>
                </a:solidFill>
                <a:latin typeface="Times New Roman" panose="02020603050405020304" pitchFamily="18" charset="0"/>
                <a:cs typeface="Times New Roman" panose="02020603050405020304" pitchFamily="18" charset="0"/>
              </a:rPr>
              <a:t>U</a:t>
            </a:r>
            <a:r>
              <a:rPr lang="en-US" dirty="0" smtClean="0">
                <a:solidFill>
                  <a:srgbClr val="002060"/>
                </a:solidFill>
                <a:latin typeface="Times New Roman" panose="02020603050405020304" pitchFamily="18" charset="0"/>
                <a:cs typeface="Times New Roman" panose="02020603050405020304" pitchFamily="18" charset="0"/>
              </a:rPr>
              <a:t>sed for future planning of inventory</a:t>
            </a:r>
          </a:p>
          <a:p>
            <a:pPr marL="0" indent="0" algn="just">
              <a:buNone/>
            </a:pPr>
            <a:r>
              <a:rPr lang="en-US" dirty="0" smtClean="0">
                <a:solidFill>
                  <a:srgbClr val="0070C0"/>
                </a:solidFill>
                <a:latin typeface="Times New Roman" panose="02020603050405020304" pitchFamily="18" charset="0"/>
                <a:cs typeface="Times New Roman" panose="02020603050405020304" pitchFamily="18" charset="0"/>
              </a:rPr>
              <a:t>Performance reports</a:t>
            </a:r>
          </a:p>
          <a:p>
            <a:pPr marL="0" indent="0" algn="just">
              <a:buNone/>
            </a:pPr>
            <a:r>
              <a:rPr lang="en-US" dirty="0">
                <a:solidFill>
                  <a:srgbClr val="002060"/>
                </a:solidFill>
                <a:latin typeface="Times New Roman" panose="02020603050405020304" pitchFamily="18" charset="0"/>
                <a:cs typeface="Times New Roman" panose="02020603050405020304" pitchFamily="18" charset="0"/>
              </a:rPr>
              <a:t>U</a:t>
            </a:r>
            <a:r>
              <a:rPr lang="en-US" dirty="0" smtClean="0">
                <a:solidFill>
                  <a:srgbClr val="002060"/>
                </a:solidFill>
                <a:latin typeface="Times New Roman" panose="02020603050405020304" pitchFamily="18" charset="0"/>
                <a:cs typeface="Times New Roman" panose="02020603050405020304" pitchFamily="18" charset="0"/>
              </a:rPr>
              <a:t>sed to determine agreement between actual and programmed usage and cost</a:t>
            </a:r>
          </a:p>
          <a:p>
            <a:pPr marL="0" indent="0" algn="just">
              <a:buNone/>
            </a:pPr>
            <a:r>
              <a:rPr lang="en-US" dirty="0" smtClean="0">
                <a:solidFill>
                  <a:srgbClr val="0070C0"/>
                </a:solidFill>
                <a:latin typeface="Times New Roman" panose="02020603050405020304" pitchFamily="18" charset="0"/>
                <a:cs typeface="Times New Roman" panose="02020603050405020304" pitchFamily="18" charset="0"/>
              </a:rPr>
              <a:t>Exception reports </a:t>
            </a:r>
          </a:p>
          <a:p>
            <a:pPr marL="0" indent="0" algn="just">
              <a:buNone/>
            </a:pPr>
            <a:r>
              <a:rPr lang="en-US" dirty="0">
                <a:solidFill>
                  <a:srgbClr val="002060"/>
                </a:solidFill>
                <a:latin typeface="Times New Roman" panose="02020603050405020304" pitchFamily="18" charset="0"/>
                <a:cs typeface="Times New Roman" panose="02020603050405020304" pitchFamily="18" charset="0"/>
              </a:rPr>
              <a:t>U</a:t>
            </a:r>
            <a:r>
              <a:rPr lang="en-US" dirty="0" smtClean="0">
                <a:solidFill>
                  <a:srgbClr val="002060"/>
                </a:solidFill>
                <a:latin typeface="Times New Roman" panose="02020603050405020304" pitchFamily="18" charset="0"/>
                <a:cs typeface="Times New Roman" panose="02020603050405020304" pitchFamily="18" charset="0"/>
              </a:rPr>
              <a:t>sed to point out serious discrepancies such as late or overdue orders</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32920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4691"/>
            <a:ext cx="10515600" cy="765959"/>
          </a:xfrm>
        </p:spPr>
        <p:txBody>
          <a:bodyPr>
            <a:normAutofit/>
          </a:bodyPr>
          <a:lstStyle/>
          <a:p>
            <a:pPr algn="ctr"/>
            <a:r>
              <a:rPr lang="en-US" sz="3600" b="1" dirty="0" smtClean="0">
                <a:solidFill>
                  <a:srgbClr val="C00000"/>
                </a:solidFill>
                <a:latin typeface="Times New Roman" panose="02020603050405020304" pitchFamily="18" charset="0"/>
                <a:cs typeface="Times New Roman" panose="02020603050405020304" pitchFamily="18" charset="0"/>
              </a:rPr>
              <a:t>Benefits of MRP</a:t>
            </a:r>
            <a:endParaRPr lang="en-IN" sz="36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68135" y="890650"/>
            <a:ext cx="11625943" cy="5286314"/>
          </a:xfrm>
        </p:spPr>
        <p:txBody>
          <a:bodyPr>
            <a:noAutofit/>
          </a:bodyPr>
          <a:lstStyle/>
          <a:p>
            <a:pPr algn="just"/>
            <a:r>
              <a:rPr lang="en-US" sz="2400" dirty="0" smtClean="0">
                <a:solidFill>
                  <a:srgbClr val="002060"/>
                </a:solidFill>
                <a:latin typeface="Times New Roman" panose="02020603050405020304" pitchFamily="18" charset="0"/>
                <a:cs typeface="Times New Roman" panose="02020603050405020304" pitchFamily="18" charset="0"/>
              </a:rPr>
              <a:t>Assurance that materials and components will be available when needed</a:t>
            </a:r>
          </a:p>
          <a:p>
            <a:pPr algn="just"/>
            <a:r>
              <a:rPr lang="en-US" sz="2400" dirty="0" smtClean="0">
                <a:solidFill>
                  <a:srgbClr val="002060"/>
                </a:solidFill>
                <a:latin typeface="Times New Roman" panose="02020603050405020304" pitchFamily="18" charset="0"/>
                <a:cs typeface="Times New Roman" panose="02020603050405020304" pitchFamily="18" charset="0"/>
              </a:rPr>
              <a:t>Minimized inventory levels and cost associated</a:t>
            </a:r>
          </a:p>
          <a:p>
            <a:pPr algn="just"/>
            <a:r>
              <a:rPr lang="en-US" sz="2400" dirty="0" smtClean="0">
                <a:solidFill>
                  <a:srgbClr val="002060"/>
                </a:solidFill>
                <a:latin typeface="Times New Roman" panose="02020603050405020304" pitchFamily="18" charset="0"/>
                <a:cs typeface="Times New Roman" panose="02020603050405020304" pitchFamily="18" charset="0"/>
              </a:rPr>
              <a:t>Optimized inventory management</a:t>
            </a:r>
          </a:p>
          <a:p>
            <a:pPr algn="just"/>
            <a:r>
              <a:rPr lang="en-US" sz="2400" dirty="0" smtClean="0">
                <a:solidFill>
                  <a:srgbClr val="002060"/>
                </a:solidFill>
                <a:latin typeface="Times New Roman" panose="02020603050405020304" pitchFamily="18" charset="0"/>
                <a:cs typeface="Times New Roman" panose="02020603050405020304" pitchFamily="18" charset="0"/>
              </a:rPr>
              <a:t>Reduced customer lead times</a:t>
            </a:r>
          </a:p>
          <a:p>
            <a:pPr algn="just"/>
            <a:r>
              <a:rPr lang="en-US" sz="2400" dirty="0" smtClean="0">
                <a:solidFill>
                  <a:srgbClr val="002060"/>
                </a:solidFill>
                <a:latin typeface="Times New Roman" panose="02020603050405020304" pitchFamily="18" charset="0"/>
                <a:cs typeface="Times New Roman" panose="02020603050405020304" pitchFamily="18" charset="0"/>
              </a:rPr>
              <a:t>Increased manufacturing efficiency by using accurate production planning and scheduling</a:t>
            </a:r>
          </a:p>
          <a:p>
            <a:pPr algn="just"/>
            <a:r>
              <a:rPr lang="en-US" sz="2400" dirty="0" smtClean="0">
                <a:solidFill>
                  <a:srgbClr val="002060"/>
                </a:solidFill>
                <a:latin typeface="Times New Roman" panose="02020603050405020304" pitchFamily="18" charset="0"/>
                <a:cs typeface="Times New Roman" panose="02020603050405020304" pitchFamily="18" charset="0"/>
              </a:rPr>
              <a:t>Ensure effective capacity utilization</a:t>
            </a:r>
          </a:p>
          <a:p>
            <a:pPr algn="just"/>
            <a:r>
              <a:rPr lang="en-US" sz="2400" dirty="0" smtClean="0">
                <a:solidFill>
                  <a:srgbClr val="002060"/>
                </a:solidFill>
                <a:latin typeface="Times New Roman" panose="02020603050405020304" pitchFamily="18" charset="0"/>
                <a:cs typeface="Times New Roman" panose="02020603050405020304" pitchFamily="18" charset="0"/>
              </a:rPr>
              <a:t>Increased overall customer satisfaction</a:t>
            </a:r>
          </a:p>
          <a:p>
            <a:pPr algn="just"/>
            <a:r>
              <a:rPr lang="en-US" sz="2400" dirty="0" smtClean="0">
                <a:solidFill>
                  <a:srgbClr val="002060"/>
                </a:solidFill>
                <a:latin typeface="Times New Roman" panose="02020603050405020304" pitchFamily="18" charset="0"/>
                <a:cs typeface="Times New Roman" panose="02020603050405020304" pitchFamily="18" charset="0"/>
              </a:rPr>
              <a:t>Reduce purchasing cost</a:t>
            </a:r>
          </a:p>
          <a:p>
            <a:pPr algn="just"/>
            <a:r>
              <a:rPr lang="en-US" sz="2400" dirty="0" smtClean="0">
                <a:solidFill>
                  <a:srgbClr val="002060"/>
                </a:solidFill>
                <a:latin typeface="Times New Roman" panose="02020603050405020304" pitchFamily="18" charset="0"/>
                <a:cs typeface="Times New Roman" panose="02020603050405020304" pitchFamily="18" charset="0"/>
              </a:rPr>
              <a:t>Less scrap and rework</a:t>
            </a:r>
          </a:p>
          <a:p>
            <a:pPr algn="just"/>
            <a:r>
              <a:rPr lang="en-US" sz="2400" dirty="0" smtClean="0">
                <a:solidFill>
                  <a:srgbClr val="002060"/>
                </a:solidFill>
                <a:latin typeface="Times New Roman" panose="02020603050405020304" pitchFamily="18" charset="0"/>
                <a:cs typeface="Times New Roman" panose="02020603050405020304" pitchFamily="18" charset="0"/>
              </a:rPr>
              <a:t>Reduce manufacturing cost</a:t>
            </a:r>
          </a:p>
          <a:p>
            <a:pPr algn="just"/>
            <a:r>
              <a:rPr lang="en-US" sz="2400" dirty="0" smtClean="0">
                <a:solidFill>
                  <a:srgbClr val="002060"/>
                </a:solidFill>
                <a:latin typeface="Times New Roman" panose="02020603050405020304" pitchFamily="18" charset="0"/>
                <a:cs typeface="Times New Roman" panose="02020603050405020304" pitchFamily="18" charset="0"/>
              </a:rPr>
              <a:t>Increase productivity</a:t>
            </a:r>
          </a:p>
          <a:p>
            <a:pPr algn="just"/>
            <a:r>
              <a:rPr lang="en-US" sz="2400" dirty="0" smtClean="0">
                <a:solidFill>
                  <a:srgbClr val="002060"/>
                </a:solidFill>
                <a:latin typeface="Times New Roman" panose="02020603050405020304" pitchFamily="18" charset="0"/>
                <a:cs typeface="Times New Roman" panose="02020603050405020304" pitchFamily="18" charset="0"/>
              </a:rPr>
              <a:t>Improve production and supply schedule</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0906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4906"/>
          </a:xfrm>
        </p:spPr>
        <p:txBody>
          <a:bodyPr>
            <a:normAutofit/>
          </a:bodyPr>
          <a:lstStyle/>
          <a:p>
            <a:pPr algn="ctr"/>
            <a:r>
              <a:rPr lang="en-US" sz="3600" b="1" dirty="0" smtClean="0">
                <a:solidFill>
                  <a:srgbClr val="C00000"/>
                </a:solidFill>
                <a:latin typeface="Times New Roman" panose="02020603050405020304" pitchFamily="18" charset="0"/>
                <a:cs typeface="Times New Roman" panose="02020603050405020304" pitchFamily="18" charset="0"/>
              </a:rPr>
              <a:t>Disadvantages of MRP</a:t>
            </a:r>
            <a:endParaRPr lang="en-IN" sz="3600" b="1"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40032"/>
            <a:ext cx="10515600" cy="5036931"/>
          </a:xfrm>
        </p:spPr>
        <p:txBody>
          <a:bodyPr>
            <a:normAutofit/>
          </a:bodyPr>
          <a:lstStyle/>
          <a:p>
            <a:pPr algn="just"/>
            <a:r>
              <a:rPr lang="en-US" sz="2400" dirty="0" smtClean="0">
                <a:solidFill>
                  <a:srgbClr val="002060"/>
                </a:solidFill>
                <a:latin typeface="Times New Roman" panose="02020603050405020304" pitchFamily="18" charset="0"/>
                <a:cs typeface="Times New Roman" panose="02020603050405020304" pitchFamily="18" charset="0"/>
              </a:rPr>
              <a:t>MRP systems can often difficult and expensive to implement</a:t>
            </a:r>
          </a:p>
          <a:p>
            <a:pPr algn="just"/>
            <a:r>
              <a:rPr lang="en-US" sz="2400" dirty="0" smtClean="0">
                <a:solidFill>
                  <a:srgbClr val="002060"/>
                </a:solidFill>
                <a:latin typeface="Times New Roman" panose="02020603050405020304" pitchFamily="18" charset="0"/>
                <a:cs typeface="Times New Roman" panose="02020603050405020304" pitchFamily="18" charset="0"/>
              </a:rPr>
              <a:t>Lack of flexibility</a:t>
            </a:r>
          </a:p>
          <a:p>
            <a:pPr algn="just"/>
            <a:r>
              <a:rPr lang="en-US" sz="2400" dirty="0" smtClean="0">
                <a:solidFill>
                  <a:srgbClr val="002060"/>
                </a:solidFill>
                <a:latin typeface="Times New Roman" panose="02020603050405020304" pitchFamily="18" charset="0"/>
                <a:cs typeface="Times New Roman" panose="02020603050405020304" pitchFamily="18" charset="0"/>
              </a:rPr>
              <a:t>Highly dependent on accurate information about key inputs</a:t>
            </a:r>
          </a:p>
          <a:p>
            <a:pPr algn="just"/>
            <a:r>
              <a:rPr lang="en-US" sz="2400" dirty="0" smtClean="0">
                <a:solidFill>
                  <a:srgbClr val="002060"/>
                </a:solidFill>
                <a:latin typeface="Times New Roman" panose="02020603050405020304" pitchFamily="18" charset="0"/>
                <a:cs typeface="Times New Roman" panose="02020603050405020304" pitchFamily="18" charset="0"/>
              </a:rPr>
              <a:t>Gives wrong   estimates of materials requirement if one or two inputs are inaccurate</a:t>
            </a:r>
          </a:p>
          <a:p>
            <a:pPr algn="just"/>
            <a:r>
              <a:rPr lang="en-US" sz="2400" dirty="0" smtClean="0">
                <a:solidFill>
                  <a:srgbClr val="002060"/>
                </a:solidFill>
                <a:latin typeface="Times New Roman" panose="02020603050405020304" pitchFamily="18" charset="0"/>
                <a:cs typeface="Times New Roman" panose="02020603050405020304" pitchFamily="18" charset="0"/>
              </a:rPr>
              <a:t>While MRP designed for inventory control companies are tempted to hold more inventory than is necessary.</a:t>
            </a:r>
          </a:p>
        </p:txBody>
      </p:sp>
    </p:spTree>
    <p:extLst>
      <p:ext uri="{BB962C8B-B14F-4D97-AF65-F5344CB8AC3E}">
        <p14:creationId xmlns:p14="http://schemas.microsoft.com/office/powerpoint/2010/main" val="10356376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40327"/>
            <a:ext cx="10515600" cy="5846618"/>
          </a:xfrm>
        </p:spPr>
        <p:txBody>
          <a:bodyPr/>
          <a:lstStyle/>
          <a:p>
            <a:pPr algn="just"/>
            <a:r>
              <a:rPr lang="en-US" dirty="0">
                <a:solidFill>
                  <a:srgbClr val="002060"/>
                </a:solidFill>
                <a:latin typeface="Times New Roman" panose="02020603050405020304" pitchFamily="18" charset="0"/>
                <a:cs typeface="Times New Roman" panose="02020603050405020304" pitchFamily="18" charset="0"/>
              </a:rPr>
              <a:t>Inaccuracy in supplier’s lead time – MRP heavily depends on correctness of lead time data.</a:t>
            </a:r>
          </a:p>
          <a:p>
            <a:pPr algn="just"/>
            <a:r>
              <a:rPr lang="en-US" dirty="0">
                <a:solidFill>
                  <a:srgbClr val="002060"/>
                </a:solidFill>
                <a:latin typeface="Times New Roman" panose="02020603050405020304" pitchFamily="18" charset="0"/>
                <a:cs typeface="Times New Roman" panose="02020603050405020304" pitchFamily="18" charset="0"/>
              </a:rPr>
              <a:t>Inaccuracy in inventory data- Miscounting, unaccounted scrap, items lost in transit</a:t>
            </a:r>
          </a:p>
          <a:p>
            <a:pPr algn="just"/>
            <a:r>
              <a:rPr lang="en-US" dirty="0">
                <a:solidFill>
                  <a:srgbClr val="002060"/>
                </a:solidFill>
                <a:latin typeface="Times New Roman" panose="02020603050405020304" pitchFamily="18" charset="0"/>
                <a:cs typeface="Times New Roman" panose="02020603050405020304" pitchFamily="18" charset="0"/>
              </a:rPr>
              <a:t>Inaccuracy in manufacturing lead time- Change in customers demand , changes in workload of factory</a:t>
            </a:r>
          </a:p>
          <a:p>
            <a:pPr algn="just"/>
            <a:r>
              <a:rPr lang="en-US" dirty="0">
                <a:solidFill>
                  <a:srgbClr val="002060"/>
                </a:solidFill>
                <a:latin typeface="Times New Roman" panose="02020603050405020304" pitchFamily="18" charset="0"/>
                <a:cs typeface="Times New Roman" panose="02020603050405020304" pitchFamily="18" charset="0"/>
              </a:rPr>
              <a:t>Inaccuracy in BOM structure- Changes in design, component substitution without recording</a:t>
            </a:r>
          </a:p>
          <a:p>
            <a:pPr marL="0" indent="0">
              <a:buNone/>
            </a:pPr>
            <a:endParaRPr lang="en-IN" dirty="0">
              <a:solidFill>
                <a:srgbClr val="002060"/>
              </a:solidFill>
            </a:endParaRPr>
          </a:p>
          <a:p>
            <a:endParaRPr lang="en-IN" dirty="0"/>
          </a:p>
        </p:txBody>
      </p:sp>
    </p:spTree>
    <p:extLst>
      <p:ext uri="{BB962C8B-B14F-4D97-AF65-F5344CB8AC3E}">
        <p14:creationId xmlns:p14="http://schemas.microsoft.com/office/powerpoint/2010/main" val="13814114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6255" y="318655"/>
            <a:ext cx="11187545" cy="6262254"/>
          </a:xfrm>
        </p:spPr>
        <p:txBody>
          <a:bodyPr>
            <a:normAutofit/>
          </a:bodyPr>
          <a:lstStyle/>
          <a:p>
            <a:pPr marL="0" indent="0" algn="ctr">
              <a:buNone/>
            </a:pPr>
            <a:r>
              <a:rPr lang="en-US" sz="3200" dirty="0" smtClean="0">
                <a:solidFill>
                  <a:srgbClr val="002060"/>
                </a:solidFill>
                <a:latin typeface="Times New Roman" panose="02020603050405020304" pitchFamily="18" charset="0"/>
                <a:cs typeface="Times New Roman" panose="02020603050405020304" pitchFamily="18" charset="0"/>
              </a:rPr>
              <a:t>MRP Example</a:t>
            </a:r>
          </a:p>
          <a:p>
            <a:pPr marL="0" indent="0" algn="ctr">
              <a:buNone/>
            </a:pPr>
            <a:endParaRPr lang="en-IN" sz="3200" dirty="0">
              <a:solidFill>
                <a:srgbClr val="00206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66255" y="817418"/>
            <a:ext cx="11526981" cy="5597238"/>
          </a:xfrm>
          <a:prstGeom prst="rect">
            <a:avLst/>
          </a:prstGeom>
        </p:spPr>
      </p:pic>
    </p:spTree>
    <p:extLst>
      <p:ext uri="{BB962C8B-B14F-4D97-AF65-F5344CB8AC3E}">
        <p14:creationId xmlns:p14="http://schemas.microsoft.com/office/powerpoint/2010/main" val="23954527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5854" y="277091"/>
            <a:ext cx="11083637" cy="6470074"/>
          </a:xfrm>
        </p:spPr>
      </p:pic>
    </p:spTree>
    <p:extLst>
      <p:ext uri="{BB962C8B-B14F-4D97-AF65-F5344CB8AC3E}">
        <p14:creationId xmlns:p14="http://schemas.microsoft.com/office/powerpoint/2010/main" val="894989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29491" y="263237"/>
            <a:ext cx="10688565" cy="2840182"/>
          </a:xfrm>
          <a:prstGeom prst="rect">
            <a:avLst/>
          </a:prstGeom>
        </p:spPr>
      </p:pic>
    </p:spTree>
    <p:extLst>
      <p:ext uri="{BB962C8B-B14F-4D97-AF65-F5344CB8AC3E}">
        <p14:creationId xmlns:p14="http://schemas.microsoft.com/office/powerpoint/2010/main" val="7255042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00050" y="342900"/>
            <a:ext cx="11001375" cy="6115050"/>
          </a:xfrm>
          <a:prstGeom prst="rect">
            <a:avLst/>
          </a:prstGeom>
        </p:spPr>
      </p:pic>
    </p:spTree>
    <p:extLst>
      <p:ext uri="{BB962C8B-B14F-4D97-AF65-F5344CB8AC3E}">
        <p14:creationId xmlns:p14="http://schemas.microsoft.com/office/powerpoint/2010/main" val="4542936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00088" y="185738"/>
            <a:ext cx="10829925" cy="6115050"/>
          </a:xfrm>
          <a:prstGeom prst="rect">
            <a:avLst/>
          </a:prstGeom>
        </p:spPr>
      </p:pic>
    </p:spTree>
    <p:extLst>
      <p:ext uri="{BB962C8B-B14F-4D97-AF65-F5344CB8AC3E}">
        <p14:creationId xmlns:p14="http://schemas.microsoft.com/office/powerpoint/2010/main" val="7060316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85801" y="431006"/>
            <a:ext cx="10844212" cy="5657850"/>
          </a:xfrm>
          <a:prstGeom prst="rect">
            <a:avLst/>
          </a:prstGeom>
        </p:spPr>
      </p:pic>
    </p:spTree>
    <p:extLst>
      <p:ext uri="{BB962C8B-B14F-4D97-AF65-F5344CB8AC3E}">
        <p14:creationId xmlns:p14="http://schemas.microsoft.com/office/powerpoint/2010/main" val="4170654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rcRect r="815" b="-1647"/>
          <a:stretch/>
        </p:blipFill>
        <p:spPr>
          <a:xfrm>
            <a:off x="300039" y="314325"/>
            <a:ext cx="11115674" cy="6172199"/>
          </a:xfrm>
          <a:prstGeom prst="rect">
            <a:avLst/>
          </a:prstGeom>
        </p:spPr>
      </p:pic>
    </p:spTree>
    <p:extLst>
      <p:ext uri="{BB962C8B-B14F-4D97-AF65-F5344CB8AC3E}">
        <p14:creationId xmlns:p14="http://schemas.microsoft.com/office/powerpoint/2010/main" val="42454802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714374" y="328613"/>
            <a:ext cx="10829925" cy="5972175"/>
          </a:xfrm>
          <a:prstGeom prst="rect">
            <a:avLst/>
          </a:prstGeom>
        </p:spPr>
      </p:pic>
    </p:spTree>
    <p:extLst>
      <p:ext uri="{BB962C8B-B14F-4D97-AF65-F5344CB8AC3E}">
        <p14:creationId xmlns:p14="http://schemas.microsoft.com/office/powerpoint/2010/main" val="13218678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0657" y="199176"/>
            <a:ext cx="11543169" cy="6364586"/>
          </a:xfrm>
        </p:spPr>
        <p:txBody>
          <a:bodyPr>
            <a:normAutofit/>
          </a:bodyPr>
          <a:lstStyle/>
          <a:p>
            <a:pPr marL="0" indent="0" algn="ctr" fontAlgn="base">
              <a:buNone/>
            </a:pPr>
            <a:r>
              <a:rPr lang="en-US" b="1" dirty="0">
                <a:solidFill>
                  <a:srgbClr val="C00000"/>
                </a:solidFill>
                <a:latin typeface="Times New Roman" panose="02020603050405020304" pitchFamily="18" charset="0"/>
                <a:cs typeface="Times New Roman" panose="02020603050405020304" pitchFamily="18" charset="0"/>
              </a:rPr>
              <a:t>Who Can Use an MRP System?</a:t>
            </a:r>
          </a:p>
          <a:p>
            <a:pPr algn="just" fontAlgn="base"/>
            <a:r>
              <a:rPr lang="en-US" dirty="0">
                <a:solidFill>
                  <a:srgbClr val="002060"/>
                </a:solidFill>
                <a:latin typeface="Times New Roman" panose="02020603050405020304" pitchFamily="18" charset="0"/>
                <a:cs typeface="Times New Roman" panose="02020603050405020304" pitchFamily="18" charset="0"/>
              </a:rPr>
              <a:t>Although most of us believe that MRP is a function that only applies to manufacturers, the word “manufacturer” can be broad. In MRP, a manufacturer is an organization that acquires goods or materials and transforms them to create a different product that consumers can buy. As a result, many businesses use MRP systems. This include:</a:t>
            </a:r>
          </a:p>
          <a:p>
            <a:pPr algn="just"/>
            <a:r>
              <a:rPr lang="en-US" dirty="0">
                <a:solidFill>
                  <a:srgbClr val="002060"/>
                </a:solidFill>
                <a:latin typeface="Times New Roman" panose="02020603050405020304" pitchFamily="18" charset="0"/>
                <a:cs typeface="Times New Roman" panose="02020603050405020304" pitchFamily="18" charset="0"/>
              </a:rPr>
              <a:t>Warehouses that package or assemble collections of items into “kits” or combinations for resale as a whole.</a:t>
            </a:r>
          </a:p>
          <a:p>
            <a:pPr algn="just"/>
            <a:r>
              <a:rPr lang="en-US" dirty="0">
                <a:solidFill>
                  <a:srgbClr val="002060"/>
                </a:solidFill>
                <a:latin typeface="Times New Roman" panose="02020603050405020304" pitchFamily="18" charset="0"/>
                <a:cs typeface="Times New Roman" panose="02020603050405020304" pitchFamily="18" charset="0"/>
              </a:rPr>
              <a:t>Companies that manufacture a single product in large quantities, such as cars or appliances.</a:t>
            </a:r>
          </a:p>
          <a:p>
            <a:pPr algn="just"/>
            <a:r>
              <a:rPr lang="en-US" dirty="0">
                <a:solidFill>
                  <a:srgbClr val="002060"/>
                </a:solidFill>
                <a:latin typeface="Times New Roman" panose="02020603050405020304" pitchFamily="18" charset="0"/>
                <a:cs typeface="Times New Roman" panose="02020603050405020304" pitchFamily="18" charset="0"/>
              </a:rPr>
              <a:t>Businesses that make products with long production times, such as boats or airplanes.</a:t>
            </a:r>
          </a:p>
          <a:p>
            <a:pPr algn="just"/>
            <a:r>
              <a:rPr lang="en-US" dirty="0">
                <a:solidFill>
                  <a:srgbClr val="002060"/>
                </a:solidFill>
                <a:latin typeface="Times New Roman" panose="02020603050405020304" pitchFamily="18" charset="0"/>
                <a:cs typeface="Times New Roman" panose="02020603050405020304" pitchFamily="18" charset="0"/>
              </a:rPr>
              <a:t>Custom manufacturers that make products to customer specifications.</a:t>
            </a:r>
          </a:p>
          <a:p>
            <a:pPr algn="just"/>
            <a:r>
              <a:rPr lang="en-US" dirty="0">
                <a:solidFill>
                  <a:srgbClr val="002060"/>
                </a:solidFill>
                <a:latin typeface="Times New Roman" panose="02020603050405020304" pitchFamily="18" charset="0"/>
                <a:cs typeface="Times New Roman" panose="02020603050405020304" pitchFamily="18" charset="0"/>
              </a:rPr>
              <a:t>Job shops that make products in small batches or one at a time.</a:t>
            </a:r>
          </a:p>
          <a:p>
            <a:pPr marL="0" indent="0">
              <a:buNone/>
            </a:pPr>
            <a:endParaRPr lang="en-IN" dirty="0"/>
          </a:p>
        </p:txBody>
      </p:sp>
    </p:spTree>
    <p:extLst>
      <p:ext uri="{BB962C8B-B14F-4D97-AF65-F5344CB8AC3E}">
        <p14:creationId xmlns:p14="http://schemas.microsoft.com/office/powerpoint/2010/main" val="24704495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8764" y="334978"/>
            <a:ext cx="11055036" cy="5841985"/>
          </a:xfrm>
        </p:spPr>
        <p:txBody>
          <a:bodyPr/>
          <a:lstStyle/>
          <a:p>
            <a:pPr marL="0" indent="0" algn="just" fontAlgn="base">
              <a:buNone/>
            </a:pPr>
            <a:r>
              <a:rPr lang="en-US" dirty="0">
                <a:solidFill>
                  <a:srgbClr val="002060"/>
                </a:solidFill>
                <a:latin typeface="Times New Roman" panose="02020603050405020304" pitchFamily="18" charset="0"/>
                <a:cs typeface="Times New Roman" panose="02020603050405020304" pitchFamily="18" charset="0"/>
              </a:rPr>
              <a:t>Service providers also use MRP systems, though not as commonly as manufacturing. Service providers that may use an MRP system include:</a:t>
            </a:r>
          </a:p>
          <a:p>
            <a:pPr algn="just"/>
            <a:r>
              <a:rPr lang="en-US" dirty="0">
                <a:solidFill>
                  <a:srgbClr val="002060"/>
                </a:solidFill>
                <a:latin typeface="Times New Roman" panose="02020603050405020304" pitchFamily="18" charset="0"/>
                <a:cs typeface="Times New Roman" panose="02020603050405020304" pitchFamily="18" charset="0"/>
              </a:rPr>
              <a:t>Hospital and other medical facilities for managing inventory of medical supplies.</a:t>
            </a:r>
          </a:p>
          <a:p>
            <a:pPr algn="just"/>
            <a:r>
              <a:rPr lang="en-US" dirty="0">
                <a:solidFill>
                  <a:srgbClr val="002060"/>
                </a:solidFill>
                <a:latin typeface="Times New Roman" panose="02020603050405020304" pitchFamily="18" charset="0"/>
                <a:cs typeface="Times New Roman" panose="02020603050405020304" pitchFamily="18" charset="0"/>
              </a:rPr>
              <a:t>Law firms for tracking list of office supplies.</a:t>
            </a:r>
          </a:p>
          <a:p>
            <a:pPr algn="just"/>
            <a:r>
              <a:rPr lang="en-US" dirty="0">
                <a:solidFill>
                  <a:srgbClr val="002060"/>
                </a:solidFill>
                <a:latin typeface="Times New Roman" panose="02020603050405020304" pitchFamily="18" charset="0"/>
                <a:cs typeface="Times New Roman" panose="02020603050405020304" pitchFamily="18" charset="0"/>
              </a:rPr>
              <a:t>Printing companies for managing a list of paper and other printing supplies.</a:t>
            </a:r>
          </a:p>
          <a:p>
            <a:pPr algn="just"/>
            <a:r>
              <a:rPr lang="en-US" dirty="0">
                <a:solidFill>
                  <a:srgbClr val="002060"/>
                </a:solidFill>
                <a:latin typeface="Times New Roman" panose="02020603050405020304" pitchFamily="18" charset="0"/>
                <a:cs typeface="Times New Roman" panose="02020603050405020304" pitchFamily="18" charset="0"/>
              </a:rPr>
              <a:t>Advertising agencies for maintaining a list of media materials.</a:t>
            </a:r>
          </a:p>
          <a:p>
            <a:pPr marL="0" indent="0">
              <a:buNone/>
            </a:pPr>
            <a:endParaRPr lang="en-IN" dirty="0">
              <a:solidFill>
                <a:srgbClr val="002060"/>
              </a:solidFill>
            </a:endParaRPr>
          </a:p>
        </p:txBody>
      </p:sp>
    </p:spTree>
    <p:extLst>
      <p:ext uri="{BB962C8B-B14F-4D97-AF65-F5344CB8AC3E}">
        <p14:creationId xmlns:p14="http://schemas.microsoft.com/office/powerpoint/2010/main" val="8605003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945" y="277091"/>
            <a:ext cx="11062855" cy="5899872"/>
          </a:xfrm>
        </p:spPr>
        <p:txBody>
          <a:bodyPr/>
          <a:lstStyle/>
          <a:p>
            <a:pPr marL="0" indent="0" algn="ctr">
              <a:buNone/>
            </a:pPr>
            <a:r>
              <a:rPr lang="en-US" sz="3600" b="1" dirty="0" smtClean="0">
                <a:solidFill>
                  <a:srgbClr val="C00000"/>
                </a:solidFill>
                <a:latin typeface="Times New Roman" panose="02020603050405020304" pitchFamily="18" charset="0"/>
                <a:cs typeface="Times New Roman" panose="02020603050405020304" pitchFamily="18" charset="0"/>
              </a:rPr>
              <a:t>Conclusion</a:t>
            </a:r>
          </a:p>
          <a:p>
            <a:pPr marL="0" indent="0" algn="just">
              <a:buNone/>
            </a:pPr>
            <a:r>
              <a:rPr lang="en-US" i="1" dirty="0" smtClean="0">
                <a:solidFill>
                  <a:srgbClr val="0070C0"/>
                </a:solidFill>
                <a:latin typeface="Bahnschrift SemiBold SemiConden" panose="020B0502040204020203" pitchFamily="34" charset="0"/>
                <a:cs typeface="Times New Roman" panose="02020603050405020304" pitchFamily="18" charset="0"/>
              </a:rPr>
              <a:t>MRP is a….</a:t>
            </a:r>
          </a:p>
          <a:p>
            <a:pPr marL="0" indent="0" algn="just">
              <a:buNone/>
            </a:pPr>
            <a:r>
              <a:rPr lang="en-US" i="1" dirty="0">
                <a:solidFill>
                  <a:srgbClr val="0070C0"/>
                </a:solidFill>
                <a:latin typeface="Bahnschrift SemiBold SemiConden" panose="020B0502040204020203" pitchFamily="34" charset="0"/>
                <a:cs typeface="Times New Roman" panose="02020603050405020304" pitchFamily="18" charset="0"/>
              </a:rPr>
              <a:t> </a:t>
            </a:r>
            <a:r>
              <a:rPr lang="en-US" i="1" dirty="0" smtClean="0">
                <a:solidFill>
                  <a:srgbClr val="0070C0"/>
                </a:solidFill>
                <a:latin typeface="Bahnschrift SemiBold SemiConden" panose="020B0502040204020203" pitchFamily="34" charset="0"/>
                <a:cs typeface="Times New Roman" panose="02020603050405020304" pitchFamily="18" charset="0"/>
              </a:rPr>
              <a:t>   Computerized inventory control </a:t>
            </a:r>
          </a:p>
          <a:p>
            <a:pPr marL="0" indent="0" algn="just">
              <a:buNone/>
            </a:pPr>
            <a:r>
              <a:rPr lang="en-US" i="1" dirty="0">
                <a:solidFill>
                  <a:srgbClr val="0070C0"/>
                </a:solidFill>
                <a:latin typeface="Bahnschrift SemiBold SemiConden" panose="020B0502040204020203" pitchFamily="34" charset="0"/>
                <a:cs typeface="Times New Roman" panose="02020603050405020304" pitchFamily="18" charset="0"/>
              </a:rPr>
              <a:t> </a:t>
            </a:r>
            <a:r>
              <a:rPr lang="en-US" i="1" dirty="0" smtClean="0">
                <a:solidFill>
                  <a:srgbClr val="0070C0"/>
                </a:solidFill>
                <a:latin typeface="Bahnschrift SemiBold SemiConden" panose="020B0502040204020203" pitchFamily="34" charset="0"/>
                <a:cs typeface="Times New Roman" panose="02020603050405020304" pitchFamily="18" charset="0"/>
              </a:rPr>
              <a:t>   Production planning system</a:t>
            </a:r>
          </a:p>
          <a:p>
            <a:pPr marL="0" indent="0" algn="just">
              <a:buNone/>
            </a:pPr>
            <a:r>
              <a:rPr lang="en-US" i="1" dirty="0" smtClean="0">
                <a:solidFill>
                  <a:srgbClr val="0070C0"/>
                </a:solidFill>
                <a:latin typeface="Bahnschrift SemiBold SemiConden" panose="020B0502040204020203" pitchFamily="34" charset="0"/>
                <a:cs typeface="Times New Roman" panose="02020603050405020304" pitchFamily="18" charset="0"/>
              </a:rPr>
              <a:t>That….</a:t>
            </a:r>
          </a:p>
          <a:p>
            <a:pPr marL="0" indent="0" algn="just">
              <a:buNone/>
            </a:pPr>
            <a:r>
              <a:rPr lang="en-US" i="1" dirty="0">
                <a:solidFill>
                  <a:srgbClr val="0070C0"/>
                </a:solidFill>
                <a:latin typeface="Bahnschrift SemiBold SemiConden" panose="020B0502040204020203" pitchFamily="34" charset="0"/>
                <a:cs typeface="Times New Roman" panose="02020603050405020304" pitchFamily="18" charset="0"/>
              </a:rPr>
              <a:t> </a:t>
            </a:r>
            <a:r>
              <a:rPr lang="en-US" i="1" dirty="0" smtClean="0">
                <a:solidFill>
                  <a:srgbClr val="0070C0"/>
                </a:solidFill>
                <a:latin typeface="Bahnschrift SemiBold SemiConden" panose="020B0502040204020203" pitchFamily="34" charset="0"/>
                <a:cs typeface="Times New Roman" panose="02020603050405020304" pitchFamily="18" charset="0"/>
              </a:rPr>
              <a:t>  Schedules components as needed</a:t>
            </a:r>
          </a:p>
          <a:p>
            <a:pPr marL="0" indent="0" algn="just">
              <a:buNone/>
            </a:pPr>
            <a:r>
              <a:rPr lang="en-US" i="1" dirty="0" smtClean="0">
                <a:solidFill>
                  <a:srgbClr val="0070C0"/>
                </a:solidFill>
                <a:latin typeface="Bahnschrift SemiBold SemiConden" panose="020B0502040204020203" pitchFamily="34" charset="0"/>
                <a:cs typeface="Times New Roman" panose="02020603050405020304" pitchFamily="18" charset="0"/>
              </a:rPr>
              <a:t>Which will</a:t>
            </a:r>
          </a:p>
          <a:p>
            <a:pPr marL="0" indent="0" algn="just">
              <a:buNone/>
            </a:pPr>
            <a:r>
              <a:rPr lang="en-US" i="1" dirty="0">
                <a:solidFill>
                  <a:srgbClr val="0070C0"/>
                </a:solidFill>
                <a:latin typeface="Bahnschrift SemiBold SemiConden" panose="020B0502040204020203" pitchFamily="34" charset="0"/>
                <a:cs typeface="Times New Roman" panose="02020603050405020304" pitchFamily="18" charset="0"/>
              </a:rPr>
              <a:t> </a:t>
            </a:r>
            <a:r>
              <a:rPr lang="en-US" i="1" dirty="0" smtClean="0">
                <a:solidFill>
                  <a:srgbClr val="0070C0"/>
                </a:solidFill>
                <a:latin typeface="Bahnschrift SemiBold SemiConden" panose="020B0502040204020203" pitchFamily="34" charset="0"/>
                <a:cs typeface="Times New Roman" panose="02020603050405020304" pitchFamily="18" charset="0"/>
              </a:rPr>
              <a:t> Track inventory and….</a:t>
            </a:r>
          </a:p>
          <a:p>
            <a:pPr marL="0" indent="0" algn="just">
              <a:buNone/>
            </a:pPr>
            <a:r>
              <a:rPr lang="en-US" i="1" dirty="0">
                <a:solidFill>
                  <a:srgbClr val="0070C0"/>
                </a:solidFill>
                <a:latin typeface="Bahnschrift SemiBold SemiConden" panose="020B0502040204020203" pitchFamily="34" charset="0"/>
                <a:cs typeface="Times New Roman" panose="02020603050405020304" pitchFamily="18" charset="0"/>
              </a:rPr>
              <a:t> </a:t>
            </a:r>
            <a:r>
              <a:rPr lang="en-US" i="1" dirty="0" smtClean="0">
                <a:solidFill>
                  <a:srgbClr val="0070C0"/>
                </a:solidFill>
                <a:latin typeface="Bahnschrift SemiBold SemiConden" panose="020B0502040204020203" pitchFamily="34" charset="0"/>
                <a:cs typeface="Times New Roman" panose="02020603050405020304" pitchFamily="18" charset="0"/>
              </a:rPr>
              <a:t>  Help a company in many other aspects of business</a:t>
            </a:r>
            <a:endParaRPr lang="en-IN" i="1" dirty="0">
              <a:solidFill>
                <a:srgbClr val="0070C0"/>
              </a:solidFill>
              <a:latin typeface="Bahnschrift SemiBold SemiConden"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13151435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4855" y="484910"/>
            <a:ext cx="10515600" cy="5498090"/>
          </a:xfrm>
        </p:spPr>
        <p:txBody>
          <a:bodyPr/>
          <a:lstStyle/>
          <a:p>
            <a:pPr marL="0" indent="0" algn="ctr">
              <a:buNone/>
            </a:pPr>
            <a:r>
              <a:rPr lang="en-US" sz="3600" b="1" dirty="0" smtClean="0">
                <a:solidFill>
                  <a:srgbClr val="C00000"/>
                </a:solidFill>
                <a:latin typeface="Times New Roman" panose="02020603050405020304" pitchFamily="18" charset="0"/>
                <a:cs typeface="Times New Roman" panose="02020603050405020304" pitchFamily="18" charset="0"/>
              </a:rPr>
              <a:t>Conclusion</a:t>
            </a:r>
          </a:p>
          <a:p>
            <a:pPr algn="just"/>
            <a:r>
              <a:rPr lang="en-US" dirty="0">
                <a:solidFill>
                  <a:srgbClr val="002060"/>
                </a:solidFill>
                <a:latin typeface="Times New Roman" panose="02020603050405020304" pitchFamily="18" charset="0"/>
                <a:cs typeface="Times New Roman" panose="02020603050405020304" pitchFamily="18" charset="0"/>
              </a:rPr>
              <a:t>Material Requirements Planning is a great tool to use in complex assembly operations or for dependent demand calculations using the Bill of Material as the foundation for how many of an item are needed for each end-time and the lead time for ordering and receiving the components</a:t>
            </a:r>
            <a:r>
              <a:rPr lang="en-US" dirty="0" smtClean="0">
                <a:solidFill>
                  <a:srgbClr val="002060"/>
                </a:solidFill>
                <a:latin typeface="Times New Roman" panose="02020603050405020304" pitchFamily="18" charset="0"/>
                <a:cs typeface="Times New Roman" panose="02020603050405020304" pitchFamily="18" charset="0"/>
              </a:rPr>
              <a:t>.</a:t>
            </a:r>
          </a:p>
          <a:p>
            <a:pPr algn="just"/>
            <a:r>
              <a:rPr lang="en-US" dirty="0" smtClean="0">
                <a:solidFill>
                  <a:srgbClr val="002060"/>
                </a:solidFill>
                <a:latin typeface="Times New Roman" panose="02020603050405020304" pitchFamily="18" charset="0"/>
                <a:cs typeface="Times New Roman" panose="02020603050405020304" pitchFamily="18" charset="0"/>
              </a:rPr>
              <a:t>Advancements like MRP II and ERP have been able to link manufacturing  with other areas of business such as finance and marketing.</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99126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6260" y="401782"/>
            <a:ext cx="11293434" cy="6212775"/>
          </a:xfrm>
        </p:spPr>
        <p:txBody>
          <a:bodyPr>
            <a:normAutofit/>
          </a:bodyPr>
          <a:lstStyle/>
          <a:p>
            <a:pPr marL="0" indent="0" algn="ctr">
              <a:buNone/>
            </a:pPr>
            <a:r>
              <a:rPr lang="en-US" b="1" dirty="0" smtClean="0">
                <a:solidFill>
                  <a:srgbClr val="C00000"/>
                </a:solidFill>
                <a:latin typeface="Times New Roman" panose="02020603050405020304" pitchFamily="18" charset="0"/>
                <a:cs typeface="Times New Roman" panose="02020603050405020304" pitchFamily="18" charset="0"/>
              </a:rPr>
              <a:t>Questions for Continuous Internal Evaluation</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Q.1)</a:t>
            </a:r>
            <a:r>
              <a:rPr lang="en-US" dirty="0" smtClean="0">
                <a:solidFill>
                  <a:srgbClr val="7030A0"/>
                </a:solidFill>
                <a:latin typeface="Times New Roman" panose="02020603050405020304" pitchFamily="18" charset="0"/>
                <a:cs typeface="Times New Roman" panose="02020603050405020304" pitchFamily="18" charset="0"/>
              </a:rPr>
              <a:t> </a:t>
            </a:r>
            <a:r>
              <a:rPr lang="en-US" dirty="0" smtClean="0">
                <a:solidFill>
                  <a:srgbClr val="002060"/>
                </a:solidFill>
                <a:latin typeface="Times New Roman" panose="02020603050405020304" pitchFamily="18" charset="0"/>
                <a:cs typeface="Times New Roman" panose="02020603050405020304" pitchFamily="18" charset="0"/>
              </a:rPr>
              <a:t>Define MRP. Give the objectives of MRP</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Q. 2) what do you understand by dependent demand and independent demand?</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Q.3) what is bill of material ?</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Q. 4) describe the inputs  and Outputs of the MRP</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Q.5) Describe the steps followed to make a material requirement planning</a:t>
            </a:r>
          </a:p>
          <a:p>
            <a:pPr marL="0" indent="0">
              <a:buNone/>
            </a:pPr>
            <a:r>
              <a:rPr lang="en-US" dirty="0">
                <a:solidFill>
                  <a:srgbClr val="002060"/>
                </a:solidFill>
                <a:latin typeface="Times New Roman" panose="02020603050405020304" pitchFamily="18" charset="0"/>
                <a:cs typeface="Times New Roman" panose="02020603050405020304" pitchFamily="18" charset="0"/>
              </a:rPr>
              <a:t> </a:t>
            </a:r>
            <a:r>
              <a:rPr lang="en-US" dirty="0" smtClean="0">
                <a:solidFill>
                  <a:srgbClr val="002060"/>
                </a:solidFill>
                <a:latin typeface="Times New Roman" panose="02020603050405020304" pitchFamily="18" charset="0"/>
                <a:cs typeface="Times New Roman" panose="02020603050405020304" pitchFamily="18" charset="0"/>
              </a:rPr>
              <a:t>Q. 6) What is role of MPS in MRP?</a:t>
            </a:r>
          </a:p>
          <a:p>
            <a:pPr marL="0" indent="0">
              <a:buNone/>
            </a:pPr>
            <a:r>
              <a:rPr lang="en-US" dirty="0" smtClean="0">
                <a:solidFill>
                  <a:srgbClr val="002060"/>
                </a:solidFill>
                <a:latin typeface="Times New Roman" panose="02020603050405020304" pitchFamily="18" charset="0"/>
                <a:cs typeface="Times New Roman" panose="02020603050405020304" pitchFamily="18" charset="0"/>
              </a:rPr>
              <a:t>Q.7 ) what are the advantages and disadvantages of MRP ?</a:t>
            </a:r>
            <a:endParaRPr lang="en-IN"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90660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5691" y="287771"/>
            <a:ext cx="10515600" cy="5835938"/>
          </a:xfrm>
        </p:spPr>
        <p:txBody>
          <a:bodyPr>
            <a:normAutofit/>
          </a:bodyPr>
          <a:lstStyle/>
          <a:p>
            <a:pPr marL="0" indent="0" algn="ctr">
              <a:buNone/>
            </a:pPr>
            <a:endParaRPr lang="en-US" sz="7200" dirty="0" smtClean="0">
              <a:latin typeface="Algerian" panose="04020705040A02060702" pitchFamily="82" charset="0"/>
            </a:endParaRPr>
          </a:p>
          <a:p>
            <a:pPr marL="0" indent="0" algn="ctr">
              <a:buNone/>
            </a:pPr>
            <a:endParaRPr lang="en-US" sz="7200" dirty="0">
              <a:latin typeface="Algerian" panose="04020705040A02060702" pitchFamily="82" charset="0"/>
            </a:endParaRPr>
          </a:p>
          <a:p>
            <a:pPr marL="0" indent="0" algn="ctr">
              <a:buNone/>
            </a:pPr>
            <a:r>
              <a:rPr lang="en-US" sz="8000" i="1" dirty="0" smtClean="0">
                <a:solidFill>
                  <a:srgbClr val="002060"/>
                </a:solidFill>
                <a:latin typeface="Bahnschrift SemiBold SemiConden" panose="020B0502040204020203" pitchFamily="34" charset="0"/>
              </a:rPr>
              <a:t>Thank You</a:t>
            </a:r>
            <a:endParaRPr lang="en-IN" sz="8000" i="1" dirty="0">
              <a:solidFill>
                <a:srgbClr val="002060"/>
              </a:solidFill>
              <a:latin typeface="Bahnschrift SemiBold SemiConden" panose="020B0502040204020203" pitchFamily="34" charset="0"/>
            </a:endParaRPr>
          </a:p>
        </p:txBody>
      </p:sp>
    </p:spTree>
    <p:extLst>
      <p:ext uri="{BB962C8B-B14F-4D97-AF65-F5344CB8AC3E}">
        <p14:creationId xmlns:p14="http://schemas.microsoft.com/office/powerpoint/2010/main" val="3607539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956</TotalTime>
  <Words>1935</Words>
  <Application>Microsoft Office PowerPoint</Application>
  <PresentationFormat>Widescreen</PresentationFormat>
  <Paragraphs>219</Paragraphs>
  <Slides>45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Algerian</vt:lpstr>
      <vt:lpstr>Arial</vt:lpstr>
      <vt:lpstr>Bahnschrift SemiBold SemiConden</vt:lpstr>
      <vt:lpstr>Berlin Sans FB Demi</vt:lpstr>
      <vt:lpstr>Calibri</vt:lpstr>
      <vt:lpstr>Calibri Light</vt:lpstr>
      <vt:lpstr>Times New Roman</vt:lpstr>
      <vt:lpstr>Office Theme</vt:lpstr>
      <vt:lpstr>Basics of  Materials Requirement Planning(MRP)</vt:lpstr>
      <vt:lpstr>PowerPoint Presentation</vt:lpstr>
      <vt:lpstr>PowerPoint Presentation</vt:lpstr>
      <vt:lpstr>Techniques of Materials Planning</vt:lpstr>
      <vt:lpstr>PowerPoint Presentation</vt:lpstr>
      <vt:lpstr>Materials requirement Planning(MRP)</vt:lpstr>
      <vt:lpstr>PowerPoint Presentation</vt:lpstr>
      <vt:lpstr>PowerPoint Presentation</vt:lpstr>
      <vt:lpstr>PowerPoint Presentation</vt:lpstr>
      <vt:lpstr>Inputs to MRP</vt:lpstr>
      <vt:lpstr>Bill of Materials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Benefits of MRP</vt:lpstr>
      <vt:lpstr>Disadvantages of MRP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Materials Management Overview</dc:title>
  <dc:creator>HP</dc:creator>
  <cp:lastModifiedBy>Dr. Ubale</cp:lastModifiedBy>
  <cp:revision>282</cp:revision>
  <dcterms:created xsi:type="dcterms:W3CDTF">2022-09-12T16:52:45Z</dcterms:created>
  <dcterms:modified xsi:type="dcterms:W3CDTF">2023-10-16T16:33:29Z</dcterms:modified>
</cp:coreProperties>
</file>