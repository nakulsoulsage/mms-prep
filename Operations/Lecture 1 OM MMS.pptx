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6" r:id="rId8"/>
    <p:sldId id="261" r:id="rId9"/>
    <p:sldId id="265" r:id="rId10"/>
    <p:sldId id="262" r:id="rId11"/>
    <p:sldId id="263" r:id="rId12"/>
    <p:sldId id="264" r:id="rId13"/>
    <p:sldId id="267" r:id="rId14"/>
    <p:sldId id="268" r:id="rId15"/>
    <p:sldId id="269" r:id="rId16"/>
    <p:sldId id="270" r:id="rId17"/>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61" d="100"/>
          <a:sy n="61" d="100"/>
        </p:scale>
        <p:origin x="-564" y="-84"/>
      </p:cViewPr>
      <p:guideLst>
        <p:guide orient="horz" pos="2592"/>
        <p:guide pos="460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76624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833199" y="1429226"/>
            <a:ext cx="7477601" cy="3332798"/>
          </a:xfrm>
          <a:prstGeom prst="rect">
            <a:avLst/>
          </a:prstGeom>
          <a:noFill/>
          <a:ln/>
        </p:spPr>
        <p:txBody>
          <a:bodyPr wrap="square" rtlCol="0" anchor="t"/>
          <a:lstStyle/>
          <a:p>
            <a:pPr marL="0" indent="0">
              <a:lnSpc>
                <a:spcPts val="6561"/>
              </a:lnSpc>
              <a:buNone/>
            </a:pPr>
            <a:r>
              <a:rPr lang="en-US" sz="5249" b="1" dirty="0">
                <a:solidFill>
                  <a:srgbClr val="FFFFFF"/>
                </a:solidFill>
                <a:latin typeface="Syne" pitchFamily="34" charset="0"/>
                <a:ea typeface="Syne" pitchFamily="34" charset="-122"/>
                <a:cs typeface="Syne" pitchFamily="34" charset="-120"/>
              </a:rPr>
              <a:t>Operations Management: Unlocking Business Success</a:t>
            </a:r>
            <a:endParaRPr lang="en-US" sz="5249" dirty="0"/>
          </a:p>
        </p:txBody>
      </p:sp>
      <p:sp>
        <p:nvSpPr>
          <p:cNvPr id="5" name="Text 3"/>
          <p:cNvSpPr/>
          <p:nvPr/>
        </p:nvSpPr>
        <p:spPr>
          <a:xfrm>
            <a:off x="833199" y="5095280"/>
            <a:ext cx="7477601" cy="1066205"/>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Welcome to the world of Operations Management (OM)! Explore how OM strategies and practices drive success in businesses like </a:t>
            </a:r>
            <a:r>
              <a:rPr lang="en-US" sz="1750" dirty="0" smtClean="0">
                <a:solidFill>
                  <a:srgbClr val="D9E1FF"/>
                </a:solidFill>
                <a:latin typeface="Arimo" pitchFamily="34" charset="0"/>
                <a:ea typeface="Arimo" pitchFamily="34" charset="-122"/>
                <a:cs typeface="Arimo" pitchFamily="34" charset="-120"/>
              </a:rPr>
              <a:t>D-mart</a:t>
            </a:r>
            <a:r>
              <a:rPr lang="en-US" sz="1750" dirty="0">
                <a:solidFill>
                  <a:srgbClr val="D9E1FF"/>
                </a:solidFill>
                <a:latin typeface="Arimo" pitchFamily="34" charset="0"/>
                <a:ea typeface="Arimo" pitchFamily="34" charset="-122"/>
                <a:cs typeface="Arimo" pitchFamily="34" charset="-120"/>
              </a:rPr>
              <a:t>, and AMUL.</a:t>
            </a:r>
            <a:endParaRPr lang="en-US" sz="1750" dirty="0"/>
          </a:p>
        </p:txBody>
      </p:sp>
      <p:pic>
        <p:nvPicPr>
          <p:cNvPr id="9" name="Image 1" descr="preencoded.png"/>
          <p:cNvPicPr>
            <a:picLocks noChangeAspect="1"/>
          </p:cNvPicPr>
          <p:nvPr/>
        </p:nvPicPr>
        <p:blipFill>
          <a:blip r:embed="rId3"/>
          <a:stretch>
            <a:fillRect/>
          </a:stretch>
        </p:blipFill>
        <p:spPr>
          <a:xfrm>
            <a:off x="9144000" y="30996"/>
            <a:ext cx="54864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833199" y="2720697"/>
            <a:ext cx="7477601" cy="1388745"/>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What is Operations Management (OM)?</a:t>
            </a:r>
            <a:endParaRPr lang="en-US" sz="4374" dirty="0"/>
          </a:p>
        </p:txBody>
      </p:sp>
      <p:sp>
        <p:nvSpPr>
          <p:cNvPr id="5" name="Text 3"/>
          <p:cNvSpPr/>
          <p:nvPr/>
        </p:nvSpPr>
        <p:spPr>
          <a:xfrm>
            <a:off x="833199" y="4442698"/>
            <a:ext cx="7477601" cy="1066205"/>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OM is the strategic management of processes and resources that transform inputs into desired outputs. Learn how OM optimizes efficiency, quality, and customer satisfaction.</a:t>
            </a:r>
            <a:endParaRPr lang="en-US" sz="1750" dirty="0"/>
          </a:p>
        </p:txBody>
      </p:sp>
      <p:pic>
        <p:nvPicPr>
          <p:cNvPr id="6" name="Image 0" descr="preencoded.png"/>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6319599" y="821411"/>
            <a:ext cx="5273040" cy="883404"/>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Objectives of OM</a:t>
            </a:r>
            <a:endParaRPr lang="en-US" sz="4374" dirty="0"/>
          </a:p>
        </p:txBody>
      </p:sp>
      <p:sp>
        <p:nvSpPr>
          <p:cNvPr id="5" name="Shape 3"/>
          <p:cNvSpPr/>
          <p:nvPr/>
        </p:nvSpPr>
        <p:spPr>
          <a:xfrm>
            <a:off x="6319599" y="2983349"/>
            <a:ext cx="499943" cy="499943"/>
          </a:xfrm>
          <a:prstGeom prst="roundRect">
            <a:avLst>
              <a:gd name="adj" fmla="val 13333"/>
            </a:avLst>
          </a:prstGeom>
          <a:solidFill>
            <a:srgbClr val="171542"/>
          </a:solidFill>
          <a:ln/>
        </p:spPr>
        <p:txBody>
          <a:bodyPr/>
          <a:lstStyle/>
          <a:p>
            <a:endParaRPr lang="en-US"/>
          </a:p>
        </p:txBody>
      </p:sp>
      <p:sp>
        <p:nvSpPr>
          <p:cNvPr id="6" name="Text 4"/>
          <p:cNvSpPr/>
          <p:nvPr/>
        </p:nvSpPr>
        <p:spPr>
          <a:xfrm>
            <a:off x="6504742" y="3025021"/>
            <a:ext cx="1295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1</a:t>
            </a:r>
            <a:endParaRPr lang="en-US" sz="2624" dirty="0"/>
          </a:p>
        </p:txBody>
      </p:sp>
      <p:sp>
        <p:nvSpPr>
          <p:cNvPr id="7" name="Text 5"/>
          <p:cNvSpPr/>
          <p:nvPr/>
        </p:nvSpPr>
        <p:spPr>
          <a:xfrm>
            <a:off x="7041713" y="3059668"/>
            <a:ext cx="2221944"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Efficiency</a:t>
            </a:r>
            <a:endParaRPr lang="en-US" sz="2187" dirty="0"/>
          </a:p>
        </p:txBody>
      </p:sp>
      <p:sp>
        <p:nvSpPr>
          <p:cNvPr id="8" name="Text 6"/>
          <p:cNvSpPr/>
          <p:nvPr/>
        </p:nvSpPr>
        <p:spPr>
          <a:xfrm>
            <a:off x="7041713" y="3629025"/>
            <a:ext cx="2905601" cy="1421606"/>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Maximize resource utilization and minimize costs to achieve operational excellence.</a:t>
            </a:r>
            <a:endParaRPr lang="en-US" sz="1750" dirty="0"/>
          </a:p>
        </p:txBody>
      </p:sp>
      <p:sp>
        <p:nvSpPr>
          <p:cNvPr id="9" name="Shape 7"/>
          <p:cNvSpPr/>
          <p:nvPr/>
        </p:nvSpPr>
        <p:spPr>
          <a:xfrm>
            <a:off x="10169485" y="2983349"/>
            <a:ext cx="499943" cy="499943"/>
          </a:xfrm>
          <a:prstGeom prst="roundRect">
            <a:avLst>
              <a:gd name="adj" fmla="val 13333"/>
            </a:avLst>
          </a:prstGeom>
          <a:solidFill>
            <a:srgbClr val="171542"/>
          </a:solidFill>
          <a:ln/>
        </p:spPr>
        <p:txBody>
          <a:bodyPr/>
          <a:lstStyle/>
          <a:p>
            <a:endParaRPr lang="en-US"/>
          </a:p>
        </p:txBody>
      </p:sp>
      <p:sp>
        <p:nvSpPr>
          <p:cNvPr id="10" name="Text 8"/>
          <p:cNvSpPr/>
          <p:nvPr/>
        </p:nvSpPr>
        <p:spPr>
          <a:xfrm>
            <a:off x="10316528" y="3025021"/>
            <a:ext cx="2057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2</a:t>
            </a:r>
            <a:endParaRPr lang="en-US" sz="2624" dirty="0"/>
          </a:p>
        </p:txBody>
      </p:sp>
      <p:sp>
        <p:nvSpPr>
          <p:cNvPr id="11" name="Text 9"/>
          <p:cNvSpPr/>
          <p:nvPr/>
        </p:nvSpPr>
        <p:spPr>
          <a:xfrm>
            <a:off x="10891599" y="3059668"/>
            <a:ext cx="2221944"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Quality</a:t>
            </a:r>
            <a:endParaRPr lang="en-US" sz="2187" dirty="0"/>
          </a:p>
        </p:txBody>
      </p:sp>
      <p:sp>
        <p:nvSpPr>
          <p:cNvPr id="12" name="Text 10"/>
          <p:cNvSpPr/>
          <p:nvPr/>
        </p:nvSpPr>
        <p:spPr>
          <a:xfrm>
            <a:off x="10891599" y="3629025"/>
            <a:ext cx="2905601" cy="1066205"/>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Deliver products and services that meet or exceed customer expectations.</a:t>
            </a:r>
            <a:endParaRPr lang="en-US" sz="1750" dirty="0"/>
          </a:p>
        </p:txBody>
      </p:sp>
      <p:pic>
        <p:nvPicPr>
          <p:cNvPr id="17"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21" name="Text 8">
            <a:extLst>
              <a:ext uri="{FF2B5EF4-FFF2-40B4-BE49-F238E27FC236}">
                <a16:creationId xmlns="" xmlns:a16="http://schemas.microsoft.com/office/drawing/2014/main" id="{510AD885-A110-352A-BFB0-BC5431AC8F8C}"/>
              </a:ext>
            </a:extLst>
          </p:cNvPr>
          <p:cNvSpPr/>
          <p:nvPr/>
        </p:nvSpPr>
        <p:spPr>
          <a:xfrm>
            <a:off x="6485284" y="5187657"/>
            <a:ext cx="2057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rPr>
              <a:t>3</a:t>
            </a:r>
            <a:endParaRPr lang="en-US" sz="2624" dirty="0"/>
          </a:p>
        </p:txBody>
      </p:sp>
      <p:sp>
        <p:nvSpPr>
          <p:cNvPr id="22" name="Text 9">
            <a:extLst>
              <a:ext uri="{FF2B5EF4-FFF2-40B4-BE49-F238E27FC236}">
                <a16:creationId xmlns="" xmlns:a16="http://schemas.microsoft.com/office/drawing/2014/main" id="{FF743053-141F-6BC8-77C6-D1F9CAFF63EC}"/>
              </a:ext>
            </a:extLst>
          </p:cNvPr>
          <p:cNvSpPr/>
          <p:nvPr/>
        </p:nvSpPr>
        <p:spPr>
          <a:xfrm>
            <a:off x="7060355" y="5222304"/>
            <a:ext cx="2221944"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Effectiveness</a:t>
            </a:r>
            <a:endParaRPr lang="en-US" sz="2187" dirty="0"/>
          </a:p>
        </p:txBody>
      </p:sp>
      <p:sp>
        <p:nvSpPr>
          <p:cNvPr id="23" name="Text 10">
            <a:extLst>
              <a:ext uri="{FF2B5EF4-FFF2-40B4-BE49-F238E27FC236}">
                <a16:creationId xmlns="" xmlns:a16="http://schemas.microsoft.com/office/drawing/2014/main" id="{63C053EA-FF17-01C7-C21E-6C1DE7F4C0A4}"/>
              </a:ext>
            </a:extLst>
          </p:cNvPr>
          <p:cNvSpPr/>
          <p:nvPr/>
        </p:nvSpPr>
        <p:spPr>
          <a:xfrm>
            <a:off x="7060355" y="5791661"/>
            <a:ext cx="2905601" cy="1066205"/>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Producing right kind of goods and services that satisfy the customers </a:t>
            </a:r>
            <a:r>
              <a:rPr lang="en-US" sz="1750" dirty="0" smtClean="0">
                <a:solidFill>
                  <a:srgbClr val="D9E1FF"/>
                </a:solidFill>
                <a:latin typeface="Arimo" pitchFamily="34" charset="0"/>
                <a:ea typeface="Arimo" pitchFamily="34" charset="-122"/>
                <a:cs typeface="Arimo" pitchFamily="34" charset="-120"/>
              </a:rPr>
              <a:t>needs</a:t>
            </a:r>
          </a:p>
          <a:p>
            <a:pPr marL="0" indent="0">
              <a:lnSpc>
                <a:spcPts val="2799"/>
              </a:lnSpc>
              <a:buNone/>
            </a:pPr>
            <a:endParaRPr lang="en-US" sz="1750" dirty="0"/>
          </a:p>
        </p:txBody>
      </p:sp>
      <p:sp>
        <p:nvSpPr>
          <p:cNvPr id="24" name="Text 8">
            <a:extLst>
              <a:ext uri="{FF2B5EF4-FFF2-40B4-BE49-F238E27FC236}">
                <a16:creationId xmlns="" xmlns:a16="http://schemas.microsoft.com/office/drawing/2014/main" id="{06857D43-BF4C-856A-0D98-6E5A290DE08B}"/>
              </a:ext>
            </a:extLst>
          </p:cNvPr>
          <p:cNvSpPr/>
          <p:nvPr/>
        </p:nvSpPr>
        <p:spPr>
          <a:xfrm>
            <a:off x="10316528" y="5238154"/>
            <a:ext cx="2057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rPr>
              <a:t>4</a:t>
            </a:r>
            <a:endParaRPr lang="en-US" sz="2624" dirty="0"/>
          </a:p>
        </p:txBody>
      </p:sp>
      <p:sp>
        <p:nvSpPr>
          <p:cNvPr id="25" name="Text 9">
            <a:extLst>
              <a:ext uri="{FF2B5EF4-FFF2-40B4-BE49-F238E27FC236}">
                <a16:creationId xmlns="" xmlns:a16="http://schemas.microsoft.com/office/drawing/2014/main" id="{4FA9FACD-AC5B-6AA8-3049-A075223DE0E0}"/>
              </a:ext>
            </a:extLst>
          </p:cNvPr>
          <p:cNvSpPr/>
          <p:nvPr/>
        </p:nvSpPr>
        <p:spPr>
          <a:xfrm>
            <a:off x="10891599" y="5272801"/>
            <a:ext cx="2221944"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Lead time</a:t>
            </a:r>
            <a:endParaRPr lang="en-US" sz="2187" dirty="0"/>
          </a:p>
        </p:txBody>
      </p:sp>
      <p:sp>
        <p:nvSpPr>
          <p:cNvPr id="26" name="Text 10">
            <a:extLst>
              <a:ext uri="{FF2B5EF4-FFF2-40B4-BE49-F238E27FC236}">
                <a16:creationId xmlns="" xmlns:a16="http://schemas.microsoft.com/office/drawing/2014/main" id="{00E28290-673D-93FB-AD7D-6051AE56FA42}"/>
              </a:ext>
            </a:extLst>
          </p:cNvPr>
          <p:cNvSpPr/>
          <p:nvPr/>
        </p:nvSpPr>
        <p:spPr>
          <a:xfrm>
            <a:off x="10845377" y="5806030"/>
            <a:ext cx="2905601" cy="1066205"/>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Minimizing throughout time- the time that that elapses in the conversion process- by reducing delays, waiting time and idle time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4" name="Text 2"/>
          <p:cNvSpPr/>
          <p:nvPr/>
        </p:nvSpPr>
        <p:spPr>
          <a:xfrm>
            <a:off x="6319599" y="1642819"/>
            <a:ext cx="5273040" cy="945397"/>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Objectives of OM</a:t>
            </a:r>
            <a:endParaRPr lang="en-US" sz="4374" dirty="0"/>
          </a:p>
        </p:txBody>
      </p:sp>
      <p:sp>
        <p:nvSpPr>
          <p:cNvPr id="5" name="Shape 3"/>
          <p:cNvSpPr/>
          <p:nvPr/>
        </p:nvSpPr>
        <p:spPr>
          <a:xfrm>
            <a:off x="6319599" y="2983349"/>
            <a:ext cx="499943" cy="499943"/>
          </a:xfrm>
          <a:prstGeom prst="roundRect">
            <a:avLst>
              <a:gd name="adj" fmla="val 13333"/>
            </a:avLst>
          </a:prstGeom>
          <a:solidFill>
            <a:srgbClr val="171542"/>
          </a:solidFill>
          <a:ln/>
        </p:spPr>
        <p:txBody>
          <a:bodyPr/>
          <a:lstStyle/>
          <a:p>
            <a:endParaRPr lang="en-US"/>
          </a:p>
        </p:txBody>
      </p:sp>
      <p:sp>
        <p:nvSpPr>
          <p:cNvPr id="6" name="Text 4"/>
          <p:cNvSpPr/>
          <p:nvPr/>
        </p:nvSpPr>
        <p:spPr>
          <a:xfrm>
            <a:off x="6504742" y="3025021"/>
            <a:ext cx="1295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rPr>
              <a:t>5</a:t>
            </a:r>
            <a:endParaRPr lang="en-US" sz="2624" dirty="0"/>
          </a:p>
        </p:txBody>
      </p:sp>
      <p:sp>
        <p:nvSpPr>
          <p:cNvPr id="7" name="Text 5"/>
          <p:cNvSpPr/>
          <p:nvPr/>
        </p:nvSpPr>
        <p:spPr>
          <a:xfrm>
            <a:off x="7041713" y="3059668"/>
            <a:ext cx="2221944" cy="347186"/>
          </a:xfrm>
          <a:prstGeom prst="rect">
            <a:avLst/>
          </a:prstGeom>
          <a:noFill/>
          <a:ln/>
        </p:spPr>
        <p:txBody>
          <a:bodyPr wrap="none" rtlCol="0" anchor="t"/>
          <a:lstStyle/>
          <a:p>
            <a:pPr>
              <a:lnSpc>
                <a:spcPts val="2734"/>
              </a:lnSpc>
            </a:pPr>
            <a:r>
              <a:rPr lang="en-US" sz="2190" b="1" dirty="0" smtClean="0">
                <a:solidFill>
                  <a:schemeClr val="bg1"/>
                </a:solidFill>
                <a:latin typeface="Syne"/>
                <a:ea typeface="Syne"/>
                <a:cs typeface="Times New Roman" panose="02020603050405020304" pitchFamily="18" charset="0"/>
              </a:rPr>
              <a:t>Capacity Utilization</a:t>
            </a:r>
          </a:p>
          <a:p>
            <a:pPr>
              <a:lnSpc>
                <a:spcPts val="2734"/>
              </a:lnSpc>
            </a:pPr>
            <a:endParaRPr lang="en-US" sz="2187" dirty="0"/>
          </a:p>
        </p:txBody>
      </p:sp>
      <p:sp>
        <p:nvSpPr>
          <p:cNvPr id="8" name="Text 6"/>
          <p:cNvSpPr/>
          <p:nvPr/>
        </p:nvSpPr>
        <p:spPr>
          <a:xfrm>
            <a:off x="7041713" y="3629025"/>
            <a:ext cx="2905601" cy="1421606"/>
          </a:xfrm>
          <a:prstGeom prst="rect">
            <a:avLst/>
          </a:prstGeom>
          <a:noFill/>
          <a:ln/>
        </p:spPr>
        <p:txBody>
          <a:bodyPr wrap="square" rtlCol="0" anchor="t"/>
          <a:lstStyle/>
          <a:p>
            <a:pPr>
              <a:lnSpc>
                <a:spcPts val="2799"/>
              </a:lnSpc>
            </a:pPr>
            <a:r>
              <a:rPr lang="en-US" sz="1750" dirty="0" smtClean="0">
                <a:solidFill>
                  <a:schemeClr val="bg1"/>
                </a:solidFill>
                <a:latin typeface="Arimo"/>
                <a:ea typeface="Arimo"/>
                <a:cs typeface="Times New Roman" panose="02020603050405020304" pitchFamily="18" charset="0"/>
              </a:rPr>
              <a:t>maximizing utilization  of manpower, machines etc</a:t>
            </a:r>
            <a:r>
              <a:rPr lang="en-US" sz="1750" dirty="0" smtClean="0">
                <a:solidFill>
                  <a:srgbClr val="D9E1FF"/>
                </a:solidFill>
                <a:latin typeface="Arimo"/>
                <a:ea typeface="Arimo"/>
                <a:cs typeface="Arimo" pitchFamily="34" charset="-120"/>
              </a:rPr>
              <a:t>.</a:t>
            </a:r>
            <a:endParaRPr lang="en-US" sz="1750" dirty="0">
              <a:latin typeface="Arimo"/>
              <a:ea typeface="Arimo"/>
            </a:endParaRPr>
          </a:p>
        </p:txBody>
      </p:sp>
      <p:sp>
        <p:nvSpPr>
          <p:cNvPr id="9" name="Shape 7"/>
          <p:cNvSpPr/>
          <p:nvPr/>
        </p:nvSpPr>
        <p:spPr>
          <a:xfrm>
            <a:off x="10135892" y="3025020"/>
            <a:ext cx="387457" cy="458271"/>
          </a:xfrm>
          <a:prstGeom prst="roundRect">
            <a:avLst>
              <a:gd name="adj" fmla="val 13333"/>
            </a:avLst>
          </a:prstGeom>
          <a:solidFill>
            <a:srgbClr val="171542"/>
          </a:solidFill>
          <a:ln/>
        </p:spPr>
        <p:txBody>
          <a:bodyPr/>
          <a:lstStyle/>
          <a:p>
            <a:r>
              <a:rPr lang="en-US" sz="2800" dirty="0" smtClean="0">
                <a:solidFill>
                  <a:schemeClr val="bg1"/>
                </a:solidFill>
              </a:rPr>
              <a:t>6</a:t>
            </a:r>
            <a:endParaRPr lang="en-US" sz="2800" dirty="0">
              <a:solidFill>
                <a:schemeClr val="bg1"/>
              </a:solidFill>
            </a:endParaRPr>
          </a:p>
        </p:txBody>
      </p:sp>
      <p:sp>
        <p:nvSpPr>
          <p:cNvPr id="11" name="Text 9"/>
          <p:cNvSpPr/>
          <p:nvPr/>
        </p:nvSpPr>
        <p:spPr>
          <a:xfrm>
            <a:off x="10891599" y="3059668"/>
            <a:ext cx="2221944" cy="347186"/>
          </a:xfrm>
          <a:prstGeom prst="rect">
            <a:avLst/>
          </a:prstGeom>
          <a:noFill/>
          <a:ln/>
        </p:spPr>
        <p:txBody>
          <a:bodyPr wrap="none" rtlCol="0" anchor="t"/>
          <a:lstStyle/>
          <a:p>
            <a:pPr marL="0" indent="0">
              <a:lnSpc>
                <a:spcPts val="2734"/>
              </a:lnSpc>
              <a:buNone/>
            </a:pPr>
            <a:r>
              <a:rPr lang="en-US" sz="2187" b="1" dirty="0" smtClean="0">
                <a:solidFill>
                  <a:srgbClr val="FFFFFF"/>
                </a:solidFill>
                <a:latin typeface="Syne" pitchFamily="34" charset="0"/>
                <a:ea typeface="Syne" pitchFamily="34" charset="-122"/>
              </a:rPr>
              <a:t>Cost</a:t>
            </a:r>
            <a:endParaRPr lang="en-US" sz="2187" dirty="0"/>
          </a:p>
        </p:txBody>
      </p:sp>
      <p:sp>
        <p:nvSpPr>
          <p:cNvPr id="12" name="Text 10"/>
          <p:cNvSpPr/>
          <p:nvPr/>
        </p:nvSpPr>
        <p:spPr>
          <a:xfrm>
            <a:off x="10891599" y="3629025"/>
            <a:ext cx="2905601" cy="1066205"/>
          </a:xfrm>
          <a:prstGeom prst="rect">
            <a:avLst/>
          </a:prstGeom>
          <a:noFill/>
          <a:ln/>
        </p:spPr>
        <p:txBody>
          <a:bodyPr wrap="square" rtlCol="0" anchor="t"/>
          <a:lstStyle/>
          <a:p>
            <a:pPr>
              <a:lnSpc>
                <a:spcPts val="2799"/>
              </a:lnSpc>
            </a:pPr>
            <a:r>
              <a:rPr lang="en-US" sz="1750" dirty="0" smtClean="0">
                <a:solidFill>
                  <a:schemeClr val="bg1"/>
                </a:solidFill>
                <a:latin typeface="Arimo"/>
                <a:ea typeface="Arimo"/>
                <a:cs typeface="Times New Roman" panose="02020603050405020304" pitchFamily="18" charset="0"/>
              </a:rPr>
              <a:t>Minimizing cost of producing goods or rendering a service</a:t>
            </a:r>
            <a:r>
              <a:rPr lang="en-US" sz="1750" dirty="0" smtClean="0">
                <a:solidFill>
                  <a:srgbClr val="D9E1FF"/>
                </a:solidFill>
                <a:latin typeface="Arimo" pitchFamily="34" charset="0"/>
                <a:ea typeface="Arimo" pitchFamily="34" charset="-122"/>
                <a:cs typeface="Arimo" pitchFamily="34" charset="-120"/>
              </a:rPr>
              <a:t>.</a:t>
            </a:r>
            <a:endParaRPr lang="en-US" sz="1750" dirty="0"/>
          </a:p>
        </p:txBody>
      </p:sp>
      <p:pic>
        <p:nvPicPr>
          <p:cNvPr id="17" name="Image 0" descr="preencoded.png"/>
          <p:cNvPicPr>
            <a:picLocks noChangeAspect="1"/>
          </p:cNvPicPr>
          <p:nvPr/>
        </p:nvPicPr>
        <p:blipFill>
          <a:blip r:embed="rId3"/>
          <a:stretch>
            <a:fillRect/>
          </a:stretch>
        </p:blipFill>
        <p:spPr>
          <a:xfrm>
            <a:off x="0" y="0"/>
            <a:ext cx="5486400"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2108718"/>
            <a:ext cx="14630400" cy="8229600"/>
          </a:xfrm>
          <a:prstGeom prst="rect">
            <a:avLst/>
          </a:prstGeom>
          <a:solidFill>
            <a:srgbClr val="0C0A33"/>
          </a:solidFill>
          <a:ln/>
        </p:spPr>
        <p:txBody>
          <a:bodyPr/>
          <a:lstStyle/>
          <a:p>
            <a:endParaRPr lang="en-US"/>
          </a:p>
        </p:txBody>
      </p:sp>
      <p:sp>
        <p:nvSpPr>
          <p:cNvPr id="4" name="Text 2"/>
          <p:cNvSpPr/>
          <p:nvPr/>
        </p:nvSpPr>
        <p:spPr>
          <a:xfrm>
            <a:off x="833199" y="959165"/>
            <a:ext cx="4443889" cy="694373"/>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Scope of OM</a:t>
            </a:r>
            <a:endParaRPr lang="en-US" sz="4374" dirty="0"/>
          </a:p>
        </p:txBody>
      </p:sp>
      <p:sp>
        <p:nvSpPr>
          <p:cNvPr id="5" name="Text 3"/>
          <p:cNvSpPr/>
          <p:nvPr/>
        </p:nvSpPr>
        <p:spPr>
          <a:xfrm>
            <a:off x="833199" y="1986794"/>
            <a:ext cx="7477601" cy="1066205"/>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OM covers a wide range of activities, including supply chain management, inventory control, production planning, and service delivery. It touches every aspect of a business's operations.</a:t>
            </a:r>
          </a:p>
          <a:p>
            <a:pPr marL="342900" indent="-342900">
              <a:lnSpc>
                <a:spcPts val="2799"/>
              </a:lnSpc>
              <a:buAutoNum type="arabicPeriod"/>
            </a:pPr>
            <a:r>
              <a:rPr lang="en-US" sz="1750" dirty="0">
                <a:solidFill>
                  <a:srgbClr val="D9E1FF"/>
                </a:solidFill>
                <a:latin typeface="Arimo" pitchFamily="34" charset="0"/>
                <a:ea typeface="Arimo" pitchFamily="34" charset="-122"/>
              </a:rPr>
              <a:t>Plant location and facilities location</a:t>
            </a:r>
          </a:p>
          <a:p>
            <a:pPr marL="342900" indent="-342900">
              <a:lnSpc>
                <a:spcPts val="2799"/>
              </a:lnSpc>
              <a:buAutoNum type="arabicPeriod"/>
            </a:pPr>
            <a:r>
              <a:rPr lang="en-US" sz="1750" dirty="0">
                <a:solidFill>
                  <a:srgbClr val="D9E1FF"/>
                </a:solidFill>
                <a:latin typeface="Arimo" pitchFamily="34" charset="0"/>
                <a:ea typeface="Arimo" pitchFamily="34" charset="-122"/>
              </a:rPr>
              <a:t>Plant Layout</a:t>
            </a:r>
          </a:p>
          <a:p>
            <a:pPr marL="342900" indent="-342900">
              <a:lnSpc>
                <a:spcPts val="2799"/>
              </a:lnSpc>
              <a:buAutoNum type="arabicPeriod"/>
            </a:pPr>
            <a:r>
              <a:rPr lang="en-US" sz="1750" dirty="0">
                <a:solidFill>
                  <a:srgbClr val="D9E1FF"/>
                </a:solidFill>
                <a:latin typeface="Arimo" pitchFamily="34" charset="0"/>
                <a:ea typeface="Arimo" pitchFamily="34" charset="-122"/>
              </a:rPr>
              <a:t>Material Handling</a:t>
            </a:r>
          </a:p>
          <a:p>
            <a:pPr marL="342900" indent="-342900">
              <a:lnSpc>
                <a:spcPts val="2799"/>
              </a:lnSpc>
              <a:buAutoNum type="arabicPeriod"/>
            </a:pPr>
            <a:r>
              <a:rPr lang="en-US" sz="1750" dirty="0">
                <a:solidFill>
                  <a:srgbClr val="D9E1FF"/>
                </a:solidFill>
                <a:latin typeface="Arimo" pitchFamily="34" charset="0"/>
                <a:ea typeface="Arimo" pitchFamily="34" charset="-122"/>
              </a:rPr>
              <a:t>Product Design</a:t>
            </a:r>
          </a:p>
          <a:p>
            <a:pPr marL="342900" indent="-342900">
              <a:lnSpc>
                <a:spcPts val="2799"/>
              </a:lnSpc>
              <a:buAutoNum type="arabicPeriod"/>
            </a:pPr>
            <a:r>
              <a:rPr lang="en-US" sz="1750" dirty="0">
                <a:solidFill>
                  <a:srgbClr val="D9E1FF"/>
                </a:solidFill>
                <a:latin typeface="Arimo" pitchFamily="34" charset="0"/>
                <a:ea typeface="Arimo" pitchFamily="34" charset="-122"/>
              </a:rPr>
              <a:t>Process Design</a:t>
            </a:r>
          </a:p>
          <a:p>
            <a:pPr marL="342900" indent="-342900">
              <a:lnSpc>
                <a:spcPts val="2799"/>
              </a:lnSpc>
              <a:buAutoNum type="arabicPeriod"/>
            </a:pPr>
            <a:r>
              <a:rPr lang="en-US" sz="1750" dirty="0">
                <a:solidFill>
                  <a:srgbClr val="D9E1FF"/>
                </a:solidFill>
                <a:latin typeface="Arimo" pitchFamily="34" charset="0"/>
                <a:ea typeface="Arimo" pitchFamily="34" charset="-122"/>
              </a:rPr>
              <a:t>Production Planning and Control</a:t>
            </a:r>
          </a:p>
          <a:p>
            <a:pPr marL="342900" indent="-342900">
              <a:lnSpc>
                <a:spcPts val="2799"/>
              </a:lnSpc>
              <a:buAutoNum type="arabicPeriod"/>
            </a:pPr>
            <a:r>
              <a:rPr lang="en-US" sz="1750" dirty="0">
                <a:solidFill>
                  <a:srgbClr val="D9E1FF"/>
                </a:solidFill>
                <a:latin typeface="Arimo" pitchFamily="34" charset="0"/>
                <a:ea typeface="Arimo" pitchFamily="34" charset="-122"/>
              </a:rPr>
              <a:t>Quality Control</a:t>
            </a:r>
          </a:p>
          <a:p>
            <a:pPr marL="342900" indent="-342900">
              <a:lnSpc>
                <a:spcPts val="2799"/>
              </a:lnSpc>
              <a:buAutoNum type="arabicPeriod"/>
            </a:pPr>
            <a:r>
              <a:rPr lang="en-US" sz="1750" dirty="0">
                <a:solidFill>
                  <a:srgbClr val="D9E1FF"/>
                </a:solidFill>
                <a:latin typeface="Arimo" pitchFamily="34" charset="0"/>
                <a:ea typeface="Arimo" pitchFamily="34" charset="-122"/>
              </a:rPr>
              <a:t>Materials Management</a:t>
            </a:r>
          </a:p>
          <a:p>
            <a:pPr marL="342900" indent="-342900">
              <a:lnSpc>
                <a:spcPts val="2799"/>
              </a:lnSpc>
              <a:buAutoNum type="arabicPeriod"/>
            </a:pPr>
            <a:r>
              <a:rPr lang="en-US" sz="1750" dirty="0">
                <a:solidFill>
                  <a:srgbClr val="D9E1FF"/>
                </a:solidFill>
                <a:latin typeface="Arimo" pitchFamily="34" charset="0"/>
                <a:ea typeface="Arimo" pitchFamily="34" charset="-122"/>
              </a:rPr>
              <a:t>Maintenance Management</a:t>
            </a:r>
          </a:p>
        </p:txBody>
      </p:sp>
      <p:pic>
        <p:nvPicPr>
          <p:cNvPr id="6" name="Image 0" descr="preencoded.png"/>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2348389" y="758309"/>
            <a:ext cx="9933503" cy="1388745"/>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Applications in Product and Service Industry</a:t>
            </a:r>
            <a:endParaRPr lang="en-US" sz="4374" dirty="0"/>
          </a:p>
        </p:txBody>
      </p:sp>
      <p:pic>
        <p:nvPicPr>
          <p:cNvPr id="5" name="Image 0" descr="preencoded.png"/>
          <p:cNvPicPr>
            <a:picLocks noChangeAspect="1"/>
          </p:cNvPicPr>
          <p:nvPr/>
        </p:nvPicPr>
        <p:blipFill>
          <a:blip r:embed="rId3"/>
          <a:stretch>
            <a:fillRect/>
          </a:stretch>
        </p:blipFill>
        <p:spPr>
          <a:xfrm>
            <a:off x="2348389" y="2591395"/>
            <a:ext cx="4800124" cy="2966680"/>
          </a:xfrm>
          <a:prstGeom prst="rect">
            <a:avLst/>
          </a:prstGeom>
        </p:spPr>
      </p:pic>
      <p:sp>
        <p:nvSpPr>
          <p:cNvPr id="6" name="Text 3"/>
          <p:cNvSpPr/>
          <p:nvPr/>
        </p:nvSpPr>
        <p:spPr>
          <a:xfrm>
            <a:off x="2348389" y="5835729"/>
            <a:ext cx="2560320" cy="347186"/>
          </a:xfrm>
          <a:prstGeom prst="rect">
            <a:avLst/>
          </a:prstGeom>
          <a:noFill/>
          <a:ln/>
        </p:spPr>
        <p:txBody>
          <a:bodyPr wrap="non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Product Industry</a:t>
            </a:r>
            <a:endParaRPr lang="en-US" sz="2187" dirty="0"/>
          </a:p>
        </p:txBody>
      </p:sp>
      <p:sp>
        <p:nvSpPr>
          <p:cNvPr id="7" name="Text 4"/>
          <p:cNvSpPr/>
          <p:nvPr/>
        </p:nvSpPr>
        <p:spPr>
          <a:xfrm>
            <a:off x="2348389" y="6405086"/>
            <a:ext cx="4800124" cy="710803"/>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OM ensures efficient production, quality control, and timely delivery of goods.</a:t>
            </a:r>
            <a:endParaRPr lang="en-US" sz="1750" dirty="0"/>
          </a:p>
        </p:txBody>
      </p:sp>
      <p:pic>
        <p:nvPicPr>
          <p:cNvPr id="8" name="Image 1" descr="preencoded.png"/>
          <p:cNvPicPr>
            <a:picLocks noChangeAspect="1"/>
          </p:cNvPicPr>
          <p:nvPr/>
        </p:nvPicPr>
        <p:blipFill>
          <a:blip r:embed="rId4"/>
          <a:stretch>
            <a:fillRect/>
          </a:stretch>
        </p:blipFill>
        <p:spPr>
          <a:xfrm>
            <a:off x="7481768" y="2591395"/>
            <a:ext cx="4800124" cy="2966680"/>
          </a:xfrm>
          <a:prstGeom prst="rect">
            <a:avLst/>
          </a:prstGeom>
        </p:spPr>
      </p:pic>
      <p:sp>
        <p:nvSpPr>
          <p:cNvPr id="9" name="Text 5"/>
          <p:cNvSpPr/>
          <p:nvPr/>
        </p:nvSpPr>
        <p:spPr>
          <a:xfrm>
            <a:off x="7481768" y="5835729"/>
            <a:ext cx="2446020" cy="347186"/>
          </a:xfrm>
          <a:prstGeom prst="rect">
            <a:avLst/>
          </a:prstGeom>
          <a:noFill/>
          <a:ln/>
        </p:spPr>
        <p:txBody>
          <a:bodyPr wrap="non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Service Industry</a:t>
            </a:r>
            <a:endParaRPr lang="en-US" sz="2187" dirty="0"/>
          </a:p>
        </p:txBody>
      </p:sp>
      <p:sp>
        <p:nvSpPr>
          <p:cNvPr id="10" name="Text 6"/>
          <p:cNvSpPr/>
          <p:nvPr/>
        </p:nvSpPr>
        <p:spPr>
          <a:xfrm>
            <a:off x="7481768" y="6405086"/>
            <a:ext cx="4800124" cy="1066205"/>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OM focuses on optimizing service processes, managing customer expectations, and delivering exceptional experiences.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15498"/>
            <a:ext cx="14630400" cy="8229600"/>
          </a:xfrm>
          <a:prstGeom prst="rect">
            <a:avLst/>
          </a:prstGeom>
          <a:solidFill>
            <a:srgbClr val="0C0A33"/>
          </a:solidFill>
          <a:ln/>
        </p:spPr>
        <p:txBody>
          <a:bodyPr/>
          <a:lstStyle/>
          <a:p>
            <a:endParaRPr lang="en-US"/>
          </a:p>
        </p:txBody>
      </p:sp>
      <p:sp>
        <p:nvSpPr>
          <p:cNvPr id="5" name="Text 3"/>
          <p:cNvSpPr/>
          <p:nvPr/>
        </p:nvSpPr>
        <p:spPr>
          <a:xfrm>
            <a:off x="340963" y="511444"/>
            <a:ext cx="8508569" cy="7361695"/>
          </a:xfrm>
          <a:prstGeom prst="rect">
            <a:avLst/>
          </a:prstGeom>
          <a:noFill/>
          <a:ln/>
        </p:spPr>
        <p:txBody>
          <a:bodyPr wrap="square" rtlCol="0" anchor="t"/>
          <a:lstStyle/>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Product Selection</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Product Design</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Selection of equipments and processes</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Job Design</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Facility Layout</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Inventory Control</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Production Control</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Quality Control</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 Maintenance Management</a:t>
            </a:r>
          </a:p>
          <a:p>
            <a:pPr marL="342900" indent="-342900">
              <a:lnSpc>
                <a:spcPts val="2799"/>
              </a:lnSpc>
              <a:buFont typeface="+mj-lt"/>
              <a:buAutoNum type="arabicPeriod"/>
            </a:pPr>
            <a:r>
              <a:rPr lang="en-US" sz="1750" dirty="0" smtClean="0">
                <a:solidFill>
                  <a:srgbClr val="D9E1FF"/>
                </a:solidFill>
                <a:latin typeface="Arimo" pitchFamily="34" charset="0"/>
                <a:ea typeface="Arimo" pitchFamily="34" charset="-122"/>
              </a:rPr>
              <a:t>Cost Control and improvement</a:t>
            </a:r>
            <a:endParaRPr lang="en-US" sz="1750" dirty="0"/>
          </a:p>
        </p:txBody>
      </p:sp>
      <p:pic>
        <p:nvPicPr>
          <p:cNvPr id="6" name="Image 0" descr="preencoded.png"/>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2348389" y="2327791"/>
            <a:ext cx="9357360" cy="694373"/>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Use of Competitive Advantage</a:t>
            </a:r>
            <a:endParaRPr lang="en-US" sz="4374" dirty="0"/>
          </a:p>
        </p:txBody>
      </p:sp>
      <p:sp>
        <p:nvSpPr>
          <p:cNvPr id="5" name="Shape 3"/>
          <p:cNvSpPr/>
          <p:nvPr/>
        </p:nvSpPr>
        <p:spPr>
          <a:xfrm>
            <a:off x="2348389" y="3466504"/>
            <a:ext cx="3163014" cy="2737071"/>
          </a:xfrm>
          <a:prstGeom prst="roundRect">
            <a:avLst>
              <a:gd name="adj" fmla="val 2737"/>
            </a:avLst>
          </a:prstGeom>
          <a:solidFill>
            <a:srgbClr val="171542"/>
          </a:solidFill>
          <a:ln/>
        </p:spPr>
        <p:txBody>
          <a:bodyPr/>
          <a:lstStyle/>
          <a:p>
            <a:endParaRPr lang="en-US"/>
          </a:p>
        </p:txBody>
      </p:sp>
      <p:sp>
        <p:nvSpPr>
          <p:cNvPr id="6" name="Text 4"/>
          <p:cNvSpPr/>
          <p:nvPr/>
        </p:nvSpPr>
        <p:spPr>
          <a:xfrm>
            <a:off x="2570559" y="3688675"/>
            <a:ext cx="2506980"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Cost Leadership</a:t>
            </a:r>
            <a:endParaRPr lang="en-US" sz="2187" dirty="0"/>
          </a:p>
        </p:txBody>
      </p:sp>
      <p:sp>
        <p:nvSpPr>
          <p:cNvPr id="7" name="Text 5"/>
          <p:cNvSpPr/>
          <p:nvPr/>
        </p:nvSpPr>
        <p:spPr>
          <a:xfrm>
            <a:off x="2570559" y="4258032"/>
            <a:ext cx="2718673" cy="1421606"/>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Implement cost-efficient processes to offer competitive prices without compromising quality.</a:t>
            </a:r>
            <a:endParaRPr lang="en-US" sz="1750" dirty="0"/>
          </a:p>
        </p:txBody>
      </p:sp>
      <p:sp>
        <p:nvSpPr>
          <p:cNvPr id="8" name="Shape 6"/>
          <p:cNvSpPr/>
          <p:nvPr/>
        </p:nvSpPr>
        <p:spPr>
          <a:xfrm>
            <a:off x="5733574" y="3466505"/>
            <a:ext cx="3163014" cy="2737070"/>
          </a:xfrm>
          <a:prstGeom prst="roundRect">
            <a:avLst>
              <a:gd name="adj" fmla="val 2737"/>
            </a:avLst>
          </a:prstGeom>
          <a:solidFill>
            <a:srgbClr val="171542"/>
          </a:solidFill>
          <a:ln/>
        </p:spPr>
        <p:txBody>
          <a:bodyPr/>
          <a:lstStyle/>
          <a:p>
            <a:endParaRPr lang="en-US"/>
          </a:p>
        </p:txBody>
      </p:sp>
      <p:sp>
        <p:nvSpPr>
          <p:cNvPr id="9" name="Text 7"/>
          <p:cNvSpPr/>
          <p:nvPr/>
        </p:nvSpPr>
        <p:spPr>
          <a:xfrm>
            <a:off x="5955744" y="3688675"/>
            <a:ext cx="2232660"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Differentiation</a:t>
            </a:r>
            <a:endParaRPr lang="en-US" sz="2187" dirty="0"/>
          </a:p>
        </p:txBody>
      </p:sp>
      <p:sp>
        <p:nvSpPr>
          <p:cNvPr id="10" name="Text 8"/>
          <p:cNvSpPr/>
          <p:nvPr/>
        </p:nvSpPr>
        <p:spPr>
          <a:xfrm>
            <a:off x="5955744" y="4258032"/>
            <a:ext cx="2718673" cy="1421606"/>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Create unique value propositions through innovative processes and customization.</a:t>
            </a:r>
            <a:endParaRPr lang="en-US" sz="1750" dirty="0"/>
          </a:p>
        </p:txBody>
      </p:sp>
      <p:sp>
        <p:nvSpPr>
          <p:cNvPr id="11" name="Shape 9"/>
          <p:cNvSpPr/>
          <p:nvPr/>
        </p:nvSpPr>
        <p:spPr>
          <a:xfrm>
            <a:off x="9118759" y="3466505"/>
            <a:ext cx="3163014" cy="2737070"/>
          </a:xfrm>
          <a:prstGeom prst="roundRect">
            <a:avLst>
              <a:gd name="adj" fmla="val 2737"/>
            </a:avLst>
          </a:prstGeom>
          <a:solidFill>
            <a:srgbClr val="171542"/>
          </a:solidFill>
          <a:ln/>
        </p:spPr>
        <p:txBody>
          <a:bodyPr/>
          <a:lstStyle/>
          <a:p>
            <a:endParaRPr lang="en-US"/>
          </a:p>
        </p:txBody>
      </p:sp>
      <p:sp>
        <p:nvSpPr>
          <p:cNvPr id="12" name="Text 10"/>
          <p:cNvSpPr/>
          <p:nvPr/>
        </p:nvSpPr>
        <p:spPr>
          <a:xfrm>
            <a:off x="9340929" y="3688675"/>
            <a:ext cx="2221944"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Speed</a:t>
            </a:r>
            <a:endParaRPr lang="en-US" sz="2187" dirty="0"/>
          </a:p>
        </p:txBody>
      </p:sp>
      <p:sp>
        <p:nvSpPr>
          <p:cNvPr id="13" name="Text 11"/>
          <p:cNvSpPr/>
          <p:nvPr/>
        </p:nvSpPr>
        <p:spPr>
          <a:xfrm>
            <a:off x="9340929" y="4258032"/>
            <a:ext cx="2718673" cy="1421606"/>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Efficient and agile operations to meet customer demands faster than competitors.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dirty="0"/>
          </a:p>
        </p:txBody>
      </p:sp>
      <p:sp>
        <p:nvSpPr>
          <p:cNvPr id="3" name="Shape 1"/>
          <p:cNvSpPr/>
          <p:nvPr/>
        </p:nvSpPr>
        <p:spPr>
          <a:xfrm>
            <a:off x="0" y="-2108718"/>
            <a:ext cx="14630400" cy="8229600"/>
          </a:xfrm>
          <a:prstGeom prst="rect">
            <a:avLst/>
          </a:prstGeom>
          <a:solidFill>
            <a:srgbClr val="0C0A33"/>
          </a:solidFill>
          <a:ln/>
        </p:spPr>
        <p:txBody>
          <a:bodyPr/>
          <a:lstStyle/>
          <a:p>
            <a:endParaRPr lang="en-US"/>
          </a:p>
        </p:txBody>
      </p:sp>
      <p:sp>
        <p:nvSpPr>
          <p:cNvPr id="5" name="Text 3"/>
          <p:cNvSpPr/>
          <p:nvPr/>
        </p:nvSpPr>
        <p:spPr>
          <a:xfrm>
            <a:off x="833199" y="418454"/>
            <a:ext cx="7477601" cy="6772760"/>
          </a:xfrm>
          <a:prstGeom prst="rect">
            <a:avLst/>
          </a:prstGeom>
          <a:noFill/>
          <a:ln/>
        </p:spPr>
        <p:txBody>
          <a:bodyPr wrap="square" rtlCol="0" anchor="t"/>
          <a:lstStyle/>
          <a:p>
            <a:pPr marL="0" indent="0">
              <a:lnSpc>
                <a:spcPts val="2799"/>
              </a:lnSpc>
              <a:buNone/>
            </a:pPr>
            <a:endParaRPr lang="en-US" sz="1750" dirty="0">
              <a:solidFill>
                <a:srgbClr val="D9E1FF"/>
              </a:solidFill>
              <a:latin typeface="Arimo" pitchFamily="34" charset="0"/>
              <a:ea typeface="Arimo" pitchFamily="34" charset="-122"/>
              <a:cs typeface="Arimo" pitchFamily="34" charset="-120"/>
            </a:endParaRPr>
          </a:p>
          <a:p>
            <a:pPr marL="342900" indent="-342900">
              <a:lnSpc>
                <a:spcPts val="2799"/>
              </a:lnSpc>
              <a:buAutoNum type="arabicPeriod"/>
            </a:pPr>
            <a:r>
              <a:rPr lang="en-US" sz="1750" dirty="0" smtClean="0">
                <a:solidFill>
                  <a:srgbClr val="D9E1FF"/>
                </a:solidFill>
                <a:latin typeface="Arimo" pitchFamily="34" charset="0"/>
                <a:ea typeface="Arimo" pitchFamily="34" charset="-122"/>
              </a:rPr>
              <a:t>Specified Product Selection</a:t>
            </a:r>
          </a:p>
          <a:p>
            <a:pPr marL="342900" indent="-342900">
              <a:lnSpc>
                <a:spcPts val="2799"/>
              </a:lnSpc>
              <a:buAutoNum type="arabicPeriod"/>
            </a:pPr>
            <a:r>
              <a:rPr lang="en-US" sz="1750" dirty="0" smtClean="0">
                <a:solidFill>
                  <a:srgbClr val="D9E1FF"/>
                </a:solidFill>
                <a:latin typeface="Arimo" pitchFamily="34" charset="0"/>
                <a:ea typeface="Arimo" pitchFamily="34" charset="-122"/>
              </a:rPr>
              <a:t>Faster Delivery</a:t>
            </a:r>
            <a:endParaRPr lang="en-US" sz="1750" dirty="0">
              <a:solidFill>
                <a:srgbClr val="D9E1FF"/>
              </a:solidFill>
              <a:latin typeface="Arimo" pitchFamily="34" charset="0"/>
              <a:ea typeface="Arimo" pitchFamily="34" charset="-122"/>
            </a:endParaRPr>
          </a:p>
          <a:p>
            <a:pPr marL="342900" indent="-342900">
              <a:lnSpc>
                <a:spcPts val="2799"/>
              </a:lnSpc>
              <a:buAutoNum type="arabicPeriod"/>
            </a:pPr>
            <a:r>
              <a:rPr lang="en-US" sz="1750" dirty="0" smtClean="0">
                <a:solidFill>
                  <a:srgbClr val="D9E1FF"/>
                </a:solidFill>
                <a:latin typeface="Arimo" pitchFamily="34" charset="0"/>
                <a:ea typeface="Arimo" pitchFamily="34" charset="-122"/>
              </a:rPr>
              <a:t> Cheaper Price</a:t>
            </a:r>
          </a:p>
          <a:p>
            <a:pPr marL="342900" indent="-342900">
              <a:lnSpc>
                <a:spcPts val="2799"/>
              </a:lnSpc>
              <a:buAutoNum type="arabicPeriod"/>
            </a:pPr>
            <a:r>
              <a:rPr lang="en-US" sz="1750" dirty="0" smtClean="0">
                <a:solidFill>
                  <a:srgbClr val="D9E1FF"/>
                </a:solidFill>
                <a:latin typeface="Arimo" pitchFamily="34" charset="0"/>
                <a:ea typeface="Arimo" pitchFamily="34" charset="-122"/>
              </a:rPr>
              <a:t>Better Quality</a:t>
            </a:r>
          </a:p>
          <a:p>
            <a:pPr marL="342900" indent="-342900">
              <a:lnSpc>
                <a:spcPts val="2799"/>
              </a:lnSpc>
              <a:buAutoNum type="arabicPeriod"/>
            </a:pPr>
            <a:r>
              <a:rPr lang="en-US" sz="1750" dirty="0" smtClean="0">
                <a:solidFill>
                  <a:srgbClr val="D9E1FF"/>
                </a:solidFill>
                <a:latin typeface="Arimo" pitchFamily="34" charset="0"/>
                <a:ea typeface="Arimo" pitchFamily="34" charset="-122"/>
              </a:rPr>
              <a:t>Customer Loyalty</a:t>
            </a:r>
          </a:p>
          <a:p>
            <a:pPr marL="342900" indent="-342900">
              <a:lnSpc>
                <a:spcPts val="2799"/>
              </a:lnSpc>
              <a:buAutoNum type="arabicPeriod"/>
            </a:pPr>
            <a:r>
              <a:rPr lang="en-US" sz="1750" dirty="0" smtClean="0">
                <a:solidFill>
                  <a:srgbClr val="D9E1FF"/>
                </a:solidFill>
                <a:latin typeface="Arimo" pitchFamily="34" charset="0"/>
                <a:ea typeface="Arimo" pitchFamily="34" charset="-122"/>
              </a:rPr>
              <a:t>Better Volume</a:t>
            </a:r>
            <a:endParaRPr lang="en-US" sz="1750" dirty="0">
              <a:solidFill>
                <a:srgbClr val="D9E1FF"/>
              </a:solidFill>
              <a:latin typeface="Arimo" pitchFamily="34" charset="0"/>
              <a:ea typeface="Arimo" pitchFamily="34" charset="-122"/>
            </a:endParaRPr>
          </a:p>
          <a:p>
            <a:pPr marL="342900" indent="-342900">
              <a:lnSpc>
                <a:spcPts val="2799"/>
              </a:lnSpc>
              <a:buAutoNum type="arabicPeriod"/>
            </a:pPr>
            <a:r>
              <a:rPr lang="en-US" sz="1750" dirty="0" smtClean="0">
                <a:solidFill>
                  <a:srgbClr val="D9E1FF"/>
                </a:solidFill>
                <a:latin typeface="Arimo" pitchFamily="34" charset="0"/>
                <a:ea typeface="Arimo" pitchFamily="34" charset="-122"/>
              </a:rPr>
              <a:t>Right Quantity</a:t>
            </a:r>
            <a:endParaRPr lang="en-US" sz="1750" dirty="0">
              <a:solidFill>
                <a:srgbClr val="D9E1FF"/>
              </a:solidFill>
              <a:latin typeface="Arimo" pitchFamily="34" charset="0"/>
              <a:ea typeface="Arimo" pitchFamily="34" charset="-122"/>
            </a:endParaRPr>
          </a:p>
          <a:p>
            <a:pPr marL="342900" indent="-342900">
              <a:lnSpc>
                <a:spcPts val="2799"/>
              </a:lnSpc>
              <a:buAutoNum type="arabicPeriod"/>
            </a:pPr>
            <a:r>
              <a:rPr lang="en-US" sz="1750" dirty="0" smtClean="0">
                <a:solidFill>
                  <a:srgbClr val="D9E1FF"/>
                </a:solidFill>
                <a:latin typeface="Arimo" pitchFamily="34" charset="0"/>
                <a:ea typeface="Arimo" pitchFamily="34" charset="-122"/>
              </a:rPr>
              <a:t>Timely Delivery</a:t>
            </a:r>
            <a:endParaRPr lang="en-US" sz="1750" dirty="0">
              <a:solidFill>
                <a:srgbClr val="D9E1FF"/>
              </a:solidFill>
              <a:latin typeface="Arimo" pitchFamily="34" charset="0"/>
              <a:ea typeface="Arimo" pitchFamily="34" charset="-122"/>
            </a:endParaRPr>
          </a:p>
          <a:p>
            <a:pPr marL="342900" indent="-342900">
              <a:lnSpc>
                <a:spcPts val="2799"/>
              </a:lnSpc>
              <a:buAutoNum type="arabicPeriod"/>
            </a:pPr>
            <a:r>
              <a:rPr lang="en-US" sz="1750" dirty="0" smtClean="0">
                <a:solidFill>
                  <a:srgbClr val="D9E1FF"/>
                </a:solidFill>
                <a:latin typeface="Arimo" pitchFamily="34" charset="0"/>
                <a:ea typeface="Arimo" pitchFamily="34" charset="-122"/>
              </a:rPr>
              <a:t>Creation of Goodwill</a:t>
            </a:r>
            <a:endParaRPr lang="en-US" sz="1750" dirty="0">
              <a:solidFill>
                <a:srgbClr val="D9E1FF"/>
              </a:solidFill>
              <a:latin typeface="Arimo" pitchFamily="34" charset="0"/>
              <a:ea typeface="Arimo" pitchFamily="34" charset="-122"/>
            </a:endParaRPr>
          </a:p>
          <a:p>
            <a:pPr marL="342900" indent="-342900">
              <a:lnSpc>
                <a:spcPts val="2799"/>
              </a:lnSpc>
              <a:buAutoNum type="arabicPeriod"/>
            </a:pPr>
            <a:r>
              <a:rPr lang="en-US" sz="1750" dirty="0" smtClean="0">
                <a:solidFill>
                  <a:srgbClr val="D9E1FF"/>
                </a:solidFill>
                <a:latin typeface="Arimo" pitchFamily="34" charset="0"/>
                <a:ea typeface="Arimo" pitchFamily="34" charset="-122"/>
              </a:rPr>
              <a:t>Branding</a:t>
            </a:r>
          </a:p>
          <a:p>
            <a:pPr marL="342900" indent="-342900">
              <a:lnSpc>
                <a:spcPts val="2799"/>
              </a:lnSpc>
              <a:buAutoNum type="arabicPeriod"/>
            </a:pPr>
            <a:r>
              <a:rPr lang="en-US" sz="1750" dirty="0" smtClean="0">
                <a:solidFill>
                  <a:srgbClr val="D9E1FF"/>
                </a:solidFill>
                <a:latin typeface="Arimo" pitchFamily="34" charset="0"/>
                <a:ea typeface="Arimo" pitchFamily="34" charset="-122"/>
              </a:rPr>
              <a:t>Increased Responsiveness</a:t>
            </a:r>
          </a:p>
          <a:p>
            <a:pPr marL="342900" indent="-342900">
              <a:lnSpc>
                <a:spcPts val="2799"/>
              </a:lnSpc>
              <a:buAutoNum type="arabicPeriod"/>
            </a:pPr>
            <a:r>
              <a:rPr lang="en-US" sz="1750" dirty="0" smtClean="0">
                <a:solidFill>
                  <a:srgbClr val="D9E1FF"/>
                </a:solidFill>
                <a:latin typeface="Arimo" pitchFamily="34" charset="0"/>
                <a:ea typeface="Arimo" pitchFamily="34" charset="-122"/>
              </a:rPr>
              <a:t> Increased Output</a:t>
            </a:r>
          </a:p>
          <a:p>
            <a:pPr marL="342900" indent="-342900">
              <a:lnSpc>
                <a:spcPts val="2799"/>
              </a:lnSpc>
            </a:pPr>
            <a:endParaRPr lang="en-US" sz="1750" dirty="0" smtClean="0">
              <a:solidFill>
                <a:srgbClr val="D9E1FF"/>
              </a:solidFill>
              <a:latin typeface="Arimo" pitchFamily="34" charset="0"/>
              <a:ea typeface="Arimo" pitchFamily="34" charset="-122"/>
            </a:endParaRPr>
          </a:p>
          <a:p>
            <a:pPr marL="342900" indent="-342900">
              <a:lnSpc>
                <a:spcPts val="2799"/>
              </a:lnSpc>
              <a:buFont typeface="Wingdings" pitchFamily="2" charset="2"/>
              <a:buChar char="§"/>
            </a:pPr>
            <a:r>
              <a:rPr lang="en-US" sz="1750" dirty="0" smtClean="0">
                <a:solidFill>
                  <a:schemeClr val="bg1"/>
                </a:solidFill>
                <a:latin typeface="Arimo"/>
                <a:ea typeface="Arimo"/>
                <a:cs typeface="Times New Roman" panose="02020603050405020304" pitchFamily="18" charset="0"/>
              </a:rPr>
              <a:t>Growth of E-commerce.(e.g. Swiggy, Amazon)</a:t>
            </a:r>
          </a:p>
          <a:p>
            <a:pPr marL="342900" indent="-342900">
              <a:lnSpc>
                <a:spcPts val="2799"/>
              </a:lnSpc>
              <a:buFont typeface="Wingdings" pitchFamily="2" charset="2"/>
              <a:buChar char="§"/>
            </a:pPr>
            <a:r>
              <a:rPr lang="en-US" sz="1750" dirty="0" smtClean="0">
                <a:solidFill>
                  <a:schemeClr val="bg1"/>
                </a:solidFill>
                <a:latin typeface="Arimo"/>
                <a:ea typeface="Arimo"/>
                <a:cs typeface="Times New Roman" panose="02020603050405020304" pitchFamily="18" charset="0"/>
              </a:rPr>
              <a:t>Productivity is very important for nation</a:t>
            </a:r>
          </a:p>
          <a:p>
            <a:pPr marL="342900" indent="-342900">
              <a:lnSpc>
                <a:spcPts val="2799"/>
              </a:lnSpc>
              <a:buFont typeface="Wingdings" pitchFamily="2" charset="2"/>
              <a:buChar char="§"/>
            </a:pPr>
            <a:r>
              <a:rPr lang="en-US" sz="1750" dirty="0" smtClean="0">
                <a:solidFill>
                  <a:schemeClr val="bg1"/>
                </a:solidFill>
                <a:latin typeface="Arimo"/>
                <a:ea typeface="Arimo"/>
                <a:cs typeface="Times New Roman" panose="02020603050405020304" pitchFamily="18" charset="0"/>
              </a:rPr>
              <a:t>Every aspects of business is affected by its operations</a:t>
            </a:r>
          </a:p>
          <a:p>
            <a:pPr marL="342900" indent="-342900">
              <a:lnSpc>
                <a:spcPts val="2799"/>
              </a:lnSpc>
              <a:buFont typeface="Wingdings" pitchFamily="2" charset="2"/>
              <a:buChar char="§"/>
            </a:pPr>
            <a:r>
              <a:rPr lang="en-US" sz="1750" dirty="0" smtClean="0">
                <a:solidFill>
                  <a:schemeClr val="bg1"/>
                </a:solidFill>
                <a:latin typeface="Arimo"/>
                <a:ea typeface="Arimo"/>
                <a:cs typeface="Times New Roman" panose="02020603050405020304" pitchFamily="18" charset="0"/>
              </a:rPr>
              <a:t>Every organization need to streamline their activities eventually resulting maximum profit</a:t>
            </a:r>
            <a:r>
              <a:rPr lang="en-US" sz="1600" dirty="0" smtClean="0">
                <a:latin typeface="Times New Roman" panose="02020603050405020304" pitchFamily="18" charset="0"/>
                <a:cs typeface="Times New Roman" panose="02020603050405020304" pitchFamily="18" charset="0"/>
              </a:rPr>
              <a:t>.</a:t>
            </a:r>
            <a:endParaRPr lang="en-US" sz="1750" dirty="0">
              <a:solidFill>
                <a:schemeClr val="bg1"/>
              </a:solidFill>
              <a:latin typeface="Arimo"/>
              <a:ea typeface="Arimo"/>
            </a:endParaRPr>
          </a:p>
        </p:txBody>
      </p:sp>
      <p:pic>
        <p:nvPicPr>
          <p:cNvPr id="6" name="Image 0" descr="preencoded.png"/>
          <p:cNvPicPr>
            <a:picLocks noChangeAspect="1"/>
          </p:cNvPicPr>
          <p:nvPr/>
        </p:nvPicPr>
        <p:blipFill>
          <a:blip r:embed="rId3"/>
          <a:stretch>
            <a:fillRect/>
          </a:stretch>
        </p:blipFill>
        <p:spPr>
          <a:xfrm>
            <a:off x="9144000" y="-15498"/>
            <a:ext cx="5486400" cy="8229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2348389" y="833676"/>
            <a:ext cx="9933503" cy="1388745"/>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What Will You Learn in OM Specialization?</a:t>
            </a:r>
            <a:endParaRPr lang="en-US" sz="4374" dirty="0"/>
          </a:p>
        </p:txBody>
      </p:sp>
      <p:sp>
        <p:nvSpPr>
          <p:cNvPr id="5" name="Shape 3"/>
          <p:cNvSpPr/>
          <p:nvPr/>
        </p:nvSpPr>
        <p:spPr>
          <a:xfrm>
            <a:off x="7301270" y="2666762"/>
            <a:ext cx="27742" cy="4729163"/>
          </a:xfrm>
          <a:prstGeom prst="rect">
            <a:avLst/>
          </a:prstGeom>
          <a:solidFill>
            <a:srgbClr val="8061FF"/>
          </a:solidFill>
          <a:ln/>
        </p:spPr>
        <p:txBody>
          <a:bodyPr/>
          <a:lstStyle/>
          <a:p>
            <a:endParaRPr lang="en-US"/>
          </a:p>
        </p:txBody>
      </p:sp>
      <p:sp>
        <p:nvSpPr>
          <p:cNvPr id="6" name="Shape 4"/>
          <p:cNvSpPr/>
          <p:nvPr/>
        </p:nvSpPr>
        <p:spPr>
          <a:xfrm>
            <a:off x="7565053" y="3076396"/>
            <a:ext cx="777597" cy="27742"/>
          </a:xfrm>
          <a:prstGeom prst="rect">
            <a:avLst/>
          </a:prstGeom>
          <a:solidFill>
            <a:srgbClr val="8061FF"/>
          </a:solidFill>
          <a:ln/>
        </p:spPr>
        <p:txBody>
          <a:bodyPr/>
          <a:lstStyle/>
          <a:p>
            <a:endParaRPr lang="en-US"/>
          </a:p>
        </p:txBody>
      </p:sp>
      <p:sp>
        <p:nvSpPr>
          <p:cNvPr id="7" name="Shape 5"/>
          <p:cNvSpPr/>
          <p:nvPr/>
        </p:nvSpPr>
        <p:spPr>
          <a:xfrm>
            <a:off x="7065109" y="2840355"/>
            <a:ext cx="499943" cy="499943"/>
          </a:xfrm>
          <a:prstGeom prst="roundRect">
            <a:avLst>
              <a:gd name="adj" fmla="val 13333"/>
            </a:avLst>
          </a:prstGeom>
          <a:solidFill>
            <a:srgbClr val="171542"/>
          </a:solidFill>
          <a:ln/>
        </p:spPr>
        <p:txBody>
          <a:bodyPr/>
          <a:lstStyle/>
          <a:p>
            <a:endParaRPr lang="en-US"/>
          </a:p>
        </p:txBody>
      </p:sp>
      <p:sp>
        <p:nvSpPr>
          <p:cNvPr id="8" name="Text 6"/>
          <p:cNvSpPr/>
          <p:nvPr/>
        </p:nvSpPr>
        <p:spPr>
          <a:xfrm>
            <a:off x="7250251" y="2882027"/>
            <a:ext cx="1295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1</a:t>
            </a:r>
            <a:endParaRPr lang="en-US" sz="2624" dirty="0"/>
          </a:p>
        </p:txBody>
      </p:sp>
      <p:sp>
        <p:nvSpPr>
          <p:cNvPr id="9" name="Text 7"/>
          <p:cNvSpPr/>
          <p:nvPr/>
        </p:nvSpPr>
        <p:spPr>
          <a:xfrm>
            <a:off x="8537138" y="2888933"/>
            <a:ext cx="2781300" cy="347186"/>
          </a:xfrm>
          <a:prstGeom prst="rect">
            <a:avLst/>
          </a:prstGeom>
          <a:noFill/>
          <a:ln/>
        </p:spPr>
        <p:txBody>
          <a:bodyPr wrap="non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Strategic Planning</a:t>
            </a:r>
            <a:endParaRPr lang="en-US" sz="2187" dirty="0"/>
          </a:p>
        </p:txBody>
      </p:sp>
      <p:sp>
        <p:nvSpPr>
          <p:cNvPr id="10" name="Text 8"/>
          <p:cNvSpPr/>
          <p:nvPr/>
        </p:nvSpPr>
        <p:spPr>
          <a:xfrm>
            <a:off x="8537138" y="3458289"/>
            <a:ext cx="3744754" cy="1066205"/>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Learn to align operations with overall business strategy for sustainable growth.</a:t>
            </a:r>
            <a:endParaRPr lang="en-US" sz="1750" dirty="0"/>
          </a:p>
        </p:txBody>
      </p:sp>
      <p:sp>
        <p:nvSpPr>
          <p:cNvPr id="11" name="Shape 9"/>
          <p:cNvSpPr/>
          <p:nvPr/>
        </p:nvSpPr>
        <p:spPr>
          <a:xfrm>
            <a:off x="6287512" y="4187250"/>
            <a:ext cx="777597" cy="27742"/>
          </a:xfrm>
          <a:prstGeom prst="rect">
            <a:avLst/>
          </a:prstGeom>
          <a:solidFill>
            <a:srgbClr val="8061FF"/>
          </a:solidFill>
          <a:ln/>
        </p:spPr>
        <p:txBody>
          <a:bodyPr/>
          <a:lstStyle/>
          <a:p>
            <a:endParaRPr lang="en-US"/>
          </a:p>
        </p:txBody>
      </p:sp>
      <p:sp>
        <p:nvSpPr>
          <p:cNvPr id="12" name="Shape 10"/>
          <p:cNvSpPr/>
          <p:nvPr/>
        </p:nvSpPr>
        <p:spPr>
          <a:xfrm>
            <a:off x="7065109" y="3951208"/>
            <a:ext cx="499943" cy="499943"/>
          </a:xfrm>
          <a:prstGeom prst="roundRect">
            <a:avLst>
              <a:gd name="adj" fmla="val 13333"/>
            </a:avLst>
          </a:prstGeom>
          <a:solidFill>
            <a:srgbClr val="171542"/>
          </a:solidFill>
          <a:ln/>
        </p:spPr>
        <p:txBody>
          <a:bodyPr/>
          <a:lstStyle/>
          <a:p>
            <a:endParaRPr lang="en-US"/>
          </a:p>
        </p:txBody>
      </p:sp>
      <p:sp>
        <p:nvSpPr>
          <p:cNvPr id="13" name="Text 11"/>
          <p:cNvSpPr/>
          <p:nvPr/>
        </p:nvSpPr>
        <p:spPr>
          <a:xfrm>
            <a:off x="7212151" y="3992880"/>
            <a:ext cx="2057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2</a:t>
            </a:r>
            <a:endParaRPr lang="en-US" sz="2624" dirty="0"/>
          </a:p>
        </p:txBody>
      </p:sp>
      <p:sp>
        <p:nvSpPr>
          <p:cNvPr id="14" name="Text 12"/>
          <p:cNvSpPr/>
          <p:nvPr/>
        </p:nvSpPr>
        <p:spPr>
          <a:xfrm>
            <a:off x="2348389" y="3999786"/>
            <a:ext cx="3744635" cy="694373"/>
          </a:xfrm>
          <a:prstGeom prst="rect">
            <a:avLst/>
          </a:prstGeom>
          <a:noFill/>
          <a:ln/>
        </p:spPr>
        <p:txBody>
          <a:bodyPr wrap="square" rtlCol="0" anchor="t"/>
          <a:lstStyle/>
          <a:p>
            <a:pPr marL="0" indent="0" algn="r">
              <a:lnSpc>
                <a:spcPts val="2734"/>
              </a:lnSpc>
              <a:buNone/>
            </a:pPr>
            <a:r>
              <a:rPr lang="en-US" sz="2187" b="1" dirty="0">
                <a:solidFill>
                  <a:srgbClr val="FFFFFF"/>
                </a:solidFill>
                <a:latin typeface="Syne" pitchFamily="34" charset="0"/>
                <a:ea typeface="Syne" pitchFamily="34" charset="-122"/>
                <a:cs typeface="Syne" pitchFamily="34" charset="-120"/>
              </a:rPr>
              <a:t>Process Design and Improvement</a:t>
            </a:r>
            <a:endParaRPr lang="en-US" sz="2187" dirty="0"/>
          </a:p>
        </p:txBody>
      </p:sp>
      <p:sp>
        <p:nvSpPr>
          <p:cNvPr id="15" name="Text 13"/>
          <p:cNvSpPr/>
          <p:nvPr/>
        </p:nvSpPr>
        <p:spPr>
          <a:xfrm>
            <a:off x="2348389" y="4916329"/>
            <a:ext cx="3744635" cy="710803"/>
          </a:xfrm>
          <a:prstGeom prst="rect">
            <a:avLst/>
          </a:prstGeom>
          <a:noFill/>
          <a:ln/>
        </p:spPr>
        <p:txBody>
          <a:bodyPr wrap="square" rtlCol="0" anchor="t"/>
          <a:lstStyle/>
          <a:p>
            <a:pPr marL="0" indent="0" algn="r">
              <a:lnSpc>
                <a:spcPts val="2799"/>
              </a:lnSpc>
              <a:buNone/>
            </a:pPr>
            <a:r>
              <a:rPr lang="en-US" sz="1750" dirty="0">
                <a:solidFill>
                  <a:srgbClr val="D9E1FF"/>
                </a:solidFill>
                <a:latin typeface="Arimo" pitchFamily="34" charset="0"/>
                <a:ea typeface="Arimo" pitchFamily="34" charset="-122"/>
                <a:cs typeface="Arimo" pitchFamily="34" charset="-120"/>
              </a:rPr>
              <a:t>Master the art of designing and optimizing operational processes.</a:t>
            </a:r>
            <a:endParaRPr lang="en-US" sz="1750" dirty="0"/>
          </a:p>
        </p:txBody>
      </p:sp>
      <p:sp>
        <p:nvSpPr>
          <p:cNvPr id="16" name="Shape 14"/>
          <p:cNvSpPr/>
          <p:nvPr/>
        </p:nvSpPr>
        <p:spPr>
          <a:xfrm>
            <a:off x="7565053" y="5378470"/>
            <a:ext cx="777597" cy="27742"/>
          </a:xfrm>
          <a:prstGeom prst="rect">
            <a:avLst/>
          </a:prstGeom>
          <a:solidFill>
            <a:srgbClr val="8061FF"/>
          </a:solidFill>
          <a:ln/>
        </p:spPr>
        <p:txBody>
          <a:bodyPr/>
          <a:lstStyle/>
          <a:p>
            <a:endParaRPr lang="en-US"/>
          </a:p>
        </p:txBody>
      </p:sp>
      <p:sp>
        <p:nvSpPr>
          <p:cNvPr id="17" name="Shape 15"/>
          <p:cNvSpPr/>
          <p:nvPr/>
        </p:nvSpPr>
        <p:spPr>
          <a:xfrm>
            <a:off x="7065109" y="5142428"/>
            <a:ext cx="499943" cy="499943"/>
          </a:xfrm>
          <a:prstGeom prst="roundRect">
            <a:avLst>
              <a:gd name="adj" fmla="val 13333"/>
            </a:avLst>
          </a:prstGeom>
          <a:solidFill>
            <a:srgbClr val="171542"/>
          </a:solidFill>
          <a:ln/>
        </p:spPr>
        <p:txBody>
          <a:bodyPr/>
          <a:lstStyle/>
          <a:p>
            <a:endParaRPr lang="en-US"/>
          </a:p>
        </p:txBody>
      </p:sp>
      <p:sp>
        <p:nvSpPr>
          <p:cNvPr id="18" name="Text 16"/>
          <p:cNvSpPr/>
          <p:nvPr/>
        </p:nvSpPr>
        <p:spPr>
          <a:xfrm>
            <a:off x="7208341" y="5184100"/>
            <a:ext cx="21336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3</a:t>
            </a:r>
            <a:endParaRPr lang="en-US" sz="2624" dirty="0"/>
          </a:p>
        </p:txBody>
      </p:sp>
      <p:sp>
        <p:nvSpPr>
          <p:cNvPr id="19" name="Text 17"/>
          <p:cNvSpPr/>
          <p:nvPr/>
        </p:nvSpPr>
        <p:spPr>
          <a:xfrm>
            <a:off x="8537138" y="5191006"/>
            <a:ext cx="3744754" cy="694373"/>
          </a:xfrm>
          <a:prstGeom prst="rect">
            <a:avLst/>
          </a:prstGeom>
          <a:noFill/>
          <a:ln/>
        </p:spPr>
        <p:txBody>
          <a:bodyPr wrap="squar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Supply Chain Management</a:t>
            </a:r>
            <a:endParaRPr lang="en-US" sz="2187" dirty="0"/>
          </a:p>
        </p:txBody>
      </p:sp>
      <p:sp>
        <p:nvSpPr>
          <p:cNvPr id="20" name="Text 18"/>
          <p:cNvSpPr/>
          <p:nvPr/>
        </p:nvSpPr>
        <p:spPr>
          <a:xfrm>
            <a:off x="8537138" y="6107549"/>
            <a:ext cx="3744754" cy="1066205"/>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Understand how to manage the flow of goods and services throughout the supply chain effectively.</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2348389" y="656987"/>
            <a:ext cx="9837420" cy="694373"/>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Career Path for MBA Operations</a:t>
            </a:r>
            <a:endParaRPr lang="en-US" sz="4374" dirty="0"/>
          </a:p>
        </p:txBody>
      </p:sp>
      <p:sp>
        <p:nvSpPr>
          <p:cNvPr id="5" name="Shape 3"/>
          <p:cNvSpPr/>
          <p:nvPr/>
        </p:nvSpPr>
        <p:spPr>
          <a:xfrm>
            <a:off x="2667833" y="1795701"/>
            <a:ext cx="27742" cy="5776793"/>
          </a:xfrm>
          <a:prstGeom prst="rect">
            <a:avLst/>
          </a:prstGeom>
          <a:solidFill>
            <a:srgbClr val="8061FF"/>
          </a:solidFill>
          <a:ln/>
        </p:spPr>
        <p:txBody>
          <a:bodyPr/>
          <a:lstStyle/>
          <a:p>
            <a:endParaRPr lang="en-US"/>
          </a:p>
        </p:txBody>
      </p:sp>
      <p:sp>
        <p:nvSpPr>
          <p:cNvPr id="6" name="Shape 4"/>
          <p:cNvSpPr/>
          <p:nvPr/>
        </p:nvSpPr>
        <p:spPr>
          <a:xfrm>
            <a:off x="2931616" y="2205335"/>
            <a:ext cx="777597" cy="27742"/>
          </a:xfrm>
          <a:prstGeom prst="rect">
            <a:avLst/>
          </a:prstGeom>
          <a:solidFill>
            <a:srgbClr val="8061FF"/>
          </a:solidFill>
          <a:ln/>
        </p:spPr>
        <p:txBody>
          <a:bodyPr/>
          <a:lstStyle/>
          <a:p>
            <a:endParaRPr lang="en-US"/>
          </a:p>
        </p:txBody>
      </p:sp>
      <p:sp>
        <p:nvSpPr>
          <p:cNvPr id="7" name="Shape 5"/>
          <p:cNvSpPr/>
          <p:nvPr/>
        </p:nvSpPr>
        <p:spPr>
          <a:xfrm>
            <a:off x="2431673" y="1969294"/>
            <a:ext cx="499943" cy="499943"/>
          </a:xfrm>
          <a:prstGeom prst="roundRect">
            <a:avLst>
              <a:gd name="adj" fmla="val 13333"/>
            </a:avLst>
          </a:prstGeom>
          <a:solidFill>
            <a:srgbClr val="171542"/>
          </a:solidFill>
          <a:ln/>
        </p:spPr>
        <p:txBody>
          <a:bodyPr/>
          <a:lstStyle/>
          <a:p>
            <a:endParaRPr lang="en-US"/>
          </a:p>
        </p:txBody>
      </p:sp>
      <p:sp>
        <p:nvSpPr>
          <p:cNvPr id="8" name="Text 6"/>
          <p:cNvSpPr/>
          <p:nvPr/>
        </p:nvSpPr>
        <p:spPr>
          <a:xfrm>
            <a:off x="2616815" y="2010966"/>
            <a:ext cx="1295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1</a:t>
            </a:r>
            <a:endParaRPr lang="en-US" sz="2624" dirty="0"/>
          </a:p>
        </p:txBody>
      </p:sp>
      <p:sp>
        <p:nvSpPr>
          <p:cNvPr id="9" name="Text 7"/>
          <p:cNvSpPr/>
          <p:nvPr/>
        </p:nvSpPr>
        <p:spPr>
          <a:xfrm>
            <a:off x="3903702" y="2017871"/>
            <a:ext cx="2667000" cy="347186"/>
          </a:xfrm>
          <a:prstGeom prst="rect">
            <a:avLst/>
          </a:prstGeom>
          <a:noFill/>
          <a:ln/>
        </p:spPr>
        <p:txBody>
          <a:bodyPr wrap="non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Entry-Level Roles</a:t>
            </a:r>
            <a:endParaRPr lang="en-US" sz="2187" dirty="0"/>
          </a:p>
        </p:txBody>
      </p:sp>
      <p:sp>
        <p:nvSpPr>
          <p:cNvPr id="10" name="Text 8"/>
          <p:cNvSpPr/>
          <p:nvPr/>
        </p:nvSpPr>
        <p:spPr>
          <a:xfrm>
            <a:off x="3903702" y="2587228"/>
            <a:ext cx="8378190" cy="710803"/>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Join as an Operations Analyst or Management Trainee to gain hands-on experience in various operations functions.</a:t>
            </a:r>
            <a:endParaRPr lang="en-US" sz="1750" dirty="0"/>
          </a:p>
        </p:txBody>
      </p:sp>
      <p:sp>
        <p:nvSpPr>
          <p:cNvPr id="11" name="Shape 9"/>
          <p:cNvSpPr/>
          <p:nvPr/>
        </p:nvSpPr>
        <p:spPr>
          <a:xfrm>
            <a:off x="2931616" y="4204990"/>
            <a:ext cx="777597" cy="27742"/>
          </a:xfrm>
          <a:prstGeom prst="rect">
            <a:avLst/>
          </a:prstGeom>
          <a:solidFill>
            <a:srgbClr val="8061FF"/>
          </a:solidFill>
          <a:ln/>
        </p:spPr>
        <p:txBody>
          <a:bodyPr/>
          <a:lstStyle/>
          <a:p>
            <a:endParaRPr lang="en-US"/>
          </a:p>
        </p:txBody>
      </p:sp>
      <p:sp>
        <p:nvSpPr>
          <p:cNvPr id="12" name="Shape 10"/>
          <p:cNvSpPr/>
          <p:nvPr/>
        </p:nvSpPr>
        <p:spPr>
          <a:xfrm>
            <a:off x="2431673" y="3968948"/>
            <a:ext cx="499943" cy="499943"/>
          </a:xfrm>
          <a:prstGeom prst="roundRect">
            <a:avLst>
              <a:gd name="adj" fmla="val 13333"/>
            </a:avLst>
          </a:prstGeom>
          <a:solidFill>
            <a:srgbClr val="171542"/>
          </a:solidFill>
          <a:ln/>
        </p:spPr>
        <p:txBody>
          <a:bodyPr/>
          <a:lstStyle/>
          <a:p>
            <a:endParaRPr lang="en-US"/>
          </a:p>
        </p:txBody>
      </p:sp>
      <p:sp>
        <p:nvSpPr>
          <p:cNvPr id="13" name="Text 11"/>
          <p:cNvSpPr/>
          <p:nvPr/>
        </p:nvSpPr>
        <p:spPr>
          <a:xfrm>
            <a:off x="2578715" y="4010620"/>
            <a:ext cx="2057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2</a:t>
            </a:r>
            <a:endParaRPr lang="en-US" sz="2624" dirty="0"/>
          </a:p>
        </p:txBody>
      </p:sp>
      <p:sp>
        <p:nvSpPr>
          <p:cNvPr id="14" name="Text 12"/>
          <p:cNvSpPr/>
          <p:nvPr/>
        </p:nvSpPr>
        <p:spPr>
          <a:xfrm>
            <a:off x="3903702" y="4017526"/>
            <a:ext cx="3208020" cy="347186"/>
          </a:xfrm>
          <a:prstGeom prst="rect">
            <a:avLst/>
          </a:prstGeom>
          <a:noFill/>
          <a:ln/>
        </p:spPr>
        <p:txBody>
          <a:bodyPr wrap="non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Middle Management</a:t>
            </a:r>
            <a:endParaRPr lang="en-US" sz="2187" dirty="0"/>
          </a:p>
        </p:txBody>
      </p:sp>
      <p:sp>
        <p:nvSpPr>
          <p:cNvPr id="15" name="Text 13"/>
          <p:cNvSpPr/>
          <p:nvPr/>
        </p:nvSpPr>
        <p:spPr>
          <a:xfrm>
            <a:off x="3903702" y="4586883"/>
            <a:ext cx="8378190" cy="710803"/>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Progress to roles like Operations Manager or Supply Chain Manager, overseeing larger teams and operational strategies.</a:t>
            </a:r>
            <a:endParaRPr lang="en-US" sz="1750" dirty="0"/>
          </a:p>
        </p:txBody>
      </p:sp>
      <p:sp>
        <p:nvSpPr>
          <p:cNvPr id="16" name="Shape 14"/>
          <p:cNvSpPr/>
          <p:nvPr/>
        </p:nvSpPr>
        <p:spPr>
          <a:xfrm>
            <a:off x="2931616" y="6204645"/>
            <a:ext cx="777597" cy="27742"/>
          </a:xfrm>
          <a:prstGeom prst="rect">
            <a:avLst/>
          </a:prstGeom>
          <a:solidFill>
            <a:srgbClr val="8061FF"/>
          </a:solidFill>
          <a:ln/>
        </p:spPr>
        <p:txBody>
          <a:bodyPr/>
          <a:lstStyle/>
          <a:p>
            <a:endParaRPr lang="en-US"/>
          </a:p>
        </p:txBody>
      </p:sp>
      <p:sp>
        <p:nvSpPr>
          <p:cNvPr id="17" name="Shape 15"/>
          <p:cNvSpPr/>
          <p:nvPr/>
        </p:nvSpPr>
        <p:spPr>
          <a:xfrm>
            <a:off x="2431673" y="5968603"/>
            <a:ext cx="499943" cy="499943"/>
          </a:xfrm>
          <a:prstGeom prst="roundRect">
            <a:avLst>
              <a:gd name="adj" fmla="val 13333"/>
            </a:avLst>
          </a:prstGeom>
          <a:solidFill>
            <a:srgbClr val="171542"/>
          </a:solidFill>
          <a:ln/>
        </p:spPr>
        <p:txBody>
          <a:bodyPr/>
          <a:lstStyle/>
          <a:p>
            <a:endParaRPr lang="en-US"/>
          </a:p>
        </p:txBody>
      </p:sp>
      <p:sp>
        <p:nvSpPr>
          <p:cNvPr id="18" name="Text 16"/>
          <p:cNvSpPr/>
          <p:nvPr/>
        </p:nvSpPr>
        <p:spPr>
          <a:xfrm>
            <a:off x="2574905" y="6010275"/>
            <a:ext cx="21336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3</a:t>
            </a:r>
            <a:endParaRPr lang="en-US" sz="2624" dirty="0"/>
          </a:p>
        </p:txBody>
      </p:sp>
      <p:sp>
        <p:nvSpPr>
          <p:cNvPr id="19" name="Text 17"/>
          <p:cNvSpPr/>
          <p:nvPr/>
        </p:nvSpPr>
        <p:spPr>
          <a:xfrm>
            <a:off x="3903702" y="6017181"/>
            <a:ext cx="3177540" cy="347186"/>
          </a:xfrm>
          <a:prstGeom prst="rect">
            <a:avLst/>
          </a:prstGeom>
          <a:noFill/>
          <a:ln/>
        </p:spPr>
        <p:txBody>
          <a:bodyPr wrap="non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Leadership Positions</a:t>
            </a:r>
            <a:endParaRPr lang="en-US" sz="2187" dirty="0"/>
          </a:p>
        </p:txBody>
      </p:sp>
      <p:sp>
        <p:nvSpPr>
          <p:cNvPr id="20" name="Text 18"/>
          <p:cNvSpPr/>
          <p:nvPr/>
        </p:nvSpPr>
        <p:spPr>
          <a:xfrm>
            <a:off x="3903702" y="6586538"/>
            <a:ext cx="8378190" cy="710803"/>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Reach executive positions like Director of Operations or Chief Operations Officer, responsible for shaping strategic decisions.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2348389" y="1109305"/>
            <a:ext cx="9933503" cy="1388745"/>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Career Opportunities in Operations</a:t>
            </a:r>
            <a:endParaRPr lang="en-US" sz="4374" dirty="0"/>
          </a:p>
        </p:txBody>
      </p:sp>
      <p:pic>
        <p:nvPicPr>
          <p:cNvPr id="5" name="Image 0" descr="preencoded.png"/>
          <p:cNvPicPr>
            <a:picLocks noChangeAspect="1"/>
          </p:cNvPicPr>
          <p:nvPr/>
        </p:nvPicPr>
        <p:blipFill>
          <a:blip r:embed="rId3"/>
          <a:stretch>
            <a:fillRect/>
          </a:stretch>
        </p:blipFill>
        <p:spPr>
          <a:xfrm>
            <a:off x="2348389" y="2942392"/>
            <a:ext cx="3088958" cy="1909048"/>
          </a:xfrm>
          <a:prstGeom prst="rect">
            <a:avLst/>
          </a:prstGeom>
        </p:spPr>
      </p:pic>
      <p:sp>
        <p:nvSpPr>
          <p:cNvPr id="6" name="Text 3"/>
          <p:cNvSpPr/>
          <p:nvPr/>
        </p:nvSpPr>
        <p:spPr>
          <a:xfrm>
            <a:off x="2348389" y="5129093"/>
            <a:ext cx="3088958" cy="694373"/>
          </a:xfrm>
          <a:prstGeom prst="rect">
            <a:avLst/>
          </a:prstGeom>
          <a:noFill/>
          <a:ln/>
        </p:spPr>
        <p:txBody>
          <a:bodyPr wrap="squar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Logistics and Supply Chain</a:t>
            </a:r>
            <a:endParaRPr lang="en-US" sz="2187" dirty="0"/>
          </a:p>
        </p:txBody>
      </p:sp>
      <p:sp>
        <p:nvSpPr>
          <p:cNvPr id="7" name="Text 4"/>
          <p:cNvSpPr/>
          <p:nvPr/>
        </p:nvSpPr>
        <p:spPr>
          <a:xfrm>
            <a:off x="2348389" y="6045637"/>
            <a:ext cx="3088958" cy="1066205"/>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Manage the efficient movement, storage, and distribution of goods.</a:t>
            </a:r>
            <a:endParaRPr lang="en-US" sz="1750" dirty="0"/>
          </a:p>
        </p:txBody>
      </p:sp>
      <p:pic>
        <p:nvPicPr>
          <p:cNvPr id="8" name="Image 1" descr="preencoded.png"/>
          <p:cNvPicPr>
            <a:picLocks noChangeAspect="1"/>
          </p:cNvPicPr>
          <p:nvPr/>
        </p:nvPicPr>
        <p:blipFill>
          <a:blip r:embed="rId4"/>
          <a:stretch>
            <a:fillRect/>
          </a:stretch>
        </p:blipFill>
        <p:spPr>
          <a:xfrm>
            <a:off x="5770602" y="2942392"/>
            <a:ext cx="3088958" cy="1909048"/>
          </a:xfrm>
          <a:prstGeom prst="rect">
            <a:avLst/>
          </a:prstGeom>
        </p:spPr>
      </p:pic>
      <p:sp>
        <p:nvSpPr>
          <p:cNvPr id="9" name="Text 5"/>
          <p:cNvSpPr/>
          <p:nvPr/>
        </p:nvSpPr>
        <p:spPr>
          <a:xfrm>
            <a:off x="5770602" y="5129093"/>
            <a:ext cx="3088958" cy="694373"/>
          </a:xfrm>
          <a:prstGeom prst="rect">
            <a:avLst/>
          </a:prstGeom>
          <a:noFill/>
          <a:ln/>
        </p:spPr>
        <p:txBody>
          <a:bodyPr wrap="squar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Production and Manufacturing</a:t>
            </a:r>
            <a:endParaRPr lang="en-US" sz="2187" dirty="0"/>
          </a:p>
        </p:txBody>
      </p:sp>
      <p:sp>
        <p:nvSpPr>
          <p:cNvPr id="10" name="Text 6"/>
          <p:cNvSpPr/>
          <p:nvPr/>
        </p:nvSpPr>
        <p:spPr>
          <a:xfrm>
            <a:off x="5770602" y="6045637"/>
            <a:ext cx="3088958" cy="1066205"/>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Oversee the production process, ensuring quality, efficiency, and timely delivery.</a:t>
            </a:r>
            <a:endParaRPr lang="en-US" sz="1750" dirty="0"/>
          </a:p>
        </p:txBody>
      </p:sp>
      <p:pic>
        <p:nvPicPr>
          <p:cNvPr id="11" name="Image 2" descr="preencoded.png"/>
          <p:cNvPicPr>
            <a:picLocks noChangeAspect="1"/>
          </p:cNvPicPr>
          <p:nvPr/>
        </p:nvPicPr>
        <p:blipFill>
          <a:blip r:embed="rId5"/>
          <a:stretch>
            <a:fillRect/>
          </a:stretch>
        </p:blipFill>
        <p:spPr>
          <a:xfrm>
            <a:off x="9192816" y="2942392"/>
            <a:ext cx="3089077" cy="1909167"/>
          </a:xfrm>
          <a:prstGeom prst="rect">
            <a:avLst/>
          </a:prstGeom>
        </p:spPr>
      </p:pic>
      <p:sp>
        <p:nvSpPr>
          <p:cNvPr id="12" name="Text 7"/>
          <p:cNvSpPr/>
          <p:nvPr/>
        </p:nvSpPr>
        <p:spPr>
          <a:xfrm>
            <a:off x="9192816" y="5129213"/>
            <a:ext cx="2903220" cy="347186"/>
          </a:xfrm>
          <a:prstGeom prst="rect">
            <a:avLst/>
          </a:prstGeom>
          <a:noFill/>
          <a:ln/>
        </p:spPr>
        <p:txBody>
          <a:bodyPr wrap="none" rtlCol="0" anchor="t"/>
          <a:lstStyle/>
          <a:p>
            <a:pPr marL="0" indent="0" algn="l">
              <a:lnSpc>
                <a:spcPts val="2734"/>
              </a:lnSpc>
              <a:buNone/>
            </a:pPr>
            <a:r>
              <a:rPr lang="en-US" sz="2187" b="1" dirty="0">
                <a:solidFill>
                  <a:srgbClr val="FFFFFF"/>
                </a:solidFill>
                <a:latin typeface="Syne" pitchFamily="34" charset="0"/>
                <a:ea typeface="Syne" pitchFamily="34" charset="-122"/>
                <a:cs typeface="Syne" pitchFamily="34" charset="-120"/>
              </a:rPr>
              <a:t>Service Operations</a:t>
            </a:r>
            <a:endParaRPr lang="en-US" sz="2187" dirty="0"/>
          </a:p>
        </p:txBody>
      </p:sp>
      <p:sp>
        <p:nvSpPr>
          <p:cNvPr id="13" name="Text 8"/>
          <p:cNvSpPr/>
          <p:nvPr/>
        </p:nvSpPr>
        <p:spPr>
          <a:xfrm>
            <a:off x="9192816" y="5698569"/>
            <a:ext cx="3089077" cy="1421606"/>
          </a:xfrm>
          <a:prstGeom prst="rect">
            <a:avLst/>
          </a:prstGeom>
          <a:noFill/>
          <a:ln/>
        </p:spPr>
        <p:txBody>
          <a:bodyPr wrap="square" rtlCol="0" anchor="t"/>
          <a:lstStyle/>
          <a:p>
            <a:pPr marL="0" indent="0" algn="l">
              <a:lnSpc>
                <a:spcPts val="2799"/>
              </a:lnSpc>
              <a:buNone/>
            </a:pPr>
            <a:r>
              <a:rPr lang="en-US" sz="1750" dirty="0">
                <a:solidFill>
                  <a:srgbClr val="D9E1FF"/>
                </a:solidFill>
                <a:latin typeface="Arimo" pitchFamily="34" charset="0"/>
                <a:ea typeface="Arimo" pitchFamily="34" charset="-122"/>
                <a:cs typeface="Arimo" pitchFamily="34" charset="-120"/>
              </a:rPr>
              <a:t>Lead service delivery teams, optimizing processes to provide exceptional customer experiences.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dirty="0"/>
          </a:p>
        </p:txBody>
      </p:sp>
      <p:sp>
        <p:nvSpPr>
          <p:cNvPr id="3" name="Shape 1"/>
          <p:cNvSpPr/>
          <p:nvPr/>
        </p:nvSpPr>
        <p:spPr>
          <a:xfrm>
            <a:off x="0" y="-2108718"/>
            <a:ext cx="14630400" cy="8229600"/>
          </a:xfrm>
          <a:prstGeom prst="rect">
            <a:avLst/>
          </a:prstGeom>
          <a:solidFill>
            <a:srgbClr val="0C0A33"/>
          </a:solidFill>
          <a:ln/>
        </p:spPr>
        <p:txBody>
          <a:bodyPr/>
          <a:lstStyle/>
          <a:p>
            <a:endParaRPr lang="en-US"/>
          </a:p>
        </p:txBody>
      </p:sp>
      <p:sp>
        <p:nvSpPr>
          <p:cNvPr id="5" name="Text 3"/>
          <p:cNvSpPr/>
          <p:nvPr/>
        </p:nvSpPr>
        <p:spPr>
          <a:xfrm>
            <a:off x="833199" y="325464"/>
            <a:ext cx="7477601" cy="6865750"/>
          </a:xfrm>
          <a:prstGeom prst="rect">
            <a:avLst/>
          </a:prstGeom>
          <a:noFill/>
          <a:ln/>
        </p:spPr>
        <p:txBody>
          <a:bodyPr wrap="square" rtlCol="0" anchor="t"/>
          <a:lstStyle/>
          <a:p>
            <a:pPr marL="0" indent="0">
              <a:lnSpc>
                <a:spcPts val="2799"/>
              </a:lnSpc>
              <a:buNone/>
            </a:pPr>
            <a:r>
              <a:rPr lang="en-US" sz="4000" dirty="0" smtClean="0">
                <a:solidFill>
                  <a:schemeClr val="bg1"/>
                </a:solidFill>
                <a:latin typeface="Arimo" pitchFamily="34" charset="0"/>
                <a:ea typeface="Arimo" pitchFamily="34" charset="-122"/>
                <a:cs typeface="Arimo" pitchFamily="34" charset="-120"/>
              </a:rPr>
              <a:t>Why MBA Operations?</a:t>
            </a:r>
          </a:p>
          <a:p>
            <a:pPr marL="0" indent="0">
              <a:lnSpc>
                <a:spcPts val="2799"/>
              </a:lnSpc>
              <a:buNone/>
            </a:pPr>
            <a:endParaRPr lang="en-US" sz="4000" dirty="0" smtClean="0">
              <a:solidFill>
                <a:srgbClr val="D9E1FF"/>
              </a:solidFill>
              <a:latin typeface="Arimo" pitchFamily="34" charset="0"/>
              <a:ea typeface="Arimo" pitchFamily="34" charset="-122"/>
              <a:cs typeface="Arimo" pitchFamily="34" charset="-120"/>
            </a:endParaRPr>
          </a:p>
          <a:p>
            <a:pPr marL="0" indent="0">
              <a:lnSpc>
                <a:spcPts val="2799"/>
              </a:lnSpc>
              <a:buNone/>
            </a:pPr>
            <a:endParaRPr lang="en-US" sz="4000" dirty="0" smtClean="0">
              <a:solidFill>
                <a:srgbClr val="D9E1FF"/>
              </a:solidFill>
              <a:latin typeface="Arimo" pitchFamily="34" charset="0"/>
              <a:ea typeface="Arimo" pitchFamily="34" charset="-122"/>
              <a:cs typeface="Arimo" pitchFamily="34" charset="-120"/>
            </a:endParaRPr>
          </a:p>
          <a:p>
            <a:pPr marL="342900" indent="-342900">
              <a:lnSpc>
                <a:spcPts val="2799"/>
              </a:lnSpc>
              <a:buFont typeface="+mj-lt"/>
              <a:buAutoNum type="arabicPeriod"/>
            </a:pPr>
            <a:r>
              <a:rPr lang="en-US" dirty="0" smtClean="0">
                <a:solidFill>
                  <a:schemeClr val="bg1"/>
                </a:solidFill>
                <a:latin typeface="Times New Roman" panose="02020603050405020304" pitchFamily="18" charset="0"/>
                <a:cs typeface="Times New Roman" panose="02020603050405020304" pitchFamily="18" charset="0"/>
              </a:rPr>
              <a:t>Large corporations are always on the lookout for skilled professionals who can do operations management for them</a:t>
            </a:r>
          </a:p>
          <a:p>
            <a:pPr marL="342900" indent="-342900">
              <a:lnSpc>
                <a:spcPts val="2799"/>
              </a:lnSpc>
              <a:buFont typeface="+mj-lt"/>
              <a:buAutoNum type="arabicPeriod"/>
            </a:pPr>
            <a:r>
              <a:rPr lang="en-US" dirty="0" smtClean="0">
                <a:solidFill>
                  <a:schemeClr val="bg1"/>
                </a:solidFill>
                <a:latin typeface="Times New Roman" panose="02020603050405020304" pitchFamily="18" charset="0"/>
                <a:ea typeface="Arimo" pitchFamily="34" charset="-122"/>
                <a:cs typeface="Times New Roman" panose="02020603050405020304" pitchFamily="18" charset="0"/>
              </a:rPr>
              <a:t>OM  equip you with skills used in current  and future business trend</a:t>
            </a: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work in almost every field. Whether you want to join the banking world, get into finance, or ride the technological wave, this degree will help you get entry in almost any field. </a:t>
            </a: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Profit sustainability</a:t>
            </a: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Startups require skilled professionals who can manage operations for them. Thus, a lot of startups that started in the last decade are now ready to pay impressive salaries to MBAs in Operations</a:t>
            </a:r>
          </a:p>
          <a:p>
            <a:pPr marL="342900" indent="-342900">
              <a:lnSpc>
                <a:spcPts val="2799"/>
              </a:lnSpc>
              <a:buFont typeface="+mj-lt"/>
              <a:buAutoNum type="arabicPeriod"/>
            </a:pPr>
            <a:r>
              <a:rPr lang="en-US" dirty="0" smtClean="0">
                <a:solidFill>
                  <a:schemeClr val="bg1"/>
                </a:solidFill>
                <a:latin typeface="Times New Roman" panose="02020603050405020304" pitchFamily="18" charset="0"/>
                <a:cs typeface="Times New Roman" panose="02020603050405020304" pitchFamily="18" charset="0"/>
              </a:rPr>
              <a:t>Efficient Operation</a:t>
            </a:r>
          </a:p>
          <a:p>
            <a:pPr marL="342900" indent="-342900">
              <a:lnSpc>
                <a:spcPts val="2799"/>
              </a:lnSpc>
              <a:buFont typeface="+mj-lt"/>
              <a:buAutoNum type="arabicPeriod"/>
            </a:pPr>
            <a:r>
              <a:rPr lang="en-US" dirty="0" smtClean="0">
                <a:solidFill>
                  <a:schemeClr val="bg1"/>
                </a:solidFill>
                <a:latin typeface="Times New Roman" panose="02020603050405020304" pitchFamily="18" charset="0"/>
                <a:cs typeface="Times New Roman" panose="02020603050405020304" pitchFamily="18" charset="0"/>
              </a:rPr>
              <a:t>improve the efficiency of your business activities</a:t>
            </a:r>
          </a:p>
          <a:p>
            <a:pPr marL="342900" indent="-342900">
              <a:lnSpc>
                <a:spcPts val="2799"/>
              </a:lnSpc>
              <a:buFont typeface="+mj-lt"/>
              <a:buAutoNum type="arabicPeriod"/>
            </a:pPr>
            <a:r>
              <a:rPr lang="en-US" dirty="0" smtClean="0">
                <a:solidFill>
                  <a:schemeClr val="bg1"/>
                </a:solidFill>
                <a:latin typeface="Times New Roman" panose="02020603050405020304" pitchFamily="18" charset="0"/>
                <a:cs typeface="Times New Roman" panose="02020603050405020304" pitchFamily="18" charset="0"/>
              </a:rPr>
              <a:t>You also get to be with your company’s end product and directly involved in making the product; not many specializations give you this chance.</a:t>
            </a:r>
            <a:endParaRPr lang="en-US" dirty="0" smtClean="0">
              <a:solidFill>
                <a:schemeClr val="bg1"/>
              </a:solidFill>
              <a:latin typeface="Arimo"/>
              <a:ea typeface="Arimo"/>
              <a:cs typeface="Arimo" pitchFamily="34" charset="-120"/>
            </a:endParaRPr>
          </a:p>
          <a:p>
            <a:pPr marL="742950" indent="-742950">
              <a:lnSpc>
                <a:spcPts val="2799"/>
              </a:lnSpc>
            </a:pPr>
            <a:endParaRPr lang="en-US" dirty="0">
              <a:solidFill>
                <a:schemeClr val="bg1"/>
              </a:solidFill>
              <a:latin typeface="Arimo" pitchFamily="34" charset="0"/>
              <a:ea typeface="Arimo" pitchFamily="34" charset="-122"/>
              <a:cs typeface="Arimo" pitchFamily="34" charset="-120"/>
            </a:endParaRPr>
          </a:p>
        </p:txBody>
      </p:sp>
      <p:pic>
        <p:nvPicPr>
          <p:cNvPr id="6" name="Image 0" descr="preencoded.png"/>
          <p:cNvPicPr>
            <a:picLocks noChangeAspect="1"/>
          </p:cNvPicPr>
          <p:nvPr/>
        </p:nvPicPr>
        <p:blipFill>
          <a:blip r:embed="rId3"/>
          <a:stretch>
            <a:fillRect/>
          </a:stretch>
        </p:blipFill>
        <p:spPr>
          <a:xfrm>
            <a:off x="9144000" y="-15498"/>
            <a:ext cx="5486400" cy="8229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dirty="0"/>
          </a:p>
        </p:txBody>
      </p:sp>
      <p:sp>
        <p:nvSpPr>
          <p:cNvPr id="3" name="Shape 1"/>
          <p:cNvSpPr/>
          <p:nvPr/>
        </p:nvSpPr>
        <p:spPr>
          <a:xfrm>
            <a:off x="0" y="-2108718"/>
            <a:ext cx="14630400" cy="8229600"/>
          </a:xfrm>
          <a:prstGeom prst="rect">
            <a:avLst/>
          </a:prstGeom>
          <a:solidFill>
            <a:srgbClr val="0C0A33"/>
          </a:solidFill>
          <a:ln/>
        </p:spPr>
        <p:txBody>
          <a:bodyPr/>
          <a:lstStyle/>
          <a:p>
            <a:endParaRPr lang="en-US"/>
          </a:p>
        </p:txBody>
      </p:sp>
      <p:sp>
        <p:nvSpPr>
          <p:cNvPr id="5" name="Text 3"/>
          <p:cNvSpPr/>
          <p:nvPr/>
        </p:nvSpPr>
        <p:spPr>
          <a:xfrm>
            <a:off x="833199" y="433952"/>
            <a:ext cx="7477601" cy="6757261"/>
          </a:xfrm>
          <a:prstGeom prst="rect">
            <a:avLst/>
          </a:prstGeom>
          <a:noFill/>
          <a:ln/>
        </p:spPr>
        <p:txBody>
          <a:bodyPr wrap="square" rtlCol="0" anchor="t"/>
          <a:lstStyle/>
          <a:p>
            <a:pPr>
              <a:lnSpc>
                <a:spcPts val="2799"/>
              </a:lnSpc>
            </a:pPr>
            <a:r>
              <a:rPr lang="en-US" sz="4000" b="1" dirty="0" smtClean="0">
                <a:solidFill>
                  <a:schemeClr val="bg1"/>
                </a:solidFill>
                <a:latin typeface="Arimo"/>
                <a:ea typeface="Arimo"/>
              </a:rPr>
              <a:t>Who should do MBA </a:t>
            </a:r>
          </a:p>
          <a:p>
            <a:pPr>
              <a:lnSpc>
                <a:spcPts val="2799"/>
              </a:lnSpc>
            </a:pPr>
            <a:endParaRPr lang="en-US" sz="4000" b="1" dirty="0" smtClean="0">
              <a:solidFill>
                <a:schemeClr val="bg1"/>
              </a:solidFill>
              <a:latin typeface="Arimo"/>
              <a:ea typeface="Arimo"/>
            </a:endParaRPr>
          </a:p>
          <a:p>
            <a:pPr>
              <a:lnSpc>
                <a:spcPts val="2799"/>
              </a:lnSpc>
            </a:pPr>
            <a:r>
              <a:rPr lang="en-US" sz="4000" b="1" dirty="0" smtClean="0">
                <a:solidFill>
                  <a:schemeClr val="bg1"/>
                </a:solidFill>
                <a:latin typeface="Arimo"/>
                <a:ea typeface="Arimo"/>
              </a:rPr>
              <a:t>in Operations</a:t>
            </a:r>
            <a:r>
              <a:rPr lang="en-US" sz="4000" b="1" dirty="0" smtClean="0">
                <a:solidFill>
                  <a:schemeClr val="bg1"/>
                </a:solidFill>
              </a:rPr>
              <a:t>?</a:t>
            </a:r>
          </a:p>
          <a:p>
            <a:pPr marL="0" indent="0">
              <a:lnSpc>
                <a:spcPts val="2799"/>
              </a:lnSpc>
              <a:buNone/>
            </a:pPr>
            <a:endParaRPr lang="en-US" sz="4000" dirty="0" smtClean="0">
              <a:solidFill>
                <a:srgbClr val="D9E1FF"/>
              </a:solidFill>
              <a:latin typeface="Arimo" pitchFamily="34" charset="0"/>
              <a:ea typeface="Arimo" pitchFamily="34" charset="-122"/>
              <a:cs typeface="Arimo" pitchFamily="34" charset="-120"/>
            </a:endParaRP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knack for organizing things, making plans for seamless execution, and getting desired results. </a:t>
            </a:r>
          </a:p>
          <a:p>
            <a:pPr marL="342900" indent="-342900">
              <a:lnSpc>
                <a:spcPts val="2799"/>
              </a:lnSpc>
              <a:buFont typeface="+mj-lt"/>
              <a:buAutoNum type="arabicPeriod"/>
            </a:pPr>
            <a:r>
              <a:rPr lang="en-US" dirty="0" smtClean="0">
                <a:solidFill>
                  <a:schemeClr val="bg1"/>
                </a:solidFill>
                <a:latin typeface="Times New Roman" panose="02020603050405020304" pitchFamily="18" charset="0"/>
                <a:cs typeface="Times New Roman" panose="02020603050405020304" pitchFamily="18" charset="0"/>
              </a:rPr>
              <a:t>how businesses manage their production at such a huge scale, how businesses analyze the requirements of the market, and how products meet the expectations of customers</a:t>
            </a:r>
            <a:r>
              <a:rPr lang="en-US" dirty="0" smtClean="0">
                <a:latin typeface="Times New Roman" panose="02020603050405020304" pitchFamily="18" charset="0"/>
                <a:cs typeface="Times New Roman" panose="02020603050405020304" pitchFamily="18" charset="0"/>
              </a:rPr>
              <a:t>.</a:t>
            </a: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interested in the operations side of the business. </a:t>
            </a: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completed your graduation degree in operations management and you want to continue your education in the same field.. </a:t>
            </a:r>
          </a:p>
          <a:p>
            <a:pPr marL="742950" indent="-742950">
              <a:lnSpc>
                <a:spcPts val="2799"/>
              </a:lnSpc>
            </a:pPr>
            <a:endParaRPr lang="en-US" dirty="0">
              <a:solidFill>
                <a:schemeClr val="bg1"/>
              </a:solidFill>
              <a:latin typeface="Arimo"/>
              <a:ea typeface="Arimo"/>
              <a:cs typeface="Arimo" pitchFamily="34" charset="-120"/>
            </a:endParaRPr>
          </a:p>
        </p:txBody>
      </p:sp>
      <p:pic>
        <p:nvPicPr>
          <p:cNvPr id="6" name="Image 0" descr="preencoded.png"/>
          <p:cNvPicPr>
            <a:picLocks noChangeAspect="1"/>
          </p:cNvPicPr>
          <p:nvPr/>
        </p:nvPicPr>
        <p:blipFill>
          <a:blip r:embed="rId3"/>
          <a:stretch>
            <a:fillRect/>
          </a:stretch>
        </p:blipFill>
        <p:spPr>
          <a:xfrm>
            <a:off x="9144000" y="-15498"/>
            <a:ext cx="5486400" cy="8229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dirty="0"/>
          </a:p>
        </p:txBody>
      </p:sp>
      <p:sp>
        <p:nvSpPr>
          <p:cNvPr id="3" name="Shape 1"/>
          <p:cNvSpPr/>
          <p:nvPr/>
        </p:nvSpPr>
        <p:spPr>
          <a:xfrm>
            <a:off x="0" y="-2108718"/>
            <a:ext cx="14630400" cy="8229600"/>
          </a:xfrm>
          <a:prstGeom prst="rect">
            <a:avLst/>
          </a:prstGeom>
          <a:solidFill>
            <a:srgbClr val="0C0A33"/>
          </a:solidFill>
          <a:ln/>
        </p:spPr>
        <p:txBody>
          <a:bodyPr/>
          <a:lstStyle/>
          <a:p>
            <a:endParaRPr lang="en-US"/>
          </a:p>
        </p:txBody>
      </p:sp>
      <p:sp>
        <p:nvSpPr>
          <p:cNvPr id="5" name="Text 3"/>
          <p:cNvSpPr/>
          <p:nvPr/>
        </p:nvSpPr>
        <p:spPr>
          <a:xfrm>
            <a:off x="833199" y="433952"/>
            <a:ext cx="7477601" cy="6757261"/>
          </a:xfrm>
          <a:prstGeom prst="rect">
            <a:avLst/>
          </a:prstGeom>
          <a:noFill/>
          <a:ln/>
        </p:spPr>
        <p:txBody>
          <a:bodyPr wrap="square" rtlCol="0" anchor="t"/>
          <a:lstStyle/>
          <a:p>
            <a:pPr>
              <a:lnSpc>
                <a:spcPts val="2799"/>
              </a:lnSpc>
            </a:pPr>
            <a:r>
              <a:rPr lang="en-US" sz="4000" b="1" dirty="0" smtClean="0">
                <a:solidFill>
                  <a:schemeClr val="bg1"/>
                </a:solidFill>
                <a:latin typeface="Arimo"/>
                <a:ea typeface="Arimo"/>
              </a:rPr>
              <a:t>Required Skills for MBA in</a:t>
            </a:r>
          </a:p>
          <a:p>
            <a:pPr>
              <a:lnSpc>
                <a:spcPts val="2799"/>
              </a:lnSpc>
            </a:pPr>
            <a:endParaRPr lang="en-US" sz="4000" b="1" dirty="0" smtClean="0">
              <a:solidFill>
                <a:schemeClr val="bg1"/>
              </a:solidFill>
              <a:latin typeface="Arimo"/>
              <a:ea typeface="Arimo"/>
            </a:endParaRPr>
          </a:p>
          <a:p>
            <a:pPr>
              <a:lnSpc>
                <a:spcPts val="2799"/>
              </a:lnSpc>
            </a:pPr>
            <a:r>
              <a:rPr lang="en-US" sz="4000" b="1" dirty="0" smtClean="0">
                <a:solidFill>
                  <a:schemeClr val="bg1"/>
                </a:solidFill>
                <a:latin typeface="Arimo"/>
                <a:ea typeface="Arimo"/>
              </a:rPr>
              <a:t> Operations</a:t>
            </a:r>
          </a:p>
          <a:p>
            <a:pPr marL="0" indent="0">
              <a:lnSpc>
                <a:spcPts val="2799"/>
              </a:lnSpc>
              <a:buNone/>
            </a:pPr>
            <a:endParaRPr lang="en-US" sz="4000" dirty="0" smtClean="0">
              <a:solidFill>
                <a:schemeClr val="bg1"/>
              </a:solidFill>
              <a:latin typeface="Arimo" pitchFamily="34" charset="0"/>
              <a:ea typeface="Arimo" pitchFamily="34" charset="-122"/>
              <a:cs typeface="Arimo" pitchFamily="34" charset="-120"/>
            </a:endParaRP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Quick decision-making </a:t>
            </a: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data analysis</a:t>
            </a:r>
          </a:p>
          <a:p>
            <a:pPr marL="342900" indent="-342900">
              <a:lnSpc>
                <a:spcPts val="2799"/>
              </a:lnSpc>
              <a:buFont typeface="+mj-lt"/>
              <a:buAutoNum type="arabicPeriod"/>
            </a:pPr>
            <a:r>
              <a:rPr lang="en-US" dirty="0" smtClean="0">
                <a:solidFill>
                  <a:schemeClr val="bg1"/>
                </a:solidFill>
                <a:latin typeface="Times New Roman" panose="02020603050405020304" pitchFamily="18" charset="0"/>
                <a:cs typeface="Times New Roman" panose="02020603050405020304" pitchFamily="18" charset="0"/>
              </a:rPr>
              <a:t>If you like Numbers, OPS is for you.</a:t>
            </a:r>
            <a:endParaRPr lang="en-US" dirty="0" smtClean="0">
              <a:solidFill>
                <a:schemeClr val="bg1"/>
              </a:solidFill>
              <a:latin typeface="Arimo"/>
              <a:ea typeface="Arimo"/>
              <a:cs typeface="Times New Roman" panose="02020603050405020304" pitchFamily="18" charset="0"/>
            </a:endParaRPr>
          </a:p>
          <a:p>
            <a:pPr marL="342900" indent="-342900">
              <a:lnSpc>
                <a:spcPts val="2799"/>
              </a:lnSpc>
              <a:buFont typeface="+mj-lt"/>
              <a:buAutoNum type="arabicPeriod"/>
            </a:pPr>
            <a:r>
              <a:rPr lang="en-US" dirty="0" smtClean="0">
                <a:solidFill>
                  <a:schemeClr val="bg1"/>
                </a:solidFill>
                <a:latin typeface="Arimo"/>
                <a:ea typeface="Arimo"/>
                <a:cs typeface="Times New Roman" panose="02020603050405020304" pitchFamily="18" charset="0"/>
              </a:rPr>
              <a:t>good communication skills</a:t>
            </a:r>
          </a:p>
          <a:p>
            <a:pPr marL="742950" indent="-742950">
              <a:lnSpc>
                <a:spcPts val="2799"/>
              </a:lnSpc>
            </a:pPr>
            <a:endParaRPr lang="en-US" dirty="0">
              <a:solidFill>
                <a:schemeClr val="bg1"/>
              </a:solidFill>
              <a:latin typeface="Arimo"/>
              <a:ea typeface="Arimo"/>
              <a:cs typeface="Arimo" pitchFamily="34" charset="-120"/>
            </a:endParaRPr>
          </a:p>
        </p:txBody>
      </p:sp>
      <p:pic>
        <p:nvPicPr>
          <p:cNvPr id="6" name="Image 0" descr="preencoded.png"/>
          <p:cNvPicPr>
            <a:picLocks noChangeAspect="1"/>
          </p:cNvPicPr>
          <p:nvPr/>
        </p:nvPicPr>
        <p:blipFill>
          <a:blip r:embed="rId3"/>
          <a:stretch>
            <a:fillRect/>
          </a:stretch>
        </p:blipFill>
        <p:spPr>
          <a:xfrm>
            <a:off x="9144000" y="-15498"/>
            <a:ext cx="5486400" cy="8229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dirty="0"/>
          </a:p>
        </p:txBody>
      </p:sp>
      <p:sp>
        <p:nvSpPr>
          <p:cNvPr id="3" name="Shape 1"/>
          <p:cNvSpPr/>
          <p:nvPr/>
        </p:nvSpPr>
        <p:spPr>
          <a:xfrm>
            <a:off x="0" y="-2108718"/>
            <a:ext cx="14630400" cy="8229600"/>
          </a:xfrm>
          <a:prstGeom prst="rect">
            <a:avLst/>
          </a:prstGeom>
          <a:solidFill>
            <a:srgbClr val="0C0A33"/>
          </a:solidFill>
          <a:ln/>
        </p:spPr>
        <p:txBody>
          <a:bodyPr/>
          <a:lstStyle/>
          <a:p>
            <a:endParaRPr lang="en-US"/>
          </a:p>
        </p:txBody>
      </p:sp>
      <p:sp>
        <p:nvSpPr>
          <p:cNvPr id="5" name="Text 3"/>
          <p:cNvSpPr/>
          <p:nvPr/>
        </p:nvSpPr>
        <p:spPr>
          <a:xfrm>
            <a:off x="833199" y="433952"/>
            <a:ext cx="8310801" cy="6757261"/>
          </a:xfrm>
          <a:prstGeom prst="rect">
            <a:avLst/>
          </a:prstGeom>
          <a:noFill/>
          <a:ln/>
        </p:spPr>
        <p:txBody>
          <a:bodyPr wrap="square" rtlCol="0" anchor="t"/>
          <a:lstStyle/>
          <a:p>
            <a:pPr algn="just">
              <a:buFont typeface="Wingdings" pitchFamily="2" charset="2"/>
              <a:buChar char="§"/>
            </a:pPr>
            <a:r>
              <a:rPr lang="en-US" sz="4000" i="1" dirty="0" smtClean="0">
                <a:solidFill>
                  <a:schemeClr val="bg1"/>
                </a:solidFill>
                <a:latin typeface="Arial" panose="020B0604020202020204" pitchFamily="34" charset="0"/>
                <a:cs typeface="Arial" panose="020B0604020202020204" pitchFamily="34" charset="0"/>
              </a:rPr>
              <a:t>Young People Chase Money. Money is always A byproduct. Do what you love, and money will come to you.</a:t>
            </a:r>
          </a:p>
          <a:p>
            <a:pPr algn="just"/>
            <a:endParaRPr lang="en-US" sz="4000" i="1" dirty="0" smtClean="0">
              <a:solidFill>
                <a:schemeClr val="bg1"/>
              </a:solidFill>
              <a:latin typeface="Arial" panose="020B0604020202020204" pitchFamily="34" charset="0"/>
              <a:cs typeface="Arial" panose="020B0604020202020204" pitchFamily="34" charset="0"/>
            </a:endParaRPr>
          </a:p>
          <a:p>
            <a:pPr algn="just">
              <a:buFont typeface="Wingdings" pitchFamily="2" charset="2"/>
              <a:buChar char="§"/>
            </a:pPr>
            <a:r>
              <a:rPr lang="en-US" sz="4000" i="1" dirty="0" smtClean="0">
                <a:solidFill>
                  <a:schemeClr val="bg1"/>
                </a:solidFill>
                <a:latin typeface="Arial" panose="020B0604020202020204" pitchFamily="34" charset="0"/>
                <a:cs typeface="Arial" panose="020B0604020202020204" pitchFamily="34" charset="0"/>
              </a:rPr>
              <a:t>The purpose of life is to live life to its fullest, So select Specialization which you love.</a:t>
            </a:r>
          </a:p>
          <a:p>
            <a:pPr algn="just"/>
            <a:r>
              <a:rPr lang="en-US" sz="4000" dirty="0" smtClean="0">
                <a:solidFill>
                  <a:schemeClr val="bg1"/>
                </a:solidFill>
              </a:rPr>
              <a:t>               </a:t>
            </a:r>
          </a:p>
          <a:p>
            <a:pPr algn="just"/>
            <a:r>
              <a:rPr lang="en-US" dirty="0" smtClean="0">
                <a:solidFill>
                  <a:srgbClr val="7030A0"/>
                </a:solidFill>
              </a:rPr>
              <a:t>                     </a:t>
            </a:r>
          </a:p>
          <a:p>
            <a:pPr algn="just"/>
            <a:r>
              <a:rPr lang="en-US" dirty="0" smtClean="0">
                <a:solidFill>
                  <a:srgbClr val="7030A0"/>
                </a:solidFill>
              </a:rPr>
              <a:t>                                 </a:t>
            </a:r>
            <a:r>
              <a:rPr lang="en-US" dirty="0" smtClean="0">
                <a:solidFill>
                  <a:srgbClr val="FF0000"/>
                </a:solidFill>
              </a:rPr>
              <a:t>*********************************</a:t>
            </a:r>
            <a:endParaRPr lang="en-IN" dirty="0" smtClean="0">
              <a:solidFill>
                <a:srgbClr val="FF0000"/>
              </a:solidFill>
            </a:endParaRPr>
          </a:p>
          <a:p>
            <a:pPr marL="742950" indent="-742950">
              <a:lnSpc>
                <a:spcPts val="2799"/>
              </a:lnSpc>
            </a:pPr>
            <a:endParaRPr lang="en-US" dirty="0">
              <a:solidFill>
                <a:schemeClr val="bg1"/>
              </a:solidFill>
              <a:latin typeface="Arimo"/>
              <a:ea typeface="Arimo"/>
              <a:cs typeface="Arimo" pitchFamily="34" charset="-120"/>
            </a:endParaRPr>
          </a:p>
        </p:txBody>
      </p:sp>
      <p:pic>
        <p:nvPicPr>
          <p:cNvPr id="6" name="Image 0" descr="preencoded.png"/>
          <p:cNvPicPr>
            <a:picLocks noChangeAspect="1"/>
          </p:cNvPicPr>
          <p:nvPr/>
        </p:nvPicPr>
        <p:blipFill>
          <a:blip r:embed="rId3"/>
          <a:stretch>
            <a:fillRect/>
          </a:stretch>
        </p:blipFill>
        <p:spPr>
          <a:xfrm>
            <a:off x="9144000" y="-15498"/>
            <a:ext cx="5486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745</Words>
  <Application>Microsoft Office PowerPoint</Application>
  <PresentationFormat>Custom</PresentationFormat>
  <Paragraphs>151</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 Ubale</cp:lastModifiedBy>
  <cp:revision>38</cp:revision>
  <dcterms:created xsi:type="dcterms:W3CDTF">2023-09-13T16:22:08Z</dcterms:created>
  <dcterms:modified xsi:type="dcterms:W3CDTF">2024-10-08T18:09:17Z</dcterms:modified>
</cp:coreProperties>
</file>