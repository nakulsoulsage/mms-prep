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1"/>
  </p:notesMasterIdLst>
  <p:sldIdLst>
    <p:sldId id="293" r:id="rId2"/>
    <p:sldId id="321" r:id="rId3"/>
    <p:sldId id="257" r:id="rId4"/>
    <p:sldId id="258" r:id="rId5"/>
    <p:sldId id="259" r:id="rId6"/>
    <p:sldId id="260" r:id="rId7"/>
    <p:sldId id="261" r:id="rId8"/>
    <p:sldId id="318" r:id="rId9"/>
    <p:sldId id="305" r:id="rId10"/>
    <p:sldId id="319" r:id="rId11"/>
    <p:sldId id="312" r:id="rId12"/>
    <p:sldId id="322" r:id="rId13"/>
    <p:sldId id="307" r:id="rId14"/>
    <p:sldId id="320" r:id="rId15"/>
    <p:sldId id="313" r:id="rId16"/>
    <p:sldId id="323" r:id="rId17"/>
    <p:sldId id="314" r:id="rId18"/>
    <p:sldId id="324" r:id="rId19"/>
    <p:sldId id="315" r:id="rId20"/>
    <p:sldId id="316" r:id="rId21"/>
    <p:sldId id="317" r:id="rId22"/>
    <p:sldId id="262" r:id="rId23"/>
    <p:sldId id="263" r:id="rId24"/>
    <p:sldId id="309" r:id="rId25"/>
    <p:sldId id="264" r:id="rId26"/>
    <p:sldId id="267" r:id="rId27"/>
    <p:sldId id="268" r:id="rId28"/>
    <p:sldId id="308" r:id="rId29"/>
    <p:sldId id="311" r:id="rId30"/>
    <p:sldId id="270" r:id="rId31"/>
    <p:sldId id="310" r:id="rId32"/>
    <p:sldId id="271" r:id="rId33"/>
    <p:sldId id="325" r:id="rId34"/>
    <p:sldId id="326" r:id="rId35"/>
    <p:sldId id="327" r:id="rId36"/>
    <p:sldId id="328" r:id="rId37"/>
    <p:sldId id="329" r:id="rId38"/>
    <p:sldId id="330" r:id="rId39"/>
    <p:sldId id="33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11" autoAdjust="0"/>
  </p:normalViewPr>
  <p:slideViewPr>
    <p:cSldViewPr snapToGrid="0">
      <p:cViewPr varScale="1">
        <p:scale>
          <a:sx n="81" d="100"/>
          <a:sy n="81" d="100"/>
        </p:scale>
        <p:origin x="31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5BABD-8F00-412C-8B2F-EDF975617C92}" type="datetimeFigureOut">
              <a:rPr lang="en-IN" smtClean="0"/>
              <a:t>23-12-2022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79E5DB-2DFD-4919-A98D-CC3D0C94556A}" type="slidenum">
              <a:rPr lang="en-IN" smtClean="0"/>
              <a:t>‹#›</a:t>
            </a:fld>
            <a:endParaRPr lang="en-IN"/>
          </a:p>
        </p:txBody>
      </p:sp>
    </p:spTree>
    <p:extLst>
      <p:ext uri="{BB962C8B-B14F-4D97-AF65-F5344CB8AC3E}">
        <p14:creationId xmlns:p14="http://schemas.microsoft.com/office/powerpoint/2010/main" val="2674237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479E5DB-2DFD-4919-A98D-CC3D0C94556A}" type="slidenum">
              <a:rPr lang="en-IN" smtClean="0"/>
              <a:t>31</a:t>
            </a:fld>
            <a:endParaRPr lang="en-IN"/>
          </a:p>
        </p:txBody>
      </p:sp>
    </p:spTree>
    <p:extLst>
      <p:ext uri="{BB962C8B-B14F-4D97-AF65-F5344CB8AC3E}">
        <p14:creationId xmlns:p14="http://schemas.microsoft.com/office/powerpoint/2010/main" val="2762792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23-12-2022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888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23-12-2022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2297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E2ED03-6B94-4345-8944-CFCF63F6DEC1}" type="datetimeFigureOut">
              <a:rPr lang="en-IN" smtClean="0"/>
              <a:t>23-12-2022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10390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9E2ED03-6B94-4345-8944-CFCF63F6DEC1}" type="datetimeFigureOut">
              <a:rPr lang="en-IN" smtClean="0"/>
              <a:t>23-12-2022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10623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9E2ED03-6B94-4345-8944-CFCF63F6DEC1}" type="datetimeFigureOut">
              <a:rPr lang="en-IN" smtClean="0"/>
              <a:t>23-12-2022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6228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9E2ED03-6B94-4345-8944-CFCF63F6DEC1}" type="datetimeFigureOut">
              <a:rPr lang="en-IN" smtClean="0"/>
              <a:t>23-12-2022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93092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2ED03-6B94-4345-8944-CFCF63F6DEC1}" type="datetimeFigureOut">
              <a:rPr lang="en-IN" smtClean="0"/>
              <a:t>23-12-2022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64808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23-12-2022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8789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23-12-2022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5665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23-12-2022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5574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23-12-2022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06447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ED03-6B94-4345-8944-CFCF63F6DEC1}" type="datetimeFigureOut">
              <a:rPr lang="en-IN" smtClean="0"/>
              <a:t>23-12-2022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8C682-AE47-4C43-B1ED-12799A6AD0EB}" type="slidenum">
              <a:rPr lang="en-IN" smtClean="0"/>
              <a:t>‹#›</a:t>
            </a:fld>
            <a:endParaRPr lang="en-IN"/>
          </a:p>
        </p:txBody>
      </p:sp>
    </p:spTree>
    <p:extLst>
      <p:ext uri="{BB962C8B-B14F-4D97-AF65-F5344CB8AC3E}">
        <p14:creationId xmlns:p14="http://schemas.microsoft.com/office/powerpoint/2010/main" val="393854093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5003" y="237506"/>
            <a:ext cx="11792197" cy="6305798"/>
          </a:xfrm>
        </p:spPr>
        <p:txBody>
          <a:bodyPr>
            <a:normAutofit/>
          </a:bodyPr>
          <a:lstStyle/>
          <a:p>
            <a:endParaRPr lang="en-US" dirty="0" smtClean="0">
              <a:solidFill>
                <a:srgbClr val="0070C0"/>
              </a:solidFill>
              <a:latin typeface="Arial" panose="020B0604020202020204" pitchFamily="34"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endParaRPr lang="en-US" sz="3600" dirty="0">
              <a:solidFill>
                <a:srgbClr val="0070C0"/>
              </a:solidFill>
              <a:latin typeface="Algerian" panose="04020705040A02060702" pitchFamily="82" charset="0"/>
              <a:cs typeface="Arial" panose="020B0604020202020204" pitchFamily="34" charset="0"/>
            </a:endParaRPr>
          </a:p>
          <a:p>
            <a:endParaRPr lang="en-US" sz="3600" dirty="0" smtClean="0">
              <a:solidFill>
                <a:srgbClr val="0070C0"/>
              </a:solidFill>
              <a:latin typeface="Algerian" panose="04020705040A02060702" pitchFamily="82" charset="0"/>
              <a:cs typeface="Arial" panose="020B0604020202020204" pitchFamily="34" charset="0"/>
            </a:endParaRPr>
          </a:p>
          <a:p>
            <a:r>
              <a:rPr lang="en-US" sz="6000" dirty="0" smtClean="0">
                <a:solidFill>
                  <a:srgbClr val="0070C0"/>
                </a:solidFill>
                <a:latin typeface="Algerian" panose="04020705040A02060702" pitchFamily="82" charset="0"/>
                <a:cs typeface="Arial" panose="020B0604020202020204" pitchFamily="34" charset="0"/>
              </a:rPr>
              <a:t>Plant location</a:t>
            </a:r>
          </a:p>
          <a:p>
            <a:r>
              <a:rPr lang="en-US" sz="6000" dirty="0" smtClean="0">
                <a:solidFill>
                  <a:srgbClr val="0070C0"/>
                </a:solidFill>
                <a:latin typeface="Algerian" panose="04020705040A02060702" pitchFamily="82" charset="0"/>
                <a:cs typeface="Arial" panose="020B0604020202020204" pitchFamily="34" charset="0"/>
              </a:rPr>
              <a:t> </a:t>
            </a:r>
            <a:endParaRPr lang="en-US" sz="6000" dirty="0">
              <a:solidFill>
                <a:srgbClr val="0070C0"/>
              </a:solidFill>
              <a:latin typeface="Algerian" panose="04020705040A02060702" pitchFamily="82" charset="0"/>
              <a:cs typeface="Arial" panose="020B0604020202020204" pitchFamily="34" charset="0"/>
            </a:endParaRPr>
          </a:p>
        </p:txBody>
      </p:sp>
    </p:spTree>
    <p:extLst>
      <p:ext uri="{BB962C8B-B14F-4D97-AF65-F5344CB8AC3E}">
        <p14:creationId xmlns:p14="http://schemas.microsoft.com/office/powerpoint/2010/main" val="423527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008" y="178130"/>
            <a:ext cx="11673444" cy="6495802"/>
          </a:xfrm>
        </p:spPr>
        <p:txBody>
          <a:bodyPr/>
          <a:lstStyle/>
          <a:p>
            <a:pPr marL="0" indent="0" algn="ctr">
              <a:buNone/>
            </a:pPr>
            <a:r>
              <a:rPr lang="en-US" sz="4400" dirty="0" smtClean="0">
                <a:solidFill>
                  <a:srgbClr val="7030A0"/>
                </a:solidFill>
              </a:rPr>
              <a:t>Plant Location</a:t>
            </a:r>
          </a:p>
          <a:p>
            <a:pPr algn="just"/>
            <a:r>
              <a:rPr lang="en-US" dirty="0" smtClean="0">
                <a:latin typeface="Times New Roman" panose="02020603050405020304" pitchFamily="18" charset="0"/>
                <a:cs typeface="Times New Roman" panose="02020603050405020304" pitchFamily="18" charset="0"/>
              </a:rPr>
              <a:t>Plant location refers to the location of the organization</a:t>
            </a:r>
          </a:p>
          <a:p>
            <a:pPr algn="just"/>
            <a:r>
              <a:rPr lang="en-US" dirty="0" smtClean="0">
                <a:latin typeface="Times New Roman" panose="02020603050405020304" pitchFamily="18" charset="0"/>
                <a:cs typeface="Times New Roman" panose="02020603050405020304" pitchFamily="18" charset="0"/>
              </a:rPr>
              <a:t>It refers to selection of specific site for establishment of the physical unit of production process.</a:t>
            </a:r>
          </a:p>
          <a:p>
            <a:pPr algn="just"/>
            <a:r>
              <a:rPr lang="en-US" dirty="0" smtClean="0">
                <a:latin typeface="Times New Roman" panose="02020603050405020304" pitchFamily="18" charset="0"/>
                <a:cs typeface="Times New Roman" panose="02020603050405020304" pitchFamily="18" charset="0"/>
              </a:rPr>
              <a:t>It is strategic decision of an organization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84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290945"/>
            <a:ext cx="11007436" cy="5886018"/>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Need of Plant Location</a:t>
            </a:r>
          </a:p>
          <a:p>
            <a:pPr lvl="1" algn="just"/>
            <a:r>
              <a:rPr lang="en-US" sz="2800" dirty="0" smtClean="0">
                <a:latin typeface="Times New Roman" panose="02020603050405020304" pitchFamily="18" charset="0"/>
                <a:cs typeface="Times New Roman" panose="02020603050405020304" pitchFamily="18" charset="0"/>
              </a:rPr>
              <a:t>In case of new factory</a:t>
            </a:r>
          </a:p>
          <a:p>
            <a:pPr lvl="1" algn="just"/>
            <a:r>
              <a:rPr lang="en-US" sz="2800" dirty="0" smtClean="0">
                <a:latin typeface="Times New Roman" panose="02020603050405020304" pitchFamily="18" charset="0"/>
                <a:cs typeface="Times New Roman" panose="02020603050405020304" pitchFamily="18" charset="0"/>
              </a:rPr>
              <a:t>In case of existing factory</a:t>
            </a:r>
          </a:p>
        </p:txBody>
      </p:sp>
    </p:spTree>
    <p:extLst>
      <p:ext uri="{BB962C8B-B14F-4D97-AF65-F5344CB8AC3E}">
        <p14:creationId xmlns:p14="http://schemas.microsoft.com/office/powerpoint/2010/main" val="2732347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817" y="213756"/>
            <a:ext cx="11707091" cy="6422571"/>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Need of plant location</a:t>
            </a:r>
          </a:p>
          <a:p>
            <a:pPr marL="0" indent="0" algn="just">
              <a:buNone/>
            </a:pPr>
            <a:r>
              <a:rPr lang="en-US" sz="2400" dirty="0" smtClean="0">
                <a:latin typeface="Times New Roman" panose="02020603050405020304" pitchFamily="18" charset="0"/>
                <a:cs typeface="Times New Roman" panose="02020603050405020304" pitchFamily="18" charset="0"/>
              </a:rPr>
              <a:t> For existing facility</a:t>
            </a:r>
          </a:p>
          <a:p>
            <a:pPr algn="just"/>
            <a:r>
              <a:rPr lang="en-US" sz="2400" dirty="0" smtClean="0">
                <a:latin typeface="Times New Roman" panose="02020603050405020304" pitchFamily="18" charset="0"/>
                <a:cs typeface="Times New Roman" panose="02020603050405020304" pitchFamily="18" charset="0"/>
              </a:rPr>
              <a:t>Change in availability of resources</a:t>
            </a:r>
          </a:p>
          <a:p>
            <a:pPr algn="just"/>
            <a:r>
              <a:rPr lang="en-US" sz="2400" dirty="0" smtClean="0">
                <a:latin typeface="Times New Roman" panose="02020603050405020304" pitchFamily="18" charset="0"/>
                <a:cs typeface="Times New Roman" panose="02020603050405020304" pitchFamily="18" charset="0"/>
              </a:rPr>
              <a:t>Shift of demand</a:t>
            </a:r>
          </a:p>
          <a:p>
            <a:pPr algn="just"/>
            <a:r>
              <a:rPr lang="en-US" sz="2400" dirty="0" smtClean="0">
                <a:latin typeface="Times New Roman" panose="02020603050405020304" pitchFamily="18" charset="0"/>
                <a:cs typeface="Times New Roman" panose="02020603050405020304" pitchFamily="18" charset="0"/>
              </a:rPr>
              <a:t>To expand new target market</a:t>
            </a:r>
          </a:p>
          <a:p>
            <a:pPr algn="just"/>
            <a:r>
              <a:rPr lang="en-US" sz="2400" dirty="0" smtClean="0">
                <a:latin typeface="Times New Roman" panose="02020603050405020304" pitchFamily="18" charset="0"/>
                <a:cs typeface="Times New Roman" panose="02020603050405020304" pitchFamily="18" charset="0"/>
              </a:rPr>
              <a:t>Development of new technology</a:t>
            </a:r>
          </a:p>
          <a:p>
            <a:pPr algn="just"/>
            <a:r>
              <a:rPr lang="en-US" sz="2400" dirty="0" smtClean="0">
                <a:latin typeface="Times New Roman" panose="02020603050405020304" pitchFamily="18" charset="0"/>
                <a:cs typeface="Times New Roman" panose="02020603050405020304" pitchFamily="18" charset="0"/>
              </a:rPr>
              <a:t>Socio political and legal changes</a:t>
            </a:r>
          </a:p>
          <a:p>
            <a:pPr algn="just"/>
            <a:endParaRPr lang="en-US"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78605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3137" y="84221"/>
            <a:ext cx="10956758" cy="6417595"/>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Location Decisions- Country decisions</a:t>
            </a:r>
          </a:p>
          <a:p>
            <a:pPr marL="0" indent="0" algn="just">
              <a:buNone/>
            </a:pPr>
            <a:r>
              <a:rPr lang="en-US" sz="2400" dirty="0" smtClean="0">
                <a:latin typeface="Times New Roman" panose="02020603050405020304" pitchFamily="18" charset="0"/>
                <a:cs typeface="Times New Roman" panose="02020603050405020304" pitchFamily="18" charset="0"/>
              </a:rPr>
              <a:t>Critical success factors</a:t>
            </a:r>
          </a:p>
          <a:p>
            <a:pPr algn="just"/>
            <a:r>
              <a:rPr lang="en-US" sz="2400" dirty="0" smtClean="0">
                <a:latin typeface="Times New Roman" panose="02020603050405020304" pitchFamily="18" charset="0"/>
                <a:cs typeface="Times New Roman" panose="02020603050405020304" pitchFamily="18" charset="0"/>
              </a:rPr>
              <a:t>Political risks, government rules, attitudes and incentives</a:t>
            </a:r>
          </a:p>
          <a:p>
            <a:pPr algn="just"/>
            <a:r>
              <a:rPr lang="en-US" sz="2400" dirty="0" smtClean="0">
                <a:latin typeface="Times New Roman" panose="02020603050405020304" pitchFamily="18" charset="0"/>
                <a:cs typeface="Times New Roman" panose="02020603050405020304" pitchFamily="18" charset="0"/>
              </a:rPr>
              <a:t>cultural and economic issues</a:t>
            </a:r>
          </a:p>
          <a:p>
            <a:pPr algn="just"/>
            <a:r>
              <a:rPr lang="en-US" sz="2400" dirty="0" smtClean="0">
                <a:latin typeface="Times New Roman" panose="02020603050405020304" pitchFamily="18" charset="0"/>
                <a:cs typeface="Times New Roman" panose="02020603050405020304" pitchFamily="18" charset="0"/>
              </a:rPr>
              <a:t>Location of markets</a:t>
            </a:r>
          </a:p>
          <a:p>
            <a:pPr algn="just"/>
            <a:r>
              <a:rPr lang="en-US" sz="2400" dirty="0" smtClean="0">
                <a:latin typeface="Times New Roman" panose="02020603050405020304" pitchFamily="18" charset="0"/>
                <a:cs typeface="Times New Roman" panose="02020603050405020304" pitchFamily="18" charset="0"/>
              </a:rPr>
              <a:t>Labor availability, attitudes, productivity, costs</a:t>
            </a:r>
          </a:p>
          <a:p>
            <a:pPr algn="just"/>
            <a:r>
              <a:rPr lang="en-US" sz="2400" dirty="0" smtClean="0">
                <a:latin typeface="Times New Roman" panose="02020603050405020304" pitchFamily="18" charset="0"/>
                <a:cs typeface="Times New Roman" panose="02020603050405020304" pitchFamily="18" charset="0"/>
              </a:rPr>
              <a:t>Availability of supplies, communications, energy</a:t>
            </a:r>
          </a:p>
          <a:p>
            <a:pPr algn="just"/>
            <a:r>
              <a:rPr lang="en-US" sz="2400" dirty="0" smtClean="0">
                <a:latin typeface="Times New Roman" panose="02020603050405020304" pitchFamily="18" charset="0"/>
                <a:cs typeface="Times New Roman" panose="02020603050405020304" pitchFamily="18" charset="0"/>
              </a:rPr>
              <a:t>Exchange rates and currency risks</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7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947" y="288758"/>
            <a:ext cx="11405937" cy="6316579"/>
          </a:xfrm>
        </p:spPr>
        <p:txBody>
          <a:bodyPr>
            <a:normAutofit/>
          </a:bodyPr>
          <a:lstStyle/>
          <a:p>
            <a:pPr marL="0" indent="0" algn="just">
              <a:buNone/>
            </a:pPr>
            <a:r>
              <a:rPr lang="en-US" sz="4400" dirty="0" smtClean="0">
                <a:solidFill>
                  <a:srgbClr val="7030A0"/>
                </a:solidFill>
                <a:latin typeface="Times New Roman" panose="02020603050405020304" pitchFamily="18" charset="0"/>
                <a:cs typeface="Times New Roman" panose="02020603050405020304" pitchFamily="18" charset="0"/>
              </a:rPr>
              <a:t>Location Decisions- Region /community decision</a:t>
            </a:r>
          </a:p>
          <a:p>
            <a:pPr marL="0" indent="0" algn="just">
              <a:buNone/>
            </a:pPr>
            <a:r>
              <a:rPr lang="en-US" sz="2400" dirty="0" smtClean="0">
                <a:latin typeface="Times New Roman" panose="02020603050405020304" pitchFamily="18" charset="0"/>
                <a:cs typeface="Times New Roman" panose="02020603050405020304" pitchFamily="18" charset="0"/>
              </a:rPr>
              <a:t>Critical success factors</a:t>
            </a:r>
          </a:p>
          <a:p>
            <a:pPr algn="just"/>
            <a:r>
              <a:rPr lang="en-US" sz="2400" dirty="0" smtClean="0">
                <a:latin typeface="Times New Roman" panose="02020603050405020304" pitchFamily="18" charset="0"/>
                <a:cs typeface="Times New Roman" panose="02020603050405020304" pitchFamily="18" charset="0"/>
              </a:rPr>
              <a:t>Corporate desires</a:t>
            </a:r>
          </a:p>
          <a:p>
            <a:pPr algn="just"/>
            <a:r>
              <a:rPr lang="en-US" sz="2400" dirty="0" smtClean="0">
                <a:latin typeface="Times New Roman" panose="02020603050405020304" pitchFamily="18" charset="0"/>
                <a:cs typeface="Times New Roman" panose="02020603050405020304" pitchFamily="18" charset="0"/>
              </a:rPr>
              <a:t>Attractiveness of region</a:t>
            </a:r>
          </a:p>
          <a:p>
            <a:pPr algn="just"/>
            <a:r>
              <a:rPr lang="en-US" sz="2400" dirty="0" smtClean="0">
                <a:latin typeface="Times New Roman" panose="02020603050405020304" pitchFamily="18" charset="0"/>
                <a:cs typeface="Times New Roman" panose="02020603050405020304" pitchFamily="18" charset="0"/>
              </a:rPr>
              <a:t>Labor availability, costs, attitudes towards unions</a:t>
            </a:r>
          </a:p>
          <a:p>
            <a:pPr algn="just"/>
            <a:r>
              <a:rPr lang="en-US" sz="2400" dirty="0" smtClean="0">
                <a:latin typeface="Times New Roman" panose="02020603050405020304" pitchFamily="18" charset="0"/>
                <a:cs typeface="Times New Roman" panose="02020603050405020304" pitchFamily="18" charset="0"/>
              </a:rPr>
              <a:t>Costs and availability </a:t>
            </a:r>
            <a:r>
              <a:rPr lang="en-US" sz="2400" dirty="0">
                <a:latin typeface="Times New Roman" panose="02020603050405020304" pitchFamily="18" charset="0"/>
                <a:cs typeface="Times New Roman" panose="02020603050405020304" pitchFamily="18" charset="0"/>
              </a:rPr>
              <a:t>o</a:t>
            </a:r>
            <a:r>
              <a:rPr lang="en-US" sz="2400" dirty="0" smtClean="0">
                <a:latin typeface="Times New Roman" panose="02020603050405020304" pitchFamily="18" charset="0"/>
                <a:cs typeface="Times New Roman" panose="02020603050405020304" pitchFamily="18" charset="0"/>
              </a:rPr>
              <a:t>f utilities</a:t>
            </a:r>
          </a:p>
          <a:p>
            <a:pPr algn="just"/>
            <a:r>
              <a:rPr lang="en-US" sz="2400" dirty="0" smtClean="0">
                <a:latin typeface="Times New Roman" panose="02020603050405020304" pitchFamily="18" charset="0"/>
                <a:cs typeface="Times New Roman" panose="02020603050405020304" pitchFamily="18" charset="0"/>
              </a:rPr>
              <a:t>Environmental regulations</a:t>
            </a:r>
          </a:p>
          <a:p>
            <a:pPr algn="just"/>
            <a:r>
              <a:rPr lang="en-US" sz="2400" dirty="0" smtClean="0">
                <a:latin typeface="Times New Roman" panose="02020603050405020304" pitchFamily="18" charset="0"/>
                <a:cs typeface="Times New Roman" panose="02020603050405020304" pitchFamily="18" charset="0"/>
              </a:rPr>
              <a:t>Government incentives and fiscal policies</a:t>
            </a:r>
          </a:p>
          <a:p>
            <a:pPr algn="just"/>
            <a:r>
              <a:rPr lang="en-US" sz="2400" dirty="0" smtClean="0">
                <a:latin typeface="Times New Roman" panose="02020603050405020304" pitchFamily="18" charset="0"/>
                <a:cs typeface="Times New Roman" panose="02020603050405020304" pitchFamily="18" charset="0"/>
              </a:rPr>
              <a:t>Proximity to raw materials and customers</a:t>
            </a:r>
          </a:p>
          <a:p>
            <a:pPr algn="just"/>
            <a:r>
              <a:rPr lang="en-US" sz="2400" dirty="0" smtClean="0">
                <a:latin typeface="Times New Roman" panose="02020603050405020304" pitchFamily="18" charset="0"/>
                <a:cs typeface="Times New Roman" panose="02020603050405020304" pitchFamily="18" charset="0"/>
              </a:rPr>
              <a:t>Land/construction costs</a:t>
            </a:r>
          </a:p>
          <a:p>
            <a:pPr algn="just"/>
            <a:endParaRPr lang="en-US" sz="2400" dirty="0" smtClean="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347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347" y="385011"/>
            <a:ext cx="11790948" cy="6316578"/>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Location decisions- Site decision</a:t>
            </a:r>
          </a:p>
          <a:p>
            <a:pPr marL="0" indent="0" algn="just">
              <a:buNone/>
            </a:pPr>
            <a:r>
              <a:rPr lang="en-US" sz="2400" dirty="0" smtClean="0">
                <a:latin typeface="Times New Roman" panose="02020603050405020304" pitchFamily="18" charset="0"/>
                <a:cs typeface="Times New Roman" panose="02020603050405020304" pitchFamily="18" charset="0"/>
              </a:rPr>
              <a:t>Critical success factors</a:t>
            </a:r>
          </a:p>
          <a:p>
            <a:pPr algn="just"/>
            <a:r>
              <a:rPr lang="en-US" sz="2400" dirty="0" smtClean="0">
                <a:latin typeface="Times New Roman" panose="02020603050405020304" pitchFamily="18" charset="0"/>
                <a:cs typeface="Times New Roman" panose="02020603050405020304" pitchFamily="18" charset="0"/>
              </a:rPr>
              <a:t>Site size and cost</a:t>
            </a:r>
          </a:p>
          <a:p>
            <a:pPr algn="just"/>
            <a:r>
              <a:rPr lang="en-US" sz="2400" dirty="0" smtClean="0">
                <a:latin typeface="Times New Roman" panose="02020603050405020304" pitchFamily="18" charset="0"/>
                <a:cs typeface="Times New Roman" panose="02020603050405020304" pitchFamily="18" charset="0"/>
              </a:rPr>
              <a:t>Air, rail, highways and water ways system</a:t>
            </a:r>
          </a:p>
          <a:p>
            <a:pPr algn="just"/>
            <a:r>
              <a:rPr lang="en-US" sz="2400" dirty="0" smtClean="0">
                <a:latin typeface="Times New Roman" panose="02020603050405020304" pitchFamily="18" charset="0"/>
                <a:cs typeface="Times New Roman" panose="02020603050405020304" pitchFamily="18" charset="0"/>
              </a:rPr>
              <a:t>Zoning restrictions</a:t>
            </a:r>
          </a:p>
          <a:p>
            <a:pPr algn="just"/>
            <a:r>
              <a:rPr lang="en-US" sz="2400" dirty="0" smtClean="0">
                <a:latin typeface="Times New Roman" panose="02020603050405020304" pitchFamily="18" charset="0"/>
                <a:cs typeface="Times New Roman" panose="02020603050405020304" pitchFamily="18" charset="0"/>
              </a:rPr>
              <a:t>Nearness of services/supplies needed</a:t>
            </a:r>
          </a:p>
          <a:p>
            <a:pPr algn="just"/>
            <a:r>
              <a:rPr lang="en-US" sz="2400" dirty="0" smtClean="0">
                <a:latin typeface="Times New Roman" panose="02020603050405020304" pitchFamily="18" charset="0"/>
                <a:cs typeface="Times New Roman" panose="02020603050405020304" pitchFamily="18" charset="0"/>
              </a:rPr>
              <a:t>Environmental impact issues</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733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260" y="237506"/>
            <a:ext cx="11210306" cy="6460177"/>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Factors affecting plant location</a:t>
            </a:r>
          </a:p>
          <a:p>
            <a:r>
              <a:rPr lang="en-US" dirty="0" smtClean="0">
                <a:latin typeface="Times New Roman" panose="02020603050405020304" pitchFamily="18" charset="0"/>
                <a:cs typeface="Times New Roman" panose="02020603050405020304" pitchFamily="18" charset="0"/>
              </a:rPr>
              <a:t>General locational factors</a:t>
            </a:r>
          </a:p>
          <a:p>
            <a:pPr marL="0" indent="0">
              <a:buNone/>
            </a:pPr>
            <a:r>
              <a:rPr lang="en-US" dirty="0" smtClean="0">
                <a:latin typeface="Times New Roman" panose="02020603050405020304" pitchFamily="18" charset="0"/>
                <a:cs typeface="Times New Roman" panose="02020603050405020304" pitchFamily="18" charset="0"/>
              </a:rPr>
              <a:t>- Includes controllable and uncontrollable factors for all type of organization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4285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8" y="290945"/>
            <a:ext cx="11430000" cy="6276110"/>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General location factors</a:t>
            </a:r>
          </a:p>
          <a:p>
            <a:pPr marL="0" indent="0" algn="ctr">
              <a:buNone/>
            </a:pPr>
            <a:r>
              <a:rPr lang="en-US" sz="3600" dirty="0" smtClean="0">
                <a:solidFill>
                  <a:srgbClr val="7030A0"/>
                </a:solidFill>
                <a:latin typeface="Times New Roman" panose="02020603050405020304" pitchFamily="18" charset="0"/>
                <a:cs typeface="Times New Roman" panose="02020603050405020304" pitchFamily="18" charset="0"/>
              </a:rPr>
              <a:t>Controllable factors</a:t>
            </a:r>
          </a:p>
          <a:p>
            <a:pPr algn="just"/>
            <a:r>
              <a:rPr lang="en-US" dirty="0" smtClean="0">
                <a:latin typeface="Times New Roman" panose="02020603050405020304" pitchFamily="18" charset="0"/>
                <a:cs typeface="Times New Roman" panose="02020603050405020304" pitchFamily="18" charset="0"/>
              </a:rPr>
              <a:t>Proximity to market</a:t>
            </a:r>
          </a:p>
          <a:p>
            <a:pPr algn="just"/>
            <a:r>
              <a:rPr lang="en-US" dirty="0" smtClean="0">
                <a:latin typeface="Times New Roman" panose="02020603050405020304" pitchFamily="18" charset="0"/>
                <a:cs typeface="Times New Roman" panose="02020603050405020304" pitchFamily="18" charset="0"/>
              </a:rPr>
              <a:t>Supply of raw materials</a:t>
            </a:r>
          </a:p>
          <a:p>
            <a:pPr algn="just"/>
            <a:r>
              <a:rPr lang="en-US" dirty="0" smtClean="0">
                <a:latin typeface="Times New Roman" panose="02020603050405020304" pitchFamily="18" charset="0"/>
                <a:cs typeface="Times New Roman" panose="02020603050405020304" pitchFamily="18" charset="0"/>
              </a:rPr>
              <a:t>Transportation facilities</a:t>
            </a:r>
          </a:p>
          <a:p>
            <a:pPr algn="just"/>
            <a:r>
              <a:rPr lang="en-US" dirty="0" smtClean="0">
                <a:latin typeface="Times New Roman" panose="02020603050405020304" pitchFamily="18" charset="0"/>
                <a:cs typeface="Times New Roman" panose="02020603050405020304" pitchFamily="18" charset="0"/>
              </a:rPr>
              <a:t>Infrastructure availability</a:t>
            </a:r>
          </a:p>
          <a:p>
            <a:pPr algn="just"/>
            <a:r>
              <a:rPr lang="en-US" dirty="0" smtClean="0">
                <a:latin typeface="Times New Roman" panose="02020603050405020304" pitchFamily="18" charset="0"/>
                <a:cs typeface="Times New Roman" panose="02020603050405020304" pitchFamily="18" charset="0"/>
              </a:rPr>
              <a:t>Availability of labor </a:t>
            </a:r>
          </a:p>
          <a:p>
            <a:pPr marL="0" indent="0">
              <a:buNone/>
            </a:pPr>
            <a:endParaRPr 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pPr marL="0" indent="0">
              <a:buNone/>
            </a:pPr>
            <a:endParaRPr lang="en-US" sz="4400" dirty="0" smtClean="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38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225630"/>
            <a:ext cx="11614067" cy="6412675"/>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General location factors</a:t>
            </a:r>
          </a:p>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Uncontrollable Factors</a:t>
            </a:r>
          </a:p>
          <a:p>
            <a:r>
              <a:rPr lang="en-US" dirty="0" smtClean="0">
                <a:latin typeface="Times New Roman" panose="02020603050405020304" pitchFamily="18" charset="0"/>
                <a:cs typeface="Times New Roman" panose="02020603050405020304" pitchFamily="18" charset="0"/>
              </a:rPr>
              <a:t>Government policy</a:t>
            </a:r>
          </a:p>
          <a:p>
            <a:r>
              <a:rPr lang="en-US" dirty="0" smtClean="0">
                <a:latin typeface="Times New Roman" panose="02020603050405020304" pitchFamily="18" charset="0"/>
                <a:cs typeface="Times New Roman" panose="02020603050405020304" pitchFamily="18" charset="0"/>
              </a:rPr>
              <a:t>Climate conditions</a:t>
            </a:r>
          </a:p>
          <a:p>
            <a:r>
              <a:rPr lang="en-US" dirty="0" smtClean="0">
                <a:latin typeface="Times New Roman" panose="02020603050405020304" pitchFamily="18" charset="0"/>
                <a:cs typeface="Times New Roman" panose="02020603050405020304" pitchFamily="18" charset="0"/>
              </a:rPr>
              <a:t>Supporting industries and services</a:t>
            </a:r>
          </a:p>
          <a:p>
            <a:r>
              <a:rPr lang="en-US" dirty="0" smtClean="0">
                <a:latin typeface="Times New Roman" panose="02020603050405020304" pitchFamily="18" charset="0"/>
                <a:cs typeface="Times New Roman" panose="02020603050405020304" pitchFamily="18" charset="0"/>
              </a:rPr>
              <a:t>Community and labor attitudes</a:t>
            </a:r>
          </a:p>
          <a:p>
            <a:r>
              <a:rPr lang="en-US" dirty="0" smtClean="0">
                <a:latin typeface="Times New Roman" panose="02020603050405020304" pitchFamily="18" charset="0"/>
                <a:cs typeface="Times New Roman" panose="02020603050405020304" pitchFamily="18" charset="0"/>
              </a:rPr>
              <a:t>Community infrastructure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3343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0005" y="83127"/>
            <a:ext cx="11732821" cy="6774873"/>
          </a:xfrm>
        </p:spPr>
        <p:txBody>
          <a:bodyPr>
            <a:normAutofit/>
          </a:bodyPr>
          <a:lstStyle/>
          <a:p>
            <a:pPr marL="0" indent="0" algn="ctr">
              <a:buNone/>
            </a:pPr>
            <a:r>
              <a:rPr lang="en-US" sz="4400" dirty="0" smtClean="0">
                <a:solidFill>
                  <a:srgbClr val="7030A0"/>
                </a:solidFill>
              </a:rPr>
              <a:t>Proximity of markets</a:t>
            </a:r>
          </a:p>
          <a:p>
            <a:r>
              <a:rPr lang="en-US" dirty="0" smtClean="0">
                <a:latin typeface="Times New Roman" panose="02020603050405020304" pitchFamily="18" charset="0"/>
                <a:cs typeface="Times New Roman" panose="02020603050405020304" pitchFamily="18" charset="0"/>
              </a:rPr>
              <a:t>Location of facilities close to the market</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Provide goods and services at time and reasonable price</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Reduce the transportation cost</a:t>
            </a:r>
          </a:p>
          <a:p>
            <a:r>
              <a:rPr lang="en-US" dirty="0" smtClean="0">
                <a:latin typeface="Times New Roman" panose="02020603050405020304" pitchFamily="18" charset="0"/>
                <a:cs typeface="Times New Roman" panose="02020603050405020304" pitchFamily="18" charset="0"/>
              </a:rPr>
              <a:t>Location of facilities close to the market( based on product)</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Delicate and susceptible to spoilage</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Services are promptly required very often</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Shelf life of the product is low</a:t>
            </a:r>
          </a:p>
          <a:p>
            <a:endParaRPr lang="en-IN" dirty="0"/>
          </a:p>
        </p:txBody>
      </p:sp>
    </p:spTree>
    <p:extLst>
      <p:ext uri="{BB962C8B-B14F-4D97-AF65-F5344CB8AC3E}">
        <p14:creationId xmlns:p14="http://schemas.microsoft.com/office/powerpoint/2010/main" val="2800925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142504"/>
            <a:ext cx="11092543" cy="6460177"/>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Supply of raw material</a:t>
            </a:r>
          </a:p>
          <a:p>
            <a:pPr algn="just"/>
            <a:r>
              <a:rPr lang="en-US" dirty="0" smtClean="0">
                <a:latin typeface="Times New Roman" panose="02020603050405020304" pitchFamily="18" charset="0"/>
                <a:cs typeface="Times New Roman" panose="02020603050405020304" pitchFamily="18" charset="0"/>
              </a:rPr>
              <a:t>In right qualities and at right time in order to have an uninterrupted production</a:t>
            </a:r>
          </a:p>
          <a:p>
            <a:pPr algn="just"/>
            <a:r>
              <a:rPr lang="en-US" dirty="0" smtClean="0">
                <a:latin typeface="Times New Roman" panose="02020603050405020304" pitchFamily="18" charset="0"/>
                <a:cs typeface="Times New Roman" panose="02020603050405020304" pitchFamily="18" charset="0"/>
              </a:rPr>
              <a:t>Availability of raw materials nearer to the plant location decreases the transportation cost.</a:t>
            </a:r>
          </a:p>
          <a:p>
            <a:pPr algn="just"/>
            <a:r>
              <a:rPr lang="en-US" dirty="0" smtClean="0">
                <a:latin typeface="Times New Roman" panose="02020603050405020304" pitchFamily="18" charset="0"/>
                <a:cs typeface="Times New Roman" panose="02020603050405020304" pitchFamily="18" charset="0"/>
              </a:rPr>
              <a:t>Examples of some industries in which raw material availability should be nearer to plant location sugar, cement, jute and cotton textiles</a:t>
            </a:r>
          </a:p>
          <a:p>
            <a:pPr marL="0" indent="0" algn="just">
              <a:buNone/>
            </a:pP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069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166255"/>
            <a:ext cx="11582400" cy="6400800"/>
          </a:xfrm>
        </p:spPr>
        <p:txBody>
          <a:bodyPr>
            <a:normAutofit/>
          </a:bodyPr>
          <a:lstStyle/>
          <a:p>
            <a:pPr marL="0" indent="0" algn="ctr">
              <a:buNone/>
            </a:pPr>
            <a:r>
              <a:rPr lang="en-US" dirty="0" smtClean="0"/>
              <a:t>                </a:t>
            </a:r>
            <a:r>
              <a:rPr lang="en-US" sz="4400" dirty="0" smtClean="0">
                <a:solidFill>
                  <a:srgbClr val="7030A0"/>
                </a:solidFill>
              </a:rPr>
              <a:t>Transport facility</a:t>
            </a:r>
          </a:p>
          <a:p>
            <a:pPr algn="just"/>
            <a:r>
              <a:rPr lang="en-US" dirty="0" smtClean="0">
                <a:latin typeface="Times New Roman" panose="02020603050405020304" pitchFamily="18" charset="0"/>
                <a:cs typeface="Times New Roman" panose="02020603050405020304" pitchFamily="18" charset="0"/>
              </a:rPr>
              <a:t>Transport facilities are very important for bringing raw materials to the factory</a:t>
            </a:r>
          </a:p>
          <a:p>
            <a:pPr algn="just"/>
            <a:r>
              <a:rPr lang="en-US" dirty="0" smtClean="0">
                <a:latin typeface="Times New Roman" panose="02020603050405020304" pitchFamily="18" charset="0"/>
                <a:cs typeface="Times New Roman" panose="02020603050405020304" pitchFamily="18" charset="0"/>
              </a:rPr>
              <a:t>Transport facilities are very important for finished goods to the market</a:t>
            </a:r>
          </a:p>
          <a:p>
            <a:pPr algn="just"/>
            <a:r>
              <a:rPr lang="en-US" dirty="0" smtClean="0">
                <a:latin typeface="Times New Roman" panose="02020603050405020304" pitchFamily="18" charset="0"/>
                <a:cs typeface="Times New Roman" panose="02020603050405020304" pitchFamily="18" charset="0"/>
              </a:rPr>
              <a:t>A place which is well connected by rail, road ,air and water transport facilities is suitable for plant</a:t>
            </a:r>
          </a:p>
        </p:txBody>
      </p:sp>
    </p:spTree>
    <p:extLst>
      <p:ext uri="{BB962C8B-B14F-4D97-AF65-F5344CB8AC3E}">
        <p14:creationId xmlns:p14="http://schemas.microsoft.com/office/powerpoint/2010/main" val="3942451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756" y="225630"/>
            <a:ext cx="11140044" cy="6353299"/>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Infrastructure </a:t>
            </a:r>
            <a:endParaRPr lang="en-US" sz="4400" dirty="0">
              <a:solidFill>
                <a:srgbClr val="7030A0"/>
              </a:solidFill>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basic infrastructure facilities are power, water and waste disposal</a:t>
            </a:r>
          </a:p>
          <a:p>
            <a:r>
              <a:rPr lang="en-US" dirty="0" smtClean="0">
                <a:latin typeface="Times New Roman" panose="02020603050405020304" pitchFamily="18" charset="0"/>
                <a:cs typeface="Times New Roman" panose="02020603050405020304" pitchFamily="18" charset="0"/>
              </a:rPr>
              <a:t>Certain types of industries are strong power dependent( Aluminum and steel)</a:t>
            </a:r>
          </a:p>
          <a:p>
            <a:r>
              <a:rPr lang="en-US" dirty="0" smtClean="0">
                <a:latin typeface="Times New Roman" panose="02020603050405020304" pitchFamily="18" charset="0"/>
                <a:cs typeface="Times New Roman" panose="02020603050405020304" pitchFamily="18" charset="0"/>
              </a:rPr>
              <a:t>Process industries like paper, chemical, cement requires continuous supply of water in large and good quality.</a:t>
            </a:r>
          </a:p>
          <a:p>
            <a:r>
              <a:rPr lang="en-US" dirty="0" smtClean="0">
                <a:latin typeface="Times New Roman" panose="02020603050405020304" pitchFamily="18" charset="0"/>
                <a:cs typeface="Times New Roman" panose="02020603050405020304" pitchFamily="18" charset="0"/>
              </a:rPr>
              <a:t>A waste disposal facility for process industries is an important factor , which influences the plant location.</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323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1881" y="190005"/>
            <a:ext cx="11863449" cy="6412676"/>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Availability of labor and wages</a:t>
            </a:r>
          </a:p>
          <a:p>
            <a:pPr algn="just"/>
            <a:r>
              <a:rPr lang="en-US" dirty="0" smtClean="0">
                <a:latin typeface="Times New Roman" panose="02020603050405020304" pitchFamily="18" charset="0"/>
                <a:cs typeface="Times New Roman" panose="02020603050405020304" pitchFamily="18" charset="0"/>
              </a:rPr>
              <a:t>Adequate number of labor with specific skills</a:t>
            </a:r>
          </a:p>
          <a:p>
            <a:pPr algn="just"/>
            <a:r>
              <a:rPr lang="en-US" dirty="0" smtClean="0">
                <a:latin typeface="Times New Roman" panose="02020603050405020304" pitchFamily="18" charset="0"/>
                <a:cs typeface="Times New Roman" panose="02020603050405020304" pitchFamily="18" charset="0"/>
              </a:rPr>
              <a:t>Cheap manpower need training which need extra funding</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Now a days influence of skilled labor on plant has lost because of mobility</a:t>
            </a:r>
          </a:p>
          <a:p>
            <a:pPr algn="just"/>
            <a:r>
              <a:rPr lang="en-US" dirty="0" smtClean="0">
                <a:latin typeface="Times New Roman" panose="02020603050405020304" pitchFamily="18" charset="0"/>
                <a:cs typeface="Times New Roman" panose="02020603050405020304" pitchFamily="18" charset="0"/>
              </a:rPr>
              <a:t>Prevailing wage pattern, cost of living, industrial relations and bargaining power of the employee unions are important considerations.</a:t>
            </a:r>
          </a:p>
        </p:txBody>
      </p:sp>
    </p:spTree>
    <p:extLst>
      <p:ext uri="{BB962C8B-B14F-4D97-AF65-F5344CB8AC3E}">
        <p14:creationId xmlns:p14="http://schemas.microsoft.com/office/powerpoint/2010/main" val="4087883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753" y="332509"/>
            <a:ext cx="11235047" cy="6234546"/>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Government policy </a:t>
            </a:r>
          </a:p>
          <a:p>
            <a:pPr algn="just"/>
            <a:r>
              <a:rPr lang="en-US" dirty="0" smtClean="0">
                <a:latin typeface="Times New Roman" panose="02020603050405020304" pitchFamily="18" charset="0"/>
                <a:cs typeface="Times New Roman" panose="02020603050405020304" pitchFamily="18" charset="0"/>
              </a:rPr>
              <a:t>The policies of the state governments and local bodies concerning labor laws, building codes, safety are the factors that demand attention.</a:t>
            </a:r>
          </a:p>
          <a:p>
            <a:pPr algn="just"/>
            <a:r>
              <a:rPr lang="en-US" dirty="0" smtClean="0">
                <a:latin typeface="Times New Roman" panose="02020603050405020304" pitchFamily="18" charset="0"/>
                <a:cs typeface="Times New Roman" panose="02020603050405020304" pitchFamily="18" charset="0"/>
              </a:rPr>
              <a:t>Incentive package given by government to entrepreneur in a particular location</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Exemption from sales tax and excise duties</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soft loan from financial institutions</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subsidy in electricity charges</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investment subsidy</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0920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2" y="178130"/>
            <a:ext cx="11673444" cy="6424551"/>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Supporting industries and services</a:t>
            </a:r>
          </a:p>
          <a:p>
            <a:r>
              <a:rPr lang="en-US" dirty="0" smtClean="0">
                <a:latin typeface="Times New Roman" panose="02020603050405020304" pitchFamily="18" charset="0"/>
                <a:cs typeface="Times New Roman" panose="02020603050405020304" pitchFamily="18" charset="0"/>
              </a:rPr>
              <a:t>Now a day the manufacturing organization will not make all the components and parts by itself</a:t>
            </a:r>
          </a:p>
          <a:p>
            <a:r>
              <a:rPr lang="en-US" dirty="0" smtClean="0">
                <a:latin typeface="Times New Roman" panose="02020603050405020304" pitchFamily="18" charset="0"/>
                <a:cs typeface="Times New Roman" panose="02020603050405020304" pitchFamily="18" charset="0"/>
              </a:rPr>
              <a:t>The source of supply of component parts will be the one of the major factors that influences location</a:t>
            </a:r>
          </a:p>
          <a:p>
            <a:r>
              <a:rPr lang="en-US" dirty="0" smtClean="0">
                <a:latin typeface="Times New Roman" panose="02020603050405020304" pitchFamily="18" charset="0"/>
                <a:cs typeface="Times New Roman" panose="02020603050405020304" pitchFamily="18" charset="0"/>
              </a:rPr>
              <a:t>The various services like communications, banking services will play a vital role in selection of location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8432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758" y="285008"/>
            <a:ext cx="11471564" cy="6270171"/>
          </a:xfrm>
        </p:spPr>
        <p:txBody>
          <a:bodyPr/>
          <a:lstStyle/>
          <a:p>
            <a:r>
              <a:rPr lang="en-US" dirty="0" smtClean="0"/>
              <a:t>Do you think the location of SIMSREE is appropriate? Justify your answer.</a:t>
            </a:r>
            <a:endParaRPr lang="en-IN" dirty="0"/>
          </a:p>
        </p:txBody>
      </p:sp>
    </p:spTree>
    <p:extLst>
      <p:ext uri="{BB962C8B-B14F-4D97-AF65-F5344CB8AC3E}">
        <p14:creationId xmlns:p14="http://schemas.microsoft.com/office/powerpoint/2010/main" val="2198500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4383" y="368134"/>
            <a:ext cx="11519065" cy="6602681"/>
          </a:xfrm>
        </p:spPr>
        <p:txBody>
          <a:bodyPr>
            <a:no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Plant Location- Case study of Uttarakhand Government</a:t>
            </a:r>
          </a:p>
          <a:p>
            <a:r>
              <a:rPr lang="en-US" sz="2400" dirty="0" smtClean="0">
                <a:latin typeface="Times New Roman" panose="02020603050405020304" pitchFamily="18" charset="0"/>
                <a:cs typeface="Times New Roman" panose="02020603050405020304" pitchFamily="18" charset="0"/>
              </a:rPr>
              <a:t>MSME ( micro small medium enterprise) policy</a:t>
            </a:r>
          </a:p>
          <a:p>
            <a:r>
              <a:rPr lang="en-US" sz="2400" dirty="0" smtClean="0">
                <a:latin typeface="Times New Roman" panose="02020603050405020304" pitchFamily="18" charset="0"/>
                <a:cs typeface="Times New Roman" panose="02020603050405020304" pitchFamily="18" charset="0"/>
              </a:rPr>
              <a:t>Special integrated industrial incentive policy( Hill Policy ) </a:t>
            </a:r>
          </a:p>
          <a:p>
            <a:r>
              <a:rPr lang="en-US" sz="2400" dirty="0" smtClean="0">
                <a:latin typeface="Times New Roman" panose="02020603050405020304" pitchFamily="18" charset="0"/>
                <a:cs typeface="Times New Roman" panose="02020603050405020304" pitchFamily="18" charset="0"/>
              </a:rPr>
              <a:t>Central capital investment subsidy scheme</a:t>
            </a:r>
          </a:p>
          <a:p>
            <a:r>
              <a:rPr lang="en-US" sz="2400" dirty="0" err="1" smtClean="0">
                <a:latin typeface="Times New Roman" panose="02020603050405020304" pitchFamily="18" charset="0"/>
                <a:cs typeface="Times New Roman" panose="02020603050405020304" pitchFamily="18" charset="0"/>
              </a:rPr>
              <a:t>Mahila</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Udhyami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vishes</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protsahan</a:t>
            </a:r>
            <a:r>
              <a:rPr lang="en-US" sz="2400" dirty="0" smtClean="0">
                <a:latin typeface="Times New Roman" panose="02020603050405020304" pitchFamily="18" charset="0"/>
                <a:cs typeface="Times New Roman" panose="02020603050405020304" pitchFamily="18" charset="0"/>
              </a:rPr>
              <a:t> yojna</a:t>
            </a:r>
          </a:p>
          <a:p>
            <a:r>
              <a:rPr lang="en-US" sz="2400" dirty="0" smtClean="0">
                <a:latin typeface="Times New Roman" panose="02020603050405020304" pitchFamily="18" charset="0"/>
                <a:cs typeface="Times New Roman" panose="02020603050405020304" pitchFamily="18" charset="0"/>
              </a:rPr>
              <a:t>Chief minister swarojgar yojna</a:t>
            </a:r>
          </a:p>
        </p:txBody>
      </p:sp>
    </p:spTree>
    <p:extLst>
      <p:ext uri="{BB962C8B-B14F-4D97-AF65-F5344CB8AC3E}">
        <p14:creationId xmlns:p14="http://schemas.microsoft.com/office/powerpoint/2010/main" val="1667348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756" y="190005"/>
            <a:ext cx="11673444" cy="6436426"/>
          </a:xfrm>
        </p:spPr>
        <p:txBody>
          <a:bodyPr>
            <a:no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Policies of Uttarakhand Government </a:t>
            </a:r>
          </a:p>
          <a:p>
            <a:r>
              <a:rPr lang="en-US" sz="2400" dirty="0" smtClean="0">
                <a:latin typeface="Times New Roman" panose="02020603050405020304" pitchFamily="18" charset="0"/>
                <a:cs typeface="Times New Roman" panose="02020603050405020304" pitchFamily="18" charset="0"/>
              </a:rPr>
              <a:t>Fright subsidy scheme gazette</a:t>
            </a:r>
          </a:p>
          <a:p>
            <a:r>
              <a:rPr lang="en-US" sz="2400" dirty="0" smtClean="0">
                <a:latin typeface="Times New Roman" panose="02020603050405020304" pitchFamily="18" charset="0"/>
                <a:cs typeface="Times New Roman" panose="02020603050405020304" pitchFamily="18" charset="0"/>
              </a:rPr>
              <a:t>Mega industrial and investment policy</a:t>
            </a:r>
          </a:p>
          <a:p>
            <a:r>
              <a:rPr lang="en-US" sz="2400" dirty="0" smtClean="0">
                <a:latin typeface="Times New Roman" panose="02020603050405020304" pitchFamily="18" charset="0"/>
                <a:cs typeface="Times New Roman" panose="02020603050405020304" pitchFamily="18" charset="0"/>
              </a:rPr>
              <a:t>Startup policy</a:t>
            </a:r>
          </a:p>
          <a:p>
            <a:r>
              <a:rPr lang="en-US" sz="2400" dirty="0" smtClean="0">
                <a:latin typeface="Times New Roman" panose="02020603050405020304" pitchFamily="18" charset="0"/>
                <a:cs typeface="Times New Roman" panose="02020603050405020304" pitchFamily="18" charset="0"/>
              </a:rPr>
              <a:t>Purchase preference policy</a:t>
            </a:r>
          </a:p>
          <a:p>
            <a:r>
              <a:rPr lang="en-US" sz="2400" dirty="0" smtClean="0">
                <a:latin typeface="Times New Roman" panose="02020603050405020304" pitchFamily="18" charset="0"/>
                <a:cs typeface="Times New Roman" panose="02020603050405020304" pitchFamily="18" charset="0"/>
              </a:rPr>
              <a:t>Mega textile park policy</a:t>
            </a:r>
          </a:p>
        </p:txBody>
      </p:sp>
    </p:spTree>
    <p:extLst>
      <p:ext uri="{BB962C8B-B14F-4D97-AF65-F5344CB8AC3E}">
        <p14:creationId xmlns:p14="http://schemas.microsoft.com/office/powerpoint/2010/main" val="3509706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003" y="106878"/>
            <a:ext cx="11946576" cy="6751121"/>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MSME Policy</a:t>
            </a:r>
          </a:p>
          <a:p>
            <a:pPr algn="just"/>
            <a:r>
              <a:rPr lang="en-US" sz="2400" dirty="0" smtClean="0">
                <a:latin typeface="Times New Roman" panose="02020603050405020304" pitchFamily="18" charset="0"/>
                <a:cs typeface="Times New Roman" panose="02020603050405020304" pitchFamily="18" charset="0"/>
              </a:rPr>
              <a:t>Government of Uttarakhand has sanctioned “ MSME policy -2015” for promoting investment in the MSME sector through investment promotion as well as to incentivize MSMEs.</a:t>
            </a:r>
          </a:p>
          <a:p>
            <a:pPr algn="just"/>
            <a:r>
              <a:rPr lang="en-US" sz="2400" dirty="0" smtClean="0">
                <a:latin typeface="Times New Roman" panose="02020603050405020304" pitchFamily="18" charset="0"/>
                <a:cs typeface="Times New Roman" panose="02020603050405020304" pitchFamily="18" charset="0"/>
              </a:rPr>
              <a:t>The policy aims at utilizing local resources to generate employment opportunities and promoting self employment, skill development in the youth.</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8939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192504"/>
            <a:ext cx="11682663" cy="6436895"/>
          </a:xfrm>
        </p:spPr>
        <p:txBody>
          <a:bodyPr>
            <a:normAutofit/>
          </a:bodyPr>
          <a:lstStyle/>
          <a:p>
            <a:pPr marL="0" indent="0" algn="ctr">
              <a:buNone/>
            </a:pPr>
            <a:r>
              <a:rPr lang="en-US" sz="2400" dirty="0" smtClean="0">
                <a:solidFill>
                  <a:srgbClr val="7030A0"/>
                </a:solidFill>
                <a:latin typeface="Times New Roman" panose="02020603050405020304" pitchFamily="18" charset="0"/>
                <a:cs typeface="Times New Roman" panose="02020603050405020304" pitchFamily="18" charset="0"/>
              </a:rPr>
              <a:t>Categorization of various regions of state</a:t>
            </a:r>
          </a:p>
          <a:p>
            <a:pPr marL="0" indent="0" algn="ctr">
              <a:buNone/>
            </a:pPr>
            <a:endParaRPr lang="en-US" sz="2400" dirty="0" smtClean="0">
              <a:solidFill>
                <a:srgbClr val="7030A0"/>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2643546293"/>
              </p:ext>
            </p:extLst>
          </p:nvPr>
        </p:nvGraphicFramePr>
        <p:xfrm>
          <a:off x="2031999" y="796909"/>
          <a:ext cx="9095179" cy="5642032"/>
        </p:xfrm>
        <a:graphic>
          <a:graphicData uri="http://schemas.openxmlformats.org/drawingml/2006/table">
            <a:tbl>
              <a:tblPr firstRow="1" bandRow="1">
                <a:tableStyleId>{5C22544A-7EE6-4342-B048-85BDC9FD1C3A}</a:tableStyleId>
              </a:tblPr>
              <a:tblGrid>
                <a:gridCol w="4198217">
                  <a:extLst>
                    <a:ext uri="{9D8B030D-6E8A-4147-A177-3AD203B41FA5}">
                      <a16:colId xmlns:a16="http://schemas.microsoft.com/office/drawing/2014/main" val="1602530114"/>
                    </a:ext>
                  </a:extLst>
                </a:gridCol>
                <a:gridCol w="4896962">
                  <a:extLst>
                    <a:ext uri="{9D8B030D-6E8A-4147-A177-3AD203B41FA5}">
                      <a16:colId xmlns:a16="http://schemas.microsoft.com/office/drawing/2014/main" val="2529224840"/>
                    </a:ext>
                  </a:extLst>
                </a:gridCol>
              </a:tblGrid>
              <a:tr h="343272">
                <a:tc>
                  <a:txBody>
                    <a:bodyPr/>
                    <a:lstStyle/>
                    <a:p>
                      <a:r>
                        <a:rPr lang="en-US" dirty="0" smtClean="0"/>
                        <a:t>Category</a:t>
                      </a:r>
                      <a:endParaRPr lang="en-IN" dirty="0"/>
                    </a:p>
                  </a:txBody>
                  <a:tcPr/>
                </a:tc>
                <a:tc>
                  <a:txBody>
                    <a:bodyPr/>
                    <a:lstStyle/>
                    <a:p>
                      <a:r>
                        <a:rPr lang="en-US" dirty="0" smtClean="0"/>
                        <a:t>Region Included</a:t>
                      </a:r>
                      <a:endParaRPr lang="en-IN" dirty="0"/>
                    </a:p>
                  </a:txBody>
                  <a:tcPr/>
                </a:tc>
                <a:extLst>
                  <a:ext uri="{0D108BD9-81ED-4DB2-BD59-A6C34878D82A}">
                    <a16:rowId xmlns:a16="http://schemas.microsoft.com/office/drawing/2014/main" val="2911945844"/>
                  </a:ext>
                </a:extLst>
              </a:tr>
              <a:tr h="824417">
                <a:tc>
                  <a:txBody>
                    <a:bodyPr/>
                    <a:lstStyle/>
                    <a:p>
                      <a:r>
                        <a:rPr lang="en-US" dirty="0" smtClean="0"/>
                        <a:t>A</a:t>
                      </a:r>
                      <a:endParaRPr lang="en-IN" dirty="0"/>
                    </a:p>
                  </a:txBody>
                  <a:tcPr/>
                </a:tc>
                <a:tc>
                  <a:txBody>
                    <a:bodyPr/>
                    <a:lstStyle/>
                    <a:p>
                      <a:r>
                        <a:rPr lang="en-US" dirty="0" smtClean="0"/>
                        <a:t>Districts of </a:t>
                      </a:r>
                      <a:r>
                        <a:rPr lang="en-US" dirty="0" err="1" smtClean="0"/>
                        <a:t>Pithoragrah</a:t>
                      </a:r>
                      <a:r>
                        <a:rPr lang="en-US" dirty="0" smtClean="0"/>
                        <a:t>, </a:t>
                      </a:r>
                      <a:r>
                        <a:rPr lang="en-US" dirty="0" err="1" smtClean="0"/>
                        <a:t>Uttarkashi</a:t>
                      </a:r>
                      <a:r>
                        <a:rPr lang="en-US" dirty="0" smtClean="0"/>
                        <a:t>, </a:t>
                      </a:r>
                      <a:r>
                        <a:rPr lang="en-US" dirty="0" err="1" smtClean="0"/>
                        <a:t>Chamoli</a:t>
                      </a:r>
                      <a:r>
                        <a:rPr lang="en-US" dirty="0" smtClean="0"/>
                        <a:t>, </a:t>
                      </a:r>
                      <a:r>
                        <a:rPr lang="en-US" dirty="0" err="1" smtClean="0"/>
                        <a:t>Champwat</a:t>
                      </a:r>
                      <a:r>
                        <a:rPr lang="en-US" dirty="0" smtClean="0"/>
                        <a:t>,</a:t>
                      </a:r>
                      <a:r>
                        <a:rPr lang="en-US" baseline="0" dirty="0" smtClean="0"/>
                        <a:t> </a:t>
                      </a:r>
                      <a:r>
                        <a:rPr lang="en-US" baseline="0" dirty="0" err="1" smtClean="0"/>
                        <a:t>Rudraprayag</a:t>
                      </a:r>
                      <a:r>
                        <a:rPr lang="en-US" baseline="0" dirty="0" smtClean="0"/>
                        <a:t> and </a:t>
                      </a:r>
                      <a:r>
                        <a:rPr lang="en-US" baseline="0" dirty="0" err="1" smtClean="0"/>
                        <a:t>Bageshwar</a:t>
                      </a:r>
                      <a:endParaRPr lang="en-IN" dirty="0"/>
                    </a:p>
                  </a:txBody>
                  <a:tcPr/>
                </a:tc>
                <a:extLst>
                  <a:ext uri="{0D108BD9-81ED-4DB2-BD59-A6C34878D82A}">
                    <a16:rowId xmlns:a16="http://schemas.microsoft.com/office/drawing/2014/main" val="246135665"/>
                  </a:ext>
                </a:extLst>
              </a:tr>
              <a:tr h="2061043">
                <a:tc>
                  <a:txBody>
                    <a:bodyPr/>
                    <a:lstStyle/>
                    <a:p>
                      <a:r>
                        <a:rPr lang="en-US" dirty="0" smtClean="0"/>
                        <a:t>B</a:t>
                      </a:r>
                      <a:endParaRPr lang="en-IN" dirty="0"/>
                    </a:p>
                  </a:txBody>
                  <a:tcPr/>
                </a:tc>
                <a:tc>
                  <a:txBody>
                    <a:bodyPr/>
                    <a:lstStyle/>
                    <a:p>
                      <a:r>
                        <a:rPr lang="en-US" dirty="0" err="1" smtClean="0"/>
                        <a:t>Distrcts</a:t>
                      </a:r>
                      <a:r>
                        <a:rPr lang="en-US" dirty="0" smtClean="0"/>
                        <a:t> of </a:t>
                      </a:r>
                      <a:r>
                        <a:rPr lang="en-US" dirty="0" err="1" smtClean="0"/>
                        <a:t>Pauri</a:t>
                      </a:r>
                      <a:r>
                        <a:rPr lang="en-US" dirty="0" smtClean="0"/>
                        <a:t> </a:t>
                      </a:r>
                      <a:r>
                        <a:rPr lang="en-US" dirty="0" err="1" smtClean="0"/>
                        <a:t>Garhwal</a:t>
                      </a:r>
                      <a:r>
                        <a:rPr lang="en-US" dirty="0" smtClean="0"/>
                        <a:t>, </a:t>
                      </a:r>
                      <a:r>
                        <a:rPr lang="en-US" dirty="0" err="1" smtClean="0"/>
                        <a:t>Tehri</a:t>
                      </a:r>
                      <a:r>
                        <a:rPr lang="en-US" dirty="0" smtClean="0"/>
                        <a:t> </a:t>
                      </a:r>
                      <a:r>
                        <a:rPr lang="en-US" dirty="0" err="1" smtClean="0"/>
                        <a:t>Garhwal</a:t>
                      </a:r>
                      <a:r>
                        <a:rPr lang="en-US" dirty="0" smtClean="0"/>
                        <a:t>, </a:t>
                      </a:r>
                      <a:r>
                        <a:rPr lang="en-US" dirty="0" err="1" smtClean="0"/>
                        <a:t>Almora</a:t>
                      </a:r>
                      <a:r>
                        <a:rPr lang="en-US" dirty="0" smtClean="0"/>
                        <a:t>,</a:t>
                      </a:r>
                    </a:p>
                    <a:p>
                      <a:r>
                        <a:rPr lang="en-US" dirty="0" smtClean="0"/>
                        <a:t>All hilly development</a:t>
                      </a:r>
                      <a:r>
                        <a:rPr lang="en-US" baseline="0" dirty="0" smtClean="0"/>
                        <a:t> blocks of districts Dehradun other than </a:t>
                      </a:r>
                      <a:r>
                        <a:rPr lang="en-US" baseline="0" dirty="0" err="1" smtClean="0"/>
                        <a:t>vikasnagar</a:t>
                      </a:r>
                      <a:r>
                        <a:rPr lang="en-US" baseline="0" dirty="0" smtClean="0"/>
                        <a:t>, </a:t>
                      </a:r>
                      <a:r>
                        <a:rPr lang="en-US" baseline="0" dirty="0" err="1" smtClean="0"/>
                        <a:t>Doiwala</a:t>
                      </a:r>
                      <a:r>
                        <a:rPr lang="en-US" baseline="0" dirty="0" smtClean="0"/>
                        <a:t>, </a:t>
                      </a:r>
                      <a:r>
                        <a:rPr lang="en-US" baseline="0" dirty="0" err="1" smtClean="0"/>
                        <a:t>Sahaspur</a:t>
                      </a:r>
                      <a:r>
                        <a:rPr lang="en-US" baseline="0" dirty="0" smtClean="0"/>
                        <a:t> and </a:t>
                      </a:r>
                      <a:r>
                        <a:rPr lang="en-US" baseline="0" dirty="0" err="1" smtClean="0"/>
                        <a:t>Rajpur</a:t>
                      </a:r>
                      <a:r>
                        <a:rPr lang="en-US" baseline="0" dirty="0" smtClean="0"/>
                        <a:t>.</a:t>
                      </a:r>
                    </a:p>
                    <a:p>
                      <a:r>
                        <a:rPr lang="en-US" baseline="0" dirty="0" smtClean="0"/>
                        <a:t>All hilly development blocks of district </a:t>
                      </a:r>
                      <a:r>
                        <a:rPr lang="en-US" baseline="0" dirty="0" err="1" smtClean="0"/>
                        <a:t>Nainital</a:t>
                      </a:r>
                      <a:r>
                        <a:rPr lang="en-US" baseline="0" dirty="0" smtClean="0"/>
                        <a:t> other than </a:t>
                      </a:r>
                      <a:r>
                        <a:rPr lang="en-US" baseline="0" dirty="0" err="1" smtClean="0"/>
                        <a:t>Haldwani</a:t>
                      </a:r>
                      <a:r>
                        <a:rPr lang="en-US" baseline="0" dirty="0" smtClean="0"/>
                        <a:t> and </a:t>
                      </a:r>
                      <a:r>
                        <a:rPr lang="en-US" baseline="0" dirty="0" err="1" smtClean="0"/>
                        <a:t>Ramnagar</a:t>
                      </a:r>
                      <a:endParaRPr lang="en-IN" dirty="0"/>
                    </a:p>
                  </a:txBody>
                  <a:tcPr/>
                </a:tc>
                <a:extLst>
                  <a:ext uri="{0D108BD9-81ED-4DB2-BD59-A6C34878D82A}">
                    <a16:rowId xmlns:a16="http://schemas.microsoft.com/office/drawing/2014/main" val="4147626480"/>
                  </a:ext>
                </a:extLst>
              </a:tr>
              <a:tr h="1319069">
                <a:tc>
                  <a:txBody>
                    <a:bodyPr/>
                    <a:lstStyle/>
                    <a:p>
                      <a:r>
                        <a:rPr lang="en-US" dirty="0" smtClean="0"/>
                        <a:t>C</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Region above 650 </a:t>
                      </a:r>
                      <a:r>
                        <a:rPr lang="en-US" dirty="0" err="1" smtClean="0"/>
                        <a:t>mtrs</a:t>
                      </a:r>
                      <a:r>
                        <a:rPr lang="en-US" dirty="0" smtClean="0"/>
                        <a:t> from sea levels of </a:t>
                      </a:r>
                      <a:r>
                        <a:rPr lang="en-US" dirty="0" err="1" smtClean="0"/>
                        <a:t>Raipur,Saspur</a:t>
                      </a:r>
                      <a:r>
                        <a:rPr lang="en-US" dirty="0" smtClean="0"/>
                        <a:t>, </a:t>
                      </a:r>
                      <a:r>
                        <a:rPr lang="en-US" dirty="0" err="1" smtClean="0"/>
                        <a:t>Vikasnagar</a:t>
                      </a:r>
                      <a:r>
                        <a:rPr lang="en-US" baseline="0" dirty="0" smtClean="0"/>
                        <a:t> and </a:t>
                      </a:r>
                      <a:r>
                        <a:rPr lang="en-US" baseline="0" dirty="0" err="1" smtClean="0"/>
                        <a:t>Doiwala</a:t>
                      </a:r>
                      <a:r>
                        <a:rPr lang="en-US" baseline="0" dirty="0" smtClean="0"/>
                        <a:t> development blocks of district Dehradun</a:t>
                      </a:r>
                      <a:endParaRPr lang="en-IN" dirty="0" smtClean="0"/>
                    </a:p>
                    <a:p>
                      <a:endParaRPr lang="en-IN" dirty="0"/>
                    </a:p>
                  </a:txBody>
                  <a:tcPr/>
                </a:tc>
                <a:extLst>
                  <a:ext uri="{0D108BD9-81ED-4DB2-BD59-A6C34878D82A}">
                    <a16:rowId xmlns:a16="http://schemas.microsoft.com/office/drawing/2014/main" val="3077557526"/>
                  </a:ext>
                </a:extLst>
              </a:tr>
              <a:tr h="1071743">
                <a:tc>
                  <a:txBody>
                    <a:bodyPr/>
                    <a:lstStyle/>
                    <a:p>
                      <a:r>
                        <a:rPr lang="en-US" dirty="0" smtClean="0"/>
                        <a:t>D</a:t>
                      </a:r>
                      <a:endParaRPr lang="en-IN" dirty="0"/>
                    </a:p>
                  </a:txBody>
                  <a:tcPr/>
                </a:tc>
                <a:tc>
                  <a:txBody>
                    <a:bodyPr/>
                    <a:lstStyle/>
                    <a:p>
                      <a:r>
                        <a:rPr lang="en-US" dirty="0" smtClean="0"/>
                        <a:t>Districts of </a:t>
                      </a:r>
                      <a:r>
                        <a:rPr lang="en-US" dirty="0" err="1" smtClean="0"/>
                        <a:t>Haridwar</a:t>
                      </a:r>
                      <a:r>
                        <a:rPr lang="en-US" dirty="0" smtClean="0"/>
                        <a:t> and </a:t>
                      </a:r>
                      <a:r>
                        <a:rPr lang="en-US" dirty="0" err="1" smtClean="0"/>
                        <a:t>UdhamSingh</a:t>
                      </a:r>
                      <a:r>
                        <a:rPr lang="en-US" dirty="0" smtClean="0"/>
                        <a:t> Nagar remaining area of district Dehradun and </a:t>
                      </a:r>
                      <a:r>
                        <a:rPr lang="en-US" dirty="0" err="1" smtClean="0"/>
                        <a:t>Nainital</a:t>
                      </a:r>
                      <a:r>
                        <a:rPr lang="en-US" dirty="0" smtClean="0"/>
                        <a:t> ( Which are not included in category B and</a:t>
                      </a:r>
                      <a:r>
                        <a:rPr lang="en-US" baseline="0" dirty="0" smtClean="0"/>
                        <a:t> C)</a:t>
                      </a:r>
                      <a:endParaRPr lang="en-IN" dirty="0"/>
                    </a:p>
                  </a:txBody>
                  <a:tcPr/>
                </a:tc>
                <a:extLst>
                  <a:ext uri="{0D108BD9-81ED-4DB2-BD59-A6C34878D82A}">
                    <a16:rowId xmlns:a16="http://schemas.microsoft.com/office/drawing/2014/main" val="434781518"/>
                  </a:ext>
                </a:extLst>
              </a:tr>
            </a:tbl>
          </a:graphicData>
        </a:graphic>
      </p:graphicFrame>
    </p:spTree>
    <p:extLst>
      <p:ext uri="{BB962C8B-B14F-4D97-AF65-F5344CB8AC3E}">
        <p14:creationId xmlns:p14="http://schemas.microsoft.com/office/powerpoint/2010/main" val="3541850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613" y="166256"/>
            <a:ext cx="11706726" cy="6691744"/>
          </a:xfrm>
        </p:spPr>
        <p:txBody>
          <a:bodyPr>
            <a:normAutofit/>
          </a:bodyPr>
          <a:lstStyle/>
          <a:p>
            <a:pPr marL="0" indent="0">
              <a:buNone/>
            </a:pPr>
            <a:r>
              <a:rPr lang="en-US" dirty="0" smtClean="0">
                <a:solidFill>
                  <a:srgbClr val="7030A0"/>
                </a:solidFill>
                <a:latin typeface="Times New Roman" panose="02020603050405020304" pitchFamily="18" charset="0"/>
                <a:cs typeface="Times New Roman" panose="02020603050405020304" pitchFamily="18" charset="0"/>
              </a:rPr>
              <a:t>Category A and B arears eligible for fiscal incentives</a:t>
            </a:r>
          </a:p>
          <a:p>
            <a:r>
              <a:rPr lang="en-US" dirty="0" smtClean="0">
                <a:latin typeface="Times New Roman" panose="02020603050405020304" pitchFamily="18" charset="0"/>
                <a:cs typeface="Times New Roman" panose="02020603050405020304" pitchFamily="18" charset="0"/>
              </a:rPr>
              <a:t>Non-polluting manufacturing enterprises of green and orange category</a:t>
            </a:r>
          </a:p>
          <a:p>
            <a:r>
              <a:rPr lang="en-US" dirty="0" smtClean="0">
                <a:latin typeface="Times New Roman" panose="02020603050405020304" pitchFamily="18" charset="0"/>
                <a:cs typeface="Times New Roman" panose="02020603050405020304" pitchFamily="18" charset="0"/>
              </a:rPr>
              <a:t>Thrust sector industries /activities as notified under special industrial package</a:t>
            </a:r>
          </a:p>
          <a:p>
            <a:r>
              <a:rPr lang="en-US" dirty="0" smtClean="0">
                <a:latin typeface="Times New Roman" panose="02020603050405020304" pitchFamily="18" charset="0"/>
                <a:cs typeface="Times New Roman" panose="02020603050405020304" pitchFamily="18" charset="0"/>
              </a:rPr>
              <a:t>Activities which have granted status of industry by the state government</a:t>
            </a:r>
          </a:p>
          <a:p>
            <a:r>
              <a:rPr lang="en-US" dirty="0" smtClean="0">
                <a:latin typeface="Times New Roman" panose="02020603050405020304" pitchFamily="18" charset="0"/>
                <a:cs typeface="Times New Roman" panose="02020603050405020304" pitchFamily="18" charset="0"/>
              </a:rPr>
              <a:t>Biotechnology</a:t>
            </a:r>
          </a:p>
          <a:p>
            <a:r>
              <a:rPr lang="en-US" dirty="0" smtClean="0">
                <a:latin typeface="Times New Roman" panose="02020603050405020304" pitchFamily="18" charset="0"/>
                <a:cs typeface="Times New Roman" panose="02020603050405020304" pitchFamily="18" charset="0"/>
              </a:rPr>
              <a:t>Protected Agriculture and horticulture, cold storage activities</a:t>
            </a:r>
          </a:p>
          <a:p>
            <a:r>
              <a:rPr lang="en-US" dirty="0" smtClean="0">
                <a:latin typeface="Times New Roman" panose="02020603050405020304" pitchFamily="18" charset="0"/>
                <a:cs typeface="Times New Roman" panose="02020603050405020304" pitchFamily="18" charset="0"/>
              </a:rPr>
              <a:t>Petrol-Diesel pumping station/Gas Godowns</a:t>
            </a:r>
          </a:p>
        </p:txBody>
      </p:sp>
    </p:spTree>
    <p:extLst>
      <p:ext uri="{BB962C8B-B14F-4D97-AF65-F5344CB8AC3E}">
        <p14:creationId xmlns:p14="http://schemas.microsoft.com/office/powerpoint/2010/main" val="4121132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1" y="277091"/>
            <a:ext cx="11720945" cy="6289964"/>
          </a:xfrm>
        </p:spPr>
        <p:txBody>
          <a:bodyPr>
            <a:normAutofit/>
          </a:bodyPr>
          <a:lstStyle/>
          <a:p>
            <a:pPr algn="just"/>
            <a:r>
              <a:rPr lang="en-US" dirty="0" smtClean="0">
                <a:latin typeface="Times New Roman" panose="02020603050405020304" pitchFamily="18" charset="0"/>
                <a:cs typeface="Times New Roman" panose="02020603050405020304" pitchFamily="18" charset="0"/>
              </a:rPr>
              <a:t>Only Manufacturing Activities shall be eligible in category C and D</a:t>
            </a:r>
          </a:p>
          <a:p>
            <a:pPr algn="just"/>
            <a:r>
              <a:rPr lang="en-US" dirty="0" smtClean="0">
                <a:latin typeface="Times New Roman" panose="02020603050405020304" pitchFamily="18" charset="0"/>
                <a:cs typeface="Times New Roman" panose="02020603050405020304" pitchFamily="18" charset="0"/>
              </a:rPr>
              <a:t>Riverbed material based industries( Including stone crusher) will not eligible in entire state for any incentives</a:t>
            </a:r>
          </a:p>
          <a:p>
            <a:pPr algn="just"/>
            <a:r>
              <a:rPr lang="en-US" dirty="0" smtClean="0">
                <a:latin typeface="Times New Roman" panose="02020603050405020304" pitchFamily="18" charset="0"/>
                <a:cs typeface="Times New Roman" panose="02020603050405020304" pitchFamily="18" charset="0"/>
              </a:rPr>
              <a:t>Capital investment made on transport vehicle exclusively for the purpose of transportation/ marketing of raw material and finished good products  shall be eligible for capital investment subsidy</a:t>
            </a:r>
          </a:p>
          <a:p>
            <a:pPr algn="just"/>
            <a:r>
              <a:rPr lang="en-US" dirty="0" smtClean="0">
                <a:latin typeface="Times New Roman" panose="02020603050405020304" pitchFamily="18" charset="0"/>
                <a:cs typeface="Times New Roman" panose="02020603050405020304" pitchFamily="18" charset="0"/>
              </a:rPr>
              <a:t>Investment made on necessary additional construction/ expansion/ renovation on building( Owned or leased) for conduct of enterprise will also be eligible for subsidy on capital investment</a:t>
            </a:r>
            <a:r>
              <a:rPr lang="en-US" sz="2600" dirty="0" smtClean="0">
                <a:latin typeface="Times New Roman" panose="02020603050405020304" pitchFamily="18" charset="0"/>
                <a:cs typeface="Times New Roman" panose="02020603050405020304" pitchFamily="18" charset="0"/>
              </a:rPr>
              <a:t>.</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4012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473" y="0"/>
            <a:ext cx="11670631" cy="6701589"/>
          </a:xfrm>
        </p:spPr>
        <p:txBody>
          <a:bodyPr>
            <a:no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Fiscal Incentives and Concessions</a:t>
            </a:r>
          </a:p>
          <a:p>
            <a:r>
              <a:rPr lang="en-US" dirty="0" smtClean="0">
                <a:latin typeface="Times New Roman" panose="02020603050405020304" pitchFamily="18" charset="0"/>
                <a:cs typeface="Times New Roman" panose="02020603050405020304" pitchFamily="18" charset="0"/>
              </a:rPr>
              <a:t>Investment promotion assistance (Capital Subsidy)</a:t>
            </a:r>
          </a:p>
          <a:p>
            <a:r>
              <a:rPr lang="en-US" dirty="0" smtClean="0">
                <a:latin typeface="Times New Roman" panose="02020603050405020304" pitchFamily="18" charset="0"/>
                <a:cs typeface="Times New Roman" panose="02020603050405020304" pitchFamily="18" charset="0"/>
              </a:rPr>
              <a:t>Interest Subsidy</a:t>
            </a:r>
          </a:p>
          <a:p>
            <a:r>
              <a:rPr lang="en-US" dirty="0" smtClean="0">
                <a:latin typeface="Times New Roman" panose="02020603050405020304" pitchFamily="18" charset="0"/>
                <a:cs typeface="Times New Roman" panose="02020603050405020304" pitchFamily="18" charset="0"/>
              </a:rPr>
              <a:t>Reimbursement of VAT</a:t>
            </a:r>
          </a:p>
          <a:p>
            <a:r>
              <a:rPr lang="en-US" dirty="0" smtClean="0">
                <a:latin typeface="Times New Roman" panose="02020603050405020304" pitchFamily="18" charset="0"/>
                <a:cs typeface="Times New Roman" panose="02020603050405020304" pitchFamily="18" charset="0"/>
              </a:rPr>
              <a:t>Concession on stamp Duty</a:t>
            </a:r>
          </a:p>
          <a:p>
            <a:r>
              <a:rPr lang="en-US" dirty="0" smtClean="0">
                <a:latin typeface="Times New Roman" panose="02020603050405020304" pitchFamily="18" charset="0"/>
                <a:cs typeface="Times New Roman" panose="02020603050405020304" pitchFamily="18" charset="0"/>
              </a:rPr>
              <a:t>Special state transport policy</a:t>
            </a:r>
          </a:p>
        </p:txBody>
      </p:sp>
    </p:spTree>
    <p:extLst>
      <p:ext uri="{BB962C8B-B14F-4D97-AF65-F5344CB8AC3E}">
        <p14:creationId xmlns:p14="http://schemas.microsoft.com/office/powerpoint/2010/main" val="3879595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379" y="0"/>
            <a:ext cx="11851105" cy="6858000"/>
          </a:xfrm>
        </p:spPr>
        <p:txBody>
          <a:bodyPr>
            <a:normAutofit/>
          </a:bodyPr>
          <a:lstStyle/>
          <a:p>
            <a:pPr marL="0" indent="0" algn="ctr">
              <a:buNone/>
            </a:pPr>
            <a:r>
              <a:rPr lang="en-US" sz="4400" dirty="0" smtClean="0">
                <a:solidFill>
                  <a:srgbClr val="7030A0"/>
                </a:solidFill>
                <a:latin typeface="Times New Roman" panose="02020603050405020304" pitchFamily="18" charset="0"/>
                <a:cs typeface="Times New Roman" panose="02020603050405020304" pitchFamily="18" charset="0"/>
              </a:rPr>
              <a:t>Infrastructure Support</a:t>
            </a:r>
          </a:p>
          <a:p>
            <a:pPr algn="just"/>
            <a:r>
              <a:rPr lang="en-US" dirty="0" smtClean="0">
                <a:latin typeface="Times New Roman" panose="02020603050405020304" pitchFamily="18" charset="0"/>
                <a:cs typeface="Times New Roman" panose="02020603050405020304" pitchFamily="18" charset="0"/>
              </a:rPr>
              <a:t>Establishment of land bank</a:t>
            </a:r>
          </a:p>
          <a:p>
            <a:pPr algn="just"/>
            <a:r>
              <a:rPr lang="en-US" dirty="0" smtClean="0">
                <a:latin typeface="Times New Roman" panose="02020603050405020304" pitchFamily="18" charset="0"/>
                <a:cs typeface="Times New Roman" panose="02020603050405020304" pitchFamily="18" charset="0"/>
              </a:rPr>
              <a:t>Infrastructural Development fund for MSMEs</a:t>
            </a:r>
          </a:p>
          <a:p>
            <a:pPr algn="just"/>
            <a:r>
              <a:rPr lang="en-US" dirty="0" smtClean="0">
                <a:latin typeface="Times New Roman" panose="02020603050405020304" pitchFamily="18" charset="0"/>
                <a:cs typeface="Times New Roman" panose="02020603050405020304" pitchFamily="18" charset="0"/>
              </a:rPr>
              <a:t>Special Industrial Estate for MSMEs</a:t>
            </a:r>
          </a:p>
          <a:p>
            <a:pPr algn="just"/>
            <a:r>
              <a:rPr lang="en-US" dirty="0" smtClean="0">
                <a:latin typeface="Times New Roman" panose="02020603050405020304" pitchFamily="18" charset="0"/>
                <a:cs typeface="Times New Roman" panose="02020603050405020304" pitchFamily="18" charset="0"/>
              </a:rPr>
              <a:t>Establishment of new industrial Estate</a:t>
            </a:r>
          </a:p>
          <a:p>
            <a:pPr algn="just"/>
            <a:r>
              <a:rPr lang="en-US" dirty="0" smtClean="0">
                <a:latin typeface="Times New Roman" panose="02020603050405020304" pitchFamily="18" charset="0"/>
                <a:cs typeface="Times New Roman" panose="02020603050405020304" pitchFamily="18" charset="0"/>
              </a:rPr>
              <a:t>Establishment of multi-storied Estates</a:t>
            </a:r>
          </a:p>
          <a:p>
            <a:pPr algn="just"/>
            <a:r>
              <a:rPr lang="en-US" dirty="0" smtClean="0">
                <a:latin typeface="Times New Roman" panose="02020603050405020304" pitchFamily="18" charset="0"/>
                <a:cs typeface="Times New Roman" panose="02020603050405020304" pitchFamily="18" charset="0"/>
              </a:rPr>
              <a:t>Upgradation of existing industrial estates</a:t>
            </a:r>
          </a:p>
          <a:p>
            <a:pPr algn="just"/>
            <a:r>
              <a:rPr lang="en-US" dirty="0" smtClean="0">
                <a:latin typeface="Times New Roman" panose="02020603050405020304" pitchFamily="18" charset="0"/>
                <a:cs typeface="Times New Roman" panose="02020603050405020304" pitchFamily="18" charset="0"/>
              </a:rPr>
              <a:t>Establishment of vendors and ancillaries parks</a:t>
            </a:r>
          </a:p>
          <a:p>
            <a:pPr algn="just"/>
            <a:r>
              <a:rPr lang="en-US" dirty="0" smtClean="0">
                <a:latin typeface="Times New Roman" panose="02020603050405020304" pitchFamily="18" charset="0"/>
                <a:cs typeface="Times New Roman" panose="02020603050405020304" pitchFamily="18" charset="0"/>
              </a:rPr>
              <a:t>Interventions under cluster development scheme</a:t>
            </a:r>
          </a:p>
          <a:p>
            <a:pPr algn="just"/>
            <a:endParaRPr lang="en-US" dirty="0" smtClean="0">
              <a:latin typeface="Times New Roman" panose="02020603050405020304" pitchFamily="18" charset="0"/>
              <a:cs typeface="Times New Roman" panose="02020603050405020304" pitchFamily="18" charset="0"/>
            </a:endParaRPr>
          </a:p>
          <a:p>
            <a:pPr marL="0" indent="0">
              <a:buNone/>
            </a:pPr>
            <a:endParaRPr lang="en-US" sz="2400" dirty="0" smtClean="0">
              <a:solidFill>
                <a:srgbClr val="C00000"/>
              </a:solidFill>
            </a:endParaRPr>
          </a:p>
        </p:txBody>
      </p:sp>
    </p:spTree>
    <p:extLst>
      <p:ext uri="{BB962C8B-B14F-4D97-AF65-F5344CB8AC3E}">
        <p14:creationId xmlns:p14="http://schemas.microsoft.com/office/powerpoint/2010/main" val="40547153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379" y="124691"/>
            <a:ext cx="11706726" cy="6576898"/>
          </a:xfrm>
        </p:spPr>
        <p:txBody>
          <a:bodyPr>
            <a:normAutofit/>
          </a:bodyPr>
          <a:lstStyle/>
          <a:p>
            <a:pPr marL="0" indent="0" algn="ctr">
              <a:buNone/>
            </a:pPr>
            <a:r>
              <a:rPr lang="en-IN" sz="3200" dirty="0" smtClean="0">
                <a:solidFill>
                  <a:srgbClr val="7030A0"/>
                </a:solidFill>
                <a:latin typeface="Times New Roman" panose="02020603050405020304" pitchFamily="18" charset="0"/>
                <a:cs typeface="Times New Roman" panose="02020603050405020304" pitchFamily="18" charset="0"/>
              </a:rPr>
              <a:t>Location Models</a:t>
            </a:r>
          </a:p>
          <a:p>
            <a:pPr marL="0" indent="0" algn="ctr">
              <a:buNone/>
            </a:pPr>
            <a:r>
              <a:rPr lang="en-US" sz="2400" dirty="0" smtClean="0">
                <a:solidFill>
                  <a:srgbClr val="7030A0"/>
                </a:solidFill>
                <a:latin typeface="Times New Roman" panose="02020603050405020304" pitchFamily="18" charset="0"/>
                <a:cs typeface="Times New Roman" panose="02020603050405020304" pitchFamily="18" charset="0"/>
              </a:rPr>
              <a:t>Factor </a:t>
            </a:r>
            <a:r>
              <a:rPr lang="en-US" sz="2400" dirty="0">
                <a:solidFill>
                  <a:srgbClr val="7030A0"/>
                </a:solidFill>
                <a:latin typeface="Times New Roman" panose="02020603050405020304" pitchFamily="18" charset="0"/>
                <a:cs typeface="Times New Roman" panose="02020603050405020304" pitchFamily="18" charset="0"/>
              </a:rPr>
              <a:t>Rating Method </a:t>
            </a:r>
            <a:endParaRPr lang="en-US" sz="2400" dirty="0" smtClean="0">
              <a:solidFill>
                <a:srgbClr val="7030A0"/>
              </a:solidFill>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process of selecting a new facility location involves a series of following steps: </a:t>
            </a:r>
            <a:endParaRPr lang="en-US" sz="2400"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sz="2400" dirty="0" smtClean="0">
                <a:latin typeface="Times New Roman" panose="02020603050405020304" pitchFamily="18" charset="0"/>
                <a:cs typeface="Times New Roman" panose="02020603050405020304" pitchFamily="18" charset="0"/>
              </a:rPr>
              <a:t>Identify </a:t>
            </a:r>
            <a:r>
              <a:rPr lang="en-US" sz="2400" dirty="0">
                <a:latin typeface="Times New Roman" panose="02020603050405020304" pitchFamily="18" charset="0"/>
                <a:cs typeface="Times New Roman" panose="02020603050405020304" pitchFamily="18" charset="0"/>
              </a:rPr>
              <a:t>the important location factors.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Rate each factor according to its relative importance, i.e., higher the ratings is indicative of prominent factor.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Assign each location according to the merits of the location for each factor.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Calculate the rating for each location by multiplying factor assigned to each location with basic factors considered.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 Find the sum of product calculated for each factor and select best location having highest total score.</a:t>
            </a:r>
            <a:endParaRPr lang="en-IN" sz="24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2145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3963" y="0"/>
            <a:ext cx="11679381" cy="6705599"/>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Illustration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Let us assume that a new medical facility, Health-care, is to be located in Delhi. The location factors, factor rating and scores for two potential sites are shown in the following table. Which is the best location based on factor rating method?</a:t>
            </a:r>
            <a:endParaRPr lang="en-IN"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928668992"/>
              </p:ext>
            </p:extLst>
          </p:nvPr>
        </p:nvGraphicFramePr>
        <p:xfrm>
          <a:off x="2032000" y="1650669"/>
          <a:ext cx="8128000" cy="42062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545998296"/>
                    </a:ext>
                  </a:extLst>
                </a:gridCol>
                <a:gridCol w="2039917">
                  <a:extLst>
                    <a:ext uri="{9D8B030D-6E8A-4147-A177-3AD203B41FA5}">
                      <a16:colId xmlns:a16="http://schemas.microsoft.com/office/drawing/2014/main" val="3663761296"/>
                    </a:ext>
                  </a:extLst>
                </a:gridCol>
                <a:gridCol w="2024083">
                  <a:extLst>
                    <a:ext uri="{9D8B030D-6E8A-4147-A177-3AD203B41FA5}">
                      <a16:colId xmlns:a16="http://schemas.microsoft.com/office/drawing/2014/main" val="1984711178"/>
                    </a:ext>
                  </a:extLst>
                </a:gridCol>
                <a:gridCol w="1016000">
                  <a:extLst>
                    <a:ext uri="{9D8B030D-6E8A-4147-A177-3AD203B41FA5}">
                      <a16:colId xmlns:a16="http://schemas.microsoft.com/office/drawing/2014/main" val="1264014625"/>
                    </a:ext>
                  </a:extLst>
                </a:gridCol>
                <a:gridCol w="1016000">
                  <a:extLst>
                    <a:ext uri="{9D8B030D-6E8A-4147-A177-3AD203B41FA5}">
                      <a16:colId xmlns:a16="http://schemas.microsoft.com/office/drawing/2014/main" val="3597473671"/>
                    </a:ext>
                  </a:extLst>
                </a:gridCol>
              </a:tblGrid>
              <a:tr h="607552">
                <a:tc>
                  <a:txBody>
                    <a:bodyPr/>
                    <a:lstStyle/>
                    <a:p>
                      <a:r>
                        <a:rPr lang="en-US" dirty="0" err="1" smtClean="0"/>
                        <a:t>Sr.No</a:t>
                      </a:r>
                      <a:endParaRPr lang="en-IN" dirty="0"/>
                    </a:p>
                  </a:txBody>
                  <a:tcPr/>
                </a:tc>
                <a:tc>
                  <a:txBody>
                    <a:bodyPr/>
                    <a:lstStyle/>
                    <a:p>
                      <a:r>
                        <a:rPr lang="en-US" dirty="0" smtClean="0"/>
                        <a:t>Location Factor</a:t>
                      </a:r>
                      <a:endParaRPr lang="en-IN" dirty="0"/>
                    </a:p>
                  </a:txBody>
                  <a:tcPr/>
                </a:tc>
                <a:tc>
                  <a:txBody>
                    <a:bodyPr/>
                    <a:lstStyle/>
                    <a:p>
                      <a:r>
                        <a:rPr lang="en-US" dirty="0" smtClean="0"/>
                        <a:t>Factor Rating</a:t>
                      </a:r>
                      <a:endParaRPr lang="en-IN" dirty="0"/>
                    </a:p>
                  </a:txBody>
                  <a:tcPr/>
                </a:tc>
                <a:tc gridSpan="2">
                  <a:txBody>
                    <a:bodyPr/>
                    <a:lstStyle/>
                    <a:p>
                      <a:r>
                        <a:rPr lang="en-US" dirty="0" smtClean="0"/>
                        <a:t>Rating</a:t>
                      </a:r>
                    </a:p>
                    <a:p>
                      <a:endParaRPr lang="en-IN" dirty="0"/>
                    </a:p>
                  </a:txBody>
                  <a:tcPr/>
                </a:tc>
                <a:tc hMerge="1">
                  <a:txBody>
                    <a:bodyPr/>
                    <a:lstStyle/>
                    <a:p>
                      <a:endParaRPr lang="en-IN"/>
                    </a:p>
                  </a:txBody>
                  <a:tcPr/>
                </a:tc>
                <a:extLst>
                  <a:ext uri="{0D108BD9-81ED-4DB2-BD59-A6C34878D82A}">
                    <a16:rowId xmlns:a16="http://schemas.microsoft.com/office/drawing/2014/main" val="2201996343"/>
                  </a:ext>
                </a:extLst>
              </a:tr>
              <a:tr h="607552">
                <a:tc>
                  <a:txBody>
                    <a:bodyPr/>
                    <a:lstStyle/>
                    <a:p>
                      <a:endParaRPr lang="en-IN"/>
                    </a:p>
                  </a:txBody>
                  <a:tcPr/>
                </a:tc>
                <a:tc>
                  <a:txBody>
                    <a:bodyPr/>
                    <a:lstStyle/>
                    <a:p>
                      <a:endParaRPr lang="en-IN"/>
                    </a:p>
                  </a:txBody>
                  <a:tcPr/>
                </a:tc>
                <a:tc>
                  <a:txBody>
                    <a:bodyPr/>
                    <a:lstStyle/>
                    <a:p>
                      <a:endParaRPr lang="en-IN"/>
                    </a:p>
                  </a:txBody>
                  <a:tcPr/>
                </a:tc>
                <a:tc>
                  <a:txBody>
                    <a:bodyPr/>
                    <a:lstStyle/>
                    <a:p>
                      <a:r>
                        <a:rPr lang="en-US" dirty="0" smtClean="0"/>
                        <a:t>Location 1</a:t>
                      </a:r>
                      <a:endParaRPr lang="en-IN" dirty="0"/>
                    </a:p>
                  </a:txBody>
                  <a:tcPr/>
                </a:tc>
                <a:tc>
                  <a:txBody>
                    <a:bodyPr/>
                    <a:lstStyle/>
                    <a:p>
                      <a:r>
                        <a:rPr lang="en-US" dirty="0" smtClean="0"/>
                        <a:t>Location 2</a:t>
                      </a:r>
                      <a:endParaRPr lang="en-IN" dirty="0"/>
                    </a:p>
                  </a:txBody>
                  <a:tcPr/>
                </a:tc>
                <a:extLst>
                  <a:ext uri="{0D108BD9-81ED-4DB2-BD59-A6C34878D82A}">
                    <a16:rowId xmlns:a16="http://schemas.microsoft.com/office/drawing/2014/main" val="3306471504"/>
                  </a:ext>
                </a:extLst>
              </a:tr>
              <a:tr h="347172">
                <a:tc>
                  <a:txBody>
                    <a:bodyPr/>
                    <a:lstStyle/>
                    <a:p>
                      <a:r>
                        <a:rPr lang="en-US" dirty="0" smtClean="0"/>
                        <a:t>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Facility Location</a:t>
                      </a:r>
                      <a:endParaRPr lang="en-IN" dirty="0" smtClean="0"/>
                    </a:p>
                  </a:txBody>
                  <a:tcPr/>
                </a:tc>
                <a:tc>
                  <a:txBody>
                    <a:bodyPr/>
                    <a:lstStyle/>
                    <a:p>
                      <a:r>
                        <a:rPr lang="en-US" dirty="0" smtClean="0"/>
                        <a:t>8</a:t>
                      </a:r>
                      <a:endParaRPr lang="en-IN" dirty="0"/>
                    </a:p>
                  </a:txBody>
                  <a:tcPr/>
                </a:tc>
                <a:tc>
                  <a:txBody>
                    <a:bodyPr/>
                    <a:lstStyle/>
                    <a:p>
                      <a:r>
                        <a:rPr lang="en-US" dirty="0" smtClean="0"/>
                        <a:t>3</a:t>
                      </a:r>
                      <a:endParaRPr lang="en-IN" dirty="0"/>
                    </a:p>
                  </a:txBody>
                  <a:tcPr/>
                </a:tc>
                <a:tc>
                  <a:txBody>
                    <a:bodyPr/>
                    <a:lstStyle/>
                    <a:p>
                      <a:r>
                        <a:rPr lang="en-US" dirty="0" smtClean="0"/>
                        <a:t>5</a:t>
                      </a:r>
                      <a:endParaRPr lang="en-IN" dirty="0"/>
                    </a:p>
                  </a:txBody>
                  <a:tcPr/>
                </a:tc>
                <a:extLst>
                  <a:ext uri="{0D108BD9-81ED-4DB2-BD59-A6C34878D82A}">
                    <a16:rowId xmlns:a16="http://schemas.microsoft.com/office/drawing/2014/main" val="440064208"/>
                  </a:ext>
                </a:extLst>
              </a:tr>
              <a:tr h="607552">
                <a:tc>
                  <a:txBody>
                    <a:bodyPr/>
                    <a:lstStyle/>
                    <a:p>
                      <a:r>
                        <a:rPr lang="en-US" dirty="0" smtClean="0"/>
                        <a:t>2</a:t>
                      </a:r>
                      <a:endParaRPr lang="en-IN" dirty="0"/>
                    </a:p>
                  </a:txBody>
                  <a:tcPr/>
                </a:tc>
                <a:tc>
                  <a:txBody>
                    <a:bodyPr/>
                    <a:lstStyle/>
                    <a:p>
                      <a:r>
                        <a:rPr lang="en-IN" dirty="0" smtClean="0"/>
                        <a:t>Total patient per month</a:t>
                      </a:r>
                      <a:endParaRPr lang="en-IN" dirty="0"/>
                    </a:p>
                  </a:txBody>
                  <a:tcPr/>
                </a:tc>
                <a:tc>
                  <a:txBody>
                    <a:bodyPr/>
                    <a:lstStyle/>
                    <a:p>
                      <a:r>
                        <a:rPr lang="en-US" dirty="0" smtClean="0"/>
                        <a:t>5</a:t>
                      </a:r>
                      <a:endParaRPr lang="en-IN" dirty="0"/>
                    </a:p>
                  </a:txBody>
                  <a:tcPr/>
                </a:tc>
                <a:tc>
                  <a:txBody>
                    <a:bodyPr/>
                    <a:lstStyle/>
                    <a:p>
                      <a:r>
                        <a:rPr lang="en-US" dirty="0" smtClean="0"/>
                        <a:t>4</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3157329573"/>
                  </a:ext>
                </a:extLst>
              </a:tr>
              <a:tr h="607552">
                <a:tc>
                  <a:txBody>
                    <a:bodyPr/>
                    <a:lstStyle/>
                    <a:p>
                      <a:r>
                        <a:rPr lang="en-US" dirty="0" smtClean="0"/>
                        <a:t>3</a:t>
                      </a:r>
                      <a:endParaRPr lang="en-IN" dirty="0"/>
                    </a:p>
                  </a:txBody>
                  <a:tcPr/>
                </a:tc>
                <a:tc>
                  <a:txBody>
                    <a:bodyPr/>
                    <a:lstStyle/>
                    <a:p>
                      <a:r>
                        <a:rPr lang="en-US" dirty="0" smtClean="0"/>
                        <a:t>Average time per emergency trip</a:t>
                      </a:r>
                      <a:endParaRPr lang="en-IN" dirty="0"/>
                    </a:p>
                  </a:txBody>
                  <a:tcPr/>
                </a:tc>
                <a:tc>
                  <a:txBody>
                    <a:bodyPr/>
                    <a:lstStyle/>
                    <a:p>
                      <a:r>
                        <a:rPr lang="en-US" dirty="0" smtClean="0"/>
                        <a:t>6</a:t>
                      </a:r>
                      <a:endParaRPr lang="en-IN" dirty="0"/>
                    </a:p>
                  </a:txBody>
                  <a:tcPr/>
                </a:tc>
                <a:tc>
                  <a:txBody>
                    <a:bodyPr/>
                    <a:lstStyle/>
                    <a:p>
                      <a:r>
                        <a:rPr lang="en-US" dirty="0" smtClean="0"/>
                        <a:t>4</a:t>
                      </a:r>
                      <a:endParaRPr lang="en-IN" dirty="0"/>
                    </a:p>
                  </a:txBody>
                  <a:tcPr/>
                </a:tc>
                <a:tc>
                  <a:txBody>
                    <a:bodyPr/>
                    <a:lstStyle/>
                    <a:p>
                      <a:r>
                        <a:rPr lang="en-US" dirty="0" smtClean="0"/>
                        <a:t>5</a:t>
                      </a:r>
                      <a:endParaRPr lang="en-IN" dirty="0"/>
                    </a:p>
                  </a:txBody>
                  <a:tcPr/>
                </a:tc>
                <a:extLst>
                  <a:ext uri="{0D108BD9-81ED-4DB2-BD59-A6C34878D82A}">
                    <a16:rowId xmlns:a16="http://schemas.microsoft.com/office/drawing/2014/main" val="726486184"/>
                  </a:ext>
                </a:extLst>
              </a:tr>
              <a:tr h="607552">
                <a:tc>
                  <a:txBody>
                    <a:bodyPr/>
                    <a:lstStyle/>
                    <a:p>
                      <a:r>
                        <a:rPr lang="en-US" dirty="0" smtClean="0"/>
                        <a:t>4</a:t>
                      </a:r>
                      <a:endParaRPr lang="en-IN" dirty="0"/>
                    </a:p>
                  </a:txBody>
                  <a:tcPr/>
                </a:tc>
                <a:tc>
                  <a:txBody>
                    <a:bodyPr/>
                    <a:lstStyle/>
                    <a:p>
                      <a:r>
                        <a:rPr lang="en-IN" dirty="0" smtClean="0"/>
                        <a:t>Land and construction costs</a:t>
                      </a:r>
                      <a:endParaRPr lang="en-IN" dirty="0"/>
                    </a:p>
                  </a:txBody>
                  <a:tcPr/>
                </a:tc>
                <a:tc>
                  <a:txBody>
                    <a:bodyPr/>
                    <a:lstStyle/>
                    <a:p>
                      <a:r>
                        <a:rPr lang="en-US" dirty="0" smtClean="0"/>
                        <a:t>3</a:t>
                      </a:r>
                      <a:endParaRPr lang="en-IN" dirty="0"/>
                    </a:p>
                  </a:txBody>
                  <a:tcPr/>
                </a:tc>
                <a:tc>
                  <a:txBody>
                    <a:bodyPr/>
                    <a:lstStyle/>
                    <a:p>
                      <a:r>
                        <a:rPr lang="en-US" dirty="0" smtClean="0"/>
                        <a:t>1</a:t>
                      </a:r>
                      <a:endParaRPr lang="en-IN" dirty="0"/>
                    </a:p>
                  </a:txBody>
                  <a:tcPr/>
                </a:tc>
                <a:tc>
                  <a:txBody>
                    <a:bodyPr/>
                    <a:lstStyle/>
                    <a:p>
                      <a:r>
                        <a:rPr lang="en-US" dirty="0" smtClean="0"/>
                        <a:t>2</a:t>
                      </a:r>
                      <a:endParaRPr lang="en-IN" dirty="0"/>
                    </a:p>
                  </a:txBody>
                  <a:tcPr/>
                </a:tc>
                <a:extLst>
                  <a:ext uri="{0D108BD9-81ED-4DB2-BD59-A6C34878D82A}">
                    <a16:rowId xmlns:a16="http://schemas.microsoft.com/office/drawing/2014/main" val="3430739847"/>
                  </a:ext>
                </a:extLst>
              </a:tr>
              <a:tr h="607552">
                <a:tc>
                  <a:txBody>
                    <a:bodyPr/>
                    <a:lstStyle/>
                    <a:p>
                      <a:r>
                        <a:rPr lang="en-US" dirty="0" smtClean="0"/>
                        <a:t>5</a:t>
                      </a:r>
                      <a:endParaRPr lang="en-IN" dirty="0"/>
                    </a:p>
                  </a:txBody>
                  <a:tcPr/>
                </a:tc>
                <a:tc>
                  <a:txBody>
                    <a:bodyPr/>
                    <a:lstStyle/>
                    <a:p>
                      <a:r>
                        <a:rPr lang="en-IN" dirty="0" smtClean="0"/>
                        <a:t>Employee preferences</a:t>
                      </a:r>
                      <a:endParaRPr lang="en-IN" dirty="0"/>
                    </a:p>
                  </a:txBody>
                  <a:tcPr/>
                </a:tc>
                <a:tc>
                  <a:txBody>
                    <a:bodyPr/>
                    <a:lstStyle/>
                    <a:p>
                      <a:r>
                        <a:rPr lang="en-US" dirty="0" smtClean="0"/>
                        <a:t>5</a:t>
                      </a:r>
                      <a:endParaRPr lang="en-IN" dirty="0"/>
                    </a:p>
                  </a:txBody>
                  <a:tcPr/>
                </a:tc>
                <a:tc>
                  <a:txBody>
                    <a:bodyPr/>
                    <a:lstStyle/>
                    <a:p>
                      <a:r>
                        <a:rPr lang="en-US" dirty="0" smtClean="0"/>
                        <a:t>5</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3197610772"/>
                  </a:ext>
                </a:extLst>
              </a:tr>
            </a:tbl>
          </a:graphicData>
        </a:graphic>
      </p:graphicFrame>
    </p:spTree>
    <p:extLst>
      <p:ext uri="{BB962C8B-B14F-4D97-AF65-F5344CB8AC3E}">
        <p14:creationId xmlns:p14="http://schemas.microsoft.com/office/powerpoint/2010/main" val="35012627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255" y="318655"/>
            <a:ext cx="11187545" cy="6379028"/>
          </a:xfrm>
        </p:spPr>
        <p:txBody>
          <a:bodyPr/>
          <a:lstStyle/>
          <a:p>
            <a:pPr marL="0" indent="0">
              <a:buNone/>
            </a:pPr>
            <a:r>
              <a:rPr lang="en-IN" dirty="0"/>
              <a:t>Solution: </a:t>
            </a:r>
          </a:p>
        </p:txBody>
      </p:sp>
      <p:graphicFrame>
        <p:nvGraphicFramePr>
          <p:cNvPr id="4" name="Table 3"/>
          <p:cNvGraphicFramePr>
            <a:graphicFrameLocks noGrp="1"/>
          </p:cNvGraphicFramePr>
          <p:nvPr>
            <p:extLst>
              <p:ext uri="{D42A27DB-BD31-4B8C-83A1-F6EECF244321}">
                <p14:modId xmlns:p14="http://schemas.microsoft.com/office/powerpoint/2010/main" val="586417802"/>
              </p:ext>
            </p:extLst>
          </p:nvPr>
        </p:nvGraphicFramePr>
        <p:xfrm>
          <a:off x="1448789" y="700643"/>
          <a:ext cx="10165276" cy="4905717"/>
        </p:xfrm>
        <a:graphic>
          <a:graphicData uri="http://schemas.openxmlformats.org/drawingml/2006/table">
            <a:tbl>
              <a:tblPr firstRow="1" bandRow="1">
                <a:tableStyleId>{5C22544A-7EE6-4342-B048-85BDC9FD1C3A}</a:tableStyleId>
              </a:tblPr>
              <a:tblGrid>
                <a:gridCol w="2503176">
                  <a:extLst>
                    <a:ext uri="{9D8B030D-6E8A-4147-A177-3AD203B41FA5}">
                      <a16:colId xmlns:a16="http://schemas.microsoft.com/office/drawing/2014/main" val="1545998296"/>
                    </a:ext>
                  </a:extLst>
                </a:gridCol>
                <a:gridCol w="2512928">
                  <a:extLst>
                    <a:ext uri="{9D8B030D-6E8A-4147-A177-3AD203B41FA5}">
                      <a16:colId xmlns:a16="http://schemas.microsoft.com/office/drawing/2014/main" val="3663761296"/>
                    </a:ext>
                  </a:extLst>
                </a:gridCol>
                <a:gridCol w="1493394">
                  <a:extLst>
                    <a:ext uri="{9D8B030D-6E8A-4147-A177-3AD203B41FA5}">
                      <a16:colId xmlns:a16="http://schemas.microsoft.com/office/drawing/2014/main" val="1984711178"/>
                    </a:ext>
                  </a:extLst>
                </a:gridCol>
                <a:gridCol w="1118045">
                  <a:extLst>
                    <a:ext uri="{9D8B030D-6E8A-4147-A177-3AD203B41FA5}">
                      <a16:colId xmlns:a16="http://schemas.microsoft.com/office/drawing/2014/main" val="1264014625"/>
                    </a:ext>
                  </a:extLst>
                </a:gridCol>
                <a:gridCol w="931702">
                  <a:extLst>
                    <a:ext uri="{9D8B030D-6E8A-4147-A177-3AD203B41FA5}">
                      <a16:colId xmlns:a16="http://schemas.microsoft.com/office/drawing/2014/main" val="1681975700"/>
                    </a:ext>
                  </a:extLst>
                </a:gridCol>
                <a:gridCol w="811314">
                  <a:extLst>
                    <a:ext uri="{9D8B030D-6E8A-4147-A177-3AD203B41FA5}">
                      <a16:colId xmlns:a16="http://schemas.microsoft.com/office/drawing/2014/main" val="3597473671"/>
                    </a:ext>
                  </a:extLst>
                </a:gridCol>
                <a:gridCol w="794717">
                  <a:extLst>
                    <a:ext uri="{9D8B030D-6E8A-4147-A177-3AD203B41FA5}">
                      <a16:colId xmlns:a16="http://schemas.microsoft.com/office/drawing/2014/main" val="58984487"/>
                    </a:ext>
                  </a:extLst>
                </a:gridCol>
              </a:tblGrid>
              <a:tr h="722053">
                <a:tc>
                  <a:txBody>
                    <a:bodyPr/>
                    <a:lstStyle/>
                    <a:p>
                      <a:r>
                        <a:rPr lang="en-US" dirty="0" err="1" smtClean="0"/>
                        <a:t>Sr.No</a:t>
                      </a:r>
                      <a:endParaRPr lang="en-IN" dirty="0"/>
                    </a:p>
                  </a:txBody>
                  <a:tcPr/>
                </a:tc>
                <a:tc>
                  <a:txBody>
                    <a:bodyPr/>
                    <a:lstStyle/>
                    <a:p>
                      <a:r>
                        <a:rPr lang="en-US" dirty="0" smtClean="0"/>
                        <a:t>Location Factor</a:t>
                      </a:r>
                      <a:endParaRPr lang="en-IN" dirty="0"/>
                    </a:p>
                  </a:txBody>
                  <a:tcPr/>
                </a:tc>
                <a:tc>
                  <a:txBody>
                    <a:bodyPr/>
                    <a:lstStyle/>
                    <a:p>
                      <a:r>
                        <a:rPr lang="en-US" dirty="0" smtClean="0"/>
                        <a:t>Factor Rating</a:t>
                      </a:r>
                      <a:endParaRPr lang="en-IN" dirty="0"/>
                    </a:p>
                  </a:txBody>
                  <a:tcPr/>
                </a:tc>
                <a:tc gridSpan="2">
                  <a:txBody>
                    <a:bodyPr/>
                    <a:lstStyle/>
                    <a:p>
                      <a:r>
                        <a:rPr lang="en-US" dirty="0" smtClean="0"/>
                        <a:t>Location</a:t>
                      </a:r>
                      <a:r>
                        <a:rPr lang="en-US" baseline="0" dirty="0" smtClean="0"/>
                        <a:t> 1</a:t>
                      </a:r>
                      <a:endParaRPr lang="en-US" dirty="0" smtClean="0"/>
                    </a:p>
                    <a:p>
                      <a:endParaRPr lang="en-IN" dirty="0"/>
                    </a:p>
                  </a:txBody>
                  <a:tcPr/>
                </a:tc>
                <a:tc hMerge="1">
                  <a:txBody>
                    <a:bodyPr/>
                    <a:lstStyle/>
                    <a:p>
                      <a:endParaRPr lang="en-IN"/>
                    </a:p>
                  </a:txBody>
                  <a:tcPr/>
                </a:tc>
                <a:tc gridSpan="2">
                  <a:txBody>
                    <a:bodyPr/>
                    <a:lstStyle/>
                    <a:p>
                      <a:r>
                        <a:rPr lang="en-US" dirty="0" smtClean="0"/>
                        <a:t>Location 2</a:t>
                      </a:r>
                      <a:endParaRPr lang="en-IN" dirty="0"/>
                    </a:p>
                  </a:txBody>
                  <a:tcPr/>
                </a:tc>
                <a:tc hMerge="1">
                  <a:txBody>
                    <a:bodyPr/>
                    <a:lstStyle/>
                    <a:p>
                      <a:endParaRPr lang="en-IN"/>
                    </a:p>
                  </a:txBody>
                  <a:tcPr/>
                </a:tc>
                <a:extLst>
                  <a:ext uri="{0D108BD9-81ED-4DB2-BD59-A6C34878D82A}">
                    <a16:rowId xmlns:a16="http://schemas.microsoft.com/office/drawing/2014/main" val="2201996343"/>
                  </a:ext>
                </a:extLst>
              </a:tr>
              <a:tr h="867317">
                <a:tc>
                  <a:txBody>
                    <a:bodyPr/>
                    <a:lstStyle/>
                    <a:p>
                      <a:endParaRPr lang="en-IN"/>
                    </a:p>
                  </a:txBody>
                  <a:tcPr/>
                </a:tc>
                <a:tc>
                  <a:txBody>
                    <a:bodyPr/>
                    <a:lstStyle/>
                    <a:p>
                      <a:endParaRPr lang="en-IN"/>
                    </a:p>
                  </a:txBody>
                  <a:tcPr/>
                </a:tc>
                <a:tc>
                  <a:txBody>
                    <a:bodyPr/>
                    <a:lstStyle/>
                    <a:p>
                      <a:r>
                        <a:rPr lang="en-US" dirty="0" smtClean="0"/>
                        <a:t>(1)</a:t>
                      </a:r>
                      <a:endParaRPr lang="en-IN" dirty="0"/>
                    </a:p>
                  </a:txBody>
                  <a:tcPr/>
                </a:tc>
                <a:tc>
                  <a:txBody>
                    <a:bodyPr/>
                    <a:lstStyle/>
                    <a:p>
                      <a:r>
                        <a:rPr lang="en-US" dirty="0" smtClean="0"/>
                        <a:t>Rating(2)</a:t>
                      </a:r>
                      <a:endParaRPr lang="en-IN" dirty="0"/>
                    </a:p>
                  </a:txBody>
                  <a:tcPr/>
                </a:tc>
                <a:tc>
                  <a:txBody>
                    <a:bodyPr/>
                    <a:lstStyle/>
                    <a:p>
                      <a:r>
                        <a:rPr lang="en-US" dirty="0" smtClean="0"/>
                        <a:t>Total</a:t>
                      </a:r>
                    </a:p>
                    <a:p>
                      <a:r>
                        <a:rPr lang="en-US" dirty="0" smtClean="0"/>
                        <a:t>(1).(2)</a:t>
                      </a:r>
                      <a:endParaRPr lang="en-IN" dirty="0"/>
                    </a:p>
                  </a:txBody>
                  <a:tcPr/>
                </a:tc>
                <a:tc>
                  <a:txBody>
                    <a:bodyPr/>
                    <a:lstStyle/>
                    <a:p>
                      <a:r>
                        <a:rPr lang="en-US" dirty="0" smtClean="0"/>
                        <a:t>Rating(3)</a:t>
                      </a:r>
                      <a:endParaRPr lang="en-IN" dirty="0"/>
                    </a:p>
                  </a:txBody>
                  <a:tcPr/>
                </a:tc>
                <a:tc>
                  <a:txBody>
                    <a:bodyPr/>
                    <a:lstStyle/>
                    <a:p>
                      <a:r>
                        <a:rPr lang="en-US" dirty="0" smtClean="0"/>
                        <a:t>Total</a:t>
                      </a:r>
                    </a:p>
                    <a:p>
                      <a:r>
                        <a:rPr lang="en-US" dirty="0" smtClean="0"/>
                        <a:t>(1).(3)</a:t>
                      </a:r>
                      <a:endParaRPr lang="en-IN" dirty="0"/>
                    </a:p>
                  </a:txBody>
                  <a:tcPr/>
                </a:tc>
                <a:extLst>
                  <a:ext uri="{0D108BD9-81ED-4DB2-BD59-A6C34878D82A}">
                    <a16:rowId xmlns:a16="http://schemas.microsoft.com/office/drawing/2014/main" val="3306471504"/>
                  </a:ext>
                </a:extLst>
              </a:tr>
              <a:tr h="323268">
                <a:tc>
                  <a:txBody>
                    <a:bodyPr/>
                    <a:lstStyle/>
                    <a:p>
                      <a:r>
                        <a:rPr lang="en-US" dirty="0" smtClean="0"/>
                        <a:t>1</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Facility Location</a:t>
                      </a:r>
                      <a:endParaRPr lang="en-IN" dirty="0" smtClean="0"/>
                    </a:p>
                  </a:txBody>
                  <a:tcPr/>
                </a:tc>
                <a:tc>
                  <a:txBody>
                    <a:bodyPr/>
                    <a:lstStyle/>
                    <a:p>
                      <a:r>
                        <a:rPr lang="en-US" dirty="0" smtClean="0"/>
                        <a:t>8</a:t>
                      </a:r>
                      <a:endParaRPr lang="en-IN" dirty="0"/>
                    </a:p>
                  </a:txBody>
                  <a:tcPr/>
                </a:tc>
                <a:tc>
                  <a:txBody>
                    <a:bodyPr/>
                    <a:lstStyle/>
                    <a:p>
                      <a:r>
                        <a:rPr lang="en-US" dirty="0" smtClean="0"/>
                        <a:t>3</a:t>
                      </a:r>
                      <a:endParaRPr lang="en-IN" dirty="0"/>
                    </a:p>
                  </a:txBody>
                  <a:tcPr/>
                </a:tc>
                <a:tc>
                  <a:txBody>
                    <a:bodyPr/>
                    <a:lstStyle/>
                    <a:p>
                      <a:r>
                        <a:rPr lang="en-US" dirty="0" smtClean="0"/>
                        <a:t>24</a:t>
                      </a:r>
                      <a:endParaRPr lang="en-IN" dirty="0"/>
                    </a:p>
                  </a:txBody>
                  <a:tcPr/>
                </a:tc>
                <a:tc>
                  <a:txBody>
                    <a:bodyPr/>
                    <a:lstStyle/>
                    <a:p>
                      <a:r>
                        <a:rPr lang="en-US" dirty="0" smtClean="0"/>
                        <a:t>5</a:t>
                      </a:r>
                      <a:endParaRPr lang="en-IN" dirty="0"/>
                    </a:p>
                  </a:txBody>
                  <a:tcPr/>
                </a:tc>
                <a:tc>
                  <a:txBody>
                    <a:bodyPr/>
                    <a:lstStyle/>
                    <a:p>
                      <a:r>
                        <a:rPr lang="en-US" dirty="0" smtClean="0"/>
                        <a:t>40</a:t>
                      </a:r>
                      <a:endParaRPr lang="en-IN" dirty="0"/>
                    </a:p>
                  </a:txBody>
                  <a:tcPr/>
                </a:tc>
                <a:extLst>
                  <a:ext uri="{0D108BD9-81ED-4DB2-BD59-A6C34878D82A}">
                    <a16:rowId xmlns:a16="http://schemas.microsoft.com/office/drawing/2014/main" val="440064208"/>
                  </a:ext>
                </a:extLst>
              </a:tr>
              <a:tr h="556809">
                <a:tc>
                  <a:txBody>
                    <a:bodyPr/>
                    <a:lstStyle/>
                    <a:p>
                      <a:r>
                        <a:rPr lang="en-US" dirty="0" smtClean="0"/>
                        <a:t>2</a:t>
                      </a:r>
                      <a:endParaRPr lang="en-IN" dirty="0"/>
                    </a:p>
                  </a:txBody>
                  <a:tcPr/>
                </a:tc>
                <a:tc>
                  <a:txBody>
                    <a:bodyPr/>
                    <a:lstStyle/>
                    <a:p>
                      <a:r>
                        <a:rPr lang="en-IN" dirty="0" smtClean="0"/>
                        <a:t>Total patient per month</a:t>
                      </a:r>
                      <a:endParaRPr lang="en-IN" dirty="0"/>
                    </a:p>
                  </a:txBody>
                  <a:tcPr/>
                </a:tc>
                <a:tc>
                  <a:txBody>
                    <a:bodyPr/>
                    <a:lstStyle/>
                    <a:p>
                      <a:r>
                        <a:rPr lang="en-US" dirty="0" smtClean="0"/>
                        <a:t>5</a:t>
                      </a:r>
                      <a:endParaRPr lang="en-IN" dirty="0"/>
                    </a:p>
                  </a:txBody>
                  <a:tcPr/>
                </a:tc>
                <a:tc>
                  <a:txBody>
                    <a:bodyPr/>
                    <a:lstStyle/>
                    <a:p>
                      <a:r>
                        <a:rPr lang="en-US" dirty="0" smtClean="0"/>
                        <a:t>4</a:t>
                      </a:r>
                      <a:endParaRPr lang="en-IN" dirty="0"/>
                    </a:p>
                  </a:txBody>
                  <a:tcPr/>
                </a:tc>
                <a:tc>
                  <a:txBody>
                    <a:bodyPr/>
                    <a:lstStyle/>
                    <a:p>
                      <a:r>
                        <a:rPr lang="en-US" dirty="0" smtClean="0"/>
                        <a:t>20</a:t>
                      </a:r>
                      <a:endParaRPr lang="en-IN" dirty="0"/>
                    </a:p>
                  </a:txBody>
                  <a:tcPr/>
                </a:tc>
                <a:tc>
                  <a:txBody>
                    <a:bodyPr/>
                    <a:lstStyle/>
                    <a:p>
                      <a:r>
                        <a:rPr lang="en-US" dirty="0" smtClean="0"/>
                        <a:t>3</a:t>
                      </a:r>
                      <a:endParaRPr lang="en-IN" dirty="0"/>
                    </a:p>
                  </a:txBody>
                  <a:tcPr/>
                </a:tc>
                <a:tc>
                  <a:txBody>
                    <a:bodyPr/>
                    <a:lstStyle/>
                    <a:p>
                      <a:r>
                        <a:rPr lang="en-US" dirty="0" smtClean="0"/>
                        <a:t>15</a:t>
                      </a:r>
                      <a:endParaRPr lang="en-IN" dirty="0"/>
                    </a:p>
                  </a:txBody>
                  <a:tcPr/>
                </a:tc>
                <a:extLst>
                  <a:ext uri="{0D108BD9-81ED-4DB2-BD59-A6C34878D82A}">
                    <a16:rowId xmlns:a16="http://schemas.microsoft.com/office/drawing/2014/main" val="3157329573"/>
                  </a:ext>
                </a:extLst>
              </a:tr>
              <a:tr h="565720">
                <a:tc>
                  <a:txBody>
                    <a:bodyPr/>
                    <a:lstStyle/>
                    <a:p>
                      <a:r>
                        <a:rPr lang="en-US" dirty="0" smtClean="0"/>
                        <a:t>3</a:t>
                      </a:r>
                      <a:endParaRPr lang="en-IN" dirty="0"/>
                    </a:p>
                  </a:txBody>
                  <a:tcPr/>
                </a:tc>
                <a:tc>
                  <a:txBody>
                    <a:bodyPr/>
                    <a:lstStyle/>
                    <a:p>
                      <a:r>
                        <a:rPr lang="en-US" dirty="0" smtClean="0"/>
                        <a:t>Average time per emergency trip</a:t>
                      </a:r>
                      <a:endParaRPr lang="en-IN" dirty="0"/>
                    </a:p>
                  </a:txBody>
                  <a:tcPr/>
                </a:tc>
                <a:tc>
                  <a:txBody>
                    <a:bodyPr/>
                    <a:lstStyle/>
                    <a:p>
                      <a:r>
                        <a:rPr lang="en-US" dirty="0" smtClean="0"/>
                        <a:t>6</a:t>
                      </a:r>
                      <a:endParaRPr lang="en-IN" dirty="0"/>
                    </a:p>
                  </a:txBody>
                  <a:tcPr/>
                </a:tc>
                <a:tc>
                  <a:txBody>
                    <a:bodyPr/>
                    <a:lstStyle/>
                    <a:p>
                      <a:r>
                        <a:rPr lang="en-US" dirty="0" smtClean="0"/>
                        <a:t>4</a:t>
                      </a:r>
                      <a:endParaRPr lang="en-IN" dirty="0"/>
                    </a:p>
                  </a:txBody>
                  <a:tcPr/>
                </a:tc>
                <a:tc>
                  <a:txBody>
                    <a:bodyPr/>
                    <a:lstStyle/>
                    <a:p>
                      <a:r>
                        <a:rPr lang="en-US" dirty="0" smtClean="0"/>
                        <a:t>24</a:t>
                      </a:r>
                      <a:endParaRPr lang="en-IN" dirty="0"/>
                    </a:p>
                  </a:txBody>
                  <a:tcPr/>
                </a:tc>
                <a:tc>
                  <a:txBody>
                    <a:bodyPr/>
                    <a:lstStyle/>
                    <a:p>
                      <a:r>
                        <a:rPr lang="en-US" dirty="0" smtClean="0"/>
                        <a:t>5</a:t>
                      </a:r>
                      <a:endParaRPr lang="en-IN" dirty="0"/>
                    </a:p>
                  </a:txBody>
                  <a:tcPr/>
                </a:tc>
                <a:tc>
                  <a:txBody>
                    <a:bodyPr/>
                    <a:lstStyle/>
                    <a:p>
                      <a:r>
                        <a:rPr lang="en-US" dirty="0" smtClean="0"/>
                        <a:t>30</a:t>
                      </a:r>
                      <a:endParaRPr lang="en-IN" dirty="0"/>
                    </a:p>
                  </a:txBody>
                  <a:tcPr/>
                </a:tc>
                <a:extLst>
                  <a:ext uri="{0D108BD9-81ED-4DB2-BD59-A6C34878D82A}">
                    <a16:rowId xmlns:a16="http://schemas.microsoft.com/office/drawing/2014/main" val="726486184"/>
                  </a:ext>
                </a:extLst>
              </a:tr>
              <a:tr h="565720">
                <a:tc>
                  <a:txBody>
                    <a:bodyPr/>
                    <a:lstStyle/>
                    <a:p>
                      <a:r>
                        <a:rPr lang="en-US" dirty="0" smtClean="0"/>
                        <a:t>4</a:t>
                      </a:r>
                      <a:endParaRPr lang="en-IN" dirty="0"/>
                    </a:p>
                  </a:txBody>
                  <a:tcPr/>
                </a:tc>
                <a:tc>
                  <a:txBody>
                    <a:bodyPr/>
                    <a:lstStyle/>
                    <a:p>
                      <a:r>
                        <a:rPr lang="en-IN" dirty="0" smtClean="0"/>
                        <a:t>Land and construction costs</a:t>
                      </a:r>
                      <a:endParaRPr lang="en-IN" dirty="0"/>
                    </a:p>
                  </a:txBody>
                  <a:tcPr/>
                </a:tc>
                <a:tc>
                  <a:txBody>
                    <a:bodyPr/>
                    <a:lstStyle/>
                    <a:p>
                      <a:r>
                        <a:rPr lang="en-US" dirty="0" smtClean="0"/>
                        <a:t>3</a:t>
                      </a:r>
                      <a:endParaRPr lang="en-IN" dirty="0"/>
                    </a:p>
                  </a:txBody>
                  <a:tcPr/>
                </a:tc>
                <a:tc>
                  <a:txBody>
                    <a:bodyPr/>
                    <a:lstStyle/>
                    <a:p>
                      <a:r>
                        <a:rPr lang="en-US" dirty="0" smtClean="0"/>
                        <a:t>1</a:t>
                      </a:r>
                      <a:endParaRPr lang="en-IN" dirty="0"/>
                    </a:p>
                  </a:txBody>
                  <a:tcPr/>
                </a:tc>
                <a:tc>
                  <a:txBody>
                    <a:bodyPr/>
                    <a:lstStyle/>
                    <a:p>
                      <a:r>
                        <a:rPr lang="en-US" dirty="0" smtClean="0"/>
                        <a:t>3</a:t>
                      </a:r>
                      <a:endParaRPr lang="en-IN" dirty="0"/>
                    </a:p>
                  </a:txBody>
                  <a:tcPr/>
                </a:tc>
                <a:tc>
                  <a:txBody>
                    <a:bodyPr/>
                    <a:lstStyle/>
                    <a:p>
                      <a:r>
                        <a:rPr lang="en-US" dirty="0" smtClean="0"/>
                        <a:t>2</a:t>
                      </a:r>
                      <a:endParaRPr lang="en-IN" dirty="0"/>
                    </a:p>
                  </a:txBody>
                  <a:tcPr/>
                </a:tc>
                <a:tc>
                  <a:txBody>
                    <a:bodyPr/>
                    <a:lstStyle/>
                    <a:p>
                      <a:r>
                        <a:rPr lang="en-US" dirty="0" smtClean="0"/>
                        <a:t>6</a:t>
                      </a:r>
                      <a:endParaRPr lang="en-IN" dirty="0"/>
                    </a:p>
                  </a:txBody>
                  <a:tcPr/>
                </a:tc>
                <a:extLst>
                  <a:ext uri="{0D108BD9-81ED-4DB2-BD59-A6C34878D82A}">
                    <a16:rowId xmlns:a16="http://schemas.microsoft.com/office/drawing/2014/main" val="3430739847"/>
                  </a:ext>
                </a:extLst>
              </a:tr>
              <a:tr h="556809">
                <a:tc>
                  <a:txBody>
                    <a:bodyPr/>
                    <a:lstStyle/>
                    <a:p>
                      <a:r>
                        <a:rPr lang="en-US" dirty="0" smtClean="0"/>
                        <a:t>5</a:t>
                      </a:r>
                      <a:endParaRPr lang="en-IN" dirty="0"/>
                    </a:p>
                  </a:txBody>
                  <a:tcPr/>
                </a:tc>
                <a:tc>
                  <a:txBody>
                    <a:bodyPr/>
                    <a:lstStyle/>
                    <a:p>
                      <a:r>
                        <a:rPr lang="en-IN" dirty="0" smtClean="0"/>
                        <a:t>Employee preferences</a:t>
                      </a:r>
                      <a:endParaRPr lang="en-IN" dirty="0"/>
                    </a:p>
                  </a:txBody>
                  <a:tcPr/>
                </a:tc>
                <a:tc>
                  <a:txBody>
                    <a:bodyPr/>
                    <a:lstStyle/>
                    <a:p>
                      <a:r>
                        <a:rPr lang="en-US" dirty="0" smtClean="0"/>
                        <a:t>5</a:t>
                      </a:r>
                      <a:endParaRPr lang="en-IN" dirty="0"/>
                    </a:p>
                  </a:txBody>
                  <a:tcPr/>
                </a:tc>
                <a:tc>
                  <a:txBody>
                    <a:bodyPr/>
                    <a:lstStyle/>
                    <a:p>
                      <a:r>
                        <a:rPr lang="en-US" dirty="0" smtClean="0"/>
                        <a:t>5</a:t>
                      </a:r>
                      <a:endParaRPr lang="en-IN" dirty="0"/>
                    </a:p>
                  </a:txBody>
                  <a:tcPr/>
                </a:tc>
                <a:tc>
                  <a:txBody>
                    <a:bodyPr/>
                    <a:lstStyle/>
                    <a:p>
                      <a:r>
                        <a:rPr lang="en-US" dirty="0" smtClean="0"/>
                        <a:t>25</a:t>
                      </a:r>
                      <a:endParaRPr lang="en-IN" dirty="0"/>
                    </a:p>
                  </a:txBody>
                  <a:tcPr/>
                </a:tc>
                <a:tc>
                  <a:txBody>
                    <a:bodyPr/>
                    <a:lstStyle/>
                    <a:p>
                      <a:r>
                        <a:rPr lang="en-US" dirty="0" smtClean="0"/>
                        <a:t>3</a:t>
                      </a:r>
                      <a:endParaRPr lang="en-IN" dirty="0"/>
                    </a:p>
                  </a:txBody>
                  <a:tcPr/>
                </a:tc>
                <a:tc>
                  <a:txBody>
                    <a:bodyPr/>
                    <a:lstStyle/>
                    <a:p>
                      <a:r>
                        <a:rPr lang="en-US" dirty="0" smtClean="0"/>
                        <a:t>15</a:t>
                      </a:r>
                      <a:endParaRPr lang="en-IN" dirty="0"/>
                    </a:p>
                  </a:txBody>
                  <a:tcPr/>
                </a:tc>
                <a:extLst>
                  <a:ext uri="{0D108BD9-81ED-4DB2-BD59-A6C34878D82A}">
                    <a16:rowId xmlns:a16="http://schemas.microsoft.com/office/drawing/2014/main" val="3197610772"/>
                  </a:ext>
                </a:extLst>
              </a:tr>
              <a:tr h="556809">
                <a:tc>
                  <a:txBody>
                    <a:bodyPr/>
                    <a:lstStyle/>
                    <a:p>
                      <a:endParaRPr lang="en-IN" dirty="0"/>
                    </a:p>
                  </a:txBody>
                  <a:tcPr/>
                </a:tc>
                <a:tc>
                  <a:txBody>
                    <a:bodyPr/>
                    <a:lstStyle/>
                    <a:p>
                      <a:r>
                        <a:rPr lang="en-US" dirty="0" smtClean="0"/>
                        <a:t>Total</a:t>
                      </a:r>
                      <a:endParaRPr lang="en-IN" dirty="0"/>
                    </a:p>
                  </a:txBody>
                  <a:tcPr/>
                </a:tc>
                <a:tc>
                  <a:txBody>
                    <a:bodyPr/>
                    <a:lstStyle/>
                    <a:p>
                      <a:endParaRPr lang="en-IN" dirty="0"/>
                    </a:p>
                  </a:txBody>
                  <a:tcPr/>
                </a:tc>
                <a:tc>
                  <a:txBody>
                    <a:bodyPr/>
                    <a:lstStyle/>
                    <a:p>
                      <a:endParaRPr lang="en-IN" dirty="0"/>
                    </a:p>
                  </a:txBody>
                  <a:tcPr/>
                </a:tc>
                <a:tc>
                  <a:txBody>
                    <a:bodyPr/>
                    <a:lstStyle/>
                    <a:p>
                      <a:r>
                        <a:rPr lang="en-US" dirty="0" smtClean="0"/>
                        <a:t>96</a:t>
                      </a:r>
                      <a:endParaRPr lang="en-IN" dirty="0"/>
                    </a:p>
                  </a:txBody>
                  <a:tcPr/>
                </a:tc>
                <a:tc>
                  <a:txBody>
                    <a:bodyPr/>
                    <a:lstStyle/>
                    <a:p>
                      <a:endParaRPr lang="en-IN" dirty="0"/>
                    </a:p>
                  </a:txBody>
                  <a:tcPr/>
                </a:tc>
                <a:tc>
                  <a:txBody>
                    <a:bodyPr/>
                    <a:lstStyle/>
                    <a:p>
                      <a:r>
                        <a:rPr lang="en-US" dirty="0" smtClean="0"/>
                        <a:t>106</a:t>
                      </a:r>
                      <a:endParaRPr lang="en-IN" dirty="0"/>
                    </a:p>
                  </a:txBody>
                  <a:tcPr/>
                </a:tc>
                <a:extLst>
                  <a:ext uri="{0D108BD9-81ED-4DB2-BD59-A6C34878D82A}">
                    <a16:rowId xmlns:a16="http://schemas.microsoft.com/office/drawing/2014/main" val="3383527018"/>
                  </a:ext>
                </a:extLst>
              </a:tr>
            </a:tbl>
          </a:graphicData>
        </a:graphic>
      </p:graphicFrame>
      <p:sp>
        <p:nvSpPr>
          <p:cNvPr id="5" name="TextBox 4"/>
          <p:cNvSpPr txBox="1"/>
          <p:nvPr/>
        </p:nvSpPr>
        <p:spPr>
          <a:xfrm>
            <a:off x="1626919" y="5949538"/>
            <a:ext cx="9452759" cy="1261884"/>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total score for location 2 is higher than that of location 1. Hence location 2, is the best choice.</a:t>
            </a:r>
            <a:endParaRPr lang="en-US" sz="2000" dirty="0">
              <a:solidFill>
                <a:srgbClr val="C00000"/>
              </a:solidFill>
              <a:latin typeface="Times New Roman" panose="02020603050405020304" pitchFamily="18" charset="0"/>
              <a:cs typeface="Times New Roman" panose="02020603050405020304" pitchFamily="18" charset="0"/>
            </a:endParaRPr>
          </a:p>
          <a:p>
            <a:endParaRPr lang="en-US" dirty="0">
              <a:solidFill>
                <a:srgbClr val="C00000"/>
              </a:solidFill>
            </a:endParaRPr>
          </a:p>
          <a:p>
            <a:endParaRPr lang="en-IN" dirty="0"/>
          </a:p>
        </p:txBody>
      </p:sp>
    </p:spTree>
    <p:extLst>
      <p:ext uri="{BB962C8B-B14F-4D97-AF65-F5344CB8AC3E}">
        <p14:creationId xmlns:p14="http://schemas.microsoft.com/office/powerpoint/2010/main" val="2654144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63" y="207818"/>
            <a:ext cx="11634537" cy="6421582"/>
          </a:xfrm>
        </p:spPr>
        <p:txBody>
          <a:bodyPr>
            <a:normAutofit/>
          </a:bodyPr>
          <a:lstStyle/>
          <a:p>
            <a:pPr marL="0" indent="0" algn="ctr">
              <a:buNone/>
            </a:pPr>
            <a:r>
              <a:rPr lang="en-US" dirty="0">
                <a:solidFill>
                  <a:srgbClr val="7030A0"/>
                </a:solidFill>
                <a:latin typeface="Times New Roman" panose="02020603050405020304" pitchFamily="18" charset="0"/>
                <a:cs typeface="Times New Roman" panose="02020603050405020304" pitchFamily="18" charset="0"/>
              </a:rPr>
              <a:t>Weighted Factor Rating </a:t>
            </a:r>
            <a:r>
              <a:rPr lang="en-US" dirty="0" smtClean="0">
                <a:solidFill>
                  <a:srgbClr val="7030A0"/>
                </a:solidFill>
                <a:latin typeface="Times New Roman" panose="02020603050405020304" pitchFamily="18" charset="0"/>
                <a:cs typeface="Times New Roman" panose="02020603050405020304" pitchFamily="18" charset="0"/>
              </a:rPr>
              <a:t>Method</a:t>
            </a:r>
          </a:p>
          <a:p>
            <a:pPr algn="just"/>
            <a:r>
              <a:rPr lang="en-US" sz="2400" dirty="0" smtClean="0"/>
              <a:t> </a:t>
            </a:r>
            <a:r>
              <a:rPr lang="en-US" dirty="0">
                <a:latin typeface="Times New Roman" panose="02020603050405020304" pitchFamily="18" charset="0"/>
                <a:cs typeface="Times New Roman" panose="02020603050405020304" pitchFamily="18" charset="0"/>
              </a:rPr>
              <a:t>In this method to merge quantitative and qualitative factors, factors are assigned weights based on relative importance and weightage score for each site using a preference matrix is calculated. The site with the highest weighted score is selected as the best choice.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Illustration : </a:t>
            </a:r>
            <a:r>
              <a:rPr lang="en-US" dirty="0">
                <a:latin typeface="Times New Roman" panose="02020603050405020304" pitchFamily="18" charset="0"/>
                <a:cs typeface="Times New Roman" panose="02020603050405020304" pitchFamily="18" charset="0"/>
              </a:rPr>
              <a:t>Let us assume that a new medical facility, Health-care, is to be located in Delhi. The location factors, weights, and scores (1 = poor, 5 = excellent) for two potential sites are shown in the following table. What is the weighted score for these sites? Which is the best location?</a:t>
            </a:r>
            <a:endParaRPr lang="en-IN"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7580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431493365"/>
              </p:ext>
            </p:extLst>
          </p:nvPr>
        </p:nvGraphicFramePr>
        <p:xfrm>
          <a:off x="160338" y="174625"/>
          <a:ext cx="11664952" cy="2763520"/>
        </p:xfrm>
        <a:graphic>
          <a:graphicData uri="http://schemas.openxmlformats.org/drawingml/2006/table">
            <a:tbl>
              <a:tblPr firstRow="1" bandRow="1">
                <a:tableStyleId>{5C22544A-7EE6-4342-B048-85BDC9FD1C3A}</a:tableStyleId>
              </a:tblPr>
              <a:tblGrid>
                <a:gridCol w="2916238">
                  <a:extLst>
                    <a:ext uri="{9D8B030D-6E8A-4147-A177-3AD203B41FA5}">
                      <a16:colId xmlns:a16="http://schemas.microsoft.com/office/drawing/2014/main" val="1454996709"/>
                    </a:ext>
                  </a:extLst>
                </a:gridCol>
                <a:gridCol w="2916238">
                  <a:extLst>
                    <a:ext uri="{9D8B030D-6E8A-4147-A177-3AD203B41FA5}">
                      <a16:colId xmlns:a16="http://schemas.microsoft.com/office/drawing/2014/main" val="1002358112"/>
                    </a:ext>
                  </a:extLst>
                </a:gridCol>
                <a:gridCol w="2916238">
                  <a:extLst>
                    <a:ext uri="{9D8B030D-6E8A-4147-A177-3AD203B41FA5}">
                      <a16:colId xmlns:a16="http://schemas.microsoft.com/office/drawing/2014/main" val="2311876819"/>
                    </a:ext>
                  </a:extLst>
                </a:gridCol>
                <a:gridCol w="1458119">
                  <a:extLst>
                    <a:ext uri="{9D8B030D-6E8A-4147-A177-3AD203B41FA5}">
                      <a16:colId xmlns:a16="http://schemas.microsoft.com/office/drawing/2014/main" val="461611310"/>
                    </a:ext>
                  </a:extLst>
                </a:gridCol>
                <a:gridCol w="1458119">
                  <a:extLst>
                    <a:ext uri="{9D8B030D-6E8A-4147-A177-3AD203B41FA5}">
                      <a16:colId xmlns:a16="http://schemas.microsoft.com/office/drawing/2014/main" val="2422487177"/>
                    </a:ext>
                  </a:extLst>
                </a:gridCol>
              </a:tblGrid>
              <a:tr h="370840">
                <a:tc>
                  <a:txBody>
                    <a:bodyPr/>
                    <a:lstStyle/>
                    <a:p>
                      <a:r>
                        <a:rPr lang="en-US" dirty="0" smtClean="0"/>
                        <a:t>Sr. No.</a:t>
                      </a:r>
                      <a:endParaRPr lang="en-IN" dirty="0"/>
                    </a:p>
                  </a:txBody>
                  <a:tcPr/>
                </a:tc>
                <a:tc>
                  <a:txBody>
                    <a:bodyPr/>
                    <a:lstStyle/>
                    <a:p>
                      <a:r>
                        <a:rPr lang="en-US" dirty="0" smtClean="0"/>
                        <a:t>Location Factor</a:t>
                      </a:r>
                      <a:endParaRPr lang="en-IN" dirty="0"/>
                    </a:p>
                  </a:txBody>
                  <a:tcPr/>
                </a:tc>
                <a:tc>
                  <a:txBody>
                    <a:bodyPr/>
                    <a:lstStyle/>
                    <a:p>
                      <a:r>
                        <a:rPr lang="en-US" dirty="0" smtClean="0"/>
                        <a:t>Weight</a:t>
                      </a:r>
                      <a:endParaRPr lang="en-IN" dirty="0"/>
                    </a:p>
                  </a:txBody>
                  <a:tcPr/>
                </a:tc>
                <a:tc>
                  <a:txBody>
                    <a:bodyPr/>
                    <a:lstStyle/>
                    <a:p>
                      <a:r>
                        <a:rPr lang="en-US" dirty="0" smtClean="0"/>
                        <a:t>Scores</a:t>
                      </a:r>
                    </a:p>
                    <a:p>
                      <a:r>
                        <a:rPr lang="en-US" dirty="0" smtClean="0"/>
                        <a:t>Location 1 </a:t>
                      </a:r>
                      <a:endParaRPr lang="en-IN" dirty="0"/>
                    </a:p>
                  </a:txBody>
                  <a:tcPr/>
                </a:tc>
                <a:tc>
                  <a:txBody>
                    <a:bodyPr/>
                    <a:lstStyle/>
                    <a:p>
                      <a:endParaRPr lang="en-US" dirty="0" smtClean="0"/>
                    </a:p>
                    <a:p>
                      <a:r>
                        <a:rPr lang="en-US" dirty="0" smtClean="0"/>
                        <a:t>Location</a:t>
                      </a:r>
                      <a:r>
                        <a:rPr lang="en-US" baseline="0" dirty="0" smtClean="0"/>
                        <a:t> 2</a:t>
                      </a:r>
                      <a:endParaRPr lang="en-IN" dirty="0"/>
                    </a:p>
                  </a:txBody>
                  <a:tcPr/>
                </a:tc>
                <a:extLst>
                  <a:ext uri="{0D108BD9-81ED-4DB2-BD59-A6C34878D82A}">
                    <a16:rowId xmlns:a16="http://schemas.microsoft.com/office/drawing/2014/main" val="3233265161"/>
                  </a:ext>
                </a:extLst>
              </a:tr>
              <a:tr h="370840">
                <a:tc>
                  <a:txBody>
                    <a:bodyPr/>
                    <a:lstStyle/>
                    <a:p>
                      <a:r>
                        <a:rPr lang="en-US" dirty="0" smtClean="0"/>
                        <a:t>1</a:t>
                      </a:r>
                      <a:endParaRPr lang="en-IN" dirty="0"/>
                    </a:p>
                  </a:txBody>
                  <a:tcPr/>
                </a:tc>
                <a:tc>
                  <a:txBody>
                    <a:bodyPr/>
                    <a:lstStyle/>
                    <a:p>
                      <a:r>
                        <a:rPr lang="en-IN" dirty="0" smtClean="0"/>
                        <a:t>Facility Location</a:t>
                      </a:r>
                      <a:endParaRPr lang="en-IN" dirty="0"/>
                    </a:p>
                  </a:txBody>
                  <a:tcPr/>
                </a:tc>
                <a:tc>
                  <a:txBody>
                    <a:bodyPr/>
                    <a:lstStyle/>
                    <a:p>
                      <a:r>
                        <a:rPr lang="en-US" dirty="0" smtClean="0"/>
                        <a:t>25</a:t>
                      </a:r>
                      <a:endParaRPr lang="en-IN" dirty="0"/>
                    </a:p>
                  </a:txBody>
                  <a:tcPr/>
                </a:tc>
                <a:tc>
                  <a:txBody>
                    <a:bodyPr/>
                    <a:lstStyle/>
                    <a:p>
                      <a:r>
                        <a:rPr lang="en-US" dirty="0" smtClean="0"/>
                        <a:t>3</a:t>
                      </a:r>
                      <a:endParaRPr lang="en-IN" dirty="0"/>
                    </a:p>
                  </a:txBody>
                  <a:tcPr/>
                </a:tc>
                <a:tc>
                  <a:txBody>
                    <a:bodyPr/>
                    <a:lstStyle/>
                    <a:p>
                      <a:r>
                        <a:rPr lang="en-US" dirty="0" smtClean="0"/>
                        <a:t>5</a:t>
                      </a:r>
                      <a:endParaRPr lang="en-IN" dirty="0"/>
                    </a:p>
                  </a:txBody>
                  <a:tcPr/>
                </a:tc>
                <a:extLst>
                  <a:ext uri="{0D108BD9-81ED-4DB2-BD59-A6C34878D82A}">
                    <a16:rowId xmlns:a16="http://schemas.microsoft.com/office/drawing/2014/main" val="1748523180"/>
                  </a:ext>
                </a:extLst>
              </a:tr>
              <a:tr h="370840">
                <a:tc>
                  <a:txBody>
                    <a:bodyPr/>
                    <a:lstStyle/>
                    <a:p>
                      <a:r>
                        <a:rPr lang="en-US" dirty="0" smtClean="0"/>
                        <a:t>2</a:t>
                      </a:r>
                      <a:endParaRPr lang="en-IN" dirty="0"/>
                    </a:p>
                  </a:txBody>
                  <a:tcPr/>
                </a:tc>
                <a:tc>
                  <a:txBody>
                    <a:bodyPr/>
                    <a:lstStyle/>
                    <a:p>
                      <a:r>
                        <a:rPr lang="en-IN" dirty="0" smtClean="0"/>
                        <a:t>Total patient per month</a:t>
                      </a:r>
                      <a:endParaRPr lang="en-IN" dirty="0"/>
                    </a:p>
                  </a:txBody>
                  <a:tcPr/>
                </a:tc>
                <a:tc>
                  <a:txBody>
                    <a:bodyPr/>
                    <a:lstStyle/>
                    <a:p>
                      <a:r>
                        <a:rPr lang="en-US" dirty="0" smtClean="0"/>
                        <a:t>25</a:t>
                      </a:r>
                      <a:endParaRPr lang="en-IN" dirty="0"/>
                    </a:p>
                  </a:txBody>
                  <a:tcPr/>
                </a:tc>
                <a:tc>
                  <a:txBody>
                    <a:bodyPr/>
                    <a:lstStyle/>
                    <a:p>
                      <a:r>
                        <a:rPr lang="en-US" dirty="0" smtClean="0"/>
                        <a:t>4</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659867377"/>
                  </a:ext>
                </a:extLst>
              </a:tr>
              <a:tr h="370840">
                <a:tc>
                  <a:txBody>
                    <a:bodyPr/>
                    <a:lstStyle/>
                    <a:p>
                      <a:r>
                        <a:rPr lang="en-US" dirty="0" smtClean="0"/>
                        <a:t>3</a:t>
                      </a:r>
                      <a:endParaRPr lang="en-IN" dirty="0"/>
                    </a:p>
                  </a:txBody>
                  <a:tcPr/>
                </a:tc>
                <a:tc>
                  <a:txBody>
                    <a:bodyPr/>
                    <a:lstStyle/>
                    <a:p>
                      <a:r>
                        <a:rPr lang="en-US" dirty="0" smtClean="0"/>
                        <a:t>Average time per emergency trip</a:t>
                      </a:r>
                      <a:endParaRPr lang="en-IN" dirty="0"/>
                    </a:p>
                  </a:txBody>
                  <a:tcPr/>
                </a:tc>
                <a:tc>
                  <a:txBody>
                    <a:bodyPr/>
                    <a:lstStyle/>
                    <a:p>
                      <a:r>
                        <a:rPr lang="en-US" dirty="0" smtClean="0"/>
                        <a:t>25</a:t>
                      </a:r>
                      <a:endParaRPr lang="en-IN" dirty="0"/>
                    </a:p>
                  </a:txBody>
                  <a:tcPr/>
                </a:tc>
                <a:tc>
                  <a:txBody>
                    <a:bodyPr/>
                    <a:lstStyle/>
                    <a:p>
                      <a:r>
                        <a:rPr lang="en-US" dirty="0" smtClean="0"/>
                        <a:t>3</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3670209653"/>
                  </a:ext>
                </a:extLst>
              </a:tr>
              <a:tr h="370840">
                <a:tc>
                  <a:txBody>
                    <a:bodyPr/>
                    <a:lstStyle/>
                    <a:p>
                      <a:r>
                        <a:rPr lang="en-US" dirty="0" smtClean="0"/>
                        <a:t>4</a:t>
                      </a:r>
                      <a:endParaRPr lang="en-IN" dirty="0"/>
                    </a:p>
                  </a:txBody>
                  <a:tcPr/>
                </a:tc>
                <a:tc>
                  <a:txBody>
                    <a:bodyPr/>
                    <a:lstStyle/>
                    <a:p>
                      <a:r>
                        <a:rPr lang="en-IN" dirty="0" smtClean="0"/>
                        <a:t>Land and construction costs</a:t>
                      </a:r>
                      <a:endParaRPr lang="en-IN" dirty="0"/>
                    </a:p>
                  </a:txBody>
                  <a:tcPr/>
                </a:tc>
                <a:tc>
                  <a:txBody>
                    <a:bodyPr/>
                    <a:lstStyle/>
                    <a:p>
                      <a:r>
                        <a:rPr lang="en-US" dirty="0" smtClean="0"/>
                        <a:t>25</a:t>
                      </a:r>
                      <a:endParaRPr lang="en-IN" dirty="0"/>
                    </a:p>
                  </a:txBody>
                  <a:tcPr/>
                </a:tc>
                <a:tc>
                  <a:txBody>
                    <a:bodyPr/>
                    <a:lstStyle/>
                    <a:p>
                      <a:r>
                        <a:rPr lang="en-US" dirty="0" smtClean="0"/>
                        <a:t>1</a:t>
                      </a:r>
                      <a:endParaRPr lang="en-IN" dirty="0"/>
                    </a:p>
                  </a:txBody>
                  <a:tcPr/>
                </a:tc>
                <a:tc>
                  <a:txBody>
                    <a:bodyPr/>
                    <a:lstStyle/>
                    <a:p>
                      <a:r>
                        <a:rPr lang="en-US" dirty="0" smtClean="0"/>
                        <a:t>2</a:t>
                      </a:r>
                      <a:endParaRPr lang="en-IN" dirty="0"/>
                    </a:p>
                  </a:txBody>
                  <a:tcPr/>
                </a:tc>
                <a:extLst>
                  <a:ext uri="{0D108BD9-81ED-4DB2-BD59-A6C34878D82A}">
                    <a16:rowId xmlns:a16="http://schemas.microsoft.com/office/drawing/2014/main" val="2466343953"/>
                  </a:ext>
                </a:extLst>
              </a:tr>
              <a:tr h="370840">
                <a:tc>
                  <a:txBody>
                    <a:bodyPr/>
                    <a:lstStyle/>
                    <a:p>
                      <a:r>
                        <a:rPr lang="en-US" dirty="0" smtClean="0"/>
                        <a:t>5</a:t>
                      </a:r>
                      <a:endParaRPr lang="en-IN" dirty="0"/>
                    </a:p>
                  </a:txBody>
                  <a:tcPr/>
                </a:tc>
                <a:tc>
                  <a:txBody>
                    <a:bodyPr/>
                    <a:lstStyle/>
                    <a:p>
                      <a:r>
                        <a:rPr lang="en-IN" dirty="0" smtClean="0"/>
                        <a:t>Employee preferences</a:t>
                      </a:r>
                      <a:endParaRPr lang="en-IN" dirty="0"/>
                    </a:p>
                  </a:txBody>
                  <a:tcPr/>
                </a:tc>
                <a:tc>
                  <a:txBody>
                    <a:bodyPr/>
                    <a:lstStyle/>
                    <a:p>
                      <a:r>
                        <a:rPr lang="en-US" dirty="0" smtClean="0"/>
                        <a:t>10</a:t>
                      </a:r>
                      <a:endParaRPr lang="en-IN" dirty="0"/>
                    </a:p>
                  </a:txBody>
                  <a:tcPr/>
                </a:tc>
                <a:tc>
                  <a:txBody>
                    <a:bodyPr/>
                    <a:lstStyle/>
                    <a:p>
                      <a:r>
                        <a:rPr lang="en-US" dirty="0" smtClean="0"/>
                        <a:t>5</a:t>
                      </a:r>
                      <a:endParaRPr lang="en-IN" dirty="0"/>
                    </a:p>
                  </a:txBody>
                  <a:tcPr/>
                </a:tc>
                <a:tc>
                  <a:txBody>
                    <a:bodyPr/>
                    <a:lstStyle/>
                    <a:p>
                      <a:r>
                        <a:rPr lang="en-US" dirty="0" smtClean="0"/>
                        <a:t>3</a:t>
                      </a:r>
                      <a:endParaRPr lang="en-IN" dirty="0"/>
                    </a:p>
                  </a:txBody>
                  <a:tcPr/>
                </a:tc>
                <a:extLst>
                  <a:ext uri="{0D108BD9-81ED-4DB2-BD59-A6C34878D82A}">
                    <a16:rowId xmlns:a16="http://schemas.microsoft.com/office/drawing/2014/main" val="3904866699"/>
                  </a:ext>
                </a:extLst>
              </a:tr>
            </a:tbl>
          </a:graphicData>
        </a:graphic>
      </p:graphicFrame>
      <p:sp>
        <p:nvSpPr>
          <p:cNvPr id="4" name="TextBox 3"/>
          <p:cNvSpPr txBox="1"/>
          <p:nvPr/>
        </p:nvSpPr>
        <p:spPr>
          <a:xfrm>
            <a:off x="380010" y="3253839"/>
            <a:ext cx="11445280" cy="3323987"/>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Solution: The weighted score for this particular site is calculated by multiplying each factor’s weight by its score and adding the results: </a:t>
            </a:r>
            <a:endParaRPr lang="en-US" sz="2000" dirty="0" smtClean="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Weighted score location </a:t>
            </a:r>
            <a:r>
              <a:rPr lang="en-US" sz="2000" dirty="0" smtClean="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 25 × 3 + 25 × 4 + 25 × 3 + 15 × 1 + 10 × 5 = 75 + 100 + 75 + 15 + 50 = </a:t>
            </a:r>
            <a:r>
              <a:rPr lang="en-US" sz="2000" dirty="0" smtClean="0">
                <a:latin typeface="Times New Roman" panose="02020603050405020304" pitchFamily="18" charset="0"/>
                <a:cs typeface="Times New Roman" panose="02020603050405020304" pitchFamily="18" charset="0"/>
              </a:rPr>
              <a:t>315</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Weighted score location 2 = 25 × 5 + 25 × 3 + 25 × 3 + 15 × 2 + 10 × 3 = 125 + 75 + 75 + 30 + 30 = </a:t>
            </a:r>
            <a:r>
              <a:rPr lang="en-US" sz="2000" dirty="0" smtClean="0">
                <a:latin typeface="Times New Roman" panose="02020603050405020304" pitchFamily="18" charset="0"/>
                <a:cs typeface="Times New Roman" panose="02020603050405020304" pitchFamily="18" charset="0"/>
              </a:rPr>
              <a:t>335</a:t>
            </a:r>
          </a:p>
          <a:p>
            <a:pPr algn="just"/>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Location 2 is the best site based on total weighted scores</a:t>
            </a:r>
            <a:r>
              <a:rPr lang="en-US" sz="2000" dirty="0" smtClean="0">
                <a:latin typeface="Times New Roman" panose="02020603050405020304" pitchFamily="18" charset="0"/>
                <a:cs typeface="Times New Roman" panose="02020603050405020304" pitchFamily="18" charset="0"/>
              </a:rPr>
              <a:t>.</a:t>
            </a:r>
          </a:p>
          <a:p>
            <a:endParaRPr lang="en-US" sz="2000" dirty="0"/>
          </a:p>
          <a:p>
            <a:endParaRPr lang="en-US" dirty="0" smtClean="0"/>
          </a:p>
          <a:p>
            <a:endParaRPr lang="en-US" dirty="0"/>
          </a:p>
          <a:p>
            <a:endParaRPr lang="en-US" dirty="0" smtClean="0"/>
          </a:p>
          <a:p>
            <a:endParaRPr lang="en-US" dirty="0"/>
          </a:p>
          <a:p>
            <a:endParaRPr lang="en-US" dirty="0" smtClean="0"/>
          </a:p>
        </p:txBody>
      </p:sp>
    </p:spTree>
    <p:extLst>
      <p:ext uri="{BB962C8B-B14F-4D97-AF65-F5344CB8AC3E}">
        <p14:creationId xmlns:p14="http://schemas.microsoft.com/office/powerpoint/2010/main" val="27905905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0631" y="193964"/>
            <a:ext cx="11670631" cy="6435436"/>
          </a:xfrm>
        </p:spPr>
        <p:txBody>
          <a:bodyPr>
            <a:normAutofit/>
          </a:bodyPr>
          <a:lstStyle/>
          <a:p>
            <a:pPr marL="0" indent="0" algn="ctr">
              <a:buNone/>
            </a:pPr>
            <a:r>
              <a:rPr lang="en-US" dirty="0">
                <a:solidFill>
                  <a:srgbClr val="7030A0"/>
                </a:solidFill>
                <a:latin typeface="Times New Roman" panose="02020603050405020304" pitchFamily="18" charset="0"/>
                <a:cs typeface="Times New Roman" panose="02020603050405020304" pitchFamily="18" charset="0"/>
              </a:rPr>
              <a:t>Break-even Analysis </a:t>
            </a:r>
            <a:endParaRPr lang="en-US" dirty="0" smtClean="0">
              <a:solidFill>
                <a:srgbClr val="7030A0"/>
              </a:solidFill>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Break </a:t>
            </a:r>
            <a:r>
              <a:rPr lang="en-US" sz="2400" dirty="0">
                <a:latin typeface="Times New Roman" panose="02020603050405020304" pitchFamily="18" charset="0"/>
                <a:cs typeface="Times New Roman" panose="02020603050405020304" pitchFamily="18" charset="0"/>
              </a:rPr>
              <a:t>even analysis implies that at some point in the operations, total revenue equals total cost. Break even analysis is concerned with finding the point at which revenues and costs agree exactly. It is called ‘</a:t>
            </a:r>
            <a:r>
              <a:rPr lang="en-US" sz="2400" dirty="0" smtClean="0">
                <a:latin typeface="Times New Roman" panose="02020603050405020304" pitchFamily="18" charset="0"/>
                <a:cs typeface="Times New Roman" panose="02020603050405020304" pitchFamily="18" charset="0"/>
              </a:rPr>
              <a:t>Break</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even </a:t>
            </a:r>
            <a:r>
              <a:rPr lang="en-US" sz="2400" dirty="0">
                <a:latin typeface="Times New Roman" panose="02020603050405020304" pitchFamily="18" charset="0"/>
                <a:cs typeface="Times New Roman" panose="02020603050405020304" pitchFamily="18" charset="0"/>
              </a:rPr>
              <a:t>Point</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b="1" dirty="0" smtClean="0">
                <a:latin typeface="Times New Roman" panose="02020603050405020304" pitchFamily="18" charset="0"/>
                <a:cs typeface="Times New Roman" panose="02020603050405020304" pitchFamily="18" charset="0"/>
              </a:rPr>
              <a:t>BEP= F/S-V</a:t>
            </a:r>
          </a:p>
          <a:p>
            <a:pPr marL="0" indent="0" algn="just">
              <a:buNone/>
            </a:pPr>
            <a:r>
              <a:rPr lang="en-US" sz="2400" b="1" dirty="0" smtClean="0">
                <a:latin typeface="Times New Roman" panose="02020603050405020304" pitchFamily="18" charset="0"/>
                <a:cs typeface="Times New Roman" panose="02020603050405020304" pitchFamily="18" charset="0"/>
              </a:rPr>
              <a:t>F-Fixed cost</a:t>
            </a:r>
          </a:p>
          <a:p>
            <a:pPr marL="0" indent="0" algn="just">
              <a:buNone/>
            </a:pPr>
            <a:r>
              <a:rPr lang="en-US" sz="2400" b="1" dirty="0" smtClean="0">
                <a:latin typeface="Times New Roman" panose="02020603050405020304" pitchFamily="18" charset="0"/>
                <a:cs typeface="Times New Roman" panose="02020603050405020304" pitchFamily="18" charset="0"/>
              </a:rPr>
              <a:t>S- Selling Price</a:t>
            </a:r>
          </a:p>
          <a:p>
            <a:pPr marL="0" indent="0" algn="just">
              <a:buNone/>
            </a:pPr>
            <a:r>
              <a:rPr lang="en-US" sz="2400" b="1" dirty="0" smtClean="0">
                <a:latin typeface="Times New Roman" panose="02020603050405020304" pitchFamily="18" charset="0"/>
                <a:cs typeface="Times New Roman" panose="02020603050405020304" pitchFamily="18" charset="0"/>
              </a:rPr>
              <a:t>V- Variable Cost per unit</a:t>
            </a:r>
          </a:p>
          <a:p>
            <a:pPr marL="0" indent="0" algn="just">
              <a:buNone/>
            </a:pPr>
            <a:r>
              <a:rPr lang="en-US" sz="2400" dirty="0"/>
              <a:t>This will be helpful in identifying the range of production volume over which location can be selected. </a:t>
            </a:r>
            <a:endParaRPr lang="en-US" sz="2400" dirty="0" smtClean="0"/>
          </a:p>
          <a:p>
            <a:pPr marL="0" indent="0" algn="just">
              <a:buNone/>
            </a:pPr>
            <a:r>
              <a:rPr lang="en-US" sz="2400" dirty="0" smtClean="0"/>
              <a:t>Illustration : </a:t>
            </a:r>
            <a:r>
              <a:rPr lang="en-US" sz="2400" dirty="0"/>
              <a:t>Potential locations X, Y and Z have the cost structures shown below. The ABC company has a demand of 1,30,000 units of a new product. Three potential locations X, Y and Z having following cost structures shown are available. Select which location is to be selected and also identify the volume ranges where each location is suited?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2974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24755056"/>
              </p:ext>
            </p:extLst>
          </p:nvPr>
        </p:nvGraphicFramePr>
        <p:xfrm>
          <a:off x="296863" y="296863"/>
          <a:ext cx="11542712" cy="1112520"/>
        </p:xfrm>
        <a:graphic>
          <a:graphicData uri="http://schemas.openxmlformats.org/drawingml/2006/table">
            <a:tbl>
              <a:tblPr firstRow="1" bandRow="1">
                <a:tableStyleId>{5C22544A-7EE6-4342-B048-85BDC9FD1C3A}</a:tableStyleId>
              </a:tblPr>
              <a:tblGrid>
                <a:gridCol w="2885678">
                  <a:extLst>
                    <a:ext uri="{9D8B030D-6E8A-4147-A177-3AD203B41FA5}">
                      <a16:colId xmlns:a16="http://schemas.microsoft.com/office/drawing/2014/main" val="137382461"/>
                    </a:ext>
                  </a:extLst>
                </a:gridCol>
                <a:gridCol w="2885678">
                  <a:extLst>
                    <a:ext uri="{9D8B030D-6E8A-4147-A177-3AD203B41FA5}">
                      <a16:colId xmlns:a16="http://schemas.microsoft.com/office/drawing/2014/main" val="4084594821"/>
                    </a:ext>
                  </a:extLst>
                </a:gridCol>
                <a:gridCol w="2885678">
                  <a:extLst>
                    <a:ext uri="{9D8B030D-6E8A-4147-A177-3AD203B41FA5}">
                      <a16:colId xmlns:a16="http://schemas.microsoft.com/office/drawing/2014/main" val="876297393"/>
                    </a:ext>
                  </a:extLst>
                </a:gridCol>
                <a:gridCol w="2885678">
                  <a:extLst>
                    <a:ext uri="{9D8B030D-6E8A-4147-A177-3AD203B41FA5}">
                      <a16:colId xmlns:a16="http://schemas.microsoft.com/office/drawing/2014/main" val="2044562921"/>
                    </a:ext>
                  </a:extLst>
                </a:gridCol>
              </a:tblGrid>
              <a:tr h="370840">
                <a:tc>
                  <a:txBody>
                    <a:bodyPr/>
                    <a:lstStyle/>
                    <a:p>
                      <a:endParaRPr lang="en-IN" dirty="0"/>
                    </a:p>
                  </a:txBody>
                  <a:tcPr/>
                </a:tc>
                <a:tc>
                  <a:txBody>
                    <a:bodyPr/>
                    <a:lstStyle/>
                    <a:p>
                      <a:r>
                        <a:rPr lang="en-US" dirty="0" smtClean="0"/>
                        <a:t>Location X</a:t>
                      </a:r>
                      <a:endParaRPr lang="en-IN" dirty="0"/>
                    </a:p>
                  </a:txBody>
                  <a:tcPr/>
                </a:tc>
                <a:tc>
                  <a:txBody>
                    <a:bodyPr/>
                    <a:lstStyle/>
                    <a:p>
                      <a:r>
                        <a:rPr lang="en-US" dirty="0" smtClean="0"/>
                        <a:t>Location Y </a:t>
                      </a:r>
                      <a:endParaRPr lang="en-IN" dirty="0"/>
                    </a:p>
                  </a:txBody>
                  <a:tcPr/>
                </a:tc>
                <a:tc>
                  <a:txBody>
                    <a:bodyPr/>
                    <a:lstStyle/>
                    <a:p>
                      <a:r>
                        <a:rPr lang="en-US" dirty="0" smtClean="0"/>
                        <a:t>Location Z </a:t>
                      </a:r>
                      <a:endParaRPr lang="en-IN" dirty="0"/>
                    </a:p>
                  </a:txBody>
                  <a:tcPr/>
                </a:tc>
                <a:extLst>
                  <a:ext uri="{0D108BD9-81ED-4DB2-BD59-A6C34878D82A}">
                    <a16:rowId xmlns:a16="http://schemas.microsoft.com/office/drawing/2014/main" val="586356019"/>
                  </a:ext>
                </a:extLst>
              </a:tr>
              <a:tr h="370840">
                <a:tc>
                  <a:txBody>
                    <a:bodyPr/>
                    <a:lstStyle/>
                    <a:p>
                      <a:r>
                        <a:rPr lang="en-US" dirty="0" smtClean="0"/>
                        <a:t>Fixed Cost</a:t>
                      </a:r>
                      <a:endParaRPr lang="en-IN" dirty="0"/>
                    </a:p>
                  </a:txBody>
                  <a:tcPr/>
                </a:tc>
                <a:tc>
                  <a:txBody>
                    <a:bodyPr/>
                    <a:lstStyle/>
                    <a:p>
                      <a:r>
                        <a:rPr lang="en-US" dirty="0" smtClean="0"/>
                        <a:t>Rs. 150,000</a:t>
                      </a:r>
                      <a:endParaRPr lang="en-IN" dirty="0"/>
                    </a:p>
                  </a:txBody>
                  <a:tcPr/>
                </a:tc>
                <a:tc>
                  <a:txBody>
                    <a:bodyPr/>
                    <a:lstStyle/>
                    <a:p>
                      <a:r>
                        <a:rPr lang="en-US" dirty="0" smtClean="0"/>
                        <a:t>Rs. 3,50,000</a:t>
                      </a:r>
                      <a:endParaRPr lang="en-IN" dirty="0"/>
                    </a:p>
                  </a:txBody>
                  <a:tcPr/>
                </a:tc>
                <a:tc>
                  <a:txBody>
                    <a:bodyPr/>
                    <a:lstStyle/>
                    <a:p>
                      <a:r>
                        <a:rPr lang="en-US" dirty="0" smtClean="0"/>
                        <a:t>Rs. 9,50,000</a:t>
                      </a:r>
                      <a:endParaRPr lang="en-IN" dirty="0"/>
                    </a:p>
                  </a:txBody>
                  <a:tcPr/>
                </a:tc>
                <a:extLst>
                  <a:ext uri="{0D108BD9-81ED-4DB2-BD59-A6C34878D82A}">
                    <a16:rowId xmlns:a16="http://schemas.microsoft.com/office/drawing/2014/main" val="663106960"/>
                  </a:ext>
                </a:extLst>
              </a:tr>
              <a:tr h="370840">
                <a:tc>
                  <a:txBody>
                    <a:bodyPr/>
                    <a:lstStyle/>
                    <a:p>
                      <a:r>
                        <a:rPr lang="en-US" dirty="0" smtClean="0"/>
                        <a:t>Variable cost</a:t>
                      </a:r>
                      <a:endParaRPr lang="en-IN" dirty="0"/>
                    </a:p>
                  </a:txBody>
                  <a:tcPr/>
                </a:tc>
                <a:tc>
                  <a:txBody>
                    <a:bodyPr/>
                    <a:lstStyle/>
                    <a:p>
                      <a:r>
                        <a:rPr lang="en-US" dirty="0" smtClean="0"/>
                        <a:t>Rs. 10</a:t>
                      </a:r>
                      <a:endParaRPr lang="en-IN" dirty="0"/>
                    </a:p>
                  </a:txBody>
                  <a:tcPr/>
                </a:tc>
                <a:tc>
                  <a:txBody>
                    <a:bodyPr/>
                    <a:lstStyle/>
                    <a:p>
                      <a:r>
                        <a:rPr lang="en-US" dirty="0" smtClean="0"/>
                        <a:t>Rs. 8</a:t>
                      </a:r>
                      <a:endParaRPr lang="en-IN" dirty="0"/>
                    </a:p>
                  </a:txBody>
                  <a:tcPr/>
                </a:tc>
                <a:tc>
                  <a:txBody>
                    <a:bodyPr/>
                    <a:lstStyle/>
                    <a:p>
                      <a:r>
                        <a:rPr lang="en-US" dirty="0" smtClean="0"/>
                        <a:t>Rs. 6</a:t>
                      </a:r>
                      <a:endParaRPr lang="en-IN" dirty="0"/>
                    </a:p>
                  </a:txBody>
                  <a:tcPr/>
                </a:tc>
                <a:extLst>
                  <a:ext uri="{0D108BD9-81ED-4DB2-BD59-A6C34878D82A}">
                    <a16:rowId xmlns:a16="http://schemas.microsoft.com/office/drawing/2014/main" val="1990518319"/>
                  </a:ext>
                </a:extLst>
              </a:tr>
            </a:tbl>
          </a:graphicData>
        </a:graphic>
      </p:graphicFrame>
      <p:sp>
        <p:nvSpPr>
          <p:cNvPr id="5" name="TextBox 4"/>
          <p:cNvSpPr txBox="1"/>
          <p:nvPr/>
        </p:nvSpPr>
        <p:spPr>
          <a:xfrm>
            <a:off x="296863" y="2173184"/>
            <a:ext cx="11400332" cy="341632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Solution: Solve for the crossover between X and 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10X </a:t>
            </a:r>
            <a:r>
              <a:rPr lang="en-US" sz="2400" dirty="0">
                <a:latin typeface="Times New Roman" panose="02020603050405020304" pitchFamily="18" charset="0"/>
                <a:cs typeface="Times New Roman" panose="02020603050405020304" pitchFamily="18" charset="0"/>
              </a:rPr>
              <a:t>+ 150,000 = 8X + 350,000 2X = 200,000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X </a:t>
            </a:r>
            <a:r>
              <a:rPr lang="en-US" sz="2400" dirty="0">
                <a:latin typeface="Times New Roman" panose="02020603050405020304" pitchFamily="18" charset="0"/>
                <a:cs typeface="Times New Roman" panose="02020603050405020304" pitchFamily="18" charset="0"/>
              </a:rPr>
              <a:t>= 100,000 units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Solve </a:t>
            </a:r>
            <a:r>
              <a:rPr lang="en-US" sz="2400" dirty="0">
                <a:latin typeface="Times New Roman" panose="02020603050405020304" pitchFamily="18" charset="0"/>
                <a:cs typeface="Times New Roman" panose="02020603050405020304" pitchFamily="18" charset="0"/>
              </a:rPr>
              <a:t>for the crossover between Y and Z: 8X + 350,000 = 6X + 950,000 2X = 600,000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X </a:t>
            </a:r>
            <a:r>
              <a:rPr lang="en-US" sz="2400" dirty="0">
                <a:latin typeface="Times New Roman" panose="02020603050405020304" pitchFamily="18" charset="0"/>
                <a:cs typeface="Times New Roman" panose="02020603050405020304" pitchFamily="18" charset="0"/>
              </a:rPr>
              <a:t>= 300,000 units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Therefore</a:t>
            </a:r>
            <a:r>
              <a:rPr lang="en-US" sz="2400" dirty="0">
                <a:latin typeface="Times New Roman" panose="02020603050405020304" pitchFamily="18" charset="0"/>
                <a:cs typeface="Times New Roman" panose="02020603050405020304" pitchFamily="18" charset="0"/>
              </a:rPr>
              <a:t>, at a volume of 1,30,000 units, Y is the appropriate strategy.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From </a:t>
            </a:r>
            <a:r>
              <a:rPr lang="en-US" sz="2400" dirty="0">
                <a:latin typeface="Times New Roman" panose="02020603050405020304" pitchFamily="18" charset="0"/>
                <a:cs typeface="Times New Roman" panose="02020603050405020304" pitchFamily="18" charset="0"/>
              </a:rPr>
              <a:t>the graph below we can interpret that location X is suitable up to 100,000 units,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location </a:t>
            </a:r>
            <a:r>
              <a:rPr lang="en-US" sz="2400" dirty="0">
                <a:latin typeface="Times New Roman" panose="02020603050405020304" pitchFamily="18" charset="0"/>
                <a:cs typeface="Times New Roman" panose="02020603050405020304" pitchFamily="18" charset="0"/>
              </a:rPr>
              <a:t>Y is suitable up to between 100,000 to 300,000 units and location Z is suitable if the demand is more than 300,000 units.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6591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505" y="166254"/>
            <a:ext cx="11554690" cy="6377049"/>
          </a:xfrm>
        </p:spPr>
        <p:txBody>
          <a:bodyPr>
            <a:normAutofit fontScale="92500"/>
          </a:bodyPr>
          <a:lstStyle/>
          <a:p>
            <a:pPr marL="0" indent="0" algn="ctr">
              <a:buNone/>
            </a:pPr>
            <a:r>
              <a:rPr lang="en-US" sz="4000" dirty="0">
                <a:solidFill>
                  <a:srgbClr val="7030A0"/>
                </a:solidFill>
                <a:latin typeface="Times New Roman" panose="02020603050405020304" pitchFamily="18" charset="0"/>
                <a:cs typeface="Times New Roman" panose="02020603050405020304" pitchFamily="18" charset="0"/>
              </a:rPr>
              <a:t>Centre of Gravity </a:t>
            </a:r>
            <a:endParaRPr lang="en-US" sz="4000" dirty="0" smtClean="0">
              <a:solidFill>
                <a:srgbClr val="7030A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Centre </a:t>
            </a:r>
            <a:r>
              <a:rPr lang="en-US" dirty="0">
                <a:latin typeface="Times New Roman" panose="02020603050405020304" pitchFamily="18" charset="0"/>
                <a:cs typeface="Times New Roman" panose="02020603050405020304" pitchFamily="18" charset="0"/>
              </a:rPr>
              <a:t>of gravity is based primarily on cost considerations.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method can be used to assist managers in balancing cost and service objectives.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Centre </a:t>
            </a:r>
            <a:r>
              <a:rPr lang="en-US" dirty="0">
                <a:latin typeface="Times New Roman" panose="02020603050405020304" pitchFamily="18" charset="0"/>
                <a:cs typeface="Times New Roman" panose="02020603050405020304" pitchFamily="18" charset="0"/>
              </a:rPr>
              <a:t>of gravity method takes into account the locations of plants and markets, the volume of goods moved, and transportation costs in arriving at the best location for a single intermediate warehouse.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Centre </a:t>
            </a:r>
            <a:r>
              <a:rPr lang="en-US" dirty="0">
                <a:latin typeface="Times New Roman" panose="02020603050405020304" pitchFamily="18" charset="0"/>
                <a:cs typeface="Times New Roman" panose="02020603050405020304" pitchFamily="18" charset="0"/>
              </a:rPr>
              <a:t>of gravity is defined to be the location that minimizes the weighted distance between the warehouse and its supply and distribution points, where the distance is weighted by the number of tones supplied or consumed.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first step in this procedure is to place the locations on a coordinate system.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origin of the coordinate system and scale used are arbitrary, just as long as the relative distances are correctly represented. </a:t>
            </a:r>
            <a:r>
              <a:rPr lang="en-US" dirty="0" smtClean="0">
                <a:latin typeface="Times New Roman" panose="02020603050405020304" pitchFamily="18" charset="0"/>
                <a:cs typeface="Times New Roman" panose="02020603050405020304" pitchFamily="18" charset="0"/>
              </a:rPr>
              <a:t>The Centre </a:t>
            </a:r>
            <a:r>
              <a:rPr lang="en-US" dirty="0">
                <a:latin typeface="Times New Roman" panose="02020603050405020304" pitchFamily="18" charset="0"/>
                <a:cs typeface="Times New Roman" panose="02020603050405020304" pitchFamily="18" charset="0"/>
              </a:rPr>
              <a:t>of gravity is determined by the formula.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78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505" y="273132"/>
            <a:ext cx="11697194" cy="6329549"/>
          </a:xfrm>
        </p:spPr>
        <p:txBody>
          <a:bodyPr/>
          <a:lstStyle/>
          <a:p>
            <a:r>
              <a:rPr lang="en-US" dirty="0" smtClean="0"/>
              <a:t>Cx= Sum of (Dix.Wt)/sum of Wt)</a:t>
            </a:r>
          </a:p>
          <a:p>
            <a:pPr marL="0" indent="0">
              <a:buNone/>
            </a:pPr>
            <a:r>
              <a:rPr lang="en-US" dirty="0"/>
              <a:t> </a:t>
            </a:r>
            <a:r>
              <a:rPr lang="en-US" dirty="0" smtClean="0"/>
              <a:t>   Cy= Sum of ( Diy.Wt)/sum of Wt)</a:t>
            </a:r>
          </a:p>
          <a:p>
            <a:pPr marL="0" indent="0">
              <a:buNone/>
            </a:pPr>
            <a:r>
              <a:rPr lang="en-US" dirty="0"/>
              <a:t>where </a:t>
            </a:r>
            <a:endParaRPr lang="en-US" dirty="0" smtClean="0"/>
          </a:p>
          <a:p>
            <a:pPr marL="0" indent="0">
              <a:buNone/>
            </a:pPr>
            <a:r>
              <a:rPr lang="en-US" dirty="0" smtClean="0"/>
              <a:t>Cx </a:t>
            </a:r>
            <a:r>
              <a:rPr lang="en-US" dirty="0"/>
              <a:t>= x-coordinate of the centre of gravity </a:t>
            </a:r>
            <a:endParaRPr lang="en-US" dirty="0" smtClean="0"/>
          </a:p>
          <a:p>
            <a:pPr marL="0" indent="0">
              <a:buNone/>
            </a:pPr>
            <a:r>
              <a:rPr lang="en-US" dirty="0" smtClean="0"/>
              <a:t>Cy </a:t>
            </a:r>
            <a:r>
              <a:rPr lang="en-US" dirty="0"/>
              <a:t>= y-coordinate of the centre of gravity </a:t>
            </a:r>
            <a:endParaRPr lang="en-US" dirty="0" smtClean="0"/>
          </a:p>
          <a:p>
            <a:pPr marL="0" indent="0">
              <a:buNone/>
            </a:pPr>
            <a:r>
              <a:rPr lang="en-US" dirty="0" smtClean="0"/>
              <a:t>Dix </a:t>
            </a:r>
            <a:r>
              <a:rPr lang="en-US" dirty="0"/>
              <a:t>= x-coordinate of location </a:t>
            </a:r>
            <a:r>
              <a:rPr lang="en-US" dirty="0" err="1"/>
              <a:t>i</a:t>
            </a:r>
            <a:endParaRPr lang="en-US" dirty="0" smtClean="0"/>
          </a:p>
          <a:p>
            <a:pPr marL="0" indent="0">
              <a:buNone/>
            </a:pPr>
            <a:r>
              <a:rPr lang="en-US" dirty="0" smtClean="0"/>
              <a:t> </a:t>
            </a:r>
            <a:r>
              <a:rPr lang="en-US" dirty="0" err="1"/>
              <a:t>Diy</a:t>
            </a:r>
            <a:r>
              <a:rPr lang="en-US" dirty="0"/>
              <a:t> = y-coordinate of location </a:t>
            </a:r>
            <a:r>
              <a:rPr lang="en-US" dirty="0" err="1"/>
              <a:t>i</a:t>
            </a:r>
            <a:endParaRPr lang="en-IN" dirty="0"/>
          </a:p>
        </p:txBody>
      </p:sp>
    </p:spTree>
    <p:extLst>
      <p:ext uri="{BB962C8B-B14F-4D97-AF65-F5344CB8AC3E}">
        <p14:creationId xmlns:p14="http://schemas.microsoft.com/office/powerpoint/2010/main" val="19975324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507" y="249382"/>
            <a:ext cx="11412188" cy="6317673"/>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Illustration </a:t>
            </a:r>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new Health-care facility is targeted to serve seven census tracts in Delhi. The table given below shows the coordinates for the centre of each census tract, along with the projected populations, measured in thousands. Customers will travel from the seven census tract centres to the new facility when they need health-care. Two locations being considered for the new facility are at (5.5, 4.5) and (7, 2), which are the centres of census tracts C and F. Details of seven census tract centres, coordinate distances along with the population for each centre are given below. Find the target area’s centre of gravity for the Health-care medical facility</a:t>
            </a:r>
            <a:r>
              <a:rPr lang="en-US" sz="2000" dirty="0" smtClean="0">
                <a:latin typeface="Times New Roman" panose="02020603050405020304" pitchFamily="18" charset="0"/>
                <a:cs typeface="Times New Roman" panose="02020603050405020304" pitchFamily="18" charset="0"/>
              </a:rPr>
              <a:t>.</a:t>
            </a:r>
          </a:p>
          <a:p>
            <a:pPr marL="0" indent="0" algn="just">
              <a:buNone/>
            </a:pPr>
            <a:endParaRPr lang="en-IN" sz="20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663089873"/>
              </p:ext>
            </p:extLst>
          </p:nvPr>
        </p:nvGraphicFramePr>
        <p:xfrm>
          <a:off x="2032000" y="2327564"/>
          <a:ext cx="8128000" cy="4346368"/>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914822018"/>
                    </a:ext>
                  </a:extLst>
                </a:gridCol>
                <a:gridCol w="2032000">
                  <a:extLst>
                    <a:ext uri="{9D8B030D-6E8A-4147-A177-3AD203B41FA5}">
                      <a16:colId xmlns:a16="http://schemas.microsoft.com/office/drawing/2014/main" val="2833957200"/>
                    </a:ext>
                  </a:extLst>
                </a:gridCol>
                <a:gridCol w="2032000">
                  <a:extLst>
                    <a:ext uri="{9D8B030D-6E8A-4147-A177-3AD203B41FA5}">
                      <a16:colId xmlns:a16="http://schemas.microsoft.com/office/drawing/2014/main" val="4138939621"/>
                    </a:ext>
                  </a:extLst>
                </a:gridCol>
                <a:gridCol w="2032000">
                  <a:extLst>
                    <a:ext uri="{9D8B030D-6E8A-4147-A177-3AD203B41FA5}">
                      <a16:colId xmlns:a16="http://schemas.microsoft.com/office/drawing/2014/main" val="2739259357"/>
                    </a:ext>
                  </a:extLst>
                </a:gridCol>
              </a:tblGrid>
              <a:tr h="543296">
                <a:tc>
                  <a:txBody>
                    <a:bodyPr/>
                    <a:lstStyle/>
                    <a:p>
                      <a:r>
                        <a:rPr lang="en-US" dirty="0" smtClean="0"/>
                        <a:t>Sr.</a:t>
                      </a:r>
                      <a:r>
                        <a:rPr lang="en-US" baseline="0" dirty="0" smtClean="0"/>
                        <a:t> No.</a:t>
                      </a:r>
                      <a:endParaRPr lang="en-IN" dirty="0"/>
                    </a:p>
                  </a:txBody>
                  <a:tcPr/>
                </a:tc>
                <a:tc>
                  <a:txBody>
                    <a:bodyPr/>
                    <a:lstStyle/>
                    <a:p>
                      <a:r>
                        <a:rPr lang="en-US" dirty="0" smtClean="0"/>
                        <a:t>Census Tract</a:t>
                      </a:r>
                      <a:endParaRPr lang="en-IN" dirty="0"/>
                    </a:p>
                  </a:txBody>
                  <a:tcPr/>
                </a:tc>
                <a:tc>
                  <a:txBody>
                    <a:bodyPr/>
                    <a:lstStyle/>
                    <a:p>
                      <a:r>
                        <a:rPr lang="en-US" dirty="0" smtClean="0"/>
                        <a:t>( x, y) </a:t>
                      </a:r>
                      <a:endParaRPr lang="en-IN" dirty="0"/>
                    </a:p>
                  </a:txBody>
                  <a:tcPr/>
                </a:tc>
                <a:tc>
                  <a:txBody>
                    <a:bodyPr/>
                    <a:lstStyle/>
                    <a:p>
                      <a:r>
                        <a:rPr lang="en-US" dirty="0" smtClean="0"/>
                        <a:t>Population (I)</a:t>
                      </a:r>
                      <a:endParaRPr lang="en-IN" dirty="0"/>
                    </a:p>
                  </a:txBody>
                  <a:tcPr/>
                </a:tc>
                <a:extLst>
                  <a:ext uri="{0D108BD9-81ED-4DB2-BD59-A6C34878D82A}">
                    <a16:rowId xmlns:a16="http://schemas.microsoft.com/office/drawing/2014/main" val="2261986422"/>
                  </a:ext>
                </a:extLst>
              </a:tr>
              <a:tr h="543296">
                <a:tc>
                  <a:txBody>
                    <a:bodyPr/>
                    <a:lstStyle/>
                    <a:p>
                      <a:r>
                        <a:rPr lang="en-US" dirty="0" smtClean="0"/>
                        <a:t>1</a:t>
                      </a:r>
                      <a:endParaRPr lang="en-IN" dirty="0"/>
                    </a:p>
                  </a:txBody>
                  <a:tcPr/>
                </a:tc>
                <a:tc>
                  <a:txBody>
                    <a:bodyPr/>
                    <a:lstStyle/>
                    <a:p>
                      <a:r>
                        <a:rPr lang="en-US" dirty="0" smtClean="0"/>
                        <a:t>A</a:t>
                      </a:r>
                      <a:endParaRPr lang="en-IN" dirty="0"/>
                    </a:p>
                  </a:txBody>
                  <a:tcPr/>
                </a:tc>
                <a:tc>
                  <a:txBody>
                    <a:bodyPr/>
                    <a:lstStyle/>
                    <a:p>
                      <a:r>
                        <a:rPr lang="en-US" dirty="0" smtClean="0"/>
                        <a:t>( 2.5, 4.5)</a:t>
                      </a:r>
                      <a:endParaRPr lang="en-IN" dirty="0"/>
                    </a:p>
                  </a:txBody>
                  <a:tcPr/>
                </a:tc>
                <a:tc>
                  <a:txBody>
                    <a:bodyPr/>
                    <a:lstStyle/>
                    <a:p>
                      <a:r>
                        <a:rPr lang="en-US" dirty="0" smtClean="0"/>
                        <a:t>2</a:t>
                      </a:r>
                      <a:endParaRPr lang="en-IN" dirty="0"/>
                    </a:p>
                  </a:txBody>
                  <a:tcPr/>
                </a:tc>
                <a:extLst>
                  <a:ext uri="{0D108BD9-81ED-4DB2-BD59-A6C34878D82A}">
                    <a16:rowId xmlns:a16="http://schemas.microsoft.com/office/drawing/2014/main" val="3189530565"/>
                  </a:ext>
                </a:extLst>
              </a:tr>
              <a:tr h="543296">
                <a:tc>
                  <a:txBody>
                    <a:bodyPr/>
                    <a:lstStyle/>
                    <a:p>
                      <a:r>
                        <a:rPr lang="en-US" dirty="0" smtClean="0"/>
                        <a:t>2</a:t>
                      </a:r>
                      <a:endParaRPr lang="en-IN" dirty="0"/>
                    </a:p>
                  </a:txBody>
                  <a:tcPr/>
                </a:tc>
                <a:tc>
                  <a:txBody>
                    <a:bodyPr/>
                    <a:lstStyle/>
                    <a:p>
                      <a:r>
                        <a:rPr lang="en-US" dirty="0" smtClean="0"/>
                        <a:t>B</a:t>
                      </a:r>
                      <a:endParaRPr lang="en-IN" dirty="0"/>
                    </a:p>
                  </a:txBody>
                  <a:tcPr/>
                </a:tc>
                <a:tc>
                  <a:txBody>
                    <a:bodyPr/>
                    <a:lstStyle/>
                    <a:p>
                      <a:r>
                        <a:rPr lang="en-US" dirty="0" smtClean="0"/>
                        <a:t>(2.5,</a:t>
                      </a:r>
                      <a:r>
                        <a:rPr lang="en-US" baseline="0" dirty="0" smtClean="0"/>
                        <a:t> 2.5)</a:t>
                      </a:r>
                      <a:endParaRPr lang="en-IN" dirty="0"/>
                    </a:p>
                  </a:txBody>
                  <a:tcPr/>
                </a:tc>
                <a:tc>
                  <a:txBody>
                    <a:bodyPr/>
                    <a:lstStyle/>
                    <a:p>
                      <a:r>
                        <a:rPr lang="en-US" dirty="0" smtClean="0"/>
                        <a:t>5</a:t>
                      </a:r>
                      <a:endParaRPr lang="en-IN" dirty="0"/>
                    </a:p>
                  </a:txBody>
                  <a:tcPr/>
                </a:tc>
                <a:extLst>
                  <a:ext uri="{0D108BD9-81ED-4DB2-BD59-A6C34878D82A}">
                    <a16:rowId xmlns:a16="http://schemas.microsoft.com/office/drawing/2014/main" val="1222871123"/>
                  </a:ext>
                </a:extLst>
              </a:tr>
              <a:tr h="543296">
                <a:tc>
                  <a:txBody>
                    <a:bodyPr/>
                    <a:lstStyle/>
                    <a:p>
                      <a:r>
                        <a:rPr lang="en-US" dirty="0" smtClean="0"/>
                        <a:t>3</a:t>
                      </a:r>
                      <a:endParaRPr lang="en-IN" dirty="0"/>
                    </a:p>
                  </a:txBody>
                  <a:tcPr/>
                </a:tc>
                <a:tc>
                  <a:txBody>
                    <a:bodyPr/>
                    <a:lstStyle/>
                    <a:p>
                      <a:r>
                        <a:rPr lang="en-US" dirty="0" smtClean="0"/>
                        <a:t>C</a:t>
                      </a:r>
                      <a:endParaRPr lang="en-IN" dirty="0"/>
                    </a:p>
                  </a:txBody>
                  <a:tcPr/>
                </a:tc>
                <a:tc>
                  <a:txBody>
                    <a:bodyPr/>
                    <a:lstStyle/>
                    <a:p>
                      <a:r>
                        <a:rPr lang="en-US" dirty="0" smtClean="0"/>
                        <a:t>( 5.5, 4.5)</a:t>
                      </a:r>
                      <a:endParaRPr lang="en-IN" dirty="0"/>
                    </a:p>
                  </a:txBody>
                  <a:tcPr/>
                </a:tc>
                <a:tc>
                  <a:txBody>
                    <a:bodyPr/>
                    <a:lstStyle/>
                    <a:p>
                      <a:r>
                        <a:rPr lang="en-US" dirty="0" smtClean="0"/>
                        <a:t>10</a:t>
                      </a:r>
                      <a:endParaRPr lang="en-IN" dirty="0"/>
                    </a:p>
                  </a:txBody>
                  <a:tcPr/>
                </a:tc>
                <a:extLst>
                  <a:ext uri="{0D108BD9-81ED-4DB2-BD59-A6C34878D82A}">
                    <a16:rowId xmlns:a16="http://schemas.microsoft.com/office/drawing/2014/main" val="874103758"/>
                  </a:ext>
                </a:extLst>
              </a:tr>
              <a:tr h="543296">
                <a:tc>
                  <a:txBody>
                    <a:bodyPr/>
                    <a:lstStyle/>
                    <a:p>
                      <a:r>
                        <a:rPr lang="en-US" dirty="0" smtClean="0"/>
                        <a:t>4</a:t>
                      </a:r>
                      <a:endParaRPr lang="en-IN" dirty="0"/>
                    </a:p>
                  </a:txBody>
                  <a:tcPr/>
                </a:tc>
                <a:tc>
                  <a:txBody>
                    <a:bodyPr/>
                    <a:lstStyle/>
                    <a:p>
                      <a:r>
                        <a:rPr lang="en-US" dirty="0" smtClean="0"/>
                        <a:t>D</a:t>
                      </a:r>
                      <a:endParaRPr lang="en-IN" dirty="0"/>
                    </a:p>
                  </a:txBody>
                  <a:tcPr/>
                </a:tc>
                <a:tc>
                  <a:txBody>
                    <a:bodyPr/>
                    <a:lstStyle/>
                    <a:p>
                      <a:r>
                        <a:rPr lang="en-US" dirty="0" smtClean="0"/>
                        <a:t>( 5,2)</a:t>
                      </a:r>
                      <a:endParaRPr lang="en-IN" dirty="0"/>
                    </a:p>
                  </a:txBody>
                  <a:tcPr/>
                </a:tc>
                <a:tc>
                  <a:txBody>
                    <a:bodyPr/>
                    <a:lstStyle/>
                    <a:p>
                      <a:r>
                        <a:rPr lang="en-US" dirty="0" smtClean="0"/>
                        <a:t>7</a:t>
                      </a:r>
                      <a:endParaRPr lang="en-IN" dirty="0"/>
                    </a:p>
                  </a:txBody>
                  <a:tcPr/>
                </a:tc>
                <a:extLst>
                  <a:ext uri="{0D108BD9-81ED-4DB2-BD59-A6C34878D82A}">
                    <a16:rowId xmlns:a16="http://schemas.microsoft.com/office/drawing/2014/main" val="943845720"/>
                  </a:ext>
                </a:extLst>
              </a:tr>
              <a:tr h="543296">
                <a:tc>
                  <a:txBody>
                    <a:bodyPr/>
                    <a:lstStyle/>
                    <a:p>
                      <a:r>
                        <a:rPr lang="en-US" dirty="0" smtClean="0"/>
                        <a:t>5</a:t>
                      </a:r>
                      <a:endParaRPr lang="en-IN" dirty="0"/>
                    </a:p>
                  </a:txBody>
                  <a:tcPr/>
                </a:tc>
                <a:tc>
                  <a:txBody>
                    <a:bodyPr/>
                    <a:lstStyle/>
                    <a:p>
                      <a:r>
                        <a:rPr lang="en-US" dirty="0" smtClean="0"/>
                        <a:t>E</a:t>
                      </a:r>
                      <a:endParaRPr lang="en-IN" dirty="0"/>
                    </a:p>
                  </a:txBody>
                  <a:tcPr/>
                </a:tc>
                <a:tc>
                  <a:txBody>
                    <a:bodyPr/>
                    <a:lstStyle/>
                    <a:p>
                      <a:r>
                        <a:rPr lang="en-US" dirty="0" smtClean="0"/>
                        <a:t>( 8,5)</a:t>
                      </a:r>
                      <a:endParaRPr lang="en-IN" dirty="0"/>
                    </a:p>
                  </a:txBody>
                  <a:tcPr/>
                </a:tc>
                <a:tc>
                  <a:txBody>
                    <a:bodyPr/>
                    <a:lstStyle/>
                    <a:p>
                      <a:r>
                        <a:rPr lang="en-US" dirty="0" smtClean="0"/>
                        <a:t>10</a:t>
                      </a:r>
                      <a:endParaRPr lang="en-IN" dirty="0"/>
                    </a:p>
                  </a:txBody>
                  <a:tcPr/>
                </a:tc>
                <a:extLst>
                  <a:ext uri="{0D108BD9-81ED-4DB2-BD59-A6C34878D82A}">
                    <a16:rowId xmlns:a16="http://schemas.microsoft.com/office/drawing/2014/main" val="2965656637"/>
                  </a:ext>
                </a:extLst>
              </a:tr>
              <a:tr h="543296">
                <a:tc>
                  <a:txBody>
                    <a:bodyPr/>
                    <a:lstStyle/>
                    <a:p>
                      <a:r>
                        <a:rPr lang="en-US" dirty="0" smtClean="0"/>
                        <a:t>6</a:t>
                      </a:r>
                      <a:endParaRPr lang="en-IN" dirty="0"/>
                    </a:p>
                  </a:txBody>
                  <a:tcPr/>
                </a:tc>
                <a:tc>
                  <a:txBody>
                    <a:bodyPr/>
                    <a:lstStyle/>
                    <a:p>
                      <a:r>
                        <a:rPr lang="en-US" dirty="0" smtClean="0"/>
                        <a:t>F</a:t>
                      </a:r>
                      <a:endParaRPr lang="en-IN" dirty="0"/>
                    </a:p>
                  </a:txBody>
                  <a:tcPr/>
                </a:tc>
                <a:tc>
                  <a:txBody>
                    <a:bodyPr/>
                    <a:lstStyle/>
                    <a:p>
                      <a:r>
                        <a:rPr lang="en-US" dirty="0" smtClean="0"/>
                        <a:t>( 7, 2)</a:t>
                      </a:r>
                      <a:endParaRPr lang="en-IN" dirty="0"/>
                    </a:p>
                  </a:txBody>
                  <a:tcPr/>
                </a:tc>
                <a:tc>
                  <a:txBody>
                    <a:bodyPr/>
                    <a:lstStyle/>
                    <a:p>
                      <a:r>
                        <a:rPr lang="en-US" dirty="0" smtClean="0"/>
                        <a:t>20</a:t>
                      </a:r>
                      <a:endParaRPr lang="en-IN" dirty="0"/>
                    </a:p>
                  </a:txBody>
                  <a:tcPr/>
                </a:tc>
                <a:extLst>
                  <a:ext uri="{0D108BD9-81ED-4DB2-BD59-A6C34878D82A}">
                    <a16:rowId xmlns:a16="http://schemas.microsoft.com/office/drawing/2014/main" val="103159477"/>
                  </a:ext>
                </a:extLst>
              </a:tr>
              <a:tr h="543296">
                <a:tc>
                  <a:txBody>
                    <a:bodyPr/>
                    <a:lstStyle/>
                    <a:p>
                      <a:r>
                        <a:rPr lang="en-US" dirty="0" smtClean="0"/>
                        <a:t>7</a:t>
                      </a:r>
                      <a:endParaRPr lang="en-IN" dirty="0"/>
                    </a:p>
                  </a:txBody>
                  <a:tcPr/>
                </a:tc>
                <a:tc>
                  <a:txBody>
                    <a:bodyPr/>
                    <a:lstStyle/>
                    <a:p>
                      <a:r>
                        <a:rPr lang="en-US" dirty="0" smtClean="0"/>
                        <a:t>G</a:t>
                      </a:r>
                      <a:endParaRPr lang="en-IN" dirty="0"/>
                    </a:p>
                  </a:txBody>
                  <a:tcPr/>
                </a:tc>
                <a:tc>
                  <a:txBody>
                    <a:bodyPr/>
                    <a:lstStyle/>
                    <a:p>
                      <a:r>
                        <a:rPr lang="en-US" dirty="0" smtClean="0"/>
                        <a:t>( 9, 2.5)</a:t>
                      </a:r>
                      <a:endParaRPr lang="en-IN" dirty="0"/>
                    </a:p>
                  </a:txBody>
                  <a:tcPr/>
                </a:tc>
                <a:tc>
                  <a:txBody>
                    <a:bodyPr/>
                    <a:lstStyle/>
                    <a:p>
                      <a:r>
                        <a:rPr lang="en-US" dirty="0" smtClean="0"/>
                        <a:t>14</a:t>
                      </a:r>
                      <a:endParaRPr lang="en-IN" dirty="0"/>
                    </a:p>
                  </a:txBody>
                  <a:tcPr/>
                </a:tc>
                <a:extLst>
                  <a:ext uri="{0D108BD9-81ED-4DB2-BD59-A6C34878D82A}">
                    <a16:rowId xmlns:a16="http://schemas.microsoft.com/office/drawing/2014/main" val="3539406709"/>
                  </a:ext>
                </a:extLst>
              </a:tr>
            </a:tbl>
          </a:graphicData>
        </a:graphic>
      </p:graphicFrame>
    </p:spTree>
    <p:extLst>
      <p:ext uri="{BB962C8B-B14F-4D97-AF65-F5344CB8AC3E}">
        <p14:creationId xmlns:p14="http://schemas.microsoft.com/office/powerpoint/2010/main" val="934394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129" y="190005"/>
            <a:ext cx="11697195" cy="6412676"/>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Solution: To calculate the centre of gravity, start with the following Facility location information, where population is given in thousands.</a:t>
            </a:r>
            <a:endParaRPr lang="en-IN" sz="24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278128037"/>
              </p:ext>
            </p:extLst>
          </p:nvPr>
        </p:nvGraphicFramePr>
        <p:xfrm>
          <a:off x="2032000" y="985650"/>
          <a:ext cx="8128002" cy="3815544"/>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522654347"/>
                    </a:ext>
                  </a:extLst>
                </a:gridCol>
                <a:gridCol w="1494091">
                  <a:extLst>
                    <a:ext uri="{9D8B030D-6E8A-4147-A177-3AD203B41FA5}">
                      <a16:colId xmlns:a16="http://schemas.microsoft.com/office/drawing/2014/main" val="611804780"/>
                    </a:ext>
                  </a:extLst>
                </a:gridCol>
                <a:gridCol w="1215243">
                  <a:extLst>
                    <a:ext uri="{9D8B030D-6E8A-4147-A177-3AD203B41FA5}">
                      <a16:colId xmlns:a16="http://schemas.microsoft.com/office/drawing/2014/main" val="2577051335"/>
                    </a:ext>
                  </a:extLst>
                </a:gridCol>
                <a:gridCol w="1409204">
                  <a:extLst>
                    <a:ext uri="{9D8B030D-6E8A-4147-A177-3AD203B41FA5}">
                      <a16:colId xmlns:a16="http://schemas.microsoft.com/office/drawing/2014/main" val="4281779746"/>
                    </a:ext>
                  </a:extLst>
                </a:gridCol>
                <a:gridCol w="1300130">
                  <a:extLst>
                    <a:ext uri="{9D8B030D-6E8A-4147-A177-3AD203B41FA5}">
                      <a16:colId xmlns:a16="http://schemas.microsoft.com/office/drawing/2014/main" val="1798357674"/>
                    </a:ext>
                  </a:extLst>
                </a:gridCol>
                <a:gridCol w="1354667">
                  <a:extLst>
                    <a:ext uri="{9D8B030D-6E8A-4147-A177-3AD203B41FA5}">
                      <a16:colId xmlns:a16="http://schemas.microsoft.com/office/drawing/2014/main" val="608386678"/>
                    </a:ext>
                  </a:extLst>
                </a:gridCol>
              </a:tblGrid>
              <a:tr h="396933">
                <a:tc>
                  <a:txBody>
                    <a:bodyPr/>
                    <a:lstStyle/>
                    <a:p>
                      <a:r>
                        <a:rPr lang="en-US" dirty="0" smtClean="0"/>
                        <a:t>Sr. No.</a:t>
                      </a:r>
                      <a:endParaRPr lang="en-IN" dirty="0"/>
                    </a:p>
                  </a:txBody>
                  <a:tcPr/>
                </a:tc>
                <a:tc>
                  <a:txBody>
                    <a:bodyPr/>
                    <a:lstStyle/>
                    <a:p>
                      <a:r>
                        <a:rPr lang="en-US" dirty="0" smtClean="0"/>
                        <a:t>Census Tract</a:t>
                      </a:r>
                      <a:endParaRPr lang="en-IN" dirty="0"/>
                    </a:p>
                  </a:txBody>
                  <a:tcPr/>
                </a:tc>
                <a:tc>
                  <a:txBody>
                    <a:bodyPr/>
                    <a:lstStyle/>
                    <a:p>
                      <a:r>
                        <a:rPr lang="en-US" dirty="0" smtClean="0"/>
                        <a:t>( x, y)</a:t>
                      </a:r>
                      <a:endParaRPr lang="en-IN" dirty="0"/>
                    </a:p>
                  </a:txBody>
                  <a:tcPr/>
                </a:tc>
                <a:tc>
                  <a:txBody>
                    <a:bodyPr/>
                    <a:lstStyle/>
                    <a:p>
                      <a:r>
                        <a:rPr lang="en-US" dirty="0" smtClean="0"/>
                        <a:t>Population(I)</a:t>
                      </a:r>
                      <a:endParaRPr lang="en-IN" dirty="0"/>
                    </a:p>
                  </a:txBody>
                  <a:tcPr/>
                </a:tc>
                <a:tc>
                  <a:txBody>
                    <a:bodyPr/>
                    <a:lstStyle/>
                    <a:p>
                      <a:r>
                        <a:rPr lang="en-US" dirty="0" smtClean="0"/>
                        <a:t>Lx</a:t>
                      </a:r>
                      <a:endParaRPr lang="en-IN" dirty="0"/>
                    </a:p>
                  </a:txBody>
                  <a:tcPr/>
                </a:tc>
                <a:tc>
                  <a:txBody>
                    <a:bodyPr/>
                    <a:lstStyle/>
                    <a:p>
                      <a:r>
                        <a:rPr lang="en-US" dirty="0" smtClean="0"/>
                        <a:t>Ly</a:t>
                      </a:r>
                      <a:endParaRPr lang="en-IN" dirty="0"/>
                    </a:p>
                  </a:txBody>
                  <a:tcPr/>
                </a:tc>
                <a:extLst>
                  <a:ext uri="{0D108BD9-81ED-4DB2-BD59-A6C34878D82A}">
                    <a16:rowId xmlns:a16="http://schemas.microsoft.com/office/drawing/2014/main" val="1038214083"/>
                  </a:ext>
                </a:extLst>
              </a:tr>
              <a:tr h="396933">
                <a:tc>
                  <a:txBody>
                    <a:bodyPr/>
                    <a:lstStyle/>
                    <a:p>
                      <a:r>
                        <a:rPr lang="en-US" dirty="0" smtClean="0"/>
                        <a:t>1</a:t>
                      </a:r>
                      <a:endParaRPr lang="en-IN" dirty="0"/>
                    </a:p>
                  </a:txBody>
                  <a:tcPr/>
                </a:tc>
                <a:tc>
                  <a:txBody>
                    <a:bodyPr/>
                    <a:lstStyle/>
                    <a:p>
                      <a:r>
                        <a:rPr lang="en-US" dirty="0" smtClean="0"/>
                        <a:t>A</a:t>
                      </a:r>
                      <a:endParaRPr lang="en-IN" dirty="0"/>
                    </a:p>
                  </a:txBody>
                  <a:tcPr/>
                </a:tc>
                <a:tc>
                  <a:txBody>
                    <a:bodyPr/>
                    <a:lstStyle/>
                    <a:p>
                      <a:r>
                        <a:rPr lang="en-US" dirty="0" smtClean="0"/>
                        <a:t>( 2.5, 4.5)</a:t>
                      </a:r>
                      <a:endParaRPr lang="en-IN" dirty="0"/>
                    </a:p>
                  </a:txBody>
                  <a:tcPr/>
                </a:tc>
                <a:tc>
                  <a:txBody>
                    <a:bodyPr/>
                    <a:lstStyle/>
                    <a:p>
                      <a:r>
                        <a:rPr lang="en-US" dirty="0" smtClean="0"/>
                        <a:t>2</a:t>
                      </a:r>
                      <a:endParaRPr lang="en-IN" dirty="0"/>
                    </a:p>
                  </a:txBody>
                  <a:tcPr/>
                </a:tc>
                <a:tc>
                  <a:txBody>
                    <a:bodyPr/>
                    <a:lstStyle/>
                    <a:p>
                      <a:r>
                        <a:rPr lang="en-US" dirty="0" smtClean="0"/>
                        <a:t>5</a:t>
                      </a:r>
                      <a:endParaRPr lang="en-IN" dirty="0"/>
                    </a:p>
                  </a:txBody>
                  <a:tcPr/>
                </a:tc>
                <a:tc>
                  <a:txBody>
                    <a:bodyPr/>
                    <a:lstStyle/>
                    <a:p>
                      <a:r>
                        <a:rPr lang="en-US" dirty="0" smtClean="0"/>
                        <a:t>9</a:t>
                      </a:r>
                      <a:endParaRPr lang="en-IN" dirty="0"/>
                    </a:p>
                  </a:txBody>
                  <a:tcPr/>
                </a:tc>
                <a:extLst>
                  <a:ext uri="{0D108BD9-81ED-4DB2-BD59-A6C34878D82A}">
                    <a16:rowId xmlns:a16="http://schemas.microsoft.com/office/drawing/2014/main" val="1325589325"/>
                  </a:ext>
                </a:extLst>
              </a:tr>
              <a:tr h="396933">
                <a:tc>
                  <a:txBody>
                    <a:bodyPr/>
                    <a:lstStyle/>
                    <a:p>
                      <a:r>
                        <a:rPr lang="en-US" dirty="0" smtClean="0"/>
                        <a:t>2</a:t>
                      </a:r>
                      <a:endParaRPr lang="en-IN" dirty="0"/>
                    </a:p>
                  </a:txBody>
                  <a:tcPr/>
                </a:tc>
                <a:tc>
                  <a:txBody>
                    <a:bodyPr/>
                    <a:lstStyle/>
                    <a:p>
                      <a:r>
                        <a:rPr lang="en-US" dirty="0" smtClean="0"/>
                        <a:t>B</a:t>
                      </a:r>
                      <a:endParaRPr lang="en-IN" dirty="0"/>
                    </a:p>
                  </a:txBody>
                  <a:tcPr/>
                </a:tc>
                <a:tc>
                  <a:txBody>
                    <a:bodyPr/>
                    <a:lstStyle/>
                    <a:p>
                      <a:r>
                        <a:rPr lang="en-US" dirty="0" smtClean="0"/>
                        <a:t>(2.5,</a:t>
                      </a:r>
                      <a:r>
                        <a:rPr lang="en-US" baseline="0" dirty="0" smtClean="0"/>
                        <a:t> 2.5)</a:t>
                      </a:r>
                      <a:endParaRPr lang="en-IN" dirty="0"/>
                    </a:p>
                  </a:txBody>
                  <a:tcPr/>
                </a:tc>
                <a:tc>
                  <a:txBody>
                    <a:bodyPr/>
                    <a:lstStyle/>
                    <a:p>
                      <a:r>
                        <a:rPr lang="en-US" dirty="0" smtClean="0"/>
                        <a:t>5</a:t>
                      </a:r>
                      <a:endParaRPr lang="en-IN" dirty="0"/>
                    </a:p>
                  </a:txBody>
                  <a:tcPr/>
                </a:tc>
                <a:tc>
                  <a:txBody>
                    <a:bodyPr/>
                    <a:lstStyle/>
                    <a:p>
                      <a:r>
                        <a:rPr lang="en-US" dirty="0" smtClean="0"/>
                        <a:t>12.5</a:t>
                      </a:r>
                      <a:endParaRPr lang="en-IN" dirty="0"/>
                    </a:p>
                  </a:txBody>
                  <a:tcPr/>
                </a:tc>
                <a:tc>
                  <a:txBody>
                    <a:bodyPr/>
                    <a:lstStyle/>
                    <a:p>
                      <a:r>
                        <a:rPr lang="en-US" dirty="0" smtClean="0"/>
                        <a:t>12.5</a:t>
                      </a:r>
                      <a:endParaRPr lang="en-IN" dirty="0"/>
                    </a:p>
                  </a:txBody>
                  <a:tcPr/>
                </a:tc>
                <a:extLst>
                  <a:ext uri="{0D108BD9-81ED-4DB2-BD59-A6C34878D82A}">
                    <a16:rowId xmlns:a16="http://schemas.microsoft.com/office/drawing/2014/main" val="3762511950"/>
                  </a:ext>
                </a:extLst>
              </a:tr>
              <a:tr h="396933">
                <a:tc>
                  <a:txBody>
                    <a:bodyPr/>
                    <a:lstStyle/>
                    <a:p>
                      <a:r>
                        <a:rPr lang="en-US" dirty="0" smtClean="0"/>
                        <a:t>3</a:t>
                      </a:r>
                      <a:endParaRPr lang="en-IN" dirty="0"/>
                    </a:p>
                  </a:txBody>
                  <a:tcPr/>
                </a:tc>
                <a:tc>
                  <a:txBody>
                    <a:bodyPr/>
                    <a:lstStyle/>
                    <a:p>
                      <a:r>
                        <a:rPr lang="en-US" dirty="0" smtClean="0"/>
                        <a:t>C</a:t>
                      </a:r>
                      <a:endParaRPr lang="en-IN" dirty="0"/>
                    </a:p>
                  </a:txBody>
                  <a:tcPr/>
                </a:tc>
                <a:tc>
                  <a:txBody>
                    <a:bodyPr/>
                    <a:lstStyle/>
                    <a:p>
                      <a:r>
                        <a:rPr lang="en-US" dirty="0" smtClean="0"/>
                        <a:t>( 5.5, 4.5)</a:t>
                      </a:r>
                      <a:endParaRPr lang="en-IN" dirty="0"/>
                    </a:p>
                  </a:txBody>
                  <a:tcPr/>
                </a:tc>
                <a:tc>
                  <a:txBody>
                    <a:bodyPr/>
                    <a:lstStyle/>
                    <a:p>
                      <a:r>
                        <a:rPr lang="en-US" dirty="0" smtClean="0"/>
                        <a:t>10</a:t>
                      </a:r>
                      <a:endParaRPr lang="en-IN" dirty="0"/>
                    </a:p>
                  </a:txBody>
                  <a:tcPr/>
                </a:tc>
                <a:tc>
                  <a:txBody>
                    <a:bodyPr/>
                    <a:lstStyle/>
                    <a:p>
                      <a:r>
                        <a:rPr lang="en-US" dirty="0" smtClean="0"/>
                        <a:t>55</a:t>
                      </a:r>
                      <a:endParaRPr lang="en-IN" dirty="0"/>
                    </a:p>
                  </a:txBody>
                  <a:tcPr/>
                </a:tc>
                <a:tc>
                  <a:txBody>
                    <a:bodyPr/>
                    <a:lstStyle/>
                    <a:p>
                      <a:r>
                        <a:rPr lang="en-US" dirty="0" smtClean="0"/>
                        <a:t>45</a:t>
                      </a:r>
                      <a:endParaRPr lang="en-IN" dirty="0"/>
                    </a:p>
                  </a:txBody>
                  <a:tcPr/>
                </a:tc>
                <a:extLst>
                  <a:ext uri="{0D108BD9-81ED-4DB2-BD59-A6C34878D82A}">
                    <a16:rowId xmlns:a16="http://schemas.microsoft.com/office/drawing/2014/main" val="858683710"/>
                  </a:ext>
                </a:extLst>
              </a:tr>
              <a:tr h="396933">
                <a:tc>
                  <a:txBody>
                    <a:bodyPr/>
                    <a:lstStyle/>
                    <a:p>
                      <a:r>
                        <a:rPr lang="en-US" dirty="0" smtClean="0"/>
                        <a:t>4</a:t>
                      </a:r>
                      <a:endParaRPr lang="en-IN" dirty="0"/>
                    </a:p>
                  </a:txBody>
                  <a:tcPr/>
                </a:tc>
                <a:tc>
                  <a:txBody>
                    <a:bodyPr/>
                    <a:lstStyle/>
                    <a:p>
                      <a:r>
                        <a:rPr lang="en-US" dirty="0" smtClean="0"/>
                        <a:t>D</a:t>
                      </a:r>
                      <a:endParaRPr lang="en-IN" dirty="0"/>
                    </a:p>
                  </a:txBody>
                  <a:tcPr/>
                </a:tc>
                <a:tc>
                  <a:txBody>
                    <a:bodyPr/>
                    <a:lstStyle/>
                    <a:p>
                      <a:r>
                        <a:rPr lang="en-US" dirty="0" smtClean="0"/>
                        <a:t>( 5,2)</a:t>
                      </a:r>
                      <a:endParaRPr lang="en-IN" dirty="0"/>
                    </a:p>
                  </a:txBody>
                  <a:tcPr/>
                </a:tc>
                <a:tc>
                  <a:txBody>
                    <a:bodyPr/>
                    <a:lstStyle/>
                    <a:p>
                      <a:r>
                        <a:rPr lang="en-US" dirty="0" smtClean="0"/>
                        <a:t>7</a:t>
                      </a:r>
                      <a:endParaRPr lang="en-IN" dirty="0"/>
                    </a:p>
                  </a:txBody>
                  <a:tcPr/>
                </a:tc>
                <a:tc>
                  <a:txBody>
                    <a:bodyPr/>
                    <a:lstStyle/>
                    <a:p>
                      <a:r>
                        <a:rPr lang="en-US" dirty="0" smtClean="0"/>
                        <a:t>35</a:t>
                      </a:r>
                      <a:endParaRPr lang="en-IN" dirty="0"/>
                    </a:p>
                  </a:txBody>
                  <a:tcPr/>
                </a:tc>
                <a:tc>
                  <a:txBody>
                    <a:bodyPr/>
                    <a:lstStyle/>
                    <a:p>
                      <a:r>
                        <a:rPr lang="en-US" dirty="0" smtClean="0"/>
                        <a:t>14</a:t>
                      </a:r>
                      <a:endParaRPr lang="en-IN" dirty="0"/>
                    </a:p>
                  </a:txBody>
                  <a:tcPr/>
                </a:tc>
                <a:extLst>
                  <a:ext uri="{0D108BD9-81ED-4DB2-BD59-A6C34878D82A}">
                    <a16:rowId xmlns:a16="http://schemas.microsoft.com/office/drawing/2014/main" val="2148263650"/>
                  </a:ext>
                </a:extLst>
              </a:tr>
              <a:tr h="396933">
                <a:tc>
                  <a:txBody>
                    <a:bodyPr/>
                    <a:lstStyle/>
                    <a:p>
                      <a:r>
                        <a:rPr lang="en-US" dirty="0" smtClean="0"/>
                        <a:t>5</a:t>
                      </a:r>
                      <a:endParaRPr lang="en-IN" dirty="0"/>
                    </a:p>
                  </a:txBody>
                  <a:tcPr/>
                </a:tc>
                <a:tc>
                  <a:txBody>
                    <a:bodyPr/>
                    <a:lstStyle/>
                    <a:p>
                      <a:r>
                        <a:rPr lang="en-US" dirty="0" smtClean="0"/>
                        <a:t>E</a:t>
                      </a:r>
                      <a:endParaRPr lang="en-IN" dirty="0"/>
                    </a:p>
                  </a:txBody>
                  <a:tcPr/>
                </a:tc>
                <a:tc>
                  <a:txBody>
                    <a:bodyPr/>
                    <a:lstStyle/>
                    <a:p>
                      <a:r>
                        <a:rPr lang="en-US" dirty="0" smtClean="0"/>
                        <a:t>( 8,5)</a:t>
                      </a:r>
                      <a:endParaRPr lang="en-IN" dirty="0"/>
                    </a:p>
                  </a:txBody>
                  <a:tcPr/>
                </a:tc>
                <a:tc>
                  <a:txBody>
                    <a:bodyPr/>
                    <a:lstStyle/>
                    <a:p>
                      <a:r>
                        <a:rPr lang="en-US" dirty="0" smtClean="0"/>
                        <a:t>10</a:t>
                      </a:r>
                      <a:endParaRPr lang="en-IN" dirty="0"/>
                    </a:p>
                  </a:txBody>
                  <a:tcPr/>
                </a:tc>
                <a:tc>
                  <a:txBody>
                    <a:bodyPr/>
                    <a:lstStyle/>
                    <a:p>
                      <a:r>
                        <a:rPr lang="en-US" dirty="0" smtClean="0"/>
                        <a:t>80</a:t>
                      </a:r>
                      <a:endParaRPr lang="en-IN" dirty="0"/>
                    </a:p>
                  </a:txBody>
                  <a:tcPr/>
                </a:tc>
                <a:tc>
                  <a:txBody>
                    <a:bodyPr/>
                    <a:lstStyle/>
                    <a:p>
                      <a:r>
                        <a:rPr lang="en-US" dirty="0" smtClean="0"/>
                        <a:t>50</a:t>
                      </a:r>
                      <a:endParaRPr lang="en-IN" dirty="0"/>
                    </a:p>
                  </a:txBody>
                  <a:tcPr/>
                </a:tc>
                <a:extLst>
                  <a:ext uri="{0D108BD9-81ED-4DB2-BD59-A6C34878D82A}">
                    <a16:rowId xmlns:a16="http://schemas.microsoft.com/office/drawing/2014/main" val="1386383812"/>
                  </a:ext>
                </a:extLst>
              </a:tr>
              <a:tr h="396933">
                <a:tc>
                  <a:txBody>
                    <a:bodyPr/>
                    <a:lstStyle/>
                    <a:p>
                      <a:r>
                        <a:rPr lang="en-US" dirty="0" smtClean="0"/>
                        <a:t>6</a:t>
                      </a:r>
                      <a:endParaRPr lang="en-IN" dirty="0"/>
                    </a:p>
                  </a:txBody>
                  <a:tcPr/>
                </a:tc>
                <a:tc>
                  <a:txBody>
                    <a:bodyPr/>
                    <a:lstStyle/>
                    <a:p>
                      <a:r>
                        <a:rPr lang="en-US" dirty="0" smtClean="0"/>
                        <a:t>F</a:t>
                      </a:r>
                      <a:endParaRPr lang="en-IN" dirty="0"/>
                    </a:p>
                  </a:txBody>
                  <a:tcPr/>
                </a:tc>
                <a:tc>
                  <a:txBody>
                    <a:bodyPr/>
                    <a:lstStyle/>
                    <a:p>
                      <a:r>
                        <a:rPr lang="en-US" dirty="0" smtClean="0"/>
                        <a:t>( 7, 2)</a:t>
                      </a:r>
                      <a:endParaRPr lang="en-IN" dirty="0"/>
                    </a:p>
                  </a:txBody>
                  <a:tcPr/>
                </a:tc>
                <a:tc>
                  <a:txBody>
                    <a:bodyPr/>
                    <a:lstStyle/>
                    <a:p>
                      <a:r>
                        <a:rPr lang="en-US" dirty="0" smtClean="0"/>
                        <a:t>20</a:t>
                      </a:r>
                      <a:endParaRPr lang="en-IN" dirty="0"/>
                    </a:p>
                  </a:txBody>
                  <a:tcPr/>
                </a:tc>
                <a:tc>
                  <a:txBody>
                    <a:bodyPr/>
                    <a:lstStyle/>
                    <a:p>
                      <a:r>
                        <a:rPr lang="en-US" dirty="0" smtClean="0"/>
                        <a:t>140</a:t>
                      </a:r>
                      <a:endParaRPr lang="en-IN" dirty="0"/>
                    </a:p>
                  </a:txBody>
                  <a:tcPr/>
                </a:tc>
                <a:tc>
                  <a:txBody>
                    <a:bodyPr/>
                    <a:lstStyle/>
                    <a:p>
                      <a:r>
                        <a:rPr lang="en-US" dirty="0" smtClean="0"/>
                        <a:t>40</a:t>
                      </a:r>
                      <a:endParaRPr lang="en-IN" dirty="0"/>
                    </a:p>
                  </a:txBody>
                  <a:tcPr/>
                </a:tc>
                <a:extLst>
                  <a:ext uri="{0D108BD9-81ED-4DB2-BD59-A6C34878D82A}">
                    <a16:rowId xmlns:a16="http://schemas.microsoft.com/office/drawing/2014/main" val="2740803291"/>
                  </a:ext>
                </a:extLst>
              </a:tr>
              <a:tr h="396933">
                <a:tc>
                  <a:txBody>
                    <a:bodyPr/>
                    <a:lstStyle/>
                    <a:p>
                      <a:r>
                        <a:rPr lang="en-US" dirty="0" smtClean="0"/>
                        <a:t>7</a:t>
                      </a:r>
                      <a:endParaRPr lang="en-IN" dirty="0"/>
                    </a:p>
                  </a:txBody>
                  <a:tcPr/>
                </a:tc>
                <a:tc>
                  <a:txBody>
                    <a:bodyPr/>
                    <a:lstStyle/>
                    <a:p>
                      <a:r>
                        <a:rPr lang="en-US" dirty="0" smtClean="0"/>
                        <a:t>G</a:t>
                      </a:r>
                      <a:endParaRPr lang="en-IN" dirty="0"/>
                    </a:p>
                  </a:txBody>
                  <a:tcPr/>
                </a:tc>
                <a:tc>
                  <a:txBody>
                    <a:bodyPr/>
                    <a:lstStyle/>
                    <a:p>
                      <a:r>
                        <a:rPr lang="en-US" dirty="0" smtClean="0"/>
                        <a:t>( 9, 2.5)</a:t>
                      </a:r>
                      <a:endParaRPr lang="en-IN" dirty="0"/>
                    </a:p>
                  </a:txBody>
                  <a:tcPr/>
                </a:tc>
                <a:tc>
                  <a:txBody>
                    <a:bodyPr/>
                    <a:lstStyle/>
                    <a:p>
                      <a:r>
                        <a:rPr lang="en-US" dirty="0" smtClean="0"/>
                        <a:t>14</a:t>
                      </a:r>
                      <a:endParaRPr lang="en-IN" dirty="0"/>
                    </a:p>
                  </a:txBody>
                  <a:tcPr/>
                </a:tc>
                <a:tc>
                  <a:txBody>
                    <a:bodyPr/>
                    <a:lstStyle/>
                    <a:p>
                      <a:r>
                        <a:rPr lang="en-US" dirty="0" smtClean="0"/>
                        <a:t>126</a:t>
                      </a:r>
                      <a:endParaRPr lang="en-IN" dirty="0"/>
                    </a:p>
                  </a:txBody>
                  <a:tcPr/>
                </a:tc>
                <a:tc>
                  <a:txBody>
                    <a:bodyPr/>
                    <a:lstStyle/>
                    <a:p>
                      <a:r>
                        <a:rPr lang="en-US" dirty="0" smtClean="0"/>
                        <a:t>35</a:t>
                      </a:r>
                      <a:endParaRPr lang="en-IN" dirty="0"/>
                    </a:p>
                  </a:txBody>
                  <a:tcPr/>
                </a:tc>
                <a:extLst>
                  <a:ext uri="{0D108BD9-81ED-4DB2-BD59-A6C34878D82A}">
                    <a16:rowId xmlns:a16="http://schemas.microsoft.com/office/drawing/2014/main" val="2629761860"/>
                  </a:ext>
                </a:extLst>
              </a:tr>
              <a:tr h="396933">
                <a:tc>
                  <a:txBody>
                    <a:bodyPr/>
                    <a:lstStyle/>
                    <a:p>
                      <a:endParaRPr lang="en-IN"/>
                    </a:p>
                  </a:txBody>
                  <a:tcPr/>
                </a:tc>
                <a:tc>
                  <a:txBody>
                    <a:bodyPr/>
                    <a:lstStyle/>
                    <a:p>
                      <a:endParaRPr lang="en-IN"/>
                    </a:p>
                  </a:txBody>
                  <a:tcPr/>
                </a:tc>
                <a:tc>
                  <a:txBody>
                    <a:bodyPr/>
                    <a:lstStyle/>
                    <a:p>
                      <a:r>
                        <a:rPr lang="en-US" dirty="0" smtClean="0"/>
                        <a:t>Total</a:t>
                      </a:r>
                      <a:endParaRPr lang="en-IN" dirty="0"/>
                    </a:p>
                  </a:txBody>
                  <a:tcPr/>
                </a:tc>
                <a:tc>
                  <a:txBody>
                    <a:bodyPr/>
                    <a:lstStyle/>
                    <a:p>
                      <a:r>
                        <a:rPr lang="en-US" dirty="0" smtClean="0"/>
                        <a:t>98</a:t>
                      </a:r>
                      <a:endParaRPr lang="en-IN" dirty="0"/>
                    </a:p>
                  </a:txBody>
                  <a:tcPr/>
                </a:tc>
                <a:tc>
                  <a:txBody>
                    <a:bodyPr/>
                    <a:lstStyle/>
                    <a:p>
                      <a:r>
                        <a:rPr lang="en-US" dirty="0" smtClean="0"/>
                        <a:t>453.50</a:t>
                      </a:r>
                      <a:endParaRPr lang="en-IN" dirty="0"/>
                    </a:p>
                  </a:txBody>
                  <a:tcPr/>
                </a:tc>
                <a:tc>
                  <a:txBody>
                    <a:bodyPr/>
                    <a:lstStyle/>
                    <a:p>
                      <a:r>
                        <a:rPr lang="en-US" dirty="0" smtClean="0"/>
                        <a:t>205.50</a:t>
                      </a:r>
                      <a:endParaRPr lang="en-IN" dirty="0"/>
                    </a:p>
                  </a:txBody>
                  <a:tcPr/>
                </a:tc>
                <a:extLst>
                  <a:ext uri="{0D108BD9-81ED-4DB2-BD59-A6C34878D82A}">
                    <a16:rowId xmlns:a16="http://schemas.microsoft.com/office/drawing/2014/main" val="1123705599"/>
                  </a:ext>
                </a:extLst>
              </a:tr>
            </a:tbl>
          </a:graphicData>
        </a:graphic>
      </p:graphicFrame>
      <p:sp>
        <p:nvSpPr>
          <p:cNvPr id="5" name="TextBox 4"/>
          <p:cNvSpPr txBox="1"/>
          <p:nvPr/>
        </p:nvSpPr>
        <p:spPr>
          <a:xfrm>
            <a:off x="1508166" y="4892634"/>
            <a:ext cx="10474037"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Next we find Cx and Cy.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Cx </a:t>
            </a:r>
            <a:r>
              <a:rPr lang="en-US" sz="2000" dirty="0">
                <a:latin typeface="Times New Roman" panose="02020603050405020304" pitchFamily="18" charset="0"/>
                <a:cs typeface="Times New Roman" panose="02020603050405020304" pitchFamily="18" charset="0"/>
              </a:rPr>
              <a:t>= 453.5/68 = 6.67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Cy </a:t>
            </a:r>
            <a:r>
              <a:rPr lang="en-US" sz="2000" dirty="0">
                <a:latin typeface="Times New Roman" panose="02020603050405020304" pitchFamily="18" charset="0"/>
                <a:cs typeface="Times New Roman" panose="02020603050405020304" pitchFamily="18" charset="0"/>
              </a:rPr>
              <a:t>= 205.5/68 = 3.02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centre of gravity is (6.67, 3.02). Using the centre of gravity as starting point, managers can now search in its vicinity for the optimal location.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1777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5631" y="261256"/>
            <a:ext cx="11614068" cy="6353299"/>
          </a:xfrm>
        </p:spPr>
        <p:txBody>
          <a:bodyPr/>
          <a:lstStyle/>
          <a:p>
            <a:pPr marL="0" indent="0" algn="ctr">
              <a:buNone/>
            </a:pPr>
            <a:r>
              <a:rPr lang="en-US" dirty="0" smtClean="0">
                <a:latin typeface="Times New Roman" panose="02020603050405020304" pitchFamily="18" charset="0"/>
                <a:cs typeface="Times New Roman" panose="02020603050405020304" pitchFamily="18" charset="0"/>
              </a:rPr>
              <a:t>Question for self study</a:t>
            </a:r>
          </a:p>
          <a:p>
            <a:pPr marL="0" indent="0" algn="just">
              <a:buNone/>
            </a:pPr>
            <a:r>
              <a:rPr lang="en-US" dirty="0" smtClean="0">
                <a:latin typeface="Times New Roman" panose="02020603050405020304" pitchFamily="18" charset="0"/>
                <a:cs typeface="Times New Roman" panose="02020603050405020304" pitchFamily="18" charset="0"/>
              </a:rPr>
              <a:t>What are the factors considered while selecting Plant Location for </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1) Winery Plant</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2) IT Company</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122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5647"/>
            <a:ext cx="10515600" cy="5381316"/>
          </a:xfrm>
        </p:spPr>
        <p:txBody>
          <a:bodyPr>
            <a:normAutofit/>
          </a:bodyPr>
          <a:lstStyle/>
          <a:p>
            <a:endParaRPr lang="en-US" sz="4400" dirty="0" smtClean="0">
              <a:latin typeface="Algerian" panose="04020705040A02060702" pitchFamily="82" charset="0"/>
            </a:endParaRPr>
          </a:p>
          <a:p>
            <a:endParaRPr lang="en-US" sz="4400" dirty="0">
              <a:latin typeface="Algerian" panose="04020705040A02060702" pitchFamily="82" charset="0"/>
            </a:endParaRPr>
          </a:p>
          <a:p>
            <a:endParaRPr lang="en-US" sz="4400" dirty="0" smtClean="0">
              <a:latin typeface="Algerian" panose="04020705040A02060702" pitchFamily="82" charset="0"/>
            </a:endParaRPr>
          </a:p>
          <a:p>
            <a:pPr marL="0" indent="0">
              <a:buNone/>
            </a:pPr>
            <a:r>
              <a:rPr lang="en-US" sz="6600" dirty="0">
                <a:solidFill>
                  <a:srgbClr val="002060"/>
                </a:solidFill>
                <a:latin typeface="Algerian" panose="04020705040A02060702" pitchFamily="82" charset="0"/>
              </a:rPr>
              <a:t> </a:t>
            </a:r>
            <a:r>
              <a:rPr lang="en-US" sz="6600" dirty="0" smtClean="0">
                <a:solidFill>
                  <a:srgbClr val="002060"/>
                </a:solidFill>
                <a:latin typeface="Algerian" panose="04020705040A02060702" pitchFamily="82" charset="0"/>
              </a:rPr>
              <a:t>           THANK YOU</a:t>
            </a:r>
            <a:endParaRPr lang="en-IN" sz="6600" dirty="0">
              <a:solidFill>
                <a:srgbClr val="002060"/>
              </a:solidFill>
              <a:latin typeface="Algerian" panose="04020705040A02060702" pitchFamily="82" charset="0"/>
            </a:endParaRPr>
          </a:p>
        </p:txBody>
      </p:sp>
    </p:spTree>
    <p:extLst>
      <p:ext uri="{BB962C8B-B14F-4D97-AF65-F5344CB8AC3E}">
        <p14:creationId xmlns:p14="http://schemas.microsoft.com/office/powerpoint/2010/main" val="2349707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2467</TotalTime>
  <Words>2521</Words>
  <Application>Microsoft Office PowerPoint</Application>
  <PresentationFormat>Widescreen</PresentationFormat>
  <Paragraphs>430</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Algerian</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Management Overview</dc:title>
  <dc:creator>HP</dc:creator>
  <cp:lastModifiedBy>HP</cp:lastModifiedBy>
  <cp:revision>608</cp:revision>
  <dcterms:created xsi:type="dcterms:W3CDTF">2022-09-12T16:52:45Z</dcterms:created>
  <dcterms:modified xsi:type="dcterms:W3CDTF">2022-12-23T03:15:02Z</dcterms:modified>
</cp:coreProperties>
</file>