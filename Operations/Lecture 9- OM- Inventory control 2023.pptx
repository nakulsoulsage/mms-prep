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46"/>
  </p:notesMasterIdLst>
  <p:sldIdLst>
    <p:sldId id="293" r:id="rId2"/>
    <p:sldId id="321" r:id="rId3"/>
    <p:sldId id="332" r:id="rId4"/>
    <p:sldId id="334" r:id="rId5"/>
    <p:sldId id="335" r:id="rId6"/>
    <p:sldId id="257" r:id="rId7"/>
    <p:sldId id="258" r:id="rId8"/>
    <p:sldId id="259" r:id="rId9"/>
    <p:sldId id="260" r:id="rId10"/>
    <p:sldId id="261" r:id="rId11"/>
    <p:sldId id="318" r:id="rId12"/>
    <p:sldId id="305" r:id="rId13"/>
    <p:sldId id="319" r:id="rId14"/>
    <p:sldId id="339" r:id="rId15"/>
    <p:sldId id="340" r:id="rId16"/>
    <p:sldId id="342" r:id="rId17"/>
    <p:sldId id="341" r:id="rId18"/>
    <p:sldId id="343" r:id="rId19"/>
    <p:sldId id="344" r:id="rId20"/>
    <p:sldId id="345" r:id="rId21"/>
    <p:sldId id="312" r:id="rId22"/>
    <p:sldId id="364" r:id="rId23"/>
    <p:sldId id="337" r:id="rId24"/>
    <p:sldId id="322" r:id="rId25"/>
    <p:sldId id="338" r:id="rId26"/>
    <p:sldId id="346" r:id="rId27"/>
    <p:sldId id="347" r:id="rId28"/>
    <p:sldId id="348" r:id="rId29"/>
    <p:sldId id="349" r:id="rId30"/>
    <p:sldId id="350" r:id="rId31"/>
    <p:sldId id="351" r:id="rId32"/>
    <p:sldId id="352" r:id="rId33"/>
    <p:sldId id="353" r:id="rId34"/>
    <p:sldId id="354" r:id="rId35"/>
    <p:sldId id="355" r:id="rId36"/>
    <p:sldId id="356" r:id="rId37"/>
    <p:sldId id="357" r:id="rId38"/>
    <p:sldId id="358" r:id="rId39"/>
    <p:sldId id="359" r:id="rId40"/>
    <p:sldId id="360" r:id="rId41"/>
    <p:sldId id="361" r:id="rId42"/>
    <p:sldId id="362" r:id="rId43"/>
    <p:sldId id="363" r:id="rId44"/>
    <p:sldId id="33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11" autoAdjust="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55BABD-8F00-412C-8B2F-EDF975617C92}" type="datetimeFigureOut">
              <a:rPr lang="en-IN" smtClean="0"/>
              <a:t>30-10-2023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79E5DB-2DFD-4919-A98D-CC3D0C94556A}" type="slidenum">
              <a:rPr lang="en-IN" smtClean="0"/>
              <a:t>‹#›</a:t>
            </a:fld>
            <a:endParaRPr lang="en-IN"/>
          </a:p>
        </p:txBody>
      </p:sp>
    </p:spTree>
    <p:extLst>
      <p:ext uri="{BB962C8B-B14F-4D97-AF65-F5344CB8AC3E}">
        <p14:creationId xmlns:p14="http://schemas.microsoft.com/office/powerpoint/2010/main" val="2674237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30-10-2023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1888992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30-10-2023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229788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9E2ED03-6B94-4345-8944-CFCF63F6DEC1}" type="datetimeFigureOut">
              <a:rPr lang="en-IN" smtClean="0"/>
              <a:t>30-10-2023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4103904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9E2ED03-6B94-4345-8944-CFCF63F6DEC1}" type="datetimeFigureOut">
              <a:rPr lang="en-IN" smtClean="0"/>
              <a:t>30-10-2023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106231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9E2ED03-6B94-4345-8944-CFCF63F6DEC1}" type="datetimeFigureOut">
              <a:rPr lang="en-IN" smtClean="0"/>
              <a:t>30-10-2023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3622886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9E2ED03-6B94-4345-8944-CFCF63F6DEC1}" type="datetimeFigureOut">
              <a:rPr lang="en-IN" smtClean="0"/>
              <a:t>30-10-2023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93092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E2ED03-6B94-4345-8944-CFCF63F6DEC1}" type="datetimeFigureOut">
              <a:rPr lang="en-IN" smtClean="0"/>
              <a:t>30-10-2023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1648085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E2ED03-6B94-4345-8944-CFCF63F6DEC1}" type="datetimeFigureOut">
              <a:rPr lang="en-IN" smtClean="0"/>
              <a:t>30-10-2023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387890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E2ED03-6B94-4345-8944-CFCF63F6DEC1}" type="datetimeFigureOut">
              <a:rPr lang="en-IN" smtClean="0"/>
              <a:t>30-10-2023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566593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30-10-2023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455742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30-10-2023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064479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E2ED03-6B94-4345-8944-CFCF63F6DEC1}" type="datetimeFigureOut">
              <a:rPr lang="en-IN" smtClean="0"/>
              <a:t>30-10-2023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8C682-AE47-4C43-B1ED-12799A6AD0EB}" type="slidenum">
              <a:rPr lang="en-IN" smtClean="0"/>
              <a:t>‹#›</a:t>
            </a:fld>
            <a:endParaRPr lang="en-IN"/>
          </a:p>
        </p:txBody>
      </p:sp>
    </p:spTree>
    <p:extLst>
      <p:ext uri="{BB962C8B-B14F-4D97-AF65-F5344CB8AC3E}">
        <p14:creationId xmlns:p14="http://schemas.microsoft.com/office/powerpoint/2010/main" val="393854093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5003" y="237506"/>
            <a:ext cx="11792197" cy="6305798"/>
          </a:xfrm>
        </p:spPr>
        <p:txBody>
          <a:bodyPr>
            <a:normAutofit/>
          </a:bodyPr>
          <a:lstStyle/>
          <a:p>
            <a:endParaRPr lang="en-US" sz="6600" dirty="0" smtClean="0">
              <a:solidFill>
                <a:srgbClr val="0070C0"/>
              </a:solidFill>
              <a:latin typeface="Algerian" panose="04020705040A02060702" pitchFamily="82" charset="0"/>
              <a:cs typeface="Arial" panose="020B0604020202020204" pitchFamily="34" charset="0"/>
            </a:endParaRPr>
          </a:p>
          <a:p>
            <a:endParaRPr lang="en-US" sz="6600" dirty="0">
              <a:solidFill>
                <a:srgbClr val="0070C0"/>
              </a:solidFill>
              <a:latin typeface="Algerian" panose="04020705040A02060702" pitchFamily="82" charset="0"/>
              <a:cs typeface="Arial" panose="020B0604020202020204" pitchFamily="34" charset="0"/>
            </a:endParaRPr>
          </a:p>
          <a:p>
            <a:endParaRPr lang="en-US" sz="6600" dirty="0" smtClean="0">
              <a:solidFill>
                <a:srgbClr val="0070C0"/>
              </a:solidFill>
              <a:latin typeface="Algerian" panose="04020705040A02060702" pitchFamily="82" charset="0"/>
              <a:cs typeface="Arial" panose="020B0604020202020204" pitchFamily="34" charset="0"/>
            </a:endParaRPr>
          </a:p>
          <a:p>
            <a:r>
              <a:rPr lang="en-US" sz="6600" dirty="0" smtClean="0">
                <a:solidFill>
                  <a:srgbClr val="0070C0"/>
                </a:solidFill>
                <a:latin typeface="Algerian" panose="04020705040A02060702" pitchFamily="82" charset="0"/>
                <a:cs typeface="Arial" panose="020B0604020202020204" pitchFamily="34" charset="0"/>
              </a:rPr>
              <a:t>Inventory control</a:t>
            </a:r>
          </a:p>
          <a:p>
            <a:r>
              <a:rPr lang="en-US" sz="9600" dirty="0" smtClean="0">
                <a:solidFill>
                  <a:srgbClr val="0070C0"/>
                </a:solidFill>
                <a:latin typeface="Algerian" panose="04020705040A02060702" pitchFamily="82" charset="0"/>
                <a:cs typeface="Arial" panose="020B0604020202020204" pitchFamily="34" charset="0"/>
              </a:rPr>
              <a:t> </a:t>
            </a:r>
            <a:endParaRPr lang="en-US" sz="9600" dirty="0">
              <a:solidFill>
                <a:srgbClr val="0070C0"/>
              </a:solidFill>
              <a:latin typeface="Algerian" panose="04020705040A02060702" pitchFamily="82" charset="0"/>
              <a:cs typeface="Arial" panose="020B0604020202020204" pitchFamily="34" charset="0"/>
            </a:endParaRPr>
          </a:p>
        </p:txBody>
      </p:sp>
    </p:spTree>
    <p:extLst>
      <p:ext uri="{BB962C8B-B14F-4D97-AF65-F5344CB8AC3E}">
        <p14:creationId xmlns:p14="http://schemas.microsoft.com/office/powerpoint/2010/main" val="4235275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008" y="178130"/>
            <a:ext cx="11673444" cy="6495802"/>
          </a:xfrm>
        </p:spPr>
        <p:txBody>
          <a:bodyPr>
            <a:normAutofit/>
          </a:bodyPr>
          <a:lstStyle/>
          <a:p>
            <a:pPr marL="0" indent="0" algn="ctr">
              <a:buNone/>
            </a:pPr>
            <a:r>
              <a:rPr lang="en-US" sz="3600" dirty="0" smtClean="0">
                <a:solidFill>
                  <a:srgbClr val="C00000"/>
                </a:solidFill>
                <a:latin typeface="Times New Roman" panose="02020603050405020304" pitchFamily="18" charset="0"/>
                <a:cs typeface="Times New Roman" panose="02020603050405020304" pitchFamily="18" charset="0"/>
              </a:rPr>
              <a:t>Materials Management</a:t>
            </a:r>
          </a:p>
          <a:p>
            <a:pPr marL="0" indent="0" algn="ctr">
              <a:buNone/>
            </a:pPr>
            <a:endParaRPr lang="en-US" sz="3600" dirty="0" smtClean="0">
              <a:solidFill>
                <a:srgbClr val="002060"/>
              </a:solidFill>
              <a:latin typeface="Times New Roman" panose="02020603050405020304" pitchFamily="18" charset="0"/>
              <a:cs typeface="Times New Roman" panose="02020603050405020304" pitchFamily="18" charset="0"/>
            </a:endParaRPr>
          </a:p>
          <a:p>
            <a:pPr marL="342900" indent="-342900"/>
            <a:r>
              <a:rPr lang="en-US" dirty="0">
                <a:solidFill>
                  <a:srgbClr val="7030A0"/>
                </a:solidFill>
                <a:latin typeface="Times New Roman" panose="02020603050405020304" pitchFamily="18" charset="0"/>
                <a:cs typeface="Times New Roman" panose="02020603050405020304" pitchFamily="18" charset="0"/>
              </a:rPr>
              <a:t>Materials are key resource in an industrial </a:t>
            </a:r>
            <a:r>
              <a:rPr lang="en-US" dirty="0" smtClean="0">
                <a:solidFill>
                  <a:srgbClr val="7030A0"/>
                </a:solidFill>
                <a:latin typeface="Times New Roman" panose="02020603050405020304" pitchFamily="18" charset="0"/>
                <a:cs typeface="Times New Roman" panose="02020603050405020304" pitchFamily="18" charset="0"/>
              </a:rPr>
              <a:t>enterprise</a:t>
            </a:r>
          </a:p>
          <a:p>
            <a:pPr marL="0" indent="0">
              <a:buNone/>
            </a:pPr>
            <a:endParaRPr lang="en-US" dirty="0">
              <a:solidFill>
                <a:srgbClr val="7030A0"/>
              </a:solidFill>
              <a:latin typeface="Times New Roman" panose="02020603050405020304" pitchFamily="18" charset="0"/>
              <a:cs typeface="Times New Roman" panose="02020603050405020304" pitchFamily="18" charset="0"/>
            </a:endParaRPr>
          </a:p>
          <a:p>
            <a:pPr marL="342900" indent="-342900"/>
            <a:r>
              <a:rPr lang="en-US" dirty="0">
                <a:solidFill>
                  <a:srgbClr val="7030A0"/>
                </a:solidFill>
                <a:latin typeface="Times New Roman" panose="02020603050405020304" pitchFamily="18" charset="0"/>
                <a:cs typeface="Times New Roman" panose="02020603050405020304" pitchFamily="18" charset="0"/>
              </a:rPr>
              <a:t>Production is not possible without </a:t>
            </a:r>
            <a:r>
              <a:rPr lang="en-US" dirty="0" smtClean="0">
                <a:solidFill>
                  <a:srgbClr val="7030A0"/>
                </a:solidFill>
                <a:latin typeface="Times New Roman" panose="02020603050405020304" pitchFamily="18" charset="0"/>
                <a:cs typeface="Times New Roman" panose="02020603050405020304" pitchFamily="18" charset="0"/>
              </a:rPr>
              <a:t>materials</a:t>
            </a:r>
          </a:p>
          <a:p>
            <a:pPr marL="0" indent="0">
              <a:buNone/>
            </a:pPr>
            <a:endParaRPr lang="en-US" dirty="0">
              <a:solidFill>
                <a:srgbClr val="7030A0"/>
              </a:solidFill>
              <a:latin typeface="Times New Roman" panose="02020603050405020304" pitchFamily="18" charset="0"/>
              <a:cs typeface="Times New Roman" panose="02020603050405020304" pitchFamily="18" charset="0"/>
            </a:endParaRPr>
          </a:p>
          <a:p>
            <a:pPr marL="342900" indent="-342900"/>
            <a:r>
              <a:rPr lang="en-US" dirty="0">
                <a:solidFill>
                  <a:srgbClr val="7030A0"/>
                </a:solidFill>
                <a:latin typeface="Times New Roman" panose="02020603050405020304" pitchFamily="18" charset="0"/>
                <a:cs typeface="Times New Roman" panose="02020603050405020304" pitchFamily="18" charset="0"/>
              </a:rPr>
              <a:t>Materials cost is major constitute of the cost of the </a:t>
            </a:r>
            <a:r>
              <a:rPr lang="en-US" dirty="0" smtClean="0">
                <a:solidFill>
                  <a:srgbClr val="7030A0"/>
                </a:solidFill>
                <a:latin typeface="Times New Roman" panose="02020603050405020304" pitchFamily="18" charset="0"/>
                <a:cs typeface="Times New Roman" panose="02020603050405020304" pitchFamily="18" charset="0"/>
              </a:rPr>
              <a:t>product</a:t>
            </a:r>
          </a:p>
          <a:p>
            <a:pPr marL="0" indent="0">
              <a:buNone/>
            </a:pPr>
            <a:endParaRPr lang="en-US" dirty="0">
              <a:solidFill>
                <a:srgbClr val="7030A0"/>
              </a:solidFill>
              <a:latin typeface="Times New Roman" panose="02020603050405020304" pitchFamily="18" charset="0"/>
              <a:cs typeface="Times New Roman" panose="02020603050405020304" pitchFamily="18" charset="0"/>
            </a:endParaRPr>
          </a:p>
          <a:p>
            <a:pPr marL="342900" indent="-342900"/>
            <a:r>
              <a:rPr lang="en-US" dirty="0">
                <a:solidFill>
                  <a:srgbClr val="7030A0"/>
                </a:solidFill>
                <a:latin typeface="Times New Roman" panose="02020603050405020304" pitchFamily="18" charset="0"/>
                <a:cs typeface="Times New Roman" panose="02020603050405020304" pitchFamily="18" charset="0"/>
              </a:rPr>
              <a:t>Proper control over material purchase, storage, issue, movement and consumption is necessary. Materials management does this for </a:t>
            </a:r>
            <a:r>
              <a:rPr lang="en-US" dirty="0" smtClean="0">
                <a:solidFill>
                  <a:srgbClr val="7030A0"/>
                </a:solidFill>
                <a:latin typeface="Times New Roman" panose="02020603050405020304" pitchFamily="18" charset="0"/>
                <a:cs typeface="Times New Roman" panose="02020603050405020304" pitchFamily="18" charset="0"/>
              </a:rPr>
              <a:t>enterprise</a:t>
            </a:r>
          </a:p>
        </p:txBody>
      </p:sp>
    </p:spTree>
    <p:extLst>
      <p:ext uri="{BB962C8B-B14F-4D97-AF65-F5344CB8AC3E}">
        <p14:creationId xmlns:p14="http://schemas.microsoft.com/office/powerpoint/2010/main" val="4035843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9491" y="235528"/>
            <a:ext cx="10924309" cy="6206836"/>
          </a:xfrm>
        </p:spPr>
        <p:txBody>
          <a:bodyPr/>
          <a:lstStyle/>
          <a:p>
            <a:pPr marL="0" indent="0" algn="ctr">
              <a:buNone/>
            </a:pPr>
            <a:r>
              <a:rPr lang="en-IN" sz="3600" dirty="0" smtClean="0">
                <a:solidFill>
                  <a:srgbClr val="C00000"/>
                </a:solidFill>
                <a:latin typeface="Times New Roman" panose="02020603050405020304" pitchFamily="18" charset="0"/>
                <a:cs typeface="Times New Roman" panose="02020603050405020304" pitchFamily="18" charset="0"/>
              </a:rPr>
              <a:t>Materials Management</a:t>
            </a:r>
          </a:p>
          <a:p>
            <a:pPr marL="0" indent="0">
              <a:buNone/>
            </a:pPr>
            <a:r>
              <a:rPr lang="en-US" dirty="0">
                <a:latin typeface="Times New Roman" panose="02020603050405020304" pitchFamily="18" charset="0"/>
                <a:cs typeface="Times New Roman" panose="02020603050405020304" pitchFamily="18" charset="0"/>
              </a:rPr>
              <a:t>Material Management Definition</a:t>
            </a:r>
          </a:p>
          <a:p>
            <a:pPr marL="0" indent="0" algn="just">
              <a:buNone/>
            </a:pPr>
            <a:r>
              <a:rPr lang="en-US" dirty="0">
                <a:solidFill>
                  <a:srgbClr val="7030A0"/>
                </a:solidFill>
                <a:latin typeface="Times New Roman" panose="02020603050405020304" pitchFamily="18" charset="0"/>
                <a:cs typeface="Times New Roman" panose="02020603050405020304" pitchFamily="18" charset="0"/>
              </a:rPr>
              <a:t>“ Materials Management is the planning and control of the flow of materials that are part of inbound logistics system</a:t>
            </a:r>
            <a:r>
              <a:rPr lang="en-US" dirty="0" smtClean="0">
                <a:solidFill>
                  <a:srgbClr val="7030A0"/>
                </a:solidFill>
                <a:latin typeface="Times New Roman" panose="02020603050405020304" pitchFamily="18" charset="0"/>
                <a:cs typeface="Times New Roman" panose="02020603050405020304" pitchFamily="18" charset="0"/>
              </a:rPr>
              <a:t>”</a:t>
            </a:r>
            <a:endParaRPr lang="en-IN" dirty="0" smtClean="0">
              <a:solidFill>
                <a:srgbClr val="002060"/>
              </a:solidFill>
              <a:latin typeface="Times New Roman" panose="02020603050405020304" pitchFamily="18" charset="0"/>
              <a:cs typeface="Times New Roman" panose="02020603050405020304" pitchFamily="18" charset="0"/>
            </a:endParaRPr>
          </a:p>
          <a:p>
            <a:pPr marL="0" indent="0" algn="just">
              <a:buNone/>
            </a:pPr>
            <a:r>
              <a:rPr lang="en-IN" dirty="0" smtClean="0">
                <a:solidFill>
                  <a:srgbClr val="7030A0"/>
                </a:solidFill>
                <a:latin typeface="Times New Roman" panose="02020603050405020304" pitchFamily="18" charset="0"/>
                <a:cs typeface="Times New Roman" panose="02020603050405020304" pitchFamily="18" charset="0"/>
              </a:rPr>
              <a:t>- A total concept involving an organization structure unifying into single responsibility for the systematic flow and control of materials from identification of need through usage and according of the same.</a:t>
            </a:r>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3628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6364" y="277090"/>
            <a:ext cx="11007436" cy="6386945"/>
          </a:xfrm>
        </p:spPr>
        <p:txBody>
          <a:bodyPr/>
          <a:lstStyle/>
          <a:p>
            <a:pPr marL="0" indent="0" algn="ctr">
              <a:buNone/>
            </a:pPr>
            <a:r>
              <a:rPr lang="en-IN" sz="3600" dirty="0" smtClean="0">
                <a:solidFill>
                  <a:srgbClr val="C00000"/>
                </a:solidFill>
                <a:latin typeface="Times New Roman" panose="02020603050405020304" pitchFamily="18" charset="0"/>
                <a:cs typeface="Times New Roman" panose="02020603050405020304" pitchFamily="18" charset="0"/>
              </a:rPr>
              <a:t>Materials Management : Objectives</a:t>
            </a:r>
          </a:p>
          <a:p>
            <a:pPr algn="just"/>
            <a:r>
              <a:rPr lang="en-IN" dirty="0" smtClean="0">
                <a:solidFill>
                  <a:srgbClr val="7030A0"/>
                </a:solidFill>
                <a:latin typeface="Times New Roman" panose="02020603050405020304" pitchFamily="18" charset="0"/>
                <a:cs typeface="Times New Roman" panose="02020603050405020304" pitchFamily="18" charset="0"/>
              </a:rPr>
              <a:t>Support operational requirement</a:t>
            </a:r>
          </a:p>
          <a:p>
            <a:pPr marL="0" indent="0" algn="just">
              <a:buNone/>
            </a:pPr>
            <a:endParaRPr lang="en-IN" dirty="0" smtClean="0">
              <a:solidFill>
                <a:srgbClr val="7030A0"/>
              </a:solidFill>
              <a:latin typeface="Times New Roman" panose="02020603050405020304" pitchFamily="18" charset="0"/>
              <a:cs typeface="Times New Roman" panose="02020603050405020304" pitchFamily="18" charset="0"/>
            </a:endParaRPr>
          </a:p>
          <a:p>
            <a:pPr algn="just"/>
            <a:r>
              <a:rPr lang="en-IN" dirty="0" smtClean="0">
                <a:solidFill>
                  <a:srgbClr val="7030A0"/>
                </a:solidFill>
                <a:latin typeface="Times New Roman" panose="02020603050405020304" pitchFamily="18" charset="0"/>
                <a:cs typeface="Times New Roman" panose="02020603050405020304" pitchFamily="18" charset="0"/>
              </a:rPr>
              <a:t>Manage the material process efficiently and effectively</a:t>
            </a:r>
          </a:p>
          <a:p>
            <a:pPr marL="0" indent="0" algn="just">
              <a:buNone/>
            </a:pPr>
            <a:endParaRPr lang="en-IN" dirty="0" smtClean="0">
              <a:solidFill>
                <a:srgbClr val="7030A0"/>
              </a:solidFill>
              <a:latin typeface="Times New Roman" panose="02020603050405020304" pitchFamily="18" charset="0"/>
              <a:cs typeface="Times New Roman" panose="02020603050405020304" pitchFamily="18" charset="0"/>
            </a:endParaRPr>
          </a:p>
          <a:p>
            <a:pPr algn="just"/>
            <a:r>
              <a:rPr lang="en-IN" dirty="0" smtClean="0">
                <a:solidFill>
                  <a:srgbClr val="7030A0"/>
                </a:solidFill>
                <a:latin typeface="Times New Roman" panose="02020603050405020304" pitchFamily="18" charset="0"/>
                <a:cs typeface="Times New Roman" panose="02020603050405020304" pitchFamily="18" charset="0"/>
              </a:rPr>
              <a:t>Select, develop and maintain sources of supply</a:t>
            </a:r>
          </a:p>
          <a:p>
            <a:pPr marL="0" indent="0" algn="just">
              <a:buNone/>
            </a:pPr>
            <a:endParaRPr lang="en-IN" dirty="0" smtClean="0">
              <a:solidFill>
                <a:srgbClr val="7030A0"/>
              </a:solidFill>
              <a:latin typeface="Times New Roman" panose="02020603050405020304" pitchFamily="18" charset="0"/>
              <a:cs typeface="Times New Roman" panose="02020603050405020304" pitchFamily="18" charset="0"/>
            </a:endParaRPr>
          </a:p>
          <a:p>
            <a:pPr algn="just"/>
            <a:r>
              <a:rPr lang="en-IN" dirty="0" smtClean="0">
                <a:solidFill>
                  <a:srgbClr val="7030A0"/>
                </a:solidFill>
                <a:latin typeface="Times New Roman" panose="02020603050405020304" pitchFamily="18" charset="0"/>
                <a:cs typeface="Times New Roman" panose="02020603050405020304" pitchFamily="18" charset="0"/>
              </a:rPr>
              <a:t>Develop strong relationships with other groups</a:t>
            </a:r>
          </a:p>
          <a:p>
            <a:pPr marL="0" indent="0" algn="just">
              <a:buNone/>
            </a:pPr>
            <a:endParaRPr lang="en-IN" dirty="0" smtClean="0">
              <a:solidFill>
                <a:srgbClr val="7030A0"/>
              </a:solidFill>
              <a:latin typeface="Times New Roman" panose="02020603050405020304" pitchFamily="18" charset="0"/>
              <a:cs typeface="Times New Roman" panose="02020603050405020304" pitchFamily="18" charset="0"/>
            </a:endParaRPr>
          </a:p>
          <a:p>
            <a:pPr algn="just"/>
            <a:r>
              <a:rPr lang="en-IN" dirty="0" smtClean="0">
                <a:solidFill>
                  <a:srgbClr val="7030A0"/>
                </a:solidFill>
                <a:latin typeface="Times New Roman" panose="02020603050405020304" pitchFamily="18" charset="0"/>
                <a:cs typeface="Times New Roman" panose="02020603050405020304" pitchFamily="18" charset="0"/>
              </a:rPr>
              <a:t>Support organizational goals</a:t>
            </a:r>
          </a:p>
          <a:p>
            <a:pPr marL="0" indent="0" algn="just">
              <a:buNone/>
            </a:pPr>
            <a:endParaRPr lang="en-IN" dirty="0" smtClean="0">
              <a:solidFill>
                <a:srgbClr val="7030A0"/>
              </a:solidFill>
              <a:latin typeface="Times New Roman" panose="02020603050405020304" pitchFamily="18" charset="0"/>
              <a:cs typeface="Times New Roman" panose="02020603050405020304" pitchFamily="18" charset="0"/>
            </a:endParaRPr>
          </a:p>
          <a:p>
            <a:pPr algn="just"/>
            <a:r>
              <a:rPr lang="en-IN" dirty="0" smtClean="0">
                <a:solidFill>
                  <a:srgbClr val="7030A0"/>
                </a:solidFill>
                <a:latin typeface="Times New Roman" panose="02020603050405020304" pitchFamily="18" charset="0"/>
                <a:cs typeface="Times New Roman" panose="02020603050405020304" pitchFamily="18" charset="0"/>
              </a:rPr>
              <a:t>Develop integrated strategies that support organizational goals</a:t>
            </a:r>
          </a:p>
          <a:p>
            <a:pPr algn="just"/>
            <a:endParaRPr lang="en-IN" dirty="0" smtClean="0">
              <a:solidFill>
                <a:srgbClr val="002060"/>
              </a:solidFill>
            </a:endParaRPr>
          </a:p>
          <a:p>
            <a:endParaRPr lang="en-IN" dirty="0">
              <a:solidFill>
                <a:srgbClr val="002060"/>
              </a:solidFill>
            </a:endParaRPr>
          </a:p>
        </p:txBody>
      </p:sp>
    </p:spTree>
    <p:extLst>
      <p:ext uri="{BB962C8B-B14F-4D97-AF65-F5344CB8AC3E}">
        <p14:creationId xmlns:p14="http://schemas.microsoft.com/office/powerpoint/2010/main" val="3202079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982" y="96983"/>
            <a:ext cx="11984182" cy="6511635"/>
          </a:xfrm>
        </p:spPr>
        <p:txBody>
          <a:bodyPr>
            <a:normAutofit fontScale="77500" lnSpcReduction="20000"/>
          </a:bodyPr>
          <a:lstStyle/>
          <a:p>
            <a:pPr marL="0" indent="0" algn="ctr">
              <a:buNone/>
            </a:pPr>
            <a:r>
              <a:rPr lang="en-IN" sz="3600" dirty="0" smtClean="0">
                <a:solidFill>
                  <a:srgbClr val="C00000"/>
                </a:solidFill>
                <a:latin typeface="Times New Roman" panose="02020603050405020304" pitchFamily="18" charset="0"/>
                <a:cs typeface="Times New Roman" panose="02020603050405020304" pitchFamily="18" charset="0"/>
              </a:rPr>
              <a:t>Scope of Material Management</a:t>
            </a:r>
          </a:p>
          <a:p>
            <a:pPr algn="just"/>
            <a:r>
              <a:rPr lang="en-IN" sz="3400" dirty="0" smtClean="0">
                <a:solidFill>
                  <a:srgbClr val="7030A0"/>
                </a:solidFill>
                <a:latin typeface="Times New Roman" panose="02020603050405020304" pitchFamily="18" charset="0"/>
                <a:cs typeface="Times New Roman" panose="02020603050405020304" pitchFamily="18" charset="0"/>
              </a:rPr>
              <a:t>Material requirement planning and control</a:t>
            </a:r>
          </a:p>
          <a:p>
            <a:pPr marL="0" indent="0" algn="just">
              <a:buNone/>
            </a:pPr>
            <a:endParaRPr lang="en-IN" sz="3400" dirty="0" smtClean="0">
              <a:solidFill>
                <a:srgbClr val="7030A0"/>
              </a:solidFill>
              <a:latin typeface="Times New Roman" panose="02020603050405020304" pitchFamily="18" charset="0"/>
              <a:cs typeface="Times New Roman" panose="02020603050405020304" pitchFamily="18" charset="0"/>
            </a:endParaRPr>
          </a:p>
          <a:p>
            <a:pPr algn="just"/>
            <a:r>
              <a:rPr lang="en-IN" sz="3400" dirty="0" smtClean="0">
                <a:solidFill>
                  <a:srgbClr val="7030A0"/>
                </a:solidFill>
                <a:latin typeface="Times New Roman" panose="02020603050405020304" pitchFamily="18" charset="0"/>
                <a:cs typeface="Times New Roman" panose="02020603050405020304" pitchFamily="18" charset="0"/>
              </a:rPr>
              <a:t>Procurement</a:t>
            </a:r>
          </a:p>
          <a:p>
            <a:pPr marL="0" indent="0" algn="just">
              <a:buNone/>
            </a:pPr>
            <a:endParaRPr lang="en-IN" sz="3400" dirty="0" smtClean="0">
              <a:solidFill>
                <a:srgbClr val="7030A0"/>
              </a:solidFill>
              <a:latin typeface="Times New Roman" panose="02020603050405020304" pitchFamily="18" charset="0"/>
              <a:cs typeface="Times New Roman" panose="02020603050405020304" pitchFamily="18" charset="0"/>
            </a:endParaRPr>
          </a:p>
          <a:p>
            <a:pPr algn="just"/>
            <a:r>
              <a:rPr lang="en-IN" sz="3400" dirty="0" smtClean="0">
                <a:solidFill>
                  <a:srgbClr val="7030A0"/>
                </a:solidFill>
                <a:latin typeface="Times New Roman" panose="02020603050405020304" pitchFamily="18" charset="0"/>
                <a:cs typeface="Times New Roman" panose="02020603050405020304" pitchFamily="18" charset="0"/>
              </a:rPr>
              <a:t>Inventory Control</a:t>
            </a:r>
          </a:p>
          <a:p>
            <a:pPr marL="0" indent="0" algn="just">
              <a:buNone/>
            </a:pPr>
            <a:endParaRPr lang="en-IN" sz="3400" dirty="0" smtClean="0">
              <a:solidFill>
                <a:srgbClr val="7030A0"/>
              </a:solidFill>
              <a:latin typeface="Times New Roman" panose="02020603050405020304" pitchFamily="18" charset="0"/>
              <a:cs typeface="Times New Roman" panose="02020603050405020304" pitchFamily="18" charset="0"/>
            </a:endParaRPr>
          </a:p>
          <a:p>
            <a:pPr algn="just"/>
            <a:r>
              <a:rPr lang="en-IN" sz="3400" dirty="0" smtClean="0">
                <a:solidFill>
                  <a:srgbClr val="7030A0"/>
                </a:solidFill>
                <a:latin typeface="Times New Roman" panose="02020603050405020304" pitchFamily="18" charset="0"/>
                <a:cs typeface="Times New Roman" panose="02020603050405020304" pitchFamily="18" charset="0"/>
              </a:rPr>
              <a:t>Receiving and inspection</a:t>
            </a:r>
          </a:p>
          <a:p>
            <a:pPr marL="0" indent="0" algn="just">
              <a:buNone/>
            </a:pPr>
            <a:endParaRPr lang="en-IN" sz="3400" dirty="0" smtClean="0">
              <a:solidFill>
                <a:srgbClr val="7030A0"/>
              </a:solidFill>
              <a:latin typeface="Times New Roman" panose="02020603050405020304" pitchFamily="18" charset="0"/>
              <a:cs typeface="Times New Roman" panose="02020603050405020304" pitchFamily="18" charset="0"/>
            </a:endParaRPr>
          </a:p>
          <a:p>
            <a:pPr algn="just"/>
            <a:r>
              <a:rPr lang="en-IN" sz="3400" dirty="0" smtClean="0">
                <a:solidFill>
                  <a:srgbClr val="7030A0"/>
                </a:solidFill>
                <a:latin typeface="Times New Roman" panose="02020603050405020304" pitchFamily="18" charset="0"/>
                <a:cs typeface="Times New Roman" panose="02020603050405020304" pitchFamily="18" charset="0"/>
              </a:rPr>
              <a:t>Transportation</a:t>
            </a:r>
          </a:p>
          <a:p>
            <a:pPr marL="0" indent="0" algn="just">
              <a:buNone/>
            </a:pPr>
            <a:endParaRPr lang="en-IN" sz="3400" dirty="0" smtClean="0">
              <a:solidFill>
                <a:srgbClr val="7030A0"/>
              </a:solidFill>
              <a:latin typeface="Times New Roman" panose="02020603050405020304" pitchFamily="18" charset="0"/>
              <a:cs typeface="Times New Roman" panose="02020603050405020304" pitchFamily="18" charset="0"/>
            </a:endParaRPr>
          </a:p>
          <a:p>
            <a:pPr algn="just"/>
            <a:r>
              <a:rPr lang="en-IN" sz="3400" dirty="0" smtClean="0">
                <a:solidFill>
                  <a:srgbClr val="7030A0"/>
                </a:solidFill>
                <a:latin typeface="Times New Roman" panose="02020603050405020304" pitchFamily="18" charset="0"/>
                <a:cs typeface="Times New Roman" panose="02020603050405020304" pitchFamily="18" charset="0"/>
              </a:rPr>
              <a:t>Material handling</a:t>
            </a:r>
          </a:p>
          <a:p>
            <a:pPr marL="0" indent="0" algn="just">
              <a:buNone/>
            </a:pPr>
            <a:endParaRPr lang="en-IN" sz="3400" dirty="0" smtClean="0">
              <a:solidFill>
                <a:srgbClr val="7030A0"/>
              </a:solidFill>
              <a:latin typeface="Times New Roman" panose="02020603050405020304" pitchFamily="18" charset="0"/>
              <a:cs typeface="Times New Roman" panose="02020603050405020304" pitchFamily="18" charset="0"/>
            </a:endParaRPr>
          </a:p>
          <a:p>
            <a:pPr algn="just"/>
            <a:r>
              <a:rPr lang="en-IN" sz="3400" dirty="0" smtClean="0">
                <a:solidFill>
                  <a:srgbClr val="7030A0"/>
                </a:solidFill>
                <a:latin typeface="Times New Roman" panose="02020603050405020304" pitchFamily="18" charset="0"/>
                <a:cs typeface="Times New Roman" panose="02020603050405020304" pitchFamily="18" charset="0"/>
              </a:rPr>
              <a:t>Dispatch of material</a:t>
            </a:r>
          </a:p>
          <a:p>
            <a:pPr marL="0" indent="0" algn="just">
              <a:buNone/>
            </a:pPr>
            <a:endParaRPr lang="en-IN" sz="3400" dirty="0" smtClean="0">
              <a:solidFill>
                <a:srgbClr val="7030A0"/>
              </a:solidFill>
              <a:latin typeface="Times New Roman" panose="02020603050405020304" pitchFamily="18" charset="0"/>
              <a:cs typeface="Times New Roman" panose="02020603050405020304" pitchFamily="18" charset="0"/>
            </a:endParaRPr>
          </a:p>
          <a:p>
            <a:pPr algn="just"/>
            <a:r>
              <a:rPr lang="en-IN" sz="3400" dirty="0" smtClean="0">
                <a:solidFill>
                  <a:srgbClr val="7030A0"/>
                </a:solidFill>
                <a:latin typeface="Times New Roman" panose="02020603050405020304" pitchFamily="18" charset="0"/>
                <a:cs typeface="Times New Roman" panose="02020603050405020304" pitchFamily="18" charset="0"/>
              </a:rPr>
              <a:t>Value analysis</a:t>
            </a:r>
          </a:p>
          <a:p>
            <a:pPr marL="0" indent="0">
              <a:buNone/>
            </a:pPr>
            <a:endParaRPr lang="en-IN" dirty="0" smtClean="0"/>
          </a:p>
          <a:p>
            <a:endParaRPr lang="en-IN" dirty="0"/>
          </a:p>
        </p:txBody>
      </p:sp>
    </p:spTree>
    <p:extLst>
      <p:ext uri="{BB962C8B-B14F-4D97-AF65-F5344CB8AC3E}">
        <p14:creationId xmlns:p14="http://schemas.microsoft.com/office/powerpoint/2010/main" val="1866762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6363" y="290945"/>
            <a:ext cx="11526981" cy="6386946"/>
          </a:xfrm>
        </p:spPr>
        <p:txBody>
          <a:bodyPr>
            <a:normAutofit/>
          </a:bodyPr>
          <a:lstStyle/>
          <a:p>
            <a:pPr marL="0" indent="0" algn="ctr">
              <a:buNone/>
            </a:pPr>
            <a:r>
              <a:rPr lang="en-US" sz="3600" dirty="0" smtClean="0">
                <a:solidFill>
                  <a:srgbClr val="C00000"/>
                </a:solidFill>
                <a:latin typeface="Times New Roman" panose="02020603050405020304" pitchFamily="18" charset="0"/>
                <a:cs typeface="Times New Roman" panose="02020603050405020304" pitchFamily="18" charset="0"/>
              </a:rPr>
              <a:t>Responsibilities of Materials management</a:t>
            </a:r>
          </a:p>
          <a:p>
            <a:pPr algn="just"/>
            <a:r>
              <a:rPr lang="en-US" dirty="0" smtClean="0">
                <a:solidFill>
                  <a:srgbClr val="7030A0"/>
                </a:solidFill>
                <a:latin typeface="Times New Roman" panose="02020603050405020304" pitchFamily="18" charset="0"/>
                <a:cs typeface="Times New Roman" panose="02020603050405020304" pitchFamily="18" charset="0"/>
              </a:rPr>
              <a:t>Cost reduction</a:t>
            </a:r>
          </a:p>
          <a:p>
            <a:pPr marL="0" indent="0" algn="just">
              <a:buNone/>
            </a:pP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sz="2800" dirty="0" smtClean="0">
                <a:solidFill>
                  <a:srgbClr val="7030A0"/>
                </a:solidFill>
                <a:latin typeface="Times New Roman" panose="02020603050405020304" pitchFamily="18" charset="0"/>
                <a:cs typeface="Times New Roman" panose="02020603050405020304" pitchFamily="18" charset="0"/>
              </a:rPr>
              <a:t>Optimum service level</a:t>
            </a:r>
          </a:p>
          <a:p>
            <a:pPr marL="0" indent="0" algn="just">
              <a:buNone/>
            </a:pPr>
            <a:endParaRPr lang="en-US" sz="2800"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solidFill>
                  <a:srgbClr val="7030A0"/>
                </a:solidFill>
                <a:latin typeface="Times New Roman" panose="02020603050405020304" pitchFamily="18" charset="0"/>
                <a:cs typeface="Times New Roman" panose="02020603050405020304" pitchFamily="18" charset="0"/>
              </a:rPr>
              <a:t>Quality Assurance</a:t>
            </a:r>
          </a:p>
          <a:p>
            <a:pPr marL="0" indent="0" algn="just">
              <a:buNone/>
            </a:pP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sz="2800" dirty="0" smtClean="0">
                <a:solidFill>
                  <a:srgbClr val="7030A0"/>
                </a:solidFill>
                <a:latin typeface="Times New Roman" panose="02020603050405020304" pitchFamily="18" charset="0"/>
                <a:cs typeface="Times New Roman" panose="02020603050405020304" pitchFamily="18" charset="0"/>
              </a:rPr>
              <a:t>Low level of capital tied up</a:t>
            </a:r>
          </a:p>
          <a:p>
            <a:pPr marL="0" indent="0" algn="just">
              <a:buNone/>
            </a:pPr>
            <a:endParaRPr lang="en-US" sz="2800" dirty="0" smtClean="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23479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817" y="213756"/>
            <a:ext cx="11707091" cy="6422571"/>
          </a:xfrm>
        </p:spPr>
        <p:txBody>
          <a:bodyPr>
            <a:normAutofit/>
          </a:bodyPr>
          <a:lstStyle/>
          <a:p>
            <a:pPr marL="0" indent="0" algn="ctr">
              <a:buNone/>
            </a:pPr>
            <a:r>
              <a:rPr lang="en-IN" sz="3600" dirty="0" smtClean="0">
                <a:solidFill>
                  <a:srgbClr val="C00000"/>
                </a:solidFill>
                <a:latin typeface="Times New Roman" panose="02020603050405020304" pitchFamily="18" charset="0"/>
                <a:cs typeface="Times New Roman" panose="02020603050405020304" pitchFamily="18" charset="0"/>
              </a:rPr>
              <a:t>What is Inventory?</a:t>
            </a:r>
          </a:p>
          <a:p>
            <a:pPr algn="just"/>
            <a:r>
              <a:rPr lang="en-IN" dirty="0" smtClean="0">
                <a:solidFill>
                  <a:srgbClr val="7030A0"/>
                </a:solidFill>
                <a:latin typeface="Times New Roman" panose="02020603050405020304" pitchFamily="18" charset="0"/>
                <a:cs typeface="Times New Roman" panose="02020603050405020304" pitchFamily="18" charset="0"/>
              </a:rPr>
              <a:t>Stock of items kept to meet future demand</a:t>
            </a:r>
          </a:p>
          <a:p>
            <a:pPr algn="just"/>
            <a:r>
              <a:rPr lang="en-IN" dirty="0" smtClean="0">
                <a:solidFill>
                  <a:srgbClr val="7030A0"/>
                </a:solidFill>
                <a:latin typeface="Times New Roman" panose="02020603050405020304" pitchFamily="18" charset="0"/>
                <a:cs typeface="Times New Roman" panose="02020603050405020304" pitchFamily="18" charset="0"/>
              </a:rPr>
              <a:t>Purpose of inventory Management</a:t>
            </a:r>
          </a:p>
          <a:p>
            <a:pPr marL="0" indent="0" algn="just">
              <a:buNone/>
            </a:pPr>
            <a:r>
              <a:rPr lang="en-IN" dirty="0" smtClean="0">
                <a:solidFill>
                  <a:srgbClr val="7030A0"/>
                </a:solidFill>
                <a:latin typeface="Times New Roman" panose="02020603050405020304" pitchFamily="18" charset="0"/>
                <a:cs typeface="Times New Roman" panose="02020603050405020304" pitchFamily="18" charset="0"/>
              </a:rPr>
              <a:t>   - How many units to order </a:t>
            </a:r>
          </a:p>
          <a:p>
            <a:pPr marL="0" indent="0" algn="just">
              <a:buNone/>
            </a:pPr>
            <a:r>
              <a:rPr lang="en-IN" dirty="0">
                <a:solidFill>
                  <a:srgbClr val="7030A0"/>
                </a:solidFill>
                <a:latin typeface="Times New Roman" panose="02020603050405020304" pitchFamily="18" charset="0"/>
                <a:cs typeface="Times New Roman" panose="02020603050405020304" pitchFamily="18" charset="0"/>
              </a:rPr>
              <a:t> </a:t>
            </a:r>
            <a:r>
              <a:rPr lang="en-IN" dirty="0" smtClean="0">
                <a:solidFill>
                  <a:srgbClr val="7030A0"/>
                </a:solidFill>
                <a:latin typeface="Times New Roman" panose="02020603050405020304" pitchFamily="18" charset="0"/>
                <a:cs typeface="Times New Roman" panose="02020603050405020304" pitchFamily="18" charset="0"/>
              </a:rPr>
              <a:t>  -When to order </a:t>
            </a:r>
            <a:endParaRPr lang="en-IN" dirty="0">
              <a:solidFill>
                <a:srgbClr val="7030A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4422" y="1690254"/>
            <a:ext cx="6357667" cy="3726873"/>
          </a:xfrm>
          <a:prstGeom prst="rect">
            <a:avLst/>
          </a:prstGeom>
        </p:spPr>
      </p:pic>
    </p:spTree>
    <p:extLst>
      <p:ext uri="{BB962C8B-B14F-4D97-AF65-F5344CB8AC3E}">
        <p14:creationId xmlns:p14="http://schemas.microsoft.com/office/powerpoint/2010/main" val="39478605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3137" y="84221"/>
            <a:ext cx="10956758" cy="6417595"/>
          </a:xfrm>
        </p:spPr>
        <p:txBody>
          <a:bodyPr>
            <a:normAutofit/>
          </a:bodyPr>
          <a:lstStyle/>
          <a:p>
            <a:pPr marL="0" indent="0" algn="ctr">
              <a:buNone/>
            </a:pPr>
            <a:r>
              <a:rPr lang="en-IN" sz="3600" dirty="0" smtClean="0">
                <a:solidFill>
                  <a:srgbClr val="C00000"/>
                </a:solidFill>
                <a:latin typeface="Times New Roman" panose="02020603050405020304" pitchFamily="18" charset="0"/>
                <a:cs typeface="Times New Roman" panose="02020603050405020304" pitchFamily="18" charset="0"/>
              </a:rPr>
              <a:t>Components of Inventory</a:t>
            </a:r>
          </a:p>
          <a:p>
            <a:pPr algn="just"/>
            <a:r>
              <a:rPr lang="en-IN" dirty="0" smtClean="0">
                <a:solidFill>
                  <a:srgbClr val="7030A0"/>
                </a:solidFill>
                <a:latin typeface="Times New Roman" panose="02020603050405020304" pitchFamily="18" charset="0"/>
                <a:cs typeface="Times New Roman" panose="02020603050405020304" pitchFamily="18" charset="0"/>
              </a:rPr>
              <a:t>Raw materials</a:t>
            </a:r>
          </a:p>
          <a:p>
            <a:pPr marL="0" indent="0" algn="just">
              <a:buNone/>
            </a:pPr>
            <a:endParaRPr lang="en-IN" dirty="0" smtClean="0">
              <a:solidFill>
                <a:srgbClr val="7030A0"/>
              </a:solidFill>
              <a:latin typeface="Times New Roman" panose="02020603050405020304" pitchFamily="18" charset="0"/>
              <a:cs typeface="Times New Roman" panose="02020603050405020304" pitchFamily="18" charset="0"/>
            </a:endParaRPr>
          </a:p>
          <a:p>
            <a:pPr algn="just"/>
            <a:r>
              <a:rPr lang="en-IN" dirty="0" smtClean="0">
                <a:solidFill>
                  <a:srgbClr val="7030A0"/>
                </a:solidFill>
                <a:latin typeface="Times New Roman" panose="02020603050405020304" pitchFamily="18" charset="0"/>
                <a:cs typeface="Times New Roman" panose="02020603050405020304" pitchFamily="18" charset="0"/>
              </a:rPr>
              <a:t>Purchased parts</a:t>
            </a:r>
          </a:p>
          <a:p>
            <a:pPr marL="0" indent="0" algn="just">
              <a:buNone/>
            </a:pPr>
            <a:endParaRPr lang="en-IN" dirty="0" smtClean="0">
              <a:solidFill>
                <a:srgbClr val="7030A0"/>
              </a:solidFill>
              <a:latin typeface="Times New Roman" panose="02020603050405020304" pitchFamily="18" charset="0"/>
              <a:cs typeface="Times New Roman" panose="02020603050405020304" pitchFamily="18" charset="0"/>
            </a:endParaRPr>
          </a:p>
          <a:p>
            <a:pPr algn="just"/>
            <a:r>
              <a:rPr lang="en-IN" dirty="0" smtClean="0">
                <a:solidFill>
                  <a:srgbClr val="7030A0"/>
                </a:solidFill>
                <a:latin typeface="Times New Roman" panose="02020603050405020304" pitchFamily="18" charset="0"/>
                <a:cs typeface="Times New Roman" panose="02020603050405020304" pitchFamily="18" charset="0"/>
              </a:rPr>
              <a:t>Work-in-progress</a:t>
            </a:r>
          </a:p>
          <a:p>
            <a:pPr marL="0" indent="0" algn="just">
              <a:buNone/>
            </a:pPr>
            <a:endParaRPr lang="en-IN" dirty="0" smtClean="0">
              <a:solidFill>
                <a:srgbClr val="7030A0"/>
              </a:solidFill>
              <a:latin typeface="Times New Roman" panose="02020603050405020304" pitchFamily="18" charset="0"/>
              <a:cs typeface="Times New Roman" panose="02020603050405020304" pitchFamily="18" charset="0"/>
            </a:endParaRPr>
          </a:p>
          <a:p>
            <a:pPr algn="just"/>
            <a:r>
              <a:rPr lang="en-IN" dirty="0" smtClean="0">
                <a:solidFill>
                  <a:srgbClr val="7030A0"/>
                </a:solidFill>
                <a:latin typeface="Times New Roman" panose="02020603050405020304" pitchFamily="18" charset="0"/>
                <a:cs typeface="Times New Roman" panose="02020603050405020304" pitchFamily="18" charset="0"/>
              </a:rPr>
              <a:t>Items being transported</a:t>
            </a:r>
          </a:p>
          <a:p>
            <a:pPr marL="0" indent="0" algn="just">
              <a:buNone/>
            </a:pPr>
            <a:endParaRPr lang="en-IN" dirty="0" smtClean="0">
              <a:solidFill>
                <a:srgbClr val="7030A0"/>
              </a:solidFill>
              <a:latin typeface="Times New Roman" panose="02020603050405020304" pitchFamily="18" charset="0"/>
              <a:cs typeface="Times New Roman" panose="02020603050405020304" pitchFamily="18" charset="0"/>
            </a:endParaRPr>
          </a:p>
          <a:p>
            <a:pPr algn="just"/>
            <a:r>
              <a:rPr lang="en-IN" dirty="0" smtClean="0">
                <a:solidFill>
                  <a:srgbClr val="7030A0"/>
                </a:solidFill>
                <a:latin typeface="Times New Roman" panose="02020603050405020304" pitchFamily="18" charset="0"/>
                <a:cs typeface="Times New Roman" panose="02020603050405020304" pitchFamily="18" charset="0"/>
              </a:rPr>
              <a:t>Tools and equipment</a:t>
            </a:r>
          </a:p>
          <a:p>
            <a:pPr marL="0" indent="0" algn="just">
              <a:buNone/>
            </a:pPr>
            <a:endParaRPr lang="en-IN" sz="2400" dirty="0" smtClean="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57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947" y="288758"/>
            <a:ext cx="11405937" cy="6316579"/>
          </a:xfrm>
        </p:spPr>
        <p:txBody>
          <a:bodyPr>
            <a:normAutofit/>
          </a:bodyPr>
          <a:lstStyle/>
          <a:p>
            <a:pPr marL="0" indent="0" algn="ctr">
              <a:buNone/>
            </a:pPr>
            <a:endParaRPr lang="en-IN" sz="4800" dirty="0" smtClean="0">
              <a:latin typeface="Times New Roman" panose="02020603050405020304" pitchFamily="18" charset="0"/>
              <a:cs typeface="Times New Roman" panose="02020603050405020304" pitchFamily="18" charset="0"/>
            </a:endParaRPr>
          </a:p>
          <a:p>
            <a:pPr marL="0" indent="0" algn="ctr">
              <a:buNone/>
            </a:pPr>
            <a:endParaRPr lang="en-IN" sz="4800" dirty="0">
              <a:latin typeface="Times New Roman" panose="02020603050405020304" pitchFamily="18" charset="0"/>
              <a:cs typeface="Times New Roman" panose="02020603050405020304" pitchFamily="18" charset="0"/>
            </a:endParaRPr>
          </a:p>
          <a:p>
            <a:pPr marL="0" indent="0" algn="ctr">
              <a:buNone/>
            </a:pPr>
            <a:endParaRPr lang="en-IN" sz="4800" dirty="0">
              <a:latin typeface="Times New Roman" panose="02020603050405020304" pitchFamily="18" charset="0"/>
              <a:cs typeface="Times New Roman" panose="02020603050405020304" pitchFamily="18" charset="0"/>
            </a:endParaRPr>
          </a:p>
          <a:p>
            <a:pPr marL="0" indent="0" algn="ctr">
              <a:buNone/>
            </a:pPr>
            <a:r>
              <a:rPr lang="en-IN" sz="4800" b="1" i="1" dirty="0" smtClean="0">
                <a:solidFill>
                  <a:srgbClr val="7030A0"/>
                </a:solidFill>
                <a:latin typeface="Times New Roman" panose="02020603050405020304" pitchFamily="18" charset="0"/>
                <a:cs typeface="Times New Roman" panose="02020603050405020304" pitchFamily="18" charset="0"/>
              </a:rPr>
              <a:t>Inventory Control</a:t>
            </a:r>
            <a:endParaRPr lang="en-IN" sz="4800" b="1" i="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347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8226" y="124691"/>
            <a:ext cx="11790948" cy="6466062"/>
          </a:xfrm>
        </p:spPr>
        <p:txBody>
          <a:bodyPr>
            <a:normAutofit lnSpcReduction="10000"/>
          </a:bodyPr>
          <a:lstStyle/>
          <a:p>
            <a:pPr marL="0" indent="0" algn="ctr">
              <a:buNone/>
            </a:pPr>
            <a:r>
              <a:rPr lang="en-US" sz="3600" dirty="0" smtClean="0">
                <a:solidFill>
                  <a:srgbClr val="C00000"/>
                </a:solidFill>
                <a:latin typeface="Times New Roman" panose="02020603050405020304" pitchFamily="18" charset="0"/>
                <a:cs typeface="Times New Roman" panose="02020603050405020304" pitchFamily="18" charset="0"/>
              </a:rPr>
              <a:t>Need of Inventory</a:t>
            </a:r>
          </a:p>
          <a:p>
            <a:pPr marL="0" indent="0" algn="just">
              <a:buNone/>
            </a:pPr>
            <a:r>
              <a:rPr lang="en-US" dirty="0" smtClean="0">
                <a:solidFill>
                  <a:srgbClr val="7030A0"/>
                </a:solidFill>
                <a:latin typeface="Times New Roman" panose="02020603050405020304" pitchFamily="18" charset="0"/>
                <a:cs typeface="Times New Roman" panose="02020603050405020304" pitchFamily="18" charset="0"/>
              </a:rPr>
              <a:t>Inventory and supply chain management</a:t>
            </a:r>
          </a:p>
          <a:p>
            <a:pPr algn="just"/>
            <a:r>
              <a:rPr lang="en-US" dirty="0" smtClean="0">
                <a:solidFill>
                  <a:srgbClr val="7030A0"/>
                </a:solidFill>
                <a:latin typeface="Times New Roman" panose="02020603050405020304" pitchFamily="18" charset="0"/>
                <a:cs typeface="Times New Roman" panose="02020603050405020304" pitchFamily="18" charset="0"/>
              </a:rPr>
              <a:t>Bullwhip effect</a:t>
            </a:r>
          </a:p>
          <a:p>
            <a:pPr marL="0" indent="0" algn="just">
              <a:buNone/>
            </a:pPr>
            <a:r>
              <a:rPr lang="en-US" dirty="0">
                <a:solidFill>
                  <a:srgbClr val="7030A0"/>
                </a:solidFill>
                <a:latin typeface="Times New Roman" panose="02020603050405020304" pitchFamily="18" charset="0"/>
                <a:cs typeface="Times New Roman" panose="02020603050405020304" pitchFamily="18" charset="0"/>
              </a:rPr>
              <a:t> </a:t>
            </a:r>
            <a:r>
              <a:rPr lang="en-US" dirty="0" smtClean="0">
                <a:solidFill>
                  <a:srgbClr val="7030A0"/>
                </a:solidFill>
                <a:latin typeface="Times New Roman" panose="02020603050405020304" pitchFamily="18" charset="0"/>
                <a:cs typeface="Times New Roman" panose="02020603050405020304" pitchFamily="18" charset="0"/>
              </a:rPr>
              <a:t>  - demand information is distorted as it moves away from the end user customer</a:t>
            </a:r>
          </a:p>
          <a:p>
            <a:pPr marL="0" indent="0" algn="just">
              <a:buNone/>
            </a:pPr>
            <a:r>
              <a:rPr lang="en-US" dirty="0">
                <a:solidFill>
                  <a:srgbClr val="7030A0"/>
                </a:solidFill>
                <a:latin typeface="Times New Roman" panose="02020603050405020304" pitchFamily="18" charset="0"/>
                <a:cs typeface="Times New Roman" panose="02020603050405020304" pitchFamily="18" charset="0"/>
              </a:rPr>
              <a:t> </a:t>
            </a:r>
            <a:r>
              <a:rPr lang="en-US" dirty="0" smtClean="0">
                <a:solidFill>
                  <a:srgbClr val="7030A0"/>
                </a:solidFill>
                <a:latin typeface="Times New Roman" panose="02020603050405020304" pitchFamily="18" charset="0"/>
                <a:cs typeface="Times New Roman" panose="02020603050405020304" pitchFamily="18" charset="0"/>
              </a:rPr>
              <a:t>  - Higher safety stock inventories are stored to compensate</a:t>
            </a:r>
          </a:p>
          <a:p>
            <a:pPr marL="0" indent="0" algn="just">
              <a:buNone/>
            </a:pP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solidFill>
                  <a:srgbClr val="7030A0"/>
                </a:solidFill>
                <a:latin typeface="Times New Roman" panose="02020603050405020304" pitchFamily="18" charset="0"/>
                <a:cs typeface="Times New Roman" panose="02020603050405020304" pitchFamily="18" charset="0"/>
              </a:rPr>
              <a:t>Seasonal or cyclical demand</a:t>
            </a:r>
          </a:p>
          <a:p>
            <a:pPr marL="0" indent="0" algn="just">
              <a:buNone/>
            </a:pP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solidFill>
                  <a:srgbClr val="7030A0"/>
                </a:solidFill>
                <a:latin typeface="Times New Roman" panose="02020603050405020304" pitchFamily="18" charset="0"/>
                <a:cs typeface="Times New Roman" panose="02020603050405020304" pitchFamily="18" charset="0"/>
              </a:rPr>
              <a:t>Inventory provides independence from vendors</a:t>
            </a:r>
          </a:p>
          <a:p>
            <a:pPr marL="0" indent="0" algn="just">
              <a:buNone/>
            </a:pP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solidFill>
                  <a:srgbClr val="7030A0"/>
                </a:solidFill>
                <a:latin typeface="Times New Roman" panose="02020603050405020304" pitchFamily="18" charset="0"/>
                <a:cs typeface="Times New Roman" panose="02020603050405020304" pitchFamily="18" charset="0"/>
              </a:rPr>
              <a:t>Take advantage of price discounts</a:t>
            </a:r>
          </a:p>
          <a:p>
            <a:pPr marL="0" indent="0" algn="just">
              <a:buNone/>
            </a:pP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solidFill>
                  <a:srgbClr val="7030A0"/>
                </a:solidFill>
                <a:latin typeface="Times New Roman" panose="02020603050405020304" pitchFamily="18" charset="0"/>
                <a:cs typeface="Times New Roman" panose="02020603050405020304" pitchFamily="18" charset="0"/>
              </a:rPr>
              <a:t>Inventory provides independence between stages and avoids work stoppages.</a:t>
            </a:r>
          </a:p>
          <a:p>
            <a:pPr marL="0" indent="0" algn="just">
              <a:buNone/>
            </a:pP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0733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6260" y="237506"/>
            <a:ext cx="11210306" cy="6460177"/>
          </a:xfrm>
        </p:spPr>
        <p:txBody>
          <a:bodyPr>
            <a:normAutofit/>
          </a:bodyPr>
          <a:lstStyle/>
          <a:p>
            <a:pPr marL="0" indent="0" algn="ctr">
              <a:buNone/>
            </a:pPr>
            <a:r>
              <a:rPr lang="en-US" sz="3600" dirty="0" smtClean="0">
                <a:solidFill>
                  <a:srgbClr val="C00000"/>
                </a:solidFill>
                <a:latin typeface="Times New Roman" panose="02020603050405020304" pitchFamily="18" charset="0"/>
                <a:cs typeface="Times New Roman" panose="02020603050405020304" pitchFamily="18" charset="0"/>
              </a:rPr>
              <a:t>Inventory Control</a:t>
            </a:r>
          </a:p>
          <a:p>
            <a:pPr algn="just"/>
            <a:r>
              <a:rPr lang="en-US" dirty="0" smtClean="0">
                <a:solidFill>
                  <a:srgbClr val="7030A0"/>
                </a:solidFill>
                <a:latin typeface="Times New Roman" panose="02020603050405020304" pitchFamily="18" charset="0"/>
                <a:cs typeface="Times New Roman" panose="02020603050405020304" pitchFamily="18" charset="0"/>
              </a:rPr>
              <a:t>Inventory control is planned approach of determining </a:t>
            </a:r>
            <a:r>
              <a:rPr lang="en-US" dirty="0" smtClean="0">
                <a:solidFill>
                  <a:srgbClr val="002060"/>
                </a:solidFill>
                <a:latin typeface="Times New Roman" panose="02020603050405020304" pitchFamily="18" charset="0"/>
                <a:cs typeface="Times New Roman" panose="02020603050405020304" pitchFamily="18" charset="0"/>
              </a:rPr>
              <a:t>what to order, when to order, how much to order </a:t>
            </a:r>
            <a:r>
              <a:rPr lang="en-US" dirty="0" smtClean="0">
                <a:solidFill>
                  <a:srgbClr val="7030A0"/>
                </a:solidFill>
                <a:latin typeface="Times New Roman" panose="02020603050405020304" pitchFamily="18" charset="0"/>
                <a:cs typeface="Times New Roman" panose="02020603050405020304" pitchFamily="18" charset="0"/>
              </a:rPr>
              <a:t>and</a:t>
            </a:r>
            <a:r>
              <a:rPr lang="en-US" dirty="0" smtClean="0">
                <a:solidFill>
                  <a:srgbClr val="002060"/>
                </a:solidFill>
                <a:latin typeface="Times New Roman" panose="02020603050405020304" pitchFamily="18" charset="0"/>
                <a:cs typeface="Times New Roman" panose="02020603050405020304" pitchFamily="18" charset="0"/>
              </a:rPr>
              <a:t> how much to stock</a:t>
            </a:r>
          </a:p>
          <a:p>
            <a:pPr marL="0" indent="0" algn="just">
              <a:buNone/>
            </a:pPr>
            <a:endParaRPr lang="en-US" dirty="0" smtClean="0">
              <a:solidFill>
                <a:srgbClr val="002060"/>
              </a:solidFill>
              <a:latin typeface="Times New Roman" panose="02020603050405020304" pitchFamily="18" charset="0"/>
              <a:cs typeface="Times New Roman" panose="02020603050405020304" pitchFamily="18" charset="0"/>
            </a:endParaRPr>
          </a:p>
          <a:p>
            <a:pPr algn="just"/>
            <a:r>
              <a:rPr lang="en-US" dirty="0" smtClean="0">
                <a:solidFill>
                  <a:srgbClr val="7030A0"/>
                </a:solidFill>
                <a:latin typeface="Times New Roman" panose="02020603050405020304" pitchFamily="18" charset="0"/>
                <a:cs typeface="Times New Roman" panose="02020603050405020304" pitchFamily="18" charset="0"/>
              </a:rPr>
              <a:t>The cost associated with buying and storing are optimal without interrupting and sales</a:t>
            </a:r>
          </a:p>
          <a:p>
            <a:pPr marL="0" indent="0" algn="just">
              <a:buNone/>
            </a:pP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solidFill>
                  <a:srgbClr val="7030A0"/>
                </a:solidFill>
                <a:latin typeface="Times New Roman" panose="02020603050405020304" pitchFamily="18" charset="0"/>
                <a:cs typeface="Times New Roman" panose="02020603050405020304" pitchFamily="18" charset="0"/>
              </a:rPr>
              <a:t>Inventory control basically deals with two problems</a:t>
            </a:r>
          </a:p>
          <a:p>
            <a:pPr marL="0" indent="0" algn="just">
              <a:buNone/>
            </a:pPr>
            <a:r>
              <a:rPr lang="en-US" dirty="0">
                <a:solidFill>
                  <a:srgbClr val="7030A0"/>
                </a:solidFill>
                <a:latin typeface="Times New Roman" panose="02020603050405020304" pitchFamily="18" charset="0"/>
                <a:cs typeface="Times New Roman" panose="02020603050405020304" pitchFamily="18" charset="0"/>
              </a:rPr>
              <a:t> </a:t>
            </a:r>
            <a:r>
              <a:rPr lang="en-US" dirty="0" smtClean="0">
                <a:solidFill>
                  <a:srgbClr val="7030A0"/>
                </a:solidFill>
                <a:latin typeface="Times New Roman" panose="02020603050405020304" pitchFamily="18" charset="0"/>
                <a:cs typeface="Times New Roman" panose="02020603050405020304" pitchFamily="18" charset="0"/>
              </a:rPr>
              <a:t>  - When should an order be placed?( Order level)</a:t>
            </a:r>
          </a:p>
          <a:p>
            <a:pPr marL="0" indent="0" algn="just">
              <a:buNone/>
            </a:pPr>
            <a:r>
              <a:rPr lang="en-US" dirty="0">
                <a:solidFill>
                  <a:srgbClr val="7030A0"/>
                </a:solidFill>
                <a:latin typeface="Times New Roman" panose="02020603050405020304" pitchFamily="18" charset="0"/>
                <a:cs typeface="Times New Roman" panose="02020603050405020304" pitchFamily="18" charset="0"/>
              </a:rPr>
              <a:t> </a:t>
            </a:r>
            <a:r>
              <a:rPr lang="en-US" dirty="0" smtClean="0">
                <a:solidFill>
                  <a:srgbClr val="7030A0"/>
                </a:solidFill>
                <a:latin typeface="Times New Roman" panose="02020603050405020304" pitchFamily="18" charset="0"/>
                <a:cs typeface="Times New Roman" panose="02020603050405020304" pitchFamily="18" charset="0"/>
              </a:rPr>
              <a:t>  - How much should be ordered ( Order quantity)</a:t>
            </a:r>
            <a:endParaRPr lang="en-US"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4285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218" y="290945"/>
            <a:ext cx="11430000" cy="6276110"/>
          </a:xfrm>
        </p:spPr>
        <p:txBody>
          <a:bodyPr>
            <a:normAutofit/>
          </a:bodyPr>
          <a:lstStyle/>
          <a:p>
            <a:pPr marL="457200" lvl="1" indent="0" algn="ctr">
              <a:buNone/>
            </a:pPr>
            <a:r>
              <a:rPr lang="en-US" sz="3600" dirty="0" smtClean="0">
                <a:solidFill>
                  <a:srgbClr val="C00000"/>
                </a:solidFill>
                <a:latin typeface="Times New Roman" panose="02020603050405020304" pitchFamily="18" charset="0"/>
                <a:cs typeface="Times New Roman" panose="02020603050405020304" pitchFamily="18" charset="0"/>
              </a:rPr>
              <a:t>Selective control of Inventory</a:t>
            </a:r>
          </a:p>
          <a:p>
            <a:pPr lvl="1" algn="just"/>
            <a:r>
              <a:rPr lang="en-US" sz="2800" dirty="0" smtClean="0">
                <a:solidFill>
                  <a:srgbClr val="7030A0"/>
                </a:solidFill>
                <a:latin typeface="Times New Roman" panose="02020603050405020304" pitchFamily="18" charset="0"/>
                <a:cs typeface="Times New Roman" panose="02020603050405020304" pitchFamily="18" charset="0"/>
              </a:rPr>
              <a:t>Selective control refers to the variation in method of control from item to item on selective basis</a:t>
            </a:r>
          </a:p>
          <a:p>
            <a:pPr marL="457200" lvl="1" indent="0" algn="just">
              <a:buNone/>
            </a:pPr>
            <a:endParaRPr lang="en-US" sz="2800" dirty="0" smtClean="0">
              <a:solidFill>
                <a:srgbClr val="7030A0"/>
              </a:solidFill>
              <a:latin typeface="Times New Roman" panose="02020603050405020304" pitchFamily="18" charset="0"/>
              <a:cs typeface="Times New Roman" panose="02020603050405020304" pitchFamily="18" charset="0"/>
            </a:endParaRPr>
          </a:p>
          <a:p>
            <a:pPr lvl="1" algn="just"/>
            <a:r>
              <a:rPr lang="en-US" sz="2800" dirty="0" smtClean="0">
                <a:solidFill>
                  <a:srgbClr val="7030A0"/>
                </a:solidFill>
                <a:latin typeface="Times New Roman" panose="02020603050405020304" pitchFamily="18" charset="0"/>
                <a:cs typeface="Times New Roman" panose="02020603050405020304" pitchFamily="18" charset="0"/>
              </a:rPr>
              <a:t>In this system, the items are categorized in few groups depending upon the selected criteria such as value, usage, frequency and consumption</a:t>
            </a:r>
          </a:p>
          <a:p>
            <a:pPr marL="457200" lvl="1" indent="0" algn="just">
              <a:buNone/>
            </a:pPr>
            <a:endParaRPr lang="en-US" sz="2800" dirty="0" smtClean="0">
              <a:solidFill>
                <a:srgbClr val="7030A0"/>
              </a:solidFill>
              <a:latin typeface="Times New Roman" panose="02020603050405020304" pitchFamily="18" charset="0"/>
              <a:cs typeface="Times New Roman" panose="02020603050405020304" pitchFamily="18" charset="0"/>
            </a:endParaRPr>
          </a:p>
          <a:p>
            <a:pPr lvl="1" algn="just"/>
            <a:r>
              <a:rPr lang="en-US" sz="2800" dirty="0" smtClean="0">
                <a:solidFill>
                  <a:srgbClr val="7030A0"/>
                </a:solidFill>
                <a:latin typeface="Times New Roman" panose="02020603050405020304" pitchFamily="18" charset="0"/>
                <a:cs typeface="Times New Roman" panose="02020603050405020304" pitchFamily="18" charset="0"/>
              </a:rPr>
              <a:t>Such grouping helps the organization for scientific inventory control</a:t>
            </a:r>
          </a:p>
          <a:p>
            <a:pPr lvl="1" algn="just"/>
            <a:endParaRPr lang="en-US" dirty="0" smtClean="0">
              <a:solidFill>
                <a:srgbClr val="002060"/>
              </a:solidFill>
              <a:latin typeface="Times New Roman" panose="02020603050405020304" pitchFamily="18" charset="0"/>
              <a:cs typeface="Times New Roman" panose="02020603050405020304" pitchFamily="18" charset="0"/>
            </a:endParaRPr>
          </a:p>
          <a:p>
            <a:pPr marL="0" indent="0">
              <a:buNone/>
            </a:pPr>
            <a:endParaRPr lang="en-US" sz="4400" dirty="0" smtClean="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0338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1" y="225630"/>
            <a:ext cx="11614067" cy="6412675"/>
          </a:xfrm>
        </p:spPr>
        <p:txBody>
          <a:bodyPr>
            <a:normAutofit/>
          </a:bodyPr>
          <a:lstStyle/>
          <a:p>
            <a:pPr marL="0" indent="0" algn="ctr">
              <a:buNone/>
            </a:pPr>
            <a:r>
              <a:rPr lang="en-US" sz="3600" dirty="0" smtClean="0">
                <a:solidFill>
                  <a:srgbClr val="C00000"/>
                </a:solidFill>
                <a:latin typeface="Times New Roman" panose="02020603050405020304" pitchFamily="18" charset="0"/>
                <a:cs typeface="Times New Roman" panose="02020603050405020304" pitchFamily="18" charset="0"/>
              </a:rPr>
              <a:t>Various types of analysis</a:t>
            </a:r>
          </a:p>
          <a:p>
            <a:pPr marL="0" indent="0">
              <a:buNone/>
            </a:pPr>
            <a:r>
              <a:rPr lang="en-US" dirty="0" smtClean="0">
                <a:solidFill>
                  <a:srgbClr val="7030A0"/>
                </a:solidFill>
                <a:latin typeface="Times New Roman" panose="02020603050405020304" pitchFamily="18" charset="0"/>
                <a:cs typeface="Times New Roman" panose="02020603050405020304" pitchFamily="18" charset="0"/>
              </a:rPr>
              <a:t>ABC analysis</a:t>
            </a:r>
          </a:p>
          <a:p>
            <a:pPr marL="0" indent="0">
              <a:buNone/>
            </a:pPr>
            <a:endParaRPr lang="en-US" dirty="0" smtClean="0">
              <a:solidFill>
                <a:srgbClr val="7030A0"/>
              </a:solidFill>
              <a:latin typeface="Times New Roman" panose="02020603050405020304" pitchFamily="18" charset="0"/>
              <a:cs typeface="Times New Roman" panose="02020603050405020304" pitchFamily="18" charset="0"/>
            </a:endParaRPr>
          </a:p>
          <a:p>
            <a:pPr marL="0" indent="0">
              <a:buNone/>
            </a:pPr>
            <a:r>
              <a:rPr lang="en-US" dirty="0" smtClean="0">
                <a:solidFill>
                  <a:srgbClr val="7030A0"/>
                </a:solidFill>
                <a:latin typeface="Times New Roman" panose="02020603050405020304" pitchFamily="18" charset="0"/>
                <a:cs typeface="Times New Roman" panose="02020603050405020304" pitchFamily="18" charset="0"/>
              </a:rPr>
              <a:t>VED(Vital, essential, Desirable) analysis</a:t>
            </a:r>
          </a:p>
          <a:p>
            <a:pPr marL="0" indent="0">
              <a:buNone/>
            </a:pPr>
            <a:endParaRPr lang="en-US" dirty="0" smtClean="0">
              <a:solidFill>
                <a:srgbClr val="7030A0"/>
              </a:solidFill>
              <a:latin typeface="Times New Roman" panose="02020603050405020304" pitchFamily="18" charset="0"/>
              <a:cs typeface="Times New Roman" panose="02020603050405020304" pitchFamily="18" charset="0"/>
            </a:endParaRPr>
          </a:p>
          <a:p>
            <a:pPr marL="0" indent="0">
              <a:buNone/>
            </a:pPr>
            <a:r>
              <a:rPr lang="en-US" dirty="0" smtClean="0">
                <a:solidFill>
                  <a:srgbClr val="7030A0"/>
                </a:solidFill>
                <a:latin typeface="Times New Roman" panose="02020603050405020304" pitchFamily="18" charset="0"/>
                <a:cs typeface="Times New Roman" panose="02020603050405020304" pitchFamily="18" charset="0"/>
              </a:rPr>
              <a:t>HML(High, Medium, Low) analysis</a:t>
            </a:r>
          </a:p>
          <a:p>
            <a:endParaRPr lang="en-US" dirty="0" smtClean="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3343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66255" y="166254"/>
            <a:ext cx="11187545" cy="6567055"/>
          </a:xfrm>
        </p:spPr>
        <p:txBody>
          <a:bodyPr/>
          <a:lstStyle/>
          <a:p>
            <a:pPr marL="0" indent="0" algn="ctr">
              <a:buNone/>
            </a:pPr>
            <a:r>
              <a:rPr lang="en-US" dirty="0" smtClean="0">
                <a:solidFill>
                  <a:srgbClr val="C00000"/>
                </a:solidFill>
                <a:latin typeface="Times New Roman" panose="02020603050405020304" pitchFamily="18" charset="0"/>
                <a:cs typeface="Times New Roman" panose="02020603050405020304" pitchFamily="18" charset="0"/>
              </a:rPr>
              <a:t>ABC Classification</a:t>
            </a:r>
          </a:p>
          <a:p>
            <a:pPr marL="0" indent="0" algn="just">
              <a:buNone/>
            </a:pPr>
            <a:r>
              <a:rPr lang="en-US" dirty="0" smtClean="0">
                <a:solidFill>
                  <a:srgbClr val="7030A0"/>
                </a:solidFill>
                <a:latin typeface="Times New Roman" panose="02020603050405020304" pitchFamily="18" charset="0"/>
                <a:cs typeface="Times New Roman" panose="02020603050405020304" pitchFamily="18" charset="0"/>
              </a:rPr>
              <a:t>Classification based on cost and volume</a:t>
            </a:r>
          </a:p>
          <a:p>
            <a:pPr marL="0" indent="0" algn="just">
              <a:buNone/>
            </a:pPr>
            <a:r>
              <a:rPr lang="en-US" dirty="0" smtClean="0">
                <a:solidFill>
                  <a:srgbClr val="0070C0"/>
                </a:solidFill>
                <a:latin typeface="Times New Roman" panose="02020603050405020304" pitchFamily="18" charset="0"/>
                <a:cs typeface="Times New Roman" panose="02020603050405020304" pitchFamily="18" charset="0"/>
              </a:rPr>
              <a:t>Class A</a:t>
            </a:r>
          </a:p>
          <a:p>
            <a:pPr algn="just"/>
            <a:r>
              <a:rPr lang="en-US" dirty="0" smtClean="0">
                <a:solidFill>
                  <a:srgbClr val="7030A0"/>
                </a:solidFill>
                <a:latin typeface="Times New Roman" panose="02020603050405020304" pitchFamily="18" charset="0"/>
                <a:cs typeface="Times New Roman" panose="02020603050405020304" pitchFamily="18" charset="0"/>
              </a:rPr>
              <a:t>5-15% units </a:t>
            </a:r>
          </a:p>
          <a:p>
            <a:pPr algn="just"/>
            <a:r>
              <a:rPr lang="en-US" dirty="0" smtClean="0">
                <a:solidFill>
                  <a:srgbClr val="7030A0"/>
                </a:solidFill>
                <a:latin typeface="Times New Roman" panose="02020603050405020304" pitchFamily="18" charset="0"/>
                <a:cs typeface="Times New Roman" panose="02020603050405020304" pitchFamily="18" charset="0"/>
              </a:rPr>
              <a:t>70-80% of value</a:t>
            </a:r>
          </a:p>
          <a:p>
            <a:pPr marL="0" indent="0" algn="just">
              <a:buNone/>
            </a:pPr>
            <a:r>
              <a:rPr lang="en-US" dirty="0" smtClean="0">
                <a:solidFill>
                  <a:srgbClr val="0070C0"/>
                </a:solidFill>
                <a:latin typeface="Times New Roman" panose="02020603050405020304" pitchFamily="18" charset="0"/>
                <a:cs typeface="Times New Roman" panose="02020603050405020304" pitchFamily="18" charset="0"/>
              </a:rPr>
              <a:t>Class B</a:t>
            </a:r>
          </a:p>
          <a:p>
            <a:pPr algn="just"/>
            <a:r>
              <a:rPr lang="en-US" dirty="0" smtClean="0">
                <a:solidFill>
                  <a:srgbClr val="7030A0"/>
                </a:solidFill>
                <a:latin typeface="Times New Roman" panose="02020603050405020304" pitchFamily="18" charset="0"/>
                <a:cs typeface="Times New Roman" panose="02020603050405020304" pitchFamily="18" charset="0"/>
              </a:rPr>
              <a:t>30 % of units</a:t>
            </a:r>
          </a:p>
          <a:p>
            <a:pPr algn="just"/>
            <a:r>
              <a:rPr lang="en-US" dirty="0" smtClean="0">
                <a:solidFill>
                  <a:srgbClr val="7030A0"/>
                </a:solidFill>
                <a:latin typeface="Times New Roman" panose="02020603050405020304" pitchFamily="18" charset="0"/>
                <a:cs typeface="Times New Roman" panose="02020603050405020304" pitchFamily="18" charset="0"/>
              </a:rPr>
              <a:t>15%  of value</a:t>
            </a:r>
          </a:p>
          <a:p>
            <a:pPr marL="0" indent="0" algn="just">
              <a:buNone/>
            </a:pPr>
            <a:r>
              <a:rPr lang="en-US" dirty="0" smtClean="0">
                <a:solidFill>
                  <a:srgbClr val="0070C0"/>
                </a:solidFill>
                <a:latin typeface="Times New Roman" panose="02020603050405020304" pitchFamily="18" charset="0"/>
                <a:cs typeface="Times New Roman" panose="02020603050405020304" pitchFamily="18" charset="0"/>
              </a:rPr>
              <a:t>Class C</a:t>
            </a:r>
          </a:p>
          <a:p>
            <a:pPr marL="0" indent="0" algn="just">
              <a:buNone/>
            </a:pPr>
            <a:r>
              <a:rPr lang="en-US" dirty="0" smtClean="0">
                <a:solidFill>
                  <a:srgbClr val="7030A0"/>
                </a:solidFill>
                <a:latin typeface="Times New Roman" panose="02020603050405020304" pitchFamily="18" charset="0"/>
                <a:cs typeface="Times New Roman" panose="02020603050405020304" pitchFamily="18" charset="0"/>
              </a:rPr>
              <a:t>50-60 % of units</a:t>
            </a:r>
          </a:p>
          <a:p>
            <a:pPr marL="0" indent="0" algn="just">
              <a:buNone/>
            </a:pPr>
            <a:r>
              <a:rPr lang="en-US" dirty="0" smtClean="0">
                <a:solidFill>
                  <a:srgbClr val="7030A0"/>
                </a:solidFill>
                <a:latin typeface="Times New Roman" panose="02020603050405020304" pitchFamily="18" charset="0"/>
                <a:cs typeface="Times New Roman" panose="02020603050405020304" pitchFamily="18" charset="0"/>
              </a:rPr>
              <a:t>5-10 % of value</a:t>
            </a:r>
          </a:p>
          <a:p>
            <a:endParaRPr lang="en-IN" dirty="0"/>
          </a:p>
        </p:txBody>
      </p:sp>
      <p:pic>
        <p:nvPicPr>
          <p:cNvPr id="4" name="Picture 3"/>
          <p:cNvPicPr>
            <a:picLocks noChangeAspect="1"/>
          </p:cNvPicPr>
          <p:nvPr/>
        </p:nvPicPr>
        <p:blipFill>
          <a:blip r:embed="rId2"/>
          <a:stretch>
            <a:fillRect/>
          </a:stretch>
        </p:blipFill>
        <p:spPr>
          <a:xfrm>
            <a:off x="3386137" y="1163783"/>
            <a:ext cx="7531245" cy="4793672"/>
          </a:xfrm>
          <a:prstGeom prst="rect">
            <a:avLst/>
          </a:prstGeom>
        </p:spPr>
      </p:pic>
    </p:spTree>
    <p:extLst>
      <p:ext uri="{BB962C8B-B14F-4D97-AF65-F5344CB8AC3E}">
        <p14:creationId xmlns:p14="http://schemas.microsoft.com/office/powerpoint/2010/main" val="10598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6364" y="374073"/>
            <a:ext cx="11007436" cy="5802890"/>
          </a:xfrm>
        </p:spPr>
        <p:txBody>
          <a:bodyPr/>
          <a:lstStyle/>
          <a:p>
            <a:pPr marL="0" indent="0" algn="ctr">
              <a:buNone/>
            </a:pPr>
            <a:r>
              <a:rPr lang="en-US" dirty="0" smtClean="0">
                <a:solidFill>
                  <a:srgbClr val="002060"/>
                </a:solidFill>
                <a:latin typeface="Times New Roman" panose="02020603050405020304" pitchFamily="18" charset="0"/>
                <a:cs typeface="Times New Roman" panose="02020603050405020304" pitchFamily="18" charset="0"/>
              </a:rPr>
              <a:t>ABC classification Example</a:t>
            </a:r>
          </a:p>
          <a:p>
            <a:pPr marL="0" indent="0" algn="just">
              <a:buNone/>
            </a:pPr>
            <a:endParaRPr lang="en-US" dirty="0" smtClean="0">
              <a:solidFill>
                <a:srgbClr val="002060"/>
              </a:solidFill>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4134524418"/>
              </p:ext>
            </p:extLst>
          </p:nvPr>
        </p:nvGraphicFramePr>
        <p:xfrm>
          <a:off x="2101273" y="831277"/>
          <a:ext cx="8127999" cy="5838305"/>
        </p:xfrm>
        <a:graphic>
          <a:graphicData uri="http://schemas.openxmlformats.org/drawingml/2006/table">
            <a:tbl>
              <a:tblPr firstRow="1" bandRow="1">
                <a:tableStyleId>{5C22544A-7EE6-4342-B048-85BDC9FD1C3A}</a:tableStyleId>
              </a:tblPr>
              <a:tblGrid>
                <a:gridCol w="2709333">
                  <a:extLst>
                    <a:ext uri="{9D8B030D-6E8A-4147-A177-3AD203B41FA5}">
                      <a16:colId xmlns="" xmlns:a16="http://schemas.microsoft.com/office/drawing/2014/main" val="3219698955"/>
                    </a:ext>
                  </a:extLst>
                </a:gridCol>
                <a:gridCol w="2709333">
                  <a:extLst>
                    <a:ext uri="{9D8B030D-6E8A-4147-A177-3AD203B41FA5}">
                      <a16:colId xmlns="" xmlns:a16="http://schemas.microsoft.com/office/drawing/2014/main" val="380756605"/>
                    </a:ext>
                  </a:extLst>
                </a:gridCol>
                <a:gridCol w="2709333">
                  <a:extLst>
                    <a:ext uri="{9D8B030D-6E8A-4147-A177-3AD203B41FA5}">
                      <a16:colId xmlns="" xmlns:a16="http://schemas.microsoft.com/office/drawing/2014/main" val="693437716"/>
                    </a:ext>
                  </a:extLst>
                </a:gridCol>
              </a:tblGrid>
              <a:tr h="530755">
                <a:tc>
                  <a:txBody>
                    <a:bodyPr/>
                    <a:lstStyle/>
                    <a:p>
                      <a:r>
                        <a:rPr lang="en-US" sz="2800" dirty="0" smtClean="0">
                          <a:latin typeface="Times New Roman" panose="02020603050405020304" pitchFamily="18" charset="0"/>
                          <a:cs typeface="Times New Roman" panose="02020603050405020304" pitchFamily="18" charset="0"/>
                        </a:rPr>
                        <a:t>Part</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Unit cost</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Annual Usage</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4224684532"/>
                  </a:ext>
                </a:extLst>
              </a:tr>
              <a:tr h="530755">
                <a:tc>
                  <a:txBody>
                    <a:bodyPr/>
                    <a:lstStyle/>
                    <a:p>
                      <a:r>
                        <a:rPr lang="en-US" sz="2800" dirty="0" smtClean="0">
                          <a:latin typeface="Times New Roman" panose="02020603050405020304" pitchFamily="18" charset="0"/>
                          <a:cs typeface="Times New Roman" panose="02020603050405020304" pitchFamily="18" charset="0"/>
                        </a:rPr>
                        <a:t>1</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$60</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90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4111488526"/>
                  </a:ext>
                </a:extLst>
              </a:tr>
              <a:tr h="530755">
                <a:tc>
                  <a:txBody>
                    <a:bodyPr/>
                    <a:lstStyle/>
                    <a:p>
                      <a:r>
                        <a:rPr lang="en-US" sz="2800" dirty="0" smtClean="0">
                          <a:latin typeface="Times New Roman" panose="02020603050405020304" pitchFamily="18" charset="0"/>
                          <a:cs typeface="Times New Roman" panose="02020603050405020304" pitchFamily="18" charset="0"/>
                        </a:rPr>
                        <a:t>2</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350</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40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614955516"/>
                  </a:ext>
                </a:extLst>
              </a:tr>
              <a:tr h="530755">
                <a:tc>
                  <a:txBody>
                    <a:bodyPr/>
                    <a:lstStyle/>
                    <a:p>
                      <a:r>
                        <a:rPr lang="en-US" sz="2800" dirty="0" smtClean="0">
                          <a:latin typeface="Times New Roman" panose="02020603050405020304" pitchFamily="18" charset="0"/>
                          <a:cs typeface="Times New Roman" panose="02020603050405020304" pitchFamily="18" charset="0"/>
                        </a:rPr>
                        <a:t>3</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30</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130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053012792"/>
                  </a:ext>
                </a:extLst>
              </a:tr>
              <a:tr h="530755">
                <a:tc>
                  <a:txBody>
                    <a:bodyPr/>
                    <a:lstStyle/>
                    <a:p>
                      <a:r>
                        <a:rPr lang="en-US" sz="2800" dirty="0" smtClean="0">
                          <a:latin typeface="Times New Roman" panose="02020603050405020304" pitchFamily="18" charset="0"/>
                          <a:cs typeface="Times New Roman" panose="02020603050405020304" pitchFamily="18" charset="0"/>
                        </a:rPr>
                        <a:t>4</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80</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60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596427977"/>
                  </a:ext>
                </a:extLst>
              </a:tr>
              <a:tr h="530755">
                <a:tc>
                  <a:txBody>
                    <a:bodyPr/>
                    <a:lstStyle/>
                    <a:p>
                      <a:r>
                        <a:rPr lang="en-US" sz="2800" dirty="0" smtClean="0">
                          <a:latin typeface="Times New Roman" panose="02020603050405020304" pitchFamily="18" charset="0"/>
                          <a:cs typeface="Times New Roman" panose="02020603050405020304" pitchFamily="18" charset="0"/>
                        </a:rPr>
                        <a:t>5</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30</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100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359473968"/>
                  </a:ext>
                </a:extLst>
              </a:tr>
              <a:tr h="530755">
                <a:tc>
                  <a:txBody>
                    <a:bodyPr/>
                    <a:lstStyle/>
                    <a:p>
                      <a:r>
                        <a:rPr lang="en-US" sz="2800" dirty="0" smtClean="0">
                          <a:latin typeface="Times New Roman" panose="02020603050405020304" pitchFamily="18" charset="0"/>
                          <a:cs typeface="Times New Roman" panose="02020603050405020304" pitchFamily="18" charset="0"/>
                        </a:rPr>
                        <a:t>6</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20</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180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923461990"/>
                  </a:ext>
                </a:extLst>
              </a:tr>
              <a:tr h="530755">
                <a:tc>
                  <a:txBody>
                    <a:bodyPr/>
                    <a:lstStyle/>
                    <a:p>
                      <a:r>
                        <a:rPr lang="en-US" sz="2800" dirty="0" smtClean="0">
                          <a:latin typeface="Times New Roman" panose="02020603050405020304" pitchFamily="18" charset="0"/>
                          <a:cs typeface="Times New Roman" panose="02020603050405020304" pitchFamily="18" charset="0"/>
                        </a:rPr>
                        <a:t>7</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10</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170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213644515"/>
                  </a:ext>
                </a:extLst>
              </a:tr>
              <a:tr h="530755">
                <a:tc>
                  <a:txBody>
                    <a:bodyPr/>
                    <a:lstStyle/>
                    <a:p>
                      <a:r>
                        <a:rPr lang="en-US" sz="2800" dirty="0" smtClean="0">
                          <a:latin typeface="Times New Roman" panose="02020603050405020304" pitchFamily="18" charset="0"/>
                          <a:cs typeface="Times New Roman" panose="02020603050405020304" pitchFamily="18" charset="0"/>
                        </a:rPr>
                        <a:t>8</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320</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50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696813073"/>
                  </a:ext>
                </a:extLst>
              </a:tr>
              <a:tr h="530755">
                <a:tc>
                  <a:txBody>
                    <a:bodyPr/>
                    <a:lstStyle/>
                    <a:p>
                      <a:r>
                        <a:rPr lang="en-US" sz="2800" dirty="0" smtClean="0">
                          <a:latin typeface="Times New Roman" panose="02020603050405020304" pitchFamily="18" charset="0"/>
                          <a:cs typeface="Times New Roman" panose="02020603050405020304" pitchFamily="18" charset="0"/>
                        </a:rPr>
                        <a:t>9</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510</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60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614139619"/>
                  </a:ext>
                </a:extLst>
              </a:tr>
              <a:tr h="530755">
                <a:tc>
                  <a:txBody>
                    <a:bodyPr/>
                    <a:lstStyle/>
                    <a:p>
                      <a:r>
                        <a:rPr lang="en-US" sz="2800" dirty="0" smtClean="0">
                          <a:latin typeface="Times New Roman" panose="02020603050405020304" pitchFamily="18" charset="0"/>
                          <a:cs typeface="Times New Roman" panose="02020603050405020304" pitchFamily="18" charset="0"/>
                        </a:rPr>
                        <a:t>10</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20</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120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594532214"/>
                  </a:ext>
                </a:extLst>
              </a:tr>
            </a:tbl>
          </a:graphicData>
        </a:graphic>
      </p:graphicFrame>
    </p:spTree>
    <p:extLst>
      <p:ext uri="{BB962C8B-B14F-4D97-AF65-F5344CB8AC3E}">
        <p14:creationId xmlns:p14="http://schemas.microsoft.com/office/powerpoint/2010/main" val="1782127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p:cNvGraphicFramePr>
            <a:graphicFrameLocks noGrp="1"/>
          </p:cNvGraphicFramePr>
          <p:nvPr>
            <p:ph idx="1"/>
            <p:extLst>
              <p:ext uri="{D42A27DB-BD31-4B8C-83A1-F6EECF244321}">
                <p14:modId xmlns:p14="http://schemas.microsoft.com/office/powerpoint/2010/main" val="1802047237"/>
              </p:ext>
            </p:extLst>
          </p:nvPr>
        </p:nvGraphicFramePr>
        <p:xfrm>
          <a:off x="234950" y="346075"/>
          <a:ext cx="11388725" cy="5852160"/>
        </p:xfrm>
        <a:graphic>
          <a:graphicData uri="http://schemas.openxmlformats.org/drawingml/2006/table">
            <a:tbl>
              <a:tblPr firstRow="1" bandRow="1">
                <a:tableStyleId>{5C22544A-7EE6-4342-B048-85BDC9FD1C3A}</a:tableStyleId>
              </a:tblPr>
              <a:tblGrid>
                <a:gridCol w="2277745">
                  <a:extLst>
                    <a:ext uri="{9D8B030D-6E8A-4147-A177-3AD203B41FA5}">
                      <a16:colId xmlns="" xmlns:a16="http://schemas.microsoft.com/office/drawing/2014/main" val="4245100070"/>
                    </a:ext>
                  </a:extLst>
                </a:gridCol>
                <a:gridCol w="2277745">
                  <a:extLst>
                    <a:ext uri="{9D8B030D-6E8A-4147-A177-3AD203B41FA5}">
                      <a16:colId xmlns="" xmlns:a16="http://schemas.microsoft.com/office/drawing/2014/main" val="551533186"/>
                    </a:ext>
                  </a:extLst>
                </a:gridCol>
                <a:gridCol w="2277745">
                  <a:extLst>
                    <a:ext uri="{9D8B030D-6E8A-4147-A177-3AD203B41FA5}">
                      <a16:colId xmlns="" xmlns:a16="http://schemas.microsoft.com/office/drawing/2014/main" val="4040916535"/>
                    </a:ext>
                  </a:extLst>
                </a:gridCol>
                <a:gridCol w="2277745">
                  <a:extLst>
                    <a:ext uri="{9D8B030D-6E8A-4147-A177-3AD203B41FA5}">
                      <a16:colId xmlns="" xmlns:a16="http://schemas.microsoft.com/office/drawing/2014/main" val="3187591319"/>
                    </a:ext>
                  </a:extLst>
                </a:gridCol>
                <a:gridCol w="2277745">
                  <a:extLst>
                    <a:ext uri="{9D8B030D-6E8A-4147-A177-3AD203B41FA5}">
                      <a16:colId xmlns="" xmlns:a16="http://schemas.microsoft.com/office/drawing/2014/main" val="3495407474"/>
                    </a:ext>
                  </a:extLst>
                </a:gridCol>
              </a:tblGrid>
              <a:tr h="370840">
                <a:tc>
                  <a:txBody>
                    <a:bodyPr/>
                    <a:lstStyle/>
                    <a:p>
                      <a:r>
                        <a:rPr lang="en-US" sz="2400" dirty="0" smtClean="0">
                          <a:latin typeface="Times New Roman" panose="02020603050405020304" pitchFamily="18" charset="0"/>
                          <a:cs typeface="Times New Roman" panose="02020603050405020304" pitchFamily="18" charset="0"/>
                        </a:rPr>
                        <a:t>Part</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Total Value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 of total value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 of total quantity</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 cumulative</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597065775"/>
                  </a:ext>
                </a:extLst>
              </a:tr>
              <a:tr h="370840">
                <a:tc>
                  <a:txBody>
                    <a:bodyPr/>
                    <a:lstStyle/>
                    <a:p>
                      <a:r>
                        <a:rPr lang="en-US" sz="2400" dirty="0" smtClean="0">
                          <a:latin typeface="Times New Roman" panose="02020603050405020304" pitchFamily="18" charset="0"/>
                          <a:cs typeface="Times New Roman" panose="02020603050405020304" pitchFamily="18" charset="0"/>
                        </a:rPr>
                        <a:t>9</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$30,600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35.9</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6</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6</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219948159"/>
                  </a:ext>
                </a:extLst>
              </a:tr>
              <a:tr h="370840">
                <a:tc>
                  <a:txBody>
                    <a:bodyPr/>
                    <a:lstStyle/>
                    <a:p>
                      <a:r>
                        <a:rPr lang="en-US" sz="2400" dirty="0" smtClean="0">
                          <a:latin typeface="Times New Roman" panose="02020603050405020304" pitchFamily="18" charset="0"/>
                          <a:cs typeface="Times New Roman" panose="02020603050405020304" pitchFamily="18" charset="0"/>
                        </a:rPr>
                        <a:t>8</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16000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18.7</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5</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11</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881571705"/>
                  </a:ext>
                </a:extLst>
              </a:tr>
              <a:tr h="370840">
                <a:tc>
                  <a:txBody>
                    <a:bodyPr/>
                    <a:lstStyle/>
                    <a:p>
                      <a:r>
                        <a:rPr lang="en-US" sz="2400" dirty="0" smtClean="0">
                          <a:latin typeface="Times New Roman" panose="02020603050405020304" pitchFamily="18" charset="0"/>
                          <a:cs typeface="Times New Roman" panose="02020603050405020304" pitchFamily="18" charset="0"/>
                        </a:rPr>
                        <a:t>2</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14000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16.4</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4</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15</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015927969"/>
                  </a:ext>
                </a:extLst>
              </a:tr>
              <a:tr h="370840">
                <a:tc>
                  <a:txBody>
                    <a:bodyPr/>
                    <a:lstStyle/>
                    <a:p>
                      <a:r>
                        <a:rPr lang="en-US" sz="2400" dirty="0" smtClean="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5400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6.3</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9</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24</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286647209"/>
                  </a:ext>
                </a:extLst>
              </a:tr>
              <a:tr h="370840">
                <a:tc>
                  <a:txBody>
                    <a:bodyPr/>
                    <a:lstStyle/>
                    <a:p>
                      <a:r>
                        <a:rPr lang="en-US" sz="2400" dirty="0" smtClean="0">
                          <a:latin typeface="Times New Roman" panose="02020603050405020304" pitchFamily="18" charset="0"/>
                          <a:cs typeface="Times New Roman" panose="02020603050405020304" pitchFamily="18" charset="0"/>
                        </a:rPr>
                        <a:t>4</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4800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5.6</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6</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30</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126345416"/>
                  </a:ext>
                </a:extLst>
              </a:tr>
              <a:tr h="370840">
                <a:tc>
                  <a:txBody>
                    <a:bodyPr/>
                    <a:lstStyle/>
                    <a:p>
                      <a:r>
                        <a:rPr lang="en-US" sz="2400" dirty="0" smtClean="0">
                          <a:latin typeface="Times New Roman" panose="02020603050405020304" pitchFamily="18" charset="0"/>
                          <a:cs typeface="Times New Roman" panose="02020603050405020304" pitchFamily="18" charset="0"/>
                        </a:rPr>
                        <a:t>3</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3900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4.6</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40</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340593418"/>
                  </a:ext>
                </a:extLst>
              </a:tr>
              <a:tr h="370840">
                <a:tc>
                  <a:txBody>
                    <a:bodyPr/>
                    <a:lstStyle/>
                    <a:p>
                      <a:r>
                        <a:rPr lang="en-US" sz="2400" dirty="0" smtClean="0">
                          <a:latin typeface="Times New Roman" panose="02020603050405020304" pitchFamily="18" charset="0"/>
                          <a:cs typeface="Times New Roman" panose="02020603050405020304" pitchFamily="18" charset="0"/>
                        </a:rPr>
                        <a:t>6</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3600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4.2</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18</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58</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542937792"/>
                  </a:ext>
                </a:extLst>
              </a:tr>
              <a:tr h="370840">
                <a:tc>
                  <a:txBody>
                    <a:bodyPr/>
                    <a:lstStyle/>
                    <a:p>
                      <a:r>
                        <a:rPr lang="en-US" sz="2400" dirty="0" smtClean="0">
                          <a:latin typeface="Times New Roman" panose="02020603050405020304" pitchFamily="18" charset="0"/>
                          <a:cs typeface="Times New Roman" panose="02020603050405020304" pitchFamily="18" charset="0"/>
                        </a:rPr>
                        <a:t>5</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3000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3.5</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13</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71</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857472332"/>
                  </a:ext>
                </a:extLst>
              </a:tr>
              <a:tr h="370840">
                <a:tc>
                  <a:txBody>
                    <a:bodyPr/>
                    <a:lstStyle/>
                    <a:p>
                      <a:r>
                        <a:rPr lang="en-US" sz="2400" dirty="0" smtClean="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2400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2.8</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12</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83</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76886922"/>
                  </a:ext>
                </a:extLst>
              </a:tr>
              <a:tr h="370840">
                <a:tc>
                  <a:txBody>
                    <a:bodyPr/>
                    <a:lstStyle/>
                    <a:p>
                      <a:r>
                        <a:rPr lang="en-US" sz="2400" dirty="0" smtClean="0">
                          <a:latin typeface="Times New Roman" panose="02020603050405020304" pitchFamily="18" charset="0"/>
                          <a:cs typeface="Times New Roman" panose="02020603050405020304" pitchFamily="18" charset="0"/>
                        </a:rPr>
                        <a:t>7</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1700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2.0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17</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100</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280910005"/>
                  </a:ext>
                </a:extLst>
              </a:tr>
              <a:tr h="370840">
                <a:tc>
                  <a:txBody>
                    <a:bodyPr/>
                    <a:lstStyle/>
                    <a:p>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$85400</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682749303"/>
                  </a:ext>
                </a:extLst>
              </a:tr>
            </a:tbl>
          </a:graphicData>
        </a:graphic>
      </p:graphicFrame>
      <p:cxnSp>
        <p:nvCxnSpPr>
          <p:cNvPr id="6" name="Straight Connector 5"/>
          <p:cNvCxnSpPr/>
          <p:nvPr/>
        </p:nvCxnSpPr>
        <p:spPr>
          <a:xfrm>
            <a:off x="2521527" y="5777345"/>
            <a:ext cx="2286000" cy="13855"/>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9472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8655" y="247519"/>
            <a:ext cx="11457709" cy="6276109"/>
          </a:xfrm>
        </p:spPr>
        <p:txBody>
          <a:bodyPr>
            <a:normAutofit/>
          </a:bodyPr>
          <a:lstStyle/>
          <a:p>
            <a:pPr marL="0" indent="0">
              <a:buNone/>
            </a:pPr>
            <a:r>
              <a:rPr lang="en-US" dirty="0" smtClean="0"/>
              <a:t>     </a:t>
            </a:r>
            <a:endParaRPr lang="en-IN" dirty="0"/>
          </a:p>
        </p:txBody>
      </p:sp>
      <p:graphicFrame>
        <p:nvGraphicFramePr>
          <p:cNvPr id="2" name="Table 1"/>
          <p:cNvGraphicFramePr>
            <a:graphicFrameLocks noGrp="1"/>
          </p:cNvGraphicFramePr>
          <p:nvPr>
            <p:extLst>
              <p:ext uri="{D42A27DB-BD31-4B8C-83A1-F6EECF244321}">
                <p14:modId xmlns:p14="http://schemas.microsoft.com/office/powerpoint/2010/main" val="645725145"/>
              </p:ext>
            </p:extLst>
          </p:nvPr>
        </p:nvGraphicFramePr>
        <p:xfrm>
          <a:off x="1634834" y="395781"/>
          <a:ext cx="9531930" cy="6278880"/>
        </p:xfrm>
        <a:graphic>
          <a:graphicData uri="http://schemas.openxmlformats.org/drawingml/2006/table">
            <a:tbl>
              <a:tblPr firstRow="1" bandRow="1">
                <a:tableStyleId>{5C22544A-7EE6-4342-B048-85BDC9FD1C3A}</a:tableStyleId>
              </a:tblPr>
              <a:tblGrid>
                <a:gridCol w="1588655">
                  <a:extLst>
                    <a:ext uri="{9D8B030D-6E8A-4147-A177-3AD203B41FA5}">
                      <a16:colId xmlns="" xmlns:a16="http://schemas.microsoft.com/office/drawing/2014/main" val="1414670918"/>
                    </a:ext>
                  </a:extLst>
                </a:gridCol>
                <a:gridCol w="1588655">
                  <a:extLst>
                    <a:ext uri="{9D8B030D-6E8A-4147-A177-3AD203B41FA5}">
                      <a16:colId xmlns="" xmlns:a16="http://schemas.microsoft.com/office/drawing/2014/main" val="851839261"/>
                    </a:ext>
                  </a:extLst>
                </a:gridCol>
                <a:gridCol w="1588655">
                  <a:extLst>
                    <a:ext uri="{9D8B030D-6E8A-4147-A177-3AD203B41FA5}">
                      <a16:colId xmlns="" xmlns:a16="http://schemas.microsoft.com/office/drawing/2014/main" val="1891101642"/>
                    </a:ext>
                  </a:extLst>
                </a:gridCol>
                <a:gridCol w="1588655">
                  <a:extLst>
                    <a:ext uri="{9D8B030D-6E8A-4147-A177-3AD203B41FA5}">
                      <a16:colId xmlns="" xmlns:a16="http://schemas.microsoft.com/office/drawing/2014/main" val="3871157434"/>
                    </a:ext>
                  </a:extLst>
                </a:gridCol>
                <a:gridCol w="1588655">
                  <a:extLst>
                    <a:ext uri="{9D8B030D-6E8A-4147-A177-3AD203B41FA5}">
                      <a16:colId xmlns="" xmlns:a16="http://schemas.microsoft.com/office/drawing/2014/main" val="3008029262"/>
                    </a:ext>
                  </a:extLst>
                </a:gridCol>
                <a:gridCol w="1588655">
                  <a:extLst>
                    <a:ext uri="{9D8B030D-6E8A-4147-A177-3AD203B41FA5}">
                      <a16:colId xmlns="" xmlns:a16="http://schemas.microsoft.com/office/drawing/2014/main" val="1965201284"/>
                    </a:ext>
                  </a:extLst>
                </a:gridCol>
              </a:tblGrid>
              <a:tr h="1160478">
                <a:tc>
                  <a:txBody>
                    <a:bodyPr/>
                    <a:lstStyle/>
                    <a:p>
                      <a:r>
                        <a:rPr lang="en-US" sz="2400" dirty="0" smtClean="0">
                          <a:latin typeface="Times New Roman" panose="02020603050405020304" pitchFamily="18" charset="0"/>
                          <a:cs typeface="Times New Roman" panose="02020603050405020304" pitchFamily="18" charset="0"/>
                        </a:rPr>
                        <a:t>Part</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Total Value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 of total value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 of total quantity</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 cumulative</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568242210"/>
                  </a:ext>
                </a:extLst>
              </a:tr>
              <a:tr h="446338">
                <a:tc>
                  <a:txBody>
                    <a:bodyPr/>
                    <a:lstStyle/>
                    <a:p>
                      <a:r>
                        <a:rPr lang="en-US" sz="2400" dirty="0" smtClean="0">
                          <a:latin typeface="Times New Roman" panose="02020603050405020304" pitchFamily="18" charset="0"/>
                          <a:cs typeface="Times New Roman" panose="02020603050405020304" pitchFamily="18" charset="0"/>
                        </a:rPr>
                        <a:t>9</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$30,600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35.9</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6</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6</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883920336"/>
                  </a:ext>
                </a:extLst>
              </a:tr>
              <a:tr h="505849">
                <a:tc>
                  <a:txBody>
                    <a:bodyPr/>
                    <a:lstStyle/>
                    <a:p>
                      <a:r>
                        <a:rPr lang="en-US" sz="2400" dirty="0" smtClean="0">
                          <a:latin typeface="Times New Roman" panose="02020603050405020304" pitchFamily="18" charset="0"/>
                          <a:cs typeface="Times New Roman" panose="02020603050405020304" pitchFamily="18" charset="0"/>
                        </a:rPr>
                        <a:t>8</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16000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18.7</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5</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  </a:t>
                      </a:r>
                      <a:r>
                        <a:rPr lang="en-US" sz="2800" b="1" dirty="0" smtClean="0">
                          <a:solidFill>
                            <a:srgbClr val="FF0000"/>
                          </a:solidFill>
                          <a:latin typeface="Times New Roman" panose="02020603050405020304" pitchFamily="18" charset="0"/>
                          <a:cs typeface="Times New Roman" panose="02020603050405020304" pitchFamily="18" charset="0"/>
                        </a:rPr>
                        <a:t>A</a:t>
                      </a:r>
                      <a:endParaRPr lang="en-IN" sz="28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11</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662513692"/>
                  </a:ext>
                </a:extLst>
              </a:tr>
              <a:tr h="446338">
                <a:tc>
                  <a:txBody>
                    <a:bodyPr/>
                    <a:lstStyle/>
                    <a:p>
                      <a:r>
                        <a:rPr lang="en-US" sz="2400" dirty="0" smtClean="0">
                          <a:latin typeface="Times New Roman" panose="02020603050405020304" pitchFamily="18" charset="0"/>
                          <a:cs typeface="Times New Roman" panose="02020603050405020304" pitchFamily="18" charset="0"/>
                        </a:rPr>
                        <a:t>2</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14000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16.4</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4</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15</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810162588"/>
                  </a:ext>
                </a:extLst>
              </a:tr>
              <a:tr h="446338">
                <a:tc>
                  <a:txBody>
                    <a:bodyPr/>
                    <a:lstStyle/>
                    <a:p>
                      <a:r>
                        <a:rPr lang="en-US" sz="2400" dirty="0" smtClean="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5400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6.3</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9</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24</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4173189854"/>
                  </a:ext>
                </a:extLst>
              </a:tr>
              <a:tr h="446338">
                <a:tc>
                  <a:txBody>
                    <a:bodyPr/>
                    <a:lstStyle/>
                    <a:p>
                      <a:r>
                        <a:rPr lang="en-US" sz="2400" dirty="0" smtClean="0">
                          <a:latin typeface="Times New Roman" panose="02020603050405020304" pitchFamily="18" charset="0"/>
                          <a:cs typeface="Times New Roman" panose="02020603050405020304" pitchFamily="18" charset="0"/>
                        </a:rPr>
                        <a:t>4</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4800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5.6</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6</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   </a:t>
                      </a:r>
                      <a:r>
                        <a:rPr lang="en-US" sz="2400" b="1" dirty="0" smtClean="0">
                          <a:solidFill>
                            <a:srgbClr val="FF0000"/>
                          </a:solidFill>
                          <a:latin typeface="Times New Roman" panose="02020603050405020304" pitchFamily="18" charset="0"/>
                          <a:cs typeface="Times New Roman" panose="02020603050405020304" pitchFamily="18" charset="0"/>
                        </a:rPr>
                        <a:t>B</a:t>
                      </a:r>
                      <a:endParaRPr lang="en-IN" sz="24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30</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444898861"/>
                  </a:ext>
                </a:extLst>
              </a:tr>
              <a:tr h="446338">
                <a:tc>
                  <a:txBody>
                    <a:bodyPr/>
                    <a:lstStyle/>
                    <a:p>
                      <a:r>
                        <a:rPr lang="en-US" sz="2400" dirty="0" smtClean="0">
                          <a:latin typeface="Times New Roman" panose="02020603050405020304" pitchFamily="18" charset="0"/>
                          <a:cs typeface="Times New Roman" panose="02020603050405020304" pitchFamily="18" charset="0"/>
                        </a:rPr>
                        <a:t>3</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3900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4.6</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40</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145908110"/>
                  </a:ext>
                </a:extLst>
              </a:tr>
              <a:tr h="446338">
                <a:tc>
                  <a:txBody>
                    <a:bodyPr/>
                    <a:lstStyle/>
                    <a:p>
                      <a:r>
                        <a:rPr lang="en-US" sz="2400" dirty="0" smtClean="0">
                          <a:latin typeface="Times New Roman" panose="02020603050405020304" pitchFamily="18" charset="0"/>
                          <a:cs typeface="Times New Roman" panose="02020603050405020304" pitchFamily="18" charset="0"/>
                        </a:rPr>
                        <a:t>6</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3600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4.2</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18</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58</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787429466"/>
                  </a:ext>
                </a:extLst>
              </a:tr>
              <a:tr h="446338">
                <a:tc>
                  <a:txBody>
                    <a:bodyPr/>
                    <a:lstStyle/>
                    <a:p>
                      <a:r>
                        <a:rPr lang="en-US" sz="2400" dirty="0" smtClean="0">
                          <a:latin typeface="Times New Roman" panose="02020603050405020304" pitchFamily="18" charset="0"/>
                          <a:cs typeface="Times New Roman" panose="02020603050405020304" pitchFamily="18" charset="0"/>
                        </a:rPr>
                        <a:t>5</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3000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3.5</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13</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smtClean="0">
                          <a:solidFill>
                            <a:srgbClr val="FF0000"/>
                          </a:solidFill>
                          <a:latin typeface="Times New Roman" panose="02020603050405020304" pitchFamily="18" charset="0"/>
                          <a:cs typeface="Times New Roman" panose="02020603050405020304" pitchFamily="18" charset="0"/>
                        </a:rPr>
                        <a:t>C</a:t>
                      </a:r>
                      <a:endParaRPr lang="en-IN" sz="24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71</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820325707"/>
                  </a:ext>
                </a:extLst>
              </a:tr>
              <a:tr h="446338">
                <a:tc>
                  <a:txBody>
                    <a:bodyPr/>
                    <a:lstStyle/>
                    <a:p>
                      <a:r>
                        <a:rPr lang="en-US" sz="2400" dirty="0" smtClean="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2400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2.8</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12</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83</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117566064"/>
                  </a:ext>
                </a:extLst>
              </a:tr>
              <a:tr h="446338">
                <a:tc>
                  <a:txBody>
                    <a:bodyPr/>
                    <a:lstStyle/>
                    <a:p>
                      <a:r>
                        <a:rPr lang="en-US" sz="2400" dirty="0" smtClean="0">
                          <a:latin typeface="Times New Roman" panose="02020603050405020304" pitchFamily="18" charset="0"/>
                          <a:cs typeface="Times New Roman" panose="02020603050405020304" pitchFamily="18" charset="0"/>
                        </a:rPr>
                        <a:t>7</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1700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2.0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17</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100</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690765988"/>
                  </a:ext>
                </a:extLst>
              </a:tr>
              <a:tr h="446338">
                <a:tc>
                  <a:txBody>
                    <a:bodyPr/>
                    <a:lstStyle/>
                    <a:p>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$85400</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648243932"/>
                  </a:ext>
                </a:extLst>
              </a:tr>
            </a:tbl>
          </a:graphicData>
        </a:graphic>
      </p:graphicFrame>
      <p:sp>
        <p:nvSpPr>
          <p:cNvPr id="4" name="TextBox 3"/>
          <p:cNvSpPr txBox="1"/>
          <p:nvPr/>
        </p:nvSpPr>
        <p:spPr>
          <a:xfrm>
            <a:off x="318655" y="249381"/>
            <a:ext cx="1316181" cy="461665"/>
          </a:xfrm>
          <a:prstGeom prst="rect">
            <a:avLst/>
          </a:prstGeom>
          <a:noFill/>
        </p:spPr>
        <p:txBody>
          <a:bodyPr wrap="square" rtlCol="0">
            <a:spAutoFit/>
          </a:bodyPr>
          <a:lstStyle/>
          <a:p>
            <a:pPr algn="ctr"/>
            <a:r>
              <a:rPr lang="en-US" sz="2400" dirty="0" smtClean="0">
                <a:solidFill>
                  <a:srgbClr val="7030A0"/>
                </a:solidFill>
                <a:latin typeface="Times New Roman" panose="02020603050405020304" pitchFamily="18" charset="0"/>
                <a:cs typeface="Times New Roman" panose="02020603050405020304" pitchFamily="18" charset="0"/>
              </a:rPr>
              <a:t>Solution</a:t>
            </a:r>
            <a:endParaRPr lang="en-IN" sz="2400" dirty="0">
              <a:solidFill>
                <a:srgbClr val="7030A0"/>
              </a:solidFill>
              <a:latin typeface="Times New Roman" panose="02020603050405020304" pitchFamily="18" charset="0"/>
              <a:cs typeface="Times New Roman" panose="02020603050405020304" pitchFamily="18" charset="0"/>
            </a:endParaRPr>
          </a:p>
        </p:txBody>
      </p:sp>
      <p:cxnSp>
        <p:nvCxnSpPr>
          <p:cNvPr id="6" name="Straight Connector 5"/>
          <p:cNvCxnSpPr/>
          <p:nvPr/>
        </p:nvCxnSpPr>
        <p:spPr>
          <a:xfrm flipV="1">
            <a:off x="1634836" y="3002507"/>
            <a:ext cx="9638215" cy="2171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634836" y="4353636"/>
            <a:ext cx="9501737" cy="2729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245065" y="6225239"/>
            <a:ext cx="1496291"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0621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35527"/>
            <a:ext cx="11049000" cy="5941436"/>
          </a:xfrm>
        </p:spPr>
        <p:txBody>
          <a:bodyPr/>
          <a:lstStyle/>
          <a:p>
            <a:pPr marL="0" indent="0">
              <a:buNone/>
            </a:pPr>
            <a:endParaRPr lang="en-US" dirty="0" smtClean="0">
              <a:solidFill>
                <a:srgbClr val="7030A0"/>
              </a:solidFill>
              <a:latin typeface="Times New Roman" panose="02020603050405020304" pitchFamily="18" charset="0"/>
              <a:cs typeface="Times New Roman" panose="02020603050405020304" pitchFamily="18" charset="0"/>
            </a:endParaRPr>
          </a:p>
          <a:p>
            <a:pPr marL="0" indent="0">
              <a:buNone/>
            </a:pPr>
            <a:endParaRPr lang="en-IN" dirty="0"/>
          </a:p>
        </p:txBody>
      </p:sp>
      <p:graphicFrame>
        <p:nvGraphicFramePr>
          <p:cNvPr id="2" name="Table 1"/>
          <p:cNvGraphicFramePr>
            <a:graphicFrameLocks noGrp="1"/>
          </p:cNvGraphicFramePr>
          <p:nvPr>
            <p:extLst>
              <p:ext uri="{D42A27DB-BD31-4B8C-83A1-F6EECF244321}">
                <p14:modId xmlns:p14="http://schemas.microsoft.com/office/powerpoint/2010/main" val="785777710"/>
              </p:ext>
            </p:extLst>
          </p:nvPr>
        </p:nvGraphicFramePr>
        <p:xfrm>
          <a:off x="2032000" y="719664"/>
          <a:ext cx="8128000" cy="3771786"/>
        </p:xfrm>
        <a:graphic>
          <a:graphicData uri="http://schemas.openxmlformats.org/drawingml/2006/table">
            <a:tbl>
              <a:tblPr firstRow="1" bandRow="1">
                <a:tableStyleId>{5C22544A-7EE6-4342-B048-85BDC9FD1C3A}</a:tableStyleId>
              </a:tblPr>
              <a:tblGrid>
                <a:gridCol w="2032000">
                  <a:extLst>
                    <a:ext uri="{9D8B030D-6E8A-4147-A177-3AD203B41FA5}">
                      <a16:colId xmlns="" xmlns:a16="http://schemas.microsoft.com/office/drawing/2014/main" val="3265279267"/>
                    </a:ext>
                  </a:extLst>
                </a:gridCol>
                <a:gridCol w="2032000">
                  <a:extLst>
                    <a:ext uri="{9D8B030D-6E8A-4147-A177-3AD203B41FA5}">
                      <a16:colId xmlns="" xmlns:a16="http://schemas.microsoft.com/office/drawing/2014/main" val="915916436"/>
                    </a:ext>
                  </a:extLst>
                </a:gridCol>
                <a:gridCol w="2032000">
                  <a:extLst>
                    <a:ext uri="{9D8B030D-6E8A-4147-A177-3AD203B41FA5}">
                      <a16:colId xmlns="" xmlns:a16="http://schemas.microsoft.com/office/drawing/2014/main" val="1754868205"/>
                    </a:ext>
                  </a:extLst>
                </a:gridCol>
                <a:gridCol w="2032000">
                  <a:extLst>
                    <a:ext uri="{9D8B030D-6E8A-4147-A177-3AD203B41FA5}">
                      <a16:colId xmlns="" xmlns:a16="http://schemas.microsoft.com/office/drawing/2014/main" val="3996944506"/>
                    </a:ext>
                  </a:extLst>
                </a:gridCol>
              </a:tblGrid>
              <a:tr h="942302">
                <a:tc>
                  <a:txBody>
                    <a:bodyPr/>
                    <a:lstStyle/>
                    <a:p>
                      <a:pPr algn="ctr"/>
                      <a:r>
                        <a:rPr lang="en-US" sz="2800" dirty="0" smtClean="0">
                          <a:latin typeface="Times New Roman" panose="02020603050405020304" pitchFamily="18" charset="0"/>
                          <a:cs typeface="Times New Roman" panose="02020603050405020304" pitchFamily="18" charset="0"/>
                        </a:rPr>
                        <a:t>Class</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latin typeface="Times New Roman" panose="02020603050405020304" pitchFamily="18" charset="0"/>
                          <a:cs typeface="Times New Roman" panose="02020603050405020304" pitchFamily="18" charset="0"/>
                        </a:rPr>
                        <a:t>Items</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latin typeface="Times New Roman" panose="02020603050405020304" pitchFamily="18" charset="0"/>
                          <a:cs typeface="Times New Roman" panose="02020603050405020304" pitchFamily="18" charset="0"/>
                        </a:rPr>
                        <a:t>% of total value</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latin typeface="Times New Roman" panose="02020603050405020304" pitchFamily="18" charset="0"/>
                          <a:cs typeface="Times New Roman" panose="02020603050405020304" pitchFamily="18" charset="0"/>
                        </a:rPr>
                        <a:t>% total quantity</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267781101"/>
                  </a:ext>
                </a:extLst>
              </a:tr>
              <a:tr h="942302">
                <a:tc>
                  <a:txBody>
                    <a:bodyPr/>
                    <a:lstStyle/>
                    <a:p>
                      <a:pPr algn="ctr"/>
                      <a:r>
                        <a:rPr lang="en-US" sz="2800" dirty="0" smtClean="0">
                          <a:latin typeface="Times New Roman" panose="02020603050405020304" pitchFamily="18" charset="0"/>
                          <a:cs typeface="Times New Roman" panose="02020603050405020304" pitchFamily="18" charset="0"/>
                        </a:rPr>
                        <a:t>A</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latin typeface="Times New Roman" panose="02020603050405020304" pitchFamily="18" charset="0"/>
                          <a:cs typeface="Times New Roman" panose="02020603050405020304" pitchFamily="18" charset="0"/>
                        </a:rPr>
                        <a:t>9, 8, 2</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latin typeface="Times New Roman" panose="02020603050405020304" pitchFamily="18" charset="0"/>
                          <a:cs typeface="Times New Roman" panose="02020603050405020304" pitchFamily="18" charset="0"/>
                        </a:rPr>
                        <a:t>71.0</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latin typeface="Times New Roman" panose="02020603050405020304" pitchFamily="18" charset="0"/>
                          <a:cs typeface="Times New Roman" panose="02020603050405020304" pitchFamily="18" charset="0"/>
                        </a:rPr>
                        <a:t>15.0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179153220"/>
                  </a:ext>
                </a:extLst>
              </a:tr>
              <a:tr h="942302">
                <a:tc>
                  <a:txBody>
                    <a:bodyPr/>
                    <a:lstStyle/>
                    <a:p>
                      <a:pPr algn="ctr"/>
                      <a:r>
                        <a:rPr lang="en-US" sz="2800" dirty="0" smtClean="0">
                          <a:latin typeface="Times New Roman" panose="02020603050405020304" pitchFamily="18" charset="0"/>
                          <a:cs typeface="Times New Roman" panose="02020603050405020304" pitchFamily="18" charset="0"/>
                        </a:rPr>
                        <a:t>B</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latin typeface="Times New Roman" panose="02020603050405020304" pitchFamily="18" charset="0"/>
                          <a:cs typeface="Times New Roman" panose="02020603050405020304" pitchFamily="18" charset="0"/>
                        </a:rPr>
                        <a:t>1, 4, 3</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latin typeface="Times New Roman" panose="02020603050405020304" pitchFamily="18" charset="0"/>
                          <a:cs typeface="Times New Roman" panose="02020603050405020304" pitchFamily="18" charset="0"/>
                        </a:rPr>
                        <a:t>16.5</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latin typeface="Times New Roman" panose="02020603050405020304" pitchFamily="18" charset="0"/>
                          <a:cs typeface="Times New Roman" panose="02020603050405020304" pitchFamily="18" charset="0"/>
                        </a:rPr>
                        <a:t>25.0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981732773"/>
                  </a:ext>
                </a:extLst>
              </a:tr>
              <a:tr h="942302">
                <a:tc>
                  <a:txBody>
                    <a:bodyPr/>
                    <a:lstStyle/>
                    <a:p>
                      <a:pPr algn="ctr"/>
                      <a:r>
                        <a:rPr lang="en-US" sz="2800" dirty="0" smtClean="0">
                          <a:latin typeface="Times New Roman" panose="02020603050405020304" pitchFamily="18" charset="0"/>
                          <a:cs typeface="Times New Roman" panose="02020603050405020304" pitchFamily="18" charset="0"/>
                        </a:rPr>
                        <a:t>C</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latin typeface="Times New Roman" panose="02020603050405020304" pitchFamily="18" charset="0"/>
                          <a:cs typeface="Times New Roman" panose="02020603050405020304" pitchFamily="18" charset="0"/>
                        </a:rPr>
                        <a:t>6, 5, 10, 7</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latin typeface="Times New Roman" panose="02020603050405020304" pitchFamily="18" charset="0"/>
                          <a:cs typeface="Times New Roman" panose="02020603050405020304" pitchFamily="18" charset="0"/>
                        </a:rPr>
                        <a:t>12.5</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smtClean="0">
                          <a:latin typeface="Times New Roman" panose="02020603050405020304" pitchFamily="18" charset="0"/>
                          <a:cs typeface="Times New Roman" panose="02020603050405020304" pitchFamily="18" charset="0"/>
                        </a:rPr>
                        <a:t>60.0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442862844"/>
                  </a:ext>
                </a:extLst>
              </a:tr>
            </a:tbl>
          </a:graphicData>
        </a:graphic>
      </p:graphicFrame>
    </p:spTree>
    <p:extLst>
      <p:ext uri="{BB962C8B-B14F-4D97-AF65-F5344CB8AC3E}">
        <p14:creationId xmlns:p14="http://schemas.microsoft.com/office/powerpoint/2010/main" val="3664016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236" y="277091"/>
            <a:ext cx="11090564" cy="5899872"/>
          </a:xfrm>
        </p:spPr>
        <p:txBody>
          <a:bodyPr/>
          <a:lstStyle/>
          <a:p>
            <a:pPr marL="0" indent="0" algn="ctr">
              <a:buNone/>
            </a:pPr>
            <a:r>
              <a:rPr lang="en-US" dirty="0" smtClean="0">
                <a:solidFill>
                  <a:srgbClr val="C00000"/>
                </a:solidFill>
                <a:latin typeface="Times New Roman" panose="02020603050405020304" pitchFamily="18" charset="0"/>
                <a:cs typeface="Times New Roman" panose="02020603050405020304" pitchFamily="18" charset="0"/>
              </a:rPr>
              <a:t>Advantage of ABC analysis</a:t>
            </a:r>
          </a:p>
          <a:p>
            <a:pPr algn="just"/>
            <a:r>
              <a:rPr lang="en-US" dirty="0" smtClean="0">
                <a:solidFill>
                  <a:srgbClr val="7030A0"/>
                </a:solidFill>
                <a:latin typeface="Times New Roman" panose="02020603050405020304" pitchFamily="18" charset="0"/>
                <a:cs typeface="Times New Roman" panose="02020603050405020304" pitchFamily="18" charset="0"/>
              </a:rPr>
              <a:t>This approach helps the manager to exercise selective control and focus of his attention only on few items</a:t>
            </a:r>
          </a:p>
          <a:p>
            <a:pPr marL="0" indent="0" algn="just">
              <a:buNone/>
            </a:pP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solidFill>
                  <a:srgbClr val="7030A0"/>
                </a:solidFill>
                <a:latin typeface="Times New Roman" panose="02020603050405020304" pitchFamily="18" charset="0"/>
                <a:cs typeface="Times New Roman" panose="02020603050405020304" pitchFamily="18" charset="0"/>
              </a:rPr>
              <a:t>By exercising strict control on A class items, the materials manager is able to show results with the short period of time</a:t>
            </a:r>
          </a:p>
          <a:p>
            <a:pPr marL="0" indent="0" algn="just">
              <a:buNone/>
            </a:pP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solidFill>
                  <a:srgbClr val="7030A0"/>
                </a:solidFill>
                <a:latin typeface="Times New Roman" panose="02020603050405020304" pitchFamily="18" charset="0"/>
                <a:cs typeface="Times New Roman" panose="02020603050405020304" pitchFamily="18" charset="0"/>
              </a:rPr>
              <a:t>It results in reduced clerical cost, saves time and efforts and results in better planning and control</a:t>
            </a:r>
            <a:endParaRPr lang="en-US" dirty="0" smtClean="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8206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0945" y="290945"/>
            <a:ext cx="11062855" cy="6345382"/>
          </a:xfrm>
        </p:spPr>
        <p:txBody>
          <a:bodyPr/>
          <a:lstStyle/>
          <a:p>
            <a:pPr marL="0" indent="0" algn="ctr">
              <a:buNone/>
            </a:pPr>
            <a:r>
              <a:rPr lang="en-US" dirty="0" smtClean="0">
                <a:solidFill>
                  <a:srgbClr val="7030A0"/>
                </a:solidFill>
                <a:latin typeface="Times New Roman" panose="02020603050405020304" pitchFamily="18" charset="0"/>
                <a:cs typeface="Times New Roman" panose="02020603050405020304" pitchFamily="18" charset="0"/>
              </a:rPr>
              <a:t> </a:t>
            </a:r>
            <a:r>
              <a:rPr lang="en-US" sz="3600" dirty="0" smtClean="0">
                <a:solidFill>
                  <a:srgbClr val="C00000"/>
                </a:solidFill>
                <a:latin typeface="Times New Roman" panose="02020603050405020304" pitchFamily="18" charset="0"/>
                <a:cs typeface="Times New Roman" panose="02020603050405020304" pitchFamily="18" charset="0"/>
              </a:rPr>
              <a:t>Limitation of ABC analysis</a:t>
            </a:r>
          </a:p>
          <a:p>
            <a:pPr algn="just"/>
            <a:r>
              <a:rPr lang="en-US" dirty="0" smtClean="0">
                <a:solidFill>
                  <a:srgbClr val="7030A0"/>
                </a:solidFill>
                <a:latin typeface="Times New Roman" panose="02020603050405020304" pitchFamily="18" charset="0"/>
                <a:cs typeface="Times New Roman" panose="02020603050405020304" pitchFamily="18" charset="0"/>
              </a:rPr>
              <a:t>It is not one time exercise and items are to be reviewed and recategorised periodically</a:t>
            </a:r>
            <a:endParaRPr lang="en-IN" dirty="0">
              <a:solidFill>
                <a:srgbClr val="7030A0"/>
              </a:solidFill>
            </a:endParaRPr>
          </a:p>
        </p:txBody>
      </p:sp>
    </p:spTree>
    <p:extLst>
      <p:ext uri="{BB962C8B-B14F-4D97-AF65-F5344CB8AC3E}">
        <p14:creationId xmlns:p14="http://schemas.microsoft.com/office/powerpoint/2010/main" val="2648266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005" y="83127"/>
            <a:ext cx="11732821" cy="6774873"/>
          </a:xfrm>
        </p:spPr>
        <p:txBody>
          <a:bodyPr>
            <a:normAutofit/>
          </a:bodyPr>
          <a:lstStyle/>
          <a:p>
            <a:pPr marL="0" indent="0" algn="ctr">
              <a:buNone/>
            </a:pPr>
            <a:r>
              <a:rPr lang="en-US" sz="3600" dirty="0" smtClean="0">
                <a:solidFill>
                  <a:srgbClr val="C00000"/>
                </a:solidFill>
                <a:latin typeface="Times New Roman" panose="02020603050405020304" pitchFamily="18" charset="0"/>
                <a:cs typeface="Times New Roman" panose="02020603050405020304" pitchFamily="18" charset="0"/>
              </a:rPr>
              <a:t>V.E.D. ( Vital, Essential, Desirable ) Analysis</a:t>
            </a:r>
          </a:p>
          <a:p>
            <a:pPr algn="just"/>
            <a:r>
              <a:rPr lang="en-US" dirty="0" smtClean="0">
                <a:solidFill>
                  <a:srgbClr val="7030A0"/>
                </a:solidFill>
                <a:latin typeface="Times New Roman" panose="02020603050405020304" pitchFamily="18" charset="0"/>
                <a:cs typeface="Times New Roman" panose="02020603050405020304" pitchFamily="18" charset="0"/>
              </a:rPr>
              <a:t>The analysis classifies the items into three groups called Vital, essential and desirable.</a:t>
            </a:r>
          </a:p>
          <a:p>
            <a:pPr marL="0" indent="0" algn="just">
              <a:buNone/>
            </a:pP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solidFill>
                  <a:srgbClr val="7030A0"/>
                </a:solidFill>
                <a:latin typeface="Times New Roman" panose="02020603050405020304" pitchFamily="18" charset="0"/>
                <a:cs typeface="Times New Roman" panose="02020603050405020304" pitchFamily="18" charset="0"/>
              </a:rPr>
              <a:t>Vital Items are those items , whose unavailability will stop the production</a:t>
            </a:r>
          </a:p>
          <a:p>
            <a:pPr marL="0" indent="0" algn="just">
              <a:buNone/>
            </a:pP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solidFill>
                  <a:srgbClr val="7030A0"/>
                </a:solidFill>
                <a:latin typeface="Times New Roman" panose="02020603050405020304" pitchFamily="18" charset="0"/>
                <a:cs typeface="Times New Roman" panose="02020603050405020304" pitchFamily="18" charset="0"/>
              </a:rPr>
              <a:t>Essential items are those items, whose stock out costs are very high</a:t>
            </a:r>
          </a:p>
          <a:p>
            <a:pPr marL="0" indent="0" algn="just">
              <a:buNone/>
            </a:pPr>
            <a:endParaRPr lang="en-US"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solidFill>
                  <a:srgbClr val="7030A0"/>
                </a:solidFill>
                <a:latin typeface="Times New Roman" panose="02020603050405020304" pitchFamily="18" charset="0"/>
                <a:cs typeface="Times New Roman" panose="02020603050405020304" pitchFamily="18" charset="0"/>
              </a:rPr>
              <a:t>Desirable items will not cause any immediate production stoppage and their stock out costs are nominal</a:t>
            </a:r>
            <a:endParaRPr lang="en-US" dirty="0" smtClean="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0925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1069"/>
            <a:ext cx="10515600" cy="764275"/>
          </a:xfrm>
        </p:spPr>
        <p:txBody>
          <a:bodyPr>
            <a:normAutofit/>
          </a:bodyPr>
          <a:lstStyle/>
          <a:p>
            <a:pPr algn="ctr"/>
            <a:r>
              <a:rPr lang="en-US" dirty="0" smtClean="0">
                <a:solidFill>
                  <a:srgbClr val="C00000"/>
                </a:solidFill>
                <a:latin typeface="Times New Roman" panose="02020603050405020304" pitchFamily="18" charset="0"/>
                <a:cs typeface="Times New Roman" panose="02020603050405020304" pitchFamily="18" charset="0"/>
              </a:rPr>
              <a:t>VED- ABC Matrix</a:t>
            </a:r>
            <a:endParaRPr lang="en-IN" dirty="0">
              <a:solidFill>
                <a:srgbClr val="C0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1433015" y="2006220"/>
            <a:ext cx="9635319" cy="4503761"/>
          </a:xfrm>
          <a:prstGeom prst="rect">
            <a:avLst/>
          </a:prstGeom>
        </p:spPr>
      </p:pic>
    </p:spTree>
    <p:extLst>
      <p:ext uri="{BB962C8B-B14F-4D97-AF65-F5344CB8AC3E}">
        <p14:creationId xmlns:p14="http://schemas.microsoft.com/office/powerpoint/2010/main" val="1572982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29334"/>
            <a:ext cx="10702637" cy="6113030"/>
          </a:xfrm>
        </p:spPr>
        <p:txBody>
          <a:bodyPr/>
          <a:lstStyle/>
          <a:p>
            <a:pPr marL="0" indent="0" algn="ctr">
              <a:buNone/>
            </a:pPr>
            <a:r>
              <a:rPr lang="en-US" sz="3600" dirty="0" smtClean="0">
                <a:solidFill>
                  <a:srgbClr val="C00000"/>
                </a:solidFill>
                <a:latin typeface="Times New Roman" panose="02020603050405020304" pitchFamily="18" charset="0"/>
                <a:cs typeface="Times New Roman" panose="02020603050405020304" pitchFamily="18" charset="0"/>
              </a:rPr>
              <a:t>Economic order quantity (EOQ) Model</a:t>
            </a:r>
          </a:p>
          <a:p>
            <a:r>
              <a:rPr lang="en-US" dirty="0" smtClean="0">
                <a:solidFill>
                  <a:srgbClr val="002060"/>
                </a:solidFill>
                <a:latin typeface="Times New Roman" panose="02020603050405020304" pitchFamily="18" charset="0"/>
                <a:cs typeface="Times New Roman" panose="02020603050405020304" pitchFamily="18" charset="0"/>
              </a:rPr>
              <a:t>EOQ </a:t>
            </a:r>
          </a:p>
          <a:p>
            <a:pPr marL="0" indent="0">
              <a:buNone/>
            </a:pPr>
            <a:r>
              <a:rPr lang="en-US" dirty="0">
                <a:solidFill>
                  <a:srgbClr val="002060"/>
                </a:solidFill>
                <a:latin typeface="Times New Roman" panose="02020603050405020304" pitchFamily="18" charset="0"/>
                <a:cs typeface="Times New Roman" panose="02020603050405020304" pitchFamily="18" charset="0"/>
              </a:rPr>
              <a:t> </a:t>
            </a:r>
            <a:r>
              <a:rPr lang="en-US" dirty="0" smtClean="0">
                <a:solidFill>
                  <a:srgbClr val="002060"/>
                </a:solidFill>
                <a:latin typeface="Times New Roman" panose="02020603050405020304" pitchFamily="18" charset="0"/>
                <a:cs typeface="Times New Roman" panose="02020603050405020304" pitchFamily="18" charset="0"/>
              </a:rPr>
              <a:t>      - optimal order quantity that will minimize total inventory cost</a:t>
            </a:r>
          </a:p>
          <a:p>
            <a:pPr marL="0" indent="0">
              <a:buNone/>
            </a:pPr>
            <a:r>
              <a:rPr lang="en-US" dirty="0">
                <a:solidFill>
                  <a:srgbClr val="002060"/>
                </a:solidFill>
                <a:latin typeface="Times New Roman" panose="02020603050405020304" pitchFamily="18" charset="0"/>
                <a:cs typeface="Times New Roman" panose="02020603050405020304" pitchFamily="18" charset="0"/>
              </a:rPr>
              <a:t> </a:t>
            </a:r>
            <a:r>
              <a:rPr lang="en-US" dirty="0" smtClean="0">
                <a:solidFill>
                  <a:srgbClr val="002060"/>
                </a:solidFill>
                <a:latin typeface="Times New Roman" panose="02020603050405020304" pitchFamily="18" charset="0"/>
                <a:cs typeface="Times New Roman" panose="02020603050405020304" pitchFamily="18" charset="0"/>
              </a:rPr>
              <a:t> </a:t>
            </a:r>
          </a:p>
          <a:p>
            <a:pPr marL="0" indent="0" algn="ctr">
              <a:buNone/>
            </a:pPr>
            <a:r>
              <a:rPr lang="en-US" sz="3600" dirty="0" smtClean="0">
                <a:solidFill>
                  <a:srgbClr val="C00000"/>
                </a:solidFill>
                <a:latin typeface="Times New Roman" panose="02020603050405020304" pitchFamily="18" charset="0"/>
                <a:cs typeface="Times New Roman" panose="02020603050405020304" pitchFamily="18" charset="0"/>
              </a:rPr>
              <a:t>Basic EOQ Model</a:t>
            </a:r>
          </a:p>
          <a:p>
            <a:pPr marL="0" indent="0">
              <a:buNone/>
            </a:pPr>
            <a:r>
              <a:rPr lang="en-US" dirty="0" smtClean="0">
                <a:solidFill>
                  <a:srgbClr val="7030A0"/>
                </a:solidFill>
                <a:latin typeface="Times New Roman" panose="02020603050405020304" pitchFamily="18" charset="0"/>
                <a:cs typeface="Times New Roman" panose="02020603050405020304" pitchFamily="18" charset="0"/>
              </a:rPr>
              <a:t>Assumptions of </a:t>
            </a:r>
            <a:r>
              <a:rPr lang="en-US" dirty="0">
                <a:solidFill>
                  <a:srgbClr val="7030A0"/>
                </a:solidFill>
                <a:latin typeface="Times New Roman" panose="02020603050405020304" pitchFamily="18" charset="0"/>
                <a:cs typeface="Times New Roman" panose="02020603050405020304" pitchFamily="18" charset="0"/>
              </a:rPr>
              <a:t>Basic EOQ </a:t>
            </a:r>
            <a:r>
              <a:rPr lang="en-US" dirty="0" smtClean="0">
                <a:solidFill>
                  <a:srgbClr val="7030A0"/>
                </a:solidFill>
                <a:latin typeface="Times New Roman" panose="02020603050405020304" pitchFamily="18" charset="0"/>
                <a:cs typeface="Times New Roman" panose="02020603050405020304" pitchFamily="18" charset="0"/>
              </a:rPr>
              <a:t>Model</a:t>
            </a:r>
          </a:p>
          <a:p>
            <a:pPr algn="just"/>
            <a:r>
              <a:rPr lang="en-US" dirty="0" smtClean="0">
                <a:solidFill>
                  <a:srgbClr val="002060"/>
                </a:solidFill>
                <a:latin typeface="Times New Roman" panose="02020603050405020304" pitchFamily="18" charset="0"/>
                <a:cs typeface="Times New Roman" panose="02020603050405020304" pitchFamily="18" charset="0"/>
              </a:rPr>
              <a:t>Demand is known with certainty and constant over time</a:t>
            </a:r>
          </a:p>
          <a:p>
            <a:pPr algn="just"/>
            <a:r>
              <a:rPr lang="en-US" dirty="0" smtClean="0">
                <a:solidFill>
                  <a:srgbClr val="002060"/>
                </a:solidFill>
                <a:latin typeface="Times New Roman" panose="02020603050405020304" pitchFamily="18" charset="0"/>
                <a:cs typeface="Times New Roman" panose="02020603050405020304" pitchFamily="18" charset="0"/>
              </a:rPr>
              <a:t>No shortages are allowed</a:t>
            </a:r>
          </a:p>
          <a:p>
            <a:pPr algn="just"/>
            <a:r>
              <a:rPr lang="en-US" dirty="0" smtClean="0">
                <a:solidFill>
                  <a:srgbClr val="002060"/>
                </a:solidFill>
                <a:latin typeface="Times New Roman" panose="02020603050405020304" pitchFamily="18" charset="0"/>
                <a:cs typeface="Times New Roman" panose="02020603050405020304" pitchFamily="18" charset="0"/>
              </a:rPr>
              <a:t>Lead time for the receipt of orders is constant</a:t>
            </a:r>
          </a:p>
          <a:p>
            <a:pPr algn="just"/>
            <a:r>
              <a:rPr lang="en-US" dirty="0" smtClean="0">
                <a:solidFill>
                  <a:srgbClr val="002060"/>
                </a:solidFill>
                <a:latin typeface="Times New Roman" panose="02020603050405020304" pitchFamily="18" charset="0"/>
                <a:cs typeface="Times New Roman" panose="02020603050405020304" pitchFamily="18" charset="0"/>
              </a:rPr>
              <a:t>Order quantity is received all at once</a:t>
            </a: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752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457200"/>
            <a:ext cx="9850582" cy="5403273"/>
          </a:xfrm>
        </p:spPr>
      </p:pic>
    </p:spTree>
    <p:extLst>
      <p:ext uri="{BB962C8B-B14F-4D97-AF65-F5344CB8AC3E}">
        <p14:creationId xmlns:p14="http://schemas.microsoft.com/office/powerpoint/2010/main" val="34340692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673" y="263236"/>
            <a:ext cx="11132127" cy="6276109"/>
          </a:xfrm>
        </p:spPr>
        <p:txBody>
          <a:bodyPr/>
          <a:lstStyle/>
          <a:p>
            <a:pPr marL="0" indent="0" algn="ctr">
              <a:buNone/>
            </a:pPr>
            <a:r>
              <a:rPr lang="en-US" dirty="0" smtClean="0">
                <a:solidFill>
                  <a:srgbClr val="C00000"/>
                </a:solidFill>
                <a:latin typeface="Times New Roman" panose="02020603050405020304" pitchFamily="18" charset="0"/>
                <a:cs typeface="Times New Roman" panose="02020603050405020304" pitchFamily="18" charset="0"/>
              </a:rPr>
              <a:t>EOQ Cost Model</a:t>
            </a:r>
          </a:p>
          <a:p>
            <a:pPr marL="0" indent="0">
              <a:buNone/>
            </a:pPr>
            <a:r>
              <a:rPr lang="en-US" dirty="0" smtClean="0">
                <a:solidFill>
                  <a:srgbClr val="002060"/>
                </a:solidFill>
                <a:latin typeface="Times New Roman" panose="02020603050405020304" pitchFamily="18" charset="0"/>
                <a:cs typeface="Times New Roman" panose="02020603050405020304" pitchFamily="18" charset="0"/>
              </a:rPr>
              <a:t>Co- Cost of placing order                        D= Annual Demand</a:t>
            </a:r>
          </a:p>
          <a:p>
            <a:pPr marL="0" indent="0">
              <a:buNone/>
            </a:pPr>
            <a:r>
              <a:rPr lang="en-US" dirty="0" smtClean="0">
                <a:solidFill>
                  <a:srgbClr val="002060"/>
                </a:solidFill>
                <a:latin typeface="Times New Roman" panose="02020603050405020304" pitchFamily="18" charset="0"/>
                <a:cs typeface="Times New Roman" panose="02020603050405020304" pitchFamily="18" charset="0"/>
              </a:rPr>
              <a:t>Cc= Annual per-unit carrying cost           Q = Order quantity</a:t>
            </a:r>
          </a:p>
          <a:p>
            <a:pPr marL="0" indent="0">
              <a:buNone/>
            </a:pPr>
            <a:endParaRPr lang="en-US" dirty="0">
              <a:solidFill>
                <a:srgbClr val="002060"/>
              </a:solidFill>
              <a:latin typeface="Times New Roman" panose="02020603050405020304" pitchFamily="18" charset="0"/>
              <a:cs typeface="Times New Roman" panose="02020603050405020304" pitchFamily="18" charset="0"/>
            </a:endParaRPr>
          </a:p>
          <a:p>
            <a:pPr marL="0" indent="0">
              <a:buNone/>
            </a:pPr>
            <a:r>
              <a:rPr lang="en-US" dirty="0" smtClean="0">
                <a:solidFill>
                  <a:srgbClr val="002060"/>
                </a:solidFill>
                <a:latin typeface="Times New Roman" panose="02020603050405020304" pitchFamily="18" charset="0"/>
                <a:cs typeface="Times New Roman" panose="02020603050405020304" pitchFamily="18" charset="0"/>
              </a:rPr>
              <a:t>   Annual Ordering Cost = CoD</a:t>
            </a:r>
          </a:p>
          <a:p>
            <a:pPr marL="0" indent="0">
              <a:buNone/>
            </a:pPr>
            <a:r>
              <a:rPr lang="en-US" dirty="0" smtClean="0">
                <a:solidFill>
                  <a:srgbClr val="002060"/>
                </a:solidFill>
                <a:latin typeface="Times New Roman" panose="02020603050405020304" pitchFamily="18" charset="0"/>
                <a:cs typeface="Times New Roman" panose="02020603050405020304" pitchFamily="18" charset="0"/>
              </a:rPr>
              <a:t>                                             Q</a:t>
            </a:r>
          </a:p>
          <a:p>
            <a:pPr marL="0" indent="0">
              <a:buNone/>
            </a:pPr>
            <a:r>
              <a:rPr lang="en-US" dirty="0" smtClean="0">
                <a:solidFill>
                  <a:srgbClr val="002060"/>
                </a:solidFill>
                <a:latin typeface="Times New Roman" panose="02020603050405020304" pitchFamily="18" charset="0"/>
                <a:cs typeface="Times New Roman" panose="02020603050405020304" pitchFamily="18" charset="0"/>
              </a:rPr>
              <a:t>   Annual carrying cost= CcQ      Total Cost= CoD    + CcQ</a:t>
            </a:r>
          </a:p>
          <a:p>
            <a:pPr marL="0" indent="0">
              <a:buNone/>
            </a:pPr>
            <a:r>
              <a:rPr lang="en-US" dirty="0" smtClean="0">
                <a:solidFill>
                  <a:srgbClr val="002060"/>
                </a:solidFill>
                <a:latin typeface="Times New Roman" panose="02020603050405020304" pitchFamily="18" charset="0"/>
                <a:cs typeface="Times New Roman" panose="02020603050405020304" pitchFamily="18" charset="0"/>
              </a:rPr>
              <a:t>                                          2                                Q            2</a:t>
            </a:r>
            <a:endParaRPr lang="en-US" dirty="0">
              <a:solidFill>
                <a:srgbClr val="002060"/>
              </a:solidFill>
              <a:latin typeface="Times New Roman" panose="02020603050405020304" pitchFamily="18" charset="0"/>
              <a:cs typeface="Times New Roman" panose="02020603050405020304" pitchFamily="18" charset="0"/>
            </a:endParaRPr>
          </a:p>
        </p:txBody>
      </p:sp>
      <p:cxnSp>
        <p:nvCxnSpPr>
          <p:cNvPr id="4" name="Straight Connector 3"/>
          <p:cNvCxnSpPr/>
          <p:nvPr/>
        </p:nvCxnSpPr>
        <p:spPr>
          <a:xfrm>
            <a:off x="4045527" y="2743201"/>
            <a:ext cx="969818" cy="138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3782291" y="3823855"/>
            <a:ext cx="969818" cy="138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913418" y="3823855"/>
            <a:ext cx="7204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146473" y="3837709"/>
            <a:ext cx="9282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97931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454728" y="512619"/>
            <a:ext cx="9615054" cy="6026727"/>
          </a:xfrm>
          <a:prstGeom prst="rect">
            <a:avLst/>
          </a:prstGeom>
        </p:spPr>
      </p:pic>
    </p:spTree>
    <p:extLst>
      <p:ext uri="{BB962C8B-B14F-4D97-AF65-F5344CB8AC3E}">
        <p14:creationId xmlns:p14="http://schemas.microsoft.com/office/powerpoint/2010/main" val="43593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62000" y="498764"/>
            <a:ext cx="10155382" cy="5624945"/>
          </a:xfrm>
          <a:prstGeom prst="rect">
            <a:avLst/>
          </a:prstGeom>
        </p:spPr>
      </p:pic>
    </p:spTree>
    <p:extLst>
      <p:ext uri="{BB962C8B-B14F-4D97-AF65-F5344CB8AC3E}">
        <p14:creationId xmlns:p14="http://schemas.microsoft.com/office/powerpoint/2010/main" val="39073204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26473" y="401783"/>
            <a:ext cx="11055927" cy="6068290"/>
          </a:xfrm>
          <a:prstGeom prst="rect">
            <a:avLst/>
          </a:prstGeom>
        </p:spPr>
      </p:pic>
    </p:spTree>
    <p:extLst>
      <p:ext uri="{BB962C8B-B14F-4D97-AF65-F5344CB8AC3E}">
        <p14:creationId xmlns:p14="http://schemas.microsoft.com/office/powerpoint/2010/main" val="3974178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981200" y="429491"/>
            <a:ext cx="6220691" cy="5735781"/>
          </a:xfrm>
          <a:prstGeom prst="rect">
            <a:avLst/>
          </a:prstGeom>
        </p:spPr>
      </p:pic>
    </p:spTree>
    <p:extLst>
      <p:ext uri="{BB962C8B-B14F-4D97-AF65-F5344CB8AC3E}">
        <p14:creationId xmlns:p14="http://schemas.microsoft.com/office/powerpoint/2010/main" val="39554379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1" y="443345"/>
            <a:ext cx="11055926" cy="6137564"/>
          </a:xfrm>
        </p:spPr>
        <p:txBody>
          <a:bodyPr/>
          <a:lstStyle/>
          <a:p>
            <a:pPr marL="0" indent="0">
              <a:buNone/>
            </a:pPr>
            <a:endParaRPr lang="en-US" dirty="0" smtClean="0"/>
          </a:p>
          <a:p>
            <a:pPr marL="0" indent="0">
              <a:buNone/>
            </a:pPr>
            <a:r>
              <a:rPr lang="en-US" dirty="0" smtClean="0"/>
              <a:t> </a:t>
            </a:r>
          </a:p>
          <a:p>
            <a:pPr marL="0" indent="0">
              <a:buNone/>
            </a:pPr>
            <a:endParaRPr lang="en-IN" dirty="0"/>
          </a:p>
        </p:txBody>
      </p:sp>
      <p:pic>
        <p:nvPicPr>
          <p:cNvPr id="5" name="Picture 4"/>
          <p:cNvPicPr>
            <a:picLocks noChangeAspect="1"/>
          </p:cNvPicPr>
          <p:nvPr/>
        </p:nvPicPr>
        <p:blipFill>
          <a:blip r:embed="rId2"/>
          <a:stretch>
            <a:fillRect/>
          </a:stretch>
        </p:blipFill>
        <p:spPr>
          <a:xfrm>
            <a:off x="457201" y="443344"/>
            <a:ext cx="11055926" cy="5902573"/>
          </a:xfrm>
          <a:prstGeom prst="rect">
            <a:avLst/>
          </a:prstGeom>
        </p:spPr>
      </p:pic>
    </p:spTree>
    <p:extLst>
      <p:ext uri="{BB962C8B-B14F-4D97-AF65-F5344CB8AC3E}">
        <p14:creationId xmlns:p14="http://schemas.microsoft.com/office/powerpoint/2010/main" val="1317327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965" y="207818"/>
            <a:ext cx="11430000" cy="6483927"/>
          </a:xfrm>
        </p:spPr>
      </p:pic>
    </p:spTree>
    <p:extLst>
      <p:ext uri="{BB962C8B-B14F-4D97-AF65-F5344CB8AC3E}">
        <p14:creationId xmlns:p14="http://schemas.microsoft.com/office/powerpoint/2010/main" val="3422018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673" y="124691"/>
            <a:ext cx="4821383" cy="2244436"/>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4217" y="415636"/>
            <a:ext cx="5569528" cy="3103419"/>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8982" y="2812473"/>
            <a:ext cx="8575963" cy="3865417"/>
          </a:xfrm>
          <a:prstGeom prst="rect">
            <a:avLst/>
          </a:prstGeom>
        </p:spPr>
      </p:pic>
    </p:spTree>
    <p:extLst>
      <p:ext uri="{BB962C8B-B14F-4D97-AF65-F5344CB8AC3E}">
        <p14:creationId xmlns:p14="http://schemas.microsoft.com/office/powerpoint/2010/main" val="36583602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46364" y="193965"/>
            <a:ext cx="11568544" cy="6234544"/>
          </a:xfrm>
          <a:prstGeom prst="rect">
            <a:avLst/>
          </a:prstGeom>
        </p:spPr>
      </p:pic>
    </p:spTree>
    <p:extLst>
      <p:ext uri="{BB962C8B-B14F-4D97-AF65-F5344CB8AC3E}">
        <p14:creationId xmlns:p14="http://schemas.microsoft.com/office/powerpoint/2010/main" val="16160404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3965" y="207818"/>
            <a:ext cx="5361708" cy="268778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4035" y="2895599"/>
            <a:ext cx="7841673" cy="3588327"/>
          </a:xfrm>
          <a:prstGeom prst="rect">
            <a:avLst/>
          </a:prstGeom>
        </p:spPr>
      </p:pic>
    </p:spTree>
    <p:extLst>
      <p:ext uri="{BB962C8B-B14F-4D97-AF65-F5344CB8AC3E}">
        <p14:creationId xmlns:p14="http://schemas.microsoft.com/office/powerpoint/2010/main" val="6601275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399" y="277091"/>
            <a:ext cx="10903527" cy="2867891"/>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909" y="3449782"/>
            <a:ext cx="10917382" cy="3131127"/>
          </a:xfrm>
          <a:prstGeom prst="rect">
            <a:avLst/>
          </a:prstGeom>
        </p:spPr>
      </p:pic>
    </p:spTree>
    <p:extLst>
      <p:ext uri="{BB962C8B-B14F-4D97-AF65-F5344CB8AC3E}">
        <p14:creationId xmlns:p14="http://schemas.microsoft.com/office/powerpoint/2010/main" val="23193170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3963" y="180110"/>
            <a:ext cx="11526981" cy="6248399"/>
          </a:xfrm>
          <a:prstGeom prst="rect">
            <a:avLst/>
          </a:prstGeom>
        </p:spPr>
      </p:pic>
    </p:spTree>
    <p:extLst>
      <p:ext uri="{BB962C8B-B14F-4D97-AF65-F5344CB8AC3E}">
        <p14:creationId xmlns:p14="http://schemas.microsoft.com/office/powerpoint/2010/main" val="5781606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7091" y="277091"/>
            <a:ext cx="11236036" cy="6248400"/>
          </a:xfrm>
        </p:spPr>
        <p:txBody>
          <a:bodyPr/>
          <a:lstStyle/>
          <a:p>
            <a:pPr algn="just"/>
            <a:r>
              <a:rPr lang="en-US" dirty="0" smtClean="0">
                <a:solidFill>
                  <a:srgbClr val="002060"/>
                </a:solidFill>
                <a:latin typeface="Times New Roman" panose="02020603050405020304" pitchFamily="18" charset="0"/>
                <a:cs typeface="Times New Roman" panose="02020603050405020304" pitchFamily="18" charset="0"/>
              </a:rPr>
              <a:t>Management must decide when and how much to order. But with quantity discounts , how does a manager make these decisions?</a:t>
            </a:r>
          </a:p>
          <a:p>
            <a:pPr algn="just"/>
            <a:r>
              <a:rPr lang="en-US" dirty="0" smtClean="0">
                <a:solidFill>
                  <a:srgbClr val="002060"/>
                </a:solidFill>
                <a:latin typeface="Times New Roman" panose="02020603050405020304" pitchFamily="18" charset="0"/>
                <a:cs typeface="Times New Roman" panose="02020603050405020304" pitchFamily="18" charset="0"/>
              </a:rPr>
              <a:t>Because of unit cost of third discount is lowest we might tempted to order 2000 units or more to take advantage of this discount</a:t>
            </a:r>
          </a:p>
          <a:p>
            <a:pPr algn="just"/>
            <a:r>
              <a:rPr lang="en-US" dirty="0">
                <a:solidFill>
                  <a:srgbClr val="002060"/>
                </a:solidFill>
                <a:latin typeface="Times New Roman" panose="02020603050405020304" pitchFamily="18" charset="0"/>
                <a:cs typeface="Times New Roman" panose="02020603050405020304" pitchFamily="18" charset="0"/>
              </a:rPr>
              <a:t> </a:t>
            </a:r>
            <a:r>
              <a:rPr lang="en-US" dirty="0" smtClean="0">
                <a:solidFill>
                  <a:srgbClr val="002060"/>
                </a:solidFill>
                <a:latin typeface="Times New Roman" panose="02020603050405020304" pitchFamily="18" charset="0"/>
                <a:cs typeface="Times New Roman" panose="02020603050405020304" pitchFamily="18" charset="0"/>
              </a:rPr>
              <a:t>Placing  an order for that many units , however , might not minimize the total inventory cost. As the discount quantity goes up, the item cost goes down, but carrying cost increases because the order sizes are large </a:t>
            </a:r>
          </a:p>
          <a:p>
            <a:pPr algn="just"/>
            <a:r>
              <a:rPr lang="en-US" dirty="0" smtClean="0">
                <a:solidFill>
                  <a:srgbClr val="002060"/>
                </a:solidFill>
                <a:latin typeface="Times New Roman" panose="02020603050405020304" pitchFamily="18" charset="0"/>
                <a:cs typeface="Times New Roman" panose="02020603050405020304" pitchFamily="18" charset="0"/>
              </a:rPr>
              <a:t>Thus the major trade-off when considering quantity discounts is between the reduced item cost and the increased carrying cost</a:t>
            </a:r>
          </a:p>
          <a:p>
            <a:pPr algn="just"/>
            <a:endParaRPr lang="en-IN"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84868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6363" y="374072"/>
            <a:ext cx="11222181" cy="6082145"/>
          </a:xfrm>
        </p:spPr>
        <p:txBody>
          <a:bodyPr/>
          <a:lstStyle/>
          <a:p>
            <a:pPr marL="0" indent="0" algn="ctr">
              <a:buNone/>
            </a:pPr>
            <a:r>
              <a:rPr lang="en-US" sz="3600" dirty="0" smtClean="0">
                <a:solidFill>
                  <a:srgbClr val="C00000"/>
                </a:solidFill>
                <a:latin typeface="Times New Roman" panose="02020603050405020304" pitchFamily="18" charset="0"/>
                <a:cs typeface="Times New Roman" panose="02020603050405020304" pitchFamily="18" charset="0"/>
              </a:rPr>
              <a:t>Quantity Discount Example</a:t>
            </a:r>
          </a:p>
          <a:p>
            <a:pPr marL="0" indent="0" algn="just">
              <a:buNone/>
            </a:pPr>
            <a:r>
              <a:rPr lang="en-US" sz="3200" dirty="0" smtClean="0">
                <a:solidFill>
                  <a:srgbClr val="002060"/>
                </a:solidFill>
                <a:latin typeface="Times New Roman" panose="02020603050405020304" pitchFamily="18" charset="0"/>
                <a:cs typeface="Times New Roman" panose="02020603050405020304" pitchFamily="18" charset="0"/>
              </a:rPr>
              <a:t>GSB Department store stocks toy cars. Recently, the store was given a quantity discounts as shown in slide 35, thus , the normal cos of car is $5.00. for orders between 1000 to 1999 units , the unit cost is $ 4.80, and for orders of 2000 or more units , the cost is $4.75. furthermore, the ordering cost is $49 per order, the annual demand is 5,000 race cars, and the inventory carrying charge as a percentage of cost  is 20%,or 0.2. what order quantity will minimize the total cost</a:t>
            </a:r>
            <a:endParaRPr lang="en-IN" sz="3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75749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31960" y="209539"/>
            <a:ext cx="10242622" cy="6216517"/>
          </a:xfrm>
          <a:prstGeom prst="rect">
            <a:avLst/>
          </a:prstGeom>
        </p:spPr>
      </p:pic>
    </p:spTree>
    <p:extLst>
      <p:ext uri="{BB962C8B-B14F-4D97-AF65-F5344CB8AC3E}">
        <p14:creationId xmlns:p14="http://schemas.microsoft.com/office/powerpoint/2010/main" val="21317722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98764" y="346364"/>
            <a:ext cx="10958945" cy="6192981"/>
          </a:xfrm>
          <a:prstGeom prst="rect">
            <a:avLst/>
          </a:prstGeom>
        </p:spPr>
      </p:pic>
    </p:spTree>
    <p:extLst>
      <p:ext uri="{BB962C8B-B14F-4D97-AF65-F5344CB8AC3E}">
        <p14:creationId xmlns:p14="http://schemas.microsoft.com/office/powerpoint/2010/main" val="35010677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43346" y="169591"/>
            <a:ext cx="11596254" cy="6522154"/>
          </a:xfrm>
          <a:prstGeom prst="rect">
            <a:avLst/>
          </a:prstGeom>
        </p:spPr>
      </p:pic>
    </p:spTree>
    <p:extLst>
      <p:ext uri="{BB962C8B-B14F-4D97-AF65-F5344CB8AC3E}">
        <p14:creationId xmlns:p14="http://schemas.microsoft.com/office/powerpoint/2010/main" val="3520179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0945" y="235526"/>
            <a:ext cx="11277600" cy="6964840"/>
          </a:xfrm>
        </p:spPr>
        <p:txBody>
          <a:bodyPr/>
          <a:lstStyle/>
          <a:p>
            <a:pPr marL="0" indent="0" algn="ctr">
              <a:buNone/>
            </a:pPr>
            <a:r>
              <a:rPr lang="en-US" dirty="0" smtClean="0">
                <a:solidFill>
                  <a:srgbClr val="7030A0"/>
                </a:solidFill>
                <a:latin typeface="Times New Roman" panose="02020603050405020304" pitchFamily="18" charset="0"/>
                <a:cs typeface="Times New Roman" panose="02020603050405020304" pitchFamily="18" charset="0"/>
              </a:rPr>
              <a:t>Questions For Continuous internal evaluation</a:t>
            </a:r>
          </a:p>
          <a:p>
            <a:pPr marL="0" indent="0">
              <a:buNone/>
            </a:pPr>
            <a:r>
              <a:rPr lang="en-US" dirty="0" smtClean="0">
                <a:solidFill>
                  <a:srgbClr val="7030A0"/>
                </a:solidFill>
                <a:latin typeface="Times New Roman" panose="02020603050405020304" pitchFamily="18" charset="0"/>
                <a:cs typeface="Times New Roman" panose="02020603050405020304" pitchFamily="18" charset="0"/>
              </a:rPr>
              <a:t>Q.1) </a:t>
            </a:r>
            <a:r>
              <a:rPr lang="en-US" sz="2400" dirty="0" smtClean="0">
                <a:solidFill>
                  <a:srgbClr val="7030A0"/>
                </a:solidFill>
                <a:latin typeface="Times New Roman" panose="02020603050405020304" pitchFamily="18" charset="0"/>
                <a:cs typeface="Times New Roman" panose="02020603050405020304" pitchFamily="18" charset="0"/>
              </a:rPr>
              <a:t>What is EOQ ? Explain the different assumptions considered in EOQ model? Discuss EOQ as inventory control technique?</a:t>
            </a:r>
          </a:p>
          <a:p>
            <a:pPr marL="0" indent="0">
              <a:buNone/>
            </a:pPr>
            <a:r>
              <a:rPr lang="en-US" sz="2400" dirty="0" smtClean="0">
                <a:solidFill>
                  <a:srgbClr val="7030A0"/>
                </a:solidFill>
                <a:latin typeface="Times New Roman" panose="02020603050405020304" pitchFamily="18" charset="0"/>
                <a:cs typeface="Times New Roman" panose="02020603050405020304" pitchFamily="18" charset="0"/>
              </a:rPr>
              <a:t>Q 2) Explain  ABC and VED analysis in detail</a:t>
            </a:r>
          </a:p>
          <a:p>
            <a:pPr marL="0" indent="0">
              <a:buNone/>
            </a:pPr>
            <a:r>
              <a:rPr lang="en-US" sz="2400" dirty="0" smtClean="0">
                <a:solidFill>
                  <a:srgbClr val="7030A0"/>
                </a:solidFill>
                <a:latin typeface="Times New Roman" panose="02020603050405020304" pitchFamily="18" charset="0"/>
                <a:cs typeface="Times New Roman" panose="02020603050405020304" pitchFamily="18" charset="0"/>
              </a:rPr>
              <a:t>Q.3) Perform 	ABC analysis on the following sample of items in an inventory</a:t>
            </a:r>
          </a:p>
          <a:p>
            <a:pPr marL="0" indent="0">
              <a:buNone/>
            </a:pPr>
            <a:endParaRPr lang="en-IN" dirty="0">
              <a:solidFill>
                <a:srgbClr val="7030A0"/>
              </a:solidFill>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488665091"/>
              </p:ext>
            </p:extLst>
          </p:nvPr>
        </p:nvGraphicFramePr>
        <p:xfrm>
          <a:off x="2032000" y="2438403"/>
          <a:ext cx="8127999" cy="4186530"/>
        </p:xfrm>
        <a:graphic>
          <a:graphicData uri="http://schemas.openxmlformats.org/drawingml/2006/table">
            <a:tbl>
              <a:tblPr firstRow="1" bandRow="1">
                <a:tableStyleId>{5C22544A-7EE6-4342-B048-85BDC9FD1C3A}</a:tableStyleId>
              </a:tblPr>
              <a:tblGrid>
                <a:gridCol w="2709333">
                  <a:extLst>
                    <a:ext uri="{9D8B030D-6E8A-4147-A177-3AD203B41FA5}">
                      <a16:colId xmlns="" xmlns:a16="http://schemas.microsoft.com/office/drawing/2014/main" val="2980240104"/>
                    </a:ext>
                  </a:extLst>
                </a:gridCol>
                <a:gridCol w="2709333">
                  <a:extLst>
                    <a:ext uri="{9D8B030D-6E8A-4147-A177-3AD203B41FA5}">
                      <a16:colId xmlns="" xmlns:a16="http://schemas.microsoft.com/office/drawing/2014/main" val="2289314083"/>
                    </a:ext>
                  </a:extLst>
                </a:gridCol>
                <a:gridCol w="2709333">
                  <a:extLst>
                    <a:ext uri="{9D8B030D-6E8A-4147-A177-3AD203B41FA5}">
                      <a16:colId xmlns="" xmlns:a16="http://schemas.microsoft.com/office/drawing/2014/main" val="3219141828"/>
                    </a:ext>
                  </a:extLst>
                </a:gridCol>
              </a:tblGrid>
              <a:tr h="383890">
                <a:tc>
                  <a:txBody>
                    <a:bodyPr/>
                    <a:lstStyle/>
                    <a:p>
                      <a:r>
                        <a:rPr lang="en-US" dirty="0" smtClean="0"/>
                        <a:t>Item</a:t>
                      </a:r>
                      <a:endParaRPr lang="en-IN" dirty="0"/>
                    </a:p>
                  </a:txBody>
                  <a:tcPr/>
                </a:tc>
                <a:tc>
                  <a:txBody>
                    <a:bodyPr/>
                    <a:lstStyle/>
                    <a:p>
                      <a:r>
                        <a:rPr lang="en-US" dirty="0" smtClean="0"/>
                        <a:t>Annual</a:t>
                      </a:r>
                      <a:r>
                        <a:rPr lang="en-US" baseline="0" dirty="0" smtClean="0"/>
                        <a:t> Consumption</a:t>
                      </a:r>
                      <a:endParaRPr lang="en-IN" dirty="0"/>
                    </a:p>
                  </a:txBody>
                  <a:tcPr/>
                </a:tc>
                <a:tc>
                  <a:txBody>
                    <a:bodyPr/>
                    <a:lstStyle/>
                    <a:p>
                      <a:r>
                        <a:rPr lang="en-US" dirty="0" smtClean="0"/>
                        <a:t>Price /unit </a:t>
                      </a:r>
                      <a:endParaRPr lang="en-IN" dirty="0"/>
                    </a:p>
                  </a:txBody>
                  <a:tcPr/>
                </a:tc>
                <a:extLst>
                  <a:ext uri="{0D108BD9-81ED-4DB2-BD59-A6C34878D82A}">
                    <a16:rowId xmlns="" xmlns:a16="http://schemas.microsoft.com/office/drawing/2014/main" val="3755582746"/>
                  </a:ext>
                </a:extLst>
              </a:tr>
              <a:tr h="383890">
                <a:tc>
                  <a:txBody>
                    <a:bodyPr/>
                    <a:lstStyle/>
                    <a:p>
                      <a:r>
                        <a:rPr lang="en-US" dirty="0" smtClean="0"/>
                        <a:t>1</a:t>
                      </a:r>
                      <a:endParaRPr lang="en-IN" dirty="0"/>
                    </a:p>
                  </a:txBody>
                  <a:tcPr/>
                </a:tc>
                <a:tc>
                  <a:txBody>
                    <a:bodyPr/>
                    <a:lstStyle/>
                    <a:p>
                      <a:r>
                        <a:rPr lang="en-US" dirty="0" smtClean="0"/>
                        <a:t>300</a:t>
                      </a:r>
                      <a:endParaRPr lang="en-IN" dirty="0"/>
                    </a:p>
                  </a:txBody>
                  <a:tcPr/>
                </a:tc>
                <a:tc>
                  <a:txBody>
                    <a:bodyPr/>
                    <a:lstStyle/>
                    <a:p>
                      <a:r>
                        <a:rPr lang="en-US" dirty="0" smtClean="0"/>
                        <a:t>0.10</a:t>
                      </a:r>
                      <a:endParaRPr lang="en-IN" dirty="0"/>
                    </a:p>
                  </a:txBody>
                  <a:tcPr/>
                </a:tc>
                <a:extLst>
                  <a:ext uri="{0D108BD9-81ED-4DB2-BD59-A6C34878D82A}">
                    <a16:rowId xmlns="" xmlns:a16="http://schemas.microsoft.com/office/drawing/2014/main" val="1384298983"/>
                  </a:ext>
                </a:extLst>
              </a:tr>
              <a:tr h="383890">
                <a:tc>
                  <a:txBody>
                    <a:bodyPr/>
                    <a:lstStyle/>
                    <a:p>
                      <a:r>
                        <a:rPr lang="en-US" dirty="0" smtClean="0"/>
                        <a:t>2</a:t>
                      </a:r>
                      <a:endParaRPr lang="en-IN" dirty="0"/>
                    </a:p>
                  </a:txBody>
                  <a:tcPr/>
                </a:tc>
                <a:tc>
                  <a:txBody>
                    <a:bodyPr/>
                    <a:lstStyle/>
                    <a:p>
                      <a:r>
                        <a:rPr lang="en-US" dirty="0" smtClean="0"/>
                        <a:t>2800</a:t>
                      </a:r>
                      <a:endParaRPr lang="en-IN" dirty="0"/>
                    </a:p>
                  </a:txBody>
                  <a:tcPr/>
                </a:tc>
                <a:tc>
                  <a:txBody>
                    <a:bodyPr/>
                    <a:lstStyle/>
                    <a:p>
                      <a:r>
                        <a:rPr lang="en-US" dirty="0" smtClean="0"/>
                        <a:t>0.15</a:t>
                      </a:r>
                      <a:endParaRPr lang="en-IN" dirty="0"/>
                    </a:p>
                  </a:txBody>
                  <a:tcPr/>
                </a:tc>
                <a:extLst>
                  <a:ext uri="{0D108BD9-81ED-4DB2-BD59-A6C34878D82A}">
                    <a16:rowId xmlns="" xmlns:a16="http://schemas.microsoft.com/office/drawing/2014/main" val="3064708340"/>
                  </a:ext>
                </a:extLst>
              </a:tr>
              <a:tr h="383890">
                <a:tc>
                  <a:txBody>
                    <a:bodyPr/>
                    <a:lstStyle/>
                    <a:p>
                      <a:r>
                        <a:rPr lang="en-US" dirty="0" smtClean="0"/>
                        <a:t>3</a:t>
                      </a:r>
                      <a:endParaRPr lang="en-IN" dirty="0"/>
                    </a:p>
                  </a:txBody>
                  <a:tcPr/>
                </a:tc>
                <a:tc>
                  <a:txBody>
                    <a:bodyPr/>
                    <a:lstStyle/>
                    <a:p>
                      <a:r>
                        <a:rPr lang="en-US" dirty="0" smtClean="0"/>
                        <a:t>30</a:t>
                      </a:r>
                      <a:endParaRPr lang="en-IN" dirty="0"/>
                    </a:p>
                  </a:txBody>
                  <a:tcPr/>
                </a:tc>
                <a:tc>
                  <a:txBody>
                    <a:bodyPr/>
                    <a:lstStyle/>
                    <a:p>
                      <a:r>
                        <a:rPr lang="en-US" dirty="0" smtClean="0"/>
                        <a:t>0.10</a:t>
                      </a:r>
                      <a:endParaRPr lang="en-IN" dirty="0"/>
                    </a:p>
                  </a:txBody>
                  <a:tcPr/>
                </a:tc>
                <a:extLst>
                  <a:ext uri="{0D108BD9-81ED-4DB2-BD59-A6C34878D82A}">
                    <a16:rowId xmlns="" xmlns:a16="http://schemas.microsoft.com/office/drawing/2014/main" val="589100239"/>
                  </a:ext>
                </a:extLst>
              </a:tr>
              <a:tr h="383890">
                <a:tc>
                  <a:txBody>
                    <a:bodyPr/>
                    <a:lstStyle/>
                    <a:p>
                      <a:r>
                        <a:rPr lang="en-US" dirty="0" smtClean="0"/>
                        <a:t>4</a:t>
                      </a:r>
                      <a:endParaRPr lang="en-IN" dirty="0"/>
                    </a:p>
                  </a:txBody>
                  <a:tcPr/>
                </a:tc>
                <a:tc>
                  <a:txBody>
                    <a:bodyPr/>
                    <a:lstStyle/>
                    <a:p>
                      <a:r>
                        <a:rPr lang="en-US" dirty="0" smtClean="0"/>
                        <a:t>1100</a:t>
                      </a:r>
                      <a:endParaRPr lang="en-IN" dirty="0"/>
                    </a:p>
                  </a:txBody>
                  <a:tcPr/>
                </a:tc>
                <a:tc>
                  <a:txBody>
                    <a:bodyPr/>
                    <a:lstStyle/>
                    <a:p>
                      <a:r>
                        <a:rPr lang="en-US" dirty="0" smtClean="0"/>
                        <a:t>0.05</a:t>
                      </a:r>
                      <a:endParaRPr lang="en-IN" dirty="0"/>
                    </a:p>
                  </a:txBody>
                  <a:tcPr/>
                </a:tc>
                <a:extLst>
                  <a:ext uri="{0D108BD9-81ED-4DB2-BD59-A6C34878D82A}">
                    <a16:rowId xmlns="" xmlns:a16="http://schemas.microsoft.com/office/drawing/2014/main" val="3980524304"/>
                  </a:ext>
                </a:extLst>
              </a:tr>
              <a:tr h="383890">
                <a:tc>
                  <a:txBody>
                    <a:bodyPr/>
                    <a:lstStyle/>
                    <a:p>
                      <a:r>
                        <a:rPr lang="en-US" dirty="0" smtClean="0"/>
                        <a:t>5</a:t>
                      </a:r>
                      <a:endParaRPr lang="en-IN" dirty="0"/>
                    </a:p>
                  </a:txBody>
                  <a:tcPr/>
                </a:tc>
                <a:tc>
                  <a:txBody>
                    <a:bodyPr/>
                    <a:lstStyle/>
                    <a:p>
                      <a:r>
                        <a:rPr lang="en-US" dirty="0" smtClean="0"/>
                        <a:t>40</a:t>
                      </a:r>
                      <a:endParaRPr lang="en-IN" dirty="0"/>
                    </a:p>
                  </a:txBody>
                  <a:tcPr/>
                </a:tc>
                <a:tc>
                  <a:txBody>
                    <a:bodyPr/>
                    <a:lstStyle/>
                    <a:p>
                      <a:r>
                        <a:rPr lang="en-US" dirty="0" smtClean="0"/>
                        <a:t>0.05</a:t>
                      </a:r>
                      <a:endParaRPr lang="en-IN" dirty="0"/>
                    </a:p>
                  </a:txBody>
                  <a:tcPr/>
                </a:tc>
                <a:extLst>
                  <a:ext uri="{0D108BD9-81ED-4DB2-BD59-A6C34878D82A}">
                    <a16:rowId xmlns="" xmlns:a16="http://schemas.microsoft.com/office/drawing/2014/main" val="720233455"/>
                  </a:ext>
                </a:extLst>
              </a:tr>
              <a:tr h="360191">
                <a:tc>
                  <a:txBody>
                    <a:bodyPr/>
                    <a:lstStyle/>
                    <a:p>
                      <a:r>
                        <a:rPr lang="en-US" dirty="0" smtClean="0"/>
                        <a:t>6</a:t>
                      </a:r>
                      <a:endParaRPr lang="en-IN" dirty="0"/>
                    </a:p>
                  </a:txBody>
                  <a:tcPr/>
                </a:tc>
                <a:tc>
                  <a:txBody>
                    <a:bodyPr/>
                    <a:lstStyle/>
                    <a:p>
                      <a:r>
                        <a:rPr lang="en-US" dirty="0" smtClean="0"/>
                        <a:t>220</a:t>
                      </a:r>
                      <a:endParaRPr lang="en-IN" dirty="0"/>
                    </a:p>
                  </a:txBody>
                  <a:tcPr/>
                </a:tc>
                <a:tc>
                  <a:txBody>
                    <a:bodyPr/>
                    <a:lstStyle/>
                    <a:p>
                      <a:r>
                        <a:rPr lang="en-US" dirty="0" smtClean="0"/>
                        <a:t>1.00</a:t>
                      </a:r>
                      <a:endParaRPr lang="en-IN" dirty="0"/>
                    </a:p>
                  </a:txBody>
                  <a:tcPr/>
                </a:tc>
                <a:extLst>
                  <a:ext uri="{0D108BD9-81ED-4DB2-BD59-A6C34878D82A}">
                    <a16:rowId xmlns="" xmlns:a16="http://schemas.microsoft.com/office/drawing/2014/main" val="1412792800"/>
                  </a:ext>
                </a:extLst>
              </a:tr>
              <a:tr h="383890">
                <a:tc>
                  <a:txBody>
                    <a:bodyPr/>
                    <a:lstStyle/>
                    <a:p>
                      <a:r>
                        <a:rPr lang="en-US" dirty="0" smtClean="0"/>
                        <a:t>7</a:t>
                      </a:r>
                      <a:endParaRPr lang="en-IN" dirty="0"/>
                    </a:p>
                  </a:txBody>
                  <a:tcPr/>
                </a:tc>
                <a:tc>
                  <a:txBody>
                    <a:bodyPr/>
                    <a:lstStyle/>
                    <a:p>
                      <a:r>
                        <a:rPr lang="en-US" dirty="0" smtClean="0"/>
                        <a:t>150</a:t>
                      </a:r>
                      <a:endParaRPr lang="en-IN" dirty="0"/>
                    </a:p>
                  </a:txBody>
                  <a:tcPr/>
                </a:tc>
                <a:tc>
                  <a:txBody>
                    <a:bodyPr/>
                    <a:lstStyle/>
                    <a:p>
                      <a:r>
                        <a:rPr lang="en-US" dirty="0" smtClean="0"/>
                        <a:t>0.05</a:t>
                      </a:r>
                      <a:endParaRPr lang="en-IN" dirty="0"/>
                    </a:p>
                  </a:txBody>
                  <a:tcPr/>
                </a:tc>
                <a:extLst>
                  <a:ext uri="{0D108BD9-81ED-4DB2-BD59-A6C34878D82A}">
                    <a16:rowId xmlns="" xmlns:a16="http://schemas.microsoft.com/office/drawing/2014/main" val="1503415602"/>
                  </a:ext>
                </a:extLst>
              </a:tr>
              <a:tr h="355019">
                <a:tc>
                  <a:txBody>
                    <a:bodyPr/>
                    <a:lstStyle/>
                    <a:p>
                      <a:r>
                        <a:rPr lang="en-US" dirty="0" smtClean="0"/>
                        <a:t>8</a:t>
                      </a:r>
                      <a:endParaRPr lang="en-IN" dirty="0"/>
                    </a:p>
                  </a:txBody>
                  <a:tcPr/>
                </a:tc>
                <a:tc>
                  <a:txBody>
                    <a:bodyPr/>
                    <a:lstStyle/>
                    <a:p>
                      <a:r>
                        <a:rPr lang="en-US" dirty="0" smtClean="0"/>
                        <a:t>800</a:t>
                      </a:r>
                      <a:endParaRPr lang="en-IN" dirty="0"/>
                    </a:p>
                  </a:txBody>
                  <a:tcPr/>
                </a:tc>
                <a:tc>
                  <a:txBody>
                    <a:bodyPr/>
                    <a:lstStyle/>
                    <a:p>
                      <a:r>
                        <a:rPr lang="en-US" dirty="0" smtClean="0"/>
                        <a:t>0.05</a:t>
                      </a:r>
                      <a:endParaRPr lang="en-IN" dirty="0"/>
                    </a:p>
                  </a:txBody>
                  <a:tcPr/>
                </a:tc>
                <a:extLst>
                  <a:ext uri="{0D108BD9-81ED-4DB2-BD59-A6C34878D82A}">
                    <a16:rowId xmlns="" xmlns:a16="http://schemas.microsoft.com/office/drawing/2014/main" val="366461932"/>
                  </a:ext>
                </a:extLst>
              </a:tr>
              <a:tr h="383890">
                <a:tc>
                  <a:txBody>
                    <a:bodyPr/>
                    <a:lstStyle/>
                    <a:p>
                      <a:r>
                        <a:rPr lang="en-US" dirty="0" smtClean="0"/>
                        <a:t>9</a:t>
                      </a:r>
                      <a:endParaRPr lang="en-IN" dirty="0"/>
                    </a:p>
                  </a:txBody>
                  <a:tcPr/>
                </a:tc>
                <a:tc>
                  <a:txBody>
                    <a:bodyPr/>
                    <a:lstStyle/>
                    <a:p>
                      <a:r>
                        <a:rPr lang="en-US" dirty="0" smtClean="0"/>
                        <a:t>600</a:t>
                      </a:r>
                      <a:endParaRPr lang="en-IN" dirty="0"/>
                    </a:p>
                  </a:txBody>
                  <a:tcPr/>
                </a:tc>
                <a:tc>
                  <a:txBody>
                    <a:bodyPr/>
                    <a:lstStyle/>
                    <a:p>
                      <a:r>
                        <a:rPr lang="en-US" dirty="0" smtClean="0"/>
                        <a:t>0.15</a:t>
                      </a:r>
                      <a:endParaRPr lang="en-IN" dirty="0"/>
                    </a:p>
                  </a:txBody>
                  <a:tcPr/>
                </a:tc>
                <a:extLst>
                  <a:ext uri="{0D108BD9-81ED-4DB2-BD59-A6C34878D82A}">
                    <a16:rowId xmlns="" xmlns:a16="http://schemas.microsoft.com/office/drawing/2014/main" val="3323065127"/>
                  </a:ext>
                </a:extLst>
              </a:tr>
              <a:tr h="383890">
                <a:tc>
                  <a:txBody>
                    <a:bodyPr/>
                    <a:lstStyle/>
                    <a:p>
                      <a:r>
                        <a:rPr lang="en-US" dirty="0" smtClean="0"/>
                        <a:t>10</a:t>
                      </a:r>
                      <a:endParaRPr lang="en-IN" dirty="0"/>
                    </a:p>
                  </a:txBody>
                  <a:tcPr/>
                </a:tc>
                <a:tc>
                  <a:txBody>
                    <a:bodyPr/>
                    <a:lstStyle/>
                    <a:p>
                      <a:r>
                        <a:rPr lang="en-US" dirty="0" smtClean="0"/>
                        <a:t>80</a:t>
                      </a:r>
                      <a:endParaRPr lang="en-IN" dirty="0"/>
                    </a:p>
                  </a:txBody>
                  <a:tcPr/>
                </a:tc>
                <a:tc>
                  <a:txBody>
                    <a:bodyPr/>
                    <a:lstStyle/>
                    <a:p>
                      <a:r>
                        <a:rPr lang="en-US" dirty="0" smtClean="0"/>
                        <a:t>0.10</a:t>
                      </a:r>
                      <a:endParaRPr lang="en-IN" dirty="0"/>
                    </a:p>
                  </a:txBody>
                  <a:tcPr/>
                </a:tc>
                <a:extLst>
                  <a:ext uri="{0D108BD9-81ED-4DB2-BD59-A6C34878D82A}">
                    <a16:rowId xmlns="" xmlns:a16="http://schemas.microsoft.com/office/drawing/2014/main" val="1164074328"/>
                  </a:ext>
                </a:extLst>
              </a:tr>
            </a:tbl>
          </a:graphicData>
        </a:graphic>
      </p:graphicFrame>
    </p:spTree>
    <p:extLst>
      <p:ext uri="{BB962C8B-B14F-4D97-AF65-F5344CB8AC3E}">
        <p14:creationId xmlns:p14="http://schemas.microsoft.com/office/powerpoint/2010/main" val="14575624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964" y="180110"/>
            <a:ext cx="11159836" cy="6483926"/>
          </a:xfrm>
        </p:spPr>
        <p:txBody>
          <a:bodyPr/>
          <a:lstStyle/>
          <a:p>
            <a:pPr marL="0" indent="0" algn="just">
              <a:buNone/>
            </a:pPr>
            <a:r>
              <a:rPr lang="en-US" sz="2000" dirty="0" smtClean="0">
                <a:solidFill>
                  <a:srgbClr val="7030A0"/>
                </a:solidFill>
                <a:latin typeface="Times New Roman" panose="02020603050405020304" pitchFamily="18" charset="0"/>
                <a:cs typeface="Times New Roman" panose="02020603050405020304" pitchFamily="18" charset="0"/>
              </a:rPr>
              <a:t>Q.4</a:t>
            </a:r>
            <a:r>
              <a:rPr lang="en-US" dirty="0" smtClean="0">
                <a:solidFill>
                  <a:srgbClr val="7030A0"/>
                </a:solidFill>
                <a:latin typeface="Times New Roman" panose="02020603050405020304" pitchFamily="18" charset="0"/>
                <a:cs typeface="Times New Roman" panose="02020603050405020304" pitchFamily="18" charset="0"/>
              </a:rPr>
              <a:t> </a:t>
            </a:r>
            <a:r>
              <a:rPr lang="en-US" sz="2000" dirty="0" smtClean="0">
                <a:solidFill>
                  <a:srgbClr val="7030A0"/>
                </a:solidFill>
                <a:latin typeface="Times New Roman" panose="02020603050405020304" pitchFamily="18" charset="0"/>
                <a:cs typeface="Times New Roman" panose="02020603050405020304" pitchFamily="18" charset="0"/>
              </a:rPr>
              <a:t>Ashish keeps his inventory in special containers. Each container occupies 10 sq.ft. of store space. Only 5000 sq.ft. of the storage space is available. The annual demand for the inventory item is 9000 containers, priced at Rs 8 per container. The ordering cost is estimated at Rs. 40 per order, and the annual carrying costs amount 25 % of the inventory value. Would you recommend to </a:t>
            </a:r>
            <a:r>
              <a:rPr lang="en-US" sz="2000" dirty="0">
                <a:solidFill>
                  <a:srgbClr val="7030A0"/>
                </a:solidFill>
                <a:latin typeface="Times New Roman" panose="02020603050405020304" pitchFamily="18" charset="0"/>
                <a:cs typeface="Times New Roman" panose="02020603050405020304" pitchFamily="18" charset="0"/>
              </a:rPr>
              <a:t>A</a:t>
            </a:r>
            <a:r>
              <a:rPr lang="en-US" sz="2000" dirty="0" smtClean="0">
                <a:solidFill>
                  <a:srgbClr val="7030A0"/>
                </a:solidFill>
                <a:latin typeface="Times New Roman" panose="02020603050405020304" pitchFamily="18" charset="0"/>
                <a:cs typeface="Times New Roman" panose="02020603050405020304" pitchFamily="18" charset="0"/>
              </a:rPr>
              <a:t>shish to  increase his storage space? If so , how much should be the increase?</a:t>
            </a:r>
          </a:p>
          <a:p>
            <a:pPr marL="0" indent="0" algn="just">
              <a:buNone/>
            </a:pPr>
            <a:r>
              <a:rPr lang="en-US" sz="2000" dirty="0" smtClean="0">
                <a:solidFill>
                  <a:srgbClr val="7030A0"/>
                </a:solidFill>
                <a:latin typeface="Times New Roman" panose="02020603050405020304" pitchFamily="18" charset="0"/>
                <a:cs typeface="Times New Roman" panose="02020603050405020304" pitchFamily="18" charset="0"/>
              </a:rPr>
              <a:t>Q 5) Define materials management, explain objectives, scope and responsibility of materials management.</a:t>
            </a:r>
          </a:p>
          <a:p>
            <a:pPr marL="0" indent="0" algn="just">
              <a:buNone/>
            </a:pPr>
            <a:r>
              <a:rPr lang="en-US" sz="2000" dirty="0" smtClean="0">
                <a:solidFill>
                  <a:srgbClr val="7030A0"/>
                </a:solidFill>
                <a:latin typeface="Times New Roman" panose="02020603050405020304" pitchFamily="18" charset="0"/>
                <a:cs typeface="Times New Roman" panose="02020603050405020304" pitchFamily="18" charset="0"/>
              </a:rPr>
              <a:t>Q.6) Define inventory , explain need of inventory</a:t>
            </a:r>
          </a:p>
          <a:p>
            <a:pPr marL="0" indent="0" algn="just">
              <a:buNone/>
            </a:pPr>
            <a:r>
              <a:rPr lang="en-US" sz="2000" dirty="0" smtClean="0">
                <a:solidFill>
                  <a:srgbClr val="7030A0"/>
                </a:solidFill>
                <a:latin typeface="Times New Roman" panose="02020603050405020304" pitchFamily="18" charset="0"/>
                <a:cs typeface="Times New Roman" panose="02020603050405020304" pitchFamily="18" charset="0"/>
              </a:rPr>
              <a:t>Q. 7) what are the different types of process? Explain steps involved in Process analysis </a:t>
            </a:r>
          </a:p>
          <a:p>
            <a:pPr marL="0" indent="0" algn="just">
              <a:buNone/>
            </a:pPr>
            <a:r>
              <a:rPr lang="en-US" sz="2000" dirty="0" smtClean="0">
                <a:solidFill>
                  <a:srgbClr val="7030A0"/>
                </a:solidFill>
                <a:latin typeface="Times New Roman" panose="02020603050405020304" pitchFamily="18" charset="0"/>
                <a:cs typeface="Times New Roman" panose="02020603050405020304" pitchFamily="18" charset="0"/>
              </a:rPr>
              <a:t>Q.8) </a:t>
            </a:r>
          </a:p>
          <a:p>
            <a:pPr marL="0" indent="0" algn="just">
              <a:buNone/>
            </a:pPr>
            <a:endParaRPr lang="en-IN" sz="2400" dirty="0">
              <a:solidFill>
                <a:srgbClr val="7030A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000" y="3019245"/>
            <a:ext cx="8762102" cy="3182248"/>
          </a:xfrm>
          <a:prstGeom prst="rect">
            <a:avLst/>
          </a:prstGeom>
        </p:spPr>
      </p:pic>
    </p:spTree>
    <p:extLst>
      <p:ext uri="{BB962C8B-B14F-4D97-AF65-F5344CB8AC3E}">
        <p14:creationId xmlns:p14="http://schemas.microsoft.com/office/powerpoint/2010/main" val="7734560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5647"/>
            <a:ext cx="10515600" cy="5381316"/>
          </a:xfrm>
        </p:spPr>
        <p:txBody>
          <a:bodyPr>
            <a:normAutofit/>
          </a:bodyPr>
          <a:lstStyle/>
          <a:p>
            <a:endParaRPr lang="en-US" sz="4400" dirty="0" smtClean="0">
              <a:latin typeface="Algerian" panose="04020705040A02060702" pitchFamily="82" charset="0"/>
            </a:endParaRPr>
          </a:p>
          <a:p>
            <a:endParaRPr lang="en-US" sz="4400" dirty="0">
              <a:latin typeface="Algerian" panose="04020705040A02060702" pitchFamily="82" charset="0"/>
            </a:endParaRPr>
          </a:p>
          <a:p>
            <a:endParaRPr lang="en-US" sz="4400" dirty="0" smtClean="0">
              <a:latin typeface="Algerian" panose="04020705040A02060702" pitchFamily="82" charset="0"/>
            </a:endParaRPr>
          </a:p>
          <a:p>
            <a:pPr marL="0" indent="0">
              <a:buNone/>
            </a:pPr>
            <a:r>
              <a:rPr lang="en-US" sz="6600" dirty="0">
                <a:solidFill>
                  <a:srgbClr val="002060"/>
                </a:solidFill>
                <a:latin typeface="Algerian" panose="04020705040A02060702" pitchFamily="82" charset="0"/>
              </a:rPr>
              <a:t> </a:t>
            </a:r>
            <a:r>
              <a:rPr lang="en-US" sz="6600" dirty="0" smtClean="0">
                <a:solidFill>
                  <a:srgbClr val="002060"/>
                </a:solidFill>
                <a:latin typeface="Algerian" panose="04020705040A02060702" pitchFamily="82" charset="0"/>
              </a:rPr>
              <a:t>           </a:t>
            </a:r>
            <a:r>
              <a:rPr lang="en-US" sz="8800" dirty="0" smtClean="0">
                <a:solidFill>
                  <a:srgbClr val="002060"/>
                </a:solidFill>
                <a:latin typeface="Algerian" panose="04020705040A02060702" pitchFamily="82" charset="0"/>
              </a:rPr>
              <a:t>THANK YOU</a:t>
            </a:r>
            <a:endParaRPr lang="en-IN" sz="8800" dirty="0">
              <a:solidFill>
                <a:srgbClr val="002060"/>
              </a:solidFill>
              <a:latin typeface="Algerian" panose="04020705040A02060702" pitchFamily="82" charset="0"/>
            </a:endParaRPr>
          </a:p>
        </p:txBody>
      </p:sp>
    </p:spTree>
    <p:extLst>
      <p:ext uri="{BB962C8B-B14F-4D97-AF65-F5344CB8AC3E}">
        <p14:creationId xmlns:p14="http://schemas.microsoft.com/office/powerpoint/2010/main" val="2349707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5693</TotalTime>
  <Words>1377</Words>
  <Application>Microsoft Office PowerPoint</Application>
  <PresentationFormat>Widescreen</PresentationFormat>
  <Paragraphs>373</Paragraphs>
  <Slides>44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Algerian</vt: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VED- ABC Matrix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Materials Management Overview</dc:title>
  <dc:creator>HP</dc:creator>
  <cp:lastModifiedBy>Dr. Ubale</cp:lastModifiedBy>
  <cp:revision>822</cp:revision>
  <dcterms:created xsi:type="dcterms:W3CDTF">2022-09-12T16:52:45Z</dcterms:created>
  <dcterms:modified xsi:type="dcterms:W3CDTF">2023-10-30T18:03:37Z</dcterms:modified>
</cp:coreProperties>
</file>