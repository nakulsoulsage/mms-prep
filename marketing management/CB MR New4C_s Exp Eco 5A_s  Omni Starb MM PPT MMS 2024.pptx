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4" r:id="rId3"/>
    <p:sldId id="275" r:id="rId4"/>
    <p:sldId id="280" r:id="rId5"/>
    <p:sldId id="277" r:id="rId6"/>
    <p:sldId id="329" r:id="rId7"/>
    <p:sldId id="281" r:id="rId8"/>
    <p:sldId id="261" r:id="rId9"/>
    <p:sldId id="282" r:id="rId10"/>
    <p:sldId id="283" r:id="rId11"/>
    <p:sldId id="284" r:id="rId12"/>
    <p:sldId id="285" r:id="rId13"/>
    <p:sldId id="286" r:id="rId14"/>
    <p:sldId id="287" r:id="rId15"/>
    <p:sldId id="288" r:id="rId16"/>
    <p:sldId id="289" r:id="rId17"/>
    <p:sldId id="290" r:id="rId18"/>
    <p:sldId id="291" r:id="rId19"/>
    <p:sldId id="292" r:id="rId20"/>
    <p:sldId id="293" r:id="rId21"/>
    <p:sldId id="317" r:id="rId22"/>
    <p:sldId id="318" r:id="rId23"/>
    <p:sldId id="297" r:id="rId24"/>
    <p:sldId id="315" r:id="rId25"/>
    <p:sldId id="319" r:id="rId26"/>
    <p:sldId id="295" r:id="rId27"/>
    <p:sldId id="296" r:id="rId28"/>
    <p:sldId id="321" r:id="rId29"/>
    <p:sldId id="322" r:id="rId30"/>
    <p:sldId id="323" r:id="rId31"/>
    <p:sldId id="324" r:id="rId32"/>
    <p:sldId id="325" r:id="rId33"/>
    <p:sldId id="326" r:id="rId34"/>
    <p:sldId id="327" r:id="rId35"/>
    <p:sldId id="331" r:id="rId36"/>
    <p:sldId id="298" r:id="rId37"/>
    <p:sldId id="332" r:id="rId38"/>
    <p:sldId id="299" r:id="rId39"/>
    <p:sldId id="302" r:id="rId40"/>
    <p:sldId id="300" r:id="rId41"/>
    <p:sldId id="301" r:id="rId42"/>
    <p:sldId id="303" r:id="rId43"/>
    <p:sldId id="305" r:id="rId44"/>
    <p:sldId id="334" r:id="rId45"/>
    <p:sldId id="333" r:id="rId46"/>
    <p:sldId id="335" r:id="rId47"/>
    <p:sldId id="336" r:id="rId48"/>
    <p:sldId id="337" r:id="rId49"/>
    <p:sldId id="338" r:id="rId50"/>
    <p:sldId id="306" r:id="rId51"/>
    <p:sldId id="307" r:id="rId52"/>
    <p:sldId id="308" r:id="rId53"/>
    <p:sldId id="309" r:id="rId54"/>
    <p:sldId id="310" r:id="rId55"/>
    <p:sldId id="311" r:id="rId56"/>
    <p:sldId id="312" r:id="rId57"/>
    <p:sldId id="313" r:id="rId58"/>
    <p:sldId id="314" r:id="rId59"/>
    <p:sldId id="267"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74" d="100"/>
          <a:sy n="74" d="100"/>
        </p:scale>
        <p:origin x="54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CBD0C89-F317-4EF4-990F-757B711252A6}"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B63F0D9E-3D9E-4E9F-97DF-E7D3606309CA}">
      <dgm:prSet phldrT="[Text]" custT="1"/>
      <dgm:spPr>
        <a:solidFill>
          <a:schemeClr val="tx1"/>
        </a:solidFill>
      </dgm:spPr>
      <dgm:t>
        <a:bodyPr/>
        <a:lstStyle/>
        <a:p>
          <a:r>
            <a:rPr lang="en-IN" sz="1800" b="1" dirty="0" smtClean="0">
              <a:solidFill>
                <a:srgbClr val="00B050"/>
              </a:solidFill>
            </a:rPr>
            <a:t>1 Formulating research problem</a:t>
          </a:r>
          <a:endParaRPr lang="en-IN" sz="1800" b="1" dirty="0">
            <a:solidFill>
              <a:srgbClr val="00B050"/>
            </a:solidFill>
          </a:endParaRPr>
        </a:p>
      </dgm:t>
    </dgm:pt>
    <dgm:pt modelId="{BF871B3F-6506-4F40-8120-F005F06BA8E5}" type="parTrans" cxnId="{ECA22C3F-E0EA-478D-987F-F89518430257}">
      <dgm:prSet/>
      <dgm:spPr/>
      <dgm:t>
        <a:bodyPr/>
        <a:lstStyle/>
        <a:p>
          <a:endParaRPr lang="en-IN">
            <a:solidFill>
              <a:schemeClr val="accent2">
                <a:lumMod val="50000"/>
              </a:schemeClr>
            </a:solidFill>
          </a:endParaRPr>
        </a:p>
      </dgm:t>
    </dgm:pt>
    <dgm:pt modelId="{EF016738-6892-44EC-9426-571250E8DAA2}" type="sibTrans" cxnId="{ECA22C3F-E0EA-478D-987F-F89518430257}">
      <dgm:prSet/>
      <dgm:spPr/>
      <dgm:t>
        <a:bodyPr/>
        <a:lstStyle/>
        <a:p>
          <a:endParaRPr lang="en-IN">
            <a:solidFill>
              <a:schemeClr val="accent2">
                <a:lumMod val="50000"/>
              </a:schemeClr>
            </a:solidFill>
          </a:endParaRPr>
        </a:p>
      </dgm:t>
    </dgm:pt>
    <dgm:pt modelId="{A081A7ED-E0B5-4E19-88E6-8E2AFFAE9C26}">
      <dgm:prSet phldrT="[Text]" custT="1"/>
      <dgm:spPr>
        <a:solidFill>
          <a:schemeClr val="tx1">
            <a:lumMod val="85000"/>
          </a:schemeClr>
        </a:solidFill>
      </dgm:spPr>
      <dgm:t>
        <a:bodyPr/>
        <a:lstStyle/>
        <a:p>
          <a:r>
            <a:rPr lang="en-IN" sz="1800" b="1" dirty="0" smtClean="0">
              <a:solidFill>
                <a:srgbClr val="00B050"/>
              </a:solidFill>
            </a:rPr>
            <a:t>2 Literature</a:t>
          </a:r>
          <a:r>
            <a:rPr lang="en-IN" sz="1300" dirty="0" smtClean="0">
              <a:solidFill>
                <a:srgbClr val="00B050"/>
              </a:solidFill>
            </a:rPr>
            <a:t> </a:t>
          </a:r>
          <a:r>
            <a:rPr lang="en-IN" sz="1600" b="1" dirty="0" smtClean="0">
              <a:solidFill>
                <a:srgbClr val="00B050"/>
              </a:solidFill>
            </a:rPr>
            <a:t>review</a:t>
          </a:r>
          <a:endParaRPr lang="en-IN" sz="1300" b="1" dirty="0">
            <a:solidFill>
              <a:srgbClr val="00B050"/>
            </a:solidFill>
          </a:endParaRPr>
        </a:p>
      </dgm:t>
    </dgm:pt>
    <dgm:pt modelId="{D5206822-B92A-459B-B4C6-2FE577F24323}" type="parTrans" cxnId="{536DDA4C-21F9-4FDC-A73C-5CEE932D020B}">
      <dgm:prSet/>
      <dgm:spPr/>
      <dgm:t>
        <a:bodyPr/>
        <a:lstStyle/>
        <a:p>
          <a:endParaRPr lang="en-IN">
            <a:solidFill>
              <a:schemeClr val="accent2">
                <a:lumMod val="50000"/>
              </a:schemeClr>
            </a:solidFill>
          </a:endParaRPr>
        </a:p>
      </dgm:t>
    </dgm:pt>
    <dgm:pt modelId="{990311E6-4D0C-404B-8447-A3761B98CB09}" type="sibTrans" cxnId="{536DDA4C-21F9-4FDC-A73C-5CEE932D020B}">
      <dgm:prSet/>
      <dgm:spPr/>
      <dgm:t>
        <a:bodyPr/>
        <a:lstStyle/>
        <a:p>
          <a:endParaRPr lang="en-IN">
            <a:solidFill>
              <a:schemeClr val="accent2">
                <a:lumMod val="50000"/>
              </a:schemeClr>
            </a:solidFill>
          </a:endParaRPr>
        </a:p>
      </dgm:t>
    </dgm:pt>
    <dgm:pt modelId="{E621FB36-5AF5-4E50-B42A-D4AC4ADD7C25}">
      <dgm:prSet phldrT="[Text]" custT="1"/>
      <dgm:spPr>
        <a:solidFill>
          <a:schemeClr val="tx1">
            <a:lumMod val="75000"/>
          </a:schemeClr>
        </a:solidFill>
      </dgm:spPr>
      <dgm:t>
        <a:bodyPr/>
        <a:lstStyle/>
        <a:p>
          <a:r>
            <a:rPr lang="en-IN" sz="1800" b="1" dirty="0" smtClean="0">
              <a:solidFill>
                <a:srgbClr val="00B050"/>
              </a:solidFill>
            </a:rPr>
            <a:t>3 develop working Hypothesis</a:t>
          </a:r>
          <a:endParaRPr lang="en-IN" sz="1800" b="1" dirty="0">
            <a:solidFill>
              <a:srgbClr val="00B050"/>
            </a:solidFill>
          </a:endParaRPr>
        </a:p>
      </dgm:t>
    </dgm:pt>
    <dgm:pt modelId="{7E4640ED-6B96-44D7-99A9-2B76B26FD71C}" type="parTrans" cxnId="{E466EB66-050E-4C31-8B9D-8D9386FD09F6}">
      <dgm:prSet/>
      <dgm:spPr/>
      <dgm:t>
        <a:bodyPr/>
        <a:lstStyle/>
        <a:p>
          <a:endParaRPr lang="en-IN">
            <a:solidFill>
              <a:schemeClr val="accent2">
                <a:lumMod val="50000"/>
              </a:schemeClr>
            </a:solidFill>
          </a:endParaRPr>
        </a:p>
      </dgm:t>
    </dgm:pt>
    <dgm:pt modelId="{08958D36-B6F1-4826-84C1-5BD8CF6677CB}" type="sibTrans" cxnId="{E466EB66-050E-4C31-8B9D-8D9386FD09F6}">
      <dgm:prSet/>
      <dgm:spPr/>
      <dgm:t>
        <a:bodyPr/>
        <a:lstStyle/>
        <a:p>
          <a:endParaRPr lang="en-IN">
            <a:solidFill>
              <a:schemeClr val="accent2">
                <a:lumMod val="50000"/>
              </a:schemeClr>
            </a:solidFill>
          </a:endParaRPr>
        </a:p>
      </dgm:t>
    </dgm:pt>
    <dgm:pt modelId="{DE0F53B5-9663-480A-979F-1D794F7A4347}">
      <dgm:prSet phldrT="[Text]" custT="1"/>
      <dgm:spPr>
        <a:solidFill>
          <a:schemeClr val="tx1">
            <a:lumMod val="75000"/>
          </a:schemeClr>
        </a:solidFill>
      </dgm:spPr>
      <dgm:t>
        <a:bodyPr/>
        <a:lstStyle/>
        <a:p>
          <a:r>
            <a:rPr lang="en-IN" sz="1300" dirty="0" smtClean="0">
              <a:solidFill>
                <a:srgbClr val="00B050"/>
              </a:solidFill>
            </a:rPr>
            <a:t>4 </a:t>
          </a:r>
          <a:r>
            <a:rPr lang="en-IN" sz="1800" b="1" dirty="0" smtClean="0">
              <a:solidFill>
                <a:srgbClr val="00B050"/>
              </a:solidFill>
            </a:rPr>
            <a:t>Preparing Research Designs</a:t>
          </a:r>
          <a:endParaRPr lang="en-IN" sz="1300" b="1" dirty="0">
            <a:solidFill>
              <a:srgbClr val="00B050"/>
            </a:solidFill>
          </a:endParaRPr>
        </a:p>
      </dgm:t>
    </dgm:pt>
    <dgm:pt modelId="{2F0FC45C-0774-4D3A-8C32-67A532BEABF8}" type="parTrans" cxnId="{C0D56A79-D3E6-4B44-8F93-A34814C8769D}">
      <dgm:prSet/>
      <dgm:spPr/>
      <dgm:t>
        <a:bodyPr/>
        <a:lstStyle/>
        <a:p>
          <a:endParaRPr lang="en-IN">
            <a:solidFill>
              <a:schemeClr val="accent2">
                <a:lumMod val="50000"/>
              </a:schemeClr>
            </a:solidFill>
          </a:endParaRPr>
        </a:p>
      </dgm:t>
    </dgm:pt>
    <dgm:pt modelId="{E756FD7B-6052-4117-8A58-E6D8E8B02C95}" type="sibTrans" cxnId="{C0D56A79-D3E6-4B44-8F93-A34814C8769D}">
      <dgm:prSet/>
      <dgm:spPr/>
      <dgm:t>
        <a:bodyPr/>
        <a:lstStyle/>
        <a:p>
          <a:endParaRPr lang="en-IN">
            <a:solidFill>
              <a:schemeClr val="accent2">
                <a:lumMod val="50000"/>
              </a:schemeClr>
            </a:solidFill>
          </a:endParaRPr>
        </a:p>
      </dgm:t>
    </dgm:pt>
    <dgm:pt modelId="{47A2AAE6-9442-4175-B6CA-4CF1F263B272}">
      <dgm:prSet phldrT="[Text]" custT="1"/>
      <dgm:spPr>
        <a:solidFill>
          <a:schemeClr val="tx1">
            <a:lumMod val="50000"/>
          </a:schemeClr>
        </a:solidFill>
      </dgm:spPr>
      <dgm:t>
        <a:bodyPr/>
        <a:lstStyle/>
        <a:p>
          <a:r>
            <a:rPr lang="en-IN" sz="2000" b="1" dirty="0" smtClean="0">
              <a:solidFill>
                <a:srgbClr val="00B050"/>
              </a:solidFill>
            </a:rPr>
            <a:t>5 Collecting the data</a:t>
          </a:r>
          <a:endParaRPr lang="en-IN" sz="2000" b="1" dirty="0">
            <a:solidFill>
              <a:srgbClr val="00B050"/>
            </a:solidFill>
          </a:endParaRPr>
        </a:p>
      </dgm:t>
    </dgm:pt>
    <dgm:pt modelId="{AF8AED92-99BB-4A69-BFAE-0CA9B396FA4F}" type="parTrans" cxnId="{3422031F-20A9-49C2-B9E4-803C571B17CB}">
      <dgm:prSet/>
      <dgm:spPr/>
      <dgm:t>
        <a:bodyPr/>
        <a:lstStyle/>
        <a:p>
          <a:endParaRPr lang="en-IN">
            <a:solidFill>
              <a:schemeClr val="accent2">
                <a:lumMod val="50000"/>
              </a:schemeClr>
            </a:solidFill>
          </a:endParaRPr>
        </a:p>
      </dgm:t>
    </dgm:pt>
    <dgm:pt modelId="{FE3D6BA6-4FE3-46A2-9192-F059A8D8C745}" type="sibTrans" cxnId="{3422031F-20A9-49C2-B9E4-803C571B17CB}">
      <dgm:prSet/>
      <dgm:spPr/>
      <dgm:t>
        <a:bodyPr/>
        <a:lstStyle/>
        <a:p>
          <a:endParaRPr lang="en-IN">
            <a:solidFill>
              <a:schemeClr val="accent2">
                <a:lumMod val="50000"/>
              </a:schemeClr>
            </a:solidFill>
          </a:endParaRPr>
        </a:p>
      </dgm:t>
    </dgm:pt>
    <dgm:pt modelId="{CA6BB602-C553-4443-A26F-E8C9A398E08E}">
      <dgm:prSet phldrT="[Text]" custT="1"/>
      <dgm:spPr>
        <a:solidFill>
          <a:schemeClr val="tx1"/>
        </a:solidFill>
      </dgm:spPr>
      <dgm:t>
        <a:bodyPr/>
        <a:lstStyle/>
        <a:p>
          <a:r>
            <a:rPr lang="en-IN" sz="2000" b="1" dirty="0" smtClean="0">
              <a:solidFill>
                <a:srgbClr val="00B050"/>
              </a:solidFill>
            </a:rPr>
            <a:t>6 Analysis of data</a:t>
          </a:r>
          <a:endParaRPr lang="en-IN" sz="2000" b="1" dirty="0">
            <a:solidFill>
              <a:srgbClr val="00B050"/>
            </a:solidFill>
          </a:endParaRPr>
        </a:p>
      </dgm:t>
    </dgm:pt>
    <dgm:pt modelId="{9F862274-6B0D-401E-8FA0-D944C068601D}" type="parTrans" cxnId="{2748424D-ED81-4076-BC0E-4B589E48E7D7}">
      <dgm:prSet/>
      <dgm:spPr/>
      <dgm:t>
        <a:bodyPr/>
        <a:lstStyle/>
        <a:p>
          <a:endParaRPr lang="en-IN">
            <a:solidFill>
              <a:schemeClr val="accent2">
                <a:lumMod val="50000"/>
              </a:schemeClr>
            </a:solidFill>
          </a:endParaRPr>
        </a:p>
      </dgm:t>
    </dgm:pt>
    <dgm:pt modelId="{129E2242-09FF-499B-BBCF-8F5F2E4BC70D}" type="sibTrans" cxnId="{2748424D-ED81-4076-BC0E-4B589E48E7D7}">
      <dgm:prSet/>
      <dgm:spPr/>
      <dgm:t>
        <a:bodyPr/>
        <a:lstStyle/>
        <a:p>
          <a:endParaRPr lang="en-IN">
            <a:solidFill>
              <a:schemeClr val="accent2">
                <a:lumMod val="50000"/>
              </a:schemeClr>
            </a:solidFill>
          </a:endParaRPr>
        </a:p>
      </dgm:t>
    </dgm:pt>
    <dgm:pt modelId="{86EB415A-CB16-4622-B9C5-9357CF3D5BC7}">
      <dgm:prSet phldrT="[Text]" custT="1"/>
      <dgm:spPr>
        <a:solidFill>
          <a:schemeClr val="tx1"/>
        </a:solidFill>
      </dgm:spPr>
      <dgm:t>
        <a:bodyPr/>
        <a:lstStyle/>
        <a:p>
          <a:r>
            <a:rPr lang="en-IN" sz="1800" b="1" dirty="0" smtClean="0">
              <a:solidFill>
                <a:srgbClr val="00B050"/>
              </a:solidFill>
            </a:rPr>
            <a:t>7 Hypothesis testing</a:t>
          </a:r>
          <a:endParaRPr lang="en-IN" sz="1800" b="1" dirty="0">
            <a:solidFill>
              <a:srgbClr val="00B050"/>
            </a:solidFill>
          </a:endParaRPr>
        </a:p>
      </dgm:t>
    </dgm:pt>
    <dgm:pt modelId="{1CC1427D-A980-4B5A-9D29-6927F7BEB34A}" type="parTrans" cxnId="{DE279BB8-1029-4DAC-81BF-F103316DDA08}">
      <dgm:prSet/>
      <dgm:spPr/>
      <dgm:t>
        <a:bodyPr/>
        <a:lstStyle/>
        <a:p>
          <a:endParaRPr lang="en-IN">
            <a:solidFill>
              <a:schemeClr val="accent2">
                <a:lumMod val="50000"/>
              </a:schemeClr>
            </a:solidFill>
          </a:endParaRPr>
        </a:p>
      </dgm:t>
    </dgm:pt>
    <dgm:pt modelId="{186DFCFC-7438-4D16-8703-EE4428DCDEB8}" type="sibTrans" cxnId="{DE279BB8-1029-4DAC-81BF-F103316DDA08}">
      <dgm:prSet/>
      <dgm:spPr/>
      <dgm:t>
        <a:bodyPr/>
        <a:lstStyle/>
        <a:p>
          <a:endParaRPr lang="en-IN">
            <a:solidFill>
              <a:schemeClr val="accent2">
                <a:lumMod val="50000"/>
              </a:schemeClr>
            </a:solidFill>
          </a:endParaRPr>
        </a:p>
      </dgm:t>
    </dgm:pt>
    <dgm:pt modelId="{AE1A9683-2F7B-4CAC-9151-6A9D0D298D7D}">
      <dgm:prSet phldrT="[Text]" custT="1"/>
      <dgm:spPr>
        <a:solidFill>
          <a:schemeClr val="tx1"/>
        </a:solidFill>
      </dgm:spPr>
      <dgm:t>
        <a:bodyPr/>
        <a:lstStyle/>
        <a:p>
          <a:r>
            <a:rPr lang="en-IN" sz="1800" b="1" dirty="0" smtClean="0">
              <a:solidFill>
                <a:srgbClr val="00B050"/>
              </a:solidFill>
            </a:rPr>
            <a:t>8 Generalizations and interpretations</a:t>
          </a:r>
          <a:endParaRPr lang="en-IN" sz="1800" b="1" dirty="0">
            <a:solidFill>
              <a:srgbClr val="00B050"/>
            </a:solidFill>
          </a:endParaRPr>
        </a:p>
      </dgm:t>
    </dgm:pt>
    <dgm:pt modelId="{2C421801-CAC9-42A8-A30F-53D3F19919BC}" type="parTrans" cxnId="{F2236CF0-89D7-4B73-BB7C-D5CCEFA1E8FA}">
      <dgm:prSet/>
      <dgm:spPr/>
      <dgm:t>
        <a:bodyPr/>
        <a:lstStyle/>
        <a:p>
          <a:endParaRPr lang="en-IN">
            <a:solidFill>
              <a:schemeClr val="accent2">
                <a:lumMod val="50000"/>
              </a:schemeClr>
            </a:solidFill>
          </a:endParaRPr>
        </a:p>
      </dgm:t>
    </dgm:pt>
    <dgm:pt modelId="{3456E548-666A-4185-BD20-2C778B90FEEC}" type="sibTrans" cxnId="{F2236CF0-89D7-4B73-BB7C-D5CCEFA1E8FA}">
      <dgm:prSet/>
      <dgm:spPr/>
      <dgm:t>
        <a:bodyPr/>
        <a:lstStyle/>
        <a:p>
          <a:endParaRPr lang="en-IN">
            <a:solidFill>
              <a:schemeClr val="accent2">
                <a:lumMod val="50000"/>
              </a:schemeClr>
            </a:solidFill>
          </a:endParaRPr>
        </a:p>
      </dgm:t>
    </dgm:pt>
    <dgm:pt modelId="{96E66248-D434-4DB9-80F6-BBE01CE1DD08}">
      <dgm:prSet phldrT="[Text]" custT="1"/>
      <dgm:spPr>
        <a:solidFill>
          <a:schemeClr val="tx1"/>
        </a:solidFill>
      </dgm:spPr>
      <dgm:t>
        <a:bodyPr/>
        <a:lstStyle/>
        <a:p>
          <a:r>
            <a:rPr lang="en-IN" sz="1800" b="1" dirty="0" smtClean="0">
              <a:solidFill>
                <a:srgbClr val="00B050"/>
              </a:solidFill>
            </a:rPr>
            <a:t>9 Preparation of the report</a:t>
          </a:r>
          <a:endParaRPr lang="en-IN" sz="1800" b="1" dirty="0">
            <a:solidFill>
              <a:srgbClr val="00B050"/>
            </a:solidFill>
          </a:endParaRPr>
        </a:p>
      </dgm:t>
    </dgm:pt>
    <dgm:pt modelId="{AD99AFE1-1CD3-4C72-BD10-20B5B53C1AFE}" type="parTrans" cxnId="{DD63A51F-E656-4514-9F2D-BFB2B0FB5F4D}">
      <dgm:prSet/>
      <dgm:spPr/>
      <dgm:t>
        <a:bodyPr/>
        <a:lstStyle/>
        <a:p>
          <a:endParaRPr lang="en-IN">
            <a:solidFill>
              <a:schemeClr val="accent2">
                <a:lumMod val="50000"/>
              </a:schemeClr>
            </a:solidFill>
          </a:endParaRPr>
        </a:p>
      </dgm:t>
    </dgm:pt>
    <dgm:pt modelId="{8AEA0AD2-55B2-4BCF-8818-364A125592BC}" type="sibTrans" cxnId="{DD63A51F-E656-4514-9F2D-BFB2B0FB5F4D}">
      <dgm:prSet/>
      <dgm:spPr/>
      <dgm:t>
        <a:bodyPr/>
        <a:lstStyle/>
        <a:p>
          <a:endParaRPr lang="en-IN">
            <a:solidFill>
              <a:schemeClr val="accent2">
                <a:lumMod val="50000"/>
              </a:schemeClr>
            </a:solidFill>
          </a:endParaRPr>
        </a:p>
      </dgm:t>
    </dgm:pt>
    <dgm:pt modelId="{6E4C2C48-C92E-4B05-B319-BBA9F762099D}" type="pres">
      <dgm:prSet presAssocID="{0CBD0C89-F317-4EF4-990F-757B711252A6}" presName="linear" presStyleCnt="0">
        <dgm:presLayoutVars>
          <dgm:dir/>
          <dgm:animLvl val="lvl"/>
          <dgm:resizeHandles val="exact"/>
        </dgm:presLayoutVars>
      </dgm:prSet>
      <dgm:spPr/>
      <dgm:t>
        <a:bodyPr/>
        <a:lstStyle/>
        <a:p>
          <a:endParaRPr lang="en-IN"/>
        </a:p>
      </dgm:t>
    </dgm:pt>
    <dgm:pt modelId="{B0B8B94F-6F3B-4F43-9402-15954695CC81}" type="pres">
      <dgm:prSet presAssocID="{B63F0D9E-3D9E-4E9F-97DF-E7D3606309CA}" presName="parentLin" presStyleCnt="0"/>
      <dgm:spPr/>
    </dgm:pt>
    <dgm:pt modelId="{3D5A653E-4C26-49D0-9D86-364F3C21C83E}" type="pres">
      <dgm:prSet presAssocID="{B63F0D9E-3D9E-4E9F-97DF-E7D3606309CA}" presName="parentLeftMargin" presStyleLbl="node1" presStyleIdx="0" presStyleCnt="9"/>
      <dgm:spPr/>
      <dgm:t>
        <a:bodyPr/>
        <a:lstStyle/>
        <a:p>
          <a:endParaRPr lang="en-IN"/>
        </a:p>
      </dgm:t>
    </dgm:pt>
    <dgm:pt modelId="{E0371F0D-ECB1-4805-952E-966F1037C48D}" type="pres">
      <dgm:prSet presAssocID="{B63F0D9E-3D9E-4E9F-97DF-E7D3606309CA}" presName="parentText" presStyleLbl="node1" presStyleIdx="0" presStyleCnt="9">
        <dgm:presLayoutVars>
          <dgm:chMax val="0"/>
          <dgm:bulletEnabled val="1"/>
        </dgm:presLayoutVars>
      </dgm:prSet>
      <dgm:spPr/>
      <dgm:t>
        <a:bodyPr/>
        <a:lstStyle/>
        <a:p>
          <a:endParaRPr lang="en-IN"/>
        </a:p>
      </dgm:t>
    </dgm:pt>
    <dgm:pt modelId="{6649DF17-3548-4536-9297-C76615524A37}" type="pres">
      <dgm:prSet presAssocID="{B63F0D9E-3D9E-4E9F-97DF-E7D3606309CA}" presName="negativeSpace" presStyleCnt="0"/>
      <dgm:spPr/>
    </dgm:pt>
    <dgm:pt modelId="{EB6784EA-43DE-42FE-9BB7-4DF2755049DE}" type="pres">
      <dgm:prSet presAssocID="{B63F0D9E-3D9E-4E9F-97DF-E7D3606309CA}" presName="childText" presStyleLbl="conFgAcc1" presStyleIdx="0" presStyleCnt="9">
        <dgm:presLayoutVars>
          <dgm:bulletEnabled val="1"/>
        </dgm:presLayoutVars>
      </dgm:prSet>
      <dgm:spPr>
        <a:solidFill>
          <a:schemeClr val="bg1">
            <a:lumMod val="50000"/>
            <a:lumOff val="50000"/>
            <a:alpha val="90000"/>
          </a:schemeClr>
        </a:solidFill>
      </dgm:spPr>
      <dgm:t>
        <a:bodyPr/>
        <a:lstStyle/>
        <a:p>
          <a:endParaRPr lang="en-IN"/>
        </a:p>
      </dgm:t>
    </dgm:pt>
    <dgm:pt modelId="{1FD28C42-E899-4032-8D4D-BCF081A5787B}" type="pres">
      <dgm:prSet presAssocID="{EF016738-6892-44EC-9426-571250E8DAA2}" presName="spaceBetweenRectangles" presStyleCnt="0"/>
      <dgm:spPr/>
    </dgm:pt>
    <dgm:pt modelId="{343F37E3-637B-4692-A843-60ACFBC22501}" type="pres">
      <dgm:prSet presAssocID="{A081A7ED-E0B5-4E19-88E6-8E2AFFAE9C26}" presName="parentLin" presStyleCnt="0"/>
      <dgm:spPr/>
    </dgm:pt>
    <dgm:pt modelId="{66349BDC-1580-4A88-8BFE-285D9A98A47B}" type="pres">
      <dgm:prSet presAssocID="{A081A7ED-E0B5-4E19-88E6-8E2AFFAE9C26}" presName="parentLeftMargin" presStyleLbl="node1" presStyleIdx="0" presStyleCnt="9"/>
      <dgm:spPr/>
      <dgm:t>
        <a:bodyPr/>
        <a:lstStyle/>
        <a:p>
          <a:endParaRPr lang="en-IN"/>
        </a:p>
      </dgm:t>
    </dgm:pt>
    <dgm:pt modelId="{0DDCD51A-FA41-43FC-B6C6-6E4AB62CB897}" type="pres">
      <dgm:prSet presAssocID="{A081A7ED-E0B5-4E19-88E6-8E2AFFAE9C26}" presName="parentText" presStyleLbl="node1" presStyleIdx="1" presStyleCnt="9" custLinFactNeighborX="10714" custLinFactNeighborY="2128">
        <dgm:presLayoutVars>
          <dgm:chMax val="0"/>
          <dgm:bulletEnabled val="1"/>
        </dgm:presLayoutVars>
      </dgm:prSet>
      <dgm:spPr/>
      <dgm:t>
        <a:bodyPr/>
        <a:lstStyle/>
        <a:p>
          <a:endParaRPr lang="en-IN"/>
        </a:p>
      </dgm:t>
    </dgm:pt>
    <dgm:pt modelId="{C942004E-0F44-4E44-8A1B-C8AFFF0EA2D0}" type="pres">
      <dgm:prSet presAssocID="{A081A7ED-E0B5-4E19-88E6-8E2AFFAE9C26}" presName="negativeSpace" presStyleCnt="0"/>
      <dgm:spPr/>
    </dgm:pt>
    <dgm:pt modelId="{482EA32C-A267-4B73-9AD9-AA62948792FB}" type="pres">
      <dgm:prSet presAssocID="{A081A7ED-E0B5-4E19-88E6-8E2AFFAE9C26}" presName="childText" presStyleLbl="conFgAcc1" presStyleIdx="1" presStyleCnt="9">
        <dgm:presLayoutVars>
          <dgm:bulletEnabled val="1"/>
        </dgm:presLayoutVars>
      </dgm:prSet>
      <dgm:spPr/>
    </dgm:pt>
    <dgm:pt modelId="{5038BFC5-C011-4A49-8DA6-6D17AB1FC837}" type="pres">
      <dgm:prSet presAssocID="{990311E6-4D0C-404B-8447-A3761B98CB09}" presName="spaceBetweenRectangles" presStyleCnt="0"/>
      <dgm:spPr/>
    </dgm:pt>
    <dgm:pt modelId="{D71B8D1B-B497-44FF-9E88-38E724DD8446}" type="pres">
      <dgm:prSet presAssocID="{E621FB36-5AF5-4E50-B42A-D4AC4ADD7C25}" presName="parentLin" presStyleCnt="0"/>
      <dgm:spPr/>
    </dgm:pt>
    <dgm:pt modelId="{00506018-370F-4B53-B0AC-7C457EBF7A66}" type="pres">
      <dgm:prSet presAssocID="{E621FB36-5AF5-4E50-B42A-D4AC4ADD7C25}" presName="parentLeftMargin" presStyleLbl="node1" presStyleIdx="1" presStyleCnt="9"/>
      <dgm:spPr/>
      <dgm:t>
        <a:bodyPr/>
        <a:lstStyle/>
        <a:p>
          <a:endParaRPr lang="en-IN"/>
        </a:p>
      </dgm:t>
    </dgm:pt>
    <dgm:pt modelId="{0C966C39-F126-4D5B-A941-B68706847B4B}" type="pres">
      <dgm:prSet presAssocID="{E621FB36-5AF5-4E50-B42A-D4AC4ADD7C25}" presName="parentText" presStyleLbl="node1" presStyleIdx="2" presStyleCnt="9">
        <dgm:presLayoutVars>
          <dgm:chMax val="0"/>
          <dgm:bulletEnabled val="1"/>
        </dgm:presLayoutVars>
      </dgm:prSet>
      <dgm:spPr/>
      <dgm:t>
        <a:bodyPr/>
        <a:lstStyle/>
        <a:p>
          <a:endParaRPr lang="en-IN"/>
        </a:p>
      </dgm:t>
    </dgm:pt>
    <dgm:pt modelId="{A25D3B62-1844-4289-9C97-EA608E1AF0E6}" type="pres">
      <dgm:prSet presAssocID="{E621FB36-5AF5-4E50-B42A-D4AC4ADD7C25}" presName="negativeSpace" presStyleCnt="0"/>
      <dgm:spPr/>
    </dgm:pt>
    <dgm:pt modelId="{CCFA41D5-7B35-4832-B5AC-EE5C58EF5DFD}" type="pres">
      <dgm:prSet presAssocID="{E621FB36-5AF5-4E50-B42A-D4AC4ADD7C25}" presName="childText" presStyleLbl="conFgAcc1" presStyleIdx="2" presStyleCnt="9">
        <dgm:presLayoutVars>
          <dgm:bulletEnabled val="1"/>
        </dgm:presLayoutVars>
      </dgm:prSet>
      <dgm:spPr>
        <a:solidFill>
          <a:schemeClr val="bg1">
            <a:lumMod val="50000"/>
            <a:lumOff val="50000"/>
            <a:alpha val="90000"/>
          </a:schemeClr>
        </a:solidFill>
      </dgm:spPr>
      <dgm:t>
        <a:bodyPr/>
        <a:lstStyle/>
        <a:p>
          <a:endParaRPr lang="en-IN"/>
        </a:p>
      </dgm:t>
    </dgm:pt>
    <dgm:pt modelId="{99E7AB46-FAD2-4620-8D50-7911B87606A9}" type="pres">
      <dgm:prSet presAssocID="{08958D36-B6F1-4826-84C1-5BD8CF6677CB}" presName="spaceBetweenRectangles" presStyleCnt="0"/>
      <dgm:spPr/>
    </dgm:pt>
    <dgm:pt modelId="{969697A4-41D7-49F2-A28B-D4D174BEAA6F}" type="pres">
      <dgm:prSet presAssocID="{DE0F53B5-9663-480A-979F-1D794F7A4347}" presName="parentLin" presStyleCnt="0"/>
      <dgm:spPr/>
    </dgm:pt>
    <dgm:pt modelId="{F7F3BD22-A9AB-4B6B-864C-5789CA63A19E}" type="pres">
      <dgm:prSet presAssocID="{DE0F53B5-9663-480A-979F-1D794F7A4347}" presName="parentLeftMargin" presStyleLbl="node1" presStyleIdx="2" presStyleCnt="9"/>
      <dgm:spPr/>
      <dgm:t>
        <a:bodyPr/>
        <a:lstStyle/>
        <a:p>
          <a:endParaRPr lang="en-IN"/>
        </a:p>
      </dgm:t>
    </dgm:pt>
    <dgm:pt modelId="{273D4BF1-0E21-425E-82E9-576824D71DDA}" type="pres">
      <dgm:prSet presAssocID="{DE0F53B5-9663-480A-979F-1D794F7A4347}" presName="parentText" presStyleLbl="node1" presStyleIdx="3" presStyleCnt="9">
        <dgm:presLayoutVars>
          <dgm:chMax val="0"/>
          <dgm:bulletEnabled val="1"/>
        </dgm:presLayoutVars>
      </dgm:prSet>
      <dgm:spPr/>
      <dgm:t>
        <a:bodyPr/>
        <a:lstStyle/>
        <a:p>
          <a:endParaRPr lang="en-IN"/>
        </a:p>
      </dgm:t>
    </dgm:pt>
    <dgm:pt modelId="{8B216012-5FAB-45EC-AC7E-E79EF145E47A}" type="pres">
      <dgm:prSet presAssocID="{DE0F53B5-9663-480A-979F-1D794F7A4347}" presName="negativeSpace" presStyleCnt="0"/>
      <dgm:spPr/>
    </dgm:pt>
    <dgm:pt modelId="{8230FAEC-9DDA-4435-9FC8-88B597F40F28}" type="pres">
      <dgm:prSet presAssocID="{DE0F53B5-9663-480A-979F-1D794F7A4347}" presName="childText" presStyleLbl="conFgAcc1" presStyleIdx="3" presStyleCnt="9">
        <dgm:presLayoutVars>
          <dgm:bulletEnabled val="1"/>
        </dgm:presLayoutVars>
      </dgm:prSet>
      <dgm:spPr/>
    </dgm:pt>
    <dgm:pt modelId="{D9425A19-9E12-46E1-A6A8-D6D9EC5ED1F6}" type="pres">
      <dgm:prSet presAssocID="{E756FD7B-6052-4117-8A58-E6D8E8B02C95}" presName="spaceBetweenRectangles" presStyleCnt="0"/>
      <dgm:spPr/>
    </dgm:pt>
    <dgm:pt modelId="{C312A340-EDAE-4A7C-8C80-DED0F59EF0ED}" type="pres">
      <dgm:prSet presAssocID="{47A2AAE6-9442-4175-B6CA-4CF1F263B272}" presName="parentLin" presStyleCnt="0"/>
      <dgm:spPr/>
    </dgm:pt>
    <dgm:pt modelId="{744B0214-C0D8-4FC0-9D3B-308B5BAF0A07}" type="pres">
      <dgm:prSet presAssocID="{47A2AAE6-9442-4175-B6CA-4CF1F263B272}" presName="parentLeftMargin" presStyleLbl="node1" presStyleIdx="3" presStyleCnt="9"/>
      <dgm:spPr/>
      <dgm:t>
        <a:bodyPr/>
        <a:lstStyle/>
        <a:p>
          <a:endParaRPr lang="en-IN"/>
        </a:p>
      </dgm:t>
    </dgm:pt>
    <dgm:pt modelId="{08D288D5-B7FD-4BE8-ACB3-8036D86EE209}" type="pres">
      <dgm:prSet presAssocID="{47A2AAE6-9442-4175-B6CA-4CF1F263B272}" presName="parentText" presStyleLbl="node1" presStyleIdx="4" presStyleCnt="9">
        <dgm:presLayoutVars>
          <dgm:chMax val="0"/>
          <dgm:bulletEnabled val="1"/>
        </dgm:presLayoutVars>
      </dgm:prSet>
      <dgm:spPr/>
      <dgm:t>
        <a:bodyPr/>
        <a:lstStyle/>
        <a:p>
          <a:endParaRPr lang="en-IN"/>
        </a:p>
      </dgm:t>
    </dgm:pt>
    <dgm:pt modelId="{5044050D-A1A9-4CE5-A19B-E35225E3372F}" type="pres">
      <dgm:prSet presAssocID="{47A2AAE6-9442-4175-B6CA-4CF1F263B272}" presName="negativeSpace" presStyleCnt="0"/>
      <dgm:spPr/>
    </dgm:pt>
    <dgm:pt modelId="{FE5E97AF-870D-41CA-AC07-C6F75CAAE375}" type="pres">
      <dgm:prSet presAssocID="{47A2AAE6-9442-4175-B6CA-4CF1F263B272}" presName="childText" presStyleLbl="conFgAcc1" presStyleIdx="4" presStyleCnt="9">
        <dgm:presLayoutVars>
          <dgm:bulletEnabled val="1"/>
        </dgm:presLayoutVars>
      </dgm:prSet>
      <dgm:spPr>
        <a:solidFill>
          <a:schemeClr val="bg1">
            <a:lumMod val="50000"/>
            <a:lumOff val="50000"/>
            <a:alpha val="90000"/>
          </a:schemeClr>
        </a:solidFill>
      </dgm:spPr>
      <dgm:t>
        <a:bodyPr/>
        <a:lstStyle/>
        <a:p>
          <a:endParaRPr lang="en-IN"/>
        </a:p>
      </dgm:t>
    </dgm:pt>
    <dgm:pt modelId="{4CD00211-5DE0-4C6E-95D4-7E1AD3141576}" type="pres">
      <dgm:prSet presAssocID="{FE3D6BA6-4FE3-46A2-9192-F059A8D8C745}" presName="spaceBetweenRectangles" presStyleCnt="0"/>
      <dgm:spPr/>
    </dgm:pt>
    <dgm:pt modelId="{84EC3F3D-8FF5-4E76-AD79-6A1F5B3FDE23}" type="pres">
      <dgm:prSet presAssocID="{CA6BB602-C553-4443-A26F-E8C9A398E08E}" presName="parentLin" presStyleCnt="0"/>
      <dgm:spPr/>
    </dgm:pt>
    <dgm:pt modelId="{E24668DA-B04E-450A-9999-75E371814AF6}" type="pres">
      <dgm:prSet presAssocID="{CA6BB602-C553-4443-A26F-E8C9A398E08E}" presName="parentLeftMargin" presStyleLbl="node1" presStyleIdx="4" presStyleCnt="9"/>
      <dgm:spPr/>
      <dgm:t>
        <a:bodyPr/>
        <a:lstStyle/>
        <a:p>
          <a:endParaRPr lang="en-IN"/>
        </a:p>
      </dgm:t>
    </dgm:pt>
    <dgm:pt modelId="{D59B141C-009E-4F0C-9FEA-AB7C6EFA4479}" type="pres">
      <dgm:prSet presAssocID="{CA6BB602-C553-4443-A26F-E8C9A398E08E}" presName="parentText" presStyleLbl="node1" presStyleIdx="5" presStyleCnt="9">
        <dgm:presLayoutVars>
          <dgm:chMax val="0"/>
          <dgm:bulletEnabled val="1"/>
        </dgm:presLayoutVars>
      </dgm:prSet>
      <dgm:spPr/>
      <dgm:t>
        <a:bodyPr/>
        <a:lstStyle/>
        <a:p>
          <a:endParaRPr lang="en-IN"/>
        </a:p>
      </dgm:t>
    </dgm:pt>
    <dgm:pt modelId="{7A91A9FF-5F02-4BFC-A0A0-BE2747717474}" type="pres">
      <dgm:prSet presAssocID="{CA6BB602-C553-4443-A26F-E8C9A398E08E}" presName="negativeSpace" presStyleCnt="0"/>
      <dgm:spPr/>
    </dgm:pt>
    <dgm:pt modelId="{1F7584A8-3539-4311-9BFF-1E4342477A67}" type="pres">
      <dgm:prSet presAssocID="{CA6BB602-C553-4443-A26F-E8C9A398E08E}" presName="childText" presStyleLbl="conFgAcc1" presStyleIdx="5" presStyleCnt="9">
        <dgm:presLayoutVars>
          <dgm:bulletEnabled val="1"/>
        </dgm:presLayoutVars>
      </dgm:prSet>
      <dgm:spPr/>
    </dgm:pt>
    <dgm:pt modelId="{13899669-E339-4ADA-8793-6B48107F7482}" type="pres">
      <dgm:prSet presAssocID="{129E2242-09FF-499B-BBCF-8F5F2E4BC70D}" presName="spaceBetweenRectangles" presStyleCnt="0"/>
      <dgm:spPr/>
    </dgm:pt>
    <dgm:pt modelId="{440A446A-BED5-4E58-8B9A-4F71B5915FE3}" type="pres">
      <dgm:prSet presAssocID="{86EB415A-CB16-4622-B9C5-9357CF3D5BC7}" presName="parentLin" presStyleCnt="0"/>
      <dgm:spPr/>
    </dgm:pt>
    <dgm:pt modelId="{735FF365-5BC3-47DE-B7B3-8E19EB94D006}" type="pres">
      <dgm:prSet presAssocID="{86EB415A-CB16-4622-B9C5-9357CF3D5BC7}" presName="parentLeftMargin" presStyleLbl="node1" presStyleIdx="5" presStyleCnt="9"/>
      <dgm:spPr/>
      <dgm:t>
        <a:bodyPr/>
        <a:lstStyle/>
        <a:p>
          <a:endParaRPr lang="en-IN"/>
        </a:p>
      </dgm:t>
    </dgm:pt>
    <dgm:pt modelId="{6B3FAAF5-E8B3-4B7F-9E9B-DBE4EF09D967}" type="pres">
      <dgm:prSet presAssocID="{86EB415A-CB16-4622-B9C5-9357CF3D5BC7}" presName="parentText" presStyleLbl="node1" presStyleIdx="6" presStyleCnt="9">
        <dgm:presLayoutVars>
          <dgm:chMax val="0"/>
          <dgm:bulletEnabled val="1"/>
        </dgm:presLayoutVars>
      </dgm:prSet>
      <dgm:spPr/>
      <dgm:t>
        <a:bodyPr/>
        <a:lstStyle/>
        <a:p>
          <a:endParaRPr lang="en-IN"/>
        </a:p>
      </dgm:t>
    </dgm:pt>
    <dgm:pt modelId="{7BC2C6EF-AD71-4A05-A0A3-9C4DA1B69E4A}" type="pres">
      <dgm:prSet presAssocID="{86EB415A-CB16-4622-B9C5-9357CF3D5BC7}" presName="negativeSpace" presStyleCnt="0"/>
      <dgm:spPr/>
    </dgm:pt>
    <dgm:pt modelId="{0AC1A33D-B593-455E-9FBF-8634D6AD0557}" type="pres">
      <dgm:prSet presAssocID="{86EB415A-CB16-4622-B9C5-9357CF3D5BC7}" presName="childText" presStyleLbl="conFgAcc1" presStyleIdx="6" presStyleCnt="9">
        <dgm:presLayoutVars>
          <dgm:bulletEnabled val="1"/>
        </dgm:presLayoutVars>
      </dgm:prSet>
      <dgm:spPr>
        <a:solidFill>
          <a:schemeClr val="bg1">
            <a:lumMod val="50000"/>
            <a:lumOff val="50000"/>
            <a:alpha val="90000"/>
          </a:schemeClr>
        </a:solidFill>
      </dgm:spPr>
      <dgm:t>
        <a:bodyPr/>
        <a:lstStyle/>
        <a:p>
          <a:endParaRPr lang="en-IN"/>
        </a:p>
      </dgm:t>
    </dgm:pt>
    <dgm:pt modelId="{702594D8-7D73-4943-850B-46708FA8D5C8}" type="pres">
      <dgm:prSet presAssocID="{186DFCFC-7438-4D16-8703-EE4428DCDEB8}" presName="spaceBetweenRectangles" presStyleCnt="0"/>
      <dgm:spPr/>
    </dgm:pt>
    <dgm:pt modelId="{F9BCED6D-6996-4CDE-899F-CC87FF1E7303}" type="pres">
      <dgm:prSet presAssocID="{AE1A9683-2F7B-4CAC-9151-6A9D0D298D7D}" presName="parentLin" presStyleCnt="0"/>
      <dgm:spPr/>
    </dgm:pt>
    <dgm:pt modelId="{2BA949E0-89E4-407D-99BC-5026BF014B79}" type="pres">
      <dgm:prSet presAssocID="{AE1A9683-2F7B-4CAC-9151-6A9D0D298D7D}" presName="parentLeftMargin" presStyleLbl="node1" presStyleIdx="6" presStyleCnt="9"/>
      <dgm:spPr/>
      <dgm:t>
        <a:bodyPr/>
        <a:lstStyle/>
        <a:p>
          <a:endParaRPr lang="en-IN"/>
        </a:p>
      </dgm:t>
    </dgm:pt>
    <dgm:pt modelId="{53875133-E186-40AC-8267-69C54F892680}" type="pres">
      <dgm:prSet presAssocID="{AE1A9683-2F7B-4CAC-9151-6A9D0D298D7D}" presName="parentText" presStyleLbl="node1" presStyleIdx="7" presStyleCnt="9">
        <dgm:presLayoutVars>
          <dgm:chMax val="0"/>
          <dgm:bulletEnabled val="1"/>
        </dgm:presLayoutVars>
      </dgm:prSet>
      <dgm:spPr/>
      <dgm:t>
        <a:bodyPr/>
        <a:lstStyle/>
        <a:p>
          <a:endParaRPr lang="en-IN"/>
        </a:p>
      </dgm:t>
    </dgm:pt>
    <dgm:pt modelId="{712F97F1-B339-45EB-854D-887BFB098A79}" type="pres">
      <dgm:prSet presAssocID="{AE1A9683-2F7B-4CAC-9151-6A9D0D298D7D}" presName="negativeSpace" presStyleCnt="0"/>
      <dgm:spPr/>
    </dgm:pt>
    <dgm:pt modelId="{242D3D40-6C05-44B7-A98A-3596376A0554}" type="pres">
      <dgm:prSet presAssocID="{AE1A9683-2F7B-4CAC-9151-6A9D0D298D7D}" presName="childText" presStyleLbl="conFgAcc1" presStyleIdx="7" presStyleCnt="9">
        <dgm:presLayoutVars>
          <dgm:bulletEnabled val="1"/>
        </dgm:presLayoutVars>
      </dgm:prSet>
      <dgm:spPr/>
    </dgm:pt>
    <dgm:pt modelId="{D12A2394-6D49-435E-B105-4F52A67D213A}" type="pres">
      <dgm:prSet presAssocID="{3456E548-666A-4185-BD20-2C778B90FEEC}" presName="spaceBetweenRectangles" presStyleCnt="0"/>
      <dgm:spPr/>
    </dgm:pt>
    <dgm:pt modelId="{30C9AFC7-91C9-4F93-BDA6-3548C16F2F04}" type="pres">
      <dgm:prSet presAssocID="{96E66248-D434-4DB9-80F6-BBE01CE1DD08}" presName="parentLin" presStyleCnt="0"/>
      <dgm:spPr/>
    </dgm:pt>
    <dgm:pt modelId="{B62C843E-3849-4B1C-A2AD-637E153D8A96}" type="pres">
      <dgm:prSet presAssocID="{96E66248-D434-4DB9-80F6-BBE01CE1DD08}" presName="parentLeftMargin" presStyleLbl="node1" presStyleIdx="7" presStyleCnt="9"/>
      <dgm:spPr/>
      <dgm:t>
        <a:bodyPr/>
        <a:lstStyle/>
        <a:p>
          <a:endParaRPr lang="en-IN"/>
        </a:p>
      </dgm:t>
    </dgm:pt>
    <dgm:pt modelId="{E3501006-49C1-4517-AF38-B3F934D5FD6C}" type="pres">
      <dgm:prSet presAssocID="{96E66248-D434-4DB9-80F6-BBE01CE1DD08}" presName="parentText" presStyleLbl="node1" presStyleIdx="8" presStyleCnt="9">
        <dgm:presLayoutVars>
          <dgm:chMax val="0"/>
          <dgm:bulletEnabled val="1"/>
        </dgm:presLayoutVars>
      </dgm:prSet>
      <dgm:spPr/>
      <dgm:t>
        <a:bodyPr/>
        <a:lstStyle/>
        <a:p>
          <a:endParaRPr lang="en-IN"/>
        </a:p>
      </dgm:t>
    </dgm:pt>
    <dgm:pt modelId="{CCCAE105-28DA-442D-BFA8-E83E766B75EA}" type="pres">
      <dgm:prSet presAssocID="{96E66248-D434-4DB9-80F6-BBE01CE1DD08}" presName="negativeSpace" presStyleCnt="0"/>
      <dgm:spPr/>
    </dgm:pt>
    <dgm:pt modelId="{DABDF23F-09F5-4F83-957A-4D65447FDD51}" type="pres">
      <dgm:prSet presAssocID="{96E66248-D434-4DB9-80F6-BBE01CE1DD08}" presName="childText" presStyleLbl="conFgAcc1" presStyleIdx="8" presStyleCnt="9">
        <dgm:presLayoutVars>
          <dgm:bulletEnabled val="1"/>
        </dgm:presLayoutVars>
      </dgm:prSet>
      <dgm:spPr>
        <a:solidFill>
          <a:schemeClr val="bg1">
            <a:lumMod val="50000"/>
            <a:lumOff val="50000"/>
            <a:alpha val="90000"/>
          </a:schemeClr>
        </a:solidFill>
      </dgm:spPr>
      <dgm:t>
        <a:bodyPr/>
        <a:lstStyle/>
        <a:p>
          <a:endParaRPr lang="en-IN"/>
        </a:p>
      </dgm:t>
    </dgm:pt>
  </dgm:ptLst>
  <dgm:cxnLst>
    <dgm:cxn modelId="{78785CEF-8E06-4B13-9146-2D24DDA91D15}" type="presOf" srcId="{96E66248-D434-4DB9-80F6-BBE01CE1DD08}" destId="{B62C843E-3849-4B1C-A2AD-637E153D8A96}" srcOrd="0" destOrd="0" presId="urn:microsoft.com/office/officeart/2005/8/layout/list1"/>
    <dgm:cxn modelId="{5628F71B-8779-4E8B-96CB-45A57347495B}" type="presOf" srcId="{A081A7ED-E0B5-4E19-88E6-8E2AFFAE9C26}" destId="{66349BDC-1580-4A88-8BFE-285D9A98A47B}" srcOrd="0" destOrd="0" presId="urn:microsoft.com/office/officeart/2005/8/layout/list1"/>
    <dgm:cxn modelId="{DD63A51F-E656-4514-9F2D-BFB2B0FB5F4D}" srcId="{0CBD0C89-F317-4EF4-990F-757B711252A6}" destId="{96E66248-D434-4DB9-80F6-BBE01CE1DD08}" srcOrd="8" destOrd="0" parTransId="{AD99AFE1-1CD3-4C72-BD10-20B5B53C1AFE}" sibTransId="{8AEA0AD2-55B2-4BCF-8818-364A125592BC}"/>
    <dgm:cxn modelId="{832548D1-4E49-46F3-B3DC-00765F0E2C0D}" type="presOf" srcId="{B63F0D9E-3D9E-4E9F-97DF-E7D3606309CA}" destId="{3D5A653E-4C26-49D0-9D86-364F3C21C83E}" srcOrd="0" destOrd="0" presId="urn:microsoft.com/office/officeart/2005/8/layout/list1"/>
    <dgm:cxn modelId="{437382AE-4CE7-4FE5-93EC-3328C1C2653C}" type="presOf" srcId="{47A2AAE6-9442-4175-B6CA-4CF1F263B272}" destId="{08D288D5-B7FD-4BE8-ACB3-8036D86EE209}" srcOrd="1" destOrd="0" presId="urn:microsoft.com/office/officeart/2005/8/layout/list1"/>
    <dgm:cxn modelId="{A05C8F31-A768-4797-A93A-2F7CEB0A2E0C}" type="presOf" srcId="{E621FB36-5AF5-4E50-B42A-D4AC4ADD7C25}" destId="{0C966C39-F126-4D5B-A941-B68706847B4B}" srcOrd="1" destOrd="0" presId="urn:microsoft.com/office/officeart/2005/8/layout/list1"/>
    <dgm:cxn modelId="{6799BB00-E43A-484D-A0FF-C97FC126287B}" type="presOf" srcId="{86EB415A-CB16-4622-B9C5-9357CF3D5BC7}" destId="{6B3FAAF5-E8B3-4B7F-9E9B-DBE4EF09D967}" srcOrd="1" destOrd="0" presId="urn:microsoft.com/office/officeart/2005/8/layout/list1"/>
    <dgm:cxn modelId="{A29625E2-9EA4-4745-9D15-A5AE38D3650F}" type="presOf" srcId="{E621FB36-5AF5-4E50-B42A-D4AC4ADD7C25}" destId="{00506018-370F-4B53-B0AC-7C457EBF7A66}" srcOrd="0" destOrd="0" presId="urn:microsoft.com/office/officeart/2005/8/layout/list1"/>
    <dgm:cxn modelId="{B623DDA6-854A-4FB1-9448-8155C01F9777}" type="presOf" srcId="{CA6BB602-C553-4443-A26F-E8C9A398E08E}" destId="{E24668DA-B04E-450A-9999-75E371814AF6}" srcOrd="0" destOrd="0" presId="urn:microsoft.com/office/officeart/2005/8/layout/list1"/>
    <dgm:cxn modelId="{F2236CF0-89D7-4B73-BB7C-D5CCEFA1E8FA}" srcId="{0CBD0C89-F317-4EF4-990F-757B711252A6}" destId="{AE1A9683-2F7B-4CAC-9151-6A9D0D298D7D}" srcOrd="7" destOrd="0" parTransId="{2C421801-CAC9-42A8-A30F-53D3F19919BC}" sibTransId="{3456E548-666A-4185-BD20-2C778B90FEEC}"/>
    <dgm:cxn modelId="{C0D56A79-D3E6-4B44-8F93-A34814C8769D}" srcId="{0CBD0C89-F317-4EF4-990F-757B711252A6}" destId="{DE0F53B5-9663-480A-979F-1D794F7A4347}" srcOrd="3" destOrd="0" parTransId="{2F0FC45C-0774-4D3A-8C32-67A532BEABF8}" sibTransId="{E756FD7B-6052-4117-8A58-E6D8E8B02C95}"/>
    <dgm:cxn modelId="{089A5336-3B2D-4313-AC8C-BEBA3225EFF7}" type="presOf" srcId="{47A2AAE6-9442-4175-B6CA-4CF1F263B272}" destId="{744B0214-C0D8-4FC0-9D3B-308B5BAF0A07}" srcOrd="0" destOrd="0" presId="urn:microsoft.com/office/officeart/2005/8/layout/list1"/>
    <dgm:cxn modelId="{152849AE-369C-421E-9264-E45D31A3ACB8}" type="presOf" srcId="{B63F0D9E-3D9E-4E9F-97DF-E7D3606309CA}" destId="{E0371F0D-ECB1-4805-952E-966F1037C48D}" srcOrd="1" destOrd="0" presId="urn:microsoft.com/office/officeart/2005/8/layout/list1"/>
    <dgm:cxn modelId="{3422031F-20A9-49C2-B9E4-803C571B17CB}" srcId="{0CBD0C89-F317-4EF4-990F-757B711252A6}" destId="{47A2AAE6-9442-4175-B6CA-4CF1F263B272}" srcOrd="4" destOrd="0" parTransId="{AF8AED92-99BB-4A69-BFAE-0CA9B396FA4F}" sibTransId="{FE3D6BA6-4FE3-46A2-9192-F059A8D8C745}"/>
    <dgm:cxn modelId="{28ACF5E8-0306-44D0-AF64-A62011C23093}" type="presOf" srcId="{0CBD0C89-F317-4EF4-990F-757B711252A6}" destId="{6E4C2C48-C92E-4B05-B319-BBA9F762099D}" srcOrd="0" destOrd="0" presId="urn:microsoft.com/office/officeart/2005/8/layout/list1"/>
    <dgm:cxn modelId="{536DDA4C-21F9-4FDC-A73C-5CEE932D020B}" srcId="{0CBD0C89-F317-4EF4-990F-757B711252A6}" destId="{A081A7ED-E0B5-4E19-88E6-8E2AFFAE9C26}" srcOrd="1" destOrd="0" parTransId="{D5206822-B92A-459B-B4C6-2FE577F24323}" sibTransId="{990311E6-4D0C-404B-8447-A3761B98CB09}"/>
    <dgm:cxn modelId="{AA6930B4-2C8A-475C-BDD7-4A4FC033B8F2}" type="presOf" srcId="{DE0F53B5-9663-480A-979F-1D794F7A4347}" destId="{F7F3BD22-A9AB-4B6B-864C-5789CA63A19E}" srcOrd="0" destOrd="0" presId="urn:microsoft.com/office/officeart/2005/8/layout/list1"/>
    <dgm:cxn modelId="{2967144E-181E-407F-8250-813ECF579F2D}" type="presOf" srcId="{A081A7ED-E0B5-4E19-88E6-8E2AFFAE9C26}" destId="{0DDCD51A-FA41-43FC-B6C6-6E4AB62CB897}" srcOrd="1" destOrd="0" presId="urn:microsoft.com/office/officeart/2005/8/layout/list1"/>
    <dgm:cxn modelId="{E466EB66-050E-4C31-8B9D-8D9386FD09F6}" srcId="{0CBD0C89-F317-4EF4-990F-757B711252A6}" destId="{E621FB36-5AF5-4E50-B42A-D4AC4ADD7C25}" srcOrd="2" destOrd="0" parTransId="{7E4640ED-6B96-44D7-99A9-2B76B26FD71C}" sibTransId="{08958D36-B6F1-4826-84C1-5BD8CF6677CB}"/>
    <dgm:cxn modelId="{ECA22C3F-E0EA-478D-987F-F89518430257}" srcId="{0CBD0C89-F317-4EF4-990F-757B711252A6}" destId="{B63F0D9E-3D9E-4E9F-97DF-E7D3606309CA}" srcOrd="0" destOrd="0" parTransId="{BF871B3F-6506-4F40-8120-F005F06BA8E5}" sibTransId="{EF016738-6892-44EC-9426-571250E8DAA2}"/>
    <dgm:cxn modelId="{2748424D-ED81-4076-BC0E-4B589E48E7D7}" srcId="{0CBD0C89-F317-4EF4-990F-757B711252A6}" destId="{CA6BB602-C553-4443-A26F-E8C9A398E08E}" srcOrd="5" destOrd="0" parTransId="{9F862274-6B0D-401E-8FA0-D944C068601D}" sibTransId="{129E2242-09FF-499B-BBCF-8F5F2E4BC70D}"/>
    <dgm:cxn modelId="{A045E178-92A8-449B-8D84-61E3694B05AE}" type="presOf" srcId="{CA6BB602-C553-4443-A26F-E8C9A398E08E}" destId="{D59B141C-009E-4F0C-9FEA-AB7C6EFA4479}" srcOrd="1" destOrd="0" presId="urn:microsoft.com/office/officeart/2005/8/layout/list1"/>
    <dgm:cxn modelId="{DE279BB8-1029-4DAC-81BF-F103316DDA08}" srcId="{0CBD0C89-F317-4EF4-990F-757B711252A6}" destId="{86EB415A-CB16-4622-B9C5-9357CF3D5BC7}" srcOrd="6" destOrd="0" parTransId="{1CC1427D-A980-4B5A-9D29-6927F7BEB34A}" sibTransId="{186DFCFC-7438-4D16-8703-EE4428DCDEB8}"/>
    <dgm:cxn modelId="{900B6FB8-DDCF-4952-AA64-96BED0EF4028}" type="presOf" srcId="{AE1A9683-2F7B-4CAC-9151-6A9D0D298D7D}" destId="{2BA949E0-89E4-407D-99BC-5026BF014B79}" srcOrd="0" destOrd="0" presId="urn:microsoft.com/office/officeart/2005/8/layout/list1"/>
    <dgm:cxn modelId="{CD99F1AC-5E1F-40F5-AA73-4F4475598297}" type="presOf" srcId="{96E66248-D434-4DB9-80F6-BBE01CE1DD08}" destId="{E3501006-49C1-4517-AF38-B3F934D5FD6C}" srcOrd="1" destOrd="0" presId="urn:microsoft.com/office/officeart/2005/8/layout/list1"/>
    <dgm:cxn modelId="{780B8DC6-3B4D-4C5A-8273-C88B44FAA81E}" type="presOf" srcId="{DE0F53B5-9663-480A-979F-1D794F7A4347}" destId="{273D4BF1-0E21-425E-82E9-576824D71DDA}" srcOrd="1" destOrd="0" presId="urn:microsoft.com/office/officeart/2005/8/layout/list1"/>
    <dgm:cxn modelId="{902A29E9-6985-4A12-ABDB-9001050129CE}" type="presOf" srcId="{AE1A9683-2F7B-4CAC-9151-6A9D0D298D7D}" destId="{53875133-E186-40AC-8267-69C54F892680}" srcOrd="1" destOrd="0" presId="urn:microsoft.com/office/officeart/2005/8/layout/list1"/>
    <dgm:cxn modelId="{4579FB17-645E-479C-922D-30DAC51294CE}" type="presOf" srcId="{86EB415A-CB16-4622-B9C5-9357CF3D5BC7}" destId="{735FF365-5BC3-47DE-B7B3-8E19EB94D006}" srcOrd="0" destOrd="0" presId="urn:microsoft.com/office/officeart/2005/8/layout/list1"/>
    <dgm:cxn modelId="{EF6789A1-50E5-4126-925B-2E7552F83D61}" type="presParOf" srcId="{6E4C2C48-C92E-4B05-B319-BBA9F762099D}" destId="{B0B8B94F-6F3B-4F43-9402-15954695CC81}" srcOrd="0" destOrd="0" presId="urn:microsoft.com/office/officeart/2005/8/layout/list1"/>
    <dgm:cxn modelId="{BD078323-C839-47B1-BE0A-C2D6C7BD10BD}" type="presParOf" srcId="{B0B8B94F-6F3B-4F43-9402-15954695CC81}" destId="{3D5A653E-4C26-49D0-9D86-364F3C21C83E}" srcOrd="0" destOrd="0" presId="urn:microsoft.com/office/officeart/2005/8/layout/list1"/>
    <dgm:cxn modelId="{A06FFDD5-5237-4EA2-8723-AD4DE8B368D3}" type="presParOf" srcId="{B0B8B94F-6F3B-4F43-9402-15954695CC81}" destId="{E0371F0D-ECB1-4805-952E-966F1037C48D}" srcOrd="1" destOrd="0" presId="urn:microsoft.com/office/officeart/2005/8/layout/list1"/>
    <dgm:cxn modelId="{84519180-CAB0-483F-98F9-148CB7A2E44E}" type="presParOf" srcId="{6E4C2C48-C92E-4B05-B319-BBA9F762099D}" destId="{6649DF17-3548-4536-9297-C76615524A37}" srcOrd="1" destOrd="0" presId="urn:microsoft.com/office/officeart/2005/8/layout/list1"/>
    <dgm:cxn modelId="{A8115128-342A-4E05-B844-B4ACAB6A1D6F}" type="presParOf" srcId="{6E4C2C48-C92E-4B05-B319-BBA9F762099D}" destId="{EB6784EA-43DE-42FE-9BB7-4DF2755049DE}" srcOrd="2" destOrd="0" presId="urn:microsoft.com/office/officeart/2005/8/layout/list1"/>
    <dgm:cxn modelId="{D1893F8B-873B-4777-B0A8-4F6858130FF1}" type="presParOf" srcId="{6E4C2C48-C92E-4B05-B319-BBA9F762099D}" destId="{1FD28C42-E899-4032-8D4D-BCF081A5787B}" srcOrd="3" destOrd="0" presId="urn:microsoft.com/office/officeart/2005/8/layout/list1"/>
    <dgm:cxn modelId="{789BDC7A-5243-4D31-AD1F-2000B171515F}" type="presParOf" srcId="{6E4C2C48-C92E-4B05-B319-BBA9F762099D}" destId="{343F37E3-637B-4692-A843-60ACFBC22501}" srcOrd="4" destOrd="0" presId="urn:microsoft.com/office/officeart/2005/8/layout/list1"/>
    <dgm:cxn modelId="{E1715219-4115-4FF5-956A-67EBEDE17309}" type="presParOf" srcId="{343F37E3-637B-4692-A843-60ACFBC22501}" destId="{66349BDC-1580-4A88-8BFE-285D9A98A47B}" srcOrd="0" destOrd="0" presId="urn:microsoft.com/office/officeart/2005/8/layout/list1"/>
    <dgm:cxn modelId="{320ED5A8-C404-409F-9D36-C4C640D92EEC}" type="presParOf" srcId="{343F37E3-637B-4692-A843-60ACFBC22501}" destId="{0DDCD51A-FA41-43FC-B6C6-6E4AB62CB897}" srcOrd="1" destOrd="0" presId="urn:microsoft.com/office/officeart/2005/8/layout/list1"/>
    <dgm:cxn modelId="{D474D9CD-A03F-4385-832A-D35D6E0C3D3F}" type="presParOf" srcId="{6E4C2C48-C92E-4B05-B319-BBA9F762099D}" destId="{C942004E-0F44-4E44-8A1B-C8AFFF0EA2D0}" srcOrd="5" destOrd="0" presId="urn:microsoft.com/office/officeart/2005/8/layout/list1"/>
    <dgm:cxn modelId="{013C872C-F2C1-4C27-AF6F-53CE1C7AD20D}" type="presParOf" srcId="{6E4C2C48-C92E-4B05-B319-BBA9F762099D}" destId="{482EA32C-A267-4B73-9AD9-AA62948792FB}" srcOrd="6" destOrd="0" presId="urn:microsoft.com/office/officeart/2005/8/layout/list1"/>
    <dgm:cxn modelId="{8528A959-E35B-4D86-84AC-6F8E2EE087CB}" type="presParOf" srcId="{6E4C2C48-C92E-4B05-B319-BBA9F762099D}" destId="{5038BFC5-C011-4A49-8DA6-6D17AB1FC837}" srcOrd="7" destOrd="0" presId="urn:microsoft.com/office/officeart/2005/8/layout/list1"/>
    <dgm:cxn modelId="{29AA1FA3-5B6F-4FB1-8CF2-DDC9CEB3028F}" type="presParOf" srcId="{6E4C2C48-C92E-4B05-B319-BBA9F762099D}" destId="{D71B8D1B-B497-44FF-9E88-38E724DD8446}" srcOrd="8" destOrd="0" presId="urn:microsoft.com/office/officeart/2005/8/layout/list1"/>
    <dgm:cxn modelId="{4D51A1D3-EF1F-4428-96F1-E08177E01D4E}" type="presParOf" srcId="{D71B8D1B-B497-44FF-9E88-38E724DD8446}" destId="{00506018-370F-4B53-B0AC-7C457EBF7A66}" srcOrd="0" destOrd="0" presId="urn:microsoft.com/office/officeart/2005/8/layout/list1"/>
    <dgm:cxn modelId="{27AAA9B5-A6F9-4DB2-9068-D771796179C1}" type="presParOf" srcId="{D71B8D1B-B497-44FF-9E88-38E724DD8446}" destId="{0C966C39-F126-4D5B-A941-B68706847B4B}" srcOrd="1" destOrd="0" presId="urn:microsoft.com/office/officeart/2005/8/layout/list1"/>
    <dgm:cxn modelId="{29496531-694D-49AF-AC76-A442319A31EA}" type="presParOf" srcId="{6E4C2C48-C92E-4B05-B319-BBA9F762099D}" destId="{A25D3B62-1844-4289-9C97-EA608E1AF0E6}" srcOrd="9" destOrd="0" presId="urn:microsoft.com/office/officeart/2005/8/layout/list1"/>
    <dgm:cxn modelId="{091B3723-4057-4464-81F4-55257E45064D}" type="presParOf" srcId="{6E4C2C48-C92E-4B05-B319-BBA9F762099D}" destId="{CCFA41D5-7B35-4832-B5AC-EE5C58EF5DFD}" srcOrd="10" destOrd="0" presId="urn:microsoft.com/office/officeart/2005/8/layout/list1"/>
    <dgm:cxn modelId="{6A805107-7E03-4A47-A384-7622DA9A2CE6}" type="presParOf" srcId="{6E4C2C48-C92E-4B05-B319-BBA9F762099D}" destId="{99E7AB46-FAD2-4620-8D50-7911B87606A9}" srcOrd="11" destOrd="0" presId="urn:microsoft.com/office/officeart/2005/8/layout/list1"/>
    <dgm:cxn modelId="{55F8A715-BB5A-4C5B-99D6-B7905FFA2CED}" type="presParOf" srcId="{6E4C2C48-C92E-4B05-B319-BBA9F762099D}" destId="{969697A4-41D7-49F2-A28B-D4D174BEAA6F}" srcOrd="12" destOrd="0" presId="urn:microsoft.com/office/officeart/2005/8/layout/list1"/>
    <dgm:cxn modelId="{10DC3D54-02D6-40C0-93E1-2D00F8D95847}" type="presParOf" srcId="{969697A4-41D7-49F2-A28B-D4D174BEAA6F}" destId="{F7F3BD22-A9AB-4B6B-864C-5789CA63A19E}" srcOrd="0" destOrd="0" presId="urn:microsoft.com/office/officeart/2005/8/layout/list1"/>
    <dgm:cxn modelId="{F77C5B14-14D4-4C80-98DC-B13D9265E6BB}" type="presParOf" srcId="{969697A4-41D7-49F2-A28B-D4D174BEAA6F}" destId="{273D4BF1-0E21-425E-82E9-576824D71DDA}" srcOrd="1" destOrd="0" presId="urn:microsoft.com/office/officeart/2005/8/layout/list1"/>
    <dgm:cxn modelId="{E2B6105E-E85C-45D6-B95F-2E77A65EE214}" type="presParOf" srcId="{6E4C2C48-C92E-4B05-B319-BBA9F762099D}" destId="{8B216012-5FAB-45EC-AC7E-E79EF145E47A}" srcOrd="13" destOrd="0" presId="urn:microsoft.com/office/officeart/2005/8/layout/list1"/>
    <dgm:cxn modelId="{1A1004BF-DB94-4BD6-A0B9-705799A8F172}" type="presParOf" srcId="{6E4C2C48-C92E-4B05-B319-BBA9F762099D}" destId="{8230FAEC-9DDA-4435-9FC8-88B597F40F28}" srcOrd="14" destOrd="0" presId="urn:microsoft.com/office/officeart/2005/8/layout/list1"/>
    <dgm:cxn modelId="{2CF73537-9414-43A7-99CA-F6F475D7B7D3}" type="presParOf" srcId="{6E4C2C48-C92E-4B05-B319-BBA9F762099D}" destId="{D9425A19-9E12-46E1-A6A8-D6D9EC5ED1F6}" srcOrd="15" destOrd="0" presId="urn:microsoft.com/office/officeart/2005/8/layout/list1"/>
    <dgm:cxn modelId="{2A527608-96B1-4092-AA36-595030F9AE2E}" type="presParOf" srcId="{6E4C2C48-C92E-4B05-B319-BBA9F762099D}" destId="{C312A340-EDAE-4A7C-8C80-DED0F59EF0ED}" srcOrd="16" destOrd="0" presId="urn:microsoft.com/office/officeart/2005/8/layout/list1"/>
    <dgm:cxn modelId="{121F30C5-9D59-46FF-B653-FB45E92FF7BE}" type="presParOf" srcId="{C312A340-EDAE-4A7C-8C80-DED0F59EF0ED}" destId="{744B0214-C0D8-4FC0-9D3B-308B5BAF0A07}" srcOrd="0" destOrd="0" presId="urn:microsoft.com/office/officeart/2005/8/layout/list1"/>
    <dgm:cxn modelId="{5464F198-4D8A-440D-AD95-427020F8C66B}" type="presParOf" srcId="{C312A340-EDAE-4A7C-8C80-DED0F59EF0ED}" destId="{08D288D5-B7FD-4BE8-ACB3-8036D86EE209}" srcOrd="1" destOrd="0" presId="urn:microsoft.com/office/officeart/2005/8/layout/list1"/>
    <dgm:cxn modelId="{5A03B7B1-581F-4F29-811A-A6E46DF7AC2A}" type="presParOf" srcId="{6E4C2C48-C92E-4B05-B319-BBA9F762099D}" destId="{5044050D-A1A9-4CE5-A19B-E35225E3372F}" srcOrd="17" destOrd="0" presId="urn:microsoft.com/office/officeart/2005/8/layout/list1"/>
    <dgm:cxn modelId="{535EB769-BF13-48F4-9DAC-08F1DE43B85E}" type="presParOf" srcId="{6E4C2C48-C92E-4B05-B319-BBA9F762099D}" destId="{FE5E97AF-870D-41CA-AC07-C6F75CAAE375}" srcOrd="18" destOrd="0" presId="urn:microsoft.com/office/officeart/2005/8/layout/list1"/>
    <dgm:cxn modelId="{4252E10E-CDCE-4405-84B0-8927EC9499FF}" type="presParOf" srcId="{6E4C2C48-C92E-4B05-B319-BBA9F762099D}" destId="{4CD00211-5DE0-4C6E-95D4-7E1AD3141576}" srcOrd="19" destOrd="0" presId="urn:microsoft.com/office/officeart/2005/8/layout/list1"/>
    <dgm:cxn modelId="{A8DC7AC4-A8F4-49F5-965C-DF6F8684F52B}" type="presParOf" srcId="{6E4C2C48-C92E-4B05-B319-BBA9F762099D}" destId="{84EC3F3D-8FF5-4E76-AD79-6A1F5B3FDE23}" srcOrd="20" destOrd="0" presId="urn:microsoft.com/office/officeart/2005/8/layout/list1"/>
    <dgm:cxn modelId="{AE6FA042-DA5A-4C2F-ADB2-B563E8CE9B62}" type="presParOf" srcId="{84EC3F3D-8FF5-4E76-AD79-6A1F5B3FDE23}" destId="{E24668DA-B04E-450A-9999-75E371814AF6}" srcOrd="0" destOrd="0" presId="urn:microsoft.com/office/officeart/2005/8/layout/list1"/>
    <dgm:cxn modelId="{E257E83F-912D-4967-BBCF-E13F7F55B6A0}" type="presParOf" srcId="{84EC3F3D-8FF5-4E76-AD79-6A1F5B3FDE23}" destId="{D59B141C-009E-4F0C-9FEA-AB7C6EFA4479}" srcOrd="1" destOrd="0" presId="urn:microsoft.com/office/officeart/2005/8/layout/list1"/>
    <dgm:cxn modelId="{38A12C98-7782-4878-B916-D237591CB341}" type="presParOf" srcId="{6E4C2C48-C92E-4B05-B319-BBA9F762099D}" destId="{7A91A9FF-5F02-4BFC-A0A0-BE2747717474}" srcOrd="21" destOrd="0" presId="urn:microsoft.com/office/officeart/2005/8/layout/list1"/>
    <dgm:cxn modelId="{C35DF2D9-E03F-4128-B2A8-FB9BDD7D0F79}" type="presParOf" srcId="{6E4C2C48-C92E-4B05-B319-BBA9F762099D}" destId="{1F7584A8-3539-4311-9BFF-1E4342477A67}" srcOrd="22" destOrd="0" presId="urn:microsoft.com/office/officeart/2005/8/layout/list1"/>
    <dgm:cxn modelId="{28E822FC-138C-4A7D-A3B1-E10DA398ED64}" type="presParOf" srcId="{6E4C2C48-C92E-4B05-B319-BBA9F762099D}" destId="{13899669-E339-4ADA-8793-6B48107F7482}" srcOrd="23" destOrd="0" presId="urn:microsoft.com/office/officeart/2005/8/layout/list1"/>
    <dgm:cxn modelId="{F914672B-9672-47CD-BEEF-683BC72A0D6B}" type="presParOf" srcId="{6E4C2C48-C92E-4B05-B319-BBA9F762099D}" destId="{440A446A-BED5-4E58-8B9A-4F71B5915FE3}" srcOrd="24" destOrd="0" presId="urn:microsoft.com/office/officeart/2005/8/layout/list1"/>
    <dgm:cxn modelId="{0B3025B6-5888-4809-B6FF-04C4BE9423D9}" type="presParOf" srcId="{440A446A-BED5-4E58-8B9A-4F71B5915FE3}" destId="{735FF365-5BC3-47DE-B7B3-8E19EB94D006}" srcOrd="0" destOrd="0" presId="urn:microsoft.com/office/officeart/2005/8/layout/list1"/>
    <dgm:cxn modelId="{D3468243-CCE6-4188-A2B9-1135C41EC02D}" type="presParOf" srcId="{440A446A-BED5-4E58-8B9A-4F71B5915FE3}" destId="{6B3FAAF5-E8B3-4B7F-9E9B-DBE4EF09D967}" srcOrd="1" destOrd="0" presId="urn:microsoft.com/office/officeart/2005/8/layout/list1"/>
    <dgm:cxn modelId="{5C31C4F9-B86D-492F-8FFE-33E6D6FA3F7C}" type="presParOf" srcId="{6E4C2C48-C92E-4B05-B319-BBA9F762099D}" destId="{7BC2C6EF-AD71-4A05-A0A3-9C4DA1B69E4A}" srcOrd="25" destOrd="0" presId="urn:microsoft.com/office/officeart/2005/8/layout/list1"/>
    <dgm:cxn modelId="{17600DD4-0CEC-45A9-8864-009D7109DFA1}" type="presParOf" srcId="{6E4C2C48-C92E-4B05-B319-BBA9F762099D}" destId="{0AC1A33D-B593-455E-9FBF-8634D6AD0557}" srcOrd="26" destOrd="0" presId="urn:microsoft.com/office/officeart/2005/8/layout/list1"/>
    <dgm:cxn modelId="{9451A60D-A941-4EC2-B75F-610B87E6E344}" type="presParOf" srcId="{6E4C2C48-C92E-4B05-B319-BBA9F762099D}" destId="{702594D8-7D73-4943-850B-46708FA8D5C8}" srcOrd="27" destOrd="0" presId="urn:microsoft.com/office/officeart/2005/8/layout/list1"/>
    <dgm:cxn modelId="{DCE12DAD-24FD-4310-A31D-D6DC4A18DE53}" type="presParOf" srcId="{6E4C2C48-C92E-4B05-B319-BBA9F762099D}" destId="{F9BCED6D-6996-4CDE-899F-CC87FF1E7303}" srcOrd="28" destOrd="0" presId="urn:microsoft.com/office/officeart/2005/8/layout/list1"/>
    <dgm:cxn modelId="{E7FC8ACF-DDD2-4624-8D25-ADE7CE6C187A}" type="presParOf" srcId="{F9BCED6D-6996-4CDE-899F-CC87FF1E7303}" destId="{2BA949E0-89E4-407D-99BC-5026BF014B79}" srcOrd="0" destOrd="0" presId="urn:microsoft.com/office/officeart/2005/8/layout/list1"/>
    <dgm:cxn modelId="{460D1691-3A7D-40DE-A425-2978ACEBE45E}" type="presParOf" srcId="{F9BCED6D-6996-4CDE-899F-CC87FF1E7303}" destId="{53875133-E186-40AC-8267-69C54F892680}" srcOrd="1" destOrd="0" presId="urn:microsoft.com/office/officeart/2005/8/layout/list1"/>
    <dgm:cxn modelId="{47D486E5-A547-421B-8F7F-D28C44A53D19}" type="presParOf" srcId="{6E4C2C48-C92E-4B05-B319-BBA9F762099D}" destId="{712F97F1-B339-45EB-854D-887BFB098A79}" srcOrd="29" destOrd="0" presId="urn:microsoft.com/office/officeart/2005/8/layout/list1"/>
    <dgm:cxn modelId="{5FC99A10-09B3-4397-9955-7DB03C476744}" type="presParOf" srcId="{6E4C2C48-C92E-4B05-B319-BBA9F762099D}" destId="{242D3D40-6C05-44B7-A98A-3596376A0554}" srcOrd="30" destOrd="0" presId="urn:microsoft.com/office/officeart/2005/8/layout/list1"/>
    <dgm:cxn modelId="{E1099511-F04D-488C-AC30-E655C350D462}" type="presParOf" srcId="{6E4C2C48-C92E-4B05-B319-BBA9F762099D}" destId="{D12A2394-6D49-435E-B105-4F52A67D213A}" srcOrd="31" destOrd="0" presId="urn:microsoft.com/office/officeart/2005/8/layout/list1"/>
    <dgm:cxn modelId="{18B4ADDE-3700-4205-BEC1-62F9C9C73D83}" type="presParOf" srcId="{6E4C2C48-C92E-4B05-B319-BBA9F762099D}" destId="{30C9AFC7-91C9-4F93-BDA6-3548C16F2F04}" srcOrd="32" destOrd="0" presId="urn:microsoft.com/office/officeart/2005/8/layout/list1"/>
    <dgm:cxn modelId="{7D93F5F6-73E6-40DD-87FC-A563FFC3F33F}" type="presParOf" srcId="{30C9AFC7-91C9-4F93-BDA6-3548C16F2F04}" destId="{B62C843E-3849-4B1C-A2AD-637E153D8A96}" srcOrd="0" destOrd="0" presId="urn:microsoft.com/office/officeart/2005/8/layout/list1"/>
    <dgm:cxn modelId="{014AEF2D-D149-4BF0-A9D5-BE22ADAC5E9B}" type="presParOf" srcId="{30C9AFC7-91C9-4F93-BDA6-3548C16F2F04}" destId="{E3501006-49C1-4517-AF38-B3F934D5FD6C}" srcOrd="1" destOrd="0" presId="urn:microsoft.com/office/officeart/2005/8/layout/list1"/>
    <dgm:cxn modelId="{3A04A523-C356-4036-8317-EDE90DCCF56F}" type="presParOf" srcId="{6E4C2C48-C92E-4B05-B319-BBA9F762099D}" destId="{CCCAE105-28DA-442D-BFA8-E83E766B75EA}" srcOrd="33" destOrd="0" presId="urn:microsoft.com/office/officeart/2005/8/layout/list1"/>
    <dgm:cxn modelId="{F8A2D3AB-3655-4EA0-8A59-8E826BB80B43}" type="presParOf" srcId="{6E4C2C48-C92E-4B05-B319-BBA9F762099D}" destId="{DABDF23F-09F5-4F83-957A-4D65447FDD51}" srcOrd="34" destOrd="0" presId="urn:microsoft.com/office/officeart/2005/8/layout/list1"/>
  </dgm:cxnLst>
  <dgm:bg>
    <a:solidFill>
      <a:schemeClr val="bg1">
        <a:lumMod val="95000"/>
        <a:lumOff val="5000"/>
      </a:schemeClr>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6784EA-43DE-42FE-9BB7-4DF2755049DE}">
      <dsp:nvSpPr>
        <dsp:cNvPr id="0" name=""/>
        <dsp:cNvSpPr/>
      </dsp:nvSpPr>
      <dsp:spPr>
        <a:xfrm>
          <a:off x="0" y="381732"/>
          <a:ext cx="6096000" cy="327600"/>
        </a:xfrm>
        <a:prstGeom prst="rect">
          <a:avLst/>
        </a:prstGeom>
        <a:solidFill>
          <a:schemeClr val="bg1">
            <a:lumMod val="50000"/>
            <a:lumOff val="50000"/>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0371F0D-ECB1-4805-952E-966F1037C48D}">
      <dsp:nvSpPr>
        <dsp:cNvPr id="0" name=""/>
        <dsp:cNvSpPr/>
      </dsp:nvSpPr>
      <dsp:spPr>
        <a:xfrm>
          <a:off x="304800" y="189852"/>
          <a:ext cx="4267200" cy="383760"/>
        </a:xfrm>
        <a:prstGeom prst="roundRect">
          <a:avLst/>
        </a:prstGeom>
        <a:solidFill>
          <a:schemeClr val="tx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lvl="0" algn="l" defTabSz="800100">
            <a:lnSpc>
              <a:spcPct val="90000"/>
            </a:lnSpc>
            <a:spcBef>
              <a:spcPct val="0"/>
            </a:spcBef>
            <a:spcAft>
              <a:spcPct val="35000"/>
            </a:spcAft>
          </a:pPr>
          <a:r>
            <a:rPr lang="en-IN" sz="1800" b="1" kern="1200" dirty="0" smtClean="0">
              <a:solidFill>
                <a:srgbClr val="00B050"/>
              </a:solidFill>
            </a:rPr>
            <a:t>1 Formulating research problem</a:t>
          </a:r>
          <a:endParaRPr lang="en-IN" sz="1800" b="1" kern="1200" dirty="0">
            <a:solidFill>
              <a:srgbClr val="00B050"/>
            </a:solidFill>
          </a:endParaRPr>
        </a:p>
      </dsp:txBody>
      <dsp:txXfrm>
        <a:off x="323534" y="208586"/>
        <a:ext cx="4229732" cy="346292"/>
      </dsp:txXfrm>
    </dsp:sp>
    <dsp:sp modelId="{482EA32C-A267-4B73-9AD9-AA62948792FB}">
      <dsp:nvSpPr>
        <dsp:cNvPr id="0" name=""/>
        <dsp:cNvSpPr/>
      </dsp:nvSpPr>
      <dsp:spPr>
        <a:xfrm>
          <a:off x="0" y="971412"/>
          <a:ext cx="6096000" cy="327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DDCD51A-FA41-43FC-B6C6-6E4AB62CB897}">
      <dsp:nvSpPr>
        <dsp:cNvPr id="0" name=""/>
        <dsp:cNvSpPr/>
      </dsp:nvSpPr>
      <dsp:spPr>
        <a:xfrm>
          <a:off x="337456" y="787698"/>
          <a:ext cx="4267200" cy="383760"/>
        </a:xfrm>
        <a:prstGeom prst="roundRect">
          <a:avLst/>
        </a:prstGeom>
        <a:solidFill>
          <a:schemeClr val="tx1">
            <a:lumMod val="8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lvl="0" algn="l" defTabSz="800100">
            <a:lnSpc>
              <a:spcPct val="90000"/>
            </a:lnSpc>
            <a:spcBef>
              <a:spcPct val="0"/>
            </a:spcBef>
            <a:spcAft>
              <a:spcPct val="35000"/>
            </a:spcAft>
          </a:pPr>
          <a:r>
            <a:rPr lang="en-IN" sz="1800" b="1" kern="1200" dirty="0" smtClean="0">
              <a:solidFill>
                <a:srgbClr val="00B050"/>
              </a:solidFill>
            </a:rPr>
            <a:t>2 Literature</a:t>
          </a:r>
          <a:r>
            <a:rPr lang="en-IN" sz="1300" kern="1200" dirty="0" smtClean="0">
              <a:solidFill>
                <a:srgbClr val="00B050"/>
              </a:solidFill>
            </a:rPr>
            <a:t> </a:t>
          </a:r>
          <a:r>
            <a:rPr lang="en-IN" sz="1600" b="1" kern="1200" dirty="0" smtClean="0">
              <a:solidFill>
                <a:srgbClr val="00B050"/>
              </a:solidFill>
            </a:rPr>
            <a:t>review</a:t>
          </a:r>
          <a:endParaRPr lang="en-IN" sz="1300" b="1" kern="1200" dirty="0">
            <a:solidFill>
              <a:srgbClr val="00B050"/>
            </a:solidFill>
          </a:endParaRPr>
        </a:p>
      </dsp:txBody>
      <dsp:txXfrm>
        <a:off x="356190" y="806432"/>
        <a:ext cx="4229732" cy="346292"/>
      </dsp:txXfrm>
    </dsp:sp>
    <dsp:sp modelId="{CCFA41D5-7B35-4832-B5AC-EE5C58EF5DFD}">
      <dsp:nvSpPr>
        <dsp:cNvPr id="0" name=""/>
        <dsp:cNvSpPr/>
      </dsp:nvSpPr>
      <dsp:spPr>
        <a:xfrm>
          <a:off x="0" y="1561092"/>
          <a:ext cx="6096000" cy="327600"/>
        </a:xfrm>
        <a:prstGeom prst="rect">
          <a:avLst/>
        </a:prstGeom>
        <a:solidFill>
          <a:schemeClr val="bg1">
            <a:lumMod val="50000"/>
            <a:lumOff val="50000"/>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C966C39-F126-4D5B-A941-B68706847B4B}">
      <dsp:nvSpPr>
        <dsp:cNvPr id="0" name=""/>
        <dsp:cNvSpPr/>
      </dsp:nvSpPr>
      <dsp:spPr>
        <a:xfrm>
          <a:off x="304800" y="1369212"/>
          <a:ext cx="4267200" cy="383760"/>
        </a:xfrm>
        <a:prstGeom prst="roundRect">
          <a:avLst/>
        </a:prstGeom>
        <a:solidFill>
          <a:schemeClr val="tx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lvl="0" algn="l" defTabSz="800100">
            <a:lnSpc>
              <a:spcPct val="90000"/>
            </a:lnSpc>
            <a:spcBef>
              <a:spcPct val="0"/>
            </a:spcBef>
            <a:spcAft>
              <a:spcPct val="35000"/>
            </a:spcAft>
          </a:pPr>
          <a:r>
            <a:rPr lang="en-IN" sz="1800" b="1" kern="1200" dirty="0" smtClean="0">
              <a:solidFill>
                <a:srgbClr val="00B050"/>
              </a:solidFill>
            </a:rPr>
            <a:t>3 develop working Hypothesis</a:t>
          </a:r>
          <a:endParaRPr lang="en-IN" sz="1800" b="1" kern="1200" dirty="0">
            <a:solidFill>
              <a:srgbClr val="00B050"/>
            </a:solidFill>
          </a:endParaRPr>
        </a:p>
      </dsp:txBody>
      <dsp:txXfrm>
        <a:off x="323534" y="1387946"/>
        <a:ext cx="4229732" cy="346292"/>
      </dsp:txXfrm>
    </dsp:sp>
    <dsp:sp modelId="{8230FAEC-9DDA-4435-9FC8-88B597F40F28}">
      <dsp:nvSpPr>
        <dsp:cNvPr id="0" name=""/>
        <dsp:cNvSpPr/>
      </dsp:nvSpPr>
      <dsp:spPr>
        <a:xfrm>
          <a:off x="0" y="2150772"/>
          <a:ext cx="6096000" cy="327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73D4BF1-0E21-425E-82E9-576824D71DDA}">
      <dsp:nvSpPr>
        <dsp:cNvPr id="0" name=""/>
        <dsp:cNvSpPr/>
      </dsp:nvSpPr>
      <dsp:spPr>
        <a:xfrm>
          <a:off x="304800" y="1958892"/>
          <a:ext cx="4267200" cy="383760"/>
        </a:xfrm>
        <a:prstGeom prst="roundRect">
          <a:avLst/>
        </a:prstGeom>
        <a:solidFill>
          <a:schemeClr val="tx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lvl="0" algn="l" defTabSz="577850">
            <a:lnSpc>
              <a:spcPct val="90000"/>
            </a:lnSpc>
            <a:spcBef>
              <a:spcPct val="0"/>
            </a:spcBef>
            <a:spcAft>
              <a:spcPct val="35000"/>
            </a:spcAft>
          </a:pPr>
          <a:r>
            <a:rPr lang="en-IN" sz="1300" kern="1200" dirty="0" smtClean="0">
              <a:solidFill>
                <a:srgbClr val="00B050"/>
              </a:solidFill>
            </a:rPr>
            <a:t>4 </a:t>
          </a:r>
          <a:r>
            <a:rPr lang="en-IN" sz="1800" b="1" kern="1200" dirty="0" smtClean="0">
              <a:solidFill>
                <a:srgbClr val="00B050"/>
              </a:solidFill>
            </a:rPr>
            <a:t>Preparing Research Designs</a:t>
          </a:r>
          <a:endParaRPr lang="en-IN" sz="1300" b="1" kern="1200" dirty="0">
            <a:solidFill>
              <a:srgbClr val="00B050"/>
            </a:solidFill>
          </a:endParaRPr>
        </a:p>
      </dsp:txBody>
      <dsp:txXfrm>
        <a:off x="323534" y="1977626"/>
        <a:ext cx="4229732" cy="346292"/>
      </dsp:txXfrm>
    </dsp:sp>
    <dsp:sp modelId="{FE5E97AF-870D-41CA-AC07-C6F75CAAE375}">
      <dsp:nvSpPr>
        <dsp:cNvPr id="0" name=""/>
        <dsp:cNvSpPr/>
      </dsp:nvSpPr>
      <dsp:spPr>
        <a:xfrm>
          <a:off x="0" y="2740452"/>
          <a:ext cx="6096000" cy="327600"/>
        </a:xfrm>
        <a:prstGeom prst="rect">
          <a:avLst/>
        </a:prstGeom>
        <a:solidFill>
          <a:schemeClr val="bg1">
            <a:lumMod val="50000"/>
            <a:lumOff val="50000"/>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8D288D5-B7FD-4BE8-ACB3-8036D86EE209}">
      <dsp:nvSpPr>
        <dsp:cNvPr id="0" name=""/>
        <dsp:cNvSpPr/>
      </dsp:nvSpPr>
      <dsp:spPr>
        <a:xfrm>
          <a:off x="304800" y="2548572"/>
          <a:ext cx="4267200" cy="383760"/>
        </a:xfrm>
        <a:prstGeom prst="roundRect">
          <a:avLst/>
        </a:prstGeom>
        <a:solidFill>
          <a:schemeClr val="tx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lvl="0" algn="l" defTabSz="889000">
            <a:lnSpc>
              <a:spcPct val="90000"/>
            </a:lnSpc>
            <a:spcBef>
              <a:spcPct val="0"/>
            </a:spcBef>
            <a:spcAft>
              <a:spcPct val="35000"/>
            </a:spcAft>
          </a:pPr>
          <a:r>
            <a:rPr lang="en-IN" sz="2000" b="1" kern="1200" dirty="0" smtClean="0">
              <a:solidFill>
                <a:srgbClr val="00B050"/>
              </a:solidFill>
            </a:rPr>
            <a:t>5 Collecting the data</a:t>
          </a:r>
          <a:endParaRPr lang="en-IN" sz="2000" b="1" kern="1200" dirty="0">
            <a:solidFill>
              <a:srgbClr val="00B050"/>
            </a:solidFill>
          </a:endParaRPr>
        </a:p>
      </dsp:txBody>
      <dsp:txXfrm>
        <a:off x="323534" y="2567306"/>
        <a:ext cx="4229732" cy="346292"/>
      </dsp:txXfrm>
    </dsp:sp>
    <dsp:sp modelId="{1F7584A8-3539-4311-9BFF-1E4342477A67}">
      <dsp:nvSpPr>
        <dsp:cNvPr id="0" name=""/>
        <dsp:cNvSpPr/>
      </dsp:nvSpPr>
      <dsp:spPr>
        <a:xfrm>
          <a:off x="0" y="3330132"/>
          <a:ext cx="6096000" cy="327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59B141C-009E-4F0C-9FEA-AB7C6EFA4479}">
      <dsp:nvSpPr>
        <dsp:cNvPr id="0" name=""/>
        <dsp:cNvSpPr/>
      </dsp:nvSpPr>
      <dsp:spPr>
        <a:xfrm>
          <a:off x="304800" y="3138252"/>
          <a:ext cx="4267200" cy="383760"/>
        </a:xfrm>
        <a:prstGeom prst="roundRect">
          <a:avLst/>
        </a:prstGeom>
        <a:solidFill>
          <a:schemeClr val="tx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lvl="0" algn="l" defTabSz="889000">
            <a:lnSpc>
              <a:spcPct val="90000"/>
            </a:lnSpc>
            <a:spcBef>
              <a:spcPct val="0"/>
            </a:spcBef>
            <a:spcAft>
              <a:spcPct val="35000"/>
            </a:spcAft>
          </a:pPr>
          <a:r>
            <a:rPr lang="en-IN" sz="2000" b="1" kern="1200" dirty="0" smtClean="0">
              <a:solidFill>
                <a:srgbClr val="00B050"/>
              </a:solidFill>
            </a:rPr>
            <a:t>6 Analysis of data</a:t>
          </a:r>
          <a:endParaRPr lang="en-IN" sz="2000" b="1" kern="1200" dirty="0">
            <a:solidFill>
              <a:srgbClr val="00B050"/>
            </a:solidFill>
          </a:endParaRPr>
        </a:p>
      </dsp:txBody>
      <dsp:txXfrm>
        <a:off x="323534" y="3156986"/>
        <a:ext cx="4229732" cy="346292"/>
      </dsp:txXfrm>
    </dsp:sp>
    <dsp:sp modelId="{0AC1A33D-B593-455E-9FBF-8634D6AD0557}">
      <dsp:nvSpPr>
        <dsp:cNvPr id="0" name=""/>
        <dsp:cNvSpPr/>
      </dsp:nvSpPr>
      <dsp:spPr>
        <a:xfrm>
          <a:off x="0" y="3919812"/>
          <a:ext cx="6096000" cy="327600"/>
        </a:xfrm>
        <a:prstGeom prst="rect">
          <a:avLst/>
        </a:prstGeom>
        <a:solidFill>
          <a:schemeClr val="bg1">
            <a:lumMod val="50000"/>
            <a:lumOff val="50000"/>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B3FAAF5-E8B3-4B7F-9E9B-DBE4EF09D967}">
      <dsp:nvSpPr>
        <dsp:cNvPr id="0" name=""/>
        <dsp:cNvSpPr/>
      </dsp:nvSpPr>
      <dsp:spPr>
        <a:xfrm>
          <a:off x="304800" y="3727932"/>
          <a:ext cx="4267200" cy="383760"/>
        </a:xfrm>
        <a:prstGeom prst="roundRect">
          <a:avLst/>
        </a:prstGeom>
        <a:solidFill>
          <a:schemeClr val="tx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lvl="0" algn="l" defTabSz="800100">
            <a:lnSpc>
              <a:spcPct val="90000"/>
            </a:lnSpc>
            <a:spcBef>
              <a:spcPct val="0"/>
            </a:spcBef>
            <a:spcAft>
              <a:spcPct val="35000"/>
            </a:spcAft>
          </a:pPr>
          <a:r>
            <a:rPr lang="en-IN" sz="1800" b="1" kern="1200" dirty="0" smtClean="0">
              <a:solidFill>
                <a:srgbClr val="00B050"/>
              </a:solidFill>
            </a:rPr>
            <a:t>7 Hypothesis testing</a:t>
          </a:r>
          <a:endParaRPr lang="en-IN" sz="1800" b="1" kern="1200" dirty="0">
            <a:solidFill>
              <a:srgbClr val="00B050"/>
            </a:solidFill>
          </a:endParaRPr>
        </a:p>
      </dsp:txBody>
      <dsp:txXfrm>
        <a:off x="323534" y="3746666"/>
        <a:ext cx="4229732" cy="346292"/>
      </dsp:txXfrm>
    </dsp:sp>
    <dsp:sp modelId="{242D3D40-6C05-44B7-A98A-3596376A0554}">
      <dsp:nvSpPr>
        <dsp:cNvPr id="0" name=""/>
        <dsp:cNvSpPr/>
      </dsp:nvSpPr>
      <dsp:spPr>
        <a:xfrm>
          <a:off x="0" y="4509492"/>
          <a:ext cx="6096000" cy="327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3875133-E186-40AC-8267-69C54F892680}">
      <dsp:nvSpPr>
        <dsp:cNvPr id="0" name=""/>
        <dsp:cNvSpPr/>
      </dsp:nvSpPr>
      <dsp:spPr>
        <a:xfrm>
          <a:off x="304800" y="4317612"/>
          <a:ext cx="4267200" cy="383760"/>
        </a:xfrm>
        <a:prstGeom prst="roundRect">
          <a:avLst/>
        </a:prstGeom>
        <a:solidFill>
          <a:schemeClr val="tx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lvl="0" algn="l" defTabSz="800100">
            <a:lnSpc>
              <a:spcPct val="90000"/>
            </a:lnSpc>
            <a:spcBef>
              <a:spcPct val="0"/>
            </a:spcBef>
            <a:spcAft>
              <a:spcPct val="35000"/>
            </a:spcAft>
          </a:pPr>
          <a:r>
            <a:rPr lang="en-IN" sz="1800" b="1" kern="1200" dirty="0" smtClean="0">
              <a:solidFill>
                <a:srgbClr val="00B050"/>
              </a:solidFill>
            </a:rPr>
            <a:t>8 Generalizations and interpretations</a:t>
          </a:r>
          <a:endParaRPr lang="en-IN" sz="1800" b="1" kern="1200" dirty="0">
            <a:solidFill>
              <a:srgbClr val="00B050"/>
            </a:solidFill>
          </a:endParaRPr>
        </a:p>
      </dsp:txBody>
      <dsp:txXfrm>
        <a:off x="323534" y="4336346"/>
        <a:ext cx="4229732" cy="346292"/>
      </dsp:txXfrm>
    </dsp:sp>
    <dsp:sp modelId="{DABDF23F-09F5-4F83-957A-4D65447FDD51}">
      <dsp:nvSpPr>
        <dsp:cNvPr id="0" name=""/>
        <dsp:cNvSpPr/>
      </dsp:nvSpPr>
      <dsp:spPr>
        <a:xfrm>
          <a:off x="0" y="5099172"/>
          <a:ext cx="6096000" cy="327600"/>
        </a:xfrm>
        <a:prstGeom prst="rect">
          <a:avLst/>
        </a:prstGeom>
        <a:solidFill>
          <a:schemeClr val="bg1">
            <a:lumMod val="50000"/>
            <a:lumOff val="50000"/>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3501006-49C1-4517-AF38-B3F934D5FD6C}">
      <dsp:nvSpPr>
        <dsp:cNvPr id="0" name=""/>
        <dsp:cNvSpPr/>
      </dsp:nvSpPr>
      <dsp:spPr>
        <a:xfrm>
          <a:off x="304800" y="4907292"/>
          <a:ext cx="4267200" cy="383760"/>
        </a:xfrm>
        <a:prstGeom prst="roundRect">
          <a:avLst/>
        </a:prstGeom>
        <a:solidFill>
          <a:schemeClr val="tx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lvl="0" algn="l" defTabSz="800100">
            <a:lnSpc>
              <a:spcPct val="90000"/>
            </a:lnSpc>
            <a:spcBef>
              <a:spcPct val="0"/>
            </a:spcBef>
            <a:spcAft>
              <a:spcPct val="35000"/>
            </a:spcAft>
          </a:pPr>
          <a:r>
            <a:rPr lang="en-IN" sz="1800" b="1" kern="1200" dirty="0" smtClean="0">
              <a:solidFill>
                <a:srgbClr val="00B050"/>
              </a:solidFill>
            </a:rPr>
            <a:t>9 Preparation of the report</a:t>
          </a:r>
          <a:endParaRPr lang="en-IN" sz="1800" b="1" kern="1200" dirty="0">
            <a:solidFill>
              <a:srgbClr val="00B050"/>
            </a:solidFill>
          </a:endParaRPr>
        </a:p>
      </dsp:txBody>
      <dsp:txXfrm>
        <a:off x="323534" y="4926026"/>
        <a:ext cx="4229732" cy="346292"/>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2F678BD6-1F66-4094-A34F-1CCE14ACADFA}" type="datetimeFigureOut">
              <a:rPr lang="en-IN" smtClean="0"/>
              <a:t>05-12-2024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239CFC-F4AB-466F-92C3-7D059015E7E8}" type="slidenum">
              <a:rPr lang="en-IN" smtClean="0"/>
              <a:t>‹#›</a:t>
            </a:fld>
            <a:endParaRPr lang="en-IN"/>
          </a:p>
        </p:txBody>
      </p:sp>
    </p:spTree>
    <p:extLst>
      <p:ext uri="{BB962C8B-B14F-4D97-AF65-F5344CB8AC3E}">
        <p14:creationId xmlns:p14="http://schemas.microsoft.com/office/powerpoint/2010/main" val="1873781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F678BD6-1F66-4094-A34F-1CCE14ACADFA}" type="datetimeFigureOut">
              <a:rPr lang="en-IN" smtClean="0"/>
              <a:t>05-12-2024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239CFC-F4AB-466F-92C3-7D059015E7E8}" type="slidenum">
              <a:rPr lang="en-IN" smtClean="0"/>
              <a:t>‹#›</a:t>
            </a:fld>
            <a:endParaRPr lang="en-IN"/>
          </a:p>
        </p:txBody>
      </p:sp>
    </p:spTree>
    <p:extLst>
      <p:ext uri="{BB962C8B-B14F-4D97-AF65-F5344CB8AC3E}">
        <p14:creationId xmlns:p14="http://schemas.microsoft.com/office/powerpoint/2010/main" val="1699042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F678BD6-1F66-4094-A34F-1CCE14ACADFA}" type="datetimeFigureOut">
              <a:rPr lang="en-IN" smtClean="0"/>
              <a:t>05-12-2024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239CFC-F4AB-466F-92C3-7D059015E7E8}" type="slidenum">
              <a:rPr lang="en-IN" smtClean="0"/>
              <a:t>‹#›</a:t>
            </a:fld>
            <a:endParaRPr lang="en-IN"/>
          </a:p>
        </p:txBody>
      </p:sp>
    </p:spTree>
    <p:extLst>
      <p:ext uri="{BB962C8B-B14F-4D97-AF65-F5344CB8AC3E}">
        <p14:creationId xmlns:p14="http://schemas.microsoft.com/office/powerpoint/2010/main" val="24335037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2F678BD6-1F66-4094-A34F-1CCE14ACADFA}" type="datetimeFigureOut">
              <a:rPr lang="en-IN" smtClean="0"/>
              <a:t>05-12-2024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4239CFC-F4AB-466F-92C3-7D059015E7E8}" type="slidenum">
              <a:rPr lang="en-IN" smtClean="0"/>
              <a:t>‹#›</a:t>
            </a:fld>
            <a:endParaRPr lang="en-IN"/>
          </a:p>
        </p:txBody>
      </p:sp>
    </p:spTree>
    <p:extLst>
      <p:ext uri="{BB962C8B-B14F-4D97-AF65-F5344CB8AC3E}">
        <p14:creationId xmlns:p14="http://schemas.microsoft.com/office/powerpoint/2010/main" val="19218464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2F678BD6-1F66-4094-A34F-1CCE14ACADFA}" type="datetimeFigureOut">
              <a:rPr lang="en-IN" smtClean="0"/>
              <a:t>05-12-2024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4239CFC-F4AB-466F-92C3-7D059015E7E8}" type="slidenum">
              <a:rPr lang="en-IN" smtClean="0"/>
              <a:t>‹#›</a:t>
            </a:fld>
            <a:endParaRPr lang="en-IN"/>
          </a:p>
        </p:txBody>
      </p:sp>
    </p:spTree>
    <p:extLst>
      <p:ext uri="{BB962C8B-B14F-4D97-AF65-F5344CB8AC3E}">
        <p14:creationId xmlns:p14="http://schemas.microsoft.com/office/powerpoint/2010/main" val="2607122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2F678BD6-1F66-4094-A34F-1CCE14ACADFA}" type="datetimeFigureOut">
              <a:rPr lang="en-IN" smtClean="0"/>
              <a:t>05-12-2024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4239CFC-F4AB-466F-92C3-7D059015E7E8}" type="slidenum">
              <a:rPr lang="en-IN" smtClean="0"/>
              <a:t>‹#›</a:t>
            </a:fld>
            <a:endParaRPr lang="en-IN"/>
          </a:p>
        </p:txBody>
      </p:sp>
    </p:spTree>
    <p:extLst>
      <p:ext uri="{BB962C8B-B14F-4D97-AF65-F5344CB8AC3E}">
        <p14:creationId xmlns:p14="http://schemas.microsoft.com/office/powerpoint/2010/main" val="611485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678BD6-1F66-4094-A34F-1CCE14ACADFA}" type="datetimeFigureOut">
              <a:rPr lang="en-IN" smtClean="0"/>
              <a:t>05-12-2024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4239CFC-F4AB-466F-92C3-7D059015E7E8}" type="slidenum">
              <a:rPr lang="en-IN" smtClean="0"/>
              <a:t>‹#›</a:t>
            </a:fld>
            <a:endParaRPr lang="en-IN"/>
          </a:p>
        </p:txBody>
      </p:sp>
    </p:spTree>
    <p:extLst>
      <p:ext uri="{BB962C8B-B14F-4D97-AF65-F5344CB8AC3E}">
        <p14:creationId xmlns:p14="http://schemas.microsoft.com/office/powerpoint/2010/main" val="41064424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F678BD6-1F66-4094-A34F-1CCE14ACADFA}" type="datetimeFigureOut">
              <a:rPr lang="en-IN" smtClean="0"/>
              <a:t>05-12-2024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4239CFC-F4AB-466F-92C3-7D059015E7E8}" type="slidenum">
              <a:rPr lang="en-IN" smtClean="0"/>
              <a:t>‹#›</a:t>
            </a:fld>
            <a:endParaRPr lang="en-IN"/>
          </a:p>
        </p:txBody>
      </p:sp>
    </p:spTree>
    <p:extLst>
      <p:ext uri="{BB962C8B-B14F-4D97-AF65-F5344CB8AC3E}">
        <p14:creationId xmlns:p14="http://schemas.microsoft.com/office/powerpoint/2010/main" val="32802587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F678BD6-1F66-4094-A34F-1CCE14ACADFA}" type="datetimeFigureOut">
              <a:rPr lang="en-IN" smtClean="0"/>
              <a:t>05-12-2024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4239CFC-F4AB-466F-92C3-7D059015E7E8}" type="slidenum">
              <a:rPr lang="en-IN" smtClean="0"/>
              <a:t>‹#›</a:t>
            </a:fld>
            <a:endParaRPr lang="en-IN"/>
          </a:p>
        </p:txBody>
      </p:sp>
    </p:spTree>
    <p:extLst>
      <p:ext uri="{BB962C8B-B14F-4D97-AF65-F5344CB8AC3E}">
        <p14:creationId xmlns:p14="http://schemas.microsoft.com/office/powerpoint/2010/main" val="18652998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F678BD6-1F66-4094-A34F-1CCE14ACADFA}" type="datetimeFigureOut">
              <a:rPr lang="en-IN" smtClean="0"/>
              <a:t>05-12-2024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239CFC-F4AB-466F-92C3-7D059015E7E8}" type="slidenum">
              <a:rPr lang="en-IN" smtClean="0"/>
              <a:t>‹#›</a:t>
            </a:fld>
            <a:endParaRPr lang="en-IN"/>
          </a:p>
        </p:txBody>
      </p:sp>
    </p:spTree>
    <p:extLst>
      <p:ext uri="{BB962C8B-B14F-4D97-AF65-F5344CB8AC3E}">
        <p14:creationId xmlns:p14="http://schemas.microsoft.com/office/powerpoint/2010/main" val="3192026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F678BD6-1F66-4094-A34F-1CCE14ACADFA}" type="datetimeFigureOut">
              <a:rPr lang="en-IN" smtClean="0"/>
              <a:t>05-12-2024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239CFC-F4AB-466F-92C3-7D059015E7E8}" type="slidenum">
              <a:rPr lang="en-IN" smtClean="0"/>
              <a:t>‹#›</a:t>
            </a:fld>
            <a:endParaRPr lang="en-IN"/>
          </a:p>
        </p:txBody>
      </p:sp>
    </p:spTree>
    <p:extLst>
      <p:ext uri="{BB962C8B-B14F-4D97-AF65-F5344CB8AC3E}">
        <p14:creationId xmlns:p14="http://schemas.microsoft.com/office/powerpoint/2010/main" val="13319723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678BD6-1F66-4094-A34F-1CCE14ACADFA}" type="datetimeFigureOut">
              <a:rPr lang="en-IN" smtClean="0"/>
              <a:t>05-12-2024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239CFC-F4AB-466F-92C3-7D059015E7E8}" type="slidenum">
              <a:rPr lang="en-IN" smtClean="0"/>
              <a:t>‹#›</a:t>
            </a:fld>
            <a:endParaRPr lang="en-IN"/>
          </a:p>
        </p:txBody>
      </p:sp>
    </p:spTree>
    <p:extLst>
      <p:ext uri="{BB962C8B-B14F-4D97-AF65-F5344CB8AC3E}">
        <p14:creationId xmlns:p14="http://schemas.microsoft.com/office/powerpoint/2010/main" val="14758638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0.jpe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image" Target="../media/image37.jpeg"/><Relationship Id="rId5" Type="http://schemas.openxmlformats.org/officeDocument/2006/relationships/image" Target="../media/image36.jpeg"/><Relationship Id="rId4" Type="http://schemas.openxmlformats.org/officeDocument/2006/relationships/image" Target="../media/image35.jpeg"/></Relationships>
</file>

<file path=ppt/slides/_rels/slide29.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7.xml"/><Relationship Id="rId4" Type="http://schemas.openxmlformats.org/officeDocument/2006/relationships/image" Target="../media/image42.jpeg"/></Relationships>
</file>

<file path=ppt/slides/_rels/slide31.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jpeg"/><Relationship Id="rId1" Type="http://schemas.openxmlformats.org/officeDocument/2006/relationships/slideLayout" Target="../slideLayouts/slideLayout7.xml"/><Relationship Id="rId5" Type="http://schemas.openxmlformats.org/officeDocument/2006/relationships/image" Target="../media/image46.jpeg"/><Relationship Id="rId4" Type="http://schemas.openxmlformats.org/officeDocument/2006/relationships/image" Target="../media/image45.jpeg"/></Relationships>
</file>

<file path=ppt/slides/_rels/slide32.xml.rels><?xml version="1.0" encoding="UTF-8" standalone="yes"?>
<Relationships xmlns="http://schemas.openxmlformats.org/package/2006/relationships"><Relationship Id="rId8" Type="http://schemas.openxmlformats.org/officeDocument/2006/relationships/image" Target="../media/image53.jpeg"/><Relationship Id="rId3" Type="http://schemas.openxmlformats.org/officeDocument/2006/relationships/image" Target="../media/image48.jpeg"/><Relationship Id="rId7" Type="http://schemas.openxmlformats.org/officeDocument/2006/relationships/image" Target="../media/image52.jpeg"/><Relationship Id="rId2" Type="http://schemas.openxmlformats.org/officeDocument/2006/relationships/image" Target="../media/image47.jpeg"/><Relationship Id="rId1" Type="http://schemas.openxmlformats.org/officeDocument/2006/relationships/slideLayout" Target="../slideLayouts/slideLayout7.xml"/><Relationship Id="rId6" Type="http://schemas.openxmlformats.org/officeDocument/2006/relationships/image" Target="../media/image51.jpeg"/><Relationship Id="rId5" Type="http://schemas.openxmlformats.org/officeDocument/2006/relationships/image" Target="../media/image50.jpeg"/><Relationship Id="rId4" Type="http://schemas.openxmlformats.org/officeDocument/2006/relationships/image" Target="../media/image49.jpeg"/></Relationships>
</file>

<file path=ppt/slides/_rels/slide33.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4.jpeg"/><Relationship Id="rId1" Type="http://schemas.openxmlformats.org/officeDocument/2006/relationships/slideLayout" Target="../slideLayouts/slideLayout2.xml"/><Relationship Id="rId6" Type="http://schemas.openxmlformats.org/officeDocument/2006/relationships/image" Target="../media/image58.jpeg"/><Relationship Id="rId5" Type="http://schemas.openxmlformats.org/officeDocument/2006/relationships/image" Target="../media/image57.jpeg"/><Relationship Id="rId4" Type="http://schemas.openxmlformats.org/officeDocument/2006/relationships/image" Target="../media/image56.jpeg"/></Relationships>
</file>

<file path=ppt/slides/_rels/slide34.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image" Target="../media/image59.jpeg"/><Relationship Id="rId1" Type="http://schemas.openxmlformats.org/officeDocument/2006/relationships/slideLayout" Target="../slideLayouts/slideLayout7.xml"/><Relationship Id="rId6" Type="http://schemas.openxmlformats.org/officeDocument/2006/relationships/image" Target="../media/image63.jpeg"/><Relationship Id="rId5" Type="http://schemas.openxmlformats.org/officeDocument/2006/relationships/image" Target="../media/image62.jpeg"/><Relationship Id="rId4" Type="http://schemas.openxmlformats.org/officeDocument/2006/relationships/image" Target="../media/image61.jpeg"/></Relationships>
</file>

<file path=ppt/slides/_rels/slide35.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jpeg"/><Relationship Id="rId1" Type="http://schemas.openxmlformats.org/officeDocument/2006/relationships/slideLayout" Target="../slideLayouts/slideLayout2.xml"/><Relationship Id="rId4" Type="http://schemas.openxmlformats.org/officeDocument/2006/relationships/image" Target="../media/image67.jpeg"/></Relationships>
</file>

<file path=ppt/slides/_rels/slide38.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6.xml"/><Relationship Id="rId5" Type="http://schemas.openxmlformats.org/officeDocument/2006/relationships/image" Target="../media/image81.png"/><Relationship Id="rId4" Type="http://schemas.openxmlformats.org/officeDocument/2006/relationships/image" Target="../media/image80.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83.jpe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85335" y="2630530"/>
            <a:ext cx="10515600" cy="1325563"/>
          </a:xfrm>
        </p:spPr>
        <p:txBody>
          <a:bodyPr/>
          <a:lstStyle/>
          <a:p>
            <a:pPr algn="ctr"/>
            <a:r>
              <a:rPr lang="en-US" b="1" smtClean="0">
                <a:solidFill>
                  <a:srgbClr val="FF0000"/>
                </a:solidFill>
                <a:latin typeface="Times New Roman" panose="02020603050405020304" pitchFamily="18" charset="0"/>
                <a:cs typeface="Times New Roman" panose="02020603050405020304" pitchFamily="18" charset="0"/>
              </a:rPr>
              <a:t>Consume</a:t>
            </a:r>
            <a:r>
              <a:rPr lang="en-US" b="1" smtClean="0">
                <a:latin typeface="Times New Roman" panose="02020603050405020304" pitchFamily="18" charset="0"/>
                <a:cs typeface="Times New Roman" panose="02020603050405020304" pitchFamily="18" charset="0"/>
              </a:rPr>
              <a:t>r</a:t>
            </a:r>
            <a:r>
              <a:rPr lang="en-US" b="1" smtClean="0">
                <a:solidFill>
                  <a:srgbClr val="FF0000"/>
                </a:solidFill>
                <a:latin typeface="Times New Roman" panose="02020603050405020304" pitchFamily="18" charset="0"/>
                <a:cs typeface="Times New Roman" panose="02020603050405020304" pitchFamily="18" charset="0"/>
              </a:rPr>
              <a:t> </a:t>
            </a:r>
            <a:br>
              <a:rPr lang="en-US" b="1" smtClean="0">
                <a:solidFill>
                  <a:srgbClr val="FF0000"/>
                </a:solidFill>
                <a:latin typeface="Times New Roman" panose="02020603050405020304" pitchFamily="18" charset="0"/>
                <a:cs typeface="Times New Roman" panose="02020603050405020304" pitchFamily="18" charset="0"/>
              </a:rPr>
            </a:br>
            <a:r>
              <a:rPr lang="en-US" b="1" smtClean="0">
                <a:solidFill>
                  <a:srgbClr val="FF0000"/>
                </a:solidFill>
                <a:latin typeface="Times New Roman" panose="02020603050405020304" pitchFamily="18" charset="0"/>
                <a:cs typeface="Times New Roman" panose="02020603050405020304" pitchFamily="18" charset="0"/>
              </a:rPr>
              <a:t>Behavior</a:t>
            </a:r>
            <a:endParaRPr lang="en-IN"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54427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 name="Picture 2"/>
          <p:cNvPicPr/>
          <p:nvPr/>
        </p:nvPicPr>
        <p:blipFill>
          <a:blip r:embed="rId2"/>
          <a:stretch/>
        </p:blipFill>
        <p:spPr>
          <a:xfrm>
            <a:off x="6234143" y="541234"/>
            <a:ext cx="2768189" cy="1844030"/>
          </a:xfrm>
          <a:prstGeom prst="rect">
            <a:avLst/>
          </a:prstGeom>
          <a:ln>
            <a:noFill/>
          </a:ln>
        </p:spPr>
      </p:pic>
      <p:sp>
        <p:nvSpPr>
          <p:cNvPr id="99" name="CustomShape 1"/>
          <p:cNvSpPr/>
          <p:nvPr/>
        </p:nvSpPr>
        <p:spPr>
          <a:xfrm>
            <a:off x="825017" y="2584200"/>
            <a:ext cx="10818253" cy="4030419"/>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IN" sz="2000" b="1" spc="-1" dirty="0">
                <a:latin typeface="Times New Roman"/>
              </a:rPr>
              <a:t>Earlier, liquid milk was churned into </a:t>
            </a:r>
            <a:r>
              <a:rPr lang="en-IN" sz="2000" b="1" i="1" spc="-1" dirty="0" err="1">
                <a:latin typeface="Times New Roman"/>
              </a:rPr>
              <a:t>chaas</a:t>
            </a:r>
            <a:r>
              <a:rPr lang="en-IN" sz="2000" b="1" i="1" spc="-1" dirty="0">
                <a:solidFill>
                  <a:srgbClr val="00B050"/>
                </a:solidFill>
                <a:latin typeface="Times New Roman"/>
              </a:rPr>
              <a:t>, ghee</a:t>
            </a:r>
            <a:r>
              <a:rPr lang="en-IN" sz="2000" b="1" spc="-1" dirty="0">
                <a:solidFill>
                  <a:srgbClr val="00B050"/>
                </a:solidFill>
                <a:latin typeface="Times New Roman"/>
              </a:rPr>
              <a:t>, </a:t>
            </a:r>
            <a:r>
              <a:rPr lang="en-IN" sz="2000" b="1" spc="-1" dirty="0" smtClean="0">
                <a:solidFill>
                  <a:srgbClr val="00B050"/>
                </a:solidFill>
                <a:latin typeface="Times New Roman"/>
              </a:rPr>
              <a:t>curd at </a:t>
            </a:r>
            <a:r>
              <a:rPr lang="en-IN" sz="2000" b="1" spc="-1" dirty="0">
                <a:solidFill>
                  <a:srgbClr val="00B050"/>
                </a:solidFill>
                <a:latin typeface="Times New Roman"/>
              </a:rPr>
              <a:t>home. Today's consumer, however, prefers to buy these products off the shelf. </a:t>
            </a:r>
            <a:endParaRPr lang="en-IN" sz="2000" b="1" spc="-1" dirty="0" smtClean="0">
              <a:solidFill>
                <a:srgbClr val="00B050"/>
              </a:solidFill>
              <a:latin typeface="Times New Roman"/>
            </a:endParaRPr>
          </a:p>
          <a:p>
            <a:pPr>
              <a:lnSpc>
                <a:spcPct val="100000"/>
              </a:lnSpc>
            </a:pPr>
            <a:endParaRPr lang="en-IN" sz="2000" b="1" strike="noStrike" spc="-1" dirty="0">
              <a:solidFill>
                <a:srgbClr val="00B050"/>
              </a:solidFill>
              <a:latin typeface="Times New Roman"/>
            </a:endParaRPr>
          </a:p>
          <a:p>
            <a:pPr>
              <a:lnSpc>
                <a:spcPct val="100000"/>
              </a:lnSpc>
            </a:pPr>
            <a:r>
              <a:rPr lang="en-IN" sz="2000" b="0" strike="noStrike" spc="-1" dirty="0" smtClean="0">
                <a:solidFill>
                  <a:srgbClr val="000000"/>
                </a:solidFill>
                <a:latin typeface="Times New Roman"/>
              </a:rPr>
              <a:t>AMUL primarily </a:t>
            </a:r>
            <a:r>
              <a:rPr lang="en-IN" sz="2000" b="0" strike="noStrike" spc="-1" dirty="0">
                <a:solidFill>
                  <a:srgbClr val="000000"/>
                </a:solidFill>
                <a:latin typeface="Times New Roman"/>
              </a:rPr>
              <a:t>sell </a:t>
            </a:r>
            <a:r>
              <a:rPr lang="en-IN" sz="2000" b="0" strike="noStrike" spc="-1" dirty="0" smtClean="0">
                <a:solidFill>
                  <a:srgbClr val="000000"/>
                </a:solidFill>
                <a:latin typeface="Times New Roman"/>
              </a:rPr>
              <a:t> </a:t>
            </a:r>
            <a:r>
              <a:rPr lang="en-IN" sz="2800" b="1" strike="noStrike" spc="-1" dirty="0" smtClean="0">
                <a:solidFill>
                  <a:srgbClr val="FF0000"/>
                </a:solidFill>
                <a:latin typeface="Times New Roman"/>
              </a:rPr>
              <a:t>95 </a:t>
            </a:r>
            <a:r>
              <a:rPr lang="en-IN" sz="2800" b="1" strike="noStrike" spc="-1" dirty="0">
                <a:solidFill>
                  <a:srgbClr val="FF0000"/>
                </a:solidFill>
                <a:latin typeface="Times New Roman"/>
              </a:rPr>
              <a:t>% </a:t>
            </a:r>
            <a:r>
              <a:rPr lang="en-IN" sz="2000" b="0" strike="noStrike" spc="-1" dirty="0" smtClean="0">
                <a:solidFill>
                  <a:srgbClr val="000000"/>
                </a:solidFill>
                <a:latin typeface="Times New Roman"/>
              </a:rPr>
              <a:t>branded </a:t>
            </a:r>
            <a:r>
              <a:rPr lang="en-IN" sz="2000" b="0" strike="noStrike" spc="-1" dirty="0">
                <a:solidFill>
                  <a:srgbClr val="000000"/>
                </a:solidFill>
                <a:latin typeface="Times New Roman"/>
              </a:rPr>
              <a:t>products, </a:t>
            </a:r>
            <a:r>
              <a:rPr lang="en-IN" sz="2000" b="0" strike="noStrike" spc="-1" dirty="0" smtClean="0">
                <a:solidFill>
                  <a:srgbClr val="000000"/>
                </a:solidFill>
                <a:latin typeface="Times New Roman"/>
              </a:rPr>
              <a:t>only </a:t>
            </a:r>
            <a:r>
              <a:rPr lang="en-IN" sz="2800" b="1" strike="noStrike" spc="-1" dirty="0">
                <a:solidFill>
                  <a:srgbClr val="FF0000"/>
                </a:solidFill>
                <a:latin typeface="Times New Roman"/>
              </a:rPr>
              <a:t>5 % </a:t>
            </a:r>
            <a:r>
              <a:rPr lang="en-IN" sz="2000" b="0" strike="noStrike" spc="-1" dirty="0">
                <a:solidFill>
                  <a:srgbClr val="000000"/>
                </a:solidFill>
                <a:latin typeface="Times New Roman"/>
              </a:rPr>
              <a:t>is as commodity. </a:t>
            </a:r>
            <a:endParaRPr lang="en-IN" sz="2000" b="0" strike="noStrike" spc="-1" dirty="0" smtClean="0">
              <a:solidFill>
                <a:srgbClr val="000000"/>
              </a:solidFill>
              <a:latin typeface="Times New Roman"/>
            </a:endParaRPr>
          </a:p>
          <a:p>
            <a:pPr>
              <a:lnSpc>
                <a:spcPct val="100000"/>
              </a:lnSpc>
            </a:pPr>
            <a:r>
              <a:rPr lang="en-IN" sz="2000" b="0" strike="noStrike" spc="-1" dirty="0" smtClean="0">
                <a:solidFill>
                  <a:srgbClr val="000000"/>
                </a:solidFill>
                <a:latin typeface="Times New Roman"/>
              </a:rPr>
              <a:t>Of </a:t>
            </a:r>
            <a:r>
              <a:rPr lang="en-IN" sz="2000" b="0" strike="noStrike" spc="-1" dirty="0">
                <a:solidFill>
                  <a:srgbClr val="000000"/>
                </a:solidFill>
                <a:latin typeface="Times New Roman"/>
              </a:rPr>
              <a:t>this 95 per cent, around </a:t>
            </a:r>
            <a:r>
              <a:rPr lang="en-IN" sz="2800" b="1" strike="noStrike" spc="-1" dirty="0">
                <a:solidFill>
                  <a:srgbClr val="FF0000"/>
                </a:solidFill>
                <a:latin typeface="Times New Roman"/>
              </a:rPr>
              <a:t>50 </a:t>
            </a:r>
            <a:r>
              <a:rPr lang="en-IN" sz="2800" b="1" strike="noStrike" spc="-1" dirty="0" smtClean="0">
                <a:solidFill>
                  <a:srgbClr val="FF0000"/>
                </a:solidFill>
                <a:latin typeface="Times New Roman"/>
              </a:rPr>
              <a:t>% </a:t>
            </a:r>
            <a:r>
              <a:rPr lang="en-IN" sz="2000" b="0" strike="noStrike" spc="-1" dirty="0" smtClean="0">
                <a:solidFill>
                  <a:srgbClr val="FF0000"/>
                </a:solidFill>
                <a:latin typeface="Times New Roman"/>
              </a:rPr>
              <a:t>comes </a:t>
            </a:r>
            <a:r>
              <a:rPr lang="en-IN" sz="2000" b="0" strike="noStrike" spc="-1" dirty="0">
                <a:solidFill>
                  <a:srgbClr val="FF0000"/>
                </a:solidFill>
                <a:latin typeface="Times New Roman"/>
              </a:rPr>
              <a:t>from value added products like cheese, ghee, </a:t>
            </a:r>
            <a:r>
              <a:rPr lang="en-IN" sz="2000" b="0" strike="noStrike" spc="-1" dirty="0" err="1">
                <a:solidFill>
                  <a:srgbClr val="FF0000"/>
                </a:solidFill>
                <a:latin typeface="Times New Roman"/>
              </a:rPr>
              <a:t>paneer</a:t>
            </a:r>
            <a:r>
              <a:rPr lang="en-IN" sz="2000" b="0" strike="noStrike" spc="-1" dirty="0">
                <a:solidFill>
                  <a:srgbClr val="FF0000"/>
                </a:solidFill>
                <a:latin typeface="Times New Roman"/>
              </a:rPr>
              <a:t> etc. </a:t>
            </a:r>
            <a:endParaRPr lang="en-IN" sz="2000" b="0" strike="noStrike" spc="-1" dirty="0" smtClean="0">
              <a:solidFill>
                <a:srgbClr val="FF0000"/>
              </a:solidFill>
              <a:latin typeface="Times New Roman"/>
            </a:endParaRPr>
          </a:p>
          <a:p>
            <a:pPr>
              <a:lnSpc>
                <a:spcPct val="100000"/>
              </a:lnSpc>
            </a:pPr>
            <a:endParaRPr lang="en-IN" sz="2000" spc="-1" dirty="0">
              <a:solidFill>
                <a:srgbClr val="FF0000"/>
              </a:solidFill>
              <a:latin typeface="Times New Roman"/>
            </a:endParaRPr>
          </a:p>
          <a:p>
            <a:pPr>
              <a:lnSpc>
                <a:spcPct val="100000"/>
              </a:lnSpc>
            </a:pPr>
            <a:r>
              <a:rPr lang="en-IN" sz="2000" b="0" strike="noStrike" spc="-1" dirty="0" smtClean="0">
                <a:solidFill>
                  <a:srgbClr val="FF0000"/>
                </a:solidFill>
                <a:latin typeface="Times New Roman"/>
              </a:rPr>
              <a:t>Value </a:t>
            </a:r>
            <a:r>
              <a:rPr lang="en-IN" sz="2000" b="0" strike="noStrike" spc="-1" dirty="0">
                <a:solidFill>
                  <a:srgbClr val="FF0000"/>
                </a:solidFill>
                <a:latin typeface="Times New Roman"/>
              </a:rPr>
              <a:t>added products offer more margins</a:t>
            </a:r>
            <a:r>
              <a:rPr lang="en-IN" sz="2000" b="0" strike="noStrike" spc="-1" dirty="0">
                <a:solidFill>
                  <a:srgbClr val="000000"/>
                </a:solidFill>
                <a:latin typeface="Times New Roman"/>
              </a:rPr>
              <a:t>. For example,  in comparison to the </a:t>
            </a:r>
            <a:r>
              <a:rPr lang="en-IN" sz="2000" b="0" strike="noStrike" spc="-1" dirty="0">
                <a:solidFill>
                  <a:srgbClr val="FF0000"/>
                </a:solidFill>
                <a:latin typeface="Times New Roman"/>
              </a:rPr>
              <a:t>gross margin  of </a:t>
            </a:r>
            <a:endParaRPr lang="en-IN" sz="2000" b="0" strike="noStrike" spc="-1" dirty="0">
              <a:latin typeface="Arial"/>
            </a:endParaRPr>
          </a:p>
          <a:p>
            <a:pPr>
              <a:lnSpc>
                <a:spcPct val="100000"/>
              </a:lnSpc>
            </a:pPr>
            <a:r>
              <a:rPr lang="en-IN" sz="3600" b="1" strike="noStrike" spc="-1" dirty="0">
                <a:solidFill>
                  <a:srgbClr val="FF0000"/>
                </a:solidFill>
                <a:latin typeface="Times New Roman"/>
              </a:rPr>
              <a:t>6.5 % </a:t>
            </a:r>
            <a:r>
              <a:rPr lang="en-IN" sz="2000" b="0" strike="noStrike" spc="-1" dirty="0">
                <a:solidFill>
                  <a:srgbClr val="000000"/>
                </a:solidFill>
                <a:latin typeface="Times New Roman"/>
              </a:rPr>
              <a:t>in pouch </a:t>
            </a:r>
            <a:r>
              <a:rPr lang="en-IN" sz="2000" b="0" strike="noStrike" spc="-1" dirty="0" smtClean="0">
                <a:solidFill>
                  <a:srgbClr val="000000"/>
                </a:solidFill>
                <a:latin typeface="Times New Roman"/>
              </a:rPr>
              <a:t>milk</a:t>
            </a:r>
            <a:endParaRPr lang="en-IN" sz="2000" b="0" strike="noStrike" spc="-1" dirty="0">
              <a:latin typeface="Arial"/>
            </a:endParaRPr>
          </a:p>
          <a:p>
            <a:pPr>
              <a:lnSpc>
                <a:spcPct val="100000"/>
              </a:lnSpc>
            </a:pPr>
            <a:r>
              <a:rPr lang="en-IN" sz="3200" b="1" spc="-1" dirty="0">
                <a:solidFill>
                  <a:srgbClr val="FF0000"/>
                </a:solidFill>
                <a:latin typeface="Times New Roman"/>
              </a:rPr>
              <a:t>27.4</a:t>
            </a:r>
            <a:r>
              <a:rPr lang="en-IN" sz="3200" b="1" spc="-1" dirty="0" smtClean="0">
                <a:solidFill>
                  <a:srgbClr val="FF0000"/>
                </a:solidFill>
                <a:latin typeface="Times New Roman"/>
              </a:rPr>
              <a:t>% </a:t>
            </a:r>
            <a:r>
              <a:rPr lang="en-IN" sz="2000" spc="-1" dirty="0" smtClean="0">
                <a:latin typeface="Times New Roman"/>
              </a:rPr>
              <a:t>in</a:t>
            </a:r>
            <a:r>
              <a:rPr lang="en-IN" sz="2000" b="1" spc="-1" dirty="0" smtClean="0">
                <a:solidFill>
                  <a:srgbClr val="FF0000"/>
                </a:solidFill>
                <a:latin typeface="Times New Roman"/>
              </a:rPr>
              <a:t> </a:t>
            </a:r>
            <a:r>
              <a:rPr lang="en-IN" sz="2000" b="0" i="1" strike="noStrike" spc="-1" dirty="0" smtClean="0">
                <a:solidFill>
                  <a:srgbClr val="000000"/>
                </a:solidFill>
                <a:latin typeface="Times New Roman"/>
              </a:rPr>
              <a:t>ghee</a:t>
            </a:r>
            <a:r>
              <a:rPr lang="en-IN" sz="2000" b="0" strike="noStrike" spc="-1" dirty="0">
                <a:solidFill>
                  <a:srgbClr val="000000"/>
                </a:solidFill>
                <a:latin typeface="Times New Roman"/>
              </a:rPr>
              <a:t> </a:t>
            </a:r>
            <a:r>
              <a:rPr lang="en-IN" sz="2000" b="0" strike="noStrike" spc="-1" dirty="0">
                <a:solidFill>
                  <a:srgbClr val="FF0000"/>
                </a:solidFill>
                <a:latin typeface="Times New Roman"/>
              </a:rPr>
              <a:t>and </a:t>
            </a:r>
            <a:r>
              <a:rPr lang="en-IN" sz="2000" b="0" strike="noStrike" spc="-1" dirty="0">
                <a:solidFill>
                  <a:srgbClr val="000000"/>
                </a:solidFill>
                <a:latin typeface="Times New Roman"/>
              </a:rPr>
              <a:t>skimmed milk </a:t>
            </a:r>
            <a:r>
              <a:rPr lang="en-IN" sz="2000" b="0" strike="noStrike" spc="-1" dirty="0" smtClean="0">
                <a:solidFill>
                  <a:srgbClr val="000000"/>
                </a:solidFill>
                <a:latin typeface="Times New Roman"/>
              </a:rPr>
              <a:t>powder</a:t>
            </a:r>
            <a:r>
              <a:rPr sz="2400" dirty="0"/>
              <a:t/>
            </a:r>
            <a:br>
              <a:rPr sz="2400" dirty="0"/>
            </a:br>
            <a:r>
              <a:rPr lang="en-IN" sz="3200" b="1" spc="-1" dirty="0">
                <a:solidFill>
                  <a:srgbClr val="FF0000"/>
                </a:solidFill>
                <a:latin typeface="Times New Roman"/>
              </a:rPr>
              <a:t>60 </a:t>
            </a:r>
            <a:r>
              <a:rPr lang="en-IN" sz="3200" b="1" spc="-1" dirty="0" smtClean="0">
                <a:solidFill>
                  <a:srgbClr val="FF0000"/>
                </a:solidFill>
                <a:latin typeface="Times New Roman"/>
              </a:rPr>
              <a:t>%</a:t>
            </a:r>
            <a:r>
              <a:rPr lang="en-IN" sz="3200" spc="-1" dirty="0" smtClean="0">
                <a:latin typeface="Times New Roman"/>
              </a:rPr>
              <a:t> </a:t>
            </a:r>
            <a:r>
              <a:rPr lang="en-IN" sz="2000" spc="-1" dirty="0" smtClean="0">
                <a:latin typeface="Times New Roman"/>
              </a:rPr>
              <a:t>in </a:t>
            </a:r>
            <a:r>
              <a:rPr lang="en-IN" sz="2000" b="0" strike="noStrike" spc="-1" dirty="0" smtClean="0">
                <a:solidFill>
                  <a:srgbClr val="000000"/>
                </a:solidFill>
                <a:latin typeface="Times New Roman"/>
              </a:rPr>
              <a:t>cheese</a:t>
            </a:r>
            <a:r>
              <a:rPr lang="en-IN" sz="2000" b="0" strike="noStrike" spc="-1" dirty="0" smtClean="0">
                <a:solidFill>
                  <a:srgbClr val="FF0000"/>
                </a:solidFill>
                <a:latin typeface="Times New Roman"/>
              </a:rPr>
              <a:t> </a:t>
            </a:r>
            <a:r>
              <a:rPr lang="en-IN" sz="2000" b="0" strike="noStrike" spc="-1" dirty="0">
                <a:solidFill>
                  <a:srgbClr val="FF0000"/>
                </a:solidFill>
                <a:latin typeface="Times New Roman"/>
              </a:rPr>
              <a:t>and </a:t>
            </a:r>
            <a:r>
              <a:rPr lang="en-IN" sz="2000" b="0" strike="noStrike" spc="-1" dirty="0" smtClean="0">
                <a:solidFill>
                  <a:srgbClr val="000000"/>
                </a:solidFill>
                <a:latin typeface="Times New Roman"/>
              </a:rPr>
              <a:t>butter</a:t>
            </a:r>
            <a:r>
              <a:rPr lang="en-IN" sz="2000" b="1" strike="noStrike" spc="-1" dirty="0" smtClean="0">
                <a:solidFill>
                  <a:srgbClr val="FF0000"/>
                </a:solidFill>
                <a:latin typeface="Times New Roman"/>
              </a:rPr>
              <a:t>. </a:t>
            </a:r>
            <a:endParaRPr lang="en-IN" sz="2000" b="0" strike="noStrike" spc="-1" dirty="0">
              <a:latin typeface="Arial"/>
            </a:endParaRPr>
          </a:p>
        </p:txBody>
      </p:sp>
      <p:pic>
        <p:nvPicPr>
          <p:cNvPr id="100" name="Picture 2"/>
          <p:cNvPicPr/>
          <p:nvPr/>
        </p:nvPicPr>
        <p:blipFill>
          <a:blip r:embed="rId3"/>
          <a:stretch/>
        </p:blipFill>
        <p:spPr>
          <a:xfrm>
            <a:off x="2501004" y="552573"/>
            <a:ext cx="2882366" cy="1832691"/>
          </a:xfrm>
          <a:prstGeom prst="rect">
            <a:avLst/>
          </a:prstGeom>
          <a:ln>
            <a:noFill/>
          </a:ln>
        </p:spPr>
      </p:pic>
    </p:spTree>
    <p:extLst>
      <p:ext uri="{BB962C8B-B14F-4D97-AF65-F5344CB8AC3E}">
        <p14:creationId xmlns:p14="http://schemas.microsoft.com/office/powerpoint/2010/main" val="17728412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extShape 1"/>
          <p:cNvSpPr txBox="1"/>
          <p:nvPr/>
        </p:nvSpPr>
        <p:spPr>
          <a:xfrm>
            <a:off x="838080" y="365040"/>
            <a:ext cx="10515240" cy="1325160"/>
          </a:xfrm>
          <a:prstGeom prst="rect">
            <a:avLst/>
          </a:prstGeom>
          <a:noFill/>
          <a:ln>
            <a:noFill/>
          </a:ln>
        </p:spPr>
        <p:txBody>
          <a:bodyPr anchor="ctr">
            <a:noAutofit/>
          </a:bodyPr>
          <a:lstStyle/>
          <a:p>
            <a:pPr algn="ctr">
              <a:lnSpc>
                <a:spcPct val="90000"/>
              </a:lnSpc>
            </a:pPr>
            <a:r>
              <a:rPr lang="en-US" sz="3600" b="1" strike="noStrike" spc="-1" dirty="0" err="1">
                <a:solidFill>
                  <a:srgbClr val="000000"/>
                </a:solidFill>
                <a:latin typeface="Times New Roman"/>
              </a:rPr>
              <a:t>Amul</a:t>
            </a:r>
            <a:r>
              <a:rPr lang="en-US" sz="3600" b="1" strike="noStrike" spc="-1" dirty="0">
                <a:solidFill>
                  <a:srgbClr val="000000"/>
                </a:solidFill>
                <a:latin typeface="Times New Roman"/>
              </a:rPr>
              <a:t> -</a:t>
            </a:r>
            <a:r>
              <a:rPr lang="en-US" sz="3600" b="1" strike="noStrike" spc="-1" dirty="0" err="1">
                <a:solidFill>
                  <a:srgbClr val="000000"/>
                </a:solidFill>
                <a:latin typeface="Times New Roman"/>
              </a:rPr>
              <a:t>mithai</a:t>
            </a:r>
            <a:r>
              <a:rPr lang="en-US" sz="3600" b="1" strike="noStrike" spc="-1" dirty="0">
                <a:solidFill>
                  <a:srgbClr val="000000"/>
                </a:solidFill>
                <a:latin typeface="Times New Roman"/>
              </a:rPr>
              <a:t> market</a:t>
            </a:r>
            <a:r>
              <a:rPr dirty="0"/>
              <a:t/>
            </a:r>
            <a:br>
              <a:rPr dirty="0"/>
            </a:br>
            <a:endParaRPr lang="en-US" sz="3600" b="0" strike="noStrike" spc="-1" dirty="0">
              <a:solidFill>
                <a:srgbClr val="000000"/>
              </a:solidFill>
              <a:latin typeface="Calibri"/>
            </a:endParaRPr>
          </a:p>
        </p:txBody>
      </p:sp>
      <p:sp>
        <p:nvSpPr>
          <p:cNvPr id="102" name="TextShape 2"/>
          <p:cNvSpPr txBox="1"/>
          <p:nvPr/>
        </p:nvSpPr>
        <p:spPr>
          <a:xfrm>
            <a:off x="1362974" y="3151440"/>
            <a:ext cx="10100506" cy="2481480"/>
          </a:xfrm>
          <a:prstGeom prst="rect">
            <a:avLst/>
          </a:prstGeom>
          <a:noFill/>
          <a:ln>
            <a:noFill/>
          </a:ln>
        </p:spPr>
        <p:txBody>
          <a:bodyPr>
            <a:noAutofit/>
          </a:bodyPr>
          <a:lstStyle/>
          <a:p>
            <a:pPr>
              <a:lnSpc>
                <a:spcPct val="90000"/>
              </a:lnSpc>
              <a:spcBef>
                <a:spcPts val="1001"/>
              </a:spcBef>
            </a:pPr>
            <a:endParaRPr lang="en-US" sz="2800" b="0" strike="noStrike" spc="-1" dirty="0">
              <a:solidFill>
                <a:srgbClr val="000000"/>
              </a:solidFill>
              <a:latin typeface="Calibri"/>
            </a:endParaRPr>
          </a:p>
          <a:p>
            <a:pPr marL="228600" indent="-228240">
              <a:lnSpc>
                <a:spcPct val="90000"/>
              </a:lnSpc>
              <a:spcBef>
                <a:spcPts val="1001"/>
              </a:spcBef>
              <a:buClr>
                <a:srgbClr val="000000"/>
              </a:buClr>
              <a:buFont typeface="Arial"/>
              <a:buChar char="•"/>
            </a:pPr>
            <a:r>
              <a:rPr lang="en-US" sz="1800" b="0" strike="noStrike" spc="-1" dirty="0">
                <a:solidFill>
                  <a:srgbClr val="000000"/>
                </a:solidFill>
                <a:latin typeface="Times New Roman"/>
              </a:rPr>
              <a:t>Shift in consumer preference from </a:t>
            </a:r>
            <a:r>
              <a:rPr lang="en-US" sz="1800" b="0" strike="noStrike" spc="-1" dirty="0">
                <a:solidFill>
                  <a:srgbClr val="FF0000"/>
                </a:solidFill>
                <a:latin typeface="Times New Roman"/>
              </a:rPr>
              <a:t>loose '</a:t>
            </a:r>
            <a:r>
              <a:rPr lang="en-US" sz="1800" b="0" strike="noStrike" spc="-1" dirty="0" err="1">
                <a:solidFill>
                  <a:srgbClr val="FF0000"/>
                </a:solidFill>
                <a:latin typeface="Times New Roman"/>
              </a:rPr>
              <a:t>mithai</a:t>
            </a:r>
            <a:r>
              <a:rPr lang="en-US" sz="1800" b="0" strike="noStrike" spc="-1" dirty="0">
                <a:solidFill>
                  <a:srgbClr val="FF0000"/>
                </a:solidFill>
                <a:latin typeface="Times New Roman"/>
              </a:rPr>
              <a:t>' to branded, </a:t>
            </a:r>
            <a:r>
              <a:rPr lang="en-US" sz="1800" b="0" strike="noStrike" spc="-1" dirty="0">
                <a:solidFill>
                  <a:srgbClr val="000000"/>
                </a:solidFill>
                <a:latin typeface="Times New Roman"/>
              </a:rPr>
              <a:t>packaged sweets. </a:t>
            </a:r>
            <a:endParaRPr lang="en-US" sz="1800" b="0" strike="noStrike" spc="-1" dirty="0">
              <a:solidFill>
                <a:srgbClr val="000000"/>
              </a:solidFill>
              <a:latin typeface="Calibri"/>
            </a:endParaRPr>
          </a:p>
          <a:p>
            <a:pPr marL="228600" indent="-228240">
              <a:lnSpc>
                <a:spcPct val="90000"/>
              </a:lnSpc>
              <a:spcBef>
                <a:spcPts val="1001"/>
              </a:spcBef>
              <a:buClr>
                <a:srgbClr val="000000"/>
              </a:buClr>
              <a:buFont typeface="Arial"/>
              <a:buChar char="•"/>
            </a:pPr>
            <a:r>
              <a:rPr lang="en-US" sz="1800" b="0" strike="noStrike" spc="-1" dirty="0" err="1">
                <a:solidFill>
                  <a:srgbClr val="000000"/>
                </a:solidFill>
                <a:latin typeface="Times New Roman"/>
              </a:rPr>
              <a:t>Amul</a:t>
            </a:r>
            <a:r>
              <a:rPr lang="en-US" sz="1800" b="0" strike="noStrike" spc="-1" dirty="0">
                <a:solidFill>
                  <a:srgbClr val="000000"/>
                </a:solidFill>
                <a:latin typeface="Times New Roman"/>
              </a:rPr>
              <a:t> </a:t>
            </a:r>
            <a:r>
              <a:rPr lang="en-US" sz="1800" b="0" strike="noStrike" spc="-1" dirty="0" smtClean="0">
                <a:solidFill>
                  <a:srgbClr val="000000"/>
                </a:solidFill>
                <a:latin typeface="Times New Roman"/>
              </a:rPr>
              <a:t>- packaged </a:t>
            </a:r>
            <a:r>
              <a:rPr lang="en-US" sz="1800" b="0" strike="noStrike" spc="-1" dirty="0">
                <a:solidFill>
                  <a:srgbClr val="000000"/>
                </a:solidFill>
                <a:latin typeface="Times New Roman"/>
              </a:rPr>
              <a:t>'</a:t>
            </a:r>
            <a:r>
              <a:rPr lang="en-US" sz="1800" b="0" strike="noStrike" spc="-1" dirty="0" err="1">
                <a:solidFill>
                  <a:srgbClr val="000000"/>
                </a:solidFill>
                <a:latin typeface="Times New Roman"/>
              </a:rPr>
              <a:t>rasgullas</a:t>
            </a:r>
            <a:r>
              <a:rPr lang="en-US" sz="1800" b="0" strike="noStrike" spc="-1" dirty="0">
                <a:solidFill>
                  <a:srgbClr val="000000"/>
                </a:solidFill>
                <a:latin typeface="Times New Roman"/>
              </a:rPr>
              <a:t>' and </a:t>
            </a:r>
            <a:r>
              <a:rPr lang="en-US" sz="1800" b="0" strike="noStrike" spc="-1" dirty="0">
                <a:solidFill>
                  <a:srgbClr val="FF0000"/>
                </a:solidFill>
                <a:latin typeface="Times New Roman"/>
              </a:rPr>
              <a:t>'</a:t>
            </a:r>
            <a:r>
              <a:rPr lang="en-US" sz="1800" b="0" strike="noStrike" spc="-1" dirty="0" err="1">
                <a:solidFill>
                  <a:srgbClr val="FF0000"/>
                </a:solidFill>
                <a:latin typeface="Times New Roman"/>
              </a:rPr>
              <a:t>rasmalais</a:t>
            </a:r>
            <a:r>
              <a:rPr lang="en-US" sz="1800" b="0" strike="noStrike" spc="-1" dirty="0">
                <a:solidFill>
                  <a:srgbClr val="FF0000"/>
                </a:solidFill>
                <a:latin typeface="Times New Roman"/>
              </a:rPr>
              <a:t>', </a:t>
            </a:r>
            <a:endParaRPr lang="en-US" sz="1800" b="0" strike="noStrike" spc="-1" dirty="0">
              <a:solidFill>
                <a:srgbClr val="000000"/>
              </a:solidFill>
              <a:latin typeface="Calibri"/>
            </a:endParaRPr>
          </a:p>
          <a:p>
            <a:pPr marL="228600" indent="-228240">
              <a:lnSpc>
                <a:spcPct val="90000"/>
              </a:lnSpc>
              <a:spcBef>
                <a:spcPts val="1001"/>
              </a:spcBef>
              <a:buClr>
                <a:srgbClr val="000000"/>
              </a:buClr>
              <a:buFont typeface="Arial"/>
              <a:buChar char="•"/>
            </a:pPr>
            <a:r>
              <a:rPr lang="en-US" sz="1800" b="0" strike="noStrike" spc="-1" dirty="0">
                <a:solidFill>
                  <a:srgbClr val="000000"/>
                </a:solidFill>
                <a:latin typeface="Times New Roman"/>
              </a:rPr>
              <a:t> </a:t>
            </a:r>
            <a:r>
              <a:rPr lang="en-US" sz="1800" b="0" strike="noStrike" spc="-1" dirty="0" err="1">
                <a:solidFill>
                  <a:srgbClr val="000000"/>
                </a:solidFill>
                <a:latin typeface="Times New Roman"/>
              </a:rPr>
              <a:t>Amul</a:t>
            </a:r>
            <a:r>
              <a:rPr lang="en-US" sz="1800" b="0" strike="noStrike" spc="-1" dirty="0">
                <a:solidFill>
                  <a:srgbClr val="000000"/>
                </a:solidFill>
                <a:latin typeface="Times New Roman"/>
              </a:rPr>
              <a:t> </a:t>
            </a:r>
            <a:r>
              <a:rPr lang="en-US" sz="1800" b="0" strike="noStrike" spc="-1" dirty="0" err="1">
                <a:solidFill>
                  <a:srgbClr val="000000"/>
                </a:solidFill>
                <a:latin typeface="Times New Roman"/>
              </a:rPr>
              <a:t>realised</a:t>
            </a:r>
            <a:r>
              <a:rPr lang="en-US" sz="1800" b="0" strike="noStrike" spc="-1" dirty="0">
                <a:solidFill>
                  <a:srgbClr val="000000"/>
                </a:solidFill>
                <a:latin typeface="Times New Roman"/>
              </a:rPr>
              <a:t> that there is demand for </a:t>
            </a:r>
            <a:r>
              <a:rPr lang="en-US" sz="1800" b="0" strike="noStrike" spc="-1" dirty="0">
                <a:solidFill>
                  <a:srgbClr val="FF0000"/>
                </a:solidFill>
                <a:latin typeface="Times New Roman"/>
              </a:rPr>
              <a:t>hygienically </a:t>
            </a:r>
            <a:r>
              <a:rPr lang="en-US" sz="1800" b="1" strike="noStrike" spc="-1" dirty="0">
                <a:solidFill>
                  <a:srgbClr val="FF0000"/>
                </a:solidFill>
                <a:latin typeface="Times New Roman"/>
              </a:rPr>
              <a:t>prepared </a:t>
            </a:r>
            <a:r>
              <a:rPr lang="en-US" sz="1800" b="1" strike="noStrike" spc="-1" dirty="0" err="1">
                <a:solidFill>
                  <a:srgbClr val="FF0000"/>
                </a:solidFill>
                <a:latin typeface="Times New Roman"/>
              </a:rPr>
              <a:t>standardised</a:t>
            </a:r>
            <a:r>
              <a:rPr lang="en-US" sz="1800" b="1" strike="noStrike" spc="-1" dirty="0">
                <a:solidFill>
                  <a:srgbClr val="FF0000"/>
                </a:solidFill>
                <a:latin typeface="Times New Roman"/>
              </a:rPr>
              <a:t> sweets</a:t>
            </a:r>
            <a:r>
              <a:rPr lang="en-US" sz="1800" b="0" strike="noStrike" spc="-1" dirty="0">
                <a:solidFill>
                  <a:srgbClr val="FF0000"/>
                </a:solidFill>
                <a:latin typeface="Times New Roman"/>
              </a:rPr>
              <a:t>.”</a:t>
            </a:r>
            <a:endParaRPr lang="en-US" sz="1800" b="0" strike="noStrike" spc="-1" dirty="0">
              <a:solidFill>
                <a:srgbClr val="000000"/>
              </a:solidFill>
              <a:latin typeface="Calibri"/>
            </a:endParaRPr>
          </a:p>
          <a:p>
            <a:pPr marL="228600" indent="-228240">
              <a:lnSpc>
                <a:spcPct val="90000"/>
              </a:lnSpc>
              <a:spcBef>
                <a:spcPts val="1001"/>
              </a:spcBef>
              <a:buClr>
                <a:srgbClr val="000000"/>
              </a:buClr>
              <a:buFont typeface="Arial"/>
              <a:buChar char="•"/>
            </a:pPr>
            <a:r>
              <a:rPr lang="en-US" sz="1800" b="0" strike="noStrike" spc="-1" dirty="0">
                <a:solidFill>
                  <a:srgbClr val="000000"/>
                </a:solidFill>
                <a:latin typeface="Times New Roman"/>
              </a:rPr>
              <a:t>"Chocolates are available at the corner store, </a:t>
            </a:r>
            <a:r>
              <a:rPr lang="en-US" sz="1800" b="0" strike="noStrike" spc="-1" dirty="0">
                <a:solidFill>
                  <a:srgbClr val="FF0000"/>
                </a:solidFill>
                <a:latin typeface="Times New Roman"/>
              </a:rPr>
              <a:t>but for sweets one has to visit a sweet shop</a:t>
            </a:r>
            <a:r>
              <a:rPr lang="en-US" sz="1800" b="0" strike="noStrike" spc="-1" dirty="0">
                <a:solidFill>
                  <a:srgbClr val="000000"/>
                </a:solidFill>
                <a:latin typeface="Times New Roman"/>
              </a:rPr>
              <a:t>.</a:t>
            </a:r>
            <a:endParaRPr lang="en-US" sz="1800" b="0" strike="noStrike" spc="-1" dirty="0">
              <a:solidFill>
                <a:srgbClr val="000000"/>
              </a:solidFill>
              <a:latin typeface="Calibri"/>
            </a:endParaRPr>
          </a:p>
          <a:p>
            <a:pPr marL="228600" indent="-228240">
              <a:lnSpc>
                <a:spcPct val="90000"/>
              </a:lnSpc>
              <a:spcBef>
                <a:spcPts val="1001"/>
              </a:spcBef>
              <a:buClr>
                <a:srgbClr val="000000"/>
              </a:buClr>
              <a:buFont typeface="Arial"/>
              <a:buChar char="•"/>
            </a:pPr>
            <a:r>
              <a:rPr lang="en-US" sz="1800" b="0" strike="noStrike" spc="-1" dirty="0">
                <a:solidFill>
                  <a:srgbClr val="000000"/>
                </a:solidFill>
                <a:latin typeface="Times New Roman"/>
              </a:rPr>
              <a:t>“Almost, </a:t>
            </a:r>
            <a:r>
              <a:rPr lang="en-US" sz="1800" b="0" strike="noStrike" spc="-1" dirty="0">
                <a:solidFill>
                  <a:srgbClr val="FF0000"/>
                </a:solidFill>
                <a:latin typeface="Times New Roman"/>
              </a:rPr>
              <a:t>50-70 per cent of sales </a:t>
            </a:r>
            <a:r>
              <a:rPr lang="en-US" sz="1800" b="0" strike="noStrike" spc="-1" dirty="0">
                <a:solidFill>
                  <a:srgbClr val="000000"/>
                </a:solidFill>
                <a:latin typeface="Times New Roman"/>
              </a:rPr>
              <a:t>of packaged sweets happen during </a:t>
            </a:r>
            <a:r>
              <a:rPr lang="en-US" sz="1800" b="0" strike="noStrike" spc="-1" dirty="0">
                <a:solidFill>
                  <a:srgbClr val="FF0000"/>
                </a:solidFill>
                <a:latin typeface="Times New Roman"/>
              </a:rPr>
              <a:t>festive season,” .</a:t>
            </a:r>
            <a:endParaRPr lang="en-US" sz="1800" b="0" strike="noStrike" spc="-1" dirty="0">
              <a:solidFill>
                <a:srgbClr val="000000"/>
              </a:solidFill>
              <a:latin typeface="Calibri"/>
            </a:endParaRPr>
          </a:p>
        </p:txBody>
      </p:sp>
      <p:pic>
        <p:nvPicPr>
          <p:cNvPr id="103" name="Picture 2"/>
          <p:cNvPicPr/>
          <p:nvPr/>
        </p:nvPicPr>
        <p:blipFill>
          <a:blip r:embed="rId2"/>
          <a:stretch/>
        </p:blipFill>
        <p:spPr>
          <a:xfrm>
            <a:off x="6559770" y="1216802"/>
            <a:ext cx="2422855" cy="1913400"/>
          </a:xfrm>
          <a:prstGeom prst="rect">
            <a:avLst/>
          </a:prstGeom>
          <a:ln>
            <a:noFill/>
          </a:ln>
        </p:spPr>
      </p:pic>
      <p:pic>
        <p:nvPicPr>
          <p:cNvPr id="104" name="Picture 2"/>
          <p:cNvPicPr/>
          <p:nvPr/>
        </p:nvPicPr>
        <p:blipFill>
          <a:blip r:embed="rId3"/>
          <a:stretch/>
        </p:blipFill>
        <p:spPr>
          <a:xfrm>
            <a:off x="2685892" y="1238040"/>
            <a:ext cx="2550960" cy="1913400"/>
          </a:xfrm>
          <a:prstGeom prst="rect">
            <a:avLst/>
          </a:prstGeom>
          <a:ln>
            <a:noFill/>
          </a:ln>
        </p:spPr>
      </p:pic>
    </p:spTree>
    <p:extLst>
      <p:ext uri="{BB962C8B-B14F-4D97-AF65-F5344CB8AC3E}">
        <p14:creationId xmlns:p14="http://schemas.microsoft.com/office/powerpoint/2010/main" val="24426530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TextShape 1"/>
          <p:cNvSpPr txBox="1"/>
          <p:nvPr/>
        </p:nvSpPr>
        <p:spPr>
          <a:xfrm>
            <a:off x="889920" y="375480"/>
            <a:ext cx="10463400" cy="1314720"/>
          </a:xfrm>
          <a:prstGeom prst="rect">
            <a:avLst/>
          </a:prstGeom>
          <a:noFill/>
          <a:ln>
            <a:noFill/>
          </a:ln>
        </p:spPr>
        <p:txBody>
          <a:bodyPr anchor="ctr">
            <a:normAutofit/>
          </a:bodyPr>
          <a:lstStyle/>
          <a:p>
            <a:pPr>
              <a:lnSpc>
                <a:spcPct val="90000"/>
              </a:lnSpc>
            </a:pPr>
            <a:r>
              <a:rPr lang="en-US" sz="2800" b="0" strike="noStrike" spc="-1" dirty="0">
                <a:solidFill>
                  <a:srgbClr val="FF0000"/>
                </a:solidFill>
                <a:latin typeface="Times New Roman"/>
              </a:rPr>
              <a:t>Definition of Consumer Behavior</a:t>
            </a:r>
            <a:endParaRPr lang="en-US" sz="2800" b="0" strike="noStrike" spc="-1" dirty="0">
              <a:solidFill>
                <a:srgbClr val="000000"/>
              </a:solidFill>
              <a:latin typeface="Calibri"/>
            </a:endParaRPr>
          </a:p>
        </p:txBody>
      </p:sp>
      <p:sp>
        <p:nvSpPr>
          <p:cNvPr id="107" name="TextShape 2"/>
          <p:cNvSpPr txBox="1"/>
          <p:nvPr/>
        </p:nvSpPr>
        <p:spPr>
          <a:xfrm>
            <a:off x="838080" y="1553712"/>
            <a:ext cx="10515240" cy="4350960"/>
          </a:xfrm>
          <a:prstGeom prst="rect">
            <a:avLst/>
          </a:prstGeom>
          <a:noFill/>
          <a:ln>
            <a:noFill/>
          </a:ln>
        </p:spPr>
        <p:txBody>
          <a:bodyPr>
            <a:normAutofit fontScale="99000" lnSpcReduction="10000"/>
          </a:bodyPr>
          <a:lstStyle/>
          <a:p>
            <a:pPr algn="just">
              <a:lnSpc>
                <a:spcPct val="90000"/>
              </a:lnSpc>
              <a:spcBef>
                <a:spcPts val="1001"/>
              </a:spcBef>
            </a:pPr>
            <a:endParaRPr lang="en-US" sz="2400" b="0" strike="noStrike" spc="-1" dirty="0">
              <a:solidFill>
                <a:srgbClr val="000000"/>
              </a:solidFill>
              <a:latin typeface="Calibri"/>
            </a:endParaRPr>
          </a:p>
          <a:p>
            <a:pPr marL="228600" indent="-228240" algn="just">
              <a:lnSpc>
                <a:spcPct val="90000"/>
              </a:lnSpc>
              <a:spcBef>
                <a:spcPts val="1001"/>
              </a:spcBef>
              <a:buClr>
                <a:srgbClr val="000000"/>
              </a:buClr>
              <a:buFont typeface="Arial"/>
              <a:buChar char="•"/>
            </a:pPr>
            <a:r>
              <a:rPr lang="en-US" sz="2400" b="0" strike="noStrike" spc="-1" dirty="0">
                <a:solidFill>
                  <a:srgbClr val="000000"/>
                </a:solidFill>
                <a:latin typeface="Times New Roman"/>
              </a:rPr>
              <a:t>Prof. Philip Kotler defines Consumer </a:t>
            </a:r>
            <a:r>
              <a:rPr lang="en-US" sz="2400" b="0" strike="noStrike" spc="-1" dirty="0" smtClean="0">
                <a:solidFill>
                  <a:srgbClr val="000000"/>
                </a:solidFill>
                <a:latin typeface="Times New Roman"/>
              </a:rPr>
              <a:t>behavior </a:t>
            </a:r>
            <a:r>
              <a:rPr lang="en-US" sz="2400" b="0" strike="noStrike" spc="-1" dirty="0">
                <a:solidFill>
                  <a:srgbClr val="000000"/>
                </a:solidFill>
                <a:latin typeface="Times New Roman"/>
              </a:rPr>
              <a:t>as “the study of how individual, groups and </a:t>
            </a:r>
            <a:r>
              <a:rPr lang="en-US" sz="2400" b="0" strike="noStrike" spc="-1" dirty="0" smtClean="0">
                <a:solidFill>
                  <a:srgbClr val="000000"/>
                </a:solidFill>
                <a:latin typeface="Times New Roman"/>
              </a:rPr>
              <a:t>organization </a:t>
            </a:r>
            <a:endParaRPr lang="en-US" sz="2400" b="0" strike="noStrike" spc="-1" dirty="0">
              <a:solidFill>
                <a:srgbClr val="000000"/>
              </a:solidFill>
              <a:latin typeface="Calibri"/>
            </a:endParaRPr>
          </a:p>
          <a:p>
            <a:pPr marL="228600" indent="-228240" algn="ctr">
              <a:lnSpc>
                <a:spcPct val="90000"/>
              </a:lnSpc>
              <a:spcBef>
                <a:spcPts val="1001"/>
              </a:spcBef>
              <a:buClr>
                <a:srgbClr val="FF0000"/>
              </a:buClr>
              <a:buFont typeface="Arial"/>
              <a:buChar char="•"/>
            </a:pPr>
            <a:r>
              <a:rPr lang="en-US" sz="4000" b="1" strike="noStrike" spc="-1" dirty="0">
                <a:solidFill>
                  <a:srgbClr val="FF0000"/>
                </a:solidFill>
                <a:latin typeface="Times New Roman"/>
              </a:rPr>
              <a:t>select, </a:t>
            </a:r>
            <a:endParaRPr lang="en-US" sz="4000" b="1" strike="noStrike" spc="-1" dirty="0">
              <a:solidFill>
                <a:srgbClr val="000000"/>
              </a:solidFill>
              <a:latin typeface="Calibri"/>
            </a:endParaRPr>
          </a:p>
          <a:p>
            <a:pPr marL="228600" indent="-228240" algn="ctr">
              <a:lnSpc>
                <a:spcPct val="90000"/>
              </a:lnSpc>
              <a:spcBef>
                <a:spcPts val="1001"/>
              </a:spcBef>
              <a:buClr>
                <a:srgbClr val="FF0000"/>
              </a:buClr>
              <a:buFont typeface="Arial"/>
              <a:buChar char="•"/>
            </a:pPr>
            <a:r>
              <a:rPr lang="en-US" sz="4000" b="1" strike="noStrike" spc="-1" dirty="0">
                <a:solidFill>
                  <a:srgbClr val="FF0000"/>
                </a:solidFill>
                <a:latin typeface="Times New Roman"/>
              </a:rPr>
              <a:t>buy, </a:t>
            </a:r>
            <a:endParaRPr lang="en-US" sz="4000" b="1" strike="noStrike" spc="-1" dirty="0">
              <a:solidFill>
                <a:srgbClr val="000000"/>
              </a:solidFill>
              <a:latin typeface="Calibri"/>
            </a:endParaRPr>
          </a:p>
          <a:p>
            <a:pPr marL="228600" indent="-228240" algn="ctr">
              <a:lnSpc>
                <a:spcPct val="90000"/>
              </a:lnSpc>
              <a:spcBef>
                <a:spcPts val="1001"/>
              </a:spcBef>
              <a:buClr>
                <a:srgbClr val="FF0000"/>
              </a:buClr>
              <a:buFont typeface="Arial"/>
              <a:buChar char="•"/>
            </a:pPr>
            <a:r>
              <a:rPr lang="en-US" sz="4000" b="1" strike="noStrike" spc="-1" dirty="0">
                <a:solidFill>
                  <a:srgbClr val="FF0000"/>
                </a:solidFill>
                <a:latin typeface="Times New Roman"/>
              </a:rPr>
              <a:t>use </a:t>
            </a:r>
            <a:r>
              <a:rPr lang="en-US" sz="4000" b="1" strike="noStrike" spc="-1" dirty="0">
                <a:solidFill>
                  <a:srgbClr val="000000"/>
                </a:solidFill>
                <a:latin typeface="Times New Roman"/>
              </a:rPr>
              <a:t>and </a:t>
            </a:r>
            <a:endParaRPr lang="en-US" sz="4000" b="1" strike="noStrike" spc="-1" dirty="0">
              <a:solidFill>
                <a:srgbClr val="000000"/>
              </a:solidFill>
              <a:latin typeface="Calibri"/>
            </a:endParaRPr>
          </a:p>
          <a:p>
            <a:pPr marL="228600" indent="-228240" algn="ctr">
              <a:lnSpc>
                <a:spcPct val="90000"/>
              </a:lnSpc>
              <a:spcBef>
                <a:spcPts val="1001"/>
              </a:spcBef>
              <a:buClr>
                <a:srgbClr val="FF0000"/>
              </a:buClr>
              <a:buFont typeface="Arial"/>
              <a:buChar char="•"/>
            </a:pPr>
            <a:r>
              <a:rPr lang="en-US" sz="4000" b="1" strike="noStrike" spc="-1" dirty="0">
                <a:solidFill>
                  <a:srgbClr val="FF0000"/>
                </a:solidFill>
                <a:latin typeface="Times New Roman"/>
              </a:rPr>
              <a:t>dispose</a:t>
            </a:r>
            <a:r>
              <a:rPr lang="en-US" sz="4000" b="1" strike="noStrike" spc="-1" dirty="0">
                <a:solidFill>
                  <a:srgbClr val="000000"/>
                </a:solidFill>
                <a:latin typeface="Times New Roman"/>
              </a:rPr>
              <a:t> </a:t>
            </a:r>
            <a:endParaRPr lang="en-US" sz="4000" b="1" strike="noStrike" spc="-1" dirty="0">
              <a:solidFill>
                <a:srgbClr val="000000"/>
              </a:solidFill>
              <a:latin typeface="Calibri"/>
            </a:endParaRPr>
          </a:p>
          <a:p>
            <a:pPr marL="360" algn="just">
              <a:lnSpc>
                <a:spcPct val="90000"/>
              </a:lnSpc>
              <a:spcBef>
                <a:spcPts val="1001"/>
              </a:spcBef>
              <a:buClr>
                <a:srgbClr val="000000"/>
              </a:buClr>
            </a:pPr>
            <a:r>
              <a:rPr lang="en-US" sz="2400" b="0" strike="noStrike" spc="-1" dirty="0">
                <a:solidFill>
                  <a:srgbClr val="000000"/>
                </a:solidFill>
                <a:latin typeface="Times New Roman"/>
              </a:rPr>
              <a:t>of goods and services, ideas or experiences to satisfy their needs and wants.”</a:t>
            </a:r>
            <a:endParaRPr lang="en-US" sz="2400" b="0" strike="noStrike" spc="-1" dirty="0">
              <a:solidFill>
                <a:srgbClr val="000000"/>
              </a:solidFill>
              <a:latin typeface="Calibri"/>
            </a:endParaRPr>
          </a:p>
        </p:txBody>
      </p:sp>
    </p:spTree>
    <p:extLst>
      <p:ext uri="{BB962C8B-B14F-4D97-AF65-F5344CB8AC3E}">
        <p14:creationId xmlns:p14="http://schemas.microsoft.com/office/powerpoint/2010/main" val="20833571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9961" y="1062681"/>
            <a:ext cx="10801865" cy="5461686"/>
          </a:xfrm>
        </p:spPr>
        <p:txBody>
          <a:bodyPr>
            <a:noAutofit/>
          </a:bodyPr>
          <a:lstStyle/>
          <a:p>
            <a:pPr marL="0" indent="0">
              <a:buNone/>
            </a:pPr>
            <a:r>
              <a:rPr lang="en-IN" sz="4800" b="1" dirty="0">
                <a:solidFill>
                  <a:srgbClr val="FF0000"/>
                </a:solidFill>
                <a:latin typeface="Times New Roman" panose="02020603050405020304" pitchFamily="18" charset="0"/>
                <a:cs typeface="Times New Roman" panose="02020603050405020304" pitchFamily="18" charset="0"/>
              </a:rPr>
              <a:t>Wal-Mart</a:t>
            </a:r>
            <a:endParaRPr lang="en-IN" sz="4800" dirty="0" smtClean="0">
              <a:solidFill>
                <a:srgbClr val="FF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
            </a:pPr>
            <a:endParaRPr lang="en-IN" sz="3200" b="1" dirty="0" smtClean="0">
              <a:solidFill>
                <a:srgbClr val="FF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IN" sz="3200" dirty="0" smtClean="0">
                <a:latin typeface="Times New Roman" panose="02020603050405020304" pitchFamily="18" charset="0"/>
                <a:cs typeface="Times New Roman" panose="02020603050405020304" pitchFamily="18" charset="0"/>
              </a:rPr>
              <a:t>Supermarkets </a:t>
            </a:r>
            <a:r>
              <a:rPr lang="en-IN" sz="3200" dirty="0">
                <a:latin typeface="Times New Roman" panose="02020603050405020304" pitchFamily="18" charset="0"/>
                <a:cs typeface="Times New Roman" panose="02020603050405020304" pitchFamily="18" charset="0"/>
              </a:rPr>
              <a:t>from India and other countries that have build their businesses with a </a:t>
            </a:r>
            <a:r>
              <a:rPr lang="en-IN" sz="3200" dirty="0">
                <a:solidFill>
                  <a:srgbClr val="FF0000"/>
                </a:solidFill>
                <a:latin typeface="Times New Roman" panose="02020603050405020304" pitchFamily="18" charset="0"/>
                <a:cs typeface="Times New Roman" panose="02020603050405020304" pitchFamily="18" charset="0"/>
              </a:rPr>
              <a:t>core </a:t>
            </a:r>
            <a:r>
              <a:rPr lang="en-IN" sz="3200" dirty="0" smtClean="0">
                <a:solidFill>
                  <a:srgbClr val="FF0000"/>
                </a:solidFill>
                <a:latin typeface="Times New Roman" panose="02020603050405020304" pitchFamily="18" charset="0"/>
                <a:cs typeface="Times New Roman" panose="02020603050405020304" pitchFamily="18" charset="0"/>
              </a:rPr>
              <a:t>proposition__________. </a:t>
            </a:r>
            <a:r>
              <a:rPr lang="en-IN" sz="3200" b="1" dirty="0" err="1">
                <a:latin typeface="Times New Roman" panose="02020603050405020304" pitchFamily="18" charset="0"/>
                <a:cs typeface="Times New Roman" panose="02020603050405020304" pitchFamily="18" charset="0"/>
              </a:rPr>
              <a:t>DMart</a:t>
            </a:r>
            <a:r>
              <a:rPr lang="en-IN" sz="3200" b="1" dirty="0">
                <a:latin typeface="Times New Roman" panose="02020603050405020304" pitchFamily="18" charset="0"/>
                <a:cs typeface="Times New Roman" panose="02020603050405020304" pitchFamily="18" charset="0"/>
              </a:rPr>
              <a:t>, Costco, </a:t>
            </a:r>
            <a:r>
              <a:rPr lang="en-IN" sz="3200" b="1" dirty="0" smtClean="0">
                <a:latin typeface="Times New Roman" panose="02020603050405020304" pitchFamily="18" charset="0"/>
                <a:cs typeface="Times New Roman" panose="02020603050405020304" pitchFamily="18" charset="0"/>
              </a:rPr>
              <a:t>Wal-Mart. </a:t>
            </a:r>
            <a:r>
              <a:rPr lang="en-IN" sz="3200" dirty="0" smtClean="0">
                <a:latin typeface="Times New Roman" panose="02020603050405020304" pitchFamily="18" charset="0"/>
                <a:cs typeface="Times New Roman" panose="02020603050405020304" pitchFamily="18" charset="0"/>
              </a:rPr>
              <a:t>Customer </a:t>
            </a:r>
            <a:r>
              <a:rPr lang="en-IN" sz="3200" dirty="0">
                <a:latin typeface="Times New Roman" panose="02020603050405020304" pitchFamily="18" charset="0"/>
                <a:cs typeface="Times New Roman" panose="02020603050405020304" pitchFamily="18" charset="0"/>
              </a:rPr>
              <a:t>behaviour doesn’t change a lot as per geographies when you talk about shopping for daily needs. </a:t>
            </a:r>
            <a:r>
              <a:rPr lang="en-IN" sz="3200" dirty="0" smtClean="0">
                <a:latin typeface="Times New Roman" panose="02020603050405020304" pitchFamily="18" charset="0"/>
                <a:cs typeface="Times New Roman" panose="02020603050405020304" pitchFamily="18" charset="0"/>
              </a:rPr>
              <a:t>A </a:t>
            </a:r>
            <a:r>
              <a:rPr lang="en-IN" sz="3200" dirty="0">
                <a:latin typeface="Times New Roman" panose="02020603050405020304" pitchFamily="18" charset="0"/>
                <a:cs typeface="Times New Roman" panose="02020603050405020304" pitchFamily="18" charset="0"/>
              </a:rPr>
              <a:t>majority of the customers across geographies seek </a:t>
            </a:r>
            <a:r>
              <a:rPr lang="en-IN" sz="3200" dirty="0" smtClean="0">
                <a:solidFill>
                  <a:srgbClr val="FF0000"/>
                </a:solidFill>
                <a:latin typeface="Times New Roman" panose="02020603050405020304" pitchFamily="18" charset="0"/>
                <a:cs typeface="Times New Roman" panose="02020603050405020304" pitchFamily="18" charset="0"/>
              </a:rPr>
              <a:t>___________ </a:t>
            </a:r>
            <a:r>
              <a:rPr lang="en-IN" sz="3200" dirty="0">
                <a:solidFill>
                  <a:srgbClr val="FF0000"/>
                </a:solidFill>
                <a:latin typeface="Times New Roman" panose="02020603050405020304" pitchFamily="18" charset="0"/>
                <a:cs typeface="Times New Roman" panose="02020603050405020304" pitchFamily="18" charset="0"/>
              </a:rPr>
              <a:t>in their daily </a:t>
            </a:r>
            <a:r>
              <a:rPr lang="en-IN" sz="3200" dirty="0" smtClean="0">
                <a:solidFill>
                  <a:srgbClr val="FF0000"/>
                </a:solidFill>
                <a:latin typeface="Times New Roman" panose="02020603050405020304" pitchFamily="18" charset="0"/>
                <a:cs typeface="Times New Roman" panose="02020603050405020304" pitchFamily="18" charset="0"/>
              </a:rPr>
              <a:t>shopping. </a:t>
            </a:r>
            <a:endParaRPr lang="en-IN" sz="3200" b="1" dirty="0">
              <a:solidFill>
                <a:srgbClr val="FF0000"/>
              </a:solidFill>
              <a:latin typeface="Times New Roman" panose="02020603050405020304" pitchFamily="18" charset="0"/>
              <a:cs typeface="Times New Roman" panose="02020603050405020304" pitchFamily="18" charset="0"/>
            </a:endParaRPr>
          </a:p>
          <a:p>
            <a:endParaRPr lang="en-IN" sz="3200" dirty="0"/>
          </a:p>
        </p:txBody>
      </p:sp>
    </p:spTree>
    <p:extLst>
      <p:ext uri="{BB962C8B-B14F-4D97-AF65-F5344CB8AC3E}">
        <p14:creationId xmlns:p14="http://schemas.microsoft.com/office/powerpoint/2010/main" val="3426538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tse4.mm.bing.net/th?id=OIP.6zsShEjpNuTXRCNpNu9noAHaHy&amp;pid=Api&amp;P=0&amp;h=18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09041" y="4114005"/>
            <a:ext cx="1628775" cy="1714500"/>
          </a:xfrm>
          <a:prstGeom prst="rect">
            <a:avLst/>
          </a:prstGeom>
          <a:noFill/>
          <a:extLst>
            <a:ext uri="{909E8E84-426E-40DD-AFC4-6F175D3DCCD1}">
              <a14:hiddenFill xmlns:a14="http://schemas.microsoft.com/office/drawing/2010/main">
                <a:solidFill>
                  <a:srgbClr val="FFFFFF"/>
                </a:solidFill>
              </a14:hiddenFill>
            </a:ext>
          </a:extLst>
        </p:spPr>
      </p:pic>
      <p:pic>
        <p:nvPicPr>
          <p:cNvPr id="8194" name="Picture 2" descr="https://tse4.mm.bing.net/th?id=OIP.ti5JN7qkPWPkohs4Jrq7WwHaHa&amp;pid=Api&amp;P=0&amp;h=18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56673" y="577850"/>
            <a:ext cx="1714500" cy="1714500"/>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https://tse4.mm.bing.net/th?id=OIP.FcxVV_lQWTkBDkCA2tPvFgHaFo&amp;pid=Api&amp;P=0&amp;h=18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80417" y="2292350"/>
            <a:ext cx="2257425" cy="1714500"/>
          </a:xfrm>
          <a:prstGeom prst="rect">
            <a:avLst/>
          </a:prstGeom>
          <a:noFill/>
          <a:extLst>
            <a:ext uri="{909E8E84-426E-40DD-AFC4-6F175D3DCCD1}">
              <a14:hiddenFill xmlns:a14="http://schemas.microsoft.com/office/drawing/2010/main">
                <a:solidFill>
                  <a:srgbClr val="FFFFFF"/>
                </a:solidFill>
              </a14:hiddenFill>
            </a:ext>
          </a:extLst>
        </p:spPr>
      </p:pic>
      <p:pic>
        <p:nvPicPr>
          <p:cNvPr id="8200" name="Picture 8" descr="https://tse1.mm.bing.net/th?id=OIP.I3FASGUfiJkvkGhvL_fDYwHaE5&amp;pid=Api&amp;P=0&amp;h=18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20118" y="3363722"/>
            <a:ext cx="2926644" cy="1936750"/>
          </a:xfrm>
          <a:prstGeom prst="rect">
            <a:avLst/>
          </a:prstGeom>
          <a:noFill/>
          <a:extLst>
            <a:ext uri="{909E8E84-426E-40DD-AFC4-6F175D3DCCD1}">
              <a14:hiddenFill xmlns:a14="http://schemas.microsoft.com/office/drawing/2010/main">
                <a:solidFill>
                  <a:srgbClr val="FFFFFF"/>
                </a:solidFill>
              </a14:hiddenFill>
            </a:ext>
          </a:extLst>
        </p:spPr>
      </p:pic>
      <p:pic>
        <p:nvPicPr>
          <p:cNvPr id="8204" name="Picture 12" descr="https://tse4.mm.bing.net/th?id=OIP.ECZH97kVH4EQadq5Pvg1EwHaFj&amp;pid=Api&amp;P=0&amp;h=18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09258" y="993344"/>
            <a:ext cx="2875007" cy="2156255"/>
          </a:xfrm>
          <a:prstGeom prst="rect">
            <a:avLst/>
          </a:prstGeom>
          <a:noFill/>
          <a:extLst>
            <a:ext uri="{909E8E84-426E-40DD-AFC4-6F175D3DCCD1}">
              <a14:hiddenFill xmlns:a14="http://schemas.microsoft.com/office/drawing/2010/main">
                <a:solidFill>
                  <a:srgbClr val="FFFFFF"/>
                </a:solidFill>
              </a14:hiddenFill>
            </a:ext>
          </a:extLst>
        </p:spPr>
      </p:pic>
      <p:pic>
        <p:nvPicPr>
          <p:cNvPr id="8206" name="Picture 14" descr="https://stimg2.cardekho.com/images/carNewsimages/userimages/650X420/26588/1610265416909/NThingsYouShouldKnow.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66608" y="993345"/>
            <a:ext cx="3078704" cy="21562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61320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 name="Picture 2"/>
          <p:cNvPicPr/>
          <p:nvPr/>
        </p:nvPicPr>
        <p:blipFill rotWithShape="1">
          <a:blip r:embed="rId2"/>
          <a:srcRect r="2838" b="3598"/>
          <a:stretch/>
        </p:blipFill>
        <p:spPr>
          <a:xfrm>
            <a:off x="3108259" y="1043189"/>
            <a:ext cx="6254682" cy="5519299"/>
          </a:xfrm>
          <a:prstGeom prst="rect">
            <a:avLst/>
          </a:prstGeom>
          <a:ln>
            <a:noFill/>
          </a:ln>
        </p:spPr>
      </p:pic>
      <p:sp>
        <p:nvSpPr>
          <p:cNvPr id="2" name="TextBox 1"/>
          <p:cNvSpPr txBox="1"/>
          <p:nvPr/>
        </p:nvSpPr>
        <p:spPr>
          <a:xfrm>
            <a:off x="3425780" y="259552"/>
            <a:ext cx="5821251" cy="584775"/>
          </a:xfrm>
          <a:prstGeom prst="rect">
            <a:avLst/>
          </a:prstGeom>
          <a:solidFill>
            <a:schemeClr val="tx1">
              <a:lumMod val="85000"/>
              <a:lumOff val="15000"/>
            </a:schemeClr>
          </a:solidFill>
        </p:spPr>
        <p:txBody>
          <a:bodyPr wrap="square" rtlCol="0">
            <a:spAutoFit/>
          </a:bodyPr>
          <a:lstStyle/>
          <a:p>
            <a:pPr algn="ctr"/>
            <a:r>
              <a:rPr lang="en-IN" sz="3200" b="1" dirty="0" smtClean="0">
                <a:solidFill>
                  <a:srgbClr val="FF0000"/>
                </a:solidFill>
                <a:latin typeface="Times New Roman" panose="02020603050405020304" pitchFamily="18" charset="0"/>
                <a:cs typeface="Times New Roman" panose="02020603050405020304" pitchFamily="18" charset="0"/>
              </a:rPr>
              <a:t>4 Types of buying </a:t>
            </a:r>
            <a:r>
              <a:rPr lang="en-IN" sz="3200" b="1" dirty="0" err="1" smtClean="0">
                <a:solidFill>
                  <a:srgbClr val="FF0000"/>
                </a:solidFill>
                <a:latin typeface="Times New Roman" panose="02020603050405020304" pitchFamily="18" charset="0"/>
                <a:cs typeface="Times New Roman" panose="02020603050405020304" pitchFamily="18" charset="0"/>
              </a:rPr>
              <a:t>behviour</a:t>
            </a:r>
            <a:endParaRPr lang="en-IN" sz="32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92779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 name="Picture 2"/>
          <p:cNvPicPr/>
          <p:nvPr/>
        </p:nvPicPr>
        <p:blipFill rotWithShape="1">
          <a:blip r:embed="rId2"/>
          <a:srcRect t="1511"/>
          <a:stretch/>
        </p:blipFill>
        <p:spPr>
          <a:xfrm>
            <a:off x="1121980" y="807308"/>
            <a:ext cx="9653112" cy="5420497"/>
          </a:xfrm>
          <a:prstGeom prst="rect">
            <a:avLst/>
          </a:prstGeom>
          <a:ln>
            <a:noFill/>
          </a:ln>
        </p:spPr>
      </p:pic>
    </p:spTree>
    <p:extLst>
      <p:ext uri="{BB962C8B-B14F-4D97-AF65-F5344CB8AC3E}">
        <p14:creationId xmlns:p14="http://schemas.microsoft.com/office/powerpoint/2010/main" val="11460783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77502" y="3468581"/>
            <a:ext cx="9144000" cy="2387600"/>
          </a:xfrm>
        </p:spPr>
        <p:txBody>
          <a:bodyPr>
            <a:normAutofit fontScale="90000"/>
          </a:bodyPr>
          <a:lstStyle/>
          <a:p>
            <a:r>
              <a:rPr lang="en-IN" b="1" dirty="0" smtClean="0"/>
              <a:t>Marketing </a:t>
            </a:r>
            <a:r>
              <a:rPr lang="en-IN" b="1" dirty="0" smtClean="0">
                <a:solidFill>
                  <a:srgbClr val="FF0000"/>
                </a:solidFill>
              </a:rPr>
              <a:t>Research</a:t>
            </a:r>
            <a:br>
              <a:rPr lang="en-IN" b="1" dirty="0" smtClean="0">
                <a:solidFill>
                  <a:srgbClr val="FF0000"/>
                </a:solidFill>
              </a:rPr>
            </a:br>
            <a:r>
              <a:rPr lang="en-IN" b="1" dirty="0">
                <a:solidFill>
                  <a:srgbClr val="FF0000"/>
                </a:solidFill>
              </a:rPr>
              <a:t/>
            </a:r>
            <a:br>
              <a:rPr lang="en-IN" b="1" dirty="0">
                <a:solidFill>
                  <a:srgbClr val="FF0000"/>
                </a:solidFill>
              </a:rPr>
            </a:br>
            <a:r>
              <a:rPr lang="en-IN" b="1" dirty="0" smtClean="0">
                <a:solidFill>
                  <a:srgbClr val="FF0000"/>
                </a:solidFill>
              </a:rPr>
              <a:t/>
            </a:r>
            <a:br>
              <a:rPr lang="en-IN" b="1" dirty="0" smtClean="0">
                <a:solidFill>
                  <a:srgbClr val="FF0000"/>
                </a:solidFill>
              </a:rPr>
            </a:br>
            <a:endParaRPr lang="en-IN" b="1" dirty="0">
              <a:solidFill>
                <a:srgbClr val="FF0000"/>
              </a:solidFill>
            </a:endParaRPr>
          </a:p>
        </p:txBody>
      </p:sp>
    </p:spTree>
    <p:extLst>
      <p:ext uri="{BB962C8B-B14F-4D97-AF65-F5344CB8AC3E}">
        <p14:creationId xmlns:p14="http://schemas.microsoft.com/office/powerpoint/2010/main" val="14353372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1320" y="1027664"/>
            <a:ext cx="9366325" cy="5137640"/>
          </a:xfrm>
        </p:spPr>
        <p:txBody>
          <a:bodyPr>
            <a:noAutofit/>
          </a:bodyPr>
          <a:lstStyle/>
          <a:p>
            <a:r>
              <a:rPr lang="en-IN" sz="2800" dirty="0" smtClean="0">
                <a:solidFill>
                  <a:schemeClr val="tx1"/>
                </a:solidFill>
              </a:rPr>
              <a:t/>
            </a:r>
            <a:br>
              <a:rPr lang="en-IN" sz="2800" dirty="0" smtClean="0">
                <a:solidFill>
                  <a:schemeClr val="tx1"/>
                </a:solidFill>
              </a:rPr>
            </a:br>
            <a:r>
              <a:rPr lang="en-IN" sz="2800" dirty="0">
                <a:solidFill>
                  <a:schemeClr val="tx1"/>
                </a:solidFill>
              </a:rPr>
              <a:t/>
            </a:r>
            <a:br>
              <a:rPr lang="en-IN" sz="2800" dirty="0">
                <a:solidFill>
                  <a:schemeClr val="tx1"/>
                </a:solidFill>
              </a:rPr>
            </a:br>
            <a:r>
              <a:rPr lang="en-IN" sz="2800" dirty="0">
                <a:solidFill>
                  <a:schemeClr val="tx1"/>
                </a:solidFill>
              </a:rPr>
              <a:t>Re </a:t>
            </a:r>
            <a:r>
              <a:rPr lang="en-IN" sz="2800" dirty="0" smtClean="0">
                <a:solidFill>
                  <a:schemeClr val="tx1"/>
                </a:solidFill>
              </a:rPr>
              <a:t>(again) – </a:t>
            </a:r>
            <a:r>
              <a:rPr lang="en-IN" sz="2800" dirty="0" smtClean="0">
                <a:solidFill>
                  <a:srgbClr val="FF0000"/>
                </a:solidFill>
              </a:rPr>
              <a:t>search</a:t>
            </a:r>
            <a:r>
              <a:rPr lang="en-IN" sz="2800" dirty="0" smtClean="0">
                <a:solidFill>
                  <a:schemeClr val="tx1"/>
                </a:solidFill>
              </a:rPr>
              <a:t/>
            </a:r>
            <a:br>
              <a:rPr lang="en-IN" sz="2800" dirty="0" smtClean="0">
                <a:solidFill>
                  <a:schemeClr val="tx1"/>
                </a:solidFill>
              </a:rPr>
            </a:br>
            <a:r>
              <a:rPr lang="en-IN" sz="2800" dirty="0" smtClean="0">
                <a:solidFill>
                  <a:schemeClr val="tx1"/>
                </a:solidFill>
              </a:rPr>
              <a:t/>
            </a:r>
            <a:br>
              <a:rPr lang="en-IN" sz="2800" dirty="0" smtClean="0">
                <a:solidFill>
                  <a:schemeClr val="tx1"/>
                </a:solidFill>
              </a:rPr>
            </a:br>
            <a:r>
              <a:rPr lang="en-IN" sz="2800" dirty="0" smtClean="0">
                <a:solidFill>
                  <a:schemeClr val="tx1"/>
                </a:solidFill>
              </a:rPr>
              <a:t>A </a:t>
            </a:r>
            <a:r>
              <a:rPr lang="en-IN" sz="2800" dirty="0" smtClean="0">
                <a:solidFill>
                  <a:srgbClr val="FF0000"/>
                </a:solidFill>
              </a:rPr>
              <a:t>systematized effort </a:t>
            </a:r>
            <a:r>
              <a:rPr lang="en-IN" sz="2800" dirty="0" smtClean="0">
                <a:solidFill>
                  <a:schemeClr val="tx1"/>
                </a:solidFill>
              </a:rPr>
              <a:t>to gain knowledge.</a:t>
            </a:r>
            <a:br>
              <a:rPr lang="en-IN" sz="2800" dirty="0" smtClean="0">
                <a:solidFill>
                  <a:schemeClr val="tx1"/>
                </a:solidFill>
              </a:rPr>
            </a:br>
            <a:r>
              <a:rPr lang="en-IN" sz="2800" dirty="0" smtClean="0">
                <a:solidFill>
                  <a:schemeClr val="tx1"/>
                </a:solidFill>
              </a:rPr>
              <a:t/>
            </a:r>
            <a:br>
              <a:rPr lang="en-IN" sz="2800" dirty="0" smtClean="0">
                <a:solidFill>
                  <a:schemeClr val="tx1"/>
                </a:solidFill>
              </a:rPr>
            </a:br>
            <a:r>
              <a:rPr lang="en-IN" sz="2800" dirty="0" smtClean="0">
                <a:solidFill>
                  <a:schemeClr val="tx1"/>
                </a:solidFill>
              </a:rPr>
              <a:t>An </a:t>
            </a:r>
            <a:r>
              <a:rPr lang="en-IN" sz="2800" dirty="0" smtClean="0">
                <a:solidFill>
                  <a:srgbClr val="FF0000"/>
                </a:solidFill>
              </a:rPr>
              <a:t>original</a:t>
            </a:r>
            <a:r>
              <a:rPr lang="en-IN" sz="2800" dirty="0" smtClean="0">
                <a:solidFill>
                  <a:schemeClr val="tx1"/>
                </a:solidFill>
              </a:rPr>
              <a:t> contribution to the existing stock of knowledge making for its advancement.</a:t>
            </a:r>
            <a:br>
              <a:rPr lang="en-IN" sz="2800" dirty="0" smtClean="0">
                <a:solidFill>
                  <a:schemeClr val="tx1"/>
                </a:solidFill>
              </a:rPr>
            </a:br>
            <a:r>
              <a:rPr lang="en-IN" sz="2800" dirty="0">
                <a:solidFill>
                  <a:schemeClr val="tx1"/>
                </a:solidFill>
              </a:rPr>
              <a:t/>
            </a:r>
            <a:br>
              <a:rPr lang="en-IN" sz="2800" dirty="0">
                <a:solidFill>
                  <a:schemeClr val="tx1"/>
                </a:solidFill>
              </a:rPr>
            </a:br>
            <a:r>
              <a:rPr lang="en-IN" sz="2800" dirty="0" smtClean="0">
                <a:solidFill>
                  <a:schemeClr val="tx1"/>
                </a:solidFill>
              </a:rPr>
              <a:t/>
            </a:r>
            <a:br>
              <a:rPr lang="en-IN" sz="2800" dirty="0" smtClean="0">
                <a:solidFill>
                  <a:schemeClr val="tx1"/>
                </a:solidFill>
              </a:rPr>
            </a:br>
            <a:endParaRPr lang="en-IN" sz="2800" dirty="0">
              <a:solidFill>
                <a:schemeClr val="tx1"/>
              </a:solidFill>
            </a:endParaRPr>
          </a:p>
        </p:txBody>
      </p:sp>
    </p:spTree>
    <p:extLst>
      <p:ext uri="{BB962C8B-B14F-4D97-AF65-F5344CB8AC3E}">
        <p14:creationId xmlns:p14="http://schemas.microsoft.com/office/powerpoint/2010/main" val="12182723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VICKS</a:t>
            </a:r>
            <a:endParaRPr lang="en-IN" dirty="0">
              <a:solidFill>
                <a:srgbClr val="FF0000"/>
              </a:solidFill>
            </a:endParaRPr>
          </a:p>
        </p:txBody>
      </p:sp>
      <p:sp>
        <p:nvSpPr>
          <p:cNvPr id="3" name="Content Placeholder 2"/>
          <p:cNvSpPr>
            <a:spLocks noGrp="1"/>
          </p:cNvSpPr>
          <p:nvPr>
            <p:ph idx="1"/>
          </p:nvPr>
        </p:nvSpPr>
        <p:spPr>
          <a:xfrm>
            <a:off x="838200" y="2506662"/>
            <a:ext cx="10515600" cy="4351338"/>
          </a:xfrm>
        </p:spPr>
        <p:txBody>
          <a:bodyPr/>
          <a:lstStyle/>
          <a:p>
            <a:pPr algn="just"/>
            <a:r>
              <a:rPr lang="en-IN" dirty="0" smtClean="0"/>
              <a:t>Research conducted in Mumbai indicated that Indian </a:t>
            </a:r>
            <a:r>
              <a:rPr lang="en-IN" dirty="0" smtClean="0">
                <a:solidFill>
                  <a:srgbClr val="FF0000"/>
                </a:solidFill>
              </a:rPr>
              <a:t>mothers</a:t>
            </a:r>
            <a:r>
              <a:rPr lang="en-IN" dirty="0" smtClean="0"/>
              <a:t> were </a:t>
            </a:r>
            <a:r>
              <a:rPr lang="en-IN" dirty="0" smtClean="0">
                <a:solidFill>
                  <a:srgbClr val="FF0000"/>
                </a:solidFill>
              </a:rPr>
              <a:t>worried</a:t>
            </a:r>
            <a:r>
              <a:rPr lang="en-IN" dirty="0" smtClean="0"/>
              <a:t> about giving </a:t>
            </a:r>
            <a:r>
              <a:rPr lang="en-IN" dirty="0" smtClean="0">
                <a:solidFill>
                  <a:srgbClr val="FF0000"/>
                </a:solidFill>
              </a:rPr>
              <a:t>internal consumption medicine </a:t>
            </a:r>
            <a:r>
              <a:rPr lang="en-IN" dirty="0" smtClean="0"/>
              <a:t>(Syrups and Tablets) to their kids as they felt that giving such medicines might </a:t>
            </a:r>
            <a:r>
              <a:rPr lang="en-IN" dirty="0" smtClean="0">
                <a:solidFill>
                  <a:srgbClr val="FF0000"/>
                </a:solidFill>
              </a:rPr>
              <a:t>negatively affect </a:t>
            </a:r>
            <a:r>
              <a:rPr lang="en-IN" dirty="0" smtClean="0"/>
              <a:t>their child’s health. P &amp; G used this piece of information to </a:t>
            </a:r>
            <a:r>
              <a:rPr lang="en-IN" dirty="0" smtClean="0">
                <a:solidFill>
                  <a:srgbClr val="FF0000"/>
                </a:solidFill>
              </a:rPr>
              <a:t>promote Vicks </a:t>
            </a:r>
            <a:r>
              <a:rPr lang="en-IN" dirty="0" err="1" smtClean="0">
                <a:solidFill>
                  <a:srgbClr val="FF0000"/>
                </a:solidFill>
              </a:rPr>
              <a:t>VapoRub</a:t>
            </a:r>
            <a:r>
              <a:rPr lang="en-IN" dirty="0" smtClean="0"/>
              <a:t>, which could be applied </a:t>
            </a:r>
            <a:r>
              <a:rPr lang="en-IN" dirty="0" smtClean="0">
                <a:solidFill>
                  <a:srgbClr val="FF0000"/>
                </a:solidFill>
              </a:rPr>
              <a:t>externally</a:t>
            </a:r>
            <a:r>
              <a:rPr lang="en-IN" dirty="0" smtClean="0"/>
              <a:t> to give relief from common cold. </a:t>
            </a:r>
            <a:endParaRPr lang="en-IN" dirty="0"/>
          </a:p>
        </p:txBody>
      </p:sp>
      <p:pic>
        <p:nvPicPr>
          <p:cNvPr id="3074" name="Picture 2" descr="https://tse3.mm.bing.net/th?id=OIP.RuqPzIdp_Jhe7rbYKyKj-gHaFg&amp;pid=Api&amp;P=0&amp;h=18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3337" y="792162"/>
            <a:ext cx="2305050" cy="171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76754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TIDE-In</a:t>
            </a:r>
            <a:r>
              <a:rPr lang="en-IN" dirty="0" smtClean="0"/>
              <a:t> home visit- </a:t>
            </a:r>
            <a:r>
              <a:rPr lang="en-IN" sz="6600" b="1" dirty="0" smtClean="0">
                <a:solidFill>
                  <a:srgbClr val="FF0000"/>
                </a:solidFill>
              </a:rPr>
              <a:t>ODOUR</a:t>
            </a:r>
            <a:endParaRPr lang="en-IN" b="1" dirty="0">
              <a:solidFill>
                <a:srgbClr val="FF0000"/>
              </a:solidFill>
            </a:endParaRPr>
          </a:p>
        </p:txBody>
      </p:sp>
      <p:sp>
        <p:nvSpPr>
          <p:cNvPr id="3" name="Content Placeholder 2"/>
          <p:cNvSpPr>
            <a:spLocks noGrp="1"/>
          </p:cNvSpPr>
          <p:nvPr>
            <p:ph idx="1"/>
          </p:nvPr>
        </p:nvSpPr>
        <p:spPr>
          <a:xfrm>
            <a:off x="838200" y="1825625"/>
            <a:ext cx="10515600" cy="4351338"/>
          </a:xfrm>
        </p:spPr>
        <p:txBody>
          <a:bodyPr>
            <a:normAutofit fontScale="92500" lnSpcReduction="20000"/>
          </a:bodyPr>
          <a:lstStyle/>
          <a:p>
            <a:pPr algn="just"/>
            <a:r>
              <a:rPr lang="en-IN" dirty="0" smtClean="0"/>
              <a:t>The company used in home visits to interview customers who had recently purchased a P &amp; G product. </a:t>
            </a:r>
            <a:r>
              <a:rPr lang="en-IN" dirty="0" smtClean="0">
                <a:solidFill>
                  <a:srgbClr val="FF0000"/>
                </a:solidFill>
              </a:rPr>
              <a:t>Observation how they do daily chores </a:t>
            </a:r>
            <a:r>
              <a:rPr lang="en-IN" dirty="0" smtClean="0"/>
              <a:t>(</a:t>
            </a:r>
            <a:r>
              <a:rPr lang="en-IN" dirty="0" err="1" smtClean="0"/>
              <a:t>Eg</a:t>
            </a:r>
            <a:r>
              <a:rPr lang="en-IN" dirty="0" smtClean="0"/>
              <a:t>. Washing clothes, utensils). Interview about, the purpose for which product was purchased, actual conditions under which the product was used, problems encountered. Could suggest modifications, attributes desired from product. </a:t>
            </a:r>
          </a:p>
          <a:p>
            <a:pPr algn="just"/>
            <a:r>
              <a:rPr lang="en-IN" dirty="0" smtClean="0"/>
              <a:t>When P&amp;G was </a:t>
            </a:r>
            <a:r>
              <a:rPr lang="en-IN" dirty="0" smtClean="0">
                <a:solidFill>
                  <a:srgbClr val="FF0000"/>
                </a:solidFill>
              </a:rPr>
              <a:t>exploring Eastern European</a:t>
            </a:r>
            <a:r>
              <a:rPr lang="en-IN" dirty="0" smtClean="0"/>
              <a:t> Market they observed that most of the </a:t>
            </a:r>
            <a:r>
              <a:rPr lang="en-IN" dirty="0" smtClean="0">
                <a:solidFill>
                  <a:srgbClr val="FF0000"/>
                </a:solidFill>
              </a:rPr>
              <a:t>flats </a:t>
            </a:r>
            <a:r>
              <a:rPr lang="en-IN" dirty="0" smtClean="0"/>
              <a:t>in the region </a:t>
            </a:r>
            <a:r>
              <a:rPr lang="en-IN" dirty="0" smtClean="0">
                <a:solidFill>
                  <a:srgbClr val="FF0000"/>
                </a:solidFill>
              </a:rPr>
              <a:t>were small</a:t>
            </a:r>
            <a:r>
              <a:rPr lang="en-IN" dirty="0" smtClean="0"/>
              <a:t>, P&amp;G researchers also noticed that in many cases the </a:t>
            </a:r>
            <a:r>
              <a:rPr lang="en-IN" dirty="0" smtClean="0">
                <a:solidFill>
                  <a:srgbClr val="FF0000"/>
                </a:solidFill>
              </a:rPr>
              <a:t>bathroom was adjacent </a:t>
            </a:r>
            <a:r>
              <a:rPr lang="en-IN" dirty="0" smtClean="0"/>
              <a:t>to the living room, and the </a:t>
            </a:r>
            <a:r>
              <a:rPr lang="en-IN" dirty="0" smtClean="0">
                <a:solidFill>
                  <a:srgbClr val="FF0000"/>
                </a:solidFill>
              </a:rPr>
              <a:t>smell of laundry detergent </a:t>
            </a:r>
            <a:r>
              <a:rPr lang="en-IN" dirty="0" smtClean="0"/>
              <a:t>permeated the flat when clothes were washed. Since </a:t>
            </a:r>
            <a:r>
              <a:rPr lang="en-IN" dirty="0" smtClean="0">
                <a:solidFill>
                  <a:srgbClr val="FF0000"/>
                </a:solidFill>
              </a:rPr>
              <a:t>inferior detergents</a:t>
            </a:r>
            <a:r>
              <a:rPr lang="en-IN" dirty="0" smtClean="0"/>
              <a:t>, were being used, the </a:t>
            </a:r>
            <a:r>
              <a:rPr lang="en-IN" sz="3500" dirty="0" smtClean="0">
                <a:solidFill>
                  <a:srgbClr val="FF0000"/>
                </a:solidFill>
              </a:rPr>
              <a:t>odour </a:t>
            </a:r>
            <a:r>
              <a:rPr lang="en-IN" dirty="0" smtClean="0">
                <a:solidFill>
                  <a:srgbClr val="FF0000"/>
                </a:solidFill>
              </a:rPr>
              <a:t>was not only strong </a:t>
            </a:r>
            <a:r>
              <a:rPr lang="en-IN" dirty="0" smtClean="0"/>
              <a:t>but offensive. During P&amp;G’s research customers only articulated the need for good cleansing power but P&amp;G realized that a pleasant fragrance was equally important.</a:t>
            </a:r>
            <a:endParaRPr lang="en-IN" dirty="0"/>
          </a:p>
        </p:txBody>
      </p:sp>
      <p:pic>
        <p:nvPicPr>
          <p:cNvPr id="4100" name="Picture 4" descr="https://tse4.mm.bing.net/th?id=OIP.kTjxS9HaRY4FUa5uVggqowHaEK&amp;pid=Api&amp;P=0&amp;h=18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0011" y="402630"/>
            <a:ext cx="2223204" cy="12505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98250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38188"/>
            <a:ext cx="10515600" cy="1325563"/>
          </a:xfrm>
        </p:spPr>
        <p:txBody>
          <a:bodyPr/>
          <a:lstStyle/>
          <a:p>
            <a:r>
              <a:rPr lang="en-IN" dirty="0" smtClean="0">
                <a:solidFill>
                  <a:srgbClr val="FF0000"/>
                </a:solidFill>
              </a:rPr>
              <a:t>P &amp; G- Research Facility</a:t>
            </a:r>
            <a:endParaRPr lang="en-IN" dirty="0">
              <a:solidFill>
                <a:srgbClr val="FF0000"/>
              </a:solidFill>
            </a:endParaRPr>
          </a:p>
        </p:txBody>
      </p:sp>
      <p:sp>
        <p:nvSpPr>
          <p:cNvPr id="3" name="Content Placeholder 2"/>
          <p:cNvSpPr>
            <a:spLocks noGrp="1"/>
          </p:cNvSpPr>
          <p:nvPr>
            <p:ph idx="1"/>
          </p:nvPr>
        </p:nvSpPr>
        <p:spPr>
          <a:xfrm>
            <a:off x="838200" y="2671763"/>
            <a:ext cx="10515600" cy="3505200"/>
          </a:xfrm>
        </p:spPr>
        <p:txBody>
          <a:bodyPr/>
          <a:lstStyle/>
          <a:p>
            <a:pPr marL="0" indent="0" algn="just">
              <a:buNone/>
            </a:pPr>
            <a:r>
              <a:rPr lang="en-IN" dirty="0" smtClean="0"/>
              <a:t>P &amp; G believes in the value of consumer ideas, so much that they have </a:t>
            </a:r>
            <a:r>
              <a:rPr lang="en-IN" dirty="0" smtClean="0">
                <a:solidFill>
                  <a:srgbClr val="FF0000"/>
                </a:solidFill>
              </a:rPr>
              <a:t>built a special facility</a:t>
            </a:r>
            <a:r>
              <a:rPr lang="en-IN" dirty="0" smtClean="0"/>
              <a:t> to ensure the interaction is as dynamic and inspirational as possible. About </a:t>
            </a:r>
            <a:r>
              <a:rPr lang="en-IN" dirty="0" smtClean="0">
                <a:solidFill>
                  <a:srgbClr val="FF0000"/>
                </a:solidFill>
              </a:rPr>
              <a:t>30 miles outside Cincinnati</a:t>
            </a:r>
            <a:r>
              <a:rPr lang="en-IN" dirty="0" smtClean="0"/>
              <a:t>, inside a non descript building, P&amp;G designed and created a </a:t>
            </a:r>
            <a:r>
              <a:rPr lang="en-IN" dirty="0" smtClean="0">
                <a:solidFill>
                  <a:srgbClr val="FF0000"/>
                </a:solidFill>
              </a:rPr>
              <a:t>typical consumers home and a store</a:t>
            </a:r>
            <a:r>
              <a:rPr lang="en-IN" dirty="0" smtClean="0"/>
              <a:t>. Consumers are invited in to help P&amp;G design new products and refine others that are already on the shelves. The consumers become participants to the point of having a shower and giving the product team feedback on the </a:t>
            </a:r>
            <a:r>
              <a:rPr lang="en-IN" dirty="0" smtClean="0">
                <a:solidFill>
                  <a:srgbClr val="FF0000"/>
                </a:solidFill>
              </a:rPr>
              <a:t>size and scent of soaps</a:t>
            </a:r>
            <a:r>
              <a:rPr lang="en-IN" dirty="0" smtClean="0"/>
              <a:t>.</a:t>
            </a:r>
            <a:endParaRPr lang="en-IN" dirty="0"/>
          </a:p>
        </p:txBody>
      </p:sp>
      <p:pic>
        <p:nvPicPr>
          <p:cNvPr id="5124" name="Picture 4" descr="https://i.pinimg.com/originals/17/0d/8c/170d8cd8929dcd39f375632ee9dc5bed.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24862" y="614363"/>
            <a:ext cx="1275389" cy="1911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44739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1475" y="274638"/>
            <a:ext cx="11658599" cy="6278562"/>
          </a:xfrm>
        </p:spPr>
        <p:txBody>
          <a:bodyPr>
            <a:noAutofit/>
          </a:bodyPr>
          <a:lstStyle/>
          <a:p>
            <a:r>
              <a:rPr lang="en-IN" sz="3200" b="1" dirty="0" err="1"/>
              <a:t>Maruti</a:t>
            </a:r>
            <a:r>
              <a:rPr lang="en-IN" sz="3200" b="1" dirty="0"/>
              <a:t>- Big Data </a:t>
            </a:r>
            <a:r>
              <a:rPr lang="en-IN" sz="2000" b="1" dirty="0"/>
              <a:t/>
            </a:r>
            <a:br>
              <a:rPr lang="en-IN" sz="2000" b="1" dirty="0"/>
            </a:br>
            <a:r>
              <a:rPr lang="en-IN" sz="2000" b="1" dirty="0"/>
              <a:t/>
            </a:r>
            <a:br>
              <a:rPr lang="en-IN" sz="2000" b="1" dirty="0"/>
            </a:br>
            <a:r>
              <a:rPr lang="en-IN" sz="2400" dirty="0" smtClean="0"/>
              <a:t>The </a:t>
            </a:r>
            <a:r>
              <a:rPr lang="en-IN" sz="2400" dirty="0">
                <a:solidFill>
                  <a:srgbClr val="FF0000"/>
                </a:solidFill>
              </a:rPr>
              <a:t>company added more than </a:t>
            </a:r>
            <a:r>
              <a:rPr lang="en-IN" sz="2400" dirty="0"/>
              <a:t>1 lakh customers using Big Data analytics</a:t>
            </a:r>
            <a:r>
              <a:rPr lang="en-IN" sz="2400" dirty="0">
                <a:solidFill>
                  <a:srgbClr val="FF0000"/>
                </a:solidFill>
              </a:rPr>
              <a:t>, </a:t>
            </a:r>
            <a:br>
              <a:rPr lang="en-IN" sz="2400" dirty="0">
                <a:solidFill>
                  <a:srgbClr val="FF0000"/>
                </a:solidFill>
              </a:rPr>
            </a:br>
            <a:r>
              <a:rPr lang="en-IN" sz="2400" dirty="0" smtClean="0">
                <a:solidFill>
                  <a:srgbClr val="FF0000"/>
                </a:solidFill>
              </a:rPr>
              <a:t/>
            </a:r>
            <a:br>
              <a:rPr lang="en-IN" sz="2400" dirty="0" smtClean="0">
                <a:solidFill>
                  <a:srgbClr val="FF0000"/>
                </a:solidFill>
              </a:rPr>
            </a:br>
            <a:r>
              <a:rPr lang="en-IN" sz="2400" dirty="0" smtClean="0"/>
              <a:t>Big </a:t>
            </a:r>
            <a:r>
              <a:rPr lang="en-IN" sz="2400" dirty="0"/>
              <a:t>Data analysis has helped spot trends and gain business insights for the auto major</a:t>
            </a:r>
            <a:r>
              <a:rPr lang="en-IN" sz="2400" dirty="0">
                <a:solidFill>
                  <a:srgbClr val="FF0000"/>
                </a:solidFill>
              </a:rPr>
              <a:t>. </a:t>
            </a:r>
            <a:br>
              <a:rPr lang="en-IN" sz="2400" dirty="0">
                <a:solidFill>
                  <a:srgbClr val="FF0000"/>
                </a:solidFill>
              </a:rPr>
            </a:br>
            <a:r>
              <a:rPr lang="en-IN" sz="2400" dirty="0" smtClean="0">
                <a:solidFill>
                  <a:srgbClr val="FF0000"/>
                </a:solidFill>
              </a:rPr>
              <a:t>40% of </a:t>
            </a:r>
            <a:r>
              <a:rPr lang="en-IN" sz="2400" dirty="0" err="1" smtClean="0">
                <a:solidFill>
                  <a:srgbClr val="FF0000"/>
                </a:solidFill>
              </a:rPr>
              <a:t>Maruti’s</a:t>
            </a:r>
            <a:r>
              <a:rPr lang="en-IN" sz="2400" dirty="0" smtClean="0">
                <a:solidFill>
                  <a:srgbClr val="FF0000"/>
                </a:solidFill>
              </a:rPr>
              <a:t> customers are </a:t>
            </a:r>
            <a:r>
              <a:rPr lang="en-IN" sz="2400" dirty="0" smtClean="0"/>
              <a:t>first-time buyers,</a:t>
            </a:r>
            <a:r>
              <a:rPr lang="en-IN" sz="2400" dirty="0" smtClean="0">
                <a:solidFill>
                  <a:srgbClr val="FF0000"/>
                </a:solidFill>
              </a:rPr>
              <a:t/>
            </a:r>
            <a:br>
              <a:rPr lang="en-IN" sz="2400" dirty="0" smtClean="0">
                <a:solidFill>
                  <a:srgbClr val="FF0000"/>
                </a:solidFill>
              </a:rPr>
            </a:br>
            <a:r>
              <a:rPr lang="en-IN" sz="2400" dirty="0" smtClean="0">
                <a:solidFill>
                  <a:srgbClr val="FF0000"/>
                </a:solidFill>
              </a:rPr>
              <a:t>30% are </a:t>
            </a:r>
            <a:r>
              <a:rPr lang="en-IN" sz="2400" dirty="0" smtClean="0">
                <a:solidFill>
                  <a:schemeClr val="tx1">
                    <a:lumMod val="95000"/>
                  </a:schemeClr>
                </a:solidFill>
              </a:rPr>
              <a:t>replacement</a:t>
            </a:r>
            <a:r>
              <a:rPr lang="en-IN" sz="2400" dirty="0" smtClean="0">
                <a:solidFill>
                  <a:srgbClr val="FF0000"/>
                </a:solidFill>
              </a:rPr>
              <a:t> buyer customers while another </a:t>
            </a:r>
            <a:br>
              <a:rPr lang="en-IN" sz="2400" dirty="0" smtClean="0">
                <a:solidFill>
                  <a:srgbClr val="FF0000"/>
                </a:solidFill>
              </a:rPr>
            </a:br>
            <a:r>
              <a:rPr lang="en-IN" sz="2400" dirty="0" smtClean="0">
                <a:solidFill>
                  <a:srgbClr val="FF0000"/>
                </a:solidFill>
              </a:rPr>
              <a:t>30% are looking for </a:t>
            </a:r>
            <a:r>
              <a:rPr lang="en-IN" sz="2400" dirty="0" smtClean="0"/>
              <a:t>additional car. </a:t>
            </a:r>
            <a:r>
              <a:rPr lang="en-IN" sz="2400" dirty="0">
                <a:solidFill>
                  <a:srgbClr val="FF0000"/>
                </a:solidFill>
              </a:rPr>
              <a:t/>
            </a:r>
            <a:br>
              <a:rPr lang="en-IN" sz="2400" dirty="0">
                <a:solidFill>
                  <a:srgbClr val="FF0000"/>
                </a:solidFill>
              </a:rPr>
            </a:br>
            <a:r>
              <a:rPr lang="en-IN" sz="2400" dirty="0" smtClean="0">
                <a:solidFill>
                  <a:srgbClr val="FF0000"/>
                </a:solidFill>
              </a:rPr>
              <a:t/>
            </a:r>
            <a:br>
              <a:rPr lang="en-IN" sz="2400" dirty="0" smtClean="0">
                <a:solidFill>
                  <a:srgbClr val="FF0000"/>
                </a:solidFill>
              </a:rPr>
            </a:br>
            <a:r>
              <a:rPr lang="en-IN" sz="2400" dirty="0" smtClean="0">
                <a:solidFill>
                  <a:srgbClr val="FF0000"/>
                </a:solidFill>
              </a:rPr>
              <a:t>Data </a:t>
            </a:r>
            <a:r>
              <a:rPr lang="en-IN" sz="2400" dirty="0">
                <a:solidFill>
                  <a:srgbClr val="FF0000"/>
                </a:solidFill>
              </a:rPr>
              <a:t>helps identify customers </a:t>
            </a:r>
            <a:r>
              <a:rPr lang="en-IN" sz="2400" dirty="0"/>
              <a:t>when they are ready for </a:t>
            </a:r>
            <a:r>
              <a:rPr lang="en-IN" sz="2400" dirty="0" smtClean="0"/>
              <a:t>changing/upgrading </a:t>
            </a:r>
            <a:r>
              <a:rPr lang="en-IN" sz="2400" dirty="0"/>
              <a:t>an older car.</a:t>
            </a:r>
            <a:br>
              <a:rPr lang="en-IN" sz="2400" dirty="0"/>
            </a:br>
            <a:r>
              <a:rPr lang="en-IN" sz="2400" dirty="0" smtClean="0"/>
              <a:t/>
            </a:r>
            <a:br>
              <a:rPr lang="en-IN" sz="2400" dirty="0" smtClean="0"/>
            </a:br>
            <a:r>
              <a:rPr lang="en-IN" sz="2400" dirty="0" smtClean="0"/>
              <a:t>The </a:t>
            </a:r>
            <a:r>
              <a:rPr lang="en-IN" sz="2400" dirty="0"/>
              <a:t>workshop data </a:t>
            </a:r>
            <a:r>
              <a:rPr lang="en-IN" sz="2400" dirty="0" smtClean="0">
                <a:solidFill>
                  <a:srgbClr val="FF0000"/>
                </a:solidFill>
              </a:rPr>
              <a:t>helps </a:t>
            </a:r>
            <a:r>
              <a:rPr lang="en-IN" sz="2400" dirty="0">
                <a:solidFill>
                  <a:srgbClr val="FF0000"/>
                </a:solidFill>
              </a:rPr>
              <a:t>company spot accidental or damaged </a:t>
            </a:r>
            <a:r>
              <a:rPr lang="en-IN" sz="2400" dirty="0"/>
              <a:t>cars </a:t>
            </a:r>
            <a:r>
              <a:rPr lang="en-IN" sz="2400" dirty="0">
                <a:solidFill>
                  <a:srgbClr val="FF0000"/>
                </a:solidFill>
              </a:rPr>
              <a:t>an opportunity for sales. </a:t>
            </a:r>
            <a:br>
              <a:rPr lang="en-IN" sz="2400" dirty="0">
                <a:solidFill>
                  <a:srgbClr val="FF0000"/>
                </a:solidFill>
              </a:rPr>
            </a:br>
            <a:r>
              <a:rPr lang="en-IN" sz="2400" dirty="0" smtClean="0">
                <a:solidFill>
                  <a:srgbClr val="FF0000"/>
                </a:solidFill>
              </a:rPr>
              <a:t/>
            </a:r>
            <a:br>
              <a:rPr lang="en-IN" sz="2400" dirty="0" smtClean="0">
                <a:solidFill>
                  <a:srgbClr val="FF0000"/>
                </a:solidFill>
              </a:rPr>
            </a:br>
            <a:r>
              <a:rPr lang="en-IN" sz="2400" dirty="0" smtClean="0">
                <a:solidFill>
                  <a:srgbClr val="FF0000"/>
                </a:solidFill>
              </a:rPr>
              <a:t>Another </a:t>
            </a:r>
            <a:r>
              <a:rPr lang="en-IN" sz="2400" dirty="0">
                <a:solidFill>
                  <a:srgbClr val="FF0000"/>
                </a:solidFill>
              </a:rPr>
              <a:t>example is spotting </a:t>
            </a:r>
            <a:r>
              <a:rPr lang="en-IN" sz="2400" dirty="0"/>
              <a:t>customers whose cars are more than 8 year old </a:t>
            </a:r>
            <a:r>
              <a:rPr lang="en-IN" sz="2400" dirty="0">
                <a:solidFill>
                  <a:srgbClr val="FF0000"/>
                </a:solidFill>
              </a:rPr>
              <a:t>or when </a:t>
            </a:r>
            <a:r>
              <a:rPr lang="en-IN" sz="2400" dirty="0"/>
              <a:t>their children are college-goers providing opportunity to acquire another customer/second car.</a:t>
            </a:r>
            <a:r>
              <a:rPr lang="en-IN" sz="2400" dirty="0">
                <a:solidFill>
                  <a:srgbClr val="FF0000"/>
                </a:solidFill>
              </a:rPr>
              <a:t/>
            </a:r>
            <a:br>
              <a:rPr lang="en-IN" sz="2400" dirty="0">
                <a:solidFill>
                  <a:srgbClr val="FF0000"/>
                </a:solidFill>
              </a:rPr>
            </a:br>
            <a:endParaRPr lang="en-IN" sz="2400" dirty="0">
              <a:solidFill>
                <a:srgbClr val="FF0000"/>
              </a:solidFill>
            </a:endParaRPr>
          </a:p>
        </p:txBody>
      </p:sp>
      <p:pic>
        <p:nvPicPr>
          <p:cNvPr id="6148" name="Picture 4" descr="https://tse1.mm.bing.net/th?id=OIP.goe4QgH3iBnesD1rA9xw-gHaEK&amp;pid=Api&amp;P=0&amp;h=18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46017" y="274638"/>
            <a:ext cx="3048000" cy="171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51565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8643" y="1576344"/>
            <a:ext cx="10934164" cy="5281656"/>
          </a:xfrm>
        </p:spPr>
        <p:txBody>
          <a:bodyPr>
            <a:noAutofit/>
          </a:bodyPr>
          <a:lstStyle/>
          <a:p>
            <a:r>
              <a:rPr lang="en-IN" sz="2000" dirty="0"/>
              <a:t/>
            </a:r>
            <a:br>
              <a:rPr lang="en-IN" sz="2000" dirty="0"/>
            </a:br>
            <a:r>
              <a:rPr lang="en-IN" sz="2000" dirty="0" smtClean="0"/>
              <a:t/>
            </a:r>
            <a:br>
              <a:rPr lang="en-IN" sz="2000" dirty="0" smtClean="0"/>
            </a:br>
            <a:r>
              <a:rPr lang="en-IN" sz="2000" dirty="0"/>
              <a:t/>
            </a:r>
            <a:br>
              <a:rPr lang="en-IN" sz="2000" dirty="0"/>
            </a:br>
            <a:r>
              <a:rPr lang="en-IN" sz="2000" dirty="0" smtClean="0"/>
              <a:t/>
            </a:r>
            <a:br>
              <a:rPr lang="en-IN" sz="2000" dirty="0" smtClean="0"/>
            </a:br>
            <a:r>
              <a:rPr lang="en-IN" sz="2000" dirty="0" smtClean="0"/>
              <a:t>Based </a:t>
            </a:r>
            <a:r>
              <a:rPr lang="en-IN" sz="2000" dirty="0"/>
              <a:t>on that survey, the </a:t>
            </a:r>
            <a:r>
              <a:rPr lang="en-IN" sz="2000" b="1" dirty="0"/>
              <a:t>Good Knight Dengue Awareness Report</a:t>
            </a:r>
            <a:r>
              <a:rPr lang="en-IN" sz="2000" dirty="0"/>
              <a:t>, reveals that </a:t>
            </a:r>
            <a:br>
              <a:rPr lang="en-IN" sz="2000" dirty="0"/>
            </a:br>
            <a:r>
              <a:rPr lang="en-IN" sz="2000" dirty="0"/>
              <a:t>85 percent of the respondents know dengue is a life-threatening disease, </a:t>
            </a:r>
            <a:r>
              <a:rPr lang="en-IN" sz="2000" dirty="0" smtClean="0">
                <a:solidFill>
                  <a:srgbClr val="FF0000"/>
                </a:solidFill>
              </a:rPr>
              <a:t>but </a:t>
            </a:r>
            <a:r>
              <a:rPr lang="en-IN" sz="2000" dirty="0">
                <a:solidFill>
                  <a:srgbClr val="FF0000"/>
                </a:solidFill>
              </a:rPr>
              <a:t>around </a:t>
            </a:r>
            <a:r>
              <a:rPr lang="en-IN" sz="2000" dirty="0" smtClean="0">
                <a:solidFill>
                  <a:srgbClr val="FF0000"/>
                </a:solidFill>
              </a:rPr>
              <a:t/>
            </a:r>
            <a:br>
              <a:rPr lang="en-IN" sz="2000" dirty="0" smtClean="0">
                <a:solidFill>
                  <a:srgbClr val="FF0000"/>
                </a:solidFill>
              </a:rPr>
            </a:br>
            <a:r>
              <a:rPr lang="en-IN" sz="2000" dirty="0" smtClean="0">
                <a:solidFill>
                  <a:srgbClr val="FF0000"/>
                </a:solidFill>
              </a:rPr>
              <a:t>92 </a:t>
            </a:r>
            <a:r>
              <a:rPr lang="en-IN" sz="2000" dirty="0">
                <a:solidFill>
                  <a:srgbClr val="FF0000"/>
                </a:solidFill>
              </a:rPr>
              <a:t>percent population is unaware that day mosquitoes cause dengue</a:t>
            </a:r>
            <a:r>
              <a:rPr lang="en-IN" sz="2000" dirty="0"/>
              <a:t>. </a:t>
            </a:r>
            <a:br>
              <a:rPr lang="en-IN" sz="2000" dirty="0"/>
            </a:br>
            <a:r>
              <a:rPr lang="en-IN" sz="2000" dirty="0"/>
              <a:t/>
            </a:r>
            <a:br>
              <a:rPr lang="en-IN" sz="2000" dirty="0"/>
            </a:br>
            <a:r>
              <a:rPr lang="en-IN" sz="2000" dirty="0"/>
              <a:t>What’s even more startling is that </a:t>
            </a:r>
            <a:r>
              <a:rPr lang="en-IN" sz="2000" dirty="0" smtClean="0"/>
              <a:t/>
            </a:r>
            <a:br>
              <a:rPr lang="en-IN" sz="2000" dirty="0" smtClean="0"/>
            </a:br>
            <a:r>
              <a:rPr lang="en-IN" sz="2000" dirty="0" smtClean="0"/>
              <a:t>80 </a:t>
            </a:r>
            <a:r>
              <a:rPr lang="en-IN" sz="2000" dirty="0"/>
              <a:t>percent population agrees that mosquitoes are visible during the day but only </a:t>
            </a:r>
            <a:r>
              <a:rPr lang="en-IN" sz="2000" dirty="0" smtClean="0"/>
              <a:t/>
            </a:r>
            <a:br>
              <a:rPr lang="en-IN" sz="2000" dirty="0" smtClean="0"/>
            </a:br>
            <a:r>
              <a:rPr lang="en-IN" sz="2000" dirty="0" smtClean="0">
                <a:solidFill>
                  <a:srgbClr val="FF0000"/>
                </a:solidFill>
              </a:rPr>
              <a:t>8 </a:t>
            </a:r>
            <a:r>
              <a:rPr lang="en-IN" sz="2000" dirty="0">
                <a:solidFill>
                  <a:srgbClr val="FF0000"/>
                </a:solidFill>
              </a:rPr>
              <a:t>percent use any repellent format during daytime</a:t>
            </a:r>
            <a:r>
              <a:rPr lang="en-IN" sz="2000" dirty="0" smtClean="0">
                <a:solidFill>
                  <a:srgbClr val="FF0000"/>
                </a:solidFill>
              </a:rPr>
              <a:t>.</a:t>
            </a:r>
            <a:br>
              <a:rPr lang="en-IN" sz="2000" dirty="0" smtClean="0">
                <a:solidFill>
                  <a:srgbClr val="FF0000"/>
                </a:solidFill>
              </a:rPr>
            </a:br>
            <a:r>
              <a:rPr lang="en-IN" sz="2000" dirty="0" smtClean="0">
                <a:solidFill>
                  <a:srgbClr val="FF0000"/>
                </a:solidFill>
              </a:rPr>
              <a:t/>
            </a:r>
            <a:br>
              <a:rPr lang="en-IN" sz="2000" dirty="0" smtClean="0">
                <a:solidFill>
                  <a:srgbClr val="FF0000"/>
                </a:solidFill>
              </a:rPr>
            </a:br>
            <a:r>
              <a:rPr lang="en-IN" sz="2000" dirty="0" smtClean="0">
                <a:latin typeface="Times New Roman" pitchFamily="18" charset="0"/>
                <a:cs typeface="Times New Roman" pitchFamily="18" charset="0"/>
              </a:rPr>
              <a:t>With </a:t>
            </a:r>
            <a:r>
              <a:rPr lang="en-IN" sz="2000" dirty="0">
                <a:latin typeface="Times New Roman" pitchFamily="18" charset="0"/>
                <a:cs typeface="Times New Roman" pitchFamily="18" charset="0"/>
              </a:rPr>
              <a:t>the new campaign '</a:t>
            </a:r>
            <a:r>
              <a:rPr lang="en-IN" sz="2000" dirty="0" err="1">
                <a:latin typeface="Times New Roman" pitchFamily="18" charset="0"/>
                <a:cs typeface="Times New Roman" pitchFamily="18" charset="0"/>
              </a:rPr>
              <a:t>Subah</a:t>
            </a:r>
            <a:r>
              <a:rPr lang="en-IN" sz="2000" dirty="0">
                <a:latin typeface="Times New Roman" pitchFamily="18" charset="0"/>
                <a:cs typeface="Times New Roman" pitchFamily="18" charset="0"/>
              </a:rPr>
              <a:t> bolo Good Knight', Godrej's mosquito repellent brand Good Knight creates an effective case for itself by </a:t>
            </a:r>
            <a:r>
              <a:rPr lang="en-IN" sz="2000" dirty="0">
                <a:solidFill>
                  <a:srgbClr val="FF0000"/>
                </a:solidFill>
                <a:latin typeface="Times New Roman" pitchFamily="18" charset="0"/>
                <a:cs typeface="Times New Roman" pitchFamily="18" charset="0"/>
              </a:rPr>
              <a:t>urging consumers to use the product during daytime to prevent dengue. </a:t>
            </a:r>
            <a:r>
              <a:rPr lang="en-IN" sz="2000" dirty="0"/>
              <a:t/>
            </a:r>
            <a:br>
              <a:rPr lang="en-IN" sz="2000" dirty="0"/>
            </a:br>
            <a:r>
              <a:rPr lang="en-IN" sz="2000" dirty="0"/>
              <a:t/>
            </a:r>
            <a:br>
              <a:rPr lang="en-IN" sz="2000" dirty="0"/>
            </a:br>
            <a:endParaRPr lang="en-IN" sz="2000" dirty="0"/>
          </a:p>
        </p:txBody>
      </p:sp>
      <p:pic>
        <p:nvPicPr>
          <p:cNvPr id="3"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88643" y="465868"/>
            <a:ext cx="2963063" cy="19556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16638" r="1463" b="10604"/>
          <a:stretch/>
        </p:blipFill>
        <p:spPr bwMode="auto">
          <a:xfrm>
            <a:off x="4025870" y="574244"/>
            <a:ext cx="2933937" cy="1983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noChangeArrowheads="1"/>
          </p:cNvPicPr>
          <p:nvPr/>
        </p:nvPicPr>
        <p:blipFill rotWithShape="1">
          <a:blip r:embed="rId4">
            <a:extLst>
              <a:ext uri="{28A0092B-C50C-407E-A947-70E740481C1C}">
                <a14:useLocalDpi xmlns:a14="http://schemas.microsoft.com/office/drawing/2010/main" val="0"/>
              </a:ext>
            </a:extLst>
          </a:blip>
          <a:srcRect b="3623"/>
          <a:stretch/>
        </p:blipFill>
        <p:spPr bwMode="auto">
          <a:xfrm>
            <a:off x="7133972" y="274487"/>
            <a:ext cx="2191555" cy="1979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499692" y="574244"/>
            <a:ext cx="2060321" cy="1953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044235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8321" y="218941"/>
            <a:ext cx="8229600" cy="548680"/>
          </a:xfrm>
        </p:spPr>
        <p:txBody>
          <a:bodyPr>
            <a:normAutofit fontScale="90000"/>
          </a:bodyPr>
          <a:lstStyle/>
          <a:p>
            <a:pPr algn="ctr"/>
            <a:r>
              <a:rPr lang="en-IN" b="1" dirty="0" smtClean="0">
                <a:solidFill>
                  <a:srgbClr val="00B050"/>
                </a:solidFill>
              </a:rPr>
              <a:t>Research Process</a:t>
            </a:r>
            <a:endParaRPr lang="en-IN" b="1" dirty="0">
              <a:solidFill>
                <a:srgbClr val="00B050"/>
              </a:solidFill>
            </a:endParaRPr>
          </a:p>
        </p:txBody>
      </p:sp>
      <p:graphicFrame>
        <p:nvGraphicFramePr>
          <p:cNvPr id="4" name="Diagram 3"/>
          <p:cNvGraphicFramePr/>
          <p:nvPr>
            <p:extLst>
              <p:ext uri="{D42A27DB-BD31-4B8C-83A1-F6EECF244321}">
                <p14:modId xmlns:p14="http://schemas.microsoft.com/office/powerpoint/2010/main" val="4195895971"/>
              </p:ext>
            </p:extLst>
          </p:nvPr>
        </p:nvGraphicFramePr>
        <p:xfrm>
          <a:off x="3321059" y="916902"/>
          <a:ext cx="6096000" cy="56166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1170912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404664"/>
            <a:ext cx="10160000" cy="5996136"/>
          </a:xfrm>
        </p:spPr>
        <p:txBody>
          <a:bodyPr>
            <a:normAutofit fontScale="85000" lnSpcReduction="20000"/>
          </a:bodyPr>
          <a:lstStyle/>
          <a:p>
            <a:pPr marL="114300" indent="0">
              <a:buNone/>
            </a:pPr>
            <a:r>
              <a:rPr lang="en-IN" b="1" dirty="0" smtClean="0">
                <a:solidFill>
                  <a:srgbClr val="FF0000"/>
                </a:solidFill>
              </a:rPr>
              <a:t>Physical science</a:t>
            </a:r>
          </a:p>
          <a:p>
            <a:pPr marL="114300" indent="0">
              <a:buNone/>
            </a:pPr>
            <a:r>
              <a:rPr lang="en-IN" dirty="0" smtClean="0">
                <a:solidFill>
                  <a:srgbClr val="00B0F0"/>
                </a:solidFill>
              </a:rPr>
              <a:t>____________________</a:t>
            </a:r>
          </a:p>
          <a:p>
            <a:pPr marL="114300" indent="0">
              <a:buNone/>
            </a:pPr>
            <a:r>
              <a:rPr lang="en-IN" dirty="0" smtClean="0">
                <a:solidFill>
                  <a:srgbClr val="00B0F0"/>
                </a:solidFill>
              </a:rPr>
              <a:t>                           Social science</a:t>
            </a:r>
          </a:p>
          <a:p>
            <a:pPr marL="114300" indent="0">
              <a:buNone/>
            </a:pPr>
            <a:r>
              <a:rPr lang="en-IN" dirty="0">
                <a:solidFill>
                  <a:srgbClr val="00B0F0"/>
                </a:solidFill>
              </a:rPr>
              <a:t>	</a:t>
            </a:r>
            <a:r>
              <a:rPr lang="en-IN" dirty="0" smtClean="0">
                <a:solidFill>
                  <a:srgbClr val="00B0F0"/>
                </a:solidFill>
              </a:rPr>
              <a:t>	_______________________________________ </a:t>
            </a:r>
          </a:p>
          <a:p>
            <a:pPr marL="114300" indent="0">
              <a:buNone/>
            </a:pPr>
            <a:endParaRPr lang="en-IN" dirty="0">
              <a:solidFill>
                <a:srgbClr val="00B0F0"/>
              </a:solidFill>
            </a:endParaRPr>
          </a:p>
          <a:p>
            <a:pPr marL="114300" indent="0">
              <a:buNone/>
            </a:pPr>
            <a:endParaRPr lang="en-IN" dirty="0" smtClean="0">
              <a:solidFill>
                <a:srgbClr val="00B0F0"/>
              </a:solidFill>
            </a:endParaRPr>
          </a:p>
          <a:p>
            <a:pPr marL="114300" indent="0">
              <a:buNone/>
            </a:pPr>
            <a:r>
              <a:rPr lang="en-IN" dirty="0" smtClean="0">
                <a:solidFill>
                  <a:srgbClr val="FF0000"/>
                </a:solidFill>
              </a:rPr>
              <a:t>Length</a:t>
            </a:r>
            <a:r>
              <a:rPr lang="en-IN" dirty="0" smtClean="0">
                <a:solidFill>
                  <a:srgbClr val="00B0F0"/>
                </a:solidFill>
              </a:rPr>
              <a:t> 		Preference 		     Happiness</a:t>
            </a:r>
          </a:p>
          <a:p>
            <a:pPr marL="114300" indent="0">
              <a:buNone/>
            </a:pPr>
            <a:r>
              <a:rPr lang="en-IN" dirty="0" smtClean="0">
                <a:solidFill>
                  <a:srgbClr val="FF0000"/>
                </a:solidFill>
              </a:rPr>
              <a:t>Weight </a:t>
            </a:r>
            <a:r>
              <a:rPr lang="en-IN" dirty="0" smtClean="0">
                <a:solidFill>
                  <a:srgbClr val="00B0F0"/>
                </a:solidFill>
              </a:rPr>
              <a:t>		Attitude		     Creativity</a:t>
            </a:r>
          </a:p>
          <a:p>
            <a:pPr marL="114300" indent="0">
              <a:buNone/>
            </a:pPr>
            <a:r>
              <a:rPr lang="en-IN" dirty="0" smtClean="0">
                <a:solidFill>
                  <a:srgbClr val="00B0F0"/>
                </a:solidFill>
              </a:rPr>
              <a:t>___________________________________________________</a:t>
            </a:r>
          </a:p>
          <a:p>
            <a:pPr marL="114300" indent="0">
              <a:buNone/>
            </a:pPr>
            <a:r>
              <a:rPr lang="en-IN" dirty="0" smtClean="0">
                <a:solidFill>
                  <a:srgbClr val="FF0000"/>
                </a:solidFill>
              </a:rPr>
              <a:t>Easy 	</a:t>
            </a:r>
            <a:r>
              <a:rPr lang="en-IN" dirty="0" smtClean="0">
                <a:solidFill>
                  <a:srgbClr val="00B0F0"/>
                </a:solidFill>
              </a:rPr>
              <a:t>					Very Difficult</a:t>
            </a:r>
          </a:p>
          <a:p>
            <a:pPr marL="114300" indent="0">
              <a:buNone/>
            </a:pPr>
            <a:endParaRPr lang="en-IN" dirty="0">
              <a:solidFill>
                <a:srgbClr val="00B0F0"/>
              </a:solidFill>
            </a:endParaRPr>
          </a:p>
          <a:p>
            <a:pPr marL="114300" indent="0">
              <a:buNone/>
            </a:pPr>
            <a:endParaRPr lang="en-IN" dirty="0" smtClean="0">
              <a:solidFill>
                <a:srgbClr val="00B0F0"/>
              </a:solidFill>
            </a:endParaRPr>
          </a:p>
          <a:p>
            <a:pPr marL="114300" indent="0">
              <a:buNone/>
            </a:pPr>
            <a:endParaRPr lang="en-IN" dirty="0">
              <a:solidFill>
                <a:srgbClr val="00B0F0"/>
              </a:solidFill>
            </a:endParaRPr>
          </a:p>
          <a:p>
            <a:pPr marL="114300" indent="0">
              <a:buNone/>
            </a:pPr>
            <a:endParaRPr lang="en-IN" dirty="0" smtClean="0">
              <a:solidFill>
                <a:srgbClr val="00B0F0"/>
              </a:solidFill>
            </a:endParaRPr>
          </a:p>
          <a:p>
            <a:pPr marL="114300" indent="0">
              <a:buNone/>
            </a:pPr>
            <a:r>
              <a:rPr lang="en-IN" dirty="0" smtClean="0">
                <a:solidFill>
                  <a:srgbClr val="FF0000"/>
                </a:solidFill>
              </a:rPr>
              <a:t>Ratio 	</a:t>
            </a:r>
            <a:r>
              <a:rPr lang="en-IN" dirty="0" smtClean="0">
                <a:solidFill>
                  <a:srgbClr val="00B0F0"/>
                </a:solidFill>
              </a:rPr>
              <a:t>	Ordinal			Interval		Nominal</a:t>
            </a:r>
            <a:endParaRPr lang="en-IN" dirty="0">
              <a:solidFill>
                <a:srgbClr val="00B0F0"/>
              </a:solidFill>
            </a:endParaRPr>
          </a:p>
          <a:p>
            <a:endParaRPr lang="en-IN" dirty="0">
              <a:solidFill>
                <a:srgbClr val="00B0F0"/>
              </a:solidFill>
            </a:endParaRPr>
          </a:p>
          <a:p>
            <a:endParaRPr lang="en-IN" dirty="0" smtClean="0">
              <a:solidFill>
                <a:srgbClr val="00B0F0"/>
              </a:solidFill>
            </a:endParaRPr>
          </a:p>
          <a:p>
            <a:pPr marL="114300" indent="0">
              <a:buNone/>
            </a:pPr>
            <a:endParaRPr lang="en-IN" dirty="0">
              <a:solidFill>
                <a:srgbClr val="00B0F0"/>
              </a:solidFill>
            </a:endParaRPr>
          </a:p>
        </p:txBody>
      </p:sp>
    </p:spTree>
    <p:extLst>
      <p:ext uri="{BB962C8B-B14F-4D97-AF65-F5344CB8AC3E}">
        <p14:creationId xmlns:p14="http://schemas.microsoft.com/office/powerpoint/2010/main" val="31922074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3517" y="2204864"/>
            <a:ext cx="8749690" cy="2592288"/>
          </a:xfrm>
          <a:prstGeom prst="rect">
            <a:avLst/>
          </a:prstGeom>
        </p:spPr>
      </p:pic>
      <p:sp>
        <p:nvSpPr>
          <p:cNvPr id="3" name="Rectangle 2"/>
          <p:cNvSpPr/>
          <p:nvPr/>
        </p:nvSpPr>
        <p:spPr>
          <a:xfrm>
            <a:off x="4007768" y="908721"/>
            <a:ext cx="5976664" cy="1323439"/>
          </a:xfrm>
          <a:prstGeom prst="rect">
            <a:avLst/>
          </a:prstGeom>
        </p:spPr>
        <p:txBody>
          <a:bodyPr wrap="square">
            <a:spAutoFit/>
          </a:bodyPr>
          <a:lstStyle/>
          <a:p>
            <a:r>
              <a:rPr lang="en-IN" sz="4000" dirty="0">
                <a:solidFill>
                  <a:srgbClr val="FF0000"/>
                </a:solidFill>
              </a:rPr>
              <a:t>Likert (summated scale)</a:t>
            </a:r>
            <a:br>
              <a:rPr lang="en-IN" sz="4000" dirty="0">
                <a:solidFill>
                  <a:srgbClr val="FF0000"/>
                </a:solidFill>
              </a:rPr>
            </a:br>
            <a:endParaRPr lang="en-IN" sz="4000" dirty="0">
              <a:solidFill>
                <a:srgbClr val="FF0000"/>
              </a:solidFill>
            </a:endParaRPr>
          </a:p>
        </p:txBody>
      </p:sp>
    </p:spTree>
    <p:extLst>
      <p:ext uri="{BB962C8B-B14F-4D97-AF65-F5344CB8AC3E}">
        <p14:creationId xmlns:p14="http://schemas.microsoft.com/office/powerpoint/2010/main" val="225276888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27649" y="2027430"/>
            <a:ext cx="4384415" cy="3186312"/>
          </a:xfrm>
          <a:prstGeom prst="rect">
            <a:avLst/>
          </a:prstGeom>
        </p:spPr>
      </p:pic>
      <p:sp>
        <p:nvSpPr>
          <p:cNvPr id="2" name="TextBox 1"/>
          <p:cNvSpPr txBox="1"/>
          <p:nvPr/>
        </p:nvSpPr>
        <p:spPr>
          <a:xfrm>
            <a:off x="4020599" y="934430"/>
            <a:ext cx="4198513" cy="584775"/>
          </a:xfrm>
          <a:prstGeom prst="rect">
            <a:avLst/>
          </a:prstGeom>
          <a:noFill/>
        </p:spPr>
        <p:txBody>
          <a:bodyPr wrap="square" rtlCol="0">
            <a:spAutoFit/>
          </a:bodyPr>
          <a:lstStyle/>
          <a:p>
            <a:r>
              <a:rPr lang="en-IN" sz="3200" dirty="0" smtClean="0">
                <a:solidFill>
                  <a:srgbClr val="FF0000"/>
                </a:solidFill>
              </a:rPr>
              <a:t>Projective Techniques</a:t>
            </a:r>
            <a:endParaRPr lang="en-IN" sz="3200" dirty="0">
              <a:solidFill>
                <a:srgbClr val="FF0000"/>
              </a:solidFill>
            </a:endParaRPr>
          </a:p>
        </p:txBody>
      </p:sp>
    </p:spTree>
    <p:extLst>
      <p:ext uri="{BB962C8B-B14F-4D97-AF65-F5344CB8AC3E}">
        <p14:creationId xmlns:p14="http://schemas.microsoft.com/office/powerpoint/2010/main" val="329780393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Marketing </a:t>
            </a:r>
            <a:r>
              <a:rPr lang="en-IN" dirty="0" smtClean="0">
                <a:solidFill>
                  <a:srgbClr val="FF0000"/>
                </a:solidFill>
              </a:rPr>
              <a:t>Research</a:t>
            </a:r>
            <a:endParaRPr lang="en-IN" dirty="0">
              <a:solidFill>
                <a:srgbClr val="FF0000"/>
              </a:solidFill>
            </a:endParaRPr>
          </a:p>
        </p:txBody>
      </p:sp>
      <p:sp>
        <p:nvSpPr>
          <p:cNvPr id="3" name="Content Placeholder 2"/>
          <p:cNvSpPr>
            <a:spLocks noGrp="1"/>
          </p:cNvSpPr>
          <p:nvPr>
            <p:ph idx="1"/>
          </p:nvPr>
        </p:nvSpPr>
        <p:spPr>
          <a:xfrm>
            <a:off x="838200" y="1558344"/>
            <a:ext cx="10515600" cy="4618619"/>
          </a:xfrm>
        </p:spPr>
        <p:txBody>
          <a:bodyPr>
            <a:normAutofit/>
          </a:bodyPr>
          <a:lstStyle/>
          <a:p>
            <a:r>
              <a:rPr lang="en-IN" sz="3600" dirty="0" smtClean="0"/>
              <a:t>If you want to learn how a lion hunt/lives, don’t go to the </a:t>
            </a:r>
            <a:r>
              <a:rPr lang="en-IN" sz="3600" dirty="0" smtClean="0">
                <a:solidFill>
                  <a:srgbClr val="FF0000"/>
                </a:solidFill>
              </a:rPr>
              <a:t>ZOO</a:t>
            </a:r>
            <a:r>
              <a:rPr lang="en-IN" sz="3600" dirty="0" smtClean="0"/>
              <a:t>, go to the </a:t>
            </a:r>
            <a:r>
              <a:rPr lang="en-IN" sz="3600" dirty="0" smtClean="0">
                <a:solidFill>
                  <a:srgbClr val="FF0000"/>
                </a:solidFill>
              </a:rPr>
              <a:t>jungle</a:t>
            </a:r>
            <a:r>
              <a:rPr lang="en-IN" sz="3600" dirty="0" smtClean="0"/>
              <a:t>.</a:t>
            </a:r>
          </a:p>
          <a:p>
            <a:r>
              <a:rPr lang="en-IN" sz="3600" dirty="0" smtClean="0"/>
              <a:t>Study as a </a:t>
            </a:r>
            <a:r>
              <a:rPr lang="en-IN" sz="3600" dirty="0" smtClean="0">
                <a:solidFill>
                  <a:srgbClr val="FF0000"/>
                </a:solidFill>
              </a:rPr>
              <a:t>person not as a respondent</a:t>
            </a:r>
          </a:p>
          <a:p>
            <a:r>
              <a:rPr lang="en-IN" sz="3600" dirty="0" smtClean="0"/>
              <a:t>Research that connects with the </a:t>
            </a:r>
            <a:r>
              <a:rPr lang="en-IN" sz="3600" dirty="0" smtClean="0">
                <a:solidFill>
                  <a:srgbClr val="FF0000"/>
                </a:solidFill>
              </a:rPr>
              <a:t>inner life </a:t>
            </a:r>
            <a:r>
              <a:rPr lang="en-IN" sz="3600" dirty="0" smtClean="0"/>
              <a:t>of the customer not as a </a:t>
            </a:r>
            <a:r>
              <a:rPr lang="en-IN" sz="3600" dirty="0" smtClean="0">
                <a:solidFill>
                  <a:srgbClr val="FF0000"/>
                </a:solidFill>
              </a:rPr>
              <a:t>statistical construct.</a:t>
            </a:r>
          </a:p>
          <a:p>
            <a:pPr marL="0" indent="0">
              <a:buNone/>
            </a:pPr>
            <a:endParaRPr lang="en-IN" sz="3600" dirty="0"/>
          </a:p>
        </p:txBody>
      </p:sp>
      <p:pic>
        <p:nvPicPr>
          <p:cNvPr id="7172" name="Picture 4" descr="https://c1.staticflickr.com/3/2029/5719407072_d067db638e_b.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26720" b="1139"/>
          <a:stretch/>
        </p:blipFill>
        <p:spPr bwMode="auto">
          <a:xfrm>
            <a:off x="1984375" y="4752181"/>
            <a:ext cx="3616325" cy="1809749"/>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https://tse4.mm.bing.net/th?id=OIP.MfDTyzrwd1ONhg2kd38FEAHaFj&amp;pid=Api&amp;P=0&amp;h=180"/>
          <p:cNvPicPr>
            <a:picLocks noChangeAspect="1" noChangeArrowheads="1"/>
          </p:cNvPicPr>
          <p:nvPr/>
        </p:nvPicPr>
        <p:blipFill rotWithShape="1">
          <a:blip r:embed="rId3">
            <a:extLst>
              <a:ext uri="{28A0092B-C50C-407E-A947-70E740481C1C}">
                <a14:useLocalDpi xmlns:a14="http://schemas.microsoft.com/office/drawing/2010/main" val="0"/>
              </a:ext>
            </a:extLst>
          </a:blip>
          <a:srcRect t="14769" b="21898"/>
          <a:stretch/>
        </p:blipFill>
        <p:spPr bwMode="auto">
          <a:xfrm>
            <a:off x="6270625" y="4752181"/>
            <a:ext cx="3930649" cy="18670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29452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3184"/>
            <a:ext cx="10515600" cy="1120462"/>
          </a:xfrm>
          <a:solidFill>
            <a:srgbClr val="FFC000"/>
          </a:solidFill>
        </p:spPr>
        <p:txBody>
          <a:bodyPr>
            <a:normAutofit/>
          </a:bodyPr>
          <a:lstStyle/>
          <a:p>
            <a:pPr algn="ctr"/>
            <a:r>
              <a:rPr lang="en-IN" b="1" dirty="0">
                <a:latin typeface="Times New Roman" panose="02020603050405020304" pitchFamily="18" charset="0"/>
                <a:cs typeface="Times New Roman" panose="02020603050405020304" pitchFamily="18" charset="0"/>
              </a:rPr>
              <a:t>What is </a:t>
            </a:r>
            <a:r>
              <a:rPr lang="en-IN" b="1" dirty="0" err="1" smtClean="0">
                <a:latin typeface="Times New Roman" panose="02020603050405020304" pitchFamily="18" charset="0"/>
                <a:cs typeface="Times New Roman" panose="02020603050405020304" pitchFamily="18" charset="0"/>
              </a:rPr>
              <a:t>Omnichannel</a:t>
            </a:r>
            <a:r>
              <a:rPr lang="en-IN" b="1" dirty="0" smtClean="0">
                <a:latin typeface="Times New Roman" panose="02020603050405020304" pitchFamily="18" charset="0"/>
                <a:cs typeface="Times New Roman" panose="02020603050405020304" pitchFamily="18" charset="0"/>
              </a:rPr>
              <a:t> (O</a:t>
            </a:r>
            <a:r>
              <a:rPr lang="en-IN" b="1" dirty="0" smtClean="0">
                <a:solidFill>
                  <a:srgbClr val="FF0000"/>
                </a:solidFill>
                <a:latin typeface="Times New Roman" panose="02020603050405020304" pitchFamily="18" charset="0"/>
                <a:cs typeface="Times New Roman" panose="02020603050405020304" pitchFamily="18" charset="0"/>
              </a:rPr>
              <a:t>+</a:t>
            </a:r>
            <a:r>
              <a:rPr lang="en-IN" b="1" dirty="0" smtClean="0">
                <a:latin typeface="Times New Roman" panose="02020603050405020304" pitchFamily="18" charset="0"/>
                <a:cs typeface="Times New Roman" panose="02020603050405020304" pitchFamily="18" charset="0"/>
              </a:rPr>
              <a:t>O)</a:t>
            </a:r>
            <a:r>
              <a:rPr lang="en-IN" b="1"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81070"/>
            <a:ext cx="10515600" cy="4997003"/>
          </a:xfrm>
        </p:spPr>
        <p:txBody>
          <a:bodyPr>
            <a:normAutofit/>
          </a:bodyPr>
          <a:lstStyle/>
          <a:p>
            <a:pPr algn="just"/>
            <a:r>
              <a:rPr lang="en-US" sz="2400" dirty="0">
                <a:latin typeface="Times New Roman" panose="02020603050405020304" pitchFamily="18" charset="0"/>
                <a:cs typeface="Times New Roman" panose="02020603050405020304" pitchFamily="18" charset="0"/>
              </a:rPr>
              <a:t>The prefix </a:t>
            </a:r>
            <a:r>
              <a:rPr lang="en-US" sz="2400" dirty="0">
                <a:solidFill>
                  <a:srgbClr val="FF0000"/>
                </a:solidFill>
                <a:latin typeface="Times New Roman" panose="02020603050405020304" pitchFamily="18" charset="0"/>
                <a:cs typeface="Times New Roman" panose="02020603050405020304" pitchFamily="18" charset="0"/>
              </a:rPr>
              <a:t>“</a:t>
            </a:r>
            <a:r>
              <a:rPr lang="en-US" sz="2400" dirty="0" err="1">
                <a:solidFill>
                  <a:srgbClr val="FF0000"/>
                </a:solidFill>
                <a:latin typeface="Times New Roman" panose="02020603050405020304" pitchFamily="18" charset="0"/>
                <a:cs typeface="Times New Roman" panose="02020603050405020304" pitchFamily="18" charset="0"/>
              </a:rPr>
              <a:t>omni</a:t>
            </a:r>
            <a:r>
              <a:rPr lang="en-US" sz="2400" dirty="0">
                <a:solidFill>
                  <a:srgbClr val="FF0000"/>
                </a:solidFill>
                <a:latin typeface="Times New Roman" panose="02020603050405020304" pitchFamily="18" charset="0"/>
                <a:cs typeface="Times New Roman" panose="02020603050405020304" pitchFamily="18" charset="0"/>
              </a:rPr>
              <a:t>” means “all</a:t>
            </a:r>
            <a:r>
              <a:rPr lang="en-US" sz="2400" dirty="0">
                <a:latin typeface="Times New Roman" panose="02020603050405020304" pitchFamily="18" charset="0"/>
                <a:cs typeface="Times New Roman" panose="02020603050405020304" pitchFamily="18" charset="0"/>
              </a:rPr>
              <a:t>,” and “</a:t>
            </a:r>
            <a:r>
              <a:rPr lang="en-US" sz="2400" dirty="0">
                <a:solidFill>
                  <a:srgbClr val="FF0000"/>
                </a:solidFill>
                <a:latin typeface="Times New Roman" panose="02020603050405020304" pitchFamily="18" charset="0"/>
                <a:cs typeface="Times New Roman" panose="02020603050405020304" pitchFamily="18" charset="0"/>
              </a:rPr>
              <a:t>channel</a:t>
            </a:r>
            <a:r>
              <a:rPr lang="en-US" sz="2400" dirty="0">
                <a:latin typeface="Times New Roman" panose="02020603050405020304" pitchFamily="18" charset="0"/>
                <a:cs typeface="Times New Roman" panose="02020603050405020304" pitchFamily="18" charset="0"/>
              </a:rPr>
              <a:t>” is a reference to the many ways </a:t>
            </a:r>
            <a:r>
              <a:rPr lang="en-US" sz="2400" dirty="0">
                <a:solidFill>
                  <a:srgbClr val="FF0000"/>
                </a:solidFill>
                <a:latin typeface="Times New Roman" panose="02020603050405020304" pitchFamily="18" charset="0"/>
                <a:cs typeface="Times New Roman" panose="02020603050405020304" pitchFamily="18" charset="0"/>
              </a:rPr>
              <a:t>customers might interact</a:t>
            </a:r>
            <a:r>
              <a:rPr lang="en-US" sz="2400" dirty="0">
                <a:latin typeface="Times New Roman" panose="02020603050405020304" pitchFamily="18" charset="0"/>
                <a:cs typeface="Times New Roman" panose="02020603050405020304" pitchFamily="18" charset="0"/>
              </a:rPr>
              <a:t> with a company—in physical stores, by surfing the web, on social media, and in emails, apps, SMS, and other digital spaces</a:t>
            </a:r>
            <a:r>
              <a:rPr lang="en-US" sz="2400" dirty="0" smtClean="0">
                <a:latin typeface="Times New Roman" panose="02020603050405020304" pitchFamily="18" charset="0"/>
                <a:cs typeface="Times New Roman" panose="02020603050405020304" pitchFamily="18" charset="0"/>
              </a:rPr>
              <a:t>.</a:t>
            </a:r>
          </a:p>
          <a:p>
            <a:pPr algn="just"/>
            <a:r>
              <a:rPr lang="en-US" sz="2400" dirty="0" smtClean="0">
                <a:latin typeface="Times New Roman" panose="02020603050405020304" pitchFamily="18" charset="0"/>
                <a:cs typeface="Times New Roman" panose="02020603050405020304" pitchFamily="18" charset="0"/>
              </a:rPr>
              <a:t>Integration </a:t>
            </a:r>
            <a:r>
              <a:rPr lang="en-US" sz="2400" dirty="0">
                <a:latin typeface="Times New Roman" panose="02020603050405020304" pitchFamily="18" charset="0"/>
                <a:cs typeface="Times New Roman" panose="02020603050405020304" pitchFamily="18" charset="0"/>
              </a:rPr>
              <a:t>of all physical </a:t>
            </a:r>
            <a:r>
              <a:rPr lang="en-US" sz="2400" dirty="0" smtClean="0">
                <a:latin typeface="Times New Roman" panose="02020603050405020304" pitchFamily="18" charset="0"/>
                <a:cs typeface="Times New Roman" panose="02020603050405020304" pitchFamily="18" charset="0"/>
              </a:rPr>
              <a:t>channels</a:t>
            </a:r>
            <a:r>
              <a:rPr lang="en-US" sz="2400" dirty="0">
                <a:latin typeface="Times New Roman" panose="02020603050405020304" pitchFamily="18" charset="0"/>
                <a:cs typeface="Times New Roman" panose="02020603050405020304" pitchFamily="18" charset="0"/>
              </a:rPr>
              <a:t> </a:t>
            </a:r>
            <a:r>
              <a:rPr lang="en-US" sz="2400" dirty="0" smtClean="0">
                <a:solidFill>
                  <a:srgbClr val="FF0000"/>
                </a:solidFill>
                <a:latin typeface="Times New Roman" panose="02020603050405020304" pitchFamily="18" charset="0"/>
                <a:cs typeface="Times New Roman" panose="02020603050405020304" pitchFamily="18" charset="0"/>
              </a:rPr>
              <a:t>(offline</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and digital </a:t>
            </a:r>
            <a:r>
              <a:rPr lang="en-US" sz="2400" dirty="0" smtClean="0">
                <a:latin typeface="Times New Roman" panose="02020603050405020304" pitchFamily="18" charset="0"/>
                <a:cs typeface="Times New Roman" panose="02020603050405020304" pitchFamily="18" charset="0"/>
              </a:rPr>
              <a:t>channels </a:t>
            </a:r>
            <a:r>
              <a:rPr lang="en-US" sz="2400" dirty="0" smtClean="0">
                <a:solidFill>
                  <a:srgbClr val="FF0000"/>
                </a:solidFill>
                <a:latin typeface="Times New Roman" panose="02020603050405020304" pitchFamily="18" charset="0"/>
                <a:cs typeface="Times New Roman" panose="02020603050405020304" pitchFamily="18" charset="0"/>
              </a:rPr>
              <a:t>(online</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to offer a unified customer </a:t>
            </a:r>
            <a:r>
              <a:rPr lang="en-US" sz="2400" dirty="0" smtClean="0">
                <a:latin typeface="Times New Roman" panose="02020603050405020304" pitchFamily="18" charset="0"/>
                <a:cs typeface="Times New Roman" panose="02020603050405020304" pitchFamily="18" charset="0"/>
              </a:rPr>
              <a:t>experience</a:t>
            </a:r>
          </a:p>
          <a:p>
            <a:pPr algn="just"/>
            <a:endParaRPr lang="en-US" sz="2400" dirty="0">
              <a:latin typeface="Times New Roman" panose="02020603050405020304" pitchFamily="18" charset="0"/>
              <a:cs typeface="Times New Roman" panose="02020603050405020304" pitchFamily="18" charset="0"/>
            </a:endParaRPr>
          </a:p>
        </p:txBody>
      </p:sp>
      <p:pic>
        <p:nvPicPr>
          <p:cNvPr id="2050" name="Picture 2" descr="https://televerde.com/wp-content/uploads/2022/08/AdobeStock_425602820-scaled.jpe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91671" y="3476841"/>
            <a:ext cx="4904329" cy="316865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s://thumbs.dreamstime.com/z/omni-channel-concept-digital-marketing-online-shopping-i-illustration-eps-67401066.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3357" t="-6754" r="3357" b="6754"/>
          <a:stretch/>
        </p:blipFill>
        <p:spPr bwMode="auto">
          <a:xfrm>
            <a:off x="7384266" y="3142328"/>
            <a:ext cx="3158102" cy="33357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482375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77209" y="2783891"/>
            <a:ext cx="11062999" cy="3181082"/>
          </a:xfrm>
        </p:spPr>
        <p:txBody>
          <a:bodyPr>
            <a:noAutofit/>
          </a:bodyPr>
          <a:lstStyle/>
          <a:p>
            <a:r>
              <a:rPr lang="en-US" sz="1800" i="1" dirty="0">
                <a:solidFill>
                  <a:srgbClr val="FF0000"/>
                </a:solidFill>
                <a:latin typeface="Times New Roman" panose="02020603050405020304" pitchFamily="18" charset="0"/>
                <a:cs typeface="Times New Roman" panose="02020603050405020304" pitchFamily="18" charset="0"/>
              </a:rPr>
              <a:t>O</a:t>
            </a:r>
            <a:r>
              <a:rPr lang="en-US" sz="1800" i="1" dirty="0" smtClean="0">
                <a:solidFill>
                  <a:srgbClr val="FF0000"/>
                </a:solidFill>
                <a:latin typeface="Times New Roman" panose="02020603050405020304" pitchFamily="18" charset="0"/>
                <a:cs typeface="Times New Roman" panose="02020603050405020304" pitchFamily="18" charset="0"/>
              </a:rPr>
              <a:t>nline </a:t>
            </a:r>
            <a:r>
              <a:rPr lang="en-US" sz="1800" i="1" dirty="0">
                <a:solidFill>
                  <a:srgbClr val="FF0000"/>
                </a:solidFill>
                <a:latin typeface="Times New Roman" panose="02020603050405020304" pitchFamily="18" charset="0"/>
                <a:cs typeface="Times New Roman" panose="02020603050405020304" pitchFamily="18" charset="0"/>
              </a:rPr>
              <a:t>sale accounts for 10% of all </a:t>
            </a:r>
            <a:r>
              <a:rPr lang="en-US" sz="1800" i="1" dirty="0" smtClean="0">
                <a:solidFill>
                  <a:srgbClr val="FF0000"/>
                </a:solidFill>
                <a:latin typeface="Times New Roman" panose="02020603050405020304" pitchFamily="18" charset="0"/>
                <a:cs typeface="Times New Roman" panose="02020603050405020304" pitchFamily="18" charset="0"/>
              </a:rPr>
              <a:t>orders</a:t>
            </a:r>
            <a:endParaRPr lang="en-US" sz="1800" i="1" dirty="0" smtClean="0">
              <a:latin typeface="Times New Roman" panose="02020603050405020304" pitchFamily="18" charset="0"/>
              <a:cs typeface="Times New Roman" panose="02020603050405020304" pitchFamily="18" charset="0"/>
            </a:endParaRPr>
          </a:p>
          <a:p>
            <a:r>
              <a:rPr lang="en-US" sz="1800" i="1" dirty="0" smtClean="0">
                <a:solidFill>
                  <a:srgbClr val="FF0000"/>
                </a:solidFill>
                <a:latin typeface="Times New Roman" panose="02020603050405020304" pitchFamily="18" charset="0"/>
                <a:cs typeface="Times New Roman" panose="02020603050405020304" pitchFamily="18" charset="0"/>
              </a:rPr>
              <a:t>90</a:t>
            </a:r>
            <a:r>
              <a:rPr lang="en-US" sz="1800" i="1" dirty="0">
                <a:solidFill>
                  <a:srgbClr val="FF0000"/>
                </a:solidFill>
                <a:latin typeface="Times New Roman" panose="02020603050405020304" pitchFamily="18" charset="0"/>
                <a:cs typeface="Times New Roman" panose="02020603050405020304" pitchFamily="18" charset="0"/>
              </a:rPr>
              <a:t>% is leads generated online</a:t>
            </a:r>
            <a:r>
              <a:rPr lang="en-US" sz="1800" i="1" dirty="0">
                <a:latin typeface="Times New Roman" panose="02020603050405020304" pitchFamily="18" charset="0"/>
                <a:cs typeface="Times New Roman" panose="02020603050405020304" pitchFamily="18" charset="0"/>
              </a:rPr>
              <a:t> but concluded during in-store </a:t>
            </a:r>
            <a:r>
              <a:rPr lang="en-US" sz="1800" i="1" dirty="0" smtClean="0">
                <a:latin typeface="Times New Roman" panose="02020603050405020304" pitchFamily="18" charset="0"/>
                <a:cs typeface="Times New Roman" panose="02020603050405020304" pitchFamily="18" charset="0"/>
              </a:rPr>
              <a:t>visits</a:t>
            </a:r>
          </a:p>
          <a:p>
            <a:r>
              <a:rPr lang="en-US" sz="1800" i="1" dirty="0" err="1" smtClean="0">
                <a:latin typeface="Times New Roman" panose="02020603050405020304" pitchFamily="18" charset="0"/>
                <a:cs typeface="Times New Roman" panose="02020603050405020304" pitchFamily="18" charset="0"/>
              </a:rPr>
              <a:t>Tanishq’s</a:t>
            </a:r>
            <a:r>
              <a:rPr lang="en-US" sz="1800" i="1" dirty="0" smtClean="0">
                <a:latin typeface="Times New Roman" panose="02020603050405020304" pitchFamily="18" charset="0"/>
                <a:cs typeface="Times New Roman" panose="02020603050405020304" pitchFamily="18" charset="0"/>
              </a:rPr>
              <a:t> </a:t>
            </a:r>
            <a:r>
              <a:rPr lang="en-US" sz="1800" i="1" dirty="0">
                <a:solidFill>
                  <a:srgbClr val="FF0000"/>
                </a:solidFill>
                <a:latin typeface="Times New Roman" panose="02020603050405020304" pitchFamily="18" charset="0"/>
                <a:cs typeface="Times New Roman" panose="02020603050405020304" pitchFamily="18" charset="0"/>
              </a:rPr>
              <a:t>website generates 80,000 leads per month </a:t>
            </a:r>
            <a:r>
              <a:rPr lang="en-US" sz="1800" i="1" dirty="0">
                <a:latin typeface="Times New Roman" panose="02020603050405020304" pitchFamily="18" charset="0"/>
                <a:cs typeface="Times New Roman" panose="02020603050405020304" pitchFamily="18" charset="0"/>
              </a:rPr>
              <a:t>while around </a:t>
            </a:r>
            <a:r>
              <a:rPr lang="en-US" sz="1800" i="1" dirty="0">
                <a:solidFill>
                  <a:srgbClr val="FF0000"/>
                </a:solidFill>
                <a:latin typeface="Times New Roman" panose="02020603050405020304" pitchFamily="18" charset="0"/>
                <a:cs typeface="Times New Roman" panose="02020603050405020304" pitchFamily="18" charset="0"/>
              </a:rPr>
              <a:t>1,000 chats </a:t>
            </a:r>
            <a:r>
              <a:rPr lang="en-US" sz="1800" i="1" dirty="0">
                <a:latin typeface="Times New Roman" panose="02020603050405020304" pitchFamily="18" charset="0"/>
                <a:cs typeface="Times New Roman" panose="02020603050405020304" pitchFamily="18" charset="0"/>
              </a:rPr>
              <a:t>are initiated daily on its </a:t>
            </a:r>
            <a:r>
              <a:rPr lang="en-US" sz="1800" i="1" dirty="0" smtClean="0">
                <a:latin typeface="Times New Roman" panose="02020603050405020304" pitchFamily="18" charset="0"/>
                <a:cs typeface="Times New Roman" panose="02020603050405020304" pitchFamily="18" charset="0"/>
              </a:rPr>
              <a:t>platform</a:t>
            </a:r>
          </a:p>
          <a:p>
            <a:r>
              <a:rPr lang="en-US" sz="1800" dirty="0" smtClean="0">
                <a:latin typeface="Times New Roman" panose="02020603050405020304" pitchFamily="18" charset="0"/>
                <a:cs typeface="Times New Roman" panose="02020603050405020304" pitchFamily="18" charset="0"/>
              </a:rPr>
              <a:t>Last Year, 2-2.1 </a:t>
            </a:r>
            <a:r>
              <a:rPr lang="en-US" sz="1800" dirty="0">
                <a:latin typeface="Times New Roman" panose="02020603050405020304" pitchFamily="18" charset="0"/>
                <a:cs typeface="Times New Roman" panose="02020603050405020304" pitchFamily="18" charset="0"/>
              </a:rPr>
              <a:t>million </a:t>
            </a:r>
            <a:r>
              <a:rPr lang="en-US" sz="1800" dirty="0">
                <a:solidFill>
                  <a:srgbClr val="FF0000"/>
                </a:solidFill>
                <a:latin typeface="Times New Roman" panose="02020603050405020304" pitchFamily="18" charset="0"/>
                <a:cs typeface="Times New Roman" panose="02020603050405020304" pitchFamily="18" charset="0"/>
              </a:rPr>
              <a:t>monthly unique visitors </a:t>
            </a:r>
            <a:r>
              <a:rPr lang="en-US" sz="1800" dirty="0" smtClean="0">
                <a:solidFill>
                  <a:srgbClr val="FF0000"/>
                </a:solidFill>
                <a:latin typeface="Times New Roman" panose="02020603050405020304" pitchFamily="18" charset="0"/>
                <a:cs typeface="Times New Roman" panose="02020603050405020304" pitchFamily="18" charset="0"/>
              </a:rPr>
              <a:t>on site</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smtClean="0">
                <a:solidFill>
                  <a:srgbClr val="FF0000"/>
                </a:solidFill>
                <a:latin typeface="Times New Roman" panose="02020603050405020304" pitchFamily="18" charset="0"/>
                <a:cs typeface="Times New Roman" panose="02020603050405020304" pitchFamily="18" charset="0"/>
              </a:rPr>
              <a:t>now 3 million</a:t>
            </a:r>
          </a:p>
          <a:p>
            <a:r>
              <a:rPr lang="en-US" sz="1800" dirty="0">
                <a:latin typeface="Times New Roman" panose="02020603050405020304" pitchFamily="18" charset="0"/>
                <a:cs typeface="Times New Roman" panose="02020603050405020304" pitchFamily="18" charset="0"/>
              </a:rPr>
              <a:t>R</a:t>
            </a:r>
            <a:r>
              <a:rPr lang="en-US" sz="1800" dirty="0" smtClean="0">
                <a:latin typeface="Times New Roman" panose="02020603050405020304" pitchFamily="18" charset="0"/>
                <a:cs typeface="Times New Roman" panose="02020603050405020304" pitchFamily="18" charset="0"/>
              </a:rPr>
              <a:t>eported </a:t>
            </a:r>
            <a:r>
              <a:rPr lang="en-US" sz="1800" dirty="0">
                <a:solidFill>
                  <a:srgbClr val="FF0000"/>
                </a:solidFill>
                <a:latin typeface="Times New Roman" panose="02020603050405020304" pitchFamily="18" charset="0"/>
                <a:cs typeface="Times New Roman" panose="02020603050405020304" pitchFamily="18" charset="0"/>
              </a:rPr>
              <a:t>sales of ₹24,313 </a:t>
            </a:r>
            <a:r>
              <a:rPr lang="en-US" sz="1800" dirty="0" err="1">
                <a:solidFill>
                  <a:srgbClr val="FF0000"/>
                </a:solidFill>
                <a:latin typeface="Times New Roman" panose="02020603050405020304" pitchFamily="18" charset="0"/>
                <a:cs typeface="Times New Roman" panose="02020603050405020304" pitchFamily="18" charset="0"/>
              </a:rPr>
              <a:t>crore</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in the last fiscal </a:t>
            </a:r>
            <a:r>
              <a:rPr lang="en-US" sz="1800" dirty="0" smtClean="0">
                <a:latin typeface="Times New Roman" panose="02020603050405020304" pitchFamily="18" charset="0"/>
                <a:cs typeface="Times New Roman" panose="02020603050405020304" pitchFamily="18" charset="0"/>
              </a:rPr>
              <a:t>year. Omni-channel </a:t>
            </a:r>
            <a:r>
              <a:rPr lang="en-US" sz="1800" dirty="0">
                <a:latin typeface="Times New Roman" panose="02020603050405020304" pitchFamily="18" charset="0"/>
                <a:cs typeface="Times New Roman" panose="02020603050405020304" pitchFamily="18" charset="0"/>
              </a:rPr>
              <a:t>sale for </a:t>
            </a:r>
            <a:r>
              <a:rPr lang="en-US" sz="1800" dirty="0" err="1">
                <a:latin typeface="Times New Roman" panose="02020603050405020304" pitchFamily="18" charset="0"/>
                <a:cs typeface="Times New Roman" panose="02020603050405020304" pitchFamily="18" charset="0"/>
              </a:rPr>
              <a:t>Tanishq</a:t>
            </a:r>
            <a:r>
              <a:rPr lang="en-US" sz="1800" dirty="0">
                <a:latin typeface="Times New Roman" panose="02020603050405020304" pitchFamily="18" charset="0"/>
                <a:cs typeface="Times New Roman" panose="02020603050405020304" pitchFamily="18" charset="0"/>
              </a:rPr>
              <a:t> stood at ₹</a:t>
            </a:r>
            <a:r>
              <a:rPr lang="en-US" sz="1800" dirty="0">
                <a:solidFill>
                  <a:srgbClr val="FF0000"/>
                </a:solidFill>
                <a:latin typeface="Times New Roman" panose="02020603050405020304" pitchFamily="18" charset="0"/>
                <a:cs typeface="Times New Roman" panose="02020603050405020304" pitchFamily="18" charset="0"/>
              </a:rPr>
              <a:t>1,100 </a:t>
            </a:r>
            <a:r>
              <a:rPr lang="en-US" sz="1800" dirty="0" err="1">
                <a:solidFill>
                  <a:srgbClr val="FF0000"/>
                </a:solidFill>
                <a:latin typeface="Times New Roman" panose="02020603050405020304" pitchFamily="18" charset="0"/>
                <a:cs typeface="Times New Roman" panose="02020603050405020304" pitchFamily="18" charset="0"/>
              </a:rPr>
              <a:t>crore</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in FY22</a:t>
            </a:r>
          </a:p>
          <a:p>
            <a:r>
              <a:rPr lang="en-US" sz="1800" dirty="0">
                <a:latin typeface="Times New Roman" panose="02020603050405020304" pitchFamily="18" charset="0"/>
                <a:cs typeface="Times New Roman" panose="02020603050405020304" pitchFamily="18" charset="0"/>
              </a:rPr>
              <a:t>The company actively pursues online orders and </a:t>
            </a:r>
            <a:r>
              <a:rPr lang="en-US" sz="1800" dirty="0">
                <a:solidFill>
                  <a:srgbClr val="FF0000"/>
                </a:solidFill>
                <a:latin typeface="Times New Roman" panose="02020603050405020304" pitchFamily="18" charset="0"/>
                <a:cs typeface="Times New Roman" panose="02020603050405020304" pitchFamily="18" charset="0"/>
              </a:rPr>
              <a:t>direct shoppers to nearby stores </a:t>
            </a:r>
            <a:r>
              <a:rPr lang="en-US" sz="1800" dirty="0">
                <a:latin typeface="Times New Roman" panose="02020603050405020304" pitchFamily="18" charset="0"/>
                <a:cs typeface="Times New Roman" panose="02020603050405020304" pitchFamily="18" charset="0"/>
              </a:rPr>
              <a:t>to conclude </a:t>
            </a:r>
            <a:r>
              <a:rPr lang="en-US" sz="1800" dirty="0" smtClean="0">
                <a:latin typeface="Times New Roman" panose="02020603050405020304" pitchFamily="18" charset="0"/>
                <a:cs typeface="Times New Roman" panose="02020603050405020304" pitchFamily="18" charset="0"/>
              </a:rPr>
              <a:t>purchases</a:t>
            </a:r>
          </a:p>
          <a:p>
            <a:r>
              <a:rPr lang="en-US" sz="1800" dirty="0" err="1" smtClean="0">
                <a:solidFill>
                  <a:srgbClr val="FF0000"/>
                </a:solidFill>
                <a:latin typeface="Times New Roman" panose="02020603050405020304" pitchFamily="18" charset="0"/>
                <a:cs typeface="Times New Roman" panose="02020603050405020304" pitchFamily="18" charset="0"/>
              </a:rPr>
              <a:t>Covid</a:t>
            </a:r>
            <a:r>
              <a:rPr lang="en-US" sz="1800" dirty="0" smtClean="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prompted shoppers to turn to online purchases</a:t>
            </a:r>
            <a:endParaRPr lang="en-US" sz="1800" dirty="0" smtClean="0">
              <a:latin typeface="Times New Roman" panose="02020603050405020304" pitchFamily="18" charset="0"/>
              <a:cs typeface="Times New Roman" panose="02020603050405020304" pitchFamily="18" charset="0"/>
            </a:endParaRPr>
          </a:p>
          <a:p>
            <a:r>
              <a:rPr lang="en-US" sz="1800" dirty="0" smtClean="0">
                <a:latin typeface="Times New Roman" panose="02020603050405020304" pitchFamily="18" charset="0"/>
                <a:cs typeface="Times New Roman" panose="02020603050405020304" pitchFamily="18" charset="0"/>
              </a:rPr>
              <a:t>Indian </a:t>
            </a:r>
            <a:r>
              <a:rPr lang="en-US" sz="1800" dirty="0">
                <a:latin typeface="Times New Roman" panose="02020603050405020304" pitchFamily="18" charset="0"/>
                <a:cs typeface="Times New Roman" panose="02020603050405020304" pitchFamily="18" charset="0"/>
              </a:rPr>
              <a:t>consumers typically buy </a:t>
            </a:r>
            <a:r>
              <a:rPr lang="en-US" sz="1800" dirty="0">
                <a:solidFill>
                  <a:srgbClr val="FF0000"/>
                </a:solidFill>
                <a:latin typeface="Times New Roman" panose="02020603050405020304" pitchFamily="18" charset="0"/>
                <a:cs typeface="Times New Roman" panose="02020603050405020304" pitchFamily="18" charset="0"/>
              </a:rPr>
              <a:t>light-weight and small-ticket </a:t>
            </a:r>
            <a:r>
              <a:rPr lang="en-US" sz="1800" dirty="0" err="1">
                <a:latin typeface="Times New Roman" panose="02020603050405020304" pitchFamily="18" charset="0"/>
                <a:cs typeface="Times New Roman" panose="02020603050405020304" pitchFamily="18" charset="0"/>
              </a:rPr>
              <a:t>jewellery</a:t>
            </a:r>
            <a:r>
              <a:rPr lang="en-US" sz="1800" dirty="0">
                <a:latin typeface="Times New Roman" panose="02020603050405020304" pitchFamily="18" charset="0"/>
                <a:cs typeface="Times New Roman" panose="02020603050405020304" pitchFamily="18" charset="0"/>
              </a:rPr>
              <a:t> on the </a:t>
            </a:r>
            <a:r>
              <a:rPr lang="en-US" sz="1800" dirty="0" smtClean="0">
                <a:latin typeface="Times New Roman" panose="02020603050405020304" pitchFamily="18" charset="0"/>
                <a:cs typeface="Times New Roman" panose="02020603050405020304" pitchFamily="18" charset="0"/>
              </a:rPr>
              <a:t>internet</a:t>
            </a:r>
          </a:p>
          <a:p>
            <a:r>
              <a:rPr lang="en-US" sz="1800" dirty="0" smtClean="0">
                <a:latin typeface="Times New Roman" panose="02020603050405020304" pitchFamily="18" charset="0"/>
                <a:cs typeface="Times New Roman" panose="02020603050405020304" pitchFamily="18" charset="0"/>
              </a:rPr>
              <a:t>Online </a:t>
            </a:r>
            <a:r>
              <a:rPr lang="en-US" sz="1800" dirty="0" err="1">
                <a:latin typeface="Times New Roman" panose="02020603050405020304" pitchFamily="18" charset="0"/>
                <a:cs typeface="Times New Roman" panose="02020603050405020304" pitchFamily="18" charset="0"/>
              </a:rPr>
              <a:t>jewellery</a:t>
            </a:r>
            <a:r>
              <a:rPr lang="en-US" sz="1800" dirty="0">
                <a:latin typeface="Times New Roman" panose="02020603050405020304" pitchFamily="18" charset="0"/>
                <a:cs typeface="Times New Roman" panose="02020603050405020304" pitchFamily="18" charset="0"/>
              </a:rPr>
              <a:t> purchases have risen , the average ticket size remains flat and shoppers prefer </a:t>
            </a:r>
            <a:r>
              <a:rPr lang="en-US" sz="1800" dirty="0" smtClean="0">
                <a:latin typeface="Times New Roman" panose="02020603050405020304" pitchFamily="18" charset="0"/>
                <a:cs typeface="Times New Roman" panose="02020603050405020304" pitchFamily="18" charset="0"/>
              </a:rPr>
              <a:t>pieces </a:t>
            </a:r>
            <a:r>
              <a:rPr lang="en-US" sz="1800" dirty="0">
                <a:latin typeface="Times New Roman" panose="02020603050405020304" pitchFamily="18" charset="0"/>
                <a:cs typeface="Times New Roman" panose="02020603050405020304" pitchFamily="18" charset="0"/>
              </a:rPr>
              <a:t>of </a:t>
            </a:r>
            <a:r>
              <a:rPr lang="en-US" sz="1800" dirty="0">
                <a:solidFill>
                  <a:srgbClr val="FF0000"/>
                </a:solidFill>
                <a:latin typeface="Times New Roman" panose="02020603050405020304" pitchFamily="18" charset="0"/>
                <a:cs typeface="Times New Roman" panose="02020603050405020304" pitchFamily="18" charset="0"/>
              </a:rPr>
              <a:t>5-10 grams</a:t>
            </a:r>
            <a:endParaRPr lang="en-US" sz="1800" i="1" dirty="0">
              <a:solidFill>
                <a:srgbClr val="FF0000"/>
              </a:solidFill>
              <a:latin typeface="Times New Roman" panose="02020603050405020304" pitchFamily="18" charset="0"/>
              <a:cs typeface="Times New Roman" panose="02020603050405020304" pitchFamily="18" charset="0"/>
            </a:endParaRPr>
          </a:p>
        </p:txBody>
      </p:sp>
      <p:pic>
        <p:nvPicPr>
          <p:cNvPr id="1028" name="Picture 4" descr="https://tse1.mm.bing.net/th?id=OIP.qqVGzq8UQyHSZoqveJl2cAHaEU&amp;pid=Api&amp;P=0&amp;h=18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6794" y="436963"/>
            <a:ext cx="3845287" cy="223997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s://tse3.mm.bing.net/th?id=OIP.f4MtAy80vKN3FGIBe8jfRQHaEW&amp;pid=Api&amp;P=0&amp;h=18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6113" y="436963"/>
            <a:ext cx="3807954" cy="22399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128111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105" y="326264"/>
            <a:ext cx="10131425" cy="1456267"/>
          </a:xfrm>
        </p:spPr>
        <p:txBody>
          <a:bodyPr>
            <a:normAutofit/>
          </a:bodyPr>
          <a:lstStyle/>
          <a:p>
            <a:r>
              <a:rPr lang="en-IN" sz="4400" b="1" dirty="0" smtClean="0">
                <a:solidFill>
                  <a:schemeClr val="bg1"/>
                </a:solidFill>
              </a:rPr>
              <a:t>Transfer Transaction Relation</a:t>
            </a:r>
            <a:endParaRPr lang="en-IN" sz="4400" b="1" dirty="0">
              <a:solidFill>
                <a:schemeClr val="bg1"/>
              </a:solidFill>
            </a:endParaRPr>
          </a:p>
        </p:txBody>
      </p:sp>
      <p:sp>
        <p:nvSpPr>
          <p:cNvPr id="3" name="Content Placeholder 2"/>
          <p:cNvSpPr>
            <a:spLocks noGrp="1"/>
          </p:cNvSpPr>
          <p:nvPr>
            <p:ph idx="1"/>
          </p:nvPr>
        </p:nvSpPr>
        <p:spPr>
          <a:xfrm>
            <a:off x="695460" y="944332"/>
            <a:ext cx="11088710" cy="4825403"/>
          </a:xfrm>
          <a:solidFill>
            <a:srgbClr val="00B050"/>
          </a:solidFill>
        </p:spPr>
        <p:txBody>
          <a:bodyPr>
            <a:noAutofit/>
          </a:bodyPr>
          <a:lstStyle/>
          <a:p>
            <a:r>
              <a:rPr lang="en-US" b="1" dirty="0">
                <a:solidFill>
                  <a:schemeClr val="bg1"/>
                </a:solidFill>
              </a:rPr>
              <a:t>Transactional Marketing </a:t>
            </a:r>
            <a:r>
              <a:rPr lang="en-US" b="1" dirty="0"/>
              <a:t>is amongst the different marketing strategies that emphasize maximizing the </a:t>
            </a:r>
            <a:r>
              <a:rPr lang="en-US" b="1" dirty="0">
                <a:solidFill>
                  <a:schemeClr val="bg1"/>
                </a:solidFill>
              </a:rPr>
              <a:t>sales volume </a:t>
            </a:r>
            <a:r>
              <a:rPr lang="en-US" b="1" dirty="0"/>
              <a:t>and revenue of the firm. </a:t>
            </a:r>
            <a:endParaRPr lang="en-US" b="1" dirty="0" smtClean="0"/>
          </a:p>
          <a:p>
            <a:endParaRPr lang="en-US" b="1" dirty="0"/>
          </a:p>
          <a:p>
            <a:r>
              <a:rPr lang="en-US" b="1" dirty="0" smtClean="0"/>
              <a:t>On </a:t>
            </a:r>
            <a:r>
              <a:rPr lang="en-US" b="1" dirty="0"/>
              <a:t>the other hand, </a:t>
            </a:r>
            <a:r>
              <a:rPr lang="en-US" b="1" dirty="0">
                <a:solidFill>
                  <a:schemeClr val="bg1"/>
                </a:solidFill>
              </a:rPr>
              <a:t>Relationship Marketing</a:t>
            </a:r>
            <a:r>
              <a:rPr lang="en-US" b="1" dirty="0"/>
              <a:t> is concerned with building </a:t>
            </a:r>
            <a:r>
              <a:rPr lang="en-US" b="1" dirty="0">
                <a:solidFill>
                  <a:schemeClr val="bg1"/>
                </a:solidFill>
              </a:rPr>
              <a:t>long term </a:t>
            </a:r>
            <a:r>
              <a:rPr lang="en-US" b="1" dirty="0"/>
              <a:t>relationships with customers</a:t>
            </a:r>
            <a:r>
              <a:rPr lang="en-US" b="1" dirty="0" smtClean="0"/>
              <a:t>.</a:t>
            </a:r>
          </a:p>
          <a:p>
            <a:endParaRPr lang="en-US" b="1" dirty="0"/>
          </a:p>
          <a:p>
            <a:r>
              <a:rPr lang="en-US" b="1" dirty="0">
                <a:solidFill>
                  <a:schemeClr val="bg1"/>
                </a:solidFill>
              </a:rPr>
              <a:t>Transfer</a:t>
            </a:r>
            <a:r>
              <a:rPr lang="en-US" b="1" dirty="0"/>
              <a:t> emphasizes the act of </a:t>
            </a:r>
            <a:r>
              <a:rPr lang="en-US" b="1" dirty="0">
                <a:solidFill>
                  <a:schemeClr val="bg1"/>
                </a:solidFill>
              </a:rPr>
              <a:t>moving something </a:t>
            </a:r>
            <a:r>
              <a:rPr lang="en-US" b="1" dirty="0"/>
              <a:t>from one place to </a:t>
            </a:r>
            <a:r>
              <a:rPr lang="en-US" b="1" dirty="0" smtClean="0"/>
              <a:t>another</a:t>
            </a:r>
            <a:r>
              <a:rPr lang="en-US" b="1" dirty="0"/>
              <a:t>.</a:t>
            </a:r>
            <a:endParaRPr lang="en-US" b="1" dirty="0" smtClean="0"/>
          </a:p>
          <a:p>
            <a:r>
              <a:rPr lang="en-US" b="1" dirty="0" smtClean="0">
                <a:solidFill>
                  <a:schemeClr val="bg1"/>
                </a:solidFill>
              </a:rPr>
              <a:t>Transaction</a:t>
            </a:r>
            <a:r>
              <a:rPr lang="en-US" b="1" dirty="0" smtClean="0"/>
              <a:t> </a:t>
            </a:r>
            <a:r>
              <a:rPr lang="en-US" b="1" dirty="0"/>
              <a:t>involves an </a:t>
            </a:r>
            <a:r>
              <a:rPr lang="en-US" b="1" dirty="0">
                <a:solidFill>
                  <a:schemeClr val="bg1"/>
                </a:solidFill>
              </a:rPr>
              <a:t>exchange,</a:t>
            </a:r>
            <a:r>
              <a:rPr lang="en-US" b="1" dirty="0"/>
              <a:t> often including financial elements.</a:t>
            </a:r>
            <a:endParaRPr lang="en-US" b="1" dirty="0" smtClean="0"/>
          </a:p>
          <a:p>
            <a:endParaRPr lang="en-US" b="1" dirty="0"/>
          </a:p>
          <a:p>
            <a:endParaRPr lang="en-US" b="1" dirty="0" smtClean="0"/>
          </a:p>
          <a:p>
            <a:endParaRPr lang="en-IN" b="1" dirty="0"/>
          </a:p>
        </p:txBody>
      </p:sp>
    </p:spTree>
    <p:extLst>
      <p:ext uri="{BB962C8B-B14F-4D97-AF65-F5344CB8AC3E}">
        <p14:creationId xmlns:p14="http://schemas.microsoft.com/office/powerpoint/2010/main" val="29160027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pic>
        <p:nvPicPr>
          <p:cNvPr id="1026" name="Picture 2" descr="https://o.quizlet.com/xaJsZwoAWPRu9C2XiMnDzg.png"/>
          <p:cNvPicPr>
            <a:picLocks noChangeAspect="1" noChangeArrowheads="1"/>
          </p:cNvPicPr>
          <p:nvPr/>
        </p:nvPicPr>
        <p:blipFill rotWithShape="1">
          <a:blip r:embed="rId2">
            <a:extLst>
              <a:ext uri="{28A0092B-C50C-407E-A947-70E740481C1C}">
                <a14:useLocalDpi xmlns:a14="http://schemas.microsoft.com/office/drawing/2010/main" val="0"/>
              </a:ext>
            </a:extLst>
          </a:blip>
          <a:srcRect t="2826"/>
          <a:stretch/>
        </p:blipFill>
        <p:spPr bwMode="auto">
          <a:xfrm>
            <a:off x="3353760" y="1353775"/>
            <a:ext cx="5747377" cy="496437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4021026" y="315532"/>
            <a:ext cx="5080111" cy="769441"/>
          </a:xfrm>
          <a:prstGeom prst="rect">
            <a:avLst/>
          </a:prstGeom>
          <a:noFill/>
        </p:spPr>
        <p:txBody>
          <a:bodyPr wrap="square" rtlCol="0">
            <a:spAutoFit/>
          </a:bodyPr>
          <a:lstStyle/>
          <a:p>
            <a:r>
              <a:rPr lang="en-US" sz="4400" b="1" dirty="0" smtClean="0">
                <a:latin typeface="Times New Roman" panose="02020603050405020304" pitchFamily="18" charset="0"/>
                <a:cs typeface="Times New Roman" panose="02020603050405020304" pitchFamily="18" charset="0"/>
              </a:rPr>
              <a:t>4/5c Framework</a:t>
            </a:r>
            <a:endParaRPr lang="en-IN" sz="4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39303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extLst>
              <p:ext uri="{D42A27DB-BD31-4B8C-83A1-F6EECF244321}">
                <p14:modId xmlns:p14="http://schemas.microsoft.com/office/powerpoint/2010/main" val="1311942352"/>
              </p:ext>
            </p:extLst>
          </p:nvPr>
        </p:nvGraphicFramePr>
        <p:xfrm>
          <a:off x="838200" y="2073499"/>
          <a:ext cx="10515600" cy="4301545"/>
        </p:xfrm>
        <a:graphic>
          <a:graphicData uri="http://schemas.openxmlformats.org/drawingml/2006/table">
            <a:tbl>
              <a:tblPr firstRow="1" bandRow="1">
                <a:tableStyleId>{5C22544A-7EE6-4342-B048-85BDC9FD1C3A}</a:tableStyleId>
              </a:tblPr>
              <a:tblGrid>
                <a:gridCol w="1673180"/>
                <a:gridCol w="8842420"/>
              </a:tblGrid>
              <a:tr h="860309">
                <a:tc>
                  <a:txBody>
                    <a:bodyPr/>
                    <a:lstStyle/>
                    <a:p>
                      <a:pPr algn="ctr"/>
                      <a:r>
                        <a:rPr lang="en-IN" dirty="0" smtClean="0">
                          <a:solidFill>
                            <a:schemeClr val="tx1"/>
                          </a:solidFill>
                        </a:rPr>
                        <a:t>Customers</a:t>
                      </a:r>
                      <a:endParaRPr lang="en-IN" dirty="0">
                        <a:solidFill>
                          <a:schemeClr val="tx1"/>
                        </a:solidFill>
                      </a:endParaRPr>
                    </a:p>
                  </a:txBody>
                  <a:tcPr anchor="ctr">
                    <a:solidFill>
                      <a:srgbClr val="00B0F0"/>
                    </a:solidFill>
                  </a:tcPr>
                </a:tc>
                <a:tc>
                  <a:txBody>
                    <a:bodyPr/>
                    <a:lstStyle/>
                    <a:p>
                      <a:r>
                        <a:rPr lang="en-IN" sz="2000" b="1" dirty="0" smtClean="0">
                          <a:solidFill>
                            <a:srgbClr val="002060"/>
                          </a:solidFill>
                          <a:latin typeface="Times New Roman" panose="02020603050405020304" pitchFamily="18" charset="0"/>
                          <a:cs typeface="Times New Roman" panose="02020603050405020304" pitchFamily="18" charset="0"/>
                        </a:rPr>
                        <a:t>Whose needs company</a:t>
                      </a:r>
                      <a:r>
                        <a:rPr lang="en-IN" sz="2000" b="1" baseline="0" dirty="0" smtClean="0">
                          <a:solidFill>
                            <a:srgbClr val="002060"/>
                          </a:solidFill>
                          <a:latin typeface="Times New Roman" panose="02020603050405020304" pitchFamily="18" charset="0"/>
                          <a:cs typeface="Times New Roman" panose="02020603050405020304" pitchFamily="18" charset="0"/>
                        </a:rPr>
                        <a:t> intends to fulfil</a:t>
                      </a:r>
                      <a:endParaRPr lang="en-IN" sz="2000" b="1" dirty="0">
                        <a:solidFill>
                          <a:srgbClr val="002060"/>
                        </a:solidFill>
                        <a:latin typeface="Times New Roman" panose="02020603050405020304" pitchFamily="18" charset="0"/>
                        <a:cs typeface="Times New Roman" panose="02020603050405020304" pitchFamily="18" charset="0"/>
                      </a:endParaRPr>
                    </a:p>
                  </a:txBody>
                  <a:tcPr anchor="ctr">
                    <a:solidFill>
                      <a:schemeClr val="bg2">
                        <a:lumMod val="90000"/>
                      </a:schemeClr>
                    </a:solidFill>
                  </a:tcPr>
                </a:tc>
              </a:tr>
              <a:tr h="860309">
                <a:tc>
                  <a:txBody>
                    <a:bodyPr/>
                    <a:lstStyle/>
                    <a:p>
                      <a:pPr algn="ctr"/>
                      <a:r>
                        <a:rPr lang="en-IN" b="1" dirty="0" smtClean="0">
                          <a:solidFill>
                            <a:schemeClr val="tx1"/>
                          </a:solidFill>
                        </a:rPr>
                        <a:t>Competitors</a:t>
                      </a:r>
                      <a:endParaRPr lang="en-IN" b="1" dirty="0">
                        <a:solidFill>
                          <a:schemeClr val="tx1"/>
                        </a:solidFill>
                      </a:endParaRPr>
                    </a:p>
                  </a:txBody>
                  <a:tcPr anchor="ctr">
                    <a:solidFill>
                      <a:srgbClr val="00B0F0"/>
                    </a:solidFill>
                  </a:tcPr>
                </a:tc>
                <a:tc>
                  <a:txBody>
                    <a:bodyPr/>
                    <a:lstStyle/>
                    <a:p>
                      <a:r>
                        <a:rPr lang="en-IN" sz="2000" b="1" dirty="0" smtClean="0">
                          <a:solidFill>
                            <a:srgbClr val="002060"/>
                          </a:solidFill>
                          <a:latin typeface="Times New Roman" panose="02020603050405020304" pitchFamily="18" charset="0"/>
                          <a:cs typeface="Times New Roman" panose="02020603050405020304" pitchFamily="18" charset="0"/>
                        </a:rPr>
                        <a:t>Aims to fulfil</a:t>
                      </a:r>
                      <a:r>
                        <a:rPr lang="en-IN" sz="2000" b="1" baseline="0" dirty="0" smtClean="0">
                          <a:solidFill>
                            <a:srgbClr val="002060"/>
                          </a:solidFill>
                          <a:latin typeface="Times New Roman" panose="02020603050405020304" pitchFamily="18" charset="0"/>
                          <a:cs typeface="Times New Roman" panose="02020603050405020304" pitchFamily="18" charset="0"/>
                        </a:rPr>
                        <a:t> the same needs of the same target customers</a:t>
                      </a:r>
                      <a:endParaRPr lang="en-IN" sz="2000" b="1" dirty="0">
                        <a:solidFill>
                          <a:srgbClr val="002060"/>
                        </a:solidFill>
                        <a:latin typeface="Times New Roman" panose="02020603050405020304" pitchFamily="18" charset="0"/>
                        <a:cs typeface="Times New Roman" panose="02020603050405020304" pitchFamily="18" charset="0"/>
                      </a:endParaRPr>
                    </a:p>
                  </a:txBody>
                  <a:tcPr anchor="ctr">
                    <a:solidFill>
                      <a:schemeClr val="bg2">
                        <a:lumMod val="90000"/>
                      </a:schemeClr>
                    </a:solidFill>
                  </a:tcPr>
                </a:tc>
              </a:tr>
              <a:tr h="860309">
                <a:tc>
                  <a:txBody>
                    <a:bodyPr/>
                    <a:lstStyle/>
                    <a:p>
                      <a:pPr algn="ctr"/>
                      <a:r>
                        <a:rPr lang="en-IN" b="1" dirty="0" smtClean="0">
                          <a:solidFill>
                            <a:schemeClr val="tx1"/>
                          </a:solidFill>
                        </a:rPr>
                        <a:t>Collaborators</a:t>
                      </a:r>
                      <a:endParaRPr lang="en-IN" b="1" dirty="0">
                        <a:solidFill>
                          <a:schemeClr val="tx1"/>
                        </a:solidFill>
                      </a:endParaRPr>
                    </a:p>
                  </a:txBody>
                  <a:tcPr anchor="ctr">
                    <a:solidFill>
                      <a:srgbClr val="00B0F0"/>
                    </a:solidFill>
                  </a:tcPr>
                </a:tc>
                <a:tc>
                  <a:txBody>
                    <a:bodyPr/>
                    <a:lstStyle/>
                    <a:p>
                      <a:r>
                        <a:rPr lang="en-IN" sz="2000" b="1" dirty="0" smtClean="0">
                          <a:solidFill>
                            <a:srgbClr val="002060"/>
                          </a:solidFill>
                          <a:latin typeface="Times New Roman" panose="02020603050405020304" pitchFamily="18" charset="0"/>
                          <a:cs typeface="Times New Roman" panose="02020603050405020304" pitchFamily="18" charset="0"/>
                        </a:rPr>
                        <a:t>That help the company to fulfil the needs of the customers</a:t>
                      </a:r>
                      <a:endParaRPr lang="en-IN" sz="2000" b="1" dirty="0">
                        <a:solidFill>
                          <a:srgbClr val="002060"/>
                        </a:solidFill>
                        <a:latin typeface="Times New Roman" panose="02020603050405020304" pitchFamily="18" charset="0"/>
                        <a:cs typeface="Times New Roman" panose="02020603050405020304" pitchFamily="18" charset="0"/>
                      </a:endParaRPr>
                    </a:p>
                  </a:txBody>
                  <a:tcPr anchor="ctr">
                    <a:solidFill>
                      <a:schemeClr val="bg2">
                        <a:lumMod val="90000"/>
                      </a:schemeClr>
                    </a:solidFill>
                  </a:tcPr>
                </a:tc>
              </a:tr>
              <a:tr h="860309">
                <a:tc>
                  <a:txBody>
                    <a:bodyPr/>
                    <a:lstStyle/>
                    <a:p>
                      <a:pPr algn="ctr"/>
                      <a:r>
                        <a:rPr lang="en-IN" b="1" dirty="0" smtClean="0">
                          <a:solidFill>
                            <a:schemeClr val="tx1"/>
                          </a:solidFill>
                        </a:rPr>
                        <a:t>Company</a:t>
                      </a:r>
                      <a:endParaRPr lang="en-IN" b="1" dirty="0">
                        <a:solidFill>
                          <a:schemeClr val="tx1"/>
                        </a:solidFill>
                      </a:endParaRPr>
                    </a:p>
                  </a:txBody>
                  <a:tcPr anchor="ctr">
                    <a:solidFill>
                      <a:srgbClr val="00B0F0"/>
                    </a:solidFill>
                  </a:tcPr>
                </a:tc>
                <a:tc>
                  <a:txBody>
                    <a:bodyPr/>
                    <a:lstStyle/>
                    <a:p>
                      <a:r>
                        <a:rPr lang="en-IN" sz="2000" b="1" dirty="0" smtClean="0">
                          <a:solidFill>
                            <a:srgbClr val="002060"/>
                          </a:solidFill>
                          <a:latin typeface="Times New Roman" panose="02020603050405020304" pitchFamily="18" charset="0"/>
                          <a:cs typeface="Times New Roman" panose="02020603050405020304" pitchFamily="18" charset="0"/>
                        </a:rPr>
                        <a:t>That develops and manages the offering</a:t>
                      </a:r>
                      <a:endParaRPr lang="en-IN" sz="2000" b="1" dirty="0">
                        <a:solidFill>
                          <a:srgbClr val="002060"/>
                        </a:solidFill>
                        <a:latin typeface="Times New Roman" panose="02020603050405020304" pitchFamily="18" charset="0"/>
                        <a:cs typeface="Times New Roman" panose="02020603050405020304" pitchFamily="18" charset="0"/>
                      </a:endParaRPr>
                    </a:p>
                  </a:txBody>
                  <a:tcPr anchor="ctr">
                    <a:solidFill>
                      <a:schemeClr val="bg2">
                        <a:lumMod val="90000"/>
                      </a:schemeClr>
                    </a:solidFill>
                  </a:tcPr>
                </a:tc>
              </a:tr>
              <a:tr h="860309">
                <a:tc>
                  <a:txBody>
                    <a:bodyPr/>
                    <a:lstStyle/>
                    <a:p>
                      <a:pPr algn="ctr"/>
                      <a:r>
                        <a:rPr lang="en-IN" b="1" dirty="0" smtClean="0">
                          <a:solidFill>
                            <a:schemeClr val="tx1"/>
                          </a:solidFill>
                        </a:rPr>
                        <a:t>Context</a:t>
                      </a:r>
                      <a:endParaRPr lang="en-IN" b="1" dirty="0">
                        <a:solidFill>
                          <a:schemeClr val="tx1"/>
                        </a:solidFill>
                      </a:endParaRPr>
                    </a:p>
                  </a:txBody>
                  <a:tcPr anchor="ctr">
                    <a:solidFill>
                      <a:srgbClr val="00B0F0"/>
                    </a:solidFill>
                  </a:tcPr>
                </a:tc>
                <a:tc>
                  <a:txBody>
                    <a:bodyPr/>
                    <a:lstStyle/>
                    <a:p>
                      <a:r>
                        <a:rPr lang="en-IN" sz="2000" b="1" dirty="0" smtClean="0">
                          <a:solidFill>
                            <a:srgbClr val="002060"/>
                          </a:solidFill>
                          <a:latin typeface="Times New Roman" panose="02020603050405020304" pitchFamily="18" charset="0"/>
                          <a:cs typeface="Times New Roman" panose="02020603050405020304" pitchFamily="18" charset="0"/>
                        </a:rPr>
                        <a:t>That will affect how</a:t>
                      </a:r>
                      <a:r>
                        <a:rPr lang="en-IN" sz="2000" b="1" baseline="0" dirty="0" smtClean="0">
                          <a:solidFill>
                            <a:srgbClr val="002060"/>
                          </a:solidFill>
                          <a:latin typeface="Times New Roman" panose="02020603050405020304" pitchFamily="18" charset="0"/>
                          <a:cs typeface="Times New Roman" panose="02020603050405020304" pitchFamily="18" charset="0"/>
                        </a:rPr>
                        <a:t> the company develops and manage the offering</a:t>
                      </a:r>
                      <a:endParaRPr lang="en-IN" sz="2000" b="1" dirty="0">
                        <a:solidFill>
                          <a:srgbClr val="002060"/>
                        </a:solidFill>
                        <a:latin typeface="Times New Roman" panose="02020603050405020304" pitchFamily="18" charset="0"/>
                        <a:cs typeface="Times New Roman" panose="02020603050405020304" pitchFamily="18" charset="0"/>
                      </a:endParaRPr>
                    </a:p>
                  </a:txBody>
                  <a:tcPr anchor="ctr">
                    <a:solidFill>
                      <a:schemeClr val="bg2">
                        <a:lumMod val="90000"/>
                      </a:schemeClr>
                    </a:solidFill>
                  </a:tcPr>
                </a:tc>
              </a:tr>
            </a:tbl>
          </a:graphicData>
        </a:graphic>
      </p:graphicFrame>
      <p:sp>
        <p:nvSpPr>
          <p:cNvPr id="4" name="Title 3"/>
          <p:cNvSpPr txBox="1">
            <a:spLocks noGrp="1"/>
          </p:cNvSpPr>
          <p:nvPr>
            <p:ph type="title"/>
          </p:nvPr>
        </p:nvSpPr>
        <p:spPr>
          <a:xfrm>
            <a:off x="838200" y="233843"/>
            <a:ext cx="10515600" cy="1588127"/>
          </a:xfrm>
          <a:prstGeom prst="rect">
            <a:avLst/>
          </a:prstGeom>
          <a:solidFill>
            <a:srgbClr val="00B0F0"/>
          </a:solidFill>
        </p:spPr>
        <p:txBody>
          <a:bodyPr wrap="square" rtlCol="0">
            <a:spAutoFit/>
          </a:bodyPr>
          <a:lstStyle/>
          <a:p>
            <a:pPr algn="ctr"/>
            <a:r>
              <a:rPr lang="en-US" sz="3600" b="1" dirty="0" smtClean="0">
                <a:latin typeface="Times New Roman" panose="02020603050405020304" pitchFamily="18" charset="0"/>
                <a:cs typeface="Times New Roman" panose="02020603050405020304" pitchFamily="18" charset="0"/>
              </a:rPr>
              <a:t/>
            </a:r>
            <a:br>
              <a:rPr lang="en-US" sz="3600" b="1" dirty="0" smtClean="0">
                <a:latin typeface="Times New Roman" panose="02020603050405020304" pitchFamily="18" charset="0"/>
                <a:cs typeface="Times New Roman" panose="02020603050405020304" pitchFamily="18" charset="0"/>
              </a:rPr>
            </a:br>
            <a:r>
              <a:rPr lang="en-US" sz="3600" b="1" dirty="0" smtClean="0">
                <a:latin typeface="Times New Roman" panose="02020603050405020304" pitchFamily="18" charset="0"/>
                <a:cs typeface="Times New Roman" panose="02020603050405020304" pitchFamily="18" charset="0"/>
              </a:rPr>
              <a:t>4/5c Framework</a:t>
            </a:r>
            <a:br>
              <a:rPr lang="en-US" sz="3600" b="1" dirty="0" smtClean="0">
                <a:latin typeface="Times New Roman" panose="02020603050405020304" pitchFamily="18" charset="0"/>
                <a:cs typeface="Times New Roman" panose="02020603050405020304" pitchFamily="18" charset="0"/>
              </a:rPr>
            </a:br>
            <a:endParaRPr lang="en-IN"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85565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2137" y="365125"/>
            <a:ext cx="11809863" cy="1141453"/>
          </a:xfrm>
        </p:spPr>
        <p:txBody>
          <a:bodyPr>
            <a:noAutofit/>
          </a:bodyPr>
          <a:lstStyle/>
          <a:p>
            <a:pPr algn="ctr"/>
            <a:r>
              <a:rPr lang="en-US" sz="3600" b="1" dirty="0" smtClean="0">
                <a:solidFill>
                  <a:srgbClr val="FF0000"/>
                </a:solidFill>
                <a:latin typeface="Times New Roman" panose="02020603050405020304" pitchFamily="18" charset="0"/>
                <a:cs typeface="Times New Roman" panose="02020603050405020304" pitchFamily="18" charset="0"/>
              </a:rPr>
              <a:t>New 4C’s </a:t>
            </a:r>
            <a:r>
              <a:rPr lang="en-US" sz="3600" b="1" dirty="0" smtClean="0">
                <a:latin typeface="Times New Roman" panose="02020603050405020304" pitchFamily="18" charset="0"/>
                <a:cs typeface="Times New Roman" panose="02020603050405020304" pitchFamily="18" charset="0"/>
              </a:rPr>
              <a:t>Framework</a:t>
            </a:r>
            <a:r>
              <a:rPr lang="en-US" sz="2800" b="1" dirty="0" smtClean="0">
                <a:latin typeface="Times New Roman" panose="02020603050405020304" pitchFamily="18" charset="0"/>
                <a:cs typeface="Times New Roman" panose="02020603050405020304" pitchFamily="18" charset="0"/>
              </a:rPr>
              <a:t/>
            </a:r>
            <a:br>
              <a:rPr lang="en-US" sz="2800" b="1" dirty="0" smtClean="0">
                <a:latin typeface="Times New Roman" panose="02020603050405020304" pitchFamily="18" charset="0"/>
                <a:cs typeface="Times New Roman" panose="02020603050405020304" pitchFamily="18" charset="0"/>
              </a:rPr>
            </a:br>
            <a:r>
              <a:rPr lang="en-US" sz="2800" b="1" dirty="0" smtClean="0">
                <a:latin typeface="Times New Roman" panose="02020603050405020304" pitchFamily="18" charset="0"/>
                <a:cs typeface="Times New Roman" panose="02020603050405020304" pitchFamily="18" charset="0"/>
              </a:rPr>
              <a:t>Shift </a:t>
            </a:r>
            <a:r>
              <a:rPr lang="en-US" sz="2800" b="1" dirty="0">
                <a:latin typeface="Times New Roman" panose="02020603050405020304" pitchFamily="18" charset="0"/>
                <a:cs typeface="Times New Roman" panose="02020603050405020304" pitchFamily="18" charset="0"/>
              </a:rPr>
              <a:t>in the current marketing landscape</a:t>
            </a:r>
            <a:br>
              <a:rPr lang="en-US" sz="2800" b="1" dirty="0">
                <a:latin typeface="Times New Roman" panose="02020603050405020304" pitchFamily="18" charset="0"/>
                <a:cs typeface="Times New Roman" panose="02020603050405020304" pitchFamily="18" charset="0"/>
              </a:rPr>
            </a:br>
            <a:endParaRPr lang="en-IN" sz="2800" b="1" dirty="0">
              <a:latin typeface="Times New Roman" panose="02020603050405020304" pitchFamily="18" charset="0"/>
              <a:cs typeface="Times New Roman" panose="02020603050405020304" pitchFamily="18" charset="0"/>
            </a:endParaRPr>
          </a:p>
        </p:txBody>
      </p:sp>
      <p:pic>
        <p:nvPicPr>
          <p:cNvPr id="4" name="Picture 2" descr="https://www.pkmarketing.jp/wp-content/uploads/2022/11/4pto4c_02-1024x401.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36425" y="4099326"/>
            <a:ext cx="3271356" cy="1695961"/>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https://tse3.mm.bing.net/th?id=OIP.b77rsYyw8F5HHkmSMvzggQHaFU&amp;pid=Api&amp;P=0&amp;h=18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6581" y="1506578"/>
            <a:ext cx="2710218" cy="195135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https://marktruelson.com/wp-content/uploads/2019/02/4ps.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41243" y="1343018"/>
            <a:ext cx="5317295" cy="53172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08115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0446" y="657226"/>
            <a:ext cx="10959579" cy="5576816"/>
          </a:xfrm>
        </p:spPr>
        <p:txBody>
          <a:bodyPr>
            <a:normAutofit lnSpcReduction="10000"/>
          </a:bodyPr>
          <a:lstStyle/>
          <a:p>
            <a:pPr algn="just"/>
            <a:r>
              <a:rPr lang="en-US" sz="1800" b="1" dirty="0">
                <a:solidFill>
                  <a:srgbClr val="FF0000"/>
                </a:solidFill>
                <a:latin typeface="Times New Roman" panose="02020603050405020304" pitchFamily="18" charset="0"/>
                <a:cs typeface="Times New Roman" panose="02020603050405020304" pitchFamily="18" charset="0"/>
              </a:rPr>
              <a:t>Traditionally, consumers are passive objects of selling techniques. In a connected world, the idea is to have both sides </a:t>
            </a:r>
            <a:r>
              <a:rPr lang="en-US" sz="1800" b="1" dirty="0" smtClean="0">
                <a:solidFill>
                  <a:srgbClr val="FF0000"/>
                </a:solidFill>
                <a:latin typeface="Times New Roman" panose="02020603050405020304" pitchFamily="18" charset="0"/>
                <a:cs typeface="Times New Roman" panose="02020603050405020304" pitchFamily="18" charset="0"/>
              </a:rPr>
              <a:t>active.</a:t>
            </a:r>
          </a:p>
          <a:p>
            <a:pPr algn="just"/>
            <a:r>
              <a:rPr lang="en-US" sz="1800" dirty="0" smtClean="0">
                <a:latin typeface="Times New Roman" panose="02020603050405020304" pitchFamily="18" charset="0"/>
                <a:cs typeface="Times New Roman" panose="02020603050405020304" pitchFamily="18" charset="0"/>
              </a:rPr>
              <a:t>In </a:t>
            </a:r>
            <a:r>
              <a:rPr lang="en-US" sz="1800" dirty="0">
                <a:latin typeface="Times New Roman" panose="02020603050405020304" pitchFamily="18" charset="0"/>
                <a:cs typeface="Times New Roman" panose="02020603050405020304" pitchFamily="18" charset="0"/>
              </a:rPr>
              <a:t>a </a:t>
            </a:r>
            <a:r>
              <a:rPr lang="en-US" sz="1800" dirty="0">
                <a:solidFill>
                  <a:srgbClr val="FF0000"/>
                </a:solidFill>
                <a:latin typeface="Times New Roman" panose="02020603050405020304" pitchFamily="18" charset="0"/>
                <a:cs typeface="Times New Roman" panose="02020603050405020304" pitchFamily="18" charset="0"/>
              </a:rPr>
              <a:t>connected world</a:t>
            </a:r>
            <a:r>
              <a:rPr lang="en-US" sz="1800" dirty="0">
                <a:latin typeface="Times New Roman" panose="02020603050405020304" pitchFamily="18" charset="0"/>
                <a:cs typeface="Times New Roman" panose="02020603050405020304" pitchFamily="18" charset="0"/>
              </a:rPr>
              <a:t>, the concept of marketing mix has evolved to accommodate more consumer participation. Marketing mix (the four P’s) should be redefined as the four C’s (co-creation, currency, communal activation, and conversation</a:t>
            </a:r>
            <a:r>
              <a:rPr lang="en-US" sz="1800" dirty="0" smtClean="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a:p>
            <a:pPr algn="just"/>
            <a:r>
              <a:rPr lang="en-IN" sz="1800" b="1" dirty="0">
                <a:solidFill>
                  <a:srgbClr val="FF0000"/>
                </a:solidFill>
                <a:latin typeface="Times New Roman" panose="02020603050405020304" pitchFamily="18" charset="0"/>
                <a:cs typeface="Times New Roman" panose="02020603050405020304" pitchFamily="18" charset="0"/>
              </a:rPr>
              <a:t>1 Connect and </a:t>
            </a:r>
            <a:r>
              <a:rPr lang="en-IN" sz="1800" b="1" dirty="0" smtClean="0">
                <a:solidFill>
                  <a:srgbClr val="FF0000"/>
                </a:solidFill>
                <a:latin typeface="Times New Roman" panose="02020603050405020304" pitchFamily="18" charset="0"/>
                <a:cs typeface="Times New Roman" panose="02020603050405020304" pitchFamily="18" charset="0"/>
              </a:rPr>
              <a:t>Develop: </a:t>
            </a:r>
            <a:r>
              <a:rPr lang="en-US" sz="1800" dirty="0" smtClean="0">
                <a:latin typeface="Times New Roman" panose="02020603050405020304" pitchFamily="18" charset="0"/>
                <a:cs typeface="Times New Roman" panose="02020603050405020304" pitchFamily="18" charset="0"/>
              </a:rPr>
              <a:t>In </a:t>
            </a:r>
            <a:r>
              <a:rPr lang="en-US" sz="1800" dirty="0">
                <a:latin typeface="Times New Roman" panose="02020603050405020304" pitchFamily="18" charset="0"/>
                <a:cs typeface="Times New Roman" panose="02020603050405020304" pitchFamily="18" charset="0"/>
              </a:rPr>
              <a:t>the digital economy, co-creation is the new product development strategy</a:t>
            </a:r>
            <a:r>
              <a:rPr lang="en-US" sz="1800" dirty="0" smtClean="0">
                <a:latin typeface="Times New Roman" panose="02020603050405020304" pitchFamily="18" charset="0"/>
                <a:cs typeface="Times New Roman" panose="02020603050405020304" pitchFamily="18" charset="0"/>
              </a:rPr>
              <a:t>.</a:t>
            </a:r>
          </a:p>
          <a:p>
            <a:pPr algn="just"/>
            <a:r>
              <a:rPr lang="en-IN" sz="1800" b="1" dirty="0">
                <a:solidFill>
                  <a:srgbClr val="FF0000"/>
                </a:solidFill>
                <a:latin typeface="Times New Roman" panose="02020603050405020304" pitchFamily="18" charset="0"/>
                <a:cs typeface="Times New Roman" panose="02020603050405020304" pitchFamily="18" charset="0"/>
              </a:rPr>
              <a:t>2 </a:t>
            </a:r>
            <a:r>
              <a:rPr lang="en-IN" sz="1800" b="1" dirty="0" smtClean="0">
                <a:solidFill>
                  <a:srgbClr val="FF0000"/>
                </a:solidFill>
                <a:latin typeface="Times New Roman" panose="02020603050405020304" pitchFamily="18" charset="0"/>
                <a:cs typeface="Times New Roman" panose="02020603050405020304" pitchFamily="18" charset="0"/>
              </a:rPr>
              <a:t>Currency: </a:t>
            </a:r>
            <a:r>
              <a:rPr lang="en-US" sz="1800" dirty="0" smtClean="0">
                <a:latin typeface="Times New Roman" panose="02020603050405020304" pitchFamily="18" charset="0"/>
                <a:cs typeface="Times New Roman" panose="02020603050405020304" pitchFamily="18" charset="0"/>
              </a:rPr>
              <a:t>The </a:t>
            </a:r>
            <a:r>
              <a:rPr lang="en-US" sz="1800" dirty="0">
                <a:latin typeface="Times New Roman" panose="02020603050405020304" pitchFamily="18" charset="0"/>
                <a:cs typeface="Times New Roman" panose="02020603050405020304" pitchFamily="18" charset="0"/>
              </a:rPr>
              <a:t>concept of pricing is also evolving in the digital era from standardized to dynamic pricing. Dynamic pricing—setting flexible prices based on market demand and capacity utilization—is not new in some industries such as </a:t>
            </a:r>
            <a:r>
              <a:rPr lang="en-US" sz="1800" dirty="0" smtClean="0">
                <a:solidFill>
                  <a:srgbClr val="FF0000"/>
                </a:solidFill>
                <a:latin typeface="Times New Roman" panose="02020603050405020304" pitchFamily="18" charset="0"/>
                <a:cs typeface="Times New Roman" panose="02020603050405020304" pitchFamily="18" charset="0"/>
              </a:rPr>
              <a:t>airlines</a:t>
            </a:r>
            <a:r>
              <a:rPr lang="en-US" sz="1800" dirty="0">
                <a:latin typeface="Times New Roman" panose="02020603050405020304" pitchFamily="18" charset="0"/>
                <a:cs typeface="Times New Roman" panose="02020603050405020304" pitchFamily="18" charset="0"/>
              </a:rPr>
              <a:t>. But advancement in technology has brought the practice to other industries. Online retailers, for instance, collect a massive amount of data, which allows them to perform big-data analytics and in turn to offer a unique pricing for each consumer. In the digital economy, price is similar to currency, which fluctuates depending on market demand</a:t>
            </a:r>
            <a:r>
              <a:rPr lang="en-US" sz="1800" dirty="0" smtClean="0">
                <a:latin typeface="Times New Roman" panose="02020603050405020304" pitchFamily="18" charset="0"/>
                <a:cs typeface="Times New Roman" panose="02020603050405020304" pitchFamily="18" charset="0"/>
              </a:rPr>
              <a:t>.</a:t>
            </a:r>
          </a:p>
          <a:p>
            <a:pPr algn="just"/>
            <a:r>
              <a:rPr lang="en-IN" sz="1800" b="1" dirty="0">
                <a:solidFill>
                  <a:srgbClr val="FF0000"/>
                </a:solidFill>
                <a:latin typeface="Times New Roman" panose="02020603050405020304" pitchFamily="18" charset="0"/>
                <a:cs typeface="Times New Roman" panose="02020603050405020304" pitchFamily="18" charset="0"/>
              </a:rPr>
              <a:t>3 Community </a:t>
            </a:r>
            <a:r>
              <a:rPr lang="en-IN" sz="1800" b="1" dirty="0" smtClean="0">
                <a:solidFill>
                  <a:srgbClr val="FF0000"/>
                </a:solidFill>
                <a:latin typeface="Times New Roman" panose="02020603050405020304" pitchFamily="18" charset="0"/>
                <a:cs typeface="Times New Roman" panose="02020603050405020304" pitchFamily="18" charset="0"/>
              </a:rPr>
              <a:t>Engagement: </a:t>
            </a:r>
            <a:r>
              <a:rPr lang="en-IN" sz="1800" dirty="0" smtClean="0">
                <a:latin typeface="Times New Roman" panose="02020603050405020304" pitchFamily="18" charset="0"/>
                <a:cs typeface="Times New Roman" panose="02020603050405020304" pitchFamily="18" charset="0"/>
              </a:rPr>
              <a:t>T</a:t>
            </a:r>
            <a:r>
              <a:rPr lang="en-US" sz="1800" dirty="0">
                <a:latin typeface="Times New Roman" panose="02020603050405020304" pitchFamily="18" charset="0"/>
                <a:cs typeface="Times New Roman" panose="02020603050405020304" pitchFamily="18" charset="0"/>
              </a:rPr>
              <a:t>he concept of channel is also changing. In the sharing economy, the most potent distribution concept is peer-to-peer distribution. Players such as </a:t>
            </a:r>
            <a:r>
              <a:rPr lang="en-US" sz="1800" dirty="0" err="1" smtClean="0">
                <a:solidFill>
                  <a:srgbClr val="FF0000"/>
                </a:solidFill>
                <a:latin typeface="Times New Roman" panose="02020603050405020304" pitchFamily="18" charset="0"/>
                <a:cs typeface="Times New Roman" panose="02020603050405020304" pitchFamily="18" charset="0"/>
              </a:rPr>
              <a:t>Airbnb</a:t>
            </a:r>
            <a:r>
              <a:rPr lang="en-US" sz="1800" dirty="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disrupting </a:t>
            </a:r>
            <a:r>
              <a:rPr lang="en-US" sz="1800" dirty="0">
                <a:latin typeface="Times New Roman" panose="02020603050405020304" pitchFamily="18" charset="0"/>
                <a:cs typeface="Times New Roman" panose="02020603050405020304" pitchFamily="18" charset="0"/>
              </a:rPr>
              <a:t>the </a:t>
            </a:r>
            <a:r>
              <a:rPr lang="en-US" sz="1800" dirty="0" smtClean="0">
                <a:latin typeface="Times New Roman" panose="02020603050405020304" pitchFamily="18" charset="0"/>
                <a:cs typeface="Times New Roman" panose="02020603050405020304" pitchFamily="18" charset="0"/>
              </a:rPr>
              <a:t>hotel industry. </a:t>
            </a:r>
            <a:r>
              <a:rPr lang="en-US" sz="1800" dirty="0">
                <a:latin typeface="Times New Roman" panose="02020603050405020304" pitchFamily="18" charset="0"/>
                <a:cs typeface="Times New Roman" panose="02020603050405020304" pitchFamily="18" charset="0"/>
              </a:rPr>
              <a:t>They provide consumers easy access to the products and services not owned by them but by other consumers. In a connected world, consumers demand access to products and services almost instantly, which can only be served with their peers in close proximity. This is the essence of communal activation</a:t>
            </a:r>
            <a:r>
              <a:rPr lang="en-US" sz="1800" dirty="0" smtClean="0">
                <a:latin typeface="Times New Roman" panose="02020603050405020304" pitchFamily="18" charset="0"/>
                <a:cs typeface="Times New Roman" panose="02020603050405020304" pitchFamily="18" charset="0"/>
              </a:rPr>
              <a:t>.</a:t>
            </a:r>
          </a:p>
          <a:p>
            <a:pPr algn="just"/>
            <a:r>
              <a:rPr lang="en-IN" sz="1800" b="1" dirty="0">
                <a:solidFill>
                  <a:srgbClr val="FF0000"/>
                </a:solidFill>
                <a:latin typeface="Times New Roman" panose="02020603050405020304" pitchFamily="18" charset="0"/>
                <a:cs typeface="Times New Roman" panose="02020603050405020304" pitchFamily="18" charset="0"/>
              </a:rPr>
              <a:t>4 </a:t>
            </a:r>
            <a:r>
              <a:rPr lang="en-IN" sz="1800" b="1" dirty="0" smtClean="0">
                <a:solidFill>
                  <a:srgbClr val="FF0000"/>
                </a:solidFill>
                <a:latin typeface="Times New Roman" panose="02020603050405020304" pitchFamily="18" charset="0"/>
                <a:cs typeface="Times New Roman" panose="02020603050405020304" pitchFamily="18" charset="0"/>
              </a:rPr>
              <a:t>Conversation: </a:t>
            </a:r>
            <a:r>
              <a:rPr lang="en-US" sz="1800" dirty="0" smtClean="0">
                <a:latin typeface="Times New Roman" panose="02020603050405020304" pitchFamily="18" charset="0"/>
                <a:cs typeface="Times New Roman" panose="02020603050405020304" pitchFamily="18" charset="0"/>
              </a:rPr>
              <a:t>Traditionally</a:t>
            </a:r>
            <a:r>
              <a:rPr lang="en-US" sz="1800" dirty="0">
                <a:latin typeface="Times New Roman" panose="02020603050405020304" pitchFamily="18" charset="0"/>
                <a:cs typeface="Times New Roman" panose="02020603050405020304" pitchFamily="18" charset="0"/>
              </a:rPr>
              <a:t>, promotion has always been a one-sided affair, with companies sending messages to consumers as audiences. Today, the proliferation of </a:t>
            </a:r>
            <a:r>
              <a:rPr lang="en-US" sz="1800" dirty="0">
                <a:solidFill>
                  <a:srgbClr val="FF0000"/>
                </a:solidFill>
                <a:latin typeface="Times New Roman" panose="02020603050405020304" pitchFamily="18" charset="0"/>
                <a:cs typeface="Times New Roman" panose="02020603050405020304" pitchFamily="18" charset="0"/>
              </a:rPr>
              <a:t>social media</a:t>
            </a:r>
            <a:r>
              <a:rPr lang="en-US" sz="1800" dirty="0">
                <a:latin typeface="Times New Roman" panose="02020603050405020304" pitchFamily="18" charset="0"/>
                <a:cs typeface="Times New Roman" panose="02020603050405020304" pitchFamily="18" charset="0"/>
              </a:rPr>
              <a:t> enables consumers to respond to those messages. It also allows consumers to converse about the messages with other customers. The rise of consumer- rating systems such as </a:t>
            </a:r>
            <a:r>
              <a:rPr lang="en-US" sz="1800" dirty="0" err="1">
                <a:solidFill>
                  <a:srgbClr val="FF0000"/>
                </a:solidFill>
                <a:latin typeface="Times New Roman" panose="02020603050405020304" pitchFamily="18" charset="0"/>
                <a:cs typeface="Times New Roman" panose="02020603050405020304" pitchFamily="18" charset="0"/>
              </a:rPr>
              <a:t>TripAdvisor</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and Yelp provide a platform for consumers to have conversations about and offer evaluations of brands they have interacted with.</a:t>
            </a:r>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25948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https://sayyess.com/wp-content/uploads/sites/3/2023/04/Time-is-our-greatest-currency.-Copy-330x330.png"/>
          <p:cNvPicPr>
            <a:picLocks noChangeAspect="1" noChangeArrowheads="1"/>
          </p:cNvPicPr>
          <p:nvPr/>
        </p:nvPicPr>
        <p:blipFill rotWithShape="1">
          <a:blip r:embed="rId2">
            <a:extLst>
              <a:ext uri="{28A0092B-C50C-407E-A947-70E740481C1C}">
                <a14:useLocalDpi xmlns:a14="http://schemas.microsoft.com/office/drawing/2010/main" val="0"/>
              </a:ext>
            </a:extLst>
          </a:blip>
          <a:srcRect t="8483" b="8769"/>
          <a:stretch/>
        </p:blipFill>
        <p:spPr bwMode="auto">
          <a:xfrm>
            <a:off x="505859" y="1071610"/>
            <a:ext cx="4404574" cy="364472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3117716" y="412356"/>
            <a:ext cx="3618964" cy="523220"/>
          </a:xfrm>
          <a:prstGeom prst="rect">
            <a:avLst/>
          </a:prstGeom>
          <a:solidFill>
            <a:srgbClr val="FFC000"/>
          </a:solidFill>
        </p:spPr>
        <p:txBody>
          <a:bodyPr wrap="square" rtlCol="0">
            <a:spAutoFit/>
          </a:bodyPr>
          <a:lstStyle/>
          <a:p>
            <a:r>
              <a:rPr lang="en-IN" sz="2800" b="1" dirty="0" smtClean="0">
                <a:latin typeface="Times New Roman" panose="02020603050405020304" pitchFamily="18" charset="0"/>
                <a:cs typeface="Times New Roman" panose="02020603050405020304" pitchFamily="18" charset="0"/>
              </a:rPr>
              <a:t>D Mart Competitor</a:t>
            </a:r>
            <a:endParaRPr lang="en-IN" sz="2800" b="1" dirty="0">
              <a:latin typeface="Times New Roman" panose="02020603050405020304" pitchFamily="18" charset="0"/>
              <a:cs typeface="Times New Roman" panose="02020603050405020304" pitchFamily="18" charset="0"/>
            </a:endParaRPr>
          </a:p>
        </p:txBody>
      </p:sp>
      <p:pic>
        <p:nvPicPr>
          <p:cNvPr id="1030" name="Picture 6" descr="https://tse4.mm.bing.net/th?id=OIP.KU7wCmos5Gw9r41aod_d8wHaEL&amp;pid=Api&amp;P=0&amp;h=18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33477" y="412356"/>
            <a:ext cx="3038475" cy="17145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ttps://tse1.mm.bing.net/th?id=OIP.o3CVX_EUlzuC-Jx8Cx9JFwHaE8&amp;pid=Api&amp;P=0&amp;h=18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33477" y="2408769"/>
            <a:ext cx="3038474" cy="202564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https://tse2.mm.bing.net/th?id=OIP.rRSJ6nhhD4SgROd9e448bwHaEh&amp;pid=Api&amp;P=0&amp;h=18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33477" y="4716331"/>
            <a:ext cx="3038474" cy="1853984"/>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https://tse1.mm.bing.net/th?id=OIP.hVH6BnZdWpB3wbuFcsQ2igHaHj&amp;pid=Api&amp;P=0&amp;h=180"/>
          <p:cNvPicPr>
            <a:picLocks noChangeAspect="1" noChangeArrowheads="1"/>
          </p:cNvPicPr>
          <p:nvPr/>
        </p:nvPicPr>
        <p:blipFill rotWithShape="1">
          <a:blip r:embed="rId6">
            <a:extLst>
              <a:ext uri="{28A0092B-C50C-407E-A947-70E740481C1C}">
                <a14:useLocalDpi xmlns:a14="http://schemas.microsoft.com/office/drawing/2010/main" val="0"/>
              </a:ext>
            </a:extLst>
          </a:blip>
          <a:srcRect t="8856" b="11443"/>
          <a:stretch/>
        </p:blipFill>
        <p:spPr bwMode="auto">
          <a:xfrm>
            <a:off x="5404119" y="1071609"/>
            <a:ext cx="2235671" cy="364472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528038" y="4996991"/>
            <a:ext cx="7358595" cy="830997"/>
          </a:xfrm>
          <a:prstGeom prst="rect">
            <a:avLst/>
          </a:prstGeom>
          <a:solidFill>
            <a:srgbClr val="00B050"/>
          </a:solidFill>
        </p:spPr>
        <p:txBody>
          <a:bodyPr wrap="square" rtlCol="0">
            <a:spAutoFit/>
          </a:bodyPr>
          <a:lstStyle/>
          <a:p>
            <a:r>
              <a:rPr lang="en-IN" sz="2400" b="1" dirty="0" smtClean="0"/>
              <a:t>How can you make customer spend more time in your showroom (CAR)? </a:t>
            </a:r>
            <a:endParaRPr lang="en-IN" sz="2400" b="1" dirty="0"/>
          </a:p>
        </p:txBody>
      </p:sp>
      <p:sp>
        <p:nvSpPr>
          <p:cNvPr id="4" name="TextBox 3"/>
          <p:cNvSpPr txBox="1"/>
          <p:nvPr/>
        </p:nvSpPr>
        <p:spPr>
          <a:xfrm>
            <a:off x="955180" y="5992740"/>
            <a:ext cx="6504310" cy="461665"/>
          </a:xfrm>
          <a:prstGeom prst="rect">
            <a:avLst/>
          </a:prstGeom>
          <a:solidFill>
            <a:srgbClr val="FF0000"/>
          </a:solidFill>
        </p:spPr>
        <p:txBody>
          <a:bodyPr wrap="square" rtlCol="0">
            <a:spAutoFit/>
          </a:bodyPr>
          <a:lstStyle/>
          <a:p>
            <a:r>
              <a:rPr lang="en-IN" sz="2400" b="1" dirty="0"/>
              <a:t>	</a:t>
            </a:r>
            <a:r>
              <a:rPr lang="en-IN" sz="2400" b="1" dirty="0" smtClean="0"/>
              <a:t>MORE TIME SPENT MORE MONEY SPENT </a:t>
            </a:r>
            <a:endParaRPr lang="en-IN" sz="2400" b="1" dirty="0"/>
          </a:p>
        </p:txBody>
      </p:sp>
    </p:spTree>
    <p:extLst>
      <p:ext uri="{BB962C8B-B14F-4D97-AF65-F5344CB8AC3E}">
        <p14:creationId xmlns:p14="http://schemas.microsoft.com/office/powerpoint/2010/main" val="32178668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smtClean="0">
                <a:solidFill>
                  <a:srgbClr val="FF0000"/>
                </a:solidFill>
              </a:rPr>
              <a:t>Time as Currency</a:t>
            </a:r>
            <a:endParaRPr lang="en-IN" b="1" dirty="0">
              <a:solidFill>
                <a:srgbClr val="FF0000"/>
              </a:solidFill>
            </a:endParaRPr>
          </a:p>
        </p:txBody>
      </p:sp>
      <p:sp>
        <p:nvSpPr>
          <p:cNvPr id="3" name="Content Placeholder 2"/>
          <p:cNvSpPr>
            <a:spLocks noGrp="1"/>
          </p:cNvSpPr>
          <p:nvPr>
            <p:ph idx="1"/>
          </p:nvPr>
        </p:nvSpPr>
        <p:spPr/>
        <p:txBody>
          <a:bodyPr/>
          <a:lstStyle/>
          <a:p>
            <a:r>
              <a:rPr lang="en-IN" dirty="0" smtClean="0"/>
              <a:t>Customer spending more time at home or in market?</a:t>
            </a:r>
          </a:p>
          <a:p>
            <a:r>
              <a:rPr lang="en-IN" dirty="0" smtClean="0"/>
              <a:t>Attention is scarce</a:t>
            </a:r>
          </a:p>
          <a:p>
            <a:endParaRPr lang="en-IN" dirty="0"/>
          </a:p>
        </p:txBody>
      </p:sp>
      <p:pic>
        <p:nvPicPr>
          <p:cNvPr id="1028" name="Picture 4" descr="https://i.pinimg.com/736x/13/61/cb/1361cb9f2953f3bd0361c27d3f7aedc8--coffee-to-go-coffee-shop.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3463" y="2963706"/>
            <a:ext cx="3669450" cy="275208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s://tse3.mm.bing.net/th?id=OIP.7-Rcsy2RayWKkOV0apt7SQHaFh&amp;pid=Api&amp;P=0&amp;h=18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3679" y="2963705"/>
            <a:ext cx="3948066" cy="2948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2665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tse1.mm.bing.net/th?id=OIP.-RJ8EFPbTyZAYQKYLk3qgQHaHb&amp;pid=Api&amp;P=0&amp;h=18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941" y="1714813"/>
            <a:ext cx="3263956" cy="328219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s://tse1.mm.bing.net/th?id=OIP.ghVAtFeFTKL6RLyzrgtEgQHaJ4&amp;pid=Api&amp;P=0&amp;h=18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9567" y="1714813"/>
            <a:ext cx="2461643" cy="328219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https://tse1.mm.bing.net/th?id=OIP.2DIFcj599SIvcXvNfUddfgHaE6&amp;pid=Api&amp;P=0&amp;h=18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24050" y="1958628"/>
            <a:ext cx="4207364" cy="279455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4272498" y="655681"/>
            <a:ext cx="4070473" cy="584775"/>
          </a:xfrm>
          <a:prstGeom prst="rect">
            <a:avLst/>
          </a:prstGeom>
        </p:spPr>
        <p:txBody>
          <a:bodyPr wrap="none">
            <a:spAutoFit/>
          </a:bodyPr>
          <a:lstStyle/>
          <a:p>
            <a:r>
              <a:rPr lang="en-IN" sz="3200" b="1" dirty="0" err="1" smtClean="0">
                <a:solidFill>
                  <a:srgbClr val="FF0000"/>
                </a:solidFill>
              </a:rPr>
              <a:t>Autostadt</a:t>
            </a:r>
            <a:r>
              <a:rPr lang="en-IN" sz="3200" b="1" dirty="0" smtClean="0">
                <a:solidFill>
                  <a:srgbClr val="FF0000"/>
                </a:solidFill>
              </a:rPr>
              <a:t> </a:t>
            </a:r>
            <a:r>
              <a:rPr lang="en-IN" sz="3200" b="1" dirty="0" err="1">
                <a:solidFill>
                  <a:srgbClr val="FF0000"/>
                </a:solidFill>
              </a:rPr>
              <a:t>volkswagon</a:t>
            </a:r>
            <a:endParaRPr lang="en-IN" sz="3200" b="1" dirty="0">
              <a:solidFill>
                <a:srgbClr val="FF0000"/>
              </a:solidFill>
            </a:endParaRPr>
          </a:p>
        </p:txBody>
      </p:sp>
    </p:spTree>
    <p:extLst>
      <p:ext uri="{BB962C8B-B14F-4D97-AF65-F5344CB8AC3E}">
        <p14:creationId xmlns:p14="http://schemas.microsoft.com/office/powerpoint/2010/main" val="17345118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8" descr="https://tse3.mm.bing.net/th?id=OIP.nDUEMK1moVEMRAAiGsw3bwHaE7&amp;pid=Api&amp;P=0&amp;h=18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87585" y="2463710"/>
            <a:ext cx="2571750" cy="1714500"/>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https://tse1.mm.bing.net/th?id=OIP.GP1DHdwFFxLGw01kgPJC8wHaE8&amp;pid=Api&amp;P=0&amp;h=18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273" y="2463710"/>
            <a:ext cx="2571750" cy="17145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4852340" y="526892"/>
            <a:ext cx="2663037" cy="646331"/>
          </a:xfrm>
          <a:prstGeom prst="rect">
            <a:avLst/>
          </a:prstGeom>
        </p:spPr>
        <p:txBody>
          <a:bodyPr wrap="none">
            <a:spAutoFit/>
          </a:bodyPr>
          <a:lstStyle/>
          <a:p>
            <a:r>
              <a:rPr lang="en-IN" sz="3600" b="1" dirty="0" smtClean="0">
                <a:solidFill>
                  <a:srgbClr val="FF0000"/>
                </a:solidFill>
              </a:rPr>
              <a:t>Ferrari </a:t>
            </a:r>
            <a:r>
              <a:rPr lang="en-IN" sz="3600" b="1" dirty="0">
                <a:solidFill>
                  <a:srgbClr val="FF0000"/>
                </a:solidFill>
              </a:rPr>
              <a:t>world</a:t>
            </a:r>
          </a:p>
        </p:txBody>
      </p:sp>
      <p:pic>
        <p:nvPicPr>
          <p:cNvPr id="3076" name="Picture 4" descr="https://tse2.mm.bing.net/th?id=OIP.JjEBPf5lanXvZX2dcI2gCwHaEK&amp;pid=Api&amp;P=0&amp;h=18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19738" y="4123162"/>
            <a:ext cx="3048000" cy="171450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https://tse2.mm.bing.net/th?id=OIP.9QyjnN9lU4iLn2Wbw6o7UAHaEK&amp;pid=Api&amp;P=0&amp;h=18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79113" y="1012109"/>
            <a:ext cx="3048000" cy="171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6824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ttps://tse2.mm.bing.net/th?id=OIP.V5evipwEDMS_aJyGtLNQNgHaE8&amp;pid=Api&amp;P=0&amp;h=18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774" y="1200150"/>
            <a:ext cx="2571750" cy="17145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3948565" y="486847"/>
            <a:ext cx="4207819" cy="646331"/>
          </a:xfrm>
          <a:prstGeom prst="rect">
            <a:avLst/>
          </a:prstGeom>
        </p:spPr>
        <p:txBody>
          <a:bodyPr wrap="none">
            <a:spAutoFit/>
          </a:bodyPr>
          <a:lstStyle/>
          <a:p>
            <a:r>
              <a:rPr lang="en-IN" sz="3600" b="1" dirty="0" smtClean="0">
                <a:solidFill>
                  <a:srgbClr val="FF0000"/>
                </a:solidFill>
              </a:rPr>
              <a:t>Museum </a:t>
            </a:r>
            <a:r>
              <a:rPr lang="en-IN" sz="3600" b="1" dirty="0">
                <a:solidFill>
                  <a:srgbClr val="FF0000"/>
                </a:solidFill>
              </a:rPr>
              <a:t>of </a:t>
            </a:r>
            <a:r>
              <a:rPr lang="en-IN" sz="3600" b="1" dirty="0" err="1" smtClean="0">
                <a:solidFill>
                  <a:srgbClr val="FF0000"/>
                </a:solidFill>
              </a:rPr>
              <a:t>Icecream</a:t>
            </a:r>
            <a:endParaRPr lang="en-IN" sz="3600" b="1" dirty="0">
              <a:solidFill>
                <a:srgbClr val="FF0000"/>
              </a:solidFill>
            </a:endParaRPr>
          </a:p>
        </p:txBody>
      </p:sp>
      <p:pic>
        <p:nvPicPr>
          <p:cNvPr id="4100" name="Picture 4" descr="https://tse3.mm.bing.net/th?id=OIP.mHV_V9liW2SEsuf0OwW7OgHaE7&amp;pid=Api&amp;P=0&amp;h=18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52474" y="1358773"/>
            <a:ext cx="2571750" cy="1714500"/>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https://tse4.mm.bing.net/th?id=OIP.hSBy2x7ZRu1hHksnQHKzywHaHa&amp;pid=Api&amp;P=0&amp;h=18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83494" y="1705089"/>
            <a:ext cx="1612517" cy="1781472"/>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https://tse3.mm.bing.net/th?id=OIP._qnS3GriScC1xBaXIRYXvwHaE8&amp;pid=Api&amp;P=0&amp;h=18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52474" y="4549453"/>
            <a:ext cx="2571750" cy="1714500"/>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descr="https://tse4.mm.bing.net/th?id=OIP.74UWEiC9tM_wvGq5HNzCqQHaEA&amp;pid=Api&amp;P=0&amp;h=18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2187" y="4585449"/>
            <a:ext cx="2641600" cy="1678504"/>
          </a:xfrm>
          <a:prstGeom prst="rect">
            <a:avLst/>
          </a:prstGeom>
          <a:noFill/>
          <a:extLst>
            <a:ext uri="{909E8E84-426E-40DD-AFC4-6F175D3DCCD1}">
              <a14:hiddenFill xmlns:a14="http://schemas.microsoft.com/office/drawing/2010/main">
                <a:solidFill>
                  <a:srgbClr val="FFFFFF"/>
                </a:solidFill>
              </a14:hiddenFill>
            </a:ext>
          </a:extLst>
        </p:spPr>
      </p:pic>
      <p:pic>
        <p:nvPicPr>
          <p:cNvPr id="4108" name="Picture 12" descr="https://tse4.mm.bing.net/th?id=OIP.OZjKaA3oeRHbL2I35l1eXgHaE8&amp;pid=Api&amp;P=0&amp;h=18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66518" y="4131404"/>
            <a:ext cx="2571750" cy="1714500"/>
          </a:xfrm>
          <a:prstGeom prst="rect">
            <a:avLst/>
          </a:prstGeom>
          <a:noFill/>
          <a:extLst>
            <a:ext uri="{909E8E84-426E-40DD-AFC4-6F175D3DCCD1}">
              <a14:hiddenFill xmlns:a14="http://schemas.microsoft.com/office/drawing/2010/main">
                <a:solidFill>
                  <a:srgbClr val="FFFFFF"/>
                </a:solidFill>
              </a14:hiddenFill>
            </a:ext>
          </a:extLst>
        </p:spPr>
      </p:pic>
      <p:pic>
        <p:nvPicPr>
          <p:cNvPr id="4110" name="Picture 14" descr="https://tse2.mm.bing.net/th?id=OIP.Wra3CHmqtC99ge_1yISQYwHaE8&amp;pid=Api&amp;P=0&amp;h=18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14467" y="2595825"/>
            <a:ext cx="2571750" cy="171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75947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smtClean="0">
                <a:solidFill>
                  <a:srgbClr val="FF0000"/>
                </a:solidFill>
              </a:rPr>
              <a:t>Theme the Experience</a:t>
            </a:r>
            <a:endParaRPr lang="en-IN" b="1" dirty="0">
              <a:solidFill>
                <a:srgbClr val="FF0000"/>
              </a:solidFill>
            </a:endParaRPr>
          </a:p>
        </p:txBody>
      </p:sp>
      <p:sp>
        <p:nvSpPr>
          <p:cNvPr id="3" name="Content Placeholder 2"/>
          <p:cNvSpPr>
            <a:spLocks noGrp="1"/>
          </p:cNvSpPr>
          <p:nvPr>
            <p:ph idx="1"/>
          </p:nvPr>
        </p:nvSpPr>
        <p:spPr/>
        <p:txBody>
          <a:bodyPr/>
          <a:lstStyle/>
          <a:p>
            <a:r>
              <a:rPr lang="en-US" b="1" dirty="0">
                <a:solidFill>
                  <a:srgbClr val="FF0000"/>
                </a:solidFill>
              </a:rPr>
              <a:t>Medieval Times</a:t>
            </a:r>
            <a:r>
              <a:rPr lang="en-US" dirty="0"/>
              <a:t> Dinner &amp; Tournament is a fun family dinner </a:t>
            </a:r>
            <a:r>
              <a:rPr lang="en-US" dirty="0">
                <a:solidFill>
                  <a:srgbClr val="FF0000"/>
                </a:solidFill>
              </a:rPr>
              <a:t>theater themed</a:t>
            </a:r>
            <a:r>
              <a:rPr lang="en-US" dirty="0"/>
              <a:t> as a royal banquet and tournament of jousting, sword fighting, and games of skill.</a:t>
            </a:r>
            <a:endParaRPr lang="en-IN" dirty="0"/>
          </a:p>
        </p:txBody>
      </p:sp>
      <p:pic>
        <p:nvPicPr>
          <p:cNvPr id="5122" name="Picture 2" descr="https://tse4.mm.bing.net/th?id=OIP.oCquche0pdsV3ydbWcgXhwAAAA&amp;pid=Api&amp;P=0&amp;h=18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9997" y="3144044"/>
            <a:ext cx="2571750" cy="171450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https://tse3.mm.bing.net/th?id=OIP.zVuAQnb5XfRZS7dA2Zh6QwHaEK&amp;pid=Api&amp;P=0&amp;h=18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0123" y="3919339"/>
            <a:ext cx="2701924" cy="1633538"/>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https://tse3.mm.bing.net/th?id=OIP.tVwnxiG8hSPA59RYHmuXvQHaFj&amp;pid=Api&amp;P=0&amp;h=18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92047" y="4466829"/>
            <a:ext cx="2496741" cy="1714500"/>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https://tse2.mm.bing.net/th?id=OIP.4Qyg5X3bARnSIbwA-ZAqGgHaE8&amp;pid=Api&amp;P=0&amp;h=18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15297" y="4847829"/>
            <a:ext cx="2571750" cy="1714500"/>
          </a:xfrm>
          <a:prstGeom prst="rect">
            <a:avLst/>
          </a:prstGeom>
          <a:noFill/>
          <a:extLst>
            <a:ext uri="{909E8E84-426E-40DD-AFC4-6F175D3DCCD1}">
              <a14:hiddenFill xmlns:a14="http://schemas.microsoft.com/office/drawing/2010/main">
                <a:solidFill>
                  <a:srgbClr val="FFFFFF"/>
                </a:solidFill>
              </a14:hiddenFill>
            </a:ext>
          </a:extLst>
        </p:spPr>
      </p:pic>
      <p:pic>
        <p:nvPicPr>
          <p:cNvPr id="5130" name="Picture 10" descr="https://b.zmtcdn.com/data/pictures/3/17059643/3d617a908710ca65442442b60e7b9a05_featured_v2.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592347" y="2757488"/>
            <a:ext cx="2638503" cy="1704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22505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https://tse3.mm.bing.net/th?id=OIP.6sgQPkWefk9M5ltwTU0MTAHaE8&amp;pid=Api&amp;P=0&amp;h=18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4111" y="692150"/>
            <a:ext cx="3082926" cy="171450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https://tse3.mm.bing.net/th?id=OIP.qp63gnuYKfQSvz5ppQLBBQHaEK&amp;pid=Api&amp;P=0&amp;h=18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3724" y="1567160"/>
            <a:ext cx="3048000" cy="1714500"/>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https://tse2.mm.bing.net/th?id=OIP.Nazz4LMLRa5M7I3l6HkLHgHaEK&amp;pid=Api&amp;P=0&amp;h=18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18412" y="692150"/>
            <a:ext cx="3048000" cy="1714500"/>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descr="https://tse2.mm.bing.net/th?id=OIP.OPrNasj8VAwYulnzqDgcLgHaE8&amp;pid=Api&amp;P=0&amp;h=18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46850" y="4174132"/>
            <a:ext cx="2819400" cy="1679575"/>
          </a:xfrm>
          <a:prstGeom prst="rect">
            <a:avLst/>
          </a:prstGeom>
          <a:noFill/>
          <a:extLst>
            <a:ext uri="{909E8E84-426E-40DD-AFC4-6F175D3DCCD1}">
              <a14:hiddenFill xmlns:a14="http://schemas.microsoft.com/office/drawing/2010/main">
                <a:solidFill>
                  <a:srgbClr val="FFFFFF"/>
                </a:solidFill>
              </a14:hiddenFill>
            </a:ext>
          </a:extLst>
        </p:spPr>
      </p:pic>
      <p:pic>
        <p:nvPicPr>
          <p:cNvPr id="6154" name="Picture 10" descr="https://tse2.mm.bing.net/th?id=OIP.V_m-wvJVl-rgAoZNFwx6XgHaEK&amp;pid=Api&amp;P=0&amp;h=18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39999" y="4156670"/>
            <a:ext cx="3048000" cy="17145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1028701" y="3435588"/>
            <a:ext cx="9801224" cy="369332"/>
          </a:xfrm>
          <a:prstGeom prst="rect">
            <a:avLst/>
          </a:prstGeom>
          <a:solidFill>
            <a:schemeClr val="tx1"/>
          </a:solidFill>
        </p:spPr>
        <p:txBody>
          <a:bodyPr wrap="square">
            <a:spAutoFit/>
          </a:bodyPr>
          <a:lstStyle/>
          <a:p>
            <a:r>
              <a:rPr lang="en-US" b="1" dirty="0">
                <a:solidFill>
                  <a:srgbClr val="FF0000"/>
                </a:solidFill>
                <a:latin typeface="Roboto"/>
              </a:rPr>
              <a:t>Hard Rock </a:t>
            </a:r>
            <a:r>
              <a:rPr lang="en-US" b="1" dirty="0" smtClean="0">
                <a:solidFill>
                  <a:srgbClr val="FF0000"/>
                </a:solidFill>
                <a:latin typeface="Roboto"/>
              </a:rPr>
              <a:t>Café- chain </a:t>
            </a:r>
            <a:r>
              <a:rPr lang="en-US" b="1" dirty="0">
                <a:solidFill>
                  <a:srgbClr val="FF0000"/>
                </a:solidFill>
                <a:latin typeface="Roboto"/>
              </a:rPr>
              <a:t>of theme </a:t>
            </a:r>
            <a:r>
              <a:rPr lang="en-US" b="1" dirty="0" smtClean="0">
                <a:solidFill>
                  <a:srgbClr val="FF0000"/>
                </a:solidFill>
                <a:latin typeface="Roboto"/>
              </a:rPr>
              <a:t>restaurants</a:t>
            </a:r>
            <a:r>
              <a:rPr lang="en-US" b="1" dirty="0">
                <a:solidFill>
                  <a:srgbClr val="FF0000"/>
                </a:solidFill>
                <a:latin typeface="Roboto"/>
              </a:rPr>
              <a:t>, memorabilia shops, casinos and </a:t>
            </a:r>
            <a:r>
              <a:rPr lang="en-US" b="1" dirty="0" smtClean="0">
                <a:solidFill>
                  <a:srgbClr val="FF0000"/>
                </a:solidFill>
                <a:latin typeface="Roboto"/>
              </a:rPr>
              <a:t>museums</a:t>
            </a:r>
            <a:endParaRPr lang="en-IN" b="1" dirty="0">
              <a:solidFill>
                <a:srgbClr val="FF0000"/>
              </a:solidFill>
            </a:endParaRPr>
          </a:p>
        </p:txBody>
      </p:sp>
    </p:spTree>
    <p:extLst>
      <p:ext uri="{BB962C8B-B14F-4D97-AF65-F5344CB8AC3E}">
        <p14:creationId xmlns:p14="http://schemas.microsoft.com/office/powerpoint/2010/main" val="41402363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https://tse3.mm.bing.net/th?id=OIP.V1S-rlggprjD6PZbYfxrIwAAAA&amp;pid=Api&amp;P=0&amp;h=18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87179" y="1918952"/>
            <a:ext cx="5221244" cy="34808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82812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73141" y="1932306"/>
            <a:ext cx="8825658" cy="2677648"/>
          </a:xfrm>
          <a:solidFill>
            <a:srgbClr val="FF0000"/>
          </a:solidFill>
        </p:spPr>
        <p:txBody>
          <a:bodyPr/>
          <a:lstStyle/>
          <a:p>
            <a:r>
              <a:rPr lang="en-IN" b="1" dirty="0" smtClean="0">
                <a:solidFill>
                  <a:schemeClr val="tx1">
                    <a:lumMod val="95000"/>
                    <a:lumOff val="5000"/>
                  </a:schemeClr>
                </a:solidFill>
              </a:rPr>
              <a:t>Experience Economy</a:t>
            </a:r>
            <a:r>
              <a:rPr lang="en-IN" b="1" dirty="0" smtClean="0">
                <a:solidFill>
                  <a:srgbClr val="FF0000"/>
                </a:solidFill>
              </a:rPr>
              <a:t/>
            </a:r>
            <a:br>
              <a:rPr lang="en-IN" b="1" dirty="0" smtClean="0">
                <a:solidFill>
                  <a:srgbClr val="FF0000"/>
                </a:solidFill>
              </a:rPr>
            </a:br>
            <a:endParaRPr lang="en-IN" b="1" dirty="0">
              <a:solidFill>
                <a:srgbClr val="FF0000"/>
              </a:solidFill>
            </a:endParaRPr>
          </a:p>
        </p:txBody>
      </p:sp>
    </p:spTree>
    <p:extLst>
      <p:ext uri="{BB962C8B-B14F-4D97-AF65-F5344CB8AC3E}">
        <p14:creationId xmlns:p14="http://schemas.microsoft.com/office/powerpoint/2010/main" val="38299949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5168" y="2343956"/>
            <a:ext cx="10515600" cy="3928056"/>
          </a:xfrm>
        </p:spPr>
        <p:txBody>
          <a:bodyPr>
            <a:normAutofit fontScale="92500"/>
          </a:bodyPr>
          <a:lstStyle/>
          <a:p>
            <a:r>
              <a:rPr lang="en-IN" dirty="0" smtClean="0"/>
              <a:t>It takes a true commodity UNROASTED COFFEE BEANS worth a mere </a:t>
            </a:r>
            <a:r>
              <a:rPr lang="en-IN" sz="3500" dirty="0" smtClean="0">
                <a:solidFill>
                  <a:srgbClr val="FF0000"/>
                </a:solidFill>
              </a:rPr>
              <a:t>2 or 3 cents  </a:t>
            </a:r>
            <a:r>
              <a:rPr lang="en-IN" dirty="0" smtClean="0">
                <a:solidFill>
                  <a:srgbClr val="FF0000"/>
                </a:solidFill>
              </a:rPr>
              <a:t>per cup</a:t>
            </a:r>
            <a:r>
              <a:rPr lang="en-IN" dirty="0" smtClean="0"/>
              <a:t>, and turns into an experiential offering worth </a:t>
            </a:r>
          </a:p>
          <a:p>
            <a:pPr marL="0" indent="0">
              <a:buNone/>
            </a:pPr>
            <a:r>
              <a:rPr lang="en-IN" sz="4000" dirty="0" smtClean="0">
                <a:solidFill>
                  <a:srgbClr val="FF0000"/>
                </a:solidFill>
              </a:rPr>
              <a:t>  $3, ….$10</a:t>
            </a:r>
          </a:p>
          <a:p>
            <a:endParaRPr lang="en-IN" dirty="0"/>
          </a:p>
          <a:p>
            <a:r>
              <a:rPr lang="en-IN" b="1" i="1" dirty="0" smtClean="0">
                <a:solidFill>
                  <a:srgbClr val="FF0000"/>
                </a:solidFill>
              </a:rPr>
              <a:t>Is your customer increasing or decreasing time spent with you?</a:t>
            </a:r>
          </a:p>
          <a:p>
            <a:r>
              <a:rPr lang="en-IN" b="1" i="1" dirty="0" smtClean="0">
                <a:solidFill>
                  <a:srgbClr val="FF0000"/>
                </a:solidFill>
              </a:rPr>
              <a:t>Do you have to do more marketing or experience create demand entirely?</a:t>
            </a:r>
          </a:p>
          <a:p>
            <a:r>
              <a:rPr lang="en-IN" b="1" i="1" dirty="0" smtClean="0">
                <a:solidFill>
                  <a:srgbClr val="FF0000"/>
                </a:solidFill>
              </a:rPr>
              <a:t>Is money derived entirely from sale of commodities, goods, services or from charging the experience?</a:t>
            </a:r>
            <a:endParaRPr lang="en-IN" b="1" i="1" dirty="0">
              <a:solidFill>
                <a:srgbClr val="FF0000"/>
              </a:solidFill>
            </a:endParaRPr>
          </a:p>
        </p:txBody>
      </p:sp>
      <p:pic>
        <p:nvPicPr>
          <p:cNvPr id="2054" name="Picture 6" descr="https://tse4.mm.bing.net/th?id=OIP.oV3wyb_y_CCwUO5_5BIKSgHaFA&amp;pid=Api&amp;P=0&amp;h=180"/>
          <p:cNvPicPr>
            <a:picLocks noChangeAspect="1" noChangeArrowheads="1"/>
          </p:cNvPicPr>
          <p:nvPr/>
        </p:nvPicPr>
        <p:blipFill rotWithShape="1">
          <a:blip r:embed="rId2">
            <a:extLst>
              <a:ext uri="{28A0092B-C50C-407E-A947-70E740481C1C}">
                <a14:useLocalDpi xmlns:a14="http://schemas.microsoft.com/office/drawing/2010/main" val="0"/>
              </a:ext>
            </a:extLst>
          </a:blip>
          <a:srcRect l="17751"/>
          <a:stretch/>
        </p:blipFill>
        <p:spPr bwMode="auto">
          <a:xfrm>
            <a:off x="1594331" y="393034"/>
            <a:ext cx="2083918" cy="17145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p:cNvPicPr>
            <a:picLocks noChangeAspect="1"/>
          </p:cNvPicPr>
          <p:nvPr/>
        </p:nvPicPr>
        <p:blipFill>
          <a:blip r:embed="rId3"/>
          <a:stretch>
            <a:fillRect/>
          </a:stretch>
        </p:blipFill>
        <p:spPr>
          <a:xfrm>
            <a:off x="6839498" y="435022"/>
            <a:ext cx="1914659" cy="1713842"/>
          </a:xfrm>
          <a:prstGeom prst="rect">
            <a:avLst/>
          </a:prstGeom>
        </p:spPr>
      </p:pic>
      <p:pic>
        <p:nvPicPr>
          <p:cNvPr id="2058" name="Picture 10" descr="https://i.pinimg.com/originals/81/a8/c5/81a8c5fe24d2436242e3897e92ab792e.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42334" y="383673"/>
            <a:ext cx="2433079" cy="173214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9118242" y="393034"/>
            <a:ext cx="2007214" cy="1815882"/>
          </a:xfrm>
          <a:prstGeom prst="rect">
            <a:avLst/>
          </a:prstGeom>
          <a:solidFill>
            <a:schemeClr val="tx1"/>
          </a:solidFill>
        </p:spPr>
        <p:txBody>
          <a:bodyPr wrap="square" rtlCol="0" anchor="ctr">
            <a:spAutoFit/>
          </a:bodyPr>
          <a:lstStyle/>
          <a:p>
            <a:pPr algn="ctr"/>
            <a:r>
              <a:rPr lang="en-IN" sz="2800" b="1" dirty="0" smtClean="0">
                <a:solidFill>
                  <a:srgbClr val="FF0000"/>
                </a:solidFill>
              </a:rPr>
              <a:t>3</a:t>
            </a:r>
            <a:r>
              <a:rPr lang="en-IN" sz="2800" b="1" baseline="30000" dirty="0" smtClean="0">
                <a:solidFill>
                  <a:srgbClr val="FF0000"/>
                </a:solidFill>
              </a:rPr>
              <a:t>rd</a:t>
            </a:r>
            <a:r>
              <a:rPr lang="en-IN" sz="2800" b="1" dirty="0" smtClean="0">
                <a:solidFill>
                  <a:srgbClr val="FF0000"/>
                </a:solidFill>
              </a:rPr>
              <a:t> </a:t>
            </a:r>
          </a:p>
          <a:p>
            <a:pPr algn="ctr"/>
            <a:r>
              <a:rPr lang="en-IN" sz="2800" b="1" dirty="0" smtClean="0">
                <a:solidFill>
                  <a:srgbClr val="FF0000"/>
                </a:solidFill>
              </a:rPr>
              <a:t>Place</a:t>
            </a:r>
          </a:p>
          <a:p>
            <a:pPr algn="ctr"/>
            <a:r>
              <a:rPr lang="en-IN" sz="2800" b="1" dirty="0" smtClean="0">
                <a:solidFill>
                  <a:srgbClr val="FF0000"/>
                </a:solidFill>
              </a:rPr>
              <a:t>Socialization in US</a:t>
            </a:r>
            <a:endParaRPr lang="en-IN" sz="2800" b="1" dirty="0">
              <a:solidFill>
                <a:srgbClr val="FF0000"/>
              </a:solidFill>
            </a:endParaRPr>
          </a:p>
        </p:txBody>
      </p:sp>
    </p:spTree>
    <p:extLst>
      <p:ext uri="{BB962C8B-B14F-4D97-AF65-F5344CB8AC3E}">
        <p14:creationId xmlns:p14="http://schemas.microsoft.com/office/powerpoint/2010/main" val="17701642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https://www.techvshuman.com/wp-content/uploads/2019/05/experience-economy-pine-gerd-leonhard-1-1024x52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5068" y="916106"/>
            <a:ext cx="9753600" cy="5010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04289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https://images.squarespace-cdn.com/content/v1/57d68f2d03596e4e5bf47c9e/1490378100605-ULJIYMPVRNUI9I547PFG/ke17ZwdGBToddI8pDm48kJiz0-5RQxyREcUG2X9xr3pZw-zPPgdn4jUwVcJE1ZvWQUxwkmyExglNqGp0IvTJZUJFbgE-7XRK3dMEBRBhUpxXB25TwofyowEM6_y2S9lvNGHlNQPngrDv5DttLchSN6CijSWCoS1EuT4OnDU_2Pg/Experience+Econom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3692" y="396916"/>
            <a:ext cx="8319045" cy="62392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024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www.collidu.com/media/catalog/product/img/4/7/47f952316b3bcff67595c3697985d3de8840039a8417653593401fd513356d64/experience-economy-slide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9371" y="600076"/>
            <a:ext cx="10351315" cy="58226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37063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https://image.slidesharecdn.com/theexperienceeconomy-120510192202-phpapp01/95/the-experience-economy-5-728.jpg?cb=133667778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1104" y="508984"/>
            <a:ext cx="7865896" cy="58994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15012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s://www.selectgroup.com/wp-content/uploads/2017/09/Experience-Economy-Graphic-1150x55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973" y="1284668"/>
            <a:ext cx="10953750" cy="5238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26415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pic>
        <p:nvPicPr>
          <p:cNvPr id="9218" name="Picture 2" descr="https://image.slidesharecdn.com/theexperienceeconomy-111208070830-phpapp01/95/the-experience-economy-4-728.jpg?cb=1323329005"/>
          <p:cNvPicPr>
            <a:picLocks noChangeAspect="1" noChangeArrowheads="1"/>
          </p:cNvPicPr>
          <p:nvPr/>
        </p:nvPicPr>
        <p:blipFill rotWithShape="1">
          <a:blip r:embed="rId2">
            <a:extLst>
              <a:ext uri="{28A0092B-C50C-407E-A947-70E740481C1C}">
                <a14:useLocalDpi xmlns:a14="http://schemas.microsoft.com/office/drawing/2010/main" val="0"/>
              </a:ext>
            </a:extLst>
          </a:blip>
          <a:srcRect l="8741" t="4614" r="9454" b="11586"/>
          <a:stretch/>
        </p:blipFill>
        <p:spPr bwMode="auto">
          <a:xfrm>
            <a:off x="3125764" y="637419"/>
            <a:ext cx="6206209" cy="5393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19748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60608"/>
            <a:ext cx="10515600" cy="5816355"/>
          </a:xfrm>
        </p:spPr>
        <p:txBody>
          <a:bodyPr>
            <a:normAutofit fontScale="85000" lnSpcReduction="20000"/>
          </a:bodyPr>
          <a:lstStyle/>
          <a:p>
            <a:r>
              <a:rPr lang="en-IN" dirty="0" smtClean="0"/>
              <a:t>Staging experience is not about entertaining, its about engaging</a:t>
            </a:r>
          </a:p>
          <a:p>
            <a:r>
              <a:rPr lang="en-IN" dirty="0" smtClean="0"/>
              <a:t>An experience may engage guests on any number of dimensions</a:t>
            </a:r>
          </a:p>
          <a:p>
            <a:r>
              <a:rPr lang="en-IN" dirty="0" smtClean="0"/>
              <a:t>The first dimension on </a:t>
            </a:r>
            <a:r>
              <a:rPr lang="en-IN" dirty="0" smtClean="0">
                <a:solidFill>
                  <a:srgbClr val="FF0000"/>
                </a:solidFill>
              </a:rPr>
              <a:t>horizontal axis </a:t>
            </a:r>
            <a:r>
              <a:rPr lang="en-IN" dirty="0" smtClean="0"/>
              <a:t>corresponds to the level </a:t>
            </a:r>
            <a:r>
              <a:rPr lang="en-IN" dirty="0" smtClean="0">
                <a:solidFill>
                  <a:srgbClr val="FF0000"/>
                </a:solidFill>
              </a:rPr>
              <a:t>of guest participation.</a:t>
            </a:r>
          </a:p>
          <a:p>
            <a:r>
              <a:rPr lang="en-IN" dirty="0" smtClean="0"/>
              <a:t>At one end of the spectrum lies </a:t>
            </a:r>
            <a:r>
              <a:rPr lang="en-IN" dirty="0" smtClean="0">
                <a:solidFill>
                  <a:srgbClr val="FF0000"/>
                </a:solidFill>
              </a:rPr>
              <a:t>passive participation </a:t>
            </a:r>
            <a:r>
              <a:rPr lang="en-IN" dirty="0" smtClean="0"/>
              <a:t>in which the customer do not directly affect or influence the performance. Such participants include </a:t>
            </a:r>
            <a:r>
              <a:rPr lang="en-IN" dirty="0" smtClean="0">
                <a:solidFill>
                  <a:srgbClr val="FF0000"/>
                </a:solidFill>
              </a:rPr>
              <a:t>symphony </a:t>
            </a:r>
            <a:r>
              <a:rPr lang="en-IN" dirty="0" smtClean="0"/>
              <a:t>goers, who experience the event purely as observers or listeners.</a:t>
            </a:r>
          </a:p>
          <a:p>
            <a:r>
              <a:rPr lang="en-IN" dirty="0" smtClean="0"/>
              <a:t>At the other end of spectrum lies </a:t>
            </a:r>
            <a:r>
              <a:rPr lang="en-IN" dirty="0" smtClean="0">
                <a:solidFill>
                  <a:srgbClr val="FF0000"/>
                </a:solidFill>
              </a:rPr>
              <a:t>active participation</a:t>
            </a:r>
            <a:r>
              <a:rPr lang="en-IN" dirty="0" smtClean="0"/>
              <a:t>, in which customers personally affect the performance or the event that yields the experience. Active participants include</a:t>
            </a:r>
            <a:r>
              <a:rPr lang="en-IN" dirty="0" smtClean="0">
                <a:solidFill>
                  <a:srgbClr val="FF0000"/>
                </a:solidFill>
              </a:rPr>
              <a:t> skiers</a:t>
            </a:r>
            <a:r>
              <a:rPr lang="en-IN" dirty="0" smtClean="0"/>
              <a:t>, who participate in creating their own experience. </a:t>
            </a:r>
          </a:p>
          <a:p>
            <a:r>
              <a:rPr lang="en-IN" dirty="0" smtClean="0"/>
              <a:t>The second vertical dimension of experience  describes the kind of </a:t>
            </a:r>
            <a:r>
              <a:rPr lang="en-IN" dirty="0" smtClean="0">
                <a:solidFill>
                  <a:srgbClr val="FF0000"/>
                </a:solidFill>
              </a:rPr>
              <a:t>connection or environmental relationship</a:t>
            </a:r>
            <a:r>
              <a:rPr lang="en-IN" dirty="0" smtClean="0"/>
              <a:t>, that unites the customers with the event or performance. </a:t>
            </a:r>
          </a:p>
          <a:p>
            <a:r>
              <a:rPr lang="en-IN" dirty="0" smtClean="0"/>
              <a:t>At the one end of spectrum lies </a:t>
            </a:r>
            <a:r>
              <a:rPr lang="en-IN" dirty="0" smtClean="0">
                <a:solidFill>
                  <a:srgbClr val="FF0000"/>
                </a:solidFill>
              </a:rPr>
              <a:t>absorption occupying a person’s attention </a:t>
            </a:r>
            <a:r>
              <a:rPr lang="en-IN" dirty="0" smtClean="0"/>
              <a:t>by bringing the experience into the mind from distance.</a:t>
            </a:r>
          </a:p>
          <a:p>
            <a:r>
              <a:rPr lang="en-IN" dirty="0" smtClean="0"/>
              <a:t>At the other end is </a:t>
            </a:r>
            <a:r>
              <a:rPr lang="en-IN" dirty="0" smtClean="0">
                <a:solidFill>
                  <a:srgbClr val="FF0000"/>
                </a:solidFill>
              </a:rPr>
              <a:t>immersion, becoming physically or virtually a part </a:t>
            </a:r>
            <a:r>
              <a:rPr lang="en-IN" dirty="0" smtClean="0"/>
              <a:t>of the experience itself. </a:t>
            </a:r>
            <a:endParaRPr lang="en-IN" dirty="0"/>
          </a:p>
        </p:txBody>
      </p:sp>
    </p:spTree>
    <p:extLst>
      <p:ext uri="{BB962C8B-B14F-4D97-AF65-F5344CB8AC3E}">
        <p14:creationId xmlns:p14="http://schemas.microsoft.com/office/powerpoint/2010/main" val="37717145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The coupling of these dimensions defines 4 Realms of an experience</a:t>
            </a:r>
            <a:endParaRPr lang="en-IN" dirty="0"/>
          </a:p>
        </p:txBody>
      </p:sp>
      <p:sp>
        <p:nvSpPr>
          <p:cNvPr id="3" name="Content Placeholder 2"/>
          <p:cNvSpPr>
            <a:spLocks noGrp="1"/>
          </p:cNvSpPr>
          <p:nvPr>
            <p:ph idx="1"/>
          </p:nvPr>
        </p:nvSpPr>
        <p:spPr/>
        <p:txBody>
          <a:bodyPr/>
          <a:lstStyle/>
          <a:p>
            <a:r>
              <a:rPr lang="en-IN" sz="4400" b="1" dirty="0" smtClean="0">
                <a:solidFill>
                  <a:srgbClr val="FF0000"/>
                </a:solidFill>
              </a:rPr>
              <a:t>ENTERTAINMENT:</a:t>
            </a:r>
          </a:p>
          <a:p>
            <a:r>
              <a:rPr lang="en-IN" dirty="0" smtClean="0"/>
              <a:t>The kind of experiences most people think as entertainment occurs when they passively absorb the experience through their senses, as generally occurs when they view a performance, listen to music or read for pleasure.</a:t>
            </a:r>
          </a:p>
          <a:p>
            <a:r>
              <a:rPr lang="en-IN" dirty="0" smtClean="0"/>
              <a:t>But even though many experiences entertain, not all of them are.</a:t>
            </a:r>
          </a:p>
          <a:p>
            <a:r>
              <a:rPr lang="en-IN" dirty="0" smtClean="0"/>
              <a:t>They are not doing anything except responding to the experience, enjoying , laughing.</a:t>
            </a:r>
            <a:endParaRPr lang="en-IN" dirty="0"/>
          </a:p>
        </p:txBody>
      </p:sp>
    </p:spTree>
    <p:extLst>
      <p:ext uri="{BB962C8B-B14F-4D97-AF65-F5344CB8AC3E}">
        <p14:creationId xmlns:p14="http://schemas.microsoft.com/office/powerpoint/2010/main" val="33216860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r>
              <a:rPr lang="en-IN" sz="7800" b="1" dirty="0" smtClean="0">
                <a:solidFill>
                  <a:srgbClr val="FF0000"/>
                </a:solidFill>
              </a:rPr>
              <a:t>ESTHETIC:</a:t>
            </a:r>
          </a:p>
          <a:p>
            <a:r>
              <a:rPr lang="en-IN" dirty="0" smtClean="0"/>
              <a:t>Create an ATMOSPHERE in which your guest feels free to be.</a:t>
            </a:r>
          </a:p>
          <a:p>
            <a:r>
              <a:rPr lang="en-IN" dirty="0" smtClean="0"/>
              <a:t>In such experiences, guests are immersed in an event or environment but have little or no effect on it, leaving the environment but not themselves essentially untouched.</a:t>
            </a:r>
          </a:p>
          <a:p>
            <a:r>
              <a:rPr lang="en-IN" dirty="0" smtClean="0"/>
              <a:t>Rainforest CAFÉ: A wild place to shop and Eat is not to stimulate the experience of being in a Rainforest. Rather it aims to stage certain </a:t>
            </a:r>
            <a:r>
              <a:rPr lang="en-IN" dirty="0" err="1" smtClean="0"/>
              <a:t>esthetic</a:t>
            </a:r>
            <a:r>
              <a:rPr lang="en-IN" dirty="0" smtClean="0"/>
              <a:t> experience that is the Rainforest café.</a:t>
            </a:r>
          </a:p>
          <a:p>
            <a:r>
              <a:rPr lang="en-IN" dirty="0" smtClean="0"/>
              <a:t>FAKE-Honest-NON REAL</a:t>
            </a:r>
          </a:p>
          <a:p>
            <a:r>
              <a:rPr lang="en-IN" dirty="0" smtClean="0"/>
              <a:t>Rainforest is not the rainforest, They don’t try to fool their guests </a:t>
            </a:r>
            <a:r>
              <a:rPr lang="en-IN" dirty="0" err="1" smtClean="0"/>
              <a:t>ino</a:t>
            </a:r>
            <a:r>
              <a:rPr lang="en-IN" dirty="0" smtClean="0"/>
              <a:t> believing its something it is not.</a:t>
            </a:r>
          </a:p>
          <a:p>
            <a:r>
              <a:rPr lang="en-IN" dirty="0" smtClean="0"/>
              <a:t>IT’s TRUE to itself.</a:t>
            </a:r>
          </a:p>
          <a:p>
            <a:endParaRPr lang="en-IN" dirty="0" smtClean="0"/>
          </a:p>
          <a:p>
            <a:endParaRPr lang="en-IN" dirty="0"/>
          </a:p>
        </p:txBody>
      </p:sp>
      <p:sp>
        <p:nvSpPr>
          <p:cNvPr id="4" name="Title 1"/>
          <p:cNvSpPr>
            <a:spLocks noGrp="1"/>
          </p:cNvSpPr>
          <p:nvPr>
            <p:ph type="title"/>
          </p:nvPr>
        </p:nvSpPr>
        <p:spPr/>
        <p:txBody>
          <a:bodyPr/>
          <a:lstStyle/>
          <a:p>
            <a:r>
              <a:rPr lang="en-IN" dirty="0" smtClean="0"/>
              <a:t>The coupling of these dimensions defines 4 Realms of an experience</a:t>
            </a:r>
            <a:endParaRPr lang="en-IN" dirty="0"/>
          </a:p>
        </p:txBody>
      </p:sp>
    </p:spTree>
    <p:extLst>
      <p:ext uri="{BB962C8B-B14F-4D97-AF65-F5344CB8AC3E}">
        <p14:creationId xmlns:p14="http://schemas.microsoft.com/office/powerpoint/2010/main" val="11555162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sz="4800" dirty="0" smtClean="0">
                <a:solidFill>
                  <a:srgbClr val="FF0000"/>
                </a:solidFill>
              </a:rPr>
              <a:t>EDUCATIONAL:</a:t>
            </a:r>
          </a:p>
          <a:p>
            <a:r>
              <a:rPr lang="en-IN" dirty="0" smtClean="0"/>
              <a:t>WHAT do you want the student learn from the experience?</a:t>
            </a:r>
          </a:p>
          <a:p>
            <a:r>
              <a:rPr lang="en-IN" dirty="0" smtClean="0"/>
              <a:t>Involves active participation of the individual, Guests, student absorbs the event unfolding before him. To truly inform people and increase their knowledge or skills, educational events must actively engage the mind-intellectual or body- physical training.</a:t>
            </a:r>
          </a:p>
          <a:p>
            <a:r>
              <a:rPr lang="en-IN" dirty="0" smtClean="0"/>
              <a:t>Focus teacher, focus student, active student, interactive student.</a:t>
            </a:r>
            <a:endParaRPr lang="en-IN" dirty="0"/>
          </a:p>
        </p:txBody>
      </p:sp>
      <p:sp>
        <p:nvSpPr>
          <p:cNvPr id="4" name="Title 1"/>
          <p:cNvSpPr>
            <a:spLocks noGrp="1"/>
          </p:cNvSpPr>
          <p:nvPr>
            <p:ph type="title"/>
          </p:nvPr>
        </p:nvSpPr>
        <p:spPr/>
        <p:txBody>
          <a:bodyPr/>
          <a:lstStyle/>
          <a:p>
            <a:r>
              <a:rPr lang="en-IN" dirty="0" smtClean="0"/>
              <a:t>The coupling of these dimensions defines 4 Realms of an experience</a:t>
            </a:r>
            <a:endParaRPr lang="en-IN" dirty="0"/>
          </a:p>
        </p:txBody>
      </p:sp>
    </p:spTree>
    <p:extLst>
      <p:ext uri="{BB962C8B-B14F-4D97-AF65-F5344CB8AC3E}">
        <p14:creationId xmlns:p14="http://schemas.microsoft.com/office/powerpoint/2010/main" val="16022094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r>
              <a:rPr lang="en-IN" sz="8600" dirty="0" smtClean="0">
                <a:solidFill>
                  <a:srgbClr val="FF0000"/>
                </a:solidFill>
              </a:rPr>
              <a:t>ESCAPIST: </a:t>
            </a:r>
          </a:p>
          <a:p>
            <a:r>
              <a:rPr lang="en-IN" dirty="0" smtClean="0"/>
              <a:t>A person who seeks distraction and relief from an unpleasant realities especially in the form of get out of captivity.</a:t>
            </a:r>
          </a:p>
          <a:p>
            <a:r>
              <a:rPr lang="en-IN" dirty="0" smtClean="0"/>
              <a:t>Habitual diversion of mind to purely imagination</a:t>
            </a:r>
          </a:p>
          <a:p>
            <a:r>
              <a:rPr lang="en-IN" dirty="0" smtClean="0"/>
              <a:t>A person who escapes into the world of fantasy</a:t>
            </a:r>
          </a:p>
          <a:p>
            <a:r>
              <a:rPr lang="en-IN" dirty="0" smtClean="0"/>
              <a:t>It’s a mental diversion /avoidance from unpleasant aspects of life</a:t>
            </a:r>
          </a:p>
          <a:p>
            <a:r>
              <a:rPr lang="en-IN" dirty="0" smtClean="0"/>
              <a:t>A computer based game let the average person feel what its to be a SUPERSTAR</a:t>
            </a:r>
          </a:p>
          <a:p>
            <a:r>
              <a:rPr lang="en-IN" dirty="0" smtClean="0"/>
              <a:t>Involves much greater immersion than entertainment and educational experiences. Escapist experiences are polar opposite of pure entertainment.</a:t>
            </a:r>
          </a:p>
          <a:p>
            <a:r>
              <a:rPr lang="en-IN" dirty="0" smtClean="0"/>
              <a:t>COMPLETELY immersed in them as actively involved.</a:t>
            </a:r>
          </a:p>
          <a:p>
            <a:r>
              <a:rPr lang="en-IN" dirty="0" smtClean="0"/>
              <a:t>Involves ARTIFICIAL activities</a:t>
            </a:r>
          </a:p>
          <a:p>
            <a:r>
              <a:rPr lang="en-IN" dirty="0" smtClean="0"/>
              <a:t>TREKKING in theme park, GAMBLING in casinos, Playing Computer Games, Chatting Online</a:t>
            </a:r>
          </a:p>
          <a:p>
            <a:endParaRPr lang="en-IN" dirty="0" smtClean="0"/>
          </a:p>
          <a:p>
            <a:endParaRPr lang="en-IN" dirty="0"/>
          </a:p>
        </p:txBody>
      </p:sp>
      <p:sp>
        <p:nvSpPr>
          <p:cNvPr id="4" name="Title 1"/>
          <p:cNvSpPr>
            <a:spLocks noGrp="1"/>
          </p:cNvSpPr>
          <p:nvPr>
            <p:ph type="title"/>
          </p:nvPr>
        </p:nvSpPr>
        <p:spPr/>
        <p:txBody>
          <a:bodyPr/>
          <a:lstStyle/>
          <a:p>
            <a:r>
              <a:rPr lang="en-IN" dirty="0" smtClean="0"/>
              <a:t>The coupling of these dimensions defines 4 Realms of an experience</a:t>
            </a:r>
            <a:endParaRPr lang="en-IN" dirty="0"/>
          </a:p>
        </p:txBody>
      </p:sp>
    </p:spTree>
    <p:extLst>
      <p:ext uri="{BB962C8B-B14F-4D97-AF65-F5344CB8AC3E}">
        <p14:creationId xmlns:p14="http://schemas.microsoft.com/office/powerpoint/2010/main" val="27553863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54865" y="924103"/>
            <a:ext cx="10515600" cy="4351338"/>
          </a:xfrm>
        </p:spPr>
        <p:txBody>
          <a:bodyPr/>
          <a:lstStyle/>
          <a:p>
            <a:r>
              <a:rPr lang="en-IN" dirty="0" smtClean="0"/>
              <a:t>All reals are always present to varying degrees in any experience, and the most robust experience are those that hit the </a:t>
            </a:r>
            <a:r>
              <a:rPr lang="en-IN" sz="3600" dirty="0" smtClean="0">
                <a:solidFill>
                  <a:srgbClr val="FF0000"/>
                </a:solidFill>
              </a:rPr>
              <a:t>SWEET SPOT </a:t>
            </a:r>
            <a:r>
              <a:rPr lang="en-IN" dirty="0" smtClean="0"/>
              <a:t>in middle of the 4 Reals drawing richly from each, sets flow- the optimal experience.</a:t>
            </a:r>
          </a:p>
          <a:p>
            <a:r>
              <a:rPr lang="en-IN" dirty="0" smtClean="0"/>
              <a:t>When you are in flow, you are both fully immersed in the experience while absorbing its challenges, you are actively responding to what is going on around you while remaining passively mindful of the activity as a whole.</a:t>
            </a:r>
            <a:endParaRPr lang="en-IN" dirty="0"/>
          </a:p>
        </p:txBody>
      </p:sp>
    </p:spTree>
    <p:extLst>
      <p:ext uri="{BB962C8B-B14F-4D97-AF65-F5344CB8AC3E}">
        <p14:creationId xmlns:p14="http://schemas.microsoft.com/office/powerpoint/2010/main" val="13385552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66335" y="1502927"/>
            <a:ext cx="9144000" cy="2387600"/>
          </a:xfrm>
        </p:spPr>
        <p:txBody>
          <a:bodyPr>
            <a:normAutofit/>
          </a:bodyPr>
          <a:lstStyle/>
          <a:p>
            <a:r>
              <a:rPr lang="en-IN" b="1" dirty="0" smtClean="0">
                <a:solidFill>
                  <a:srgbClr val="FF0000"/>
                </a:solidFill>
                <a:latin typeface="Times New Roman" pitchFamily="18" charset="0"/>
                <a:cs typeface="Times New Roman" pitchFamily="18" charset="0"/>
              </a:rPr>
              <a:t>5A’s Framework</a:t>
            </a:r>
            <a:endParaRPr lang="en-IN" b="1"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196038165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340" y="827072"/>
            <a:ext cx="7156693" cy="53303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5903376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61744" y="917225"/>
            <a:ext cx="6891349" cy="516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7700496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thebrandhopper.com/wp-content/uploads/2020/07/dreamstime_m_156732905-digital-marketing-funnel-1200x1032-1080x675-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5891" y="831330"/>
            <a:ext cx="7623264" cy="47645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988418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6554"/>
          <a:stretch/>
        </p:blipFill>
        <p:spPr bwMode="auto">
          <a:xfrm>
            <a:off x="1374126" y="1382250"/>
            <a:ext cx="9171957" cy="4680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5352446" y="501134"/>
            <a:ext cx="2492990" cy="646331"/>
          </a:xfrm>
          <a:prstGeom prst="rect">
            <a:avLst/>
          </a:prstGeom>
        </p:spPr>
        <p:txBody>
          <a:bodyPr wrap="none">
            <a:spAutoFit/>
          </a:bodyPr>
          <a:lstStyle/>
          <a:p>
            <a:r>
              <a:rPr lang="en-US" sz="3600" b="1" dirty="0">
                <a:solidFill>
                  <a:srgbClr val="FF0000"/>
                </a:solidFill>
                <a:latin typeface="Times New Roman" panose="02020603050405020304" pitchFamily="18" charset="0"/>
                <a:cs typeface="Times New Roman" panose="02020603050405020304" pitchFamily="18" charset="0"/>
              </a:rPr>
              <a:t>Advertising</a:t>
            </a:r>
            <a:endParaRPr lang="en-IN" sz="3600" b="1" dirty="0">
              <a:solidFill>
                <a:srgbClr val="FF0000"/>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9349947" y="501134"/>
            <a:ext cx="2479588" cy="1200329"/>
          </a:xfrm>
          <a:prstGeom prst="rect">
            <a:avLst/>
          </a:prstGeom>
          <a:solidFill>
            <a:srgbClr val="FFC000"/>
          </a:solidFill>
        </p:spPr>
        <p:txBody>
          <a:bodyPr wrap="square" rtlCol="0">
            <a:spAutoFit/>
          </a:bodyPr>
          <a:lstStyle/>
          <a:p>
            <a:r>
              <a:rPr lang="en-US" dirty="0" smtClean="0">
                <a:latin typeface="Times New Roman" panose="02020603050405020304" pitchFamily="18" charset="0"/>
                <a:cs typeface="Times New Roman" panose="02020603050405020304" pitchFamily="18" charset="0"/>
              </a:rPr>
              <a:t>I don’t know-I know it</a:t>
            </a:r>
          </a:p>
          <a:p>
            <a:r>
              <a:rPr lang="en-US" dirty="0" smtClean="0">
                <a:latin typeface="Times New Roman" panose="02020603050405020304" pitchFamily="18" charset="0"/>
                <a:cs typeface="Times New Roman" panose="02020603050405020304" pitchFamily="18" charset="0"/>
              </a:rPr>
              <a:t>I like it </a:t>
            </a:r>
            <a:br>
              <a:rPr lang="en-US" dirty="0" smtClean="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I want it</a:t>
            </a:r>
          </a:p>
          <a:p>
            <a:r>
              <a:rPr lang="en-US" dirty="0" smtClean="0">
                <a:solidFill>
                  <a:srgbClr val="FF0000"/>
                </a:solidFill>
                <a:latin typeface="Times New Roman" panose="02020603050405020304" pitchFamily="18" charset="0"/>
                <a:cs typeface="Times New Roman" panose="02020603050405020304" pitchFamily="18" charset="0"/>
              </a:rPr>
              <a:t>Right now</a:t>
            </a:r>
            <a:endParaRPr lang="en-IN"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15651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2222" y="3541691"/>
            <a:ext cx="3653984" cy="27059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0416" y="593651"/>
            <a:ext cx="3651249" cy="270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2222" y="631751"/>
            <a:ext cx="3653984"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20415" y="3525456"/>
            <a:ext cx="3651249" cy="273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999889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99"/>
                                        </p:tgtEl>
                                        <p:attrNameLst>
                                          <p:attrName>style.visibility</p:attrName>
                                        </p:attrNameLst>
                                      </p:cBhvr>
                                      <p:to>
                                        <p:strVal val="visible"/>
                                      </p:to>
                                    </p:set>
                                    <p:anim calcmode="lin" valueType="num">
                                      <p:cBhvr additive="base">
                                        <p:cTn id="7" dur="500" fill="hold"/>
                                        <p:tgtEl>
                                          <p:spTgt spid="4099"/>
                                        </p:tgtEl>
                                        <p:attrNameLst>
                                          <p:attrName>ppt_x</p:attrName>
                                        </p:attrNameLst>
                                      </p:cBhvr>
                                      <p:tavLst>
                                        <p:tav tm="0">
                                          <p:val>
                                            <p:strVal val="#ppt_x"/>
                                          </p:val>
                                        </p:tav>
                                        <p:tav tm="100000">
                                          <p:val>
                                            <p:strVal val="#ppt_x"/>
                                          </p:val>
                                        </p:tav>
                                      </p:tavLst>
                                    </p:anim>
                                    <p:anim calcmode="lin" valueType="num">
                                      <p:cBhvr additive="base">
                                        <p:cTn id="8" dur="500" fill="hold"/>
                                        <p:tgtEl>
                                          <p:spTgt spid="409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098"/>
                                        </p:tgtEl>
                                        <p:attrNameLst>
                                          <p:attrName>style.visibility</p:attrName>
                                        </p:attrNameLst>
                                      </p:cBhvr>
                                      <p:to>
                                        <p:strVal val="visible"/>
                                      </p:to>
                                    </p:set>
                                    <p:anim calcmode="lin" valueType="num">
                                      <p:cBhvr additive="base">
                                        <p:cTn id="25" dur="500" fill="hold"/>
                                        <p:tgtEl>
                                          <p:spTgt spid="4098"/>
                                        </p:tgtEl>
                                        <p:attrNameLst>
                                          <p:attrName>ppt_x</p:attrName>
                                        </p:attrNameLst>
                                      </p:cBhvr>
                                      <p:tavLst>
                                        <p:tav tm="0">
                                          <p:val>
                                            <p:strVal val="#ppt_x"/>
                                          </p:val>
                                        </p:tav>
                                        <p:tav tm="100000">
                                          <p:val>
                                            <p:strVal val="#ppt_x"/>
                                          </p:val>
                                        </p:tav>
                                      </p:tavLst>
                                    </p:anim>
                                    <p:anim calcmode="lin" valueType="num">
                                      <p:cBhvr additive="base">
                                        <p:cTn id="26" dur="500" fill="hold"/>
                                        <p:tgtEl>
                                          <p:spTgt spid="40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53813" y="1635617"/>
            <a:ext cx="3541690" cy="3416320"/>
          </a:xfrm>
          <a:prstGeom prst="rect">
            <a:avLst/>
          </a:prstGeom>
          <a:solidFill>
            <a:srgbClr val="00B050"/>
          </a:solidFill>
        </p:spPr>
        <p:txBody>
          <a:bodyPr wrap="square" rtlCol="0">
            <a:spAutoFit/>
          </a:bodyPr>
          <a:lstStyle/>
          <a:p>
            <a:pPr algn="ctr"/>
            <a:endParaRPr lang="en-IN" b="1" dirty="0" smtClean="0">
              <a:latin typeface="Times New Roman" panose="02020603050405020304" pitchFamily="18" charset="0"/>
              <a:cs typeface="Times New Roman" panose="02020603050405020304" pitchFamily="18" charset="0"/>
            </a:endParaRPr>
          </a:p>
          <a:p>
            <a:pPr algn="ctr"/>
            <a:r>
              <a:rPr lang="en-IN" b="1" dirty="0" smtClean="0">
                <a:latin typeface="Times New Roman" panose="02020603050405020304" pitchFamily="18" charset="0"/>
                <a:cs typeface="Times New Roman" panose="02020603050405020304" pitchFamily="18" charset="0"/>
              </a:rPr>
              <a:t>Centre Shock</a:t>
            </a:r>
          </a:p>
          <a:p>
            <a:pPr algn="ctr"/>
            <a:endParaRPr lang="en-IN" b="1" dirty="0">
              <a:latin typeface="Times New Roman" panose="02020603050405020304" pitchFamily="18" charset="0"/>
              <a:cs typeface="Times New Roman" panose="02020603050405020304" pitchFamily="18" charset="0"/>
            </a:endParaRPr>
          </a:p>
          <a:p>
            <a:pPr algn="ctr"/>
            <a:r>
              <a:rPr lang="en-IN" b="1" dirty="0" err="1" smtClean="0">
                <a:latin typeface="Times New Roman" panose="02020603050405020304" pitchFamily="18" charset="0"/>
                <a:cs typeface="Times New Roman" panose="02020603050405020304" pitchFamily="18" charset="0"/>
              </a:rPr>
              <a:t>Zoozoos</a:t>
            </a:r>
            <a:endParaRPr lang="en-IN" b="1" dirty="0" smtClean="0">
              <a:latin typeface="Times New Roman" panose="02020603050405020304" pitchFamily="18" charset="0"/>
              <a:cs typeface="Times New Roman" panose="02020603050405020304" pitchFamily="18" charset="0"/>
            </a:endParaRPr>
          </a:p>
          <a:p>
            <a:pPr algn="ctr"/>
            <a:endParaRPr lang="en-IN" b="1" dirty="0">
              <a:latin typeface="Times New Roman" panose="02020603050405020304" pitchFamily="18" charset="0"/>
              <a:cs typeface="Times New Roman" panose="02020603050405020304" pitchFamily="18" charset="0"/>
            </a:endParaRPr>
          </a:p>
          <a:p>
            <a:pPr algn="ctr"/>
            <a:r>
              <a:rPr lang="en-IN" b="1" dirty="0" smtClean="0">
                <a:latin typeface="Times New Roman" panose="02020603050405020304" pitchFamily="18" charset="0"/>
                <a:cs typeface="Times New Roman" panose="02020603050405020304" pitchFamily="18" charset="0"/>
              </a:rPr>
              <a:t>Cadbury </a:t>
            </a:r>
          </a:p>
          <a:p>
            <a:pPr algn="ctr"/>
            <a:endParaRPr lang="en-IN" b="1" dirty="0" smtClean="0">
              <a:latin typeface="Times New Roman" panose="02020603050405020304" pitchFamily="18" charset="0"/>
              <a:cs typeface="Times New Roman" panose="02020603050405020304" pitchFamily="18" charset="0"/>
            </a:endParaRPr>
          </a:p>
          <a:p>
            <a:pPr algn="ctr"/>
            <a:r>
              <a:rPr lang="en-IN" b="1" dirty="0" smtClean="0">
                <a:latin typeface="Times New Roman" panose="02020603050405020304" pitchFamily="18" charset="0"/>
                <a:cs typeface="Times New Roman" panose="02020603050405020304" pitchFamily="18" charset="0"/>
              </a:rPr>
              <a:t>M-Seal</a:t>
            </a:r>
            <a:endParaRPr lang="en-IN" b="1" dirty="0">
              <a:latin typeface="Times New Roman" panose="02020603050405020304" pitchFamily="18" charset="0"/>
              <a:cs typeface="Times New Roman" panose="02020603050405020304" pitchFamily="18" charset="0"/>
            </a:endParaRPr>
          </a:p>
          <a:p>
            <a:pPr algn="ctr"/>
            <a:endParaRPr lang="en-IN" b="1" dirty="0" smtClean="0">
              <a:latin typeface="Times New Roman" panose="02020603050405020304" pitchFamily="18" charset="0"/>
              <a:cs typeface="Times New Roman" panose="02020603050405020304" pitchFamily="18" charset="0"/>
            </a:endParaRPr>
          </a:p>
          <a:p>
            <a:pPr algn="ctr"/>
            <a:r>
              <a:rPr lang="en-IN" b="1" dirty="0" smtClean="0">
                <a:latin typeface="Times New Roman" panose="02020603050405020304" pitchFamily="18" charset="0"/>
                <a:cs typeface="Times New Roman" panose="02020603050405020304" pitchFamily="18" charset="0"/>
              </a:rPr>
              <a:t>Cadbury SILK</a:t>
            </a:r>
          </a:p>
          <a:p>
            <a:pPr algn="ctr"/>
            <a:endParaRPr lang="en-IN" b="1" dirty="0">
              <a:latin typeface="Times New Roman" panose="02020603050405020304" pitchFamily="18" charset="0"/>
              <a:cs typeface="Times New Roman" panose="02020603050405020304" pitchFamily="18" charset="0"/>
            </a:endParaRPr>
          </a:p>
          <a:p>
            <a:pPr algn="ctr"/>
            <a:endParaRPr lang="en-IN" b="1"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617400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36393" y="300731"/>
            <a:ext cx="6318161" cy="1119502"/>
          </a:xfrm>
        </p:spPr>
        <p:txBody>
          <a:bodyPr/>
          <a:lstStyle/>
          <a:p>
            <a:pPr algn="ctr"/>
            <a:r>
              <a:rPr lang="en-IN" b="1" dirty="0">
                <a:solidFill>
                  <a:srgbClr val="FF0000"/>
                </a:solidFill>
                <a:latin typeface="Times New Roman" pitchFamily="18" charset="0"/>
                <a:cs typeface="Times New Roman" pitchFamily="18" charset="0"/>
              </a:rPr>
              <a:t>5A’s Framework</a:t>
            </a:r>
            <a:endParaRPr lang="en-IN"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158869895"/>
              </p:ext>
            </p:extLst>
          </p:nvPr>
        </p:nvGraphicFramePr>
        <p:xfrm>
          <a:off x="4224269" y="1635957"/>
          <a:ext cx="7598536" cy="4610296"/>
        </p:xfrm>
        <a:graphic>
          <a:graphicData uri="http://schemas.openxmlformats.org/drawingml/2006/table">
            <a:tbl>
              <a:tblPr firstRow="1" bandRow="1">
                <a:tableStyleId>{E269D01E-BC32-4049-B463-5C60D7B0CCD2}</a:tableStyleId>
              </a:tblPr>
              <a:tblGrid>
                <a:gridCol w="1722692"/>
                <a:gridCol w="2056546"/>
                <a:gridCol w="3819298"/>
              </a:tblGrid>
              <a:tr h="805735">
                <a:tc>
                  <a:txBody>
                    <a:bodyPr/>
                    <a:lstStyle/>
                    <a:p>
                      <a:pPr algn="ctr"/>
                      <a:r>
                        <a:rPr lang="en-IN" sz="2400" b="1" dirty="0" smtClean="0">
                          <a:solidFill>
                            <a:schemeClr val="tx1"/>
                          </a:solidFill>
                        </a:rPr>
                        <a:t>AWARE</a:t>
                      </a:r>
                      <a:endParaRPr lang="en-IN" sz="2400" b="1" dirty="0">
                        <a:solidFill>
                          <a:schemeClr val="tx1"/>
                        </a:solidFill>
                      </a:endParaRPr>
                    </a:p>
                  </a:txBody>
                  <a:tcPr anchor="ctr">
                    <a:solidFill>
                      <a:srgbClr val="FF0000"/>
                    </a:solidFill>
                  </a:tcPr>
                </a:tc>
                <a:tc>
                  <a:txBody>
                    <a:bodyPr/>
                    <a:lstStyle/>
                    <a:p>
                      <a:r>
                        <a:rPr lang="en-IN" sz="2400" b="1" dirty="0" smtClean="0">
                          <a:solidFill>
                            <a:schemeClr val="tx1"/>
                          </a:solidFill>
                        </a:rPr>
                        <a:t>I Know</a:t>
                      </a:r>
                      <a:r>
                        <a:rPr lang="en-IN" sz="2400" b="1" baseline="0" dirty="0" smtClean="0">
                          <a:solidFill>
                            <a:schemeClr val="tx1"/>
                          </a:solidFill>
                        </a:rPr>
                        <a:t> </a:t>
                      </a:r>
                      <a:endParaRPr lang="en-IN" sz="2400" b="1" dirty="0">
                        <a:solidFill>
                          <a:schemeClr val="tx1"/>
                        </a:solidFill>
                      </a:endParaRPr>
                    </a:p>
                  </a:txBody>
                  <a:tcPr anchor="ctr">
                    <a:solidFill>
                      <a:srgbClr val="FFC000"/>
                    </a:solidFill>
                  </a:tcPr>
                </a:tc>
                <a:tc>
                  <a:txBody>
                    <a:bodyPr/>
                    <a:lstStyle/>
                    <a:p>
                      <a:r>
                        <a:rPr lang="en-IN" sz="2400" b="1" dirty="0" smtClean="0">
                          <a:solidFill>
                            <a:schemeClr val="tx1"/>
                          </a:solidFill>
                        </a:rPr>
                        <a:t>Customer comes to know</a:t>
                      </a:r>
                      <a:r>
                        <a:rPr lang="en-IN" sz="2400" b="1" baseline="0" dirty="0" smtClean="0">
                          <a:solidFill>
                            <a:schemeClr val="tx1"/>
                          </a:solidFill>
                        </a:rPr>
                        <a:t> about brand</a:t>
                      </a:r>
                      <a:endParaRPr lang="en-IN" sz="2400" b="1" dirty="0">
                        <a:solidFill>
                          <a:schemeClr val="tx1"/>
                        </a:solidFill>
                      </a:endParaRPr>
                    </a:p>
                  </a:txBody>
                  <a:tcPr>
                    <a:solidFill>
                      <a:srgbClr val="00B050"/>
                    </a:solidFill>
                  </a:tcPr>
                </a:tc>
              </a:tr>
              <a:tr h="805735">
                <a:tc>
                  <a:txBody>
                    <a:bodyPr/>
                    <a:lstStyle/>
                    <a:p>
                      <a:pPr algn="ctr"/>
                      <a:r>
                        <a:rPr lang="en-IN" sz="2400" b="1" dirty="0" smtClean="0">
                          <a:solidFill>
                            <a:schemeClr val="tx1"/>
                          </a:solidFill>
                        </a:rPr>
                        <a:t>APPEAL</a:t>
                      </a:r>
                      <a:endParaRPr lang="en-IN" sz="2400" b="1" dirty="0">
                        <a:solidFill>
                          <a:schemeClr val="tx1"/>
                        </a:solidFill>
                      </a:endParaRPr>
                    </a:p>
                  </a:txBody>
                  <a:tcPr anchor="ctr">
                    <a:solidFill>
                      <a:srgbClr val="FF0000"/>
                    </a:solidFill>
                  </a:tcPr>
                </a:tc>
                <a:tc>
                  <a:txBody>
                    <a:bodyPr/>
                    <a:lstStyle/>
                    <a:p>
                      <a:r>
                        <a:rPr lang="en-IN" sz="2400" b="1" dirty="0" smtClean="0">
                          <a:solidFill>
                            <a:schemeClr val="tx1"/>
                          </a:solidFill>
                        </a:rPr>
                        <a:t>I love</a:t>
                      </a:r>
                      <a:r>
                        <a:rPr lang="en-IN" sz="2400" b="1" baseline="0" dirty="0" smtClean="0">
                          <a:solidFill>
                            <a:schemeClr val="tx1"/>
                          </a:solidFill>
                        </a:rPr>
                        <a:t> / Interesting</a:t>
                      </a:r>
                      <a:endParaRPr lang="en-IN" sz="2400" b="1" dirty="0">
                        <a:solidFill>
                          <a:schemeClr val="tx1"/>
                        </a:solidFill>
                      </a:endParaRPr>
                    </a:p>
                  </a:txBody>
                  <a:tcPr anchor="ctr">
                    <a:solidFill>
                      <a:srgbClr val="FFC000"/>
                    </a:solidFill>
                  </a:tcPr>
                </a:tc>
                <a:tc>
                  <a:txBody>
                    <a:bodyPr/>
                    <a:lstStyle/>
                    <a:p>
                      <a:r>
                        <a:rPr lang="en-IN" sz="2400" b="1" dirty="0" smtClean="0">
                          <a:solidFill>
                            <a:schemeClr val="tx1"/>
                          </a:solidFill>
                        </a:rPr>
                        <a:t>Need to create curiosity</a:t>
                      </a:r>
                      <a:endParaRPr lang="en-IN" sz="2400" b="1" dirty="0">
                        <a:solidFill>
                          <a:schemeClr val="tx1"/>
                        </a:solidFill>
                      </a:endParaRPr>
                    </a:p>
                  </a:txBody>
                  <a:tcPr>
                    <a:solidFill>
                      <a:srgbClr val="00B050"/>
                    </a:solidFill>
                  </a:tcPr>
                </a:tc>
              </a:tr>
              <a:tr h="952696">
                <a:tc>
                  <a:txBody>
                    <a:bodyPr/>
                    <a:lstStyle/>
                    <a:p>
                      <a:pPr algn="ctr"/>
                      <a:r>
                        <a:rPr lang="en-IN" sz="2400" b="1" dirty="0" smtClean="0">
                          <a:solidFill>
                            <a:schemeClr val="tx1"/>
                          </a:solidFill>
                        </a:rPr>
                        <a:t>ASK</a:t>
                      </a:r>
                      <a:endParaRPr lang="en-IN" sz="2400" b="1" dirty="0">
                        <a:solidFill>
                          <a:schemeClr val="tx1"/>
                        </a:solidFill>
                      </a:endParaRPr>
                    </a:p>
                  </a:txBody>
                  <a:tcPr anchor="ctr">
                    <a:solidFill>
                      <a:srgbClr val="FF0000"/>
                    </a:solidFill>
                  </a:tcPr>
                </a:tc>
                <a:tc>
                  <a:txBody>
                    <a:bodyPr/>
                    <a:lstStyle/>
                    <a:p>
                      <a:r>
                        <a:rPr lang="en-IN" sz="2400" b="1" dirty="0" smtClean="0">
                          <a:solidFill>
                            <a:schemeClr val="tx1"/>
                          </a:solidFill>
                        </a:rPr>
                        <a:t>I research</a:t>
                      </a:r>
                      <a:endParaRPr lang="en-IN" sz="2400" b="1" dirty="0">
                        <a:solidFill>
                          <a:schemeClr val="tx1"/>
                        </a:solidFill>
                      </a:endParaRPr>
                    </a:p>
                  </a:txBody>
                  <a:tcPr anchor="ctr">
                    <a:solidFill>
                      <a:srgbClr val="FFC000"/>
                    </a:solidFill>
                  </a:tcPr>
                </a:tc>
                <a:tc>
                  <a:txBody>
                    <a:bodyPr/>
                    <a:lstStyle/>
                    <a:p>
                      <a:r>
                        <a:rPr lang="en-IN" sz="2400" b="1" dirty="0" smtClean="0">
                          <a:solidFill>
                            <a:schemeClr val="tx1"/>
                          </a:solidFill>
                        </a:rPr>
                        <a:t>Customer starts researching the brand, seek information from multiple</a:t>
                      </a:r>
                      <a:r>
                        <a:rPr lang="en-IN" sz="2400" b="1" baseline="0" dirty="0" smtClean="0">
                          <a:solidFill>
                            <a:schemeClr val="tx1"/>
                          </a:solidFill>
                        </a:rPr>
                        <a:t> sources</a:t>
                      </a:r>
                      <a:endParaRPr lang="en-IN" sz="2400" b="1" dirty="0">
                        <a:solidFill>
                          <a:schemeClr val="tx1"/>
                        </a:solidFill>
                      </a:endParaRPr>
                    </a:p>
                  </a:txBody>
                  <a:tcPr>
                    <a:solidFill>
                      <a:srgbClr val="00B050"/>
                    </a:solidFill>
                  </a:tcPr>
                </a:tc>
              </a:tr>
              <a:tr h="952696">
                <a:tc>
                  <a:txBody>
                    <a:bodyPr/>
                    <a:lstStyle/>
                    <a:p>
                      <a:pPr algn="ctr"/>
                      <a:r>
                        <a:rPr lang="en-IN" sz="2400" b="1" dirty="0" smtClean="0">
                          <a:solidFill>
                            <a:schemeClr val="tx1"/>
                          </a:solidFill>
                        </a:rPr>
                        <a:t>ACT</a:t>
                      </a:r>
                      <a:endParaRPr lang="en-IN" sz="2400" b="1" dirty="0">
                        <a:solidFill>
                          <a:schemeClr val="tx1"/>
                        </a:solidFill>
                      </a:endParaRPr>
                    </a:p>
                  </a:txBody>
                  <a:tcPr anchor="ctr">
                    <a:solidFill>
                      <a:srgbClr val="FF0000"/>
                    </a:solidFill>
                  </a:tcPr>
                </a:tc>
                <a:tc>
                  <a:txBody>
                    <a:bodyPr/>
                    <a:lstStyle/>
                    <a:p>
                      <a:r>
                        <a:rPr lang="en-IN" sz="2400" b="1" dirty="0" smtClean="0">
                          <a:solidFill>
                            <a:schemeClr val="tx1"/>
                          </a:solidFill>
                        </a:rPr>
                        <a:t>I will buy</a:t>
                      </a:r>
                      <a:endParaRPr lang="en-IN" sz="2400" b="1" dirty="0">
                        <a:solidFill>
                          <a:schemeClr val="tx1"/>
                        </a:solidFill>
                      </a:endParaRPr>
                    </a:p>
                  </a:txBody>
                  <a:tcPr anchor="ctr">
                    <a:solidFill>
                      <a:srgbClr val="FFC000"/>
                    </a:solidFill>
                  </a:tcPr>
                </a:tc>
                <a:tc>
                  <a:txBody>
                    <a:bodyPr/>
                    <a:lstStyle/>
                    <a:p>
                      <a:r>
                        <a:rPr lang="en-IN" sz="2400" b="1" dirty="0" smtClean="0">
                          <a:solidFill>
                            <a:schemeClr val="tx1"/>
                          </a:solidFill>
                        </a:rPr>
                        <a:t>Once satisfied with the</a:t>
                      </a:r>
                      <a:r>
                        <a:rPr lang="en-IN" sz="2400" b="1" baseline="0" dirty="0" smtClean="0">
                          <a:solidFill>
                            <a:schemeClr val="tx1"/>
                          </a:solidFill>
                        </a:rPr>
                        <a:t> brand, they will buy</a:t>
                      </a:r>
                      <a:endParaRPr lang="en-IN" sz="2400" b="1" dirty="0">
                        <a:solidFill>
                          <a:schemeClr val="tx1"/>
                        </a:solidFill>
                      </a:endParaRPr>
                    </a:p>
                  </a:txBody>
                  <a:tcPr>
                    <a:solidFill>
                      <a:srgbClr val="00B050"/>
                    </a:solidFill>
                  </a:tcPr>
                </a:tc>
              </a:tr>
              <a:tr h="805735">
                <a:tc>
                  <a:txBody>
                    <a:bodyPr/>
                    <a:lstStyle/>
                    <a:p>
                      <a:pPr algn="ctr"/>
                      <a:r>
                        <a:rPr lang="en-IN" sz="2400" b="1" dirty="0" smtClean="0">
                          <a:solidFill>
                            <a:schemeClr val="tx1"/>
                          </a:solidFill>
                        </a:rPr>
                        <a:t>ADVOCATE</a:t>
                      </a:r>
                      <a:endParaRPr lang="en-IN" sz="2400" b="1" dirty="0">
                        <a:solidFill>
                          <a:schemeClr val="tx1"/>
                        </a:solidFill>
                      </a:endParaRPr>
                    </a:p>
                  </a:txBody>
                  <a:tcPr anchor="ctr">
                    <a:solidFill>
                      <a:srgbClr val="FF0000"/>
                    </a:solidFill>
                  </a:tcPr>
                </a:tc>
                <a:tc>
                  <a:txBody>
                    <a:bodyPr/>
                    <a:lstStyle/>
                    <a:p>
                      <a:r>
                        <a:rPr lang="en-IN" sz="2400" b="1" dirty="0" smtClean="0">
                          <a:solidFill>
                            <a:schemeClr val="tx1"/>
                          </a:solidFill>
                        </a:rPr>
                        <a:t>I recommend</a:t>
                      </a:r>
                      <a:endParaRPr lang="en-IN" sz="2400" b="1" dirty="0">
                        <a:solidFill>
                          <a:schemeClr val="tx1"/>
                        </a:solidFill>
                      </a:endParaRPr>
                    </a:p>
                  </a:txBody>
                  <a:tcPr anchor="ctr">
                    <a:solidFill>
                      <a:srgbClr val="FFC000"/>
                    </a:solidFill>
                  </a:tcPr>
                </a:tc>
                <a:tc>
                  <a:txBody>
                    <a:bodyPr/>
                    <a:lstStyle/>
                    <a:p>
                      <a:r>
                        <a:rPr lang="en-IN" sz="2400" b="1" dirty="0" smtClean="0">
                          <a:solidFill>
                            <a:schemeClr val="tx1"/>
                          </a:solidFill>
                        </a:rPr>
                        <a:t>Loyal customer spreads the word</a:t>
                      </a:r>
                      <a:endParaRPr lang="en-IN" sz="2400" b="1" dirty="0">
                        <a:solidFill>
                          <a:schemeClr val="tx1"/>
                        </a:solidFill>
                      </a:endParaRPr>
                    </a:p>
                  </a:txBody>
                  <a:tcPr>
                    <a:solidFill>
                      <a:srgbClr val="00B050"/>
                    </a:solidFill>
                  </a:tcPr>
                </a:tc>
              </a:tr>
            </a:tbl>
          </a:graphicData>
        </a:graphic>
      </p:graphicFrame>
      <p:pic>
        <p:nvPicPr>
          <p:cNvPr id="6" name="Picture 5"/>
          <p:cNvPicPr>
            <a:picLocks noChangeAspect="1"/>
          </p:cNvPicPr>
          <p:nvPr/>
        </p:nvPicPr>
        <p:blipFill>
          <a:blip r:embed="rId2"/>
          <a:stretch>
            <a:fillRect/>
          </a:stretch>
        </p:blipFill>
        <p:spPr>
          <a:xfrm>
            <a:off x="348803" y="467194"/>
            <a:ext cx="3871768" cy="5804816"/>
          </a:xfrm>
          <a:prstGeom prst="rect">
            <a:avLst/>
          </a:prstGeom>
        </p:spPr>
      </p:pic>
    </p:spTree>
    <p:extLst>
      <p:ext uri="{BB962C8B-B14F-4D97-AF65-F5344CB8AC3E}">
        <p14:creationId xmlns:p14="http://schemas.microsoft.com/office/powerpoint/2010/main" val="203485751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static.vecteezy.com/system/resources/previews/010/930/009/original/google-search-bar-logo-icon-illustration-free-vecto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900" y="552111"/>
            <a:ext cx="11366149" cy="56949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387758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9049" y="2531677"/>
            <a:ext cx="10515600" cy="1325563"/>
          </a:xfrm>
          <a:solidFill>
            <a:srgbClr val="00B050"/>
          </a:solidFill>
        </p:spPr>
        <p:txBody>
          <a:bodyPr/>
          <a:lstStyle/>
          <a:p>
            <a:pPr algn="ctr"/>
            <a:r>
              <a:rPr lang="en-US" dirty="0" smtClean="0">
                <a:latin typeface="Times New Roman" panose="02020603050405020304" pitchFamily="18" charset="0"/>
                <a:cs typeface="Times New Roman" panose="02020603050405020304" pitchFamily="18" charset="0"/>
              </a:rPr>
              <a:t>Thank You</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312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647</TotalTime>
  <Words>2099</Words>
  <Application>Microsoft Office PowerPoint</Application>
  <PresentationFormat>Widescreen</PresentationFormat>
  <Paragraphs>204</Paragraphs>
  <Slides>59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59</vt:i4>
      </vt:variant>
    </vt:vector>
  </HeadingPairs>
  <TitlesOfParts>
    <vt:vector size="66" baseType="lpstr">
      <vt:lpstr>Arial</vt:lpstr>
      <vt:lpstr>Calibri</vt:lpstr>
      <vt:lpstr>Calibri Light</vt:lpstr>
      <vt:lpstr>Roboto</vt:lpstr>
      <vt:lpstr>Times New Roman</vt:lpstr>
      <vt:lpstr>Wingdings</vt:lpstr>
      <vt:lpstr>Office Theme</vt:lpstr>
      <vt:lpstr>Consumer  Behavior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Marketing Research   </vt:lpstr>
      <vt:lpstr>  Re (again) – search  A systematized effort to gain knowledge.  An original contribution to the existing stock of knowledge making for its advancement.   </vt:lpstr>
      <vt:lpstr>VICKS</vt:lpstr>
      <vt:lpstr>TIDE-In home visit- ODOUR</vt:lpstr>
      <vt:lpstr>P &amp; G- Research Facility</vt:lpstr>
      <vt:lpstr>Maruti- Big Data   The company added more than 1 lakh customers using Big Data analytics,   Big Data analysis has helped spot trends and gain business insights for the auto major.  40% of Maruti’s customers are first-time buyers, 30% are replacement buyer customers while another  30% are looking for additional car.   Data helps identify customers when they are ready for changing/upgrading an older car.  The workshop data helps company spot accidental or damaged cars an opportunity for sales.   Another example is spotting customers whose cars are more than 8 year old or when their children are college-goers providing opportunity to acquire another customer/second car. </vt:lpstr>
      <vt:lpstr>    Based on that survey, the Good Knight Dengue Awareness Report, reveals that  85 percent of the respondents know dengue is a life-threatening disease, but around  92 percent population is unaware that day mosquitoes cause dengue.   What’s even more startling is that  80 percent population agrees that mosquitoes are visible during the day but only  8 percent use any repellent format during daytime.  With the new campaign 'Subah bolo Good Knight', Godrej's mosquito repellent brand Good Knight creates an effective case for itself by urging consumers to use the product during daytime to prevent dengue.   </vt:lpstr>
      <vt:lpstr>Research Process</vt:lpstr>
      <vt:lpstr>PowerPoint Presentation</vt:lpstr>
      <vt:lpstr>PowerPoint Presentation</vt:lpstr>
      <vt:lpstr>PowerPoint Presentation</vt:lpstr>
      <vt:lpstr>Marketing Research</vt:lpstr>
      <vt:lpstr>What is Omnichannel (O+O) </vt:lpstr>
      <vt:lpstr>PowerPoint Presentation</vt:lpstr>
      <vt:lpstr>Transfer Transaction Relation</vt:lpstr>
      <vt:lpstr>PowerPoint Presentation</vt:lpstr>
      <vt:lpstr> 4/5c Framework </vt:lpstr>
      <vt:lpstr>New 4C’s Framework Shift in the current marketing landscape </vt:lpstr>
      <vt:lpstr>PowerPoint Presentation</vt:lpstr>
      <vt:lpstr>PowerPoint Presentation</vt:lpstr>
      <vt:lpstr>Time as Currency</vt:lpstr>
      <vt:lpstr>PowerPoint Presentation</vt:lpstr>
      <vt:lpstr>PowerPoint Presentation</vt:lpstr>
      <vt:lpstr>PowerPoint Presentation</vt:lpstr>
      <vt:lpstr>Theme the Experience</vt:lpstr>
      <vt:lpstr>PowerPoint Presentation</vt:lpstr>
      <vt:lpstr>PowerPoint Presentation</vt:lpstr>
      <vt:lpstr>Experience Economy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coupling of these dimensions defines 4 Realms of an experience</vt:lpstr>
      <vt:lpstr>The coupling of these dimensions defines 4 Realms of an experience</vt:lpstr>
      <vt:lpstr>The coupling of these dimensions defines 4 Realms of an experience</vt:lpstr>
      <vt:lpstr>The coupling of these dimensions defines 4 Realms of an experience</vt:lpstr>
      <vt:lpstr>PowerPoint Presentation</vt:lpstr>
      <vt:lpstr>5A’s Framework</vt:lpstr>
      <vt:lpstr>PowerPoint Presentation</vt:lpstr>
      <vt:lpstr>PowerPoint Presentation</vt:lpstr>
      <vt:lpstr>PowerPoint Presentation</vt:lpstr>
      <vt:lpstr>PowerPoint Presentation</vt:lpstr>
      <vt:lpstr>PowerPoint Presentation</vt:lpstr>
      <vt:lpstr>PowerPoint Presentation</vt:lpstr>
      <vt:lpstr>5A’s Framework</vt:lpstr>
      <vt:lpstr>PowerPoint Presentation</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Consumer Behavior</dc:title>
  <dc:creator>Lenovo</dc:creator>
  <cp:lastModifiedBy>Lenovo</cp:lastModifiedBy>
  <cp:revision>144</cp:revision>
  <dcterms:created xsi:type="dcterms:W3CDTF">2023-04-26T06:51:52Z</dcterms:created>
  <dcterms:modified xsi:type="dcterms:W3CDTF">2024-12-05T15:54:24Z</dcterms:modified>
</cp:coreProperties>
</file>