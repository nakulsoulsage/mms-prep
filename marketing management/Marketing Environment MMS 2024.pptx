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90" r:id="rId4"/>
    <p:sldId id="291" r:id="rId5"/>
    <p:sldId id="293" r:id="rId6"/>
    <p:sldId id="260" r:id="rId7"/>
    <p:sldId id="262" r:id="rId8"/>
    <p:sldId id="263" r:id="rId9"/>
    <p:sldId id="261" r:id="rId10"/>
    <p:sldId id="264" r:id="rId11"/>
    <p:sldId id="280" r:id="rId12"/>
    <p:sldId id="267" r:id="rId13"/>
    <p:sldId id="283" r:id="rId14"/>
    <p:sldId id="268" r:id="rId15"/>
    <p:sldId id="270" r:id="rId16"/>
    <p:sldId id="271" r:id="rId17"/>
    <p:sldId id="273" r:id="rId18"/>
    <p:sldId id="272" r:id="rId19"/>
    <p:sldId id="274" r:id="rId20"/>
    <p:sldId id="275" r:id="rId21"/>
    <p:sldId id="277" r:id="rId22"/>
    <p:sldId id="281" r:id="rId23"/>
    <p:sldId id="278" r:id="rId24"/>
    <p:sldId id="282" r:id="rId25"/>
    <p:sldId id="279" r:id="rId26"/>
    <p:sldId id="284" r:id="rId27"/>
    <p:sldId id="289" r:id="rId28"/>
    <p:sldId id="29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4" d="100"/>
          <a:sy n="74" d="100"/>
        </p:scale>
        <p:origin x="54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7F6DD9-D513-4821-ACB6-4578E8572781}" type="datetimeFigureOut">
              <a:rPr lang="en-IN" smtClean="0"/>
              <a:t>01-12-2024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2803657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7F6DD9-D513-4821-ACB6-4578E8572781}" type="datetimeFigureOut">
              <a:rPr lang="en-IN" smtClean="0"/>
              <a:t>01-12-2024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1569212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7F6DD9-D513-4821-ACB6-4578E8572781}" type="datetimeFigureOut">
              <a:rPr lang="en-IN" smtClean="0"/>
              <a:t>01-12-2024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2287301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7F6DD9-D513-4821-ACB6-4578E8572781}" type="datetimeFigureOut">
              <a:rPr lang="en-IN" smtClean="0"/>
              <a:t>01-12-2024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3828755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7F6DD9-D513-4821-ACB6-4578E8572781}" type="datetimeFigureOut">
              <a:rPr lang="en-IN" smtClean="0"/>
              <a:t>01-12-2024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282726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7F6DD9-D513-4821-ACB6-4578E8572781}" type="datetimeFigureOut">
              <a:rPr lang="en-IN" smtClean="0"/>
              <a:t>01-12-2024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1672064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7F6DD9-D513-4821-ACB6-4578E8572781}" type="datetimeFigureOut">
              <a:rPr lang="en-IN" smtClean="0"/>
              <a:t>01-12-2024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2053073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7F6DD9-D513-4821-ACB6-4578E8572781}" type="datetimeFigureOut">
              <a:rPr lang="en-IN" smtClean="0"/>
              <a:t>01-12-2024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3158234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7F6DD9-D513-4821-ACB6-4578E8572781}" type="datetimeFigureOut">
              <a:rPr lang="en-IN" smtClean="0"/>
              <a:t>01-12-2024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642767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7F6DD9-D513-4821-ACB6-4578E8572781}" type="datetimeFigureOut">
              <a:rPr lang="en-IN" smtClean="0"/>
              <a:t>01-12-2024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132410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7F6DD9-D513-4821-ACB6-4578E8572781}" type="datetimeFigureOut">
              <a:rPr lang="en-IN" smtClean="0"/>
              <a:t>01-12-2024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187610-4519-4E9F-9889-D887BE4A38DF}" type="slidenum">
              <a:rPr lang="en-IN" smtClean="0"/>
              <a:t>‹#›</a:t>
            </a:fld>
            <a:endParaRPr lang="en-IN"/>
          </a:p>
        </p:txBody>
      </p:sp>
    </p:spTree>
    <p:extLst>
      <p:ext uri="{BB962C8B-B14F-4D97-AF65-F5344CB8AC3E}">
        <p14:creationId xmlns:p14="http://schemas.microsoft.com/office/powerpoint/2010/main" val="2285657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164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94249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0271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95196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7714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8489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50196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8686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05331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7939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9588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7F6DD9-D513-4821-ACB6-4578E8572781}" type="datetimeFigureOut">
              <a:rPr lang="en-IN" smtClean="0"/>
              <a:t>01-12-2024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187610-4519-4E9F-9889-D887BE4A38DF}" type="slidenum">
              <a:rPr lang="en-IN" smtClean="0"/>
              <a:t>‹#›</a:t>
            </a:fld>
            <a:endParaRPr lang="en-IN"/>
          </a:p>
        </p:txBody>
      </p:sp>
    </p:spTree>
    <p:extLst>
      <p:ext uri="{BB962C8B-B14F-4D97-AF65-F5344CB8AC3E}">
        <p14:creationId xmlns:p14="http://schemas.microsoft.com/office/powerpoint/2010/main" val="2535297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pPr/>
              <a:t>12/1/2024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35751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3.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3.xml"/><Relationship Id="rId5" Type="http://schemas.openxmlformats.org/officeDocument/2006/relationships/image" Target="../media/image16.jp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a:spLocks/>
          </p:cNvSpPr>
          <p:nvPr/>
        </p:nvSpPr>
        <p:spPr>
          <a:xfrm>
            <a:off x="1989438" y="2611971"/>
            <a:ext cx="8229600" cy="107444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smtClean="0">
                <a:latin typeface="Times New Roman" pitchFamily="18" charset="0"/>
                <a:cs typeface="Times New Roman" pitchFamily="18" charset="0"/>
              </a:rPr>
              <a:t>Marketing </a:t>
            </a:r>
          </a:p>
          <a:p>
            <a:pPr algn="ctr"/>
            <a:r>
              <a:rPr lang="en-IN" b="1" dirty="0" smtClean="0">
                <a:solidFill>
                  <a:srgbClr val="FF0000"/>
                </a:solidFill>
                <a:latin typeface="Times New Roman" pitchFamily="18" charset="0"/>
                <a:cs typeface="Times New Roman" pitchFamily="18" charset="0"/>
              </a:rPr>
              <a:t>Environment</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77399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09816" y="188640"/>
            <a:ext cx="8977184" cy="6059760"/>
          </a:xfrm>
        </p:spPr>
        <p:txBody>
          <a:bodyPr>
            <a:noAutofit/>
          </a:bodyPr>
          <a:lstStyle/>
          <a:p>
            <a:pPr algn="ctr"/>
            <a:r>
              <a:rPr lang="en-IN" sz="1600" b="1" dirty="0">
                <a:latin typeface="Times New Roman" pitchFamily="18" charset="0"/>
                <a:cs typeface="Times New Roman" pitchFamily="18" charset="0"/>
              </a:rPr>
              <a:t/>
            </a:r>
            <a:br>
              <a:rPr lang="en-IN" sz="1600" b="1" dirty="0">
                <a:latin typeface="Times New Roman" pitchFamily="18" charset="0"/>
                <a:cs typeface="Times New Roman" pitchFamily="18" charset="0"/>
              </a:rPr>
            </a:br>
            <a:r>
              <a:rPr lang="en-IN" b="1" dirty="0">
                <a:latin typeface="Times New Roman" pitchFamily="18" charset="0"/>
                <a:cs typeface="Times New Roman" pitchFamily="18" charset="0"/>
              </a:rPr>
              <a:t>(</a:t>
            </a:r>
            <a:r>
              <a:rPr lang="en-IN" b="1" dirty="0">
                <a:solidFill>
                  <a:srgbClr val="FF0000"/>
                </a:solidFill>
                <a:latin typeface="Times New Roman" pitchFamily="18" charset="0"/>
                <a:cs typeface="Times New Roman" pitchFamily="18" charset="0"/>
              </a:rPr>
              <a:t>P</a:t>
            </a:r>
            <a:r>
              <a:rPr lang="en-IN" b="1" dirty="0">
                <a:latin typeface="Times New Roman" pitchFamily="18" charset="0"/>
                <a:cs typeface="Times New Roman" pitchFamily="18" charset="0"/>
              </a:rPr>
              <a:t>E</a:t>
            </a:r>
            <a:r>
              <a:rPr lang="en-IN" b="1" dirty="0">
                <a:solidFill>
                  <a:srgbClr val="FF0000"/>
                </a:solidFill>
                <a:latin typeface="Times New Roman" pitchFamily="18" charset="0"/>
                <a:cs typeface="Times New Roman" pitchFamily="18" charset="0"/>
              </a:rPr>
              <a:t>S</a:t>
            </a:r>
            <a:r>
              <a:rPr lang="en-IN" b="1" dirty="0">
                <a:latin typeface="Times New Roman" pitchFamily="18" charset="0"/>
                <a:cs typeface="Times New Roman" pitchFamily="18" charset="0"/>
              </a:rPr>
              <a:t>T) </a:t>
            </a:r>
            <a:r>
              <a:rPr lang="en-IN" b="1" dirty="0" smtClean="0">
                <a:latin typeface="Times New Roman" pitchFamily="18" charset="0"/>
                <a:cs typeface="Times New Roman" pitchFamily="18" charset="0"/>
              </a:rPr>
              <a:t>ANALYSIS</a:t>
            </a:r>
            <a:br>
              <a:rPr lang="en-IN" b="1" dirty="0" smtClean="0">
                <a:latin typeface="Times New Roman" pitchFamily="18" charset="0"/>
                <a:cs typeface="Times New Roman" pitchFamily="18" charset="0"/>
              </a:rPr>
            </a:br>
            <a:r>
              <a:rPr lang="en-IN" sz="1600" b="1" dirty="0">
                <a:latin typeface="Times New Roman" pitchFamily="18" charset="0"/>
                <a:cs typeface="Times New Roman" pitchFamily="18" charset="0"/>
              </a:rPr>
              <a:t/>
            </a:r>
            <a:br>
              <a:rPr lang="en-IN" sz="1600" b="1"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Political Legal-</a:t>
            </a:r>
            <a:r>
              <a:rPr lang="en-IN" sz="1600" b="1" dirty="0">
                <a:latin typeface="Times New Roman" pitchFamily="18" charset="0"/>
                <a:cs typeface="Times New Roman" pitchFamily="18" charset="0"/>
              </a:rPr>
              <a:t>Rules, Laws, Companies Act, Consumer protection Act, Environmental protection Act etc. ASCI, </a:t>
            </a:r>
            <a:r>
              <a:rPr lang="en-IN" sz="1600" b="1" dirty="0" smtClean="0">
                <a:latin typeface="Times New Roman" pitchFamily="18" charset="0"/>
                <a:cs typeface="Times New Roman" pitchFamily="18" charset="0"/>
              </a:rPr>
              <a:t>FSSAI,TRAI</a:t>
            </a:r>
            <a:r>
              <a:rPr lang="en-IN" sz="1600" b="1" dirty="0">
                <a:latin typeface="Times New Roman" pitchFamily="18" charset="0"/>
                <a:cs typeface="Times New Roman" pitchFamily="18" charset="0"/>
              </a:rPr>
              <a:t>, IRDA, SEBI.</a:t>
            </a:r>
            <a:br>
              <a:rPr lang="en-IN" sz="1600" b="1"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Economic-</a:t>
            </a:r>
            <a:r>
              <a:rPr lang="en-IN" sz="1600" b="1" dirty="0">
                <a:latin typeface="Times New Roman" pitchFamily="18" charset="0"/>
                <a:cs typeface="Times New Roman" pitchFamily="18" charset="0"/>
              </a:rPr>
              <a:t>Purchasing power, Inflation, Recession, Income.</a:t>
            </a:r>
            <a:br>
              <a:rPr lang="en-IN" sz="1600" b="1"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Socio-cultural, Spiritual-</a:t>
            </a:r>
            <a:r>
              <a:rPr lang="en-IN" sz="1600" b="1" dirty="0">
                <a:latin typeface="Times New Roman" pitchFamily="18" charset="0"/>
                <a:cs typeface="Times New Roman" pitchFamily="18" charset="0"/>
              </a:rPr>
              <a:t>Values, Attitude, Norms, Lifestyle.</a:t>
            </a:r>
            <a:br>
              <a:rPr lang="en-IN" sz="1600" b="1"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Technological-</a:t>
            </a:r>
            <a:r>
              <a:rPr lang="en-IN" sz="1600" b="1" dirty="0">
                <a:latin typeface="Times New Roman" pitchFamily="18" charset="0"/>
                <a:cs typeface="Times New Roman" pitchFamily="18" charset="0"/>
              </a:rPr>
              <a:t>Research, Innovation.</a:t>
            </a:r>
            <a:br>
              <a:rPr lang="en-IN" sz="1600" b="1" dirty="0">
                <a:latin typeface="Times New Roman" pitchFamily="18" charset="0"/>
                <a:cs typeface="Times New Roman" pitchFamily="18" charset="0"/>
              </a:rPr>
            </a:br>
            <a:r>
              <a:rPr lang="en-IN" sz="1600" b="1" dirty="0" smtClean="0">
                <a:latin typeface="Times New Roman" pitchFamily="18" charset="0"/>
                <a:cs typeface="Times New Roman" pitchFamily="18" charset="0"/>
              </a:rPr>
              <a:t/>
            </a:r>
            <a:br>
              <a:rPr lang="en-IN" sz="1600" b="1" dirty="0" smtClean="0">
                <a:latin typeface="Times New Roman" pitchFamily="18" charset="0"/>
                <a:cs typeface="Times New Roman" pitchFamily="18" charset="0"/>
              </a:rPr>
            </a:br>
            <a:r>
              <a:rPr lang="en-IN" sz="2400" b="1" dirty="0" smtClean="0">
                <a:solidFill>
                  <a:srgbClr val="FF0000"/>
                </a:solidFill>
                <a:latin typeface="Times New Roman" pitchFamily="18" charset="0"/>
                <a:cs typeface="Times New Roman" pitchFamily="18" charset="0"/>
              </a:rPr>
              <a:t>Natural-</a:t>
            </a:r>
            <a:r>
              <a:rPr lang="en-IN" sz="1600" b="1" dirty="0" smtClean="0">
                <a:latin typeface="Times New Roman" pitchFamily="18" charset="0"/>
                <a:cs typeface="Times New Roman" pitchFamily="18" charset="0"/>
              </a:rPr>
              <a:t>Environment</a:t>
            </a:r>
            <a:r>
              <a:rPr lang="en-IN" sz="1600" b="1" dirty="0">
                <a:latin typeface="Times New Roman" pitchFamily="18" charset="0"/>
                <a:cs typeface="Times New Roman" pitchFamily="18" charset="0"/>
              </a:rPr>
              <a:t>, Pollution, Global warming, </a:t>
            </a:r>
            <a:br>
              <a:rPr lang="en-IN" sz="1600" b="1"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Demographic- </a:t>
            </a:r>
            <a:r>
              <a:rPr lang="en-IN" sz="1600" b="1" dirty="0">
                <a:latin typeface="Times New Roman" pitchFamily="18" charset="0"/>
                <a:cs typeface="Times New Roman" pitchFamily="18" charset="0"/>
              </a:rPr>
              <a:t>Population Growth, Mix, Literacy, Location, Census.</a:t>
            </a:r>
            <a:br>
              <a:rPr lang="en-IN" sz="1600" b="1" dirty="0">
                <a:latin typeface="Times New Roman" pitchFamily="18" charset="0"/>
                <a:cs typeface="Times New Roman" pitchFamily="18" charset="0"/>
              </a:rPr>
            </a:br>
            <a:r>
              <a:rPr lang="en-IN" sz="1600" b="1" dirty="0" smtClean="0">
                <a:latin typeface="Times New Roman" pitchFamily="18" charset="0"/>
                <a:cs typeface="Times New Roman" pitchFamily="18" charset="0"/>
              </a:rPr>
              <a:t/>
            </a:r>
            <a:br>
              <a:rPr lang="en-IN" sz="1600" b="1" dirty="0" smtClean="0">
                <a:latin typeface="Times New Roman" pitchFamily="18" charset="0"/>
                <a:cs typeface="Times New Roman" pitchFamily="18" charset="0"/>
              </a:rPr>
            </a:br>
            <a:r>
              <a:rPr lang="en-IN" sz="2400" b="1" dirty="0" smtClean="0">
                <a:solidFill>
                  <a:srgbClr val="FF0000"/>
                </a:solidFill>
                <a:latin typeface="Times New Roman" pitchFamily="18" charset="0"/>
                <a:cs typeface="Times New Roman" pitchFamily="18" charset="0"/>
              </a:rPr>
              <a:t>Internal-</a:t>
            </a:r>
            <a:r>
              <a:rPr lang="en-IN" sz="1600" b="1" dirty="0" smtClean="0">
                <a:latin typeface="Times New Roman" pitchFamily="18" charset="0"/>
                <a:cs typeface="Times New Roman" pitchFamily="18" charset="0"/>
              </a:rPr>
              <a:t>Company- </a:t>
            </a:r>
            <a:r>
              <a:rPr lang="en-IN" sz="1600" b="1" dirty="0">
                <a:latin typeface="Times New Roman" pitchFamily="18" charset="0"/>
                <a:cs typeface="Times New Roman" pitchFamily="18" charset="0"/>
              </a:rPr>
              <a:t>R&amp;D, Production, HR, Location, Financial Capability.</a:t>
            </a:r>
            <a:br>
              <a:rPr lang="en-IN" sz="1600" b="1"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External-</a:t>
            </a:r>
            <a:r>
              <a:rPr lang="en-IN" sz="1600" b="1" dirty="0">
                <a:latin typeface="Times New Roman" pitchFamily="18" charset="0"/>
                <a:cs typeface="Times New Roman" pitchFamily="18" charset="0"/>
              </a:rPr>
              <a:t>MICRO ( Suppliers, Customers, Intermediaries, Competitors, Public)&amp; MACRO (PEST-ND)</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678550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81200" y="338328"/>
            <a:ext cx="8229600" cy="1074448"/>
          </a:xfrm>
        </p:spPr>
        <p:txBody>
          <a:bodyPr>
            <a:normAutofit/>
          </a:bodyPr>
          <a:lstStyle/>
          <a:p>
            <a:pPr algn="ctr"/>
            <a:r>
              <a:rPr lang="en-IN" sz="3600" b="1" dirty="0">
                <a:latin typeface="Times New Roman" pitchFamily="18" charset="0"/>
                <a:cs typeface="Times New Roman" pitchFamily="18" charset="0"/>
              </a:rPr>
              <a:t>Marketing Environment</a:t>
            </a:r>
          </a:p>
        </p:txBody>
      </p:sp>
      <p:pic>
        <p:nvPicPr>
          <p:cNvPr id="4" name="Content Placeholder 3"/>
          <p:cNvPicPr>
            <a:picLocks noGrp="1" noChangeAspect="1"/>
          </p:cNvPicPr>
          <p:nvPr>
            <p:ph idx="1"/>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524000" y="1484785"/>
            <a:ext cx="9144000" cy="5320407"/>
          </a:xfrm>
          <a:gradFill flip="none" rotWithShape="1">
            <a:gsLst>
              <a:gs pos="42488">
                <a:srgbClr val="16BAE2"/>
              </a:gs>
              <a:gs pos="31650">
                <a:srgbClr val="1DCBE1"/>
              </a:gs>
              <a:gs pos="0">
                <a:srgbClr val="03D4A8"/>
              </a:gs>
              <a:gs pos="25000">
                <a:schemeClr val="tx2">
                  <a:lumMod val="60000"/>
                  <a:lumOff val="40000"/>
                </a:schemeClr>
              </a:gs>
              <a:gs pos="75000">
                <a:srgbClr val="0087E6"/>
              </a:gs>
              <a:gs pos="100000">
                <a:srgbClr val="005CBF"/>
              </a:gs>
            </a:gsLst>
            <a:path path="circle">
              <a:fillToRect l="50000" t="50000" r="50000" b="50000"/>
            </a:path>
            <a:tileRect/>
          </a:gradFill>
          <a:ln>
            <a:solidFill>
              <a:srgbClr val="002060"/>
            </a:solidFill>
          </a:ln>
        </p:spPr>
      </p:pic>
    </p:spTree>
    <p:extLst>
      <p:ext uri="{BB962C8B-B14F-4D97-AF65-F5344CB8AC3E}">
        <p14:creationId xmlns:p14="http://schemas.microsoft.com/office/powerpoint/2010/main" val="5599498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UPPERWARE Plastic Grocery Container - 2500 ml Price in India - Buy  TUPPERWARE Plastic Grocery Container - 2500 ml online at Flipkart.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8260" y="1291342"/>
            <a:ext cx="4160108" cy="4994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399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dirty="0" smtClean="0">
                <a:latin typeface="Times New Roman" pitchFamily="18" charset="0"/>
                <a:cs typeface="Times New Roman" pitchFamily="18" charset="0"/>
              </a:rPr>
              <a:t>Political-Legal</a:t>
            </a:r>
            <a:br>
              <a:rPr lang="en-IN" sz="3200" dirty="0" smtClean="0">
                <a:latin typeface="Times New Roman" pitchFamily="18" charset="0"/>
                <a:cs typeface="Times New Roman" pitchFamily="18" charset="0"/>
              </a:rPr>
            </a:br>
            <a:r>
              <a:rPr lang="en-IN" sz="3200" dirty="0" smtClean="0">
                <a:latin typeface="Times New Roman" pitchFamily="18" charset="0"/>
                <a:cs typeface="Times New Roman" pitchFamily="18" charset="0"/>
              </a:rPr>
              <a:t>ITC –T for…..</a:t>
            </a:r>
            <a:endParaRPr lang="en-IN" sz="3200" dirty="0">
              <a:latin typeface="Times New Roman" pitchFamily="18" charset="0"/>
              <a:cs typeface="Times New Roman" pitchFamily="18" charset="0"/>
            </a:endParaRPr>
          </a:p>
        </p:txBody>
      </p:sp>
      <p:sp>
        <p:nvSpPr>
          <p:cNvPr id="3" name="Rectangle 2"/>
          <p:cNvSpPr/>
          <p:nvPr/>
        </p:nvSpPr>
        <p:spPr>
          <a:xfrm>
            <a:off x="667265" y="2068155"/>
            <a:ext cx="10626811" cy="3416320"/>
          </a:xfrm>
          <a:prstGeom prst="rect">
            <a:avLst/>
          </a:prstGeom>
        </p:spPr>
        <p:txBody>
          <a:bodyPr wrap="square">
            <a:spAutoFit/>
          </a:bodyPr>
          <a:lstStyle/>
          <a:p>
            <a:r>
              <a:rPr lang="en-IN" sz="2400" dirty="0">
                <a:latin typeface="Times New Roman" pitchFamily="18" charset="0"/>
                <a:cs typeface="Times New Roman" pitchFamily="18" charset="0"/>
              </a:rPr>
              <a:t>ITC aims to become the number one FMCG company. </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Government notification - health warning graphics should cover </a:t>
            </a:r>
            <a:endParaRPr lang="en-IN" sz="2400" dirty="0" smtClean="0">
              <a:latin typeface="Times New Roman" pitchFamily="18" charset="0"/>
              <a:cs typeface="Times New Roman" pitchFamily="18" charset="0"/>
            </a:endParaRPr>
          </a:p>
          <a:p>
            <a:r>
              <a:rPr lang="en-IN" sz="2400" dirty="0" smtClean="0">
                <a:solidFill>
                  <a:srgbClr val="FF0000"/>
                </a:solidFill>
                <a:latin typeface="Times New Roman" pitchFamily="18" charset="0"/>
                <a:cs typeface="Times New Roman" pitchFamily="18" charset="0"/>
              </a:rPr>
              <a:t>85</a:t>
            </a:r>
            <a:r>
              <a:rPr lang="en-IN" sz="2400" dirty="0">
                <a:solidFill>
                  <a:srgbClr val="FF0000"/>
                </a:solidFill>
                <a:latin typeface="Times New Roman" pitchFamily="18" charset="0"/>
                <a:cs typeface="Times New Roman" pitchFamily="18" charset="0"/>
              </a:rPr>
              <a:t>% of the packet</a:t>
            </a:r>
            <a:r>
              <a:rPr lang="en-IN" sz="2400" dirty="0">
                <a:latin typeface="Times New Roman" pitchFamily="18" charset="0"/>
                <a:cs typeface="Times New Roman" pitchFamily="18" charset="0"/>
              </a:rPr>
              <a:t> compared to the requirement </a:t>
            </a:r>
            <a:r>
              <a:rPr lang="en-IN" sz="2400" dirty="0">
                <a:solidFill>
                  <a:srgbClr val="FF0000"/>
                </a:solidFill>
                <a:latin typeface="Times New Roman" pitchFamily="18" charset="0"/>
                <a:cs typeface="Times New Roman" pitchFamily="18" charset="0"/>
              </a:rPr>
              <a:t>of </a:t>
            </a:r>
            <a:endParaRPr lang="en-IN" sz="2400" dirty="0" smtClean="0">
              <a:solidFill>
                <a:srgbClr val="FF0000"/>
              </a:solidFill>
              <a:latin typeface="Times New Roman" pitchFamily="18" charset="0"/>
              <a:cs typeface="Times New Roman" pitchFamily="18" charset="0"/>
            </a:endParaRPr>
          </a:p>
          <a:p>
            <a:r>
              <a:rPr lang="en-IN" sz="2400" dirty="0" smtClean="0">
                <a:solidFill>
                  <a:srgbClr val="FF0000"/>
                </a:solidFill>
                <a:latin typeface="Times New Roman" pitchFamily="18" charset="0"/>
                <a:cs typeface="Times New Roman" pitchFamily="18" charset="0"/>
              </a:rPr>
              <a:t>40</a:t>
            </a:r>
            <a:r>
              <a:rPr lang="en-IN" sz="2400" dirty="0">
                <a:solidFill>
                  <a:srgbClr val="FF0000"/>
                </a:solidFill>
                <a:latin typeface="Times New Roman" pitchFamily="18" charset="0"/>
                <a:cs typeface="Times New Roman" pitchFamily="18" charset="0"/>
              </a:rPr>
              <a:t>%</a:t>
            </a:r>
            <a:r>
              <a:rPr lang="en-IN" sz="2400" dirty="0">
                <a:latin typeface="Times New Roman" pitchFamily="18" charset="0"/>
                <a:cs typeface="Times New Roman" pitchFamily="18" charset="0"/>
              </a:rPr>
              <a:t> on one side of the pack.</a:t>
            </a:r>
          </a:p>
          <a:p>
            <a:endParaRPr lang="en-IN" sz="2400" dirty="0">
              <a:solidFill>
                <a:srgbClr val="FF0000"/>
              </a:solidFill>
              <a:latin typeface="Times New Roman" pitchFamily="18" charset="0"/>
              <a:cs typeface="Times New Roman" pitchFamily="18" charset="0"/>
            </a:endParaRPr>
          </a:p>
          <a:p>
            <a:r>
              <a:rPr lang="en-IN" sz="2400" dirty="0" smtClean="0">
                <a:solidFill>
                  <a:srgbClr val="FF0000"/>
                </a:solidFill>
                <a:latin typeface="Times New Roman" pitchFamily="18" charset="0"/>
                <a:cs typeface="Times New Roman" pitchFamily="18" charset="0"/>
              </a:rPr>
              <a:t>60% </a:t>
            </a:r>
            <a:r>
              <a:rPr lang="en-IN" sz="2400" dirty="0">
                <a:solidFill>
                  <a:srgbClr val="FF0000"/>
                </a:solidFill>
                <a:latin typeface="Times New Roman" pitchFamily="18" charset="0"/>
                <a:cs typeface="Times New Roman" pitchFamily="18" charset="0"/>
              </a:rPr>
              <a:t>per cent </a:t>
            </a:r>
            <a:r>
              <a:rPr lang="en-IN" sz="2400" dirty="0">
                <a:latin typeface="Times New Roman" pitchFamily="18" charset="0"/>
                <a:cs typeface="Times New Roman" pitchFamily="18" charset="0"/>
              </a:rPr>
              <a:t>of net segment </a:t>
            </a:r>
            <a:r>
              <a:rPr lang="en-IN" sz="2400" dirty="0">
                <a:solidFill>
                  <a:srgbClr val="FF0000"/>
                </a:solidFill>
                <a:latin typeface="Times New Roman" pitchFamily="18" charset="0"/>
                <a:cs typeface="Times New Roman" pitchFamily="18" charset="0"/>
              </a:rPr>
              <a:t>revenue</a:t>
            </a:r>
            <a:r>
              <a:rPr lang="en-IN" sz="2400" dirty="0">
                <a:latin typeface="Times New Roman" pitchFamily="18" charset="0"/>
                <a:cs typeface="Times New Roman" pitchFamily="18" charset="0"/>
              </a:rPr>
              <a:t> is derived from businesses other than cigarettes. </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Segment revenue, other than cigarettes, has grown </a:t>
            </a:r>
            <a:r>
              <a:rPr lang="en-IN" sz="2400" dirty="0" smtClean="0">
                <a:latin typeface="Times New Roman" pitchFamily="18" charset="0"/>
                <a:cs typeface="Times New Roman" pitchFamily="18" charset="0"/>
              </a:rPr>
              <a:t>more than </a:t>
            </a:r>
            <a:r>
              <a:rPr lang="en-IN" sz="2400" dirty="0" smtClean="0">
                <a:solidFill>
                  <a:srgbClr val="FF0000"/>
                </a:solidFill>
                <a:latin typeface="Times New Roman" pitchFamily="18" charset="0"/>
                <a:cs typeface="Times New Roman" pitchFamily="18" charset="0"/>
              </a:rPr>
              <a:t>17-fold </a:t>
            </a:r>
            <a:r>
              <a:rPr lang="en-IN" sz="2400" dirty="0">
                <a:solidFill>
                  <a:srgbClr val="FF0000"/>
                </a:solidFill>
                <a:latin typeface="Times New Roman" pitchFamily="18" charset="0"/>
                <a:cs typeface="Times New Roman" pitchFamily="18" charset="0"/>
              </a:rPr>
              <a:t>since </a:t>
            </a:r>
            <a:r>
              <a:rPr lang="en-IN" sz="2400" dirty="0" smtClean="0">
                <a:solidFill>
                  <a:srgbClr val="FF0000"/>
                </a:solidFill>
                <a:latin typeface="Times New Roman" pitchFamily="18" charset="0"/>
                <a:cs typeface="Times New Roman" pitchFamily="18" charset="0"/>
              </a:rPr>
              <a:t>1996</a:t>
            </a:r>
            <a:endParaRPr lang="en-IN" sz="2400" dirty="0"/>
          </a:p>
        </p:txBody>
      </p:sp>
    </p:spTree>
    <p:extLst>
      <p:ext uri="{BB962C8B-B14F-4D97-AF65-F5344CB8AC3E}">
        <p14:creationId xmlns:p14="http://schemas.microsoft.com/office/powerpoint/2010/main" val="4425396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0303" y="908720"/>
            <a:ext cx="10429101" cy="5544616"/>
          </a:xfrm>
        </p:spPr>
        <p:txBody>
          <a:bodyPr>
            <a:normAutofit/>
          </a:bodyPr>
          <a:lstStyle/>
          <a:p>
            <a:r>
              <a:rPr lang="en-IN" sz="2000" dirty="0">
                <a:solidFill>
                  <a:srgbClr val="FF0000"/>
                </a:solidFill>
                <a:latin typeface="Times New Roman" pitchFamily="18" charset="0"/>
                <a:cs typeface="Times New Roman" pitchFamily="18" charset="0"/>
              </a:rPr>
              <a:t>The toilet cleaner segment, which was growing at 3-6%, has seen a sudden 10-12% </a:t>
            </a:r>
            <a:r>
              <a:rPr lang="en-IN" sz="2000" dirty="0" smtClean="0">
                <a:solidFill>
                  <a:srgbClr val="FF0000"/>
                </a:solidFill>
                <a:latin typeface="Times New Roman" pitchFamily="18" charset="0"/>
                <a:cs typeface="Times New Roman" pitchFamily="18" charset="0"/>
              </a:rPr>
              <a:t>growth</a:t>
            </a:r>
            <a:r>
              <a:rPr lang="en-IN" sz="1400" b="1" dirty="0">
                <a:latin typeface="Times New Roman" pitchFamily="18" charset="0"/>
                <a:cs typeface="Times New Roman" pitchFamily="18" charset="0"/>
              </a:rPr>
              <a:t/>
            </a:r>
            <a:br>
              <a:rPr lang="en-IN" sz="1400" b="1" dirty="0">
                <a:latin typeface="Times New Roman" pitchFamily="18" charset="0"/>
                <a:cs typeface="Times New Roman" pitchFamily="18" charset="0"/>
              </a:rPr>
            </a:br>
            <a:r>
              <a:rPr lang="en-IN" sz="2000" b="1" dirty="0">
                <a:latin typeface="Times New Roman" pitchFamily="18" charset="0"/>
                <a:cs typeface="Times New Roman" pitchFamily="18" charset="0"/>
              </a:rPr>
              <a:t/>
            </a:r>
            <a:br>
              <a:rPr lang="en-IN" sz="2000" b="1" dirty="0">
                <a:latin typeface="Times New Roman" pitchFamily="18" charset="0"/>
                <a:cs typeface="Times New Roman" pitchFamily="18" charset="0"/>
              </a:rPr>
            </a:br>
            <a:r>
              <a:rPr lang="en-IN" sz="2000" dirty="0">
                <a:solidFill>
                  <a:srgbClr val="FF0000"/>
                </a:solidFill>
                <a:latin typeface="Times New Roman" pitchFamily="18" charset="0"/>
                <a:cs typeface="Times New Roman" pitchFamily="18" charset="0"/>
              </a:rPr>
              <a:t>RB</a:t>
            </a:r>
            <a:r>
              <a:rPr lang="en-IN" sz="2000" dirty="0">
                <a:latin typeface="Times New Roman" pitchFamily="18" charset="0"/>
                <a:cs typeface="Times New Roman" pitchFamily="18" charset="0"/>
              </a:rPr>
              <a:t>- </a:t>
            </a:r>
            <a:r>
              <a:rPr lang="en-IN" sz="2000" dirty="0" err="1">
                <a:solidFill>
                  <a:srgbClr val="FF0000"/>
                </a:solidFill>
                <a:latin typeface="Times New Roman" pitchFamily="18" charset="0"/>
                <a:cs typeface="Times New Roman" pitchFamily="18" charset="0"/>
              </a:rPr>
              <a:t>Banega</a:t>
            </a:r>
            <a:r>
              <a:rPr lang="en-IN" sz="2000" dirty="0">
                <a:solidFill>
                  <a:srgbClr val="FF0000"/>
                </a:solidFill>
                <a:latin typeface="Times New Roman" pitchFamily="18" charset="0"/>
                <a:cs typeface="Times New Roman" pitchFamily="18" charset="0"/>
              </a:rPr>
              <a:t> </a:t>
            </a:r>
            <a:r>
              <a:rPr lang="en-IN" sz="2000" dirty="0" err="1">
                <a:solidFill>
                  <a:srgbClr val="FF0000"/>
                </a:solidFill>
                <a:latin typeface="Times New Roman" pitchFamily="18" charset="0"/>
                <a:cs typeface="Times New Roman" pitchFamily="18" charset="0"/>
              </a:rPr>
              <a:t>Swachh</a:t>
            </a:r>
            <a:r>
              <a:rPr lang="en-IN" sz="2000" dirty="0">
                <a:solidFill>
                  <a:srgbClr val="FF0000"/>
                </a:solidFill>
                <a:latin typeface="Times New Roman" pitchFamily="18" charset="0"/>
                <a:cs typeface="Times New Roman" pitchFamily="18" charset="0"/>
              </a:rPr>
              <a:t> India campaign </a:t>
            </a:r>
            <a:r>
              <a:rPr lang="en-IN" sz="2000" dirty="0" smtClean="0">
                <a:latin typeface="Times New Roman" pitchFamily="18" charset="0"/>
                <a:cs typeface="Times New Roman" pitchFamily="18" charset="0"/>
              </a:rPr>
              <a:t>–Dettol, </a:t>
            </a:r>
            <a:r>
              <a:rPr lang="en-IN" sz="2000" dirty="0" err="1" smtClean="0">
                <a:latin typeface="Times New Roman" pitchFamily="18" charset="0"/>
                <a:cs typeface="Times New Roman" pitchFamily="18" charset="0"/>
              </a:rPr>
              <a:t>Harpic</a:t>
            </a: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2000" dirty="0">
                <a:solidFill>
                  <a:srgbClr val="FF0000"/>
                </a:solidFill>
                <a:latin typeface="Times New Roman" pitchFamily="18" charset="0"/>
                <a:cs typeface="Times New Roman" pitchFamily="18" charset="0"/>
              </a:rPr>
              <a:t>HUL</a:t>
            </a:r>
            <a:r>
              <a:rPr lang="en-IN" sz="2000" dirty="0">
                <a:latin typeface="Times New Roman" pitchFamily="18" charset="0"/>
                <a:cs typeface="Times New Roman" pitchFamily="18" charset="0"/>
              </a:rPr>
              <a:t>- ‘</a:t>
            </a:r>
            <a:r>
              <a:rPr lang="en-IN" sz="1800" dirty="0">
                <a:solidFill>
                  <a:srgbClr val="FF0000"/>
                </a:solidFill>
                <a:latin typeface="Times New Roman" pitchFamily="18" charset="0"/>
                <a:cs typeface="Times New Roman" pitchFamily="18" charset="0"/>
              </a:rPr>
              <a:t>Clean-India</a:t>
            </a:r>
            <a:r>
              <a:rPr lang="en-IN" sz="2000" dirty="0">
                <a:solidFill>
                  <a:srgbClr val="FF0000"/>
                </a:solidFill>
                <a:latin typeface="Times New Roman" pitchFamily="18" charset="0"/>
                <a:cs typeface="Times New Roman" pitchFamily="18" charset="0"/>
              </a:rPr>
              <a:t>'</a:t>
            </a:r>
            <a:r>
              <a:rPr lang="en-IN" sz="2000" dirty="0">
                <a:latin typeface="Times New Roman" pitchFamily="18" charset="0"/>
                <a:cs typeface="Times New Roman" pitchFamily="18" charset="0"/>
              </a:rPr>
              <a:t> </a:t>
            </a:r>
            <a:r>
              <a:rPr lang="en-IN" sz="2000" dirty="0" smtClean="0">
                <a:latin typeface="Times New Roman" pitchFamily="18" charset="0"/>
                <a:cs typeface="Times New Roman" pitchFamily="18" charset="0"/>
              </a:rPr>
              <a:t>- </a:t>
            </a:r>
            <a:r>
              <a:rPr lang="en-IN" sz="2000" dirty="0" smtClean="0">
                <a:solidFill>
                  <a:srgbClr val="FF0000"/>
                </a:solidFill>
                <a:latin typeface="Times New Roman" pitchFamily="18" charset="0"/>
                <a:cs typeface="Times New Roman" pitchFamily="18" charset="0"/>
              </a:rPr>
              <a:t>Lifebuoy's </a:t>
            </a:r>
            <a:r>
              <a:rPr lang="en-IN" sz="2000" dirty="0">
                <a:latin typeface="Times New Roman" pitchFamily="18" charset="0"/>
                <a:cs typeface="Times New Roman" pitchFamily="18" charset="0"/>
              </a:rPr>
              <a:t>hand-washing programme, </a:t>
            </a:r>
            <a:r>
              <a:rPr lang="en-IN" sz="2000" dirty="0" err="1" smtClean="0">
                <a:latin typeface="Times New Roman" pitchFamily="18" charset="0"/>
                <a:cs typeface="Times New Roman" pitchFamily="18" charset="0"/>
              </a:rPr>
              <a:t>Domex</a:t>
            </a: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2000" dirty="0" err="1">
                <a:solidFill>
                  <a:srgbClr val="FF0000"/>
                </a:solidFill>
                <a:latin typeface="Times New Roman" pitchFamily="18" charset="0"/>
                <a:cs typeface="Times New Roman" pitchFamily="18" charset="0"/>
              </a:rPr>
              <a:t>Dabur</a:t>
            </a:r>
            <a:r>
              <a:rPr lang="en-IN" sz="2000" dirty="0">
                <a:latin typeface="Times New Roman" pitchFamily="18" charset="0"/>
                <a:cs typeface="Times New Roman" pitchFamily="18" charset="0"/>
              </a:rPr>
              <a:t> - `</a:t>
            </a:r>
            <a:r>
              <a:rPr lang="en-IN" sz="2000" dirty="0" err="1">
                <a:solidFill>
                  <a:srgbClr val="FF0000"/>
                </a:solidFill>
                <a:latin typeface="Times New Roman" pitchFamily="18" charset="0"/>
                <a:cs typeface="Times New Roman" pitchFamily="18" charset="0"/>
              </a:rPr>
              <a:t>Swachh</a:t>
            </a:r>
            <a:r>
              <a:rPr lang="en-IN" sz="2000" dirty="0">
                <a:solidFill>
                  <a:srgbClr val="FF0000"/>
                </a:solidFill>
                <a:latin typeface="Times New Roman" pitchFamily="18" charset="0"/>
                <a:cs typeface="Times New Roman" pitchFamily="18" charset="0"/>
              </a:rPr>
              <a:t> Toilet, </a:t>
            </a:r>
            <a:r>
              <a:rPr lang="en-IN" sz="2000" dirty="0" err="1">
                <a:solidFill>
                  <a:srgbClr val="FF0000"/>
                </a:solidFill>
                <a:latin typeface="Times New Roman" pitchFamily="18" charset="0"/>
                <a:cs typeface="Times New Roman" pitchFamily="18" charset="0"/>
              </a:rPr>
              <a:t>Swachh</a:t>
            </a:r>
            <a:r>
              <a:rPr lang="en-IN" sz="2000" dirty="0">
                <a:solidFill>
                  <a:srgbClr val="FF0000"/>
                </a:solidFill>
                <a:latin typeface="Times New Roman" pitchFamily="18" charset="0"/>
                <a:cs typeface="Times New Roman" pitchFamily="18" charset="0"/>
              </a:rPr>
              <a:t> Bharat </a:t>
            </a:r>
            <a:r>
              <a:rPr lang="en-IN" sz="2000" dirty="0" err="1">
                <a:solidFill>
                  <a:srgbClr val="FF0000"/>
                </a:solidFill>
                <a:latin typeface="Times New Roman" pitchFamily="18" charset="0"/>
                <a:cs typeface="Times New Roman" pitchFamily="18" charset="0"/>
              </a:rPr>
              <a:t>Abhiyan</a:t>
            </a:r>
            <a:r>
              <a:rPr lang="en-IN" sz="2000" dirty="0" smtClean="0">
                <a:solidFill>
                  <a:srgbClr val="FF0000"/>
                </a:solidFill>
                <a:latin typeface="Times New Roman" pitchFamily="18" charset="0"/>
                <a:cs typeface="Times New Roman" pitchFamily="18" charset="0"/>
              </a:rPr>
              <a:t>',. </a:t>
            </a:r>
            <a:r>
              <a:rPr lang="en-IN" sz="2000" b="1" dirty="0" err="1" smtClean="0">
                <a:latin typeface="Times New Roman" pitchFamily="18" charset="0"/>
                <a:cs typeface="Times New Roman" pitchFamily="18" charset="0"/>
              </a:rPr>
              <a:t>Sanifresh</a:t>
            </a: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toilet cleaners.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The </a:t>
            </a:r>
            <a:r>
              <a:rPr lang="en-IN" sz="2000" dirty="0">
                <a:solidFill>
                  <a:srgbClr val="FF0000"/>
                </a:solidFill>
                <a:latin typeface="Times New Roman" pitchFamily="18" charset="0"/>
                <a:cs typeface="Times New Roman" pitchFamily="18" charset="0"/>
              </a:rPr>
              <a:t>WHO</a:t>
            </a:r>
            <a:r>
              <a:rPr lang="en-IN" sz="2000" dirty="0">
                <a:latin typeface="Times New Roman" pitchFamily="18" charset="0"/>
                <a:cs typeface="Times New Roman" pitchFamily="18" charset="0"/>
              </a:rPr>
              <a:t> and the United Nations Children's Education Fund </a:t>
            </a:r>
            <a:r>
              <a:rPr lang="en-IN" sz="2000" dirty="0">
                <a:solidFill>
                  <a:srgbClr val="FF0000"/>
                </a:solidFill>
                <a:latin typeface="Times New Roman" pitchFamily="18" charset="0"/>
                <a:cs typeface="Times New Roman" pitchFamily="18" charset="0"/>
              </a:rPr>
              <a:t>(UNICEF) </a:t>
            </a:r>
            <a:r>
              <a:rPr lang="en-IN" sz="2000" dirty="0">
                <a:latin typeface="Times New Roman" pitchFamily="18" charset="0"/>
                <a:cs typeface="Times New Roman" pitchFamily="18" charset="0"/>
              </a:rPr>
              <a:t>estimate that there are more than </a:t>
            </a:r>
            <a:r>
              <a:rPr lang="en-IN" sz="2000" dirty="0">
                <a:solidFill>
                  <a:srgbClr val="FF0000"/>
                </a:solidFill>
                <a:latin typeface="Times New Roman" pitchFamily="18" charset="0"/>
                <a:cs typeface="Times New Roman" pitchFamily="18" charset="0"/>
              </a:rPr>
              <a:t>620 million people engaged in open defecation </a:t>
            </a:r>
            <a:r>
              <a:rPr lang="en-IN" sz="2000" dirty="0">
                <a:latin typeface="Times New Roman" pitchFamily="18" charset="0"/>
                <a:cs typeface="Times New Roman" pitchFamily="18" charset="0"/>
              </a:rPr>
              <a:t>due to lack of access to proper sanitation and </a:t>
            </a:r>
            <a:r>
              <a:rPr lang="en-IN" sz="2000" dirty="0">
                <a:solidFill>
                  <a:srgbClr val="FF0000"/>
                </a:solidFill>
                <a:latin typeface="Times New Roman" pitchFamily="18" charset="0"/>
                <a:cs typeface="Times New Roman" pitchFamily="18" charset="0"/>
              </a:rPr>
              <a:t>60% of all open defecation is in India.</a:t>
            </a:r>
          </a:p>
        </p:txBody>
      </p:sp>
      <p:sp>
        <p:nvSpPr>
          <p:cNvPr id="3" name="Title 1"/>
          <p:cNvSpPr txBox="1">
            <a:spLocks/>
          </p:cNvSpPr>
          <p:nvPr/>
        </p:nvSpPr>
        <p:spPr>
          <a:xfrm>
            <a:off x="1832918" y="591679"/>
            <a:ext cx="8229600" cy="63408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800" dirty="0" err="1" smtClean="0">
                <a:latin typeface="Times New Roman" pitchFamily="18" charset="0"/>
                <a:cs typeface="Times New Roman" pitchFamily="18" charset="0"/>
              </a:rPr>
              <a:t>Swach</a:t>
            </a:r>
            <a:r>
              <a:rPr lang="en-IN" sz="2800" dirty="0" err="1">
                <a:latin typeface="Times New Roman" pitchFamily="18" charset="0"/>
                <a:cs typeface="Times New Roman" pitchFamily="18" charset="0"/>
              </a:rPr>
              <a:t>h</a:t>
            </a:r>
            <a:r>
              <a:rPr lang="en-IN" sz="2800" dirty="0" smtClean="0">
                <a:latin typeface="Times New Roman" pitchFamily="18" charset="0"/>
                <a:cs typeface="Times New Roman" pitchFamily="18" charset="0"/>
              </a:rPr>
              <a:t> </a:t>
            </a:r>
            <a:r>
              <a:rPr lang="en-IN" sz="2800" dirty="0">
                <a:latin typeface="Times New Roman" pitchFamily="18" charset="0"/>
                <a:cs typeface="Times New Roman" pitchFamily="18" charset="0"/>
              </a:rPr>
              <a:t>Bharat Mission</a:t>
            </a:r>
          </a:p>
        </p:txBody>
      </p:sp>
    </p:spTree>
    <p:extLst>
      <p:ext uri="{BB962C8B-B14F-4D97-AF65-F5344CB8AC3E}">
        <p14:creationId xmlns:p14="http://schemas.microsoft.com/office/powerpoint/2010/main" val="7931180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395" y="548680"/>
            <a:ext cx="10140778" cy="6120680"/>
          </a:xfrm>
        </p:spPr>
        <p:txBody>
          <a:bodyPr>
            <a:noAutofit/>
          </a:bodyPr>
          <a:lstStyle/>
          <a:p>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United Nations - June 21 International Yoga Day, </a:t>
            </a:r>
            <a:r>
              <a:rPr lang="en-IN" sz="1600" dirty="0">
                <a:solidFill>
                  <a:srgbClr val="FF0000"/>
                </a:solidFill>
                <a:latin typeface="Times New Roman" pitchFamily="18" charset="0"/>
                <a:cs typeface="Times New Roman" pitchFamily="18" charset="0"/>
              </a:rPr>
              <a:t>GWR</a:t>
            </a:r>
            <a:r>
              <a:rPr lang="en-IN" sz="1600" dirty="0">
                <a:latin typeface="Times New Roman" pitchFamily="18" charset="0"/>
                <a:cs typeface="Times New Roman" pitchFamily="18" charset="0"/>
              </a:rPr>
              <a:t> conditions. </a:t>
            </a:r>
            <a:br>
              <a:rPr lang="en-IN" sz="1600" dirty="0">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Jawaharlal Nehru stadium </a:t>
            </a:r>
            <a:r>
              <a:rPr lang="en-IN" sz="1600" dirty="0">
                <a:latin typeface="Times New Roman" pitchFamily="18" charset="0"/>
                <a:cs typeface="Times New Roman" pitchFamily="18" charset="0"/>
              </a:rPr>
              <a:t>- </a:t>
            </a:r>
            <a:r>
              <a:rPr lang="en-IN" sz="1600" dirty="0">
                <a:solidFill>
                  <a:srgbClr val="FF0000"/>
                </a:solidFill>
                <a:latin typeface="Times New Roman" pitchFamily="18" charset="0"/>
                <a:cs typeface="Times New Roman" pitchFamily="18" charset="0"/>
              </a:rPr>
              <a:t>29,973 people </a:t>
            </a:r>
            <a:r>
              <a:rPr lang="en-IN" sz="1600" dirty="0">
                <a:latin typeface="Times New Roman" pitchFamily="18" charset="0"/>
                <a:cs typeface="Times New Roman" pitchFamily="18" charset="0"/>
              </a:rPr>
              <a:t>record was set up by students at a </a:t>
            </a:r>
            <a:r>
              <a:rPr lang="en-IN" sz="1600" dirty="0">
                <a:solidFill>
                  <a:srgbClr val="FF0000"/>
                </a:solidFill>
                <a:latin typeface="Times New Roman" pitchFamily="18" charset="0"/>
                <a:cs typeface="Times New Roman" pitchFamily="18" charset="0"/>
              </a:rPr>
              <a:t>Gwalior university </a:t>
            </a:r>
            <a:r>
              <a:rPr lang="en-IN" sz="1600" dirty="0">
                <a:latin typeface="Times New Roman" pitchFamily="18" charset="0"/>
                <a:cs typeface="Times New Roman" pitchFamily="18" charset="0"/>
              </a:rPr>
              <a:t>in </a:t>
            </a:r>
            <a:r>
              <a:rPr lang="en-IN" sz="1600" dirty="0">
                <a:solidFill>
                  <a:srgbClr val="FF0000"/>
                </a:solidFill>
                <a:latin typeface="Times New Roman" pitchFamily="18" charset="0"/>
                <a:cs typeface="Times New Roman" pitchFamily="18" charset="0"/>
              </a:rPr>
              <a:t>2005</a:t>
            </a:r>
            <a:r>
              <a:rPr lang="en-IN" sz="1600" dirty="0">
                <a:latin typeface="Times New Roman" pitchFamily="18" charset="0"/>
                <a:cs typeface="Times New Roman" pitchFamily="18" charset="0"/>
              </a:rPr>
              <a:t>.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Rajpath</a:t>
            </a:r>
            <a:r>
              <a:rPr lang="en-IN" sz="1600" dirty="0">
                <a:latin typeface="Times New Roman" pitchFamily="18" charset="0"/>
                <a:cs typeface="Times New Roman" pitchFamily="18" charset="0"/>
              </a:rPr>
              <a:t> as the new venue because of its vast area and historical significance.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One person needs around three square metre area for performing yoga activities.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Morarji Desai National Institute of Yoga </a:t>
            </a:r>
            <a:r>
              <a:rPr lang="en-IN" sz="1600" dirty="0">
                <a:latin typeface="Times New Roman" pitchFamily="18" charset="0"/>
                <a:cs typeface="Times New Roman" pitchFamily="18" charset="0"/>
              </a:rPr>
              <a:t>developed the </a:t>
            </a:r>
            <a:r>
              <a:rPr lang="en-IN" sz="1600" dirty="0">
                <a:solidFill>
                  <a:srgbClr val="FF0000"/>
                </a:solidFill>
                <a:latin typeface="Times New Roman" pitchFamily="18" charset="0"/>
                <a:cs typeface="Times New Roman" pitchFamily="18" charset="0"/>
              </a:rPr>
              <a:t>protocol</a:t>
            </a:r>
            <a:r>
              <a:rPr lang="en-IN" sz="1600" dirty="0">
                <a:latin typeface="Times New Roman" pitchFamily="18" charset="0"/>
                <a:cs typeface="Times New Roman" pitchFamily="18" charset="0"/>
              </a:rPr>
              <a:t>. The GWR, however, found </a:t>
            </a:r>
            <a:r>
              <a:rPr lang="en-IN" sz="1600" dirty="0">
                <a:solidFill>
                  <a:srgbClr val="FF0000"/>
                </a:solidFill>
                <a:latin typeface="Times New Roman" pitchFamily="18" charset="0"/>
                <a:cs typeface="Times New Roman" pitchFamily="18" charset="0"/>
              </a:rPr>
              <a:t>105 people not performing Yoga </a:t>
            </a:r>
            <a:r>
              <a:rPr lang="en-IN" sz="1600" dirty="0">
                <a:latin typeface="Times New Roman" pitchFamily="18" charset="0"/>
                <a:cs typeface="Times New Roman" pitchFamily="18" charset="0"/>
              </a:rPr>
              <a:t>and removed their names from the finally tally of </a:t>
            </a:r>
            <a:r>
              <a:rPr lang="en-IN" sz="1600" dirty="0">
                <a:solidFill>
                  <a:srgbClr val="FF0000"/>
                </a:solidFill>
                <a:latin typeface="Times New Roman" pitchFamily="18" charset="0"/>
                <a:cs typeface="Times New Roman" pitchFamily="18" charset="0"/>
              </a:rPr>
              <a:t>35,985</a:t>
            </a:r>
            <a:r>
              <a:rPr lang="en-IN" sz="1600" dirty="0">
                <a:latin typeface="Times New Roman" pitchFamily="18" charset="0"/>
                <a:cs typeface="Times New Roman" pitchFamily="18" charset="0"/>
              </a:rPr>
              <a:t> people who set the new world record.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b="1" dirty="0">
                <a:latin typeface="Times New Roman" pitchFamily="18" charset="0"/>
                <a:cs typeface="Times New Roman" pitchFamily="18" charset="0"/>
              </a:rPr>
              <a:t>Snapdeal</a:t>
            </a:r>
            <a:r>
              <a:rPr lang="en-IN" sz="1600" dirty="0">
                <a:latin typeface="Times New Roman" pitchFamily="18" charset="0"/>
                <a:cs typeface="Times New Roman" pitchFamily="18" charset="0"/>
              </a:rPr>
              <a:t>  launched a special </a:t>
            </a:r>
            <a:r>
              <a:rPr lang="en-IN" sz="1600" dirty="0">
                <a:solidFill>
                  <a:srgbClr val="FF0000"/>
                </a:solidFill>
                <a:latin typeface="Times New Roman" pitchFamily="18" charset="0"/>
                <a:cs typeface="Times New Roman" pitchFamily="18" charset="0"/>
              </a:rPr>
              <a:t>yoga-themed store </a:t>
            </a:r>
            <a:r>
              <a:rPr lang="en-IN" sz="1600" dirty="0">
                <a:latin typeface="Times New Roman" pitchFamily="18" charset="0"/>
                <a:cs typeface="Times New Roman" pitchFamily="18" charset="0"/>
              </a:rPr>
              <a:t>featuring over </a:t>
            </a:r>
            <a:r>
              <a:rPr lang="en-IN" sz="1600" dirty="0">
                <a:solidFill>
                  <a:srgbClr val="FF0000"/>
                </a:solidFill>
                <a:latin typeface="Times New Roman" pitchFamily="18" charset="0"/>
                <a:cs typeface="Times New Roman" pitchFamily="18" charset="0"/>
              </a:rPr>
              <a:t>500 yoga–related products </a:t>
            </a:r>
            <a:r>
              <a:rPr lang="en-IN" sz="1600" dirty="0">
                <a:latin typeface="Times New Roman" pitchFamily="18" charset="0"/>
                <a:cs typeface="Times New Roman" pitchFamily="18" charset="0"/>
              </a:rPr>
              <a:t>like yoga learning e-guides, mats, modern yoga equipment, yoga-wear and more.</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b="1" dirty="0">
                <a:latin typeface="Times New Roman" pitchFamily="18" charset="0"/>
                <a:cs typeface="Times New Roman" pitchFamily="18" charset="0"/>
              </a:rPr>
              <a:t>VLCC</a:t>
            </a:r>
            <a:r>
              <a:rPr lang="en-IN" sz="1600" dirty="0">
                <a:latin typeface="Times New Roman" pitchFamily="18" charset="0"/>
                <a:cs typeface="Times New Roman" pitchFamily="18" charset="0"/>
              </a:rPr>
              <a:t> conducted </a:t>
            </a:r>
            <a:r>
              <a:rPr lang="en-IN" sz="1600" dirty="0">
                <a:solidFill>
                  <a:srgbClr val="FF0000"/>
                </a:solidFill>
                <a:latin typeface="Times New Roman" pitchFamily="18" charset="0"/>
                <a:cs typeface="Times New Roman" pitchFamily="18" charset="0"/>
              </a:rPr>
              <a:t>free yoga sessions.</a:t>
            </a:r>
            <a:br>
              <a:rPr lang="en-IN" sz="1600" dirty="0">
                <a:solidFill>
                  <a:srgbClr val="FF0000"/>
                </a:solidFill>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400" b="1" dirty="0">
                <a:latin typeface="Times New Roman" pitchFamily="18" charset="0"/>
                <a:cs typeface="Times New Roman" pitchFamily="18" charset="0"/>
              </a:rPr>
              <a:t>Freecultr</a:t>
            </a:r>
            <a:r>
              <a:rPr lang="en-IN" sz="1400" dirty="0">
                <a:latin typeface="Times New Roman" pitchFamily="18" charset="0"/>
                <a:cs typeface="Times New Roman" pitchFamily="18" charset="0"/>
              </a:rPr>
              <a:t> has launched trendy ‘</a:t>
            </a:r>
            <a:r>
              <a:rPr lang="en-IN" sz="1400" dirty="0">
                <a:solidFill>
                  <a:srgbClr val="FF0000"/>
                </a:solidFill>
                <a:latin typeface="Times New Roman" pitchFamily="18" charset="0"/>
                <a:cs typeface="Times New Roman" pitchFamily="18" charset="0"/>
              </a:rPr>
              <a:t>Yoga’ themed T-shirts.</a:t>
            </a:r>
            <a:r>
              <a:rPr lang="en-IN" sz="1400" dirty="0">
                <a:latin typeface="Times New Roman" pitchFamily="18" charset="0"/>
                <a:cs typeface="Times New Roman" pitchFamily="18" charset="0"/>
              </a:rPr>
              <a:t> </a:t>
            </a:r>
            <a:br>
              <a:rPr lang="en-IN" sz="14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400" b="1" dirty="0">
                <a:latin typeface="Times New Roman" pitchFamily="18" charset="0"/>
                <a:cs typeface="Times New Roman" pitchFamily="18" charset="0"/>
              </a:rPr>
              <a:t>Art of Living </a:t>
            </a:r>
            <a:r>
              <a:rPr lang="en-IN" sz="1400" dirty="0">
                <a:latin typeface="Times New Roman" pitchFamily="18" charset="0"/>
                <a:cs typeface="Times New Roman" pitchFamily="18" charset="0"/>
              </a:rPr>
              <a:t>store on eBay </a:t>
            </a:r>
            <a:r>
              <a:rPr lang="en-IN" sz="1400" dirty="0" smtClean="0">
                <a:latin typeface="Times New Roman" pitchFamily="18" charset="0"/>
                <a:cs typeface="Times New Roman" pitchFamily="18" charset="0"/>
              </a:rPr>
              <a:t>offered </a:t>
            </a:r>
            <a:r>
              <a:rPr lang="en-IN" sz="1400" dirty="0">
                <a:latin typeface="Times New Roman" pitchFamily="18" charset="0"/>
                <a:cs typeface="Times New Roman" pitchFamily="18" charset="0"/>
              </a:rPr>
              <a:t>audio </a:t>
            </a:r>
            <a:r>
              <a:rPr lang="en-IN" sz="1400" dirty="0">
                <a:solidFill>
                  <a:srgbClr val="FF0000"/>
                </a:solidFill>
                <a:latin typeface="Times New Roman" pitchFamily="18" charset="0"/>
                <a:cs typeface="Times New Roman" pitchFamily="18" charset="0"/>
              </a:rPr>
              <a:t>CDs and DVDs. </a:t>
            </a:r>
            <a:br>
              <a:rPr lang="en-IN" sz="1400" dirty="0">
                <a:solidFill>
                  <a:srgbClr val="FF0000"/>
                </a:solidFill>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b="1" dirty="0">
                <a:latin typeface="Times New Roman" pitchFamily="18" charset="0"/>
                <a:cs typeface="Times New Roman" pitchFamily="18" charset="0"/>
              </a:rPr>
              <a:t>Yatra.com</a:t>
            </a:r>
            <a:r>
              <a:rPr lang="en-IN" sz="1600" dirty="0">
                <a:latin typeface="Times New Roman" pitchFamily="18" charset="0"/>
                <a:cs typeface="Times New Roman" pitchFamily="18" charset="0"/>
              </a:rPr>
              <a:t> has announced </a:t>
            </a:r>
            <a:r>
              <a:rPr lang="en-IN" sz="1600" dirty="0">
                <a:solidFill>
                  <a:srgbClr val="FF0000"/>
                </a:solidFill>
                <a:latin typeface="Times New Roman" pitchFamily="18" charset="0"/>
                <a:cs typeface="Times New Roman" pitchFamily="18" charset="0"/>
              </a:rPr>
              <a:t>special yoga packages </a:t>
            </a:r>
            <a:r>
              <a:rPr lang="en-IN" sz="1600" dirty="0">
                <a:latin typeface="Times New Roman" pitchFamily="18" charset="0"/>
                <a:cs typeface="Times New Roman" pitchFamily="18" charset="0"/>
              </a:rPr>
              <a:t>for its customers. The packages to </a:t>
            </a:r>
            <a:r>
              <a:rPr lang="en-IN" sz="1600" dirty="0" err="1">
                <a:solidFill>
                  <a:srgbClr val="FF0000"/>
                </a:solidFill>
                <a:latin typeface="Times New Roman" pitchFamily="18" charset="0"/>
                <a:cs typeface="Times New Roman" pitchFamily="18" charset="0"/>
              </a:rPr>
              <a:t>Hrishikesh</a:t>
            </a:r>
            <a:r>
              <a:rPr lang="en-IN" sz="1600" dirty="0">
                <a:solidFill>
                  <a:srgbClr val="FF0000"/>
                </a:solidFill>
                <a:latin typeface="Times New Roman" pitchFamily="18" charset="0"/>
                <a:cs typeface="Times New Roman" pitchFamily="18" charset="0"/>
              </a:rPr>
              <a:t> in North and </a:t>
            </a:r>
            <a:r>
              <a:rPr lang="en-IN" sz="1600" dirty="0" err="1">
                <a:solidFill>
                  <a:srgbClr val="FF0000"/>
                </a:solidFill>
                <a:latin typeface="Times New Roman" pitchFamily="18" charset="0"/>
                <a:cs typeface="Times New Roman" pitchFamily="18" charset="0"/>
              </a:rPr>
              <a:t>Kovalam</a:t>
            </a:r>
            <a:r>
              <a:rPr lang="en-IN" sz="1600" dirty="0">
                <a:solidFill>
                  <a:srgbClr val="FF0000"/>
                </a:solidFill>
                <a:latin typeface="Times New Roman" pitchFamily="18" charset="0"/>
                <a:cs typeface="Times New Roman" pitchFamily="18" charset="0"/>
              </a:rPr>
              <a:t> in the South of India.</a:t>
            </a:r>
            <a:br>
              <a:rPr lang="en-IN" sz="1600" dirty="0">
                <a:solidFill>
                  <a:srgbClr val="FF0000"/>
                </a:solidFill>
                <a:latin typeface="Times New Roman" pitchFamily="18" charset="0"/>
                <a:cs typeface="Times New Roman" pitchFamily="18" charset="0"/>
              </a:rPr>
            </a:br>
            <a:endParaRPr lang="en-IN" sz="1600" dirty="0">
              <a:solidFill>
                <a:srgbClr val="FF0000"/>
              </a:solidFill>
              <a:latin typeface="Times New Roman" pitchFamily="18" charset="0"/>
              <a:cs typeface="Times New Roman" pitchFamily="18" charset="0"/>
            </a:endParaRPr>
          </a:p>
        </p:txBody>
      </p:sp>
      <p:sp>
        <p:nvSpPr>
          <p:cNvPr id="3" name="Rectangle 2"/>
          <p:cNvSpPr/>
          <p:nvPr/>
        </p:nvSpPr>
        <p:spPr>
          <a:xfrm>
            <a:off x="5328535" y="548680"/>
            <a:ext cx="661720" cy="369332"/>
          </a:xfrm>
          <a:prstGeom prst="rect">
            <a:avLst/>
          </a:prstGeom>
        </p:spPr>
        <p:txBody>
          <a:bodyPr wrap="none">
            <a:spAutoFit/>
          </a:bodyPr>
          <a:lstStyle/>
          <a:p>
            <a:r>
              <a:rPr lang="en-IN" dirty="0">
                <a:latin typeface="Times New Roman" pitchFamily="18" charset="0"/>
                <a:cs typeface="Times New Roman" pitchFamily="18" charset="0"/>
              </a:rPr>
              <a:t>Yoga</a:t>
            </a:r>
            <a:endParaRPr lang="en-IN" dirty="0"/>
          </a:p>
        </p:txBody>
      </p:sp>
    </p:spTree>
    <p:extLst>
      <p:ext uri="{BB962C8B-B14F-4D97-AF65-F5344CB8AC3E}">
        <p14:creationId xmlns:p14="http://schemas.microsoft.com/office/powerpoint/2010/main" val="28898542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73050"/>
            <a:ext cx="7162800" cy="1162050"/>
          </a:xfrm>
        </p:spPr>
        <p:txBody>
          <a:bodyPr>
            <a:normAutofit/>
          </a:bodyPr>
          <a:lstStyle/>
          <a:p>
            <a:pPr algn="ctr"/>
            <a:r>
              <a:rPr lang="en-IN" sz="2400" b="1" dirty="0">
                <a:latin typeface="Times New Roman" pitchFamily="18" charset="0"/>
                <a:cs typeface="Times New Roman" pitchFamily="18" charset="0"/>
              </a:rPr>
              <a:t>Fairness creams-FDA</a:t>
            </a:r>
            <a:r>
              <a:rPr lang="en-IN" sz="1400" dirty="0">
                <a:latin typeface="Times New Roman" pitchFamily="18" charset="0"/>
                <a:cs typeface="Times New Roman" pitchFamily="18" charset="0"/>
              </a:rPr>
              <a:t/>
            </a:r>
            <a:br>
              <a:rPr lang="en-IN" sz="1400" dirty="0">
                <a:latin typeface="Times New Roman" pitchFamily="18" charset="0"/>
                <a:cs typeface="Times New Roman" pitchFamily="18" charset="0"/>
              </a:rPr>
            </a:br>
            <a:endParaRPr lang="en-IN" sz="1400" dirty="0">
              <a:latin typeface="Times New Roman" pitchFamily="18" charset="0"/>
              <a:cs typeface="Times New Roman" pitchFamily="18" charset="0"/>
            </a:endParaRPr>
          </a:p>
        </p:txBody>
      </p:sp>
      <p:sp>
        <p:nvSpPr>
          <p:cNvPr id="4" name="Text Placeholder 3"/>
          <p:cNvSpPr>
            <a:spLocks noGrp="1"/>
          </p:cNvSpPr>
          <p:nvPr>
            <p:ph type="body" idx="2"/>
          </p:nvPr>
        </p:nvSpPr>
        <p:spPr>
          <a:xfrm>
            <a:off x="980303" y="2015978"/>
            <a:ext cx="8839200" cy="4680520"/>
          </a:xfrm>
        </p:spPr>
        <p:txBody>
          <a:bodyPr>
            <a:noAutofit/>
          </a:bodyPr>
          <a:lstStyle/>
          <a:p>
            <a:r>
              <a:rPr lang="en-IN" sz="1800" dirty="0">
                <a:latin typeface="Times New Roman" pitchFamily="18" charset="0"/>
                <a:cs typeface="Times New Roman" pitchFamily="18" charset="0"/>
              </a:rPr>
              <a:t>Fairness creams are again under scrutiny with the Maharashtra FDA issuing notices to </a:t>
            </a:r>
            <a:r>
              <a:rPr lang="en-IN" sz="1800" dirty="0">
                <a:solidFill>
                  <a:srgbClr val="FF0000"/>
                </a:solidFill>
                <a:latin typeface="Times New Roman" pitchFamily="18" charset="0"/>
                <a:cs typeface="Times New Roman" pitchFamily="18" charset="0"/>
              </a:rPr>
              <a:t>Chandigarh-based</a:t>
            </a:r>
            <a:r>
              <a:rPr lang="en-IN" sz="1800" dirty="0">
                <a:latin typeface="Times New Roman" pitchFamily="18" charset="0"/>
                <a:cs typeface="Times New Roman" pitchFamily="18" charset="0"/>
              </a:rPr>
              <a:t> pharmaceutical company </a:t>
            </a:r>
            <a:r>
              <a:rPr lang="en-IN" sz="1800" dirty="0">
                <a:solidFill>
                  <a:srgbClr val="FF0000"/>
                </a:solidFill>
                <a:latin typeface="Times New Roman" pitchFamily="18" charset="0"/>
                <a:cs typeface="Times New Roman" pitchFamily="18" charset="0"/>
              </a:rPr>
              <a:t>Torque </a:t>
            </a:r>
            <a:r>
              <a:rPr lang="en-IN" sz="1800" dirty="0" err="1">
                <a:solidFill>
                  <a:srgbClr val="FF0000"/>
                </a:solidFill>
                <a:latin typeface="Times New Roman" pitchFamily="18" charset="0"/>
                <a:cs typeface="Times New Roman" pitchFamily="18" charset="0"/>
              </a:rPr>
              <a:t>Pharma</a:t>
            </a:r>
            <a:r>
              <a:rPr lang="en-IN" sz="1800" dirty="0">
                <a:solidFill>
                  <a:srgbClr val="FF0000"/>
                </a:solidFill>
                <a:latin typeface="Times New Roman" pitchFamily="18" charset="0"/>
                <a:cs typeface="Times New Roman" pitchFamily="18" charset="0"/>
              </a:rPr>
              <a:t> </a:t>
            </a:r>
            <a:r>
              <a:rPr lang="en-IN" sz="1800" dirty="0">
                <a:latin typeface="Times New Roman" pitchFamily="18" charset="0"/>
                <a:cs typeface="Times New Roman" pitchFamily="18" charset="0"/>
              </a:rPr>
              <a:t>over the latter’s attempts to position its </a:t>
            </a:r>
            <a:r>
              <a:rPr lang="en-IN" sz="1800" dirty="0">
                <a:solidFill>
                  <a:srgbClr val="FF0000"/>
                </a:solidFill>
                <a:latin typeface="Times New Roman" pitchFamily="18" charset="0"/>
                <a:cs typeface="Times New Roman" pitchFamily="18" charset="0"/>
              </a:rPr>
              <a:t>steroid-based fairness creams as over-the-counter products. </a:t>
            </a:r>
          </a:p>
          <a:p>
            <a:endParaRPr lang="en-IN" sz="1800" dirty="0">
              <a:latin typeface="Times New Roman" pitchFamily="18" charset="0"/>
              <a:cs typeface="Times New Roman" pitchFamily="18" charset="0"/>
            </a:endParaRPr>
          </a:p>
          <a:p>
            <a:r>
              <a:rPr lang="en-IN" sz="1800" dirty="0">
                <a:latin typeface="Times New Roman" pitchFamily="18" charset="0"/>
                <a:cs typeface="Times New Roman" pitchFamily="18" charset="0"/>
              </a:rPr>
              <a:t>Steroid-based drugs or creams have to be prescribed by a doctor, which means these cannot be advertised at all.</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Torque, best known for its </a:t>
            </a:r>
            <a:r>
              <a:rPr lang="en-IN" sz="1800" dirty="0" err="1">
                <a:solidFill>
                  <a:srgbClr val="FF0000"/>
                </a:solidFill>
                <a:latin typeface="Times New Roman" pitchFamily="18" charset="0"/>
                <a:cs typeface="Times New Roman" pitchFamily="18" charset="0"/>
              </a:rPr>
              <a:t>Torex</a:t>
            </a:r>
            <a:r>
              <a:rPr lang="en-IN" sz="1800" dirty="0">
                <a:solidFill>
                  <a:srgbClr val="FF0000"/>
                </a:solidFill>
                <a:latin typeface="Times New Roman" pitchFamily="18" charset="0"/>
                <a:cs typeface="Times New Roman" pitchFamily="18" charset="0"/>
              </a:rPr>
              <a:t> cough syrup </a:t>
            </a:r>
            <a:r>
              <a:rPr lang="en-IN" sz="1800" dirty="0">
                <a:latin typeface="Times New Roman" pitchFamily="18" charset="0"/>
                <a:cs typeface="Times New Roman" pitchFamily="18" charset="0"/>
              </a:rPr>
              <a:t>, has been heavily advertising one such cream, </a:t>
            </a:r>
            <a:r>
              <a:rPr lang="en-IN" sz="1800" dirty="0">
                <a:solidFill>
                  <a:srgbClr val="FF0000"/>
                </a:solidFill>
                <a:latin typeface="Times New Roman" pitchFamily="18" charset="0"/>
                <a:cs typeface="Times New Roman" pitchFamily="18" charset="0"/>
              </a:rPr>
              <a:t>U-B Fair for Men</a:t>
            </a:r>
            <a:r>
              <a:rPr lang="en-IN" sz="1800" dirty="0">
                <a:latin typeface="Times New Roman" pitchFamily="18" charset="0"/>
                <a:cs typeface="Times New Roman" pitchFamily="18" charset="0"/>
              </a:rPr>
              <a:t>. This caused regulatory action.</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722575" y="2205449"/>
            <a:ext cx="1952625" cy="2343150"/>
          </a:xfrm>
        </p:spPr>
      </p:pic>
    </p:spTree>
    <p:extLst>
      <p:ext uri="{BB962C8B-B14F-4D97-AF65-F5344CB8AC3E}">
        <p14:creationId xmlns:p14="http://schemas.microsoft.com/office/powerpoint/2010/main" val="6603913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059" y="260648"/>
            <a:ext cx="10066638" cy="6264696"/>
          </a:xfrm>
        </p:spPr>
        <p:txBody>
          <a:bodyPr>
            <a:noAutofit/>
          </a:bodyPr>
          <a:lstStyle/>
          <a:p>
            <a:r>
              <a:rPr lang="en-IN" sz="3600" b="1" dirty="0">
                <a:latin typeface="Times New Roman" pitchFamily="18" charset="0"/>
                <a:cs typeface="Times New Roman" pitchFamily="18" charset="0"/>
              </a:rPr>
              <a:t/>
            </a:r>
            <a:br>
              <a:rPr lang="en-IN" sz="3600" b="1" dirty="0">
                <a:latin typeface="Times New Roman" pitchFamily="18" charset="0"/>
                <a:cs typeface="Times New Roman" pitchFamily="18" charset="0"/>
              </a:rPr>
            </a:br>
            <a:r>
              <a:rPr lang="en-IN" sz="1200" dirty="0">
                <a:latin typeface="Times New Roman" pitchFamily="18" charset="0"/>
                <a:cs typeface="Times New Roman" pitchFamily="18" charset="0"/>
              </a:rPr>
              <a:t/>
            </a:r>
            <a:br>
              <a:rPr lang="en-IN" sz="1200" dirty="0">
                <a:latin typeface="Times New Roman" pitchFamily="18" charset="0"/>
                <a:cs typeface="Times New Roman" pitchFamily="18" charset="0"/>
              </a:rPr>
            </a:br>
            <a:r>
              <a:rPr lang="en-IN" sz="1800" dirty="0">
                <a:latin typeface="Times New Roman" pitchFamily="18" charset="0"/>
                <a:cs typeface="Times New Roman" pitchFamily="18" charset="0"/>
              </a:rPr>
              <a:t>Multiplex would be well within its right to </a:t>
            </a:r>
            <a:r>
              <a:rPr lang="en-IN" sz="1800" dirty="0">
                <a:solidFill>
                  <a:srgbClr val="FF0000"/>
                </a:solidFill>
                <a:latin typeface="Times New Roman" pitchFamily="18" charset="0"/>
                <a:cs typeface="Times New Roman" pitchFamily="18" charset="0"/>
              </a:rPr>
              <a:t>disallow a patron to carry water </a:t>
            </a:r>
            <a:r>
              <a:rPr lang="en-IN" sz="1800" dirty="0">
                <a:latin typeface="Times New Roman" pitchFamily="18" charset="0"/>
                <a:cs typeface="Times New Roman" pitchFamily="18" charset="0"/>
              </a:rPr>
              <a:t>bottle inside the theatre for </a:t>
            </a:r>
            <a:r>
              <a:rPr lang="en-IN" sz="1800" dirty="0">
                <a:solidFill>
                  <a:srgbClr val="FF0000"/>
                </a:solidFill>
                <a:latin typeface="Times New Roman" pitchFamily="18" charset="0"/>
                <a:cs typeface="Times New Roman" pitchFamily="18" charset="0"/>
              </a:rPr>
              <a:t>security reason</a:t>
            </a:r>
            <a:r>
              <a:rPr lang="en-IN" sz="1800" dirty="0">
                <a:latin typeface="Times New Roman" pitchFamily="18" charset="0"/>
                <a:cs typeface="Times New Roman" pitchFamily="18" charset="0"/>
              </a:rPr>
              <a:t>.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Three </a:t>
            </a:r>
            <a:r>
              <a:rPr lang="en-IN" sz="1800" dirty="0" err="1">
                <a:solidFill>
                  <a:srgbClr val="FF0000"/>
                </a:solidFill>
                <a:latin typeface="Times New Roman" pitchFamily="18" charset="0"/>
                <a:cs typeface="Times New Roman" pitchFamily="18" charset="0"/>
              </a:rPr>
              <a:t>Agartala</a:t>
            </a:r>
            <a:r>
              <a:rPr lang="en-IN" sz="1800" dirty="0">
                <a:solidFill>
                  <a:srgbClr val="FF0000"/>
                </a:solidFill>
                <a:latin typeface="Times New Roman" pitchFamily="18" charset="0"/>
                <a:cs typeface="Times New Roman" pitchFamily="18" charset="0"/>
              </a:rPr>
              <a:t> residents </a:t>
            </a:r>
            <a:r>
              <a:rPr lang="en-IN" sz="1800" dirty="0">
                <a:latin typeface="Times New Roman" pitchFamily="18" charset="0"/>
                <a:cs typeface="Times New Roman" pitchFamily="18" charset="0"/>
              </a:rPr>
              <a:t>had moved the forum against </a:t>
            </a:r>
            <a:r>
              <a:rPr lang="en-IN" sz="1800" dirty="0" err="1">
                <a:solidFill>
                  <a:srgbClr val="FF0000"/>
                </a:solidFill>
                <a:latin typeface="Times New Roman" pitchFamily="18" charset="0"/>
                <a:cs typeface="Times New Roman" pitchFamily="18" charset="0"/>
              </a:rPr>
              <a:t>Rupasi</a:t>
            </a:r>
            <a:r>
              <a:rPr lang="en-IN" sz="1800" dirty="0">
                <a:solidFill>
                  <a:srgbClr val="FF0000"/>
                </a:solidFill>
                <a:latin typeface="Times New Roman" pitchFamily="18" charset="0"/>
                <a:cs typeface="Times New Roman" pitchFamily="18" charset="0"/>
              </a:rPr>
              <a:t> Multiplex</a:t>
            </a:r>
            <a:r>
              <a:rPr lang="en-IN" sz="1800" dirty="0">
                <a:latin typeface="Times New Roman" pitchFamily="18" charset="0"/>
                <a:cs typeface="Times New Roman" pitchFamily="18" charset="0"/>
              </a:rPr>
              <a:t> for restraining them from carrying water bottles into the cinema hall while complaining that there was </a:t>
            </a:r>
            <a:r>
              <a:rPr lang="en-IN" sz="1800" dirty="0">
                <a:solidFill>
                  <a:srgbClr val="FF0000"/>
                </a:solidFill>
                <a:latin typeface="Times New Roman" pitchFamily="18" charset="0"/>
                <a:cs typeface="Times New Roman" pitchFamily="18" charset="0"/>
              </a:rPr>
              <a:t>no provision for drinking water inside the multiplex</a:t>
            </a:r>
            <a:r>
              <a:rPr lang="en-IN" sz="1800" dirty="0">
                <a:latin typeface="Times New Roman" pitchFamily="18" charset="0"/>
                <a:cs typeface="Times New Roman" pitchFamily="18" charset="0"/>
              </a:rPr>
              <a:t>, except the option of buying highly priced water bottles from the cafeteria</a:t>
            </a:r>
            <a:r>
              <a:rPr lang="en-IN" sz="1400" dirty="0">
                <a:latin typeface="Times New Roman" pitchFamily="18" charset="0"/>
                <a:cs typeface="Times New Roman" pitchFamily="18" charset="0"/>
              </a:rPr>
              <a:t>.</a:t>
            </a:r>
            <a:br>
              <a:rPr lang="en-IN" sz="1400" dirty="0">
                <a:latin typeface="Times New Roman" pitchFamily="18" charset="0"/>
                <a:cs typeface="Times New Roman" pitchFamily="18" charset="0"/>
              </a:rPr>
            </a:br>
            <a:r>
              <a:rPr lang="en-IN" sz="1400" dirty="0">
                <a:latin typeface="Times New Roman" pitchFamily="18" charset="0"/>
                <a:cs typeface="Times New Roman" pitchFamily="18" charset="0"/>
              </a:rPr>
              <a:t/>
            </a:r>
            <a:br>
              <a:rPr lang="en-IN" sz="1400" dirty="0">
                <a:latin typeface="Times New Roman" pitchFamily="18" charset="0"/>
                <a:cs typeface="Times New Roman" pitchFamily="18" charset="0"/>
              </a:rPr>
            </a:br>
            <a:r>
              <a:rPr lang="en-IN" sz="1800" dirty="0">
                <a:latin typeface="Times New Roman" pitchFamily="18" charset="0"/>
                <a:cs typeface="Times New Roman" pitchFamily="18" charset="0"/>
              </a:rPr>
              <a:t> "If such a deficiency is shown, the consumer forum would be fully justified in awarding </a:t>
            </a:r>
            <a:r>
              <a:rPr lang="en-IN" sz="1800" dirty="0">
                <a:solidFill>
                  <a:srgbClr val="FF0000"/>
                </a:solidFill>
                <a:latin typeface="Times New Roman" pitchFamily="18" charset="0"/>
                <a:cs typeface="Times New Roman" pitchFamily="18" charset="0"/>
              </a:rPr>
              <a:t>suitable compensation </a:t>
            </a:r>
            <a:r>
              <a:rPr lang="en-IN" sz="1800" dirty="0">
                <a:latin typeface="Times New Roman" pitchFamily="18" charset="0"/>
                <a:cs typeface="Times New Roman" pitchFamily="18" charset="0"/>
              </a:rPr>
              <a:t>to the complainant," the </a:t>
            </a:r>
            <a:r>
              <a:rPr lang="en-IN" sz="1800" dirty="0">
                <a:solidFill>
                  <a:srgbClr val="FF0000"/>
                </a:solidFill>
                <a:latin typeface="Times New Roman" pitchFamily="18" charset="0"/>
                <a:cs typeface="Times New Roman" pitchFamily="18" charset="0"/>
              </a:rPr>
              <a:t>NCDRC bench said, sending a warning to multiplexes all over the country. </a:t>
            </a:r>
            <a:r>
              <a:rPr lang="en-IN" sz="1800" dirty="0">
                <a:latin typeface="Times New Roman" pitchFamily="18" charset="0"/>
                <a:cs typeface="Times New Roman" pitchFamily="18" charset="0"/>
              </a:rPr>
              <a:t> In  opinion, it constitute unfair trade practice within the meaning of Section 2 (r) of the </a:t>
            </a:r>
            <a:r>
              <a:rPr lang="en-IN" sz="1800" dirty="0">
                <a:solidFill>
                  <a:srgbClr val="FF0000"/>
                </a:solidFill>
                <a:latin typeface="Times New Roman" pitchFamily="18" charset="0"/>
                <a:cs typeface="Times New Roman" pitchFamily="18" charset="0"/>
              </a:rPr>
              <a:t>Consumer Protection Act, 1986</a:t>
            </a:r>
            <a:r>
              <a:rPr lang="en-IN" sz="1800" dirty="0">
                <a:latin typeface="Times New Roman" pitchFamily="18" charset="0"/>
                <a:cs typeface="Times New Roman" pitchFamily="18" charset="0"/>
              </a:rPr>
              <a:t>," the NCDRC said. Finding </a:t>
            </a:r>
            <a:r>
              <a:rPr lang="en-IN" sz="1800" dirty="0" err="1">
                <a:latin typeface="Times New Roman" pitchFamily="18" charset="0"/>
                <a:cs typeface="Times New Roman" pitchFamily="18" charset="0"/>
              </a:rPr>
              <a:t>Rupasi</a:t>
            </a:r>
            <a:r>
              <a:rPr lang="en-IN" sz="1800" dirty="0">
                <a:latin typeface="Times New Roman" pitchFamily="18" charset="0"/>
                <a:cs typeface="Times New Roman" pitchFamily="18" charset="0"/>
              </a:rPr>
              <a:t> Multiplex guilty of </a:t>
            </a:r>
            <a:r>
              <a:rPr lang="en-IN" sz="1800" dirty="0">
                <a:solidFill>
                  <a:srgbClr val="FF0000"/>
                </a:solidFill>
                <a:latin typeface="Times New Roman" pitchFamily="18" charset="0"/>
                <a:cs typeface="Times New Roman" pitchFamily="18" charset="0"/>
              </a:rPr>
              <a:t>deficiency in service. </a:t>
            </a:r>
            <a:br>
              <a:rPr lang="en-IN" sz="1800" dirty="0">
                <a:solidFill>
                  <a:srgbClr val="FF0000"/>
                </a:solidFill>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The national consumer forum has asked a multiplex to pay a patron </a:t>
            </a:r>
            <a:r>
              <a:rPr lang="en-IN" sz="1800" dirty="0" err="1">
                <a:solidFill>
                  <a:srgbClr val="FF0000"/>
                </a:solidFill>
                <a:latin typeface="Times New Roman" pitchFamily="18" charset="0"/>
                <a:cs typeface="Times New Roman" pitchFamily="18" charset="0"/>
              </a:rPr>
              <a:t>Rs</a:t>
            </a:r>
            <a:r>
              <a:rPr lang="en-IN" sz="1800" dirty="0">
                <a:solidFill>
                  <a:srgbClr val="FF0000"/>
                </a:solidFill>
                <a:latin typeface="Times New Roman" pitchFamily="18" charset="0"/>
                <a:cs typeface="Times New Roman" pitchFamily="18" charset="0"/>
              </a:rPr>
              <a:t> 11,000</a:t>
            </a:r>
            <a:r>
              <a:rPr lang="en-IN" sz="1800" dirty="0">
                <a:latin typeface="Times New Roman" pitchFamily="18" charset="0"/>
                <a:cs typeface="Times New Roman" pitchFamily="18" charset="0"/>
              </a:rPr>
              <a:t> for refusing to allow to carry a </a:t>
            </a:r>
            <a:r>
              <a:rPr lang="en-IN" sz="1800" dirty="0" err="1">
                <a:latin typeface="Times New Roman" pitchFamily="18" charset="0"/>
                <a:cs typeface="Times New Roman" pitchFamily="18" charset="0"/>
              </a:rPr>
              <a:t>Rs</a:t>
            </a:r>
            <a:r>
              <a:rPr lang="en-IN" sz="1800" dirty="0">
                <a:latin typeface="Times New Roman" pitchFamily="18" charset="0"/>
                <a:cs typeface="Times New Roman" pitchFamily="18" charset="0"/>
              </a:rPr>
              <a:t> 20 water bottle inside even though it had not made provision for free, clean drinking water inside the cinema hall</a:t>
            </a:r>
            <a:r>
              <a:rPr lang="en-IN" sz="1800" dirty="0">
                <a:solidFill>
                  <a:srgbClr val="FF0000"/>
                </a:solidFill>
                <a:latin typeface="Times New Roman" pitchFamily="18" charset="0"/>
                <a:cs typeface="Times New Roman" pitchFamily="18" charset="0"/>
              </a:rPr>
              <a:t/>
            </a:r>
            <a:br>
              <a:rPr lang="en-IN" sz="1800" dirty="0">
                <a:solidFill>
                  <a:srgbClr val="FF0000"/>
                </a:solidFill>
                <a:latin typeface="Times New Roman" pitchFamily="18" charset="0"/>
                <a:cs typeface="Times New Roman" pitchFamily="18" charset="0"/>
              </a:rPr>
            </a:br>
            <a:endParaRPr lang="en-IN" sz="1800" dirty="0">
              <a:solidFill>
                <a:srgbClr val="FF0000"/>
              </a:solidFill>
              <a:latin typeface="Times New Roman" pitchFamily="18" charset="0"/>
              <a:cs typeface="Times New Roman" pitchFamily="18" charset="0"/>
            </a:endParaRPr>
          </a:p>
        </p:txBody>
      </p:sp>
      <p:sp>
        <p:nvSpPr>
          <p:cNvPr id="3" name="Rectangle 2"/>
          <p:cNvSpPr/>
          <p:nvPr/>
        </p:nvSpPr>
        <p:spPr>
          <a:xfrm>
            <a:off x="4184822" y="682367"/>
            <a:ext cx="3220993" cy="461665"/>
          </a:xfrm>
          <a:prstGeom prst="rect">
            <a:avLst/>
          </a:prstGeom>
        </p:spPr>
        <p:txBody>
          <a:bodyPr wrap="square">
            <a:spAutoFit/>
          </a:bodyPr>
          <a:lstStyle/>
          <a:p>
            <a:pPr algn="ctr"/>
            <a:r>
              <a:rPr lang="en-IN" sz="2400" b="1" dirty="0">
                <a:latin typeface="Times New Roman" pitchFamily="18" charset="0"/>
                <a:cs typeface="Times New Roman" pitchFamily="18" charset="0"/>
              </a:rPr>
              <a:t>Multiplex – NCDRC</a:t>
            </a:r>
            <a:endParaRPr lang="en-IN" sz="2400" dirty="0"/>
          </a:p>
        </p:txBody>
      </p:sp>
    </p:spTree>
    <p:extLst>
      <p:ext uri="{BB962C8B-B14F-4D97-AF65-F5344CB8AC3E}">
        <p14:creationId xmlns:p14="http://schemas.microsoft.com/office/powerpoint/2010/main" val="4177038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8938" y="781179"/>
            <a:ext cx="7024744" cy="606896"/>
          </a:xfrm>
        </p:spPr>
        <p:txBody>
          <a:bodyPr>
            <a:noAutofit/>
          </a:bodyPr>
          <a:lstStyle/>
          <a:p>
            <a:r>
              <a:rPr lang="en-IN" sz="3200" dirty="0">
                <a:latin typeface="Times New Roman" pitchFamily="18" charset="0"/>
                <a:cs typeface="Times New Roman" pitchFamily="18" charset="0"/>
              </a:rPr>
              <a:t>Consumer Protection Act</a:t>
            </a:r>
          </a:p>
        </p:txBody>
      </p:sp>
      <p:sp>
        <p:nvSpPr>
          <p:cNvPr id="3" name="Content Placeholder 2"/>
          <p:cNvSpPr>
            <a:spLocks noGrp="1"/>
          </p:cNvSpPr>
          <p:nvPr>
            <p:ph idx="1"/>
          </p:nvPr>
        </p:nvSpPr>
        <p:spPr>
          <a:xfrm>
            <a:off x="1351005" y="1524000"/>
            <a:ext cx="9662984" cy="4785320"/>
          </a:xfrm>
        </p:spPr>
        <p:txBody>
          <a:bodyPr>
            <a:noAutofit/>
          </a:bodyPr>
          <a:lstStyle/>
          <a:p>
            <a:endParaRPr lang="en-IN" sz="2000" dirty="0">
              <a:latin typeface="Times New Roman" pitchFamily="18" charset="0"/>
              <a:cs typeface="Times New Roman" pitchFamily="18" charset="0"/>
            </a:endParaRPr>
          </a:p>
          <a:p>
            <a:endParaRPr lang="en-IN" sz="2000" dirty="0" smtClean="0">
              <a:latin typeface="Times New Roman" pitchFamily="18" charset="0"/>
              <a:cs typeface="Times New Roman" pitchFamily="18" charset="0"/>
            </a:endParaRPr>
          </a:p>
          <a:p>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right to be fully</a:t>
            </a:r>
            <a:r>
              <a:rPr lang="en-IN" sz="2000" dirty="0">
                <a:solidFill>
                  <a:srgbClr val="FF0000"/>
                </a:solidFill>
                <a:latin typeface="Times New Roman" pitchFamily="18" charset="0"/>
                <a:cs typeface="Times New Roman" pitchFamily="18" charset="0"/>
              </a:rPr>
              <a:t> informed </a:t>
            </a:r>
            <a:r>
              <a:rPr lang="en-IN" sz="2000" dirty="0">
                <a:latin typeface="Times New Roman" pitchFamily="18" charset="0"/>
                <a:cs typeface="Times New Roman" pitchFamily="18" charset="0"/>
              </a:rPr>
              <a:t>about the performance and quality of all goods and services</a:t>
            </a:r>
          </a:p>
          <a:p>
            <a:endParaRPr lang="en-IN" sz="2000" dirty="0" smtClean="0">
              <a:latin typeface="Times New Roman" pitchFamily="18" charset="0"/>
              <a:cs typeface="Times New Roman" pitchFamily="18" charset="0"/>
            </a:endParaRPr>
          </a:p>
          <a:p>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right to free</a:t>
            </a:r>
            <a:r>
              <a:rPr lang="en-IN" sz="2000" dirty="0">
                <a:solidFill>
                  <a:schemeClr val="bg2">
                    <a:lumMod val="50000"/>
                  </a:schemeClr>
                </a:solidFill>
                <a:latin typeface="Times New Roman" pitchFamily="18" charset="0"/>
                <a:cs typeface="Times New Roman" pitchFamily="18" charset="0"/>
              </a:rPr>
              <a:t> </a:t>
            </a:r>
            <a:r>
              <a:rPr lang="en-IN" sz="2000" dirty="0">
                <a:solidFill>
                  <a:srgbClr val="FF0000"/>
                </a:solidFill>
                <a:latin typeface="Times New Roman" pitchFamily="18" charset="0"/>
                <a:cs typeface="Times New Roman" pitchFamily="18" charset="0"/>
              </a:rPr>
              <a:t>choice</a:t>
            </a:r>
            <a:r>
              <a:rPr lang="en-IN" sz="2000" dirty="0">
                <a:solidFill>
                  <a:schemeClr val="bg2">
                    <a:lumMod val="50000"/>
                  </a:schemeClr>
                </a:solidFill>
                <a:latin typeface="Times New Roman" pitchFamily="18" charset="0"/>
                <a:cs typeface="Times New Roman" pitchFamily="18" charset="0"/>
              </a:rPr>
              <a:t> </a:t>
            </a:r>
            <a:r>
              <a:rPr lang="en-IN" sz="2000" dirty="0">
                <a:latin typeface="Times New Roman" pitchFamily="18" charset="0"/>
                <a:cs typeface="Times New Roman" pitchFamily="18" charset="0"/>
              </a:rPr>
              <a:t>of goods and services</a:t>
            </a:r>
          </a:p>
          <a:p>
            <a:endParaRPr lang="en-IN" sz="2000" dirty="0" smtClean="0">
              <a:latin typeface="Times New Roman" pitchFamily="18" charset="0"/>
              <a:cs typeface="Times New Roman" pitchFamily="18" charset="0"/>
            </a:endParaRPr>
          </a:p>
          <a:p>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right to seek </a:t>
            </a:r>
            <a:r>
              <a:rPr lang="en-IN" sz="2000" dirty="0" err="1" smtClean="0">
                <a:solidFill>
                  <a:srgbClr val="FF0000"/>
                </a:solidFill>
                <a:latin typeface="Times New Roman" pitchFamily="18" charset="0"/>
                <a:cs typeface="Times New Roman" pitchFamily="18" charset="0"/>
              </a:rPr>
              <a:t>redresal</a:t>
            </a:r>
            <a:r>
              <a:rPr lang="en-IN" sz="2000" dirty="0">
                <a:solidFill>
                  <a:srgbClr val="FF0000"/>
                </a:solidFill>
                <a:latin typeface="Times New Roman" pitchFamily="18" charset="0"/>
                <a:cs typeface="Times New Roman" pitchFamily="18" charset="0"/>
              </a:rPr>
              <a:t>, </a:t>
            </a:r>
            <a:r>
              <a:rPr lang="en-IN" sz="2000" dirty="0">
                <a:latin typeface="Times New Roman" pitchFamily="18" charset="0"/>
                <a:cs typeface="Times New Roman" pitchFamily="18" charset="0"/>
              </a:rPr>
              <a:t>whenever consumer rights have been </a:t>
            </a:r>
            <a:r>
              <a:rPr lang="en-IN" sz="2000" dirty="0" smtClean="0">
                <a:latin typeface="Times New Roman" pitchFamily="18" charset="0"/>
                <a:cs typeface="Times New Roman" pitchFamily="18" charset="0"/>
              </a:rPr>
              <a:t>infringed</a:t>
            </a:r>
          </a:p>
          <a:p>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Right to</a:t>
            </a:r>
            <a:r>
              <a:rPr lang="en-US" sz="2000" dirty="0" smtClean="0">
                <a:solidFill>
                  <a:srgbClr val="FF0000"/>
                </a:solidFill>
                <a:latin typeface="Times New Roman" pitchFamily="18" charset="0"/>
                <a:cs typeface="Times New Roman" pitchFamily="18" charset="0"/>
              </a:rPr>
              <a:t> safety- </a:t>
            </a:r>
            <a:r>
              <a:rPr lang="en-US" sz="2000" dirty="0" smtClean="0">
                <a:latin typeface="Times New Roman" pitchFamily="18" charset="0"/>
                <a:cs typeface="Times New Roman" pitchFamily="18" charset="0"/>
              </a:rPr>
              <a:t>marketing of hazardous goods</a:t>
            </a:r>
          </a:p>
          <a:p>
            <a:pPr marL="0" indent="0">
              <a:buNone/>
            </a:pPr>
            <a:r>
              <a:rPr lang="en-US" sz="2000" dirty="0" err="1" smtClean="0">
                <a:latin typeface="Times New Roman" pitchFamily="18" charset="0"/>
                <a:cs typeface="Times New Roman" pitchFamily="18" charset="0"/>
              </a:rPr>
              <a:t>etc</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8839301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6855" y="1018259"/>
            <a:ext cx="6057408" cy="5150865"/>
          </a:xfrm>
        </p:spPr>
      </p:pic>
      <p:sp>
        <p:nvSpPr>
          <p:cNvPr id="2" name="Rectangle 1"/>
          <p:cNvSpPr/>
          <p:nvPr/>
        </p:nvSpPr>
        <p:spPr>
          <a:xfrm>
            <a:off x="4043088" y="179930"/>
            <a:ext cx="3632726" cy="523220"/>
          </a:xfrm>
          <a:prstGeom prst="rect">
            <a:avLst/>
          </a:prstGeom>
        </p:spPr>
        <p:txBody>
          <a:bodyPr wrap="none">
            <a:spAutoFit/>
          </a:bodyPr>
          <a:lstStyle/>
          <a:p>
            <a:r>
              <a:rPr lang="en-IN" sz="2800" dirty="0">
                <a:latin typeface="Times New Roman" pitchFamily="18" charset="0"/>
                <a:cs typeface="Times New Roman" pitchFamily="18" charset="0"/>
              </a:rPr>
              <a:t>Socio-cultural, Spiritual</a:t>
            </a:r>
            <a:endParaRPr lang="en-IN" sz="2800" dirty="0"/>
          </a:p>
        </p:txBody>
      </p:sp>
    </p:spTree>
    <p:extLst>
      <p:ext uri="{BB962C8B-B14F-4D97-AF65-F5344CB8AC3E}">
        <p14:creationId xmlns:p14="http://schemas.microsoft.com/office/powerpoint/2010/main" val="26289214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62250" y="1557337"/>
            <a:ext cx="6667500" cy="3743325"/>
          </a:xfrm>
          <a:prstGeom prst="rect">
            <a:avLst/>
          </a:prstGeom>
        </p:spPr>
      </p:pic>
    </p:spTree>
    <p:extLst>
      <p:ext uri="{BB962C8B-B14F-4D97-AF65-F5344CB8AC3E}">
        <p14:creationId xmlns:p14="http://schemas.microsoft.com/office/powerpoint/2010/main" val="228866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4" y="404664"/>
            <a:ext cx="10829925" cy="6336704"/>
          </a:xfrm>
        </p:spPr>
        <p:txBody>
          <a:bodyPr>
            <a:noAutofit/>
          </a:bodyPr>
          <a:lstStyle/>
          <a:p>
            <a:pPr algn="l" fontAlgn="base"/>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2000" dirty="0" smtClean="0">
                <a:solidFill>
                  <a:srgbClr val="FF0000"/>
                </a:solidFill>
                <a:latin typeface="Times New Roman" pitchFamily="18" charset="0"/>
                <a:cs typeface="Times New Roman" pitchFamily="18" charset="0"/>
              </a:rPr>
              <a:t>Philips</a:t>
            </a:r>
            <a:r>
              <a:rPr lang="en-IN" sz="2000" dirty="0">
                <a:solidFill>
                  <a:srgbClr val="FF0000"/>
                </a:solidFill>
                <a:latin typeface="Times New Roman" pitchFamily="18" charset="0"/>
                <a:cs typeface="Times New Roman" pitchFamily="18" charset="0"/>
              </a:rPr>
              <a:t>, </a:t>
            </a:r>
            <a:r>
              <a:rPr lang="en-IN" sz="1600" dirty="0">
                <a:latin typeface="Times New Roman" pitchFamily="18" charset="0"/>
                <a:cs typeface="Times New Roman" pitchFamily="18" charset="0"/>
              </a:rPr>
              <a:t>the electronics brand, has put up a unique innovation made with </a:t>
            </a:r>
            <a:r>
              <a:rPr lang="en-IN" sz="2000" b="1" dirty="0">
                <a:solidFill>
                  <a:srgbClr val="FF0000"/>
                </a:solidFill>
                <a:latin typeface="Times New Roman" pitchFamily="18" charset="0"/>
                <a:cs typeface="Times New Roman" pitchFamily="18" charset="0"/>
              </a:rPr>
              <a:t>6,380 Philips LED bulbs</a:t>
            </a:r>
            <a:r>
              <a:rPr lang="en-IN" sz="2000" b="1" dirty="0">
                <a:latin typeface="Times New Roman" pitchFamily="18" charset="0"/>
                <a:cs typeface="Times New Roman" pitchFamily="18" charset="0"/>
              </a:rPr>
              <a:t>. </a:t>
            </a: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The grand, techno-artistic structure comprises a </a:t>
            </a:r>
            <a:r>
              <a:rPr lang="en-IN" sz="1600" b="1" dirty="0" smtClean="0">
                <a:solidFill>
                  <a:srgbClr val="FF0000"/>
                </a:solidFill>
                <a:latin typeface="Times New Roman" pitchFamily="18" charset="0"/>
                <a:cs typeface="Times New Roman" pitchFamily="18" charset="0"/>
              </a:rPr>
              <a:t>thirteen-foot-long</a:t>
            </a:r>
            <a:r>
              <a:rPr lang="en-IN" sz="1600" b="1" dirty="0" smtClean="0">
                <a:latin typeface="Times New Roman" pitchFamily="18" charset="0"/>
                <a:cs typeface="Times New Roman" pitchFamily="18" charset="0"/>
              </a:rPr>
              <a:t> </a:t>
            </a:r>
            <a:r>
              <a:rPr lang="en-IN" sz="1600" b="1" dirty="0" err="1">
                <a:solidFill>
                  <a:srgbClr val="FF0000"/>
                </a:solidFill>
                <a:latin typeface="Times New Roman" pitchFamily="18" charset="0"/>
                <a:cs typeface="Times New Roman" pitchFamily="18" charset="0"/>
              </a:rPr>
              <a:t>Mushak</a:t>
            </a:r>
            <a:r>
              <a:rPr lang="en-IN" sz="1600" b="1" dirty="0">
                <a:solidFill>
                  <a:srgbClr val="FF0000"/>
                </a:solidFill>
                <a:latin typeface="Times New Roman" pitchFamily="18" charset="0"/>
                <a:cs typeface="Times New Roman" pitchFamily="18" charset="0"/>
              </a:rPr>
              <a:t>,</a:t>
            </a:r>
            <a:r>
              <a:rPr lang="en-IN" sz="1600" b="1" dirty="0">
                <a:latin typeface="Times New Roman" pitchFamily="18" charset="0"/>
                <a:cs typeface="Times New Roman" pitchFamily="18" charset="0"/>
              </a:rPr>
              <a:t> </a:t>
            </a:r>
            <a:r>
              <a:rPr lang="en-IN" sz="1600" dirty="0">
                <a:latin typeface="Times New Roman" pitchFamily="18" charset="0"/>
                <a:cs typeface="Times New Roman" pitchFamily="18" charset="0"/>
              </a:rPr>
              <a:t>who is supposed to be </a:t>
            </a:r>
            <a:r>
              <a:rPr lang="en-IN" sz="1600" dirty="0" err="1">
                <a:solidFill>
                  <a:srgbClr val="FF0000"/>
                </a:solidFill>
                <a:latin typeface="Times New Roman" pitchFamily="18" charset="0"/>
                <a:cs typeface="Times New Roman" pitchFamily="18" charset="0"/>
              </a:rPr>
              <a:t>Ganesha's</a:t>
            </a:r>
            <a:r>
              <a:rPr lang="en-IN" sz="1600" dirty="0">
                <a:solidFill>
                  <a:srgbClr val="FF0000"/>
                </a:solidFill>
                <a:latin typeface="Times New Roman" pitchFamily="18" charset="0"/>
                <a:cs typeface="Times New Roman" pitchFamily="18" charset="0"/>
              </a:rPr>
              <a:t> </a:t>
            </a:r>
            <a:r>
              <a:rPr lang="en-IN" sz="1600" dirty="0" smtClean="0">
                <a:solidFill>
                  <a:srgbClr val="FF0000"/>
                </a:solidFill>
                <a:latin typeface="Times New Roman" pitchFamily="18" charset="0"/>
                <a:cs typeface="Times New Roman" pitchFamily="18" charset="0"/>
              </a:rPr>
              <a:t>carrier</a:t>
            </a:r>
            <a:r>
              <a:rPr lang="en-IN" sz="1600" dirty="0" smtClean="0">
                <a:latin typeface="Times New Roman" pitchFamily="18" charset="0"/>
                <a:cs typeface="Times New Roman" pitchFamily="18" charset="0"/>
              </a:rPr>
              <a:t>,</a:t>
            </a:r>
            <a:br>
              <a:rPr lang="en-IN" sz="1600" dirty="0" smtClean="0">
                <a:latin typeface="Times New Roman" pitchFamily="18" charset="0"/>
                <a:cs typeface="Times New Roman" pitchFamily="18" charset="0"/>
              </a:rPr>
            </a:br>
            <a:r>
              <a:rPr lang="en-IN" sz="1600" dirty="0" smtClean="0">
                <a:latin typeface="Times New Roman" pitchFamily="18" charset="0"/>
                <a:cs typeface="Times New Roman" pitchFamily="18" charset="0"/>
              </a:rPr>
              <a:t> </a:t>
            </a:r>
            <a:r>
              <a:rPr lang="en-IN" sz="1600" dirty="0">
                <a:latin typeface="Times New Roman" pitchFamily="18" charset="0"/>
                <a:cs typeface="Times New Roman" pitchFamily="18" charset="0"/>
              </a:rPr>
              <a:t>along with a </a:t>
            </a:r>
            <a:r>
              <a:rPr lang="en-IN" sz="1600" b="1" dirty="0">
                <a:solidFill>
                  <a:srgbClr val="FF0000"/>
                </a:solidFill>
                <a:latin typeface="Times New Roman" pitchFamily="18" charset="0"/>
                <a:cs typeface="Times New Roman" pitchFamily="18" charset="0"/>
              </a:rPr>
              <a:t>twenty-six-foot long Om</a:t>
            </a:r>
            <a:r>
              <a:rPr lang="en-IN" sz="1600" dirty="0">
                <a:solidFill>
                  <a:srgbClr val="FF0000"/>
                </a:solidFill>
                <a:latin typeface="Times New Roman" pitchFamily="18" charset="0"/>
                <a:cs typeface="Times New Roman" pitchFamily="18" charset="0"/>
              </a:rPr>
              <a:t>, </a:t>
            </a:r>
            <a:r>
              <a:rPr lang="en-IN" sz="1600" dirty="0">
                <a:latin typeface="Times New Roman" pitchFamily="18" charset="0"/>
                <a:cs typeface="Times New Roman" pitchFamily="18" charset="0"/>
              </a:rPr>
              <a:t>in the colours of brand Philips.</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b="1" dirty="0">
                <a:latin typeface="Times New Roman" pitchFamily="18" charset="0"/>
                <a:cs typeface="Times New Roman" pitchFamily="18" charset="0"/>
              </a:rPr>
              <a:t>O</a:t>
            </a:r>
            <a:r>
              <a:rPr lang="en-IN" sz="1600" b="1" dirty="0" smtClean="0">
                <a:latin typeface="Times New Roman" pitchFamily="18" charset="0"/>
                <a:cs typeface="Times New Roman" pitchFamily="18" charset="0"/>
              </a:rPr>
              <a:t>bjective </a:t>
            </a:r>
            <a:r>
              <a:rPr lang="en-IN" sz="1600" b="1" dirty="0">
                <a:latin typeface="Times New Roman" pitchFamily="18" charset="0"/>
                <a:cs typeface="Times New Roman" pitchFamily="18" charset="0"/>
              </a:rPr>
              <a:t>is to </a:t>
            </a:r>
            <a:r>
              <a:rPr lang="en-IN" sz="1600" b="1" dirty="0" smtClean="0">
                <a:latin typeface="Times New Roman" pitchFamily="18" charset="0"/>
                <a:cs typeface="Times New Roman" pitchFamily="18" charset="0"/>
              </a:rPr>
              <a:t>highlight </a:t>
            </a:r>
            <a:r>
              <a:rPr lang="en-IN" sz="1600" b="1" dirty="0">
                <a:latin typeface="Times New Roman" pitchFamily="18" charset="0"/>
                <a:cs typeface="Times New Roman" pitchFamily="18" charset="0"/>
              </a:rPr>
              <a:t>fact that Philips LED </a:t>
            </a:r>
            <a:r>
              <a:rPr lang="en-IN" sz="1600" b="1" dirty="0" smtClean="0">
                <a:latin typeface="Times New Roman" pitchFamily="18" charset="0"/>
                <a:cs typeface="Times New Roman" pitchFamily="18" charset="0"/>
              </a:rPr>
              <a:t>comes </a:t>
            </a:r>
            <a:r>
              <a:rPr lang="en-IN" sz="1600" b="1" dirty="0">
                <a:latin typeface="Times New Roman" pitchFamily="18" charset="0"/>
                <a:cs typeface="Times New Roman" pitchFamily="18" charset="0"/>
              </a:rPr>
              <a:t>with </a:t>
            </a:r>
            <a:r>
              <a:rPr lang="en-IN" sz="1600" b="1" dirty="0" err="1">
                <a:solidFill>
                  <a:srgbClr val="FF0000"/>
                </a:solidFill>
                <a:latin typeface="Times New Roman" pitchFamily="18" charset="0"/>
                <a:cs typeface="Times New Roman" pitchFamily="18" charset="0"/>
              </a:rPr>
              <a:t>Duramax</a:t>
            </a:r>
            <a:r>
              <a:rPr lang="en-IN" sz="1600" b="1" dirty="0">
                <a:solidFill>
                  <a:srgbClr val="FF0000"/>
                </a:solidFill>
                <a:latin typeface="Times New Roman" pitchFamily="18" charset="0"/>
                <a:cs typeface="Times New Roman" pitchFamily="18" charset="0"/>
              </a:rPr>
              <a:t> technology which offers longer lasting brightness</a:t>
            </a:r>
            <a:r>
              <a:rPr lang="en-IN" sz="1600" b="1" dirty="0">
                <a:latin typeface="Times New Roman" pitchFamily="18" charset="0"/>
                <a:cs typeface="Times New Roman" pitchFamily="18" charset="0"/>
              </a:rPr>
              <a:t>.</a:t>
            </a: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The detailing of the structure has been done to showcase that Philips LED bulbs are available in </a:t>
            </a:r>
            <a:br>
              <a:rPr lang="en-IN" sz="1600" dirty="0">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multiple power outputs</a:t>
            </a:r>
            <a:r>
              <a:rPr lang="en-IN" sz="2400" b="1" dirty="0">
                <a:latin typeface="Times New Roman" pitchFamily="18" charset="0"/>
                <a:cs typeface="Times New Roman" pitchFamily="18" charset="0"/>
              </a:rPr>
              <a:t>, </a:t>
            </a:r>
            <a:br>
              <a:rPr lang="en-IN" sz="2400" b="1" dirty="0">
                <a:latin typeface="Times New Roman" pitchFamily="18" charset="0"/>
                <a:cs typeface="Times New Roman" pitchFamily="18" charset="0"/>
              </a:rPr>
            </a:br>
            <a:r>
              <a:rPr lang="en-IN" sz="2400" b="1" dirty="0">
                <a:latin typeface="Times New Roman" pitchFamily="18" charset="0"/>
                <a:cs typeface="Times New Roman" pitchFamily="18" charset="0"/>
              </a:rPr>
              <a:t>across a </a:t>
            </a:r>
            <a:r>
              <a:rPr lang="en-IN" sz="2400" b="1" dirty="0">
                <a:solidFill>
                  <a:srgbClr val="FF0000"/>
                </a:solidFill>
                <a:latin typeface="Times New Roman" pitchFamily="18" charset="0"/>
                <a:cs typeface="Times New Roman" pitchFamily="18" charset="0"/>
              </a:rPr>
              <a:t>variety of colours </a:t>
            </a:r>
            <a:r>
              <a:rPr lang="en-IN" sz="2400" b="1" dirty="0">
                <a:latin typeface="Times New Roman" pitchFamily="18" charset="0"/>
                <a:cs typeface="Times New Roman" pitchFamily="18" charset="0"/>
              </a:rPr>
              <a:t>and</a:t>
            </a:r>
            <a:br>
              <a:rPr lang="en-IN" sz="2400" b="1" dirty="0">
                <a:latin typeface="Times New Roman" pitchFamily="18" charset="0"/>
                <a:cs typeface="Times New Roman" pitchFamily="18" charset="0"/>
              </a:rPr>
            </a:br>
            <a:r>
              <a:rPr lang="en-IN" sz="2400" b="1" dirty="0" smtClean="0">
                <a:solidFill>
                  <a:srgbClr val="FF0000"/>
                </a:solidFill>
                <a:latin typeface="Times New Roman" pitchFamily="18" charset="0"/>
                <a:cs typeface="Times New Roman" pitchFamily="18" charset="0"/>
              </a:rPr>
              <a:t>various </a:t>
            </a:r>
            <a:r>
              <a:rPr lang="en-IN" sz="2400" b="1" dirty="0">
                <a:solidFill>
                  <a:srgbClr val="FF0000"/>
                </a:solidFill>
                <a:latin typeface="Times New Roman" pitchFamily="18" charset="0"/>
                <a:cs typeface="Times New Roman" pitchFamily="18" charset="0"/>
              </a:rPr>
              <a:t>layers of brightness </a:t>
            </a:r>
            <a:r>
              <a:rPr lang="en-IN" sz="2400" dirty="0">
                <a:latin typeface="Times New Roman" pitchFamily="18" charset="0"/>
                <a:cs typeface="Times New Roman" pitchFamily="18" charset="0"/>
              </a:rPr>
              <a:t>to suit </a:t>
            </a:r>
            <a:r>
              <a:rPr lang="en-IN" sz="2400" dirty="0" smtClean="0">
                <a:latin typeface="Times New Roman" pitchFamily="18" charset="0"/>
                <a:cs typeface="Times New Roman" pitchFamily="18" charset="0"/>
              </a:rPr>
              <a:t>consumers </a:t>
            </a:r>
            <a:r>
              <a:rPr lang="en-IN" sz="2400" dirty="0">
                <a:latin typeface="Times New Roman" pitchFamily="18" charset="0"/>
                <a:cs typeface="Times New Roman" pitchFamily="18" charset="0"/>
              </a:rPr>
              <a:t>needs</a:t>
            </a:r>
            <a:r>
              <a:rPr lang="en-IN" sz="1600" dirty="0">
                <a:latin typeface="Times New Roman" pitchFamily="18" charset="0"/>
                <a:cs typeface="Times New Roman" pitchFamily="18" charset="0"/>
              </a:rPr>
              <a:t>. </a:t>
            </a:r>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1600" dirty="0" smtClean="0">
                <a:latin typeface="Times New Roman" pitchFamily="18" charset="0"/>
                <a:cs typeface="Times New Roman" pitchFamily="18" charset="0"/>
              </a:rPr>
              <a:t>In </a:t>
            </a:r>
            <a:r>
              <a:rPr lang="en-IN" sz="1600" dirty="0">
                <a:latin typeface="Times New Roman" pitchFamily="18" charset="0"/>
                <a:cs typeface="Times New Roman" pitchFamily="18" charset="0"/>
              </a:rPr>
              <a:t>the installation, different lumen capacities of Philips LED light bulbs have been used, ranging from </a:t>
            </a:r>
            <a:r>
              <a:rPr lang="en-IN" sz="2000" dirty="0">
                <a:solidFill>
                  <a:srgbClr val="FF0000"/>
                </a:solidFill>
                <a:latin typeface="Times New Roman" pitchFamily="18" charset="0"/>
                <a:cs typeface="Times New Roman" pitchFamily="18" charset="0"/>
              </a:rPr>
              <a:t>0.5 watt to 4 watts. </a:t>
            </a: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600" dirty="0">
                <a:latin typeface="Times New Roman" pitchFamily="18" charset="0"/>
                <a:cs typeface="Times New Roman" pitchFamily="18" charset="0"/>
              </a:rPr>
              <a:t>The objective of the installation is to provide an actual </a:t>
            </a:r>
            <a:r>
              <a:rPr lang="en-IN" sz="1600" dirty="0">
                <a:solidFill>
                  <a:srgbClr val="FF0000"/>
                </a:solidFill>
                <a:latin typeface="Times New Roman" pitchFamily="18" charset="0"/>
                <a:cs typeface="Times New Roman" pitchFamily="18" charset="0"/>
              </a:rPr>
              <a:t>'touch and feel' </a:t>
            </a:r>
            <a:r>
              <a:rPr lang="en-IN" sz="1600" dirty="0">
                <a:latin typeface="Times New Roman" pitchFamily="18" charset="0"/>
                <a:cs typeface="Times New Roman" pitchFamily="18" charset="0"/>
              </a:rPr>
              <a:t>of Philips LED bulbs. </a:t>
            </a:r>
            <a:br>
              <a:rPr lang="en-IN" sz="1600" dirty="0">
                <a:latin typeface="Times New Roman" pitchFamily="18" charset="0"/>
                <a:cs typeface="Times New Roman" pitchFamily="18" charset="0"/>
              </a:rPr>
            </a:br>
            <a:r>
              <a:rPr lang="en-IN" sz="1600" dirty="0" smtClean="0">
                <a:solidFill>
                  <a:srgbClr val="FF0000"/>
                </a:solidFill>
                <a:latin typeface="Times New Roman" pitchFamily="18" charset="0"/>
                <a:cs typeface="Times New Roman" pitchFamily="18" charset="0"/>
              </a:rPr>
              <a:t/>
            </a:r>
            <a:br>
              <a:rPr lang="en-IN" sz="1600" dirty="0" smtClean="0">
                <a:solidFill>
                  <a:srgbClr val="FF0000"/>
                </a:solidFill>
                <a:latin typeface="Times New Roman" pitchFamily="18" charset="0"/>
                <a:cs typeface="Times New Roman" pitchFamily="18" charset="0"/>
              </a:rPr>
            </a:br>
            <a:r>
              <a:rPr lang="en-IN" sz="1600" dirty="0" smtClean="0">
                <a:solidFill>
                  <a:srgbClr val="FF0000"/>
                </a:solidFill>
                <a:latin typeface="Times New Roman" pitchFamily="18" charset="0"/>
                <a:cs typeface="Times New Roman" pitchFamily="18" charset="0"/>
              </a:rPr>
              <a:t>Prior, </a:t>
            </a:r>
            <a:r>
              <a:rPr lang="en-IN" sz="1600" dirty="0" smtClean="0">
                <a:latin typeface="Times New Roman" pitchFamily="18" charset="0"/>
                <a:cs typeface="Times New Roman" pitchFamily="18" charset="0"/>
              </a:rPr>
              <a:t>Philips </a:t>
            </a:r>
            <a:r>
              <a:rPr lang="en-IN" sz="1600" dirty="0">
                <a:latin typeface="Times New Roman" pitchFamily="18" charset="0"/>
                <a:cs typeface="Times New Roman" pitchFamily="18" charset="0"/>
              </a:rPr>
              <a:t>had created an </a:t>
            </a:r>
            <a:r>
              <a:rPr lang="en-IN" sz="1600" dirty="0">
                <a:solidFill>
                  <a:srgbClr val="FF0000"/>
                </a:solidFill>
                <a:latin typeface="Times New Roman" pitchFamily="18" charset="0"/>
                <a:cs typeface="Times New Roman" pitchFamily="18" charset="0"/>
              </a:rPr>
              <a:t>eye-catching '</a:t>
            </a:r>
            <a:r>
              <a:rPr lang="en-IN" sz="1600" dirty="0" err="1">
                <a:solidFill>
                  <a:srgbClr val="FF0000"/>
                </a:solidFill>
                <a:latin typeface="Times New Roman" pitchFamily="18" charset="0"/>
                <a:cs typeface="Times New Roman" pitchFamily="18" charset="0"/>
              </a:rPr>
              <a:t>modak</a:t>
            </a:r>
            <a:r>
              <a:rPr lang="en-IN" sz="1600" dirty="0">
                <a:solidFill>
                  <a:srgbClr val="FF0000"/>
                </a:solidFill>
                <a:latin typeface="Times New Roman" pitchFamily="18" charset="0"/>
                <a:cs typeface="Times New Roman" pitchFamily="18" charset="0"/>
              </a:rPr>
              <a:t>'</a:t>
            </a:r>
            <a:r>
              <a:rPr lang="en-IN" sz="1600" dirty="0">
                <a:latin typeface="Times New Roman" pitchFamily="18" charset="0"/>
                <a:cs typeface="Times New Roman" pitchFamily="18" charset="0"/>
              </a:rPr>
              <a:t> made up of </a:t>
            </a:r>
            <a:r>
              <a:rPr lang="en-IN" sz="1600" dirty="0">
                <a:solidFill>
                  <a:srgbClr val="FF0000"/>
                </a:solidFill>
                <a:latin typeface="Times New Roman" pitchFamily="18" charset="0"/>
                <a:cs typeface="Times New Roman" pitchFamily="18" charset="0"/>
              </a:rPr>
              <a:t>Philips LED bulbs </a:t>
            </a:r>
            <a:r>
              <a:rPr lang="en-IN" sz="1600" dirty="0">
                <a:latin typeface="Times New Roman" pitchFamily="18" charset="0"/>
                <a:cs typeface="Times New Roman" pitchFamily="18" charset="0"/>
              </a:rPr>
              <a:t>at the same venue.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endParaRPr lang="en-IN" sz="1200" dirty="0">
              <a:latin typeface="Times New Roman" pitchFamily="18" charset="0"/>
              <a:cs typeface="Times New Roman" pitchFamily="18" charset="0"/>
            </a:endParaRPr>
          </a:p>
        </p:txBody>
      </p:sp>
    </p:spTree>
    <p:extLst>
      <p:ext uri="{BB962C8B-B14F-4D97-AF65-F5344CB8AC3E}">
        <p14:creationId xmlns:p14="http://schemas.microsoft.com/office/powerpoint/2010/main" val="2644826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dirty="0" err="1" smtClean="0">
                <a:latin typeface="Times New Roman" pitchFamily="18" charset="0"/>
                <a:cs typeface="Times New Roman" pitchFamily="18" charset="0"/>
              </a:rPr>
              <a:t>Mela</a:t>
            </a:r>
            <a:endParaRPr lang="en-IN" sz="2800" dirty="0">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0871" y="274638"/>
            <a:ext cx="2073904" cy="2098312"/>
          </a:xfr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6357" y="318113"/>
            <a:ext cx="2173413" cy="2011362"/>
          </a:xfrm>
          <a:prstGeom prst="rect">
            <a:avLst/>
          </a:prstGeom>
        </p:spPr>
      </p:pic>
      <p:sp>
        <p:nvSpPr>
          <p:cNvPr id="5" name="Rectangle 4"/>
          <p:cNvSpPr/>
          <p:nvPr/>
        </p:nvSpPr>
        <p:spPr>
          <a:xfrm>
            <a:off x="4474402" y="1232972"/>
            <a:ext cx="3243196" cy="369332"/>
          </a:xfrm>
          <a:prstGeom prst="rect">
            <a:avLst/>
          </a:prstGeom>
        </p:spPr>
        <p:txBody>
          <a:bodyPr wrap="none">
            <a:spAutoFit/>
          </a:bodyPr>
          <a:lstStyle/>
          <a:p>
            <a:r>
              <a:rPr lang="en-IN" dirty="0">
                <a:solidFill>
                  <a:srgbClr val="FF0000"/>
                </a:solidFill>
                <a:latin typeface="Times New Roman" pitchFamily="18" charset="0"/>
                <a:cs typeface="Times New Roman" pitchFamily="18" charset="0"/>
              </a:rPr>
              <a:t>50,000 villages or the 200 </a:t>
            </a:r>
            <a:r>
              <a:rPr lang="en-IN" dirty="0" err="1">
                <a:solidFill>
                  <a:srgbClr val="FF0000"/>
                </a:solidFill>
                <a:latin typeface="Times New Roman" pitchFamily="18" charset="0"/>
                <a:cs typeface="Times New Roman" pitchFamily="18" charset="0"/>
              </a:rPr>
              <a:t>melas</a:t>
            </a:r>
            <a:r>
              <a:rPr lang="en-IN" dirty="0">
                <a:latin typeface="Times New Roman" pitchFamily="18" charset="0"/>
                <a:cs typeface="Times New Roman" pitchFamily="18" charset="0"/>
              </a:rPr>
              <a:t> </a:t>
            </a:r>
            <a:endParaRPr lang="en-IN" dirty="0"/>
          </a:p>
        </p:txBody>
      </p:sp>
      <p:sp>
        <p:nvSpPr>
          <p:cNvPr id="6" name="Rectangle 5"/>
          <p:cNvSpPr/>
          <p:nvPr/>
        </p:nvSpPr>
        <p:spPr>
          <a:xfrm>
            <a:off x="942976" y="2466794"/>
            <a:ext cx="10639424" cy="3816429"/>
          </a:xfrm>
          <a:prstGeom prst="rect">
            <a:avLst/>
          </a:prstGeom>
        </p:spPr>
        <p:txBody>
          <a:bodyPr wrap="square">
            <a:spAutoFit/>
          </a:bodyPr>
          <a:lstStyle/>
          <a:p>
            <a:r>
              <a:rPr lang="en-IN" sz="1600" dirty="0">
                <a:latin typeface="Times New Roman" pitchFamily="18" charset="0"/>
                <a:cs typeface="Times New Roman" pitchFamily="18" charset="0"/>
              </a:rPr>
              <a:t>There's a difference between religious </a:t>
            </a:r>
            <a:r>
              <a:rPr lang="en-IN" sz="1600" dirty="0" err="1">
                <a:latin typeface="Times New Roman" pitchFamily="18" charset="0"/>
                <a:cs typeface="Times New Roman" pitchFamily="18" charset="0"/>
              </a:rPr>
              <a:t>melas</a:t>
            </a:r>
            <a:r>
              <a:rPr lang="en-IN" sz="1600" dirty="0">
                <a:latin typeface="Times New Roman" pitchFamily="18" charset="0"/>
                <a:cs typeface="Times New Roman" pitchFamily="18" charset="0"/>
              </a:rPr>
              <a:t> like the</a:t>
            </a:r>
            <a:r>
              <a:rPr lang="en-IN" sz="1600" dirty="0">
                <a:solidFill>
                  <a:srgbClr val="FF0000"/>
                </a:solidFill>
                <a:latin typeface="Times New Roman" pitchFamily="18" charset="0"/>
                <a:cs typeface="Times New Roman" pitchFamily="18" charset="0"/>
              </a:rPr>
              <a:t> </a:t>
            </a:r>
            <a:r>
              <a:rPr lang="en-IN" sz="1600" dirty="0" err="1">
                <a:solidFill>
                  <a:srgbClr val="FF0000"/>
                </a:solidFill>
                <a:latin typeface="Times New Roman" pitchFamily="18" charset="0"/>
                <a:cs typeface="Times New Roman" pitchFamily="18" charset="0"/>
              </a:rPr>
              <a:t>Kumbh</a:t>
            </a:r>
            <a:r>
              <a:rPr lang="en-IN" sz="1600" dirty="0">
                <a:solidFill>
                  <a:srgbClr val="FF0000"/>
                </a:solidFill>
                <a:latin typeface="Times New Roman" pitchFamily="18" charset="0"/>
                <a:cs typeface="Times New Roman" pitchFamily="18" charset="0"/>
              </a:rPr>
              <a:t> </a:t>
            </a:r>
            <a:r>
              <a:rPr lang="en-IN" sz="1600" dirty="0">
                <a:latin typeface="Times New Roman" pitchFamily="18" charset="0"/>
                <a:cs typeface="Times New Roman" pitchFamily="18" charset="0"/>
              </a:rPr>
              <a:t>that draw</a:t>
            </a:r>
            <a:r>
              <a:rPr lang="en-IN" dirty="0">
                <a:solidFill>
                  <a:srgbClr val="FF0000"/>
                </a:solidFill>
                <a:latin typeface="Times New Roman" pitchFamily="18" charset="0"/>
                <a:cs typeface="Times New Roman" pitchFamily="18" charset="0"/>
              </a:rPr>
              <a:t> 5 </a:t>
            </a:r>
            <a:r>
              <a:rPr lang="en-IN" dirty="0" err="1">
                <a:solidFill>
                  <a:srgbClr val="FF0000"/>
                </a:solidFill>
                <a:latin typeface="Times New Roman" pitchFamily="18" charset="0"/>
                <a:cs typeface="Times New Roman" pitchFamily="18" charset="0"/>
              </a:rPr>
              <a:t>crores</a:t>
            </a:r>
            <a:r>
              <a:rPr lang="en-IN" dirty="0">
                <a:solidFill>
                  <a:srgbClr val="FF0000"/>
                </a:solidFill>
                <a:latin typeface="Times New Roman" pitchFamily="18" charset="0"/>
                <a:cs typeface="Times New Roman" pitchFamily="18" charset="0"/>
              </a:rPr>
              <a:t> to 8 </a:t>
            </a:r>
            <a:r>
              <a:rPr lang="en-IN" dirty="0" err="1">
                <a:solidFill>
                  <a:srgbClr val="FF0000"/>
                </a:solidFill>
                <a:latin typeface="Times New Roman" pitchFamily="18" charset="0"/>
                <a:cs typeface="Times New Roman" pitchFamily="18" charset="0"/>
              </a:rPr>
              <a:t>crores</a:t>
            </a:r>
            <a:r>
              <a:rPr lang="en-IN" dirty="0">
                <a:solidFill>
                  <a:srgbClr val="FF0000"/>
                </a:solidFill>
                <a:latin typeface="Times New Roman" pitchFamily="18" charset="0"/>
                <a:cs typeface="Times New Roman" pitchFamily="18" charset="0"/>
              </a:rPr>
              <a:t> of people over 30 to 40 days </a:t>
            </a:r>
            <a:r>
              <a:rPr lang="en-IN" sz="1600" dirty="0">
                <a:latin typeface="Times New Roman" pitchFamily="18" charset="0"/>
                <a:cs typeface="Times New Roman" pitchFamily="18" charset="0"/>
              </a:rPr>
              <a:t>and </a:t>
            </a:r>
            <a:r>
              <a:rPr lang="en-IN" sz="1600" dirty="0">
                <a:solidFill>
                  <a:srgbClr val="FF0000"/>
                </a:solidFill>
                <a:latin typeface="Times New Roman" pitchFamily="18" charset="0"/>
                <a:cs typeface="Times New Roman" pitchFamily="18" charset="0"/>
              </a:rPr>
              <a:t>smaller, festive </a:t>
            </a:r>
            <a:r>
              <a:rPr lang="en-IN" sz="1600" dirty="0" err="1">
                <a:solidFill>
                  <a:srgbClr val="FF0000"/>
                </a:solidFill>
                <a:latin typeface="Times New Roman" pitchFamily="18" charset="0"/>
                <a:cs typeface="Times New Roman" pitchFamily="18" charset="0"/>
              </a:rPr>
              <a:t>melas</a:t>
            </a:r>
            <a:r>
              <a:rPr lang="en-IN" sz="1600" dirty="0">
                <a:solidFill>
                  <a:srgbClr val="FF0000"/>
                </a:solidFill>
                <a:latin typeface="Times New Roman" pitchFamily="18" charset="0"/>
                <a:cs typeface="Times New Roman" pitchFamily="18" charset="0"/>
              </a:rPr>
              <a:t> </a:t>
            </a:r>
            <a:r>
              <a:rPr lang="en-IN" sz="1600" dirty="0">
                <a:latin typeface="Times New Roman" pitchFamily="18" charset="0"/>
                <a:cs typeface="Times New Roman" pitchFamily="18" charset="0"/>
              </a:rPr>
              <a:t>that last for a shorter time frame and typically bring in </a:t>
            </a:r>
            <a:r>
              <a:rPr lang="en-IN" sz="1600" dirty="0">
                <a:solidFill>
                  <a:srgbClr val="FF0000"/>
                </a:solidFill>
                <a:latin typeface="Times New Roman" pitchFamily="18" charset="0"/>
                <a:cs typeface="Times New Roman" pitchFamily="18" charset="0"/>
              </a:rPr>
              <a:t>10,000 to 20,00 people a day</a:t>
            </a:r>
            <a:r>
              <a:rPr lang="en-IN" sz="1600" dirty="0">
                <a:latin typeface="Times New Roman" pitchFamily="18" charset="0"/>
                <a:cs typeface="Times New Roman" pitchFamily="18" charset="0"/>
              </a:rPr>
              <a:t>, with a mix of urban and rural audience.</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The latter are a better bet since they tend to be more </a:t>
            </a:r>
            <a:r>
              <a:rPr lang="en-IN" sz="1600" b="1" dirty="0">
                <a:solidFill>
                  <a:srgbClr val="FF0000"/>
                </a:solidFill>
                <a:latin typeface="Times New Roman" pitchFamily="18" charset="0"/>
                <a:cs typeface="Times New Roman" pitchFamily="18" charset="0"/>
              </a:rPr>
              <a:t>marketing friendly</a:t>
            </a:r>
            <a:r>
              <a:rPr lang="en-IN" sz="1600" dirty="0">
                <a:solidFill>
                  <a:srgbClr val="FF0000"/>
                </a:solidFill>
                <a:latin typeface="Times New Roman" pitchFamily="18" charset="0"/>
                <a:cs typeface="Times New Roman" pitchFamily="18" charset="0"/>
              </a:rPr>
              <a:t>,</a:t>
            </a:r>
            <a:r>
              <a:rPr lang="en-IN" sz="1600" dirty="0">
                <a:latin typeface="Times New Roman" pitchFamily="18" charset="0"/>
                <a:cs typeface="Times New Roman" pitchFamily="18" charset="0"/>
              </a:rPr>
              <a:t> it's the greatest aggregator of an otherwise very </a:t>
            </a:r>
            <a:r>
              <a:rPr lang="en-IN" sz="1600" dirty="0">
                <a:solidFill>
                  <a:srgbClr val="FF0000"/>
                </a:solidFill>
                <a:latin typeface="Times New Roman" pitchFamily="18" charset="0"/>
                <a:cs typeface="Times New Roman" pitchFamily="18" charset="0"/>
              </a:rPr>
              <a:t>diverse and hard to reach audience. </a:t>
            </a:r>
            <a:br>
              <a:rPr lang="en-IN" sz="1600" dirty="0">
                <a:solidFill>
                  <a:srgbClr val="FF0000"/>
                </a:solidFill>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600" b="1" dirty="0">
                <a:solidFill>
                  <a:srgbClr val="FF0000"/>
                </a:solidFill>
                <a:latin typeface="Times New Roman" pitchFamily="18" charset="0"/>
                <a:cs typeface="Times New Roman" pitchFamily="18" charset="0"/>
              </a:rPr>
              <a:t>Mass media is not a safe </a:t>
            </a:r>
            <a:r>
              <a:rPr lang="en-IN" sz="1600" dirty="0">
                <a:latin typeface="Times New Roman" pitchFamily="18" charset="0"/>
                <a:cs typeface="Times New Roman" pitchFamily="18" charset="0"/>
              </a:rPr>
              <a:t>bet and </a:t>
            </a:r>
            <a:r>
              <a:rPr lang="en-IN" sz="1600" dirty="0">
                <a:solidFill>
                  <a:srgbClr val="FF0000"/>
                </a:solidFill>
                <a:latin typeface="Times New Roman" pitchFamily="18" charset="0"/>
                <a:cs typeface="Times New Roman" pitchFamily="18" charset="0"/>
              </a:rPr>
              <a:t>rural marketing </a:t>
            </a:r>
            <a:r>
              <a:rPr lang="en-IN" sz="1600" dirty="0">
                <a:latin typeface="Times New Roman" pitchFamily="18" charset="0"/>
                <a:cs typeface="Times New Roman" pitchFamily="18" charset="0"/>
              </a:rPr>
              <a:t>operations that go from village to </a:t>
            </a:r>
            <a:r>
              <a:rPr lang="en-IN" sz="1600" dirty="0">
                <a:solidFill>
                  <a:srgbClr val="FF0000"/>
                </a:solidFill>
                <a:latin typeface="Times New Roman" pitchFamily="18" charset="0"/>
                <a:cs typeface="Times New Roman" pitchFamily="18" charset="0"/>
              </a:rPr>
              <a:t>village are prohibitively expensive</a:t>
            </a:r>
            <a:r>
              <a:rPr lang="en-IN" sz="1600" dirty="0">
                <a:latin typeface="Times New Roman" pitchFamily="18" charset="0"/>
                <a:cs typeface="Times New Roman" pitchFamily="18" charset="0"/>
              </a:rPr>
              <a:t>. It's an opportunity to get a sizable number of rural consumers at one go and in a way they come to you with money in their pockets. </a:t>
            </a:r>
            <a:br>
              <a:rPr lang="en-IN" sz="1600" dirty="0">
                <a:latin typeface="Times New Roman" pitchFamily="18" charset="0"/>
                <a:cs typeface="Times New Roman" pitchFamily="18" charset="0"/>
              </a:rPr>
            </a:br>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While </a:t>
            </a:r>
            <a:r>
              <a:rPr lang="en-IN" sz="1600" dirty="0">
                <a:latin typeface="Times New Roman" pitchFamily="18" charset="0"/>
                <a:cs typeface="Times New Roman" pitchFamily="18" charset="0"/>
              </a:rPr>
              <a:t>the </a:t>
            </a:r>
            <a:r>
              <a:rPr lang="en-IN" sz="1600" dirty="0">
                <a:solidFill>
                  <a:srgbClr val="FF0000"/>
                </a:solidFill>
                <a:latin typeface="Times New Roman" pitchFamily="18" charset="0"/>
                <a:cs typeface="Times New Roman" pitchFamily="18" charset="0"/>
              </a:rPr>
              <a:t>main focus of a </a:t>
            </a:r>
            <a:r>
              <a:rPr lang="en-IN" sz="1600" dirty="0" err="1">
                <a:solidFill>
                  <a:srgbClr val="FF0000"/>
                </a:solidFill>
                <a:latin typeface="Times New Roman" pitchFamily="18" charset="0"/>
                <a:cs typeface="Times New Roman" pitchFamily="18" charset="0"/>
              </a:rPr>
              <a:t>mela</a:t>
            </a:r>
            <a:r>
              <a:rPr lang="en-IN" sz="1600" dirty="0">
                <a:solidFill>
                  <a:srgbClr val="FF0000"/>
                </a:solidFill>
                <a:latin typeface="Times New Roman" pitchFamily="18" charset="0"/>
                <a:cs typeface="Times New Roman" pitchFamily="18" charset="0"/>
              </a:rPr>
              <a:t> is usually religious</a:t>
            </a:r>
            <a:r>
              <a:rPr lang="en-IN" sz="1600" dirty="0">
                <a:latin typeface="Times New Roman" pitchFamily="18" charset="0"/>
                <a:cs typeface="Times New Roman" pitchFamily="18" charset="0"/>
              </a:rPr>
              <a:t>, once </a:t>
            </a:r>
            <a:r>
              <a:rPr lang="en-IN" sz="1600" dirty="0" err="1">
                <a:latin typeface="Times New Roman" pitchFamily="18" charset="0"/>
                <a:cs typeface="Times New Roman" pitchFamily="18" charset="0"/>
              </a:rPr>
              <a:t>darshan</a:t>
            </a:r>
            <a:r>
              <a:rPr lang="en-IN" sz="1600" dirty="0">
                <a:latin typeface="Times New Roman" pitchFamily="18" charset="0"/>
                <a:cs typeface="Times New Roman" pitchFamily="18" charset="0"/>
              </a:rPr>
              <a:t> and the </a:t>
            </a:r>
            <a:r>
              <a:rPr lang="en-IN" sz="1600" dirty="0" err="1">
                <a:latin typeface="Times New Roman" pitchFamily="18" charset="0"/>
                <a:cs typeface="Times New Roman" pitchFamily="18" charset="0"/>
              </a:rPr>
              <a:t>snaan</a:t>
            </a:r>
            <a:r>
              <a:rPr lang="en-IN" sz="1600" dirty="0">
                <a:latin typeface="Times New Roman" pitchFamily="18" charset="0"/>
                <a:cs typeface="Times New Roman" pitchFamily="18" charset="0"/>
              </a:rPr>
              <a:t> is done with, </a:t>
            </a:r>
            <a:r>
              <a:rPr lang="en-IN" sz="1600" dirty="0" smtClean="0">
                <a:latin typeface="Times New Roman" pitchFamily="18" charset="0"/>
                <a:cs typeface="Times New Roman" pitchFamily="18" charset="0"/>
              </a:rPr>
              <a:t>Shopping is the focus</a:t>
            </a: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The only place where you will see </a:t>
            </a:r>
            <a:r>
              <a:rPr lang="en-IN" sz="1600" dirty="0">
                <a:solidFill>
                  <a:srgbClr val="FF0000"/>
                </a:solidFill>
                <a:latin typeface="Times New Roman" pitchFamily="18" charset="0"/>
                <a:cs typeface="Times New Roman" pitchFamily="18" charset="0"/>
              </a:rPr>
              <a:t>rural folk holding their wife's hand </a:t>
            </a:r>
            <a:r>
              <a:rPr lang="en-IN" sz="1600" dirty="0">
                <a:latin typeface="Times New Roman" pitchFamily="18" charset="0"/>
                <a:cs typeface="Times New Roman" pitchFamily="18" charset="0"/>
              </a:rPr>
              <a:t>for the </a:t>
            </a:r>
            <a:r>
              <a:rPr lang="en-IN" sz="1600" dirty="0">
                <a:solidFill>
                  <a:srgbClr val="FF0000"/>
                </a:solidFill>
                <a:latin typeface="Times New Roman" pitchFamily="18" charset="0"/>
                <a:cs typeface="Times New Roman" pitchFamily="18" charset="0"/>
              </a:rPr>
              <a:t>fear of being lost or separated</a:t>
            </a:r>
            <a:r>
              <a:rPr lang="en-IN" sz="1600" dirty="0">
                <a:latin typeface="Times New Roman" pitchFamily="18" charset="0"/>
                <a:cs typeface="Times New Roman" pitchFamily="18" charset="0"/>
              </a:rPr>
              <a:t>. The </a:t>
            </a:r>
            <a:r>
              <a:rPr lang="en-IN" sz="1600" dirty="0">
                <a:solidFill>
                  <a:srgbClr val="FF0000"/>
                </a:solidFill>
                <a:latin typeface="Times New Roman" pitchFamily="18" charset="0"/>
                <a:cs typeface="Times New Roman" pitchFamily="18" charset="0"/>
              </a:rPr>
              <a:t>social sanctions </a:t>
            </a:r>
            <a:r>
              <a:rPr lang="en-IN" sz="1600" dirty="0">
                <a:latin typeface="Times New Roman" pitchFamily="18" charset="0"/>
                <a:cs typeface="Times New Roman" pitchFamily="18" charset="0"/>
              </a:rPr>
              <a:t>that usually keep women cloistered don't apply as stringently at </a:t>
            </a:r>
            <a:r>
              <a:rPr lang="en-IN" sz="1600" dirty="0" err="1">
                <a:latin typeface="Times New Roman" pitchFamily="18" charset="0"/>
                <a:cs typeface="Times New Roman" pitchFamily="18" charset="0"/>
              </a:rPr>
              <a:t>melas</a:t>
            </a:r>
            <a:r>
              <a:rPr lang="en-IN" sz="1600" dirty="0">
                <a:latin typeface="Times New Roman" pitchFamily="18" charset="0"/>
                <a:cs typeface="Times New Roman" pitchFamily="18" charset="0"/>
              </a:rPr>
              <a:t>. Many marketers view it as a unique opportunity to reach out to women: influencers who are otherwise hard to connect with. </a:t>
            </a:r>
            <a:endParaRPr lang="en-IN" sz="1600" dirty="0"/>
          </a:p>
        </p:txBody>
      </p:sp>
    </p:spTree>
    <p:extLst>
      <p:ext uri="{BB962C8B-B14F-4D97-AF65-F5344CB8AC3E}">
        <p14:creationId xmlns:p14="http://schemas.microsoft.com/office/powerpoint/2010/main" val="31210892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475" y="570156"/>
            <a:ext cx="11068050" cy="5382969"/>
          </a:xfrm>
        </p:spPr>
        <p:txBody>
          <a:bodyPr>
            <a:noAutofit/>
          </a:bodyPr>
          <a:lstStyle/>
          <a:p>
            <a:r>
              <a:rPr lang="en-IN" sz="2800" b="1" dirty="0">
                <a:solidFill>
                  <a:srgbClr val="FF0000"/>
                </a:solidFill>
                <a:latin typeface="Times New Roman" pitchFamily="18" charset="0"/>
                <a:cs typeface="Times New Roman" pitchFamily="18" charset="0"/>
              </a:rPr>
              <a:t>HUL's 3 </a:t>
            </a:r>
            <a:r>
              <a:rPr lang="en-IN" sz="2800" b="1" dirty="0" smtClean="0">
                <a:latin typeface="Times New Roman" pitchFamily="18" charset="0"/>
                <a:cs typeface="Times New Roman" pitchFamily="18" charset="0"/>
              </a:rPr>
              <a:t>Roses </a:t>
            </a: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1800" dirty="0" smtClean="0">
                <a:latin typeface="Times New Roman" pitchFamily="18" charset="0"/>
                <a:cs typeface="Times New Roman" pitchFamily="18" charset="0"/>
              </a:rPr>
              <a:t>At </a:t>
            </a:r>
            <a:r>
              <a:rPr lang="en-IN" sz="1800" dirty="0" err="1" smtClean="0">
                <a:solidFill>
                  <a:srgbClr val="FF0000"/>
                </a:solidFill>
                <a:latin typeface="Times New Roman" pitchFamily="18" charset="0"/>
                <a:cs typeface="Times New Roman" pitchFamily="18" charset="0"/>
              </a:rPr>
              <a:t>Maha</a:t>
            </a:r>
            <a:r>
              <a:rPr lang="en-IN" sz="1800" dirty="0" smtClean="0">
                <a:solidFill>
                  <a:srgbClr val="FF0000"/>
                </a:solidFill>
                <a:latin typeface="Times New Roman" pitchFamily="18" charset="0"/>
                <a:cs typeface="Times New Roman" pitchFamily="18" charset="0"/>
              </a:rPr>
              <a:t> </a:t>
            </a:r>
            <a:r>
              <a:rPr lang="en-IN" sz="1800" dirty="0" err="1" smtClean="0">
                <a:solidFill>
                  <a:srgbClr val="FF0000"/>
                </a:solidFill>
                <a:latin typeface="Times New Roman" pitchFamily="18" charset="0"/>
                <a:cs typeface="Times New Roman" pitchFamily="18" charset="0"/>
              </a:rPr>
              <a:t>Pushkaram</a:t>
            </a:r>
            <a:r>
              <a:rPr lang="en-IN" sz="1800" dirty="0" smtClean="0">
                <a:latin typeface="Times New Roman" pitchFamily="18" charset="0"/>
                <a:cs typeface="Times New Roman" pitchFamily="18" charset="0"/>
              </a:rPr>
              <a:t>, </a:t>
            </a:r>
            <a:r>
              <a:rPr lang="en-IN" sz="1800" dirty="0" smtClean="0">
                <a:solidFill>
                  <a:srgbClr val="FF0000"/>
                </a:solidFill>
                <a:latin typeface="Times New Roman" pitchFamily="18" charset="0"/>
                <a:cs typeface="Times New Roman" pitchFamily="18" charset="0"/>
              </a:rPr>
              <a:t>a huge fair held at </a:t>
            </a:r>
            <a:r>
              <a:rPr lang="en-IN" sz="1800" dirty="0" err="1" smtClean="0">
                <a:solidFill>
                  <a:srgbClr val="FF0000"/>
                </a:solidFill>
                <a:latin typeface="Times New Roman" pitchFamily="18" charset="0"/>
                <a:cs typeface="Times New Roman" pitchFamily="18" charset="0"/>
              </a:rPr>
              <a:t>Rajamundhary</a:t>
            </a:r>
            <a:r>
              <a:rPr lang="en-IN" sz="1800" dirty="0" smtClean="0">
                <a:solidFill>
                  <a:srgbClr val="FF0000"/>
                </a:solidFill>
                <a:latin typeface="Times New Roman" pitchFamily="18" charset="0"/>
                <a:cs typeface="Times New Roman" pitchFamily="18" charset="0"/>
              </a:rPr>
              <a:t> in Andhra Pradesh, HUL's 3 Roses,</a:t>
            </a:r>
            <a:r>
              <a:rPr lang="en-IN" sz="1800" dirty="0" smtClean="0">
                <a:latin typeface="Times New Roman" pitchFamily="18" charset="0"/>
                <a:cs typeface="Times New Roman" pitchFamily="18" charset="0"/>
              </a:rPr>
              <a:t> the largest tea brand in South India, wanted to advertise an improved formulation. Apart from upping the visibility of the brand, </a:t>
            </a:r>
            <a:r>
              <a:rPr lang="en-IN" sz="1800" dirty="0" smtClean="0">
                <a:solidFill>
                  <a:srgbClr val="FF0000"/>
                </a:solidFill>
                <a:latin typeface="Times New Roman" pitchFamily="18" charset="0"/>
                <a:cs typeface="Times New Roman" pitchFamily="18" charset="0"/>
              </a:rPr>
              <a:t>HUL distributed special cups across 250 tea stalls</a:t>
            </a:r>
            <a:r>
              <a:rPr lang="en-IN" sz="1800" dirty="0" smtClean="0">
                <a:latin typeface="Times New Roman" pitchFamily="18" charset="0"/>
                <a:cs typeface="Times New Roman" pitchFamily="18" charset="0"/>
              </a:rPr>
              <a:t>. </a:t>
            </a:r>
            <a:br>
              <a:rPr lang="en-IN" sz="1800" dirty="0" smtClean="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smtClean="0">
                <a:latin typeface="Times New Roman" pitchFamily="18" charset="0"/>
                <a:cs typeface="Times New Roman" pitchFamily="18" charset="0"/>
              </a:rPr>
              <a:t>The </a:t>
            </a:r>
            <a:r>
              <a:rPr lang="en-IN" sz="1800" dirty="0">
                <a:solidFill>
                  <a:srgbClr val="FF0000"/>
                </a:solidFill>
                <a:latin typeface="Times New Roman" pitchFamily="18" charset="0"/>
                <a:cs typeface="Times New Roman" pitchFamily="18" charset="0"/>
              </a:rPr>
              <a:t>brand logo and message appeared on the cup when it was filled with hot beverage</a:t>
            </a:r>
            <a:r>
              <a:rPr lang="en-IN" sz="1800" dirty="0">
                <a:latin typeface="Times New Roman" pitchFamily="18" charset="0"/>
                <a:cs typeface="Times New Roman" pitchFamily="18" charset="0"/>
              </a:rPr>
              <a:t>, something of a novelty for large parts of the rural audience,  wanted to convey the message during the moment of truth, which is that of </a:t>
            </a:r>
            <a:r>
              <a:rPr lang="en-IN" sz="1800" dirty="0" smtClean="0">
                <a:latin typeface="Times New Roman" pitchFamily="18" charset="0"/>
                <a:cs typeface="Times New Roman" pitchFamily="18" charset="0"/>
              </a:rPr>
              <a:t>consumption. There </a:t>
            </a:r>
            <a:r>
              <a:rPr lang="en-IN" sz="1800" dirty="0">
                <a:latin typeface="Times New Roman" pitchFamily="18" charset="0"/>
                <a:cs typeface="Times New Roman" pitchFamily="18" charset="0"/>
              </a:rPr>
              <a:t>was a unanimous “wow“ around the “magic“ effect. </a:t>
            </a:r>
            <a:r>
              <a:rPr lang="en-IN" sz="1800" b="1" dirty="0">
                <a:latin typeface="Times New Roman" pitchFamily="18" charset="0"/>
                <a:cs typeface="Times New Roman" pitchFamily="18" charset="0"/>
              </a:rPr>
              <a:t>Many even wanted to take the cup home with </a:t>
            </a:r>
            <a:r>
              <a:rPr lang="en-IN" sz="1800" b="1" dirty="0" smtClean="0">
                <a:latin typeface="Times New Roman" pitchFamily="18" charset="0"/>
                <a:cs typeface="Times New Roman" pitchFamily="18" charset="0"/>
              </a:rPr>
              <a:t>them</a:t>
            </a:r>
            <a:r>
              <a:rPr lang="en-IN" sz="1800" dirty="0" smtClean="0">
                <a:latin typeface="Times New Roman" pitchFamily="18" charset="0"/>
                <a:cs typeface="Times New Roman" pitchFamily="18" charset="0"/>
              </a:rPr>
              <a:t>!</a:t>
            </a:r>
            <a:br>
              <a:rPr lang="en-IN" sz="1800" dirty="0" smtClean="0">
                <a:latin typeface="Times New Roman" pitchFamily="18" charset="0"/>
                <a:cs typeface="Times New Roman" pitchFamily="18" charset="0"/>
              </a:rPr>
            </a:br>
            <a:r>
              <a:rPr lang="en-IN" sz="1800" b="1" dirty="0" smtClean="0">
                <a:solidFill>
                  <a:srgbClr val="FF0000"/>
                </a:solidFill>
                <a:latin typeface="Times New Roman" pitchFamily="18" charset="0"/>
                <a:cs typeface="Times New Roman" pitchFamily="18" charset="0"/>
              </a:rPr>
              <a:t>Vodafone</a:t>
            </a:r>
            <a:r>
              <a:rPr lang="en-IN" sz="1800" dirty="0" smtClean="0">
                <a:solidFill>
                  <a:srgbClr val="FF0000"/>
                </a:solidFill>
                <a:latin typeface="Times New Roman" pitchFamily="18" charset="0"/>
                <a:cs typeface="Times New Roman" pitchFamily="18" charset="0"/>
              </a:rPr>
              <a:t> </a:t>
            </a:r>
            <a:r>
              <a:rPr lang="en-IN" sz="1800" dirty="0">
                <a:solidFill>
                  <a:srgbClr val="FF0000"/>
                </a:solidFill>
                <a:latin typeface="Times New Roman" pitchFamily="18" charset="0"/>
                <a:cs typeface="Times New Roman" pitchFamily="18" charset="0"/>
              </a:rPr>
              <a:t>at the last </a:t>
            </a:r>
            <a:r>
              <a:rPr lang="en-IN" sz="1800" dirty="0" err="1">
                <a:solidFill>
                  <a:srgbClr val="FF0000"/>
                </a:solidFill>
                <a:latin typeface="Times New Roman" pitchFamily="18" charset="0"/>
                <a:cs typeface="Times New Roman" pitchFamily="18" charset="0"/>
              </a:rPr>
              <a:t>Maha</a:t>
            </a:r>
            <a:r>
              <a:rPr lang="en-IN" sz="1800" dirty="0">
                <a:solidFill>
                  <a:srgbClr val="FF0000"/>
                </a:solidFill>
                <a:latin typeface="Times New Roman" pitchFamily="18" charset="0"/>
                <a:cs typeface="Times New Roman" pitchFamily="18" charset="0"/>
              </a:rPr>
              <a:t> </a:t>
            </a:r>
            <a:r>
              <a:rPr lang="en-IN" sz="1800" dirty="0" err="1">
                <a:solidFill>
                  <a:srgbClr val="FF0000"/>
                </a:solidFill>
                <a:latin typeface="Times New Roman" pitchFamily="18" charset="0"/>
                <a:cs typeface="Times New Roman" pitchFamily="18" charset="0"/>
              </a:rPr>
              <a:t>Kumbh</a:t>
            </a:r>
            <a:r>
              <a:rPr lang="en-IN" sz="1800" dirty="0">
                <a:solidFill>
                  <a:srgbClr val="FF0000"/>
                </a:solidFill>
                <a:latin typeface="Times New Roman" pitchFamily="18" charset="0"/>
                <a:cs typeface="Times New Roman" pitchFamily="18" charset="0"/>
              </a:rPr>
              <a:t>,  </a:t>
            </a:r>
            <a:r>
              <a:rPr lang="en-IN" sz="1800" dirty="0" err="1">
                <a:solidFill>
                  <a:srgbClr val="FF0000"/>
                </a:solidFill>
                <a:latin typeface="Times New Roman" pitchFamily="18" charset="0"/>
                <a:cs typeface="Times New Roman" pitchFamily="18" charset="0"/>
              </a:rPr>
              <a:t>supplyed</a:t>
            </a:r>
            <a:r>
              <a:rPr lang="en-IN" sz="1800" dirty="0">
                <a:solidFill>
                  <a:srgbClr val="FF0000"/>
                </a:solidFill>
                <a:latin typeface="Times New Roman" pitchFamily="18" charset="0"/>
                <a:cs typeface="Times New Roman" pitchFamily="18" charset="0"/>
              </a:rPr>
              <a:t> branded </a:t>
            </a:r>
            <a:r>
              <a:rPr lang="en-IN" sz="1800" b="1" dirty="0">
                <a:solidFill>
                  <a:srgbClr val="FF0000"/>
                </a:solidFill>
                <a:latin typeface="Times New Roman" pitchFamily="18" charset="0"/>
                <a:cs typeface="Times New Roman" pitchFamily="18" charset="0"/>
              </a:rPr>
              <a:t>headphones</a:t>
            </a:r>
            <a:r>
              <a:rPr lang="en-IN" sz="1800" b="1" dirty="0">
                <a:latin typeface="Times New Roman" pitchFamily="18" charset="0"/>
                <a:cs typeface="Times New Roman" pitchFamily="18" charset="0"/>
              </a:rPr>
              <a:t>. </a:t>
            </a:r>
            <a:r>
              <a:rPr lang="en-IN" sz="1800" dirty="0">
                <a:latin typeface="Times New Roman" pitchFamily="18" charset="0"/>
                <a:cs typeface="Times New Roman" pitchFamily="18" charset="0"/>
              </a:rPr>
              <a:t>Besides having </a:t>
            </a:r>
            <a:r>
              <a:rPr lang="en-IN" sz="1800" dirty="0">
                <a:solidFill>
                  <a:srgbClr val="FF0000"/>
                </a:solidFill>
                <a:latin typeface="Times New Roman" pitchFamily="18" charset="0"/>
                <a:cs typeface="Times New Roman" pitchFamily="18" charset="0"/>
              </a:rPr>
              <a:t>pre-recorded </a:t>
            </a:r>
            <a:r>
              <a:rPr lang="en-IN" sz="1800" dirty="0" err="1">
                <a:solidFill>
                  <a:srgbClr val="FF0000"/>
                </a:solidFill>
                <a:latin typeface="Times New Roman" pitchFamily="18" charset="0"/>
                <a:cs typeface="Times New Roman" pitchFamily="18" charset="0"/>
              </a:rPr>
              <a:t>bhajans</a:t>
            </a:r>
            <a:r>
              <a:rPr lang="en-IN" sz="1800" dirty="0">
                <a:solidFill>
                  <a:srgbClr val="FF0000"/>
                </a:solidFill>
                <a:latin typeface="Times New Roman" pitchFamily="18" charset="0"/>
                <a:cs typeface="Times New Roman" pitchFamily="18" charset="0"/>
              </a:rPr>
              <a:t> </a:t>
            </a:r>
            <a:r>
              <a:rPr lang="en-IN" sz="1800" dirty="0">
                <a:latin typeface="Times New Roman" pitchFamily="18" charset="0"/>
                <a:cs typeface="Times New Roman" pitchFamily="18" charset="0"/>
              </a:rPr>
              <a:t>and </a:t>
            </a:r>
            <a:r>
              <a:rPr lang="en-IN" sz="1800" dirty="0">
                <a:solidFill>
                  <a:srgbClr val="FF0000"/>
                </a:solidFill>
                <a:latin typeface="Times New Roman" pitchFamily="18" charset="0"/>
                <a:cs typeface="Times New Roman" pitchFamily="18" charset="0"/>
              </a:rPr>
              <a:t>commercial messaging</a:t>
            </a:r>
            <a:r>
              <a:rPr lang="en-IN" sz="1800" dirty="0">
                <a:latin typeface="Times New Roman" pitchFamily="18" charset="0"/>
                <a:cs typeface="Times New Roman" pitchFamily="18" charset="0"/>
              </a:rPr>
              <a:t>, they also doubled up as </a:t>
            </a:r>
            <a:r>
              <a:rPr lang="en-IN" sz="1800" b="1" dirty="0">
                <a:latin typeface="Times New Roman" pitchFamily="18" charset="0"/>
                <a:cs typeface="Times New Roman" pitchFamily="18" charset="0"/>
              </a:rPr>
              <a:t>earmuffs.</a:t>
            </a: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solidFill>
                  <a:srgbClr val="FF0000"/>
                </a:solidFill>
                <a:latin typeface="Times New Roman" pitchFamily="18" charset="0"/>
                <a:cs typeface="Times New Roman" pitchFamily="18" charset="0"/>
              </a:rPr>
              <a:t>At the </a:t>
            </a:r>
            <a:r>
              <a:rPr lang="en-IN" sz="1800" dirty="0" err="1">
                <a:solidFill>
                  <a:srgbClr val="FF0000"/>
                </a:solidFill>
                <a:latin typeface="Times New Roman" pitchFamily="18" charset="0"/>
                <a:cs typeface="Times New Roman" pitchFamily="18" charset="0"/>
              </a:rPr>
              <a:t>Maha</a:t>
            </a:r>
            <a:r>
              <a:rPr lang="en-IN" sz="1800" dirty="0">
                <a:solidFill>
                  <a:srgbClr val="FF0000"/>
                </a:solidFill>
                <a:latin typeface="Times New Roman" pitchFamily="18" charset="0"/>
                <a:cs typeface="Times New Roman" pitchFamily="18" charset="0"/>
              </a:rPr>
              <a:t> </a:t>
            </a:r>
            <a:r>
              <a:rPr lang="en-IN" sz="1800" dirty="0" err="1" smtClean="0">
                <a:solidFill>
                  <a:srgbClr val="FF0000"/>
                </a:solidFill>
                <a:latin typeface="Times New Roman" pitchFamily="18" charset="0"/>
                <a:cs typeface="Times New Roman" pitchFamily="18" charset="0"/>
              </a:rPr>
              <a:t>Kumbh</a:t>
            </a:r>
            <a:r>
              <a:rPr lang="en-IN" sz="1800" dirty="0" smtClean="0">
                <a:solidFill>
                  <a:srgbClr val="FF0000"/>
                </a:solidFill>
                <a:latin typeface="Times New Roman" pitchFamily="18" charset="0"/>
                <a:cs typeface="Times New Roman" pitchFamily="18" charset="0"/>
              </a:rPr>
              <a:t>, </a:t>
            </a:r>
            <a:r>
              <a:rPr lang="en-IN" sz="1800" dirty="0">
                <a:latin typeface="Times New Roman" pitchFamily="18" charset="0"/>
                <a:cs typeface="Times New Roman" pitchFamily="18" charset="0"/>
              </a:rPr>
              <a:t>people were </a:t>
            </a:r>
            <a:r>
              <a:rPr lang="en-IN" sz="1800" dirty="0">
                <a:solidFill>
                  <a:srgbClr val="FF0000"/>
                </a:solidFill>
                <a:latin typeface="Times New Roman" pitchFamily="18" charset="0"/>
                <a:cs typeface="Times New Roman" pitchFamily="18" charset="0"/>
              </a:rPr>
              <a:t>camping out </a:t>
            </a:r>
            <a:r>
              <a:rPr lang="en-IN" sz="1800" dirty="0">
                <a:latin typeface="Times New Roman" pitchFamily="18" charset="0"/>
                <a:cs typeface="Times New Roman" pitchFamily="18" charset="0"/>
              </a:rPr>
              <a:t>and </a:t>
            </a:r>
            <a:r>
              <a:rPr lang="en-IN" sz="1800" b="1" dirty="0" err="1">
                <a:solidFill>
                  <a:srgbClr val="FF0000"/>
                </a:solidFill>
                <a:latin typeface="Times New Roman" pitchFamily="18" charset="0"/>
                <a:cs typeface="Times New Roman" pitchFamily="18" charset="0"/>
              </a:rPr>
              <a:t>Odomos</a:t>
            </a:r>
            <a:r>
              <a:rPr lang="en-IN" sz="1800" b="1" dirty="0">
                <a:latin typeface="Times New Roman" pitchFamily="18" charset="0"/>
                <a:cs typeface="Times New Roman" pitchFamily="18" charset="0"/>
              </a:rPr>
              <a:t> </a:t>
            </a:r>
            <a:r>
              <a:rPr lang="en-IN" sz="1800" dirty="0">
                <a:latin typeface="Times New Roman" pitchFamily="18" charset="0"/>
                <a:cs typeface="Times New Roman" pitchFamily="18" charset="0"/>
              </a:rPr>
              <a:t>is the only protection against </a:t>
            </a:r>
            <a:r>
              <a:rPr lang="en-IN" sz="1800" dirty="0">
                <a:solidFill>
                  <a:srgbClr val="FF0000"/>
                </a:solidFill>
                <a:latin typeface="Times New Roman" pitchFamily="18" charset="0"/>
                <a:cs typeface="Times New Roman" pitchFamily="18" charset="0"/>
              </a:rPr>
              <a:t>mosquitos</a:t>
            </a:r>
            <a:r>
              <a:rPr lang="en-IN" sz="1800" dirty="0">
                <a:latin typeface="Times New Roman" pitchFamily="18" charset="0"/>
                <a:cs typeface="Times New Roman" pitchFamily="18" charset="0"/>
              </a:rPr>
              <a:t> that works both outdoors and indoors</a:t>
            </a:r>
            <a:r>
              <a:rPr lang="en-IN" sz="1800" dirty="0">
                <a:solidFill>
                  <a:srgbClr val="FF0000"/>
                </a:solidFill>
                <a:latin typeface="Times New Roman" pitchFamily="18" charset="0"/>
                <a:cs typeface="Times New Roman" pitchFamily="18" charset="0"/>
              </a:rPr>
              <a:t>. </a:t>
            </a:r>
            <a:r>
              <a:rPr lang="en-IN" sz="1800" b="1" dirty="0" err="1">
                <a:latin typeface="Times New Roman" pitchFamily="18" charset="0"/>
                <a:cs typeface="Times New Roman" pitchFamily="18" charset="0"/>
              </a:rPr>
              <a:t>Dabur</a:t>
            </a:r>
            <a:r>
              <a:rPr lang="en-IN" sz="1800" dirty="0">
                <a:solidFill>
                  <a:srgbClr val="FF0000"/>
                </a:solidFill>
                <a:latin typeface="Times New Roman" pitchFamily="18" charset="0"/>
                <a:cs typeface="Times New Roman" pitchFamily="18" charset="0"/>
              </a:rPr>
              <a:t> </a:t>
            </a:r>
            <a:r>
              <a:rPr lang="en-IN" sz="1800" dirty="0">
                <a:latin typeface="Times New Roman" pitchFamily="18" charset="0"/>
                <a:cs typeface="Times New Roman" pitchFamily="18" charset="0"/>
              </a:rPr>
              <a:t>distributed it extensively in sachets.</a:t>
            </a:r>
            <a:br>
              <a:rPr lang="en-IN" sz="1800" dirty="0">
                <a:latin typeface="Times New Roman" pitchFamily="18" charset="0"/>
                <a:cs typeface="Times New Roman" pitchFamily="18" charset="0"/>
              </a:rPr>
            </a:br>
            <a:r>
              <a:rPr lang="en-IN" sz="2000" dirty="0">
                <a:latin typeface="Times New Roman" pitchFamily="18" charset="0"/>
                <a:cs typeface="Times New Roman" pitchFamily="18" charset="0"/>
              </a:rPr>
              <a:t/>
            </a:r>
            <a:br>
              <a:rPr lang="en-IN" sz="2000" dirty="0">
                <a:latin typeface="Times New Roman" pitchFamily="18" charset="0"/>
                <a:cs typeface="Times New Roman" pitchFamily="18" charset="0"/>
              </a:rPr>
            </a:br>
            <a:r>
              <a:rPr lang="en-IN" sz="2000" dirty="0">
                <a:solidFill>
                  <a:srgbClr val="FF0000"/>
                </a:solidFill>
                <a:latin typeface="Times New Roman" pitchFamily="18" charset="0"/>
                <a:cs typeface="Times New Roman" pitchFamily="18" charset="0"/>
              </a:rPr>
              <a:t>At the </a:t>
            </a:r>
            <a:r>
              <a:rPr lang="en-IN" sz="2000" dirty="0" err="1" smtClean="0">
                <a:solidFill>
                  <a:srgbClr val="FF0000"/>
                </a:solidFill>
                <a:latin typeface="Times New Roman" pitchFamily="18" charset="0"/>
                <a:cs typeface="Times New Roman" pitchFamily="18" charset="0"/>
              </a:rPr>
              <a:t>Kumbh</a:t>
            </a:r>
            <a:r>
              <a:rPr lang="en-IN" sz="2000" dirty="0" smtClean="0">
                <a:solidFill>
                  <a:srgbClr val="FF0000"/>
                </a:solidFill>
                <a:latin typeface="Times New Roman" pitchFamily="18" charset="0"/>
                <a:cs typeface="Times New Roman" pitchFamily="18" charset="0"/>
              </a:rPr>
              <a:t> </a:t>
            </a:r>
            <a:r>
              <a:rPr lang="en-IN" sz="2000" dirty="0" err="1">
                <a:solidFill>
                  <a:srgbClr val="FF0000"/>
                </a:solidFill>
                <a:latin typeface="Times New Roman" pitchFamily="18" charset="0"/>
                <a:cs typeface="Times New Roman" pitchFamily="18" charset="0"/>
              </a:rPr>
              <a:t>Mela</a:t>
            </a:r>
            <a:r>
              <a:rPr lang="en-IN" sz="2000" dirty="0">
                <a:solidFill>
                  <a:srgbClr val="FF0000"/>
                </a:solidFill>
                <a:latin typeface="Times New Roman" pitchFamily="18" charset="0"/>
                <a:cs typeface="Times New Roman" pitchFamily="18" charset="0"/>
              </a:rPr>
              <a:t> in </a:t>
            </a:r>
            <a:r>
              <a:rPr lang="en-IN" sz="2000" dirty="0" err="1">
                <a:solidFill>
                  <a:srgbClr val="FF0000"/>
                </a:solidFill>
                <a:latin typeface="Times New Roman" pitchFamily="18" charset="0"/>
                <a:cs typeface="Times New Roman" pitchFamily="18" charset="0"/>
              </a:rPr>
              <a:t>Nashik</a:t>
            </a:r>
            <a:r>
              <a:rPr lang="en-IN" sz="2000" dirty="0">
                <a:solidFill>
                  <a:srgbClr val="FF0000"/>
                </a:solidFill>
                <a:latin typeface="Times New Roman" pitchFamily="18" charset="0"/>
                <a:cs typeface="Times New Roman" pitchFamily="18" charset="0"/>
              </a:rPr>
              <a:t>, </a:t>
            </a:r>
            <a:r>
              <a:rPr lang="en-IN" sz="2000" b="1" dirty="0" err="1">
                <a:solidFill>
                  <a:srgbClr val="FF0000"/>
                </a:solidFill>
                <a:latin typeface="Times New Roman" pitchFamily="18" charset="0"/>
                <a:cs typeface="Times New Roman" pitchFamily="18" charset="0"/>
              </a:rPr>
              <a:t>Dabur's</a:t>
            </a:r>
            <a:r>
              <a:rPr lang="en-IN" sz="2000" b="1" dirty="0">
                <a:solidFill>
                  <a:srgbClr val="FF0000"/>
                </a:solidFill>
                <a:latin typeface="Times New Roman" pitchFamily="18" charset="0"/>
                <a:cs typeface="Times New Roman" pitchFamily="18" charset="0"/>
              </a:rPr>
              <a:t> </a:t>
            </a:r>
            <a:r>
              <a:rPr lang="en-IN" sz="2000" dirty="0">
                <a:solidFill>
                  <a:srgbClr val="FF0000"/>
                </a:solidFill>
                <a:latin typeface="Times New Roman" pitchFamily="18" charset="0"/>
                <a:cs typeface="Times New Roman" pitchFamily="18" charset="0"/>
              </a:rPr>
              <a:t>digestive brand </a:t>
            </a:r>
            <a:r>
              <a:rPr lang="en-IN" sz="2000" b="1" dirty="0" err="1">
                <a:latin typeface="Times New Roman" pitchFamily="18" charset="0"/>
                <a:cs typeface="Times New Roman" pitchFamily="18" charset="0"/>
              </a:rPr>
              <a:t>Hajmola</a:t>
            </a:r>
            <a:r>
              <a:rPr lang="en-IN" sz="2000" dirty="0">
                <a:solidFill>
                  <a:srgbClr val="FF0000"/>
                </a:solidFill>
                <a:latin typeface="Times New Roman" pitchFamily="18" charset="0"/>
                <a:cs typeface="Times New Roman" pitchFamily="18" charset="0"/>
              </a:rPr>
              <a:t> is being sampled at all large eateries.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7794378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itchFamily="18" charset="0"/>
                <a:cs typeface="Times New Roman" pitchFamily="18" charset="0"/>
              </a:rPr>
              <a:t/>
            </a:r>
            <a:br>
              <a:rPr lang="en-IN" b="1" dirty="0">
                <a:latin typeface="Times New Roman" pitchFamily="18" charset="0"/>
                <a:cs typeface="Times New Roman" pitchFamily="18" charset="0"/>
              </a:rPr>
            </a:br>
            <a:endParaRPr lang="en-IN" b="1" dirty="0">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0695" y="1197968"/>
            <a:ext cx="2664296" cy="510951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8468" y="2310781"/>
            <a:ext cx="2300813" cy="3494112"/>
          </a:xfrm>
          <a:prstGeom prst="rect">
            <a:avLst/>
          </a:prstGeom>
        </p:spPr>
      </p:pic>
      <p:pic>
        <p:nvPicPr>
          <p:cNvPr id="6" name="Picture 3" descr="C:\Users\Administrator\Desktop\images (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3115" y="3017838"/>
            <a:ext cx="2825286" cy="14126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Administrator\Desktop\images.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9692" y="1043351"/>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Administrator\Desktop\images (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3115" y="4804768"/>
            <a:ext cx="2895600" cy="15811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620695" y="174104"/>
            <a:ext cx="9276496" cy="646331"/>
          </a:xfrm>
          <a:prstGeom prst="rect">
            <a:avLst/>
          </a:prstGeom>
        </p:spPr>
        <p:txBody>
          <a:bodyPr wrap="square">
            <a:spAutoFit/>
          </a:bodyPr>
          <a:lstStyle/>
          <a:p>
            <a:r>
              <a:rPr lang="en-IN" dirty="0">
                <a:solidFill>
                  <a:srgbClr val="FF0000"/>
                </a:solidFill>
                <a:latin typeface="Times New Roman" pitchFamily="18" charset="0"/>
                <a:cs typeface="Times New Roman" pitchFamily="18" charset="0"/>
              </a:rPr>
              <a:t>Pepper sprays to stun guns, from keychain alarms to folding credit card knives, the self-defence </a:t>
            </a:r>
            <a:r>
              <a:rPr lang="en-IN" dirty="0">
                <a:latin typeface="Times New Roman" pitchFamily="18" charset="0"/>
                <a:cs typeface="Times New Roman" pitchFamily="18" charset="0"/>
              </a:rPr>
              <a:t>market is taking baby steps in a largely untapped market.</a:t>
            </a:r>
            <a:endParaRPr lang="en-IN" dirty="0"/>
          </a:p>
        </p:txBody>
      </p:sp>
    </p:spTree>
    <p:extLst>
      <p:ext uri="{BB962C8B-B14F-4D97-AF65-F5344CB8AC3E}">
        <p14:creationId xmlns:p14="http://schemas.microsoft.com/office/powerpoint/2010/main" val="20675859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2970"/>
            <a:ext cx="11391900" cy="5760640"/>
          </a:xfrm>
        </p:spPr>
        <p:txBody>
          <a:bodyPr>
            <a:noAutofit/>
          </a:bodyPr>
          <a:lstStyle/>
          <a:p>
            <a:pPr algn="l"/>
            <a:r>
              <a:rPr lang="en-IN" sz="2800" b="1" dirty="0">
                <a:latin typeface="Times New Roman" pitchFamily="18" charset="0"/>
                <a:cs typeface="Times New Roman" pitchFamily="18" charset="0"/>
              </a:rPr>
              <a:t/>
            </a:r>
            <a:br>
              <a:rPr lang="en-IN" sz="2800" b="1" dirty="0">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Young women  - job offers in Delhi </a:t>
            </a:r>
            <a:r>
              <a:rPr lang="en-IN" sz="1600" dirty="0">
                <a:latin typeface="Times New Roman" pitchFamily="18" charset="0"/>
                <a:cs typeface="Times New Roman" pitchFamily="18" charset="0"/>
              </a:rPr>
              <a:t>and its suburbs.</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Abroad--parents raise no </a:t>
            </a:r>
            <a:r>
              <a:rPr lang="en-IN" sz="1600" dirty="0">
                <a:solidFill>
                  <a:srgbClr val="FF0000"/>
                </a:solidFill>
                <a:latin typeface="Times New Roman" pitchFamily="18" charset="0"/>
                <a:cs typeface="Times New Roman" pitchFamily="18" charset="0"/>
              </a:rPr>
              <a:t>objections-</a:t>
            </a:r>
            <a:r>
              <a:rPr lang="en-IN" sz="1600" dirty="0">
                <a:latin typeface="Times New Roman" pitchFamily="18" charset="0"/>
                <a:cs typeface="Times New Roman" pitchFamily="18" charset="0"/>
              </a:rPr>
              <a:t> Delhi in </a:t>
            </a:r>
            <a:r>
              <a:rPr lang="en-IN" sz="1600" dirty="0">
                <a:solidFill>
                  <a:srgbClr val="FF0000"/>
                </a:solidFill>
                <a:latin typeface="Times New Roman" pitchFamily="18" charset="0"/>
                <a:cs typeface="Times New Roman" pitchFamily="18" charset="0"/>
              </a:rPr>
              <a:t>her own car- </a:t>
            </a:r>
            <a:r>
              <a:rPr lang="en-IN" sz="1600" dirty="0">
                <a:latin typeface="Times New Roman" pitchFamily="18" charset="0"/>
                <a:cs typeface="Times New Roman" pitchFamily="18" charset="0"/>
              </a:rPr>
              <a:t>firearm is the only way "I'd feel truly safe in the city".</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smtClean="0">
                <a:latin typeface="Times New Roman" pitchFamily="18" charset="0"/>
                <a:cs typeface="Times New Roman" pitchFamily="18" charset="0"/>
              </a:rPr>
              <a:t>Women </a:t>
            </a:r>
            <a:r>
              <a:rPr lang="en-IN" sz="1600" dirty="0">
                <a:latin typeface="Times New Roman" pitchFamily="18" charset="0"/>
                <a:cs typeface="Times New Roman" pitchFamily="18" charset="0"/>
              </a:rPr>
              <a:t>in Delhi have over </a:t>
            </a:r>
            <a:r>
              <a:rPr lang="en-IN" sz="1600" dirty="0">
                <a:solidFill>
                  <a:srgbClr val="FF0000"/>
                </a:solidFill>
                <a:latin typeface="Times New Roman" pitchFamily="18" charset="0"/>
                <a:cs typeface="Times New Roman" pitchFamily="18" charset="0"/>
              </a:rPr>
              <a:t>15 safety apps </a:t>
            </a:r>
            <a:r>
              <a:rPr lang="en-IN" sz="1600" dirty="0">
                <a:latin typeface="Times New Roman" pitchFamily="18" charset="0"/>
                <a:cs typeface="Times New Roman" pitchFamily="18" charset="0"/>
              </a:rPr>
              <a:t>to choose from. Most of them </a:t>
            </a:r>
            <a:r>
              <a:rPr lang="en-IN" sz="1600" dirty="0">
                <a:solidFill>
                  <a:srgbClr val="FF0000"/>
                </a:solidFill>
                <a:latin typeface="Times New Roman" pitchFamily="18" charset="0"/>
                <a:cs typeface="Times New Roman" pitchFamily="18" charset="0"/>
              </a:rPr>
              <a:t>alert a list of emergency contacts</a:t>
            </a:r>
            <a:r>
              <a:rPr lang="en-IN" sz="1600" dirty="0">
                <a:latin typeface="Times New Roman" pitchFamily="18" charset="0"/>
                <a:cs typeface="Times New Roman" pitchFamily="18" charset="0"/>
              </a:rPr>
              <a:t>, and transmit the </a:t>
            </a:r>
            <a:r>
              <a:rPr lang="en-IN" sz="1600" dirty="0">
                <a:solidFill>
                  <a:srgbClr val="FF0000"/>
                </a:solidFill>
                <a:latin typeface="Times New Roman" pitchFamily="18" charset="0"/>
                <a:cs typeface="Times New Roman" pitchFamily="18" charset="0"/>
              </a:rPr>
              <a:t>victim's location through GPS. </a:t>
            </a:r>
            <a:r>
              <a:rPr lang="en-IN" sz="1600" dirty="0">
                <a:latin typeface="Times New Roman" pitchFamily="18" charset="0"/>
                <a:cs typeface="Times New Roman" pitchFamily="18" charset="0"/>
              </a:rPr>
              <a:t>The newer of these don't even require the app to be opened - for instance, </a:t>
            </a:r>
            <a:r>
              <a:rPr lang="en-IN" sz="2000" dirty="0">
                <a:solidFill>
                  <a:srgbClr val="FF0000"/>
                </a:solidFill>
                <a:latin typeface="Times New Roman" pitchFamily="18" charset="0"/>
                <a:cs typeface="Times New Roman" pitchFamily="18" charset="0"/>
              </a:rPr>
              <a:t>just shaking the phone three times activates the emergency contacts</a:t>
            </a:r>
            <a:r>
              <a:rPr lang="en-IN" sz="2000" dirty="0">
                <a:latin typeface="Times New Roman" pitchFamily="18" charset="0"/>
                <a:cs typeface="Times New Roman" pitchFamily="18" charset="0"/>
              </a:rPr>
              <a:t>. </a:t>
            </a: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Delhi Police </a:t>
            </a:r>
            <a:r>
              <a:rPr lang="en-IN" sz="1600" dirty="0">
                <a:latin typeface="Times New Roman" pitchFamily="18" charset="0"/>
                <a:cs typeface="Times New Roman" pitchFamily="18" charset="0"/>
              </a:rPr>
              <a:t>launched a </a:t>
            </a:r>
            <a:r>
              <a:rPr lang="en-IN" sz="1600" dirty="0">
                <a:solidFill>
                  <a:srgbClr val="FF0000"/>
                </a:solidFill>
                <a:latin typeface="Times New Roman" pitchFamily="18" charset="0"/>
                <a:cs typeface="Times New Roman" pitchFamily="18" charset="0"/>
              </a:rPr>
              <a:t>safety app called </a:t>
            </a:r>
            <a:r>
              <a:rPr lang="en-IN" sz="1600" dirty="0" err="1">
                <a:solidFill>
                  <a:srgbClr val="FF0000"/>
                </a:solidFill>
                <a:latin typeface="Times New Roman" pitchFamily="18" charset="0"/>
                <a:cs typeface="Times New Roman" pitchFamily="18" charset="0"/>
              </a:rPr>
              <a:t>Himmat</a:t>
            </a:r>
            <a:r>
              <a:rPr lang="en-IN" sz="1600" dirty="0">
                <a:solidFill>
                  <a:srgbClr val="FF0000"/>
                </a:solidFill>
                <a:latin typeface="Times New Roman" pitchFamily="18" charset="0"/>
                <a:cs typeface="Times New Roman" pitchFamily="18" charset="0"/>
              </a:rPr>
              <a:t>, </a:t>
            </a:r>
            <a:r>
              <a:rPr lang="en-IN" sz="1600" dirty="0">
                <a:latin typeface="Times New Roman" pitchFamily="18" charset="0"/>
                <a:cs typeface="Times New Roman" pitchFamily="18" charset="0"/>
              </a:rPr>
              <a:t>The police have also launched </a:t>
            </a:r>
            <a:r>
              <a:rPr lang="en-IN" sz="1600" dirty="0" err="1">
                <a:latin typeface="Times New Roman" pitchFamily="18" charset="0"/>
                <a:cs typeface="Times New Roman" pitchFamily="18" charset="0"/>
              </a:rPr>
              <a:t>WhatsApp</a:t>
            </a:r>
            <a:r>
              <a:rPr lang="en-IN" sz="1600" dirty="0">
                <a:latin typeface="Times New Roman" pitchFamily="18" charset="0"/>
                <a:cs typeface="Times New Roman" pitchFamily="18" charset="0"/>
              </a:rPr>
              <a:t> and Hike groups where women can send photos of "undesirable elements". One way out is to learn self-defence.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smtClean="0">
                <a:latin typeface="Times New Roman" pitchFamily="18" charset="0"/>
                <a:cs typeface="Times New Roman" pitchFamily="18" charset="0"/>
              </a:rPr>
              <a:t>Offices </a:t>
            </a:r>
            <a:r>
              <a:rPr lang="en-IN" sz="1600" dirty="0">
                <a:latin typeface="Times New Roman" pitchFamily="18" charset="0"/>
                <a:cs typeface="Times New Roman" pitchFamily="18" charset="0"/>
              </a:rPr>
              <a:t>too want their women </a:t>
            </a:r>
            <a:r>
              <a:rPr lang="en-IN" sz="1600" dirty="0">
                <a:solidFill>
                  <a:srgbClr val="FF0000"/>
                </a:solidFill>
                <a:latin typeface="Times New Roman" pitchFamily="18" charset="0"/>
                <a:cs typeface="Times New Roman" pitchFamily="18" charset="0"/>
              </a:rPr>
              <a:t>employees to be prepared. Self Defence</a:t>
            </a:r>
            <a:r>
              <a:rPr lang="en-IN" sz="1600" dirty="0">
                <a:latin typeface="Times New Roman" pitchFamily="18" charset="0"/>
                <a:cs typeface="Times New Roman" pitchFamily="18" charset="0"/>
              </a:rPr>
              <a:t>, a private fitness company, has conducted close to 250 trainings for companies such as </a:t>
            </a:r>
            <a:r>
              <a:rPr lang="en-IN" sz="1600" dirty="0">
                <a:solidFill>
                  <a:srgbClr val="FF0000"/>
                </a:solidFill>
                <a:latin typeface="Times New Roman" pitchFamily="18" charset="0"/>
                <a:cs typeface="Times New Roman" pitchFamily="18" charset="0"/>
              </a:rPr>
              <a:t>HCL, Ranbaxy, Iris Software, IBM, Indigo Airlines</a:t>
            </a:r>
            <a:r>
              <a:rPr lang="en-IN" sz="1600" dirty="0">
                <a:latin typeface="Times New Roman" pitchFamily="18" charset="0"/>
                <a:cs typeface="Times New Roman" pitchFamily="18" charset="0"/>
              </a:rPr>
              <a:t> - a 60 per cent increase in the last three to five years.</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For many working women in the city, cabs have become a necessity - call a friend and </a:t>
            </a:r>
            <a:r>
              <a:rPr lang="en-IN" sz="1600" dirty="0">
                <a:solidFill>
                  <a:srgbClr val="FF0000"/>
                </a:solidFill>
                <a:latin typeface="Times New Roman" pitchFamily="18" charset="0"/>
                <a:cs typeface="Times New Roman" pitchFamily="18" charset="0"/>
              </a:rPr>
              <a:t>stay on the phone the entire duration </a:t>
            </a:r>
            <a:r>
              <a:rPr lang="en-IN" sz="1600" dirty="0">
                <a:latin typeface="Times New Roman" pitchFamily="18" charset="0"/>
                <a:cs typeface="Times New Roman" pitchFamily="18" charset="0"/>
              </a:rPr>
              <a:t>of the ride, keeping them updated about every turn the cab takes. There are many women who are taking up driving as well - to avoid cabs</a:t>
            </a:r>
            <a:r>
              <a:rPr lang="en-IN" sz="1600" dirty="0">
                <a:solidFill>
                  <a:srgbClr val="FF0000"/>
                </a:solidFill>
                <a:latin typeface="Times New Roman" pitchFamily="18" charset="0"/>
                <a:cs typeface="Times New Roman" pitchFamily="18" charset="0"/>
              </a:rPr>
              <a:t>. </a:t>
            </a:r>
            <a:r>
              <a:rPr lang="en-IN" sz="1600" dirty="0" err="1">
                <a:solidFill>
                  <a:srgbClr val="FF0000"/>
                </a:solidFill>
                <a:latin typeface="Times New Roman" pitchFamily="18" charset="0"/>
                <a:cs typeface="Times New Roman" pitchFamily="18" charset="0"/>
              </a:rPr>
              <a:t>Maruti</a:t>
            </a:r>
            <a:r>
              <a:rPr lang="en-IN" sz="1600" dirty="0">
                <a:solidFill>
                  <a:srgbClr val="FF0000"/>
                </a:solidFill>
                <a:latin typeface="Times New Roman" pitchFamily="18" charset="0"/>
                <a:cs typeface="Times New Roman" pitchFamily="18" charset="0"/>
              </a:rPr>
              <a:t> Suzuki </a:t>
            </a:r>
            <a:r>
              <a:rPr lang="en-IN" sz="1600" dirty="0">
                <a:latin typeface="Times New Roman" pitchFamily="18" charset="0"/>
                <a:cs typeface="Times New Roman" pitchFamily="18" charset="0"/>
              </a:rPr>
              <a:t>- </a:t>
            </a:r>
            <a:r>
              <a:rPr lang="en-IN" sz="1600" dirty="0">
                <a:solidFill>
                  <a:srgbClr val="FF0000"/>
                </a:solidFill>
                <a:latin typeface="Times New Roman" pitchFamily="18" charset="0"/>
                <a:cs typeface="Times New Roman" pitchFamily="18" charset="0"/>
              </a:rPr>
              <a:t>driving schools  </a:t>
            </a:r>
            <a:r>
              <a:rPr lang="en-IN" sz="1600" dirty="0">
                <a:latin typeface="Times New Roman" pitchFamily="18" charset="0"/>
                <a:cs typeface="Times New Roman" pitchFamily="18" charset="0"/>
              </a:rPr>
              <a:t>enrolment increased.</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err="1">
                <a:solidFill>
                  <a:srgbClr val="FF0000"/>
                </a:solidFill>
                <a:latin typeface="Times New Roman" pitchFamily="18" charset="0"/>
                <a:cs typeface="Times New Roman" pitchFamily="18" charset="0"/>
              </a:rPr>
              <a:t>Uber</a:t>
            </a:r>
            <a:r>
              <a:rPr lang="en-IN" sz="1600" dirty="0">
                <a:latin typeface="Times New Roman" pitchFamily="18" charset="0"/>
                <a:cs typeface="Times New Roman" pitchFamily="18" charset="0"/>
              </a:rPr>
              <a:t> claims to have tightened its security features, which includes "</a:t>
            </a:r>
            <a:r>
              <a:rPr lang="en-IN" sz="1600" dirty="0">
                <a:solidFill>
                  <a:srgbClr val="FF0000"/>
                </a:solidFill>
                <a:latin typeface="Times New Roman" pitchFamily="18" charset="0"/>
                <a:cs typeface="Times New Roman" pitchFamily="18" charset="0"/>
              </a:rPr>
              <a:t>re-verification of all driver partners with the police, additional background screening,</a:t>
            </a:r>
            <a:r>
              <a:rPr lang="en-IN" sz="1600" dirty="0">
                <a:latin typeface="Times New Roman" pitchFamily="18" charset="0"/>
                <a:cs typeface="Times New Roman" pitchFamily="18" charset="0"/>
              </a:rPr>
              <a:t> and the establishment of a dedicated local incident response team to handle critical situations". </a:t>
            </a: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
        <p:nvSpPr>
          <p:cNvPr id="3" name="Rectangle 2"/>
          <p:cNvSpPr/>
          <p:nvPr/>
        </p:nvSpPr>
        <p:spPr>
          <a:xfrm>
            <a:off x="5474025" y="438304"/>
            <a:ext cx="1377300" cy="369332"/>
          </a:xfrm>
          <a:prstGeom prst="rect">
            <a:avLst/>
          </a:prstGeom>
        </p:spPr>
        <p:txBody>
          <a:bodyPr wrap="none">
            <a:spAutoFit/>
          </a:bodyPr>
          <a:lstStyle/>
          <a:p>
            <a:r>
              <a:rPr lang="en-IN" b="1" dirty="0">
                <a:latin typeface="Times New Roman" pitchFamily="18" charset="0"/>
                <a:cs typeface="Times New Roman" pitchFamily="18" charset="0"/>
              </a:rPr>
              <a:t>Self-defence</a:t>
            </a:r>
            <a:endParaRPr lang="en-IN" dirty="0"/>
          </a:p>
        </p:txBody>
      </p:sp>
    </p:spTree>
    <p:extLst>
      <p:ext uri="{BB962C8B-B14F-4D97-AF65-F5344CB8AC3E}">
        <p14:creationId xmlns:p14="http://schemas.microsoft.com/office/powerpoint/2010/main" val="30056835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p:cNvSpPr>
            <a:spLocks noGrp="1"/>
          </p:cNvSpPr>
          <p:nvPr>
            <p:ph type="title"/>
          </p:nvPr>
        </p:nvSpPr>
        <p:spPr>
          <a:xfrm>
            <a:off x="1783491" y="436606"/>
            <a:ext cx="8229600" cy="861512"/>
          </a:xfrm>
        </p:spPr>
        <p:txBody>
          <a:bodyPr>
            <a:normAutofit/>
          </a:bodyPr>
          <a:lstStyle/>
          <a:p>
            <a:r>
              <a:rPr lang="en-IN" sz="3200" b="1" dirty="0">
                <a:latin typeface="Times New Roman" pitchFamily="18" charset="0"/>
                <a:cs typeface="Times New Roman" pitchFamily="18" charset="0"/>
              </a:rPr>
              <a:t>Natural</a:t>
            </a:r>
            <a:r>
              <a:rPr lang="en-IN" sz="1100" dirty="0" smtClean="0">
                <a:solidFill>
                  <a:schemeClr val="tx1"/>
                </a:solidFill>
                <a:latin typeface="Times New Roman" pitchFamily="18" charset="0"/>
                <a:cs typeface="Times New Roman" pitchFamily="18" charset="0"/>
              </a:rPr>
              <a:t/>
            </a:r>
            <a:br>
              <a:rPr lang="en-IN" sz="1100" dirty="0" smtClean="0">
                <a:solidFill>
                  <a:schemeClr val="tx1"/>
                </a:solidFill>
                <a:latin typeface="Times New Roman" pitchFamily="18" charset="0"/>
                <a:cs typeface="Times New Roman" pitchFamily="18" charset="0"/>
              </a:rPr>
            </a:br>
            <a:endParaRPr lang="en-IN" sz="1100" dirty="0">
              <a:solidFill>
                <a:schemeClr val="tx1"/>
              </a:solidFill>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8311" y="1772915"/>
            <a:ext cx="2632066" cy="189079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5316" y="3663712"/>
            <a:ext cx="2974965" cy="171106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830" y="1390459"/>
            <a:ext cx="2635003" cy="190081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60408" y="1737543"/>
            <a:ext cx="2974965" cy="1961539"/>
          </a:xfrm>
          <a:prstGeom prst="rect">
            <a:avLst/>
          </a:prstGeom>
        </p:spPr>
      </p:pic>
    </p:spTree>
    <p:extLst>
      <p:ext uri="{BB962C8B-B14F-4D97-AF65-F5344CB8AC3E}">
        <p14:creationId xmlns:p14="http://schemas.microsoft.com/office/powerpoint/2010/main" val="26266404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962024" y="638175"/>
            <a:ext cx="10734674" cy="465772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400" b="1" dirty="0">
                <a:latin typeface="Times New Roman" pitchFamily="18" charset="0"/>
                <a:cs typeface="Times New Roman" pitchFamily="18" charset="0"/>
              </a:rPr>
              <a:t>Coca-Cola production-cut </a:t>
            </a:r>
            <a:endParaRPr lang="en-IN" sz="2400" b="1" dirty="0" smtClean="0">
              <a:latin typeface="Times New Roman" pitchFamily="18" charset="0"/>
              <a:cs typeface="Times New Roman" pitchFamily="18" charset="0"/>
            </a:endParaRPr>
          </a:p>
          <a:p>
            <a:pPr algn="l"/>
            <a:r>
              <a:rPr lang="en-IN" sz="2000" dirty="0" err="1" smtClean="0">
                <a:solidFill>
                  <a:srgbClr val="FF0000"/>
                </a:solidFill>
                <a:latin typeface="Times New Roman" pitchFamily="18" charset="0"/>
                <a:cs typeface="Times New Roman" pitchFamily="18" charset="0"/>
              </a:rPr>
              <a:t>Replan</a:t>
            </a:r>
            <a:r>
              <a:rPr lang="en-IN" sz="2000" dirty="0" smtClean="0">
                <a:solidFill>
                  <a:srgbClr val="FF0000"/>
                </a:solidFill>
                <a:latin typeface="Times New Roman" pitchFamily="18" charset="0"/>
                <a:cs typeface="Times New Roman" pitchFamily="18" charset="0"/>
              </a:rPr>
              <a:t> </a:t>
            </a:r>
            <a:r>
              <a:rPr lang="en-IN" sz="2000" dirty="0">
                <a:solidFill>
                  <a:srgbClr val="FF0000"/>
                </a:solidFill>
                <a:latin typeface="Times New Roman" pitchFamily="18" charset="0"/>
                <a:cs typeface="Times New Roman" pitchFamily="18" charset="0"/>
              </a:rPr>
              <a:t>production for the quarter- which had to cut back production cycles running </a:t>
            </a:r>
            <a:r>
              <a:rPr lang="en-IN" sz="2000" dirty="0">
                <a:latin typeface="Times New Roman" pitchFamily="18" charset="0"/>
                <a:cs typeface="Times New Roman" pitchFamily="18" charset="0"/>
              </a:rPr>
              <a:t>only </a:t>
            </a:r>
            <a:r>
              <a:rPr lang="en-IN" sz="2000" dirty="0" smtClean="0">
                <a:latin typeface="Times New Roman" pitchFamily="18" charset="0"/>
                <a:cs typeface="Times New Roman" pitchFamily="18" charset="0"/>
              </a:rPr>
              <a:t>two/three </a:t>
            </a:r>
            <a:r>
              <a:rPr lang="en-IN" sz="2000" dirty="0">
                <a:latin typeface="Times New Roman" pitchFamily="18" charset="0"/>
                <a:cs typeface="Times New Roman" pitchFamily="18" charset="0"/>
              </a:rPr>
              <a:t>days a week </a:t>
            </a:r>
            <a:r>
              <a:rPr lang="en-IN" sz="2000" dirty="0">
                <a:solidFill>
                  <a:srgbClr val="FF0000"/>
                </a:solidFill>
                <a:latin typeface="Times New Roman" pitchFamily="18" charset="0"/>
                <a:cs typeface="Times New Roman" pitchFamily="18" charset="0"/>
              </a:rPr>
              <a:t>at least for a limited time</a:t>
            </a:r>
            <a:r>
              <a:rPr lang="en-IN" sz="2000" dirty="0" smtClean="0">
                <a:solidFill>
                  <a:srgbClr val="FF0000"/>
                </a:solidFill>
                <a:latin typeface="Times New Roman" pitchFamily="18" charset="0"/>
                <a:cs typeface="Times New Roman" pitchFamily="18" charset="0"/>
              </a:rPr>
              <a:t>.</a:t>
            </a:r>
          </a:p>
          <a:p>
            <a:pPr algn="l"/>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smtClean="0">
                <a:latin typeface="Times New Roman" pitchFamily="18" charset="0"/>
                <a:cs typeface="Times New Roman" pitchFamily="18" charset="0"/>
              </a:rPr>
              <a:t>Apart </a:t>
            </a:r>
            <a:r>
              <a:rPr lang="en-IN" sz="1800" dirty="0">
                <a:latin typeface="Times New Roman" pitchFamily="18" charset="0"/>
                <a:cs typeface="Times New Roman" pitchFamily="18" charset="0"/>
              </a:rPr>
              <a:t>from a slowdown in spends, </a:t>
            </a:r>
            <a:r>
              <a:rPr lang="en-IN" sz="2400" b="1" dirty="0">
                <a:solidFill>
                  <a:srgbClr val="FF0000"/>
                </a:solidFill>
                <a:latin typeface="Times New Roman" pitchFamily="18" charset="0"/>
                <a:cs typeface="Times New Roman" pitchFamily="18" charset="0"/>
              </a:rPr>
              <a:t>unseasonal rain </a:t>
            </a:r>
            <a:r>
              <a:rPr lang="en-IN" sz="1400" b="1" dirty="0">
                <a:latin typeface="Times New Roman" pitchFamily="18" charset="0"/>
                <a:cs typeface="Times New Roman" pitchFamily="18" charset="0"/>
              </a:rPr>
              <a:t>has wreaked havoc on the sector, with the </a:t>
            </a:r>
            <a:r>
              <a:rPr lang="en-IN" sz="2000" b="1" dirty="0">
                <a:solidFill>
                  <a:srgbClr val="FF0000"/>
                </a:solidFill>
                <a:latin typeface="Times New Roman" pitchFamily="18" charset="0"/>
                <a:cs typeface="Times New Roman" pitchFamily="18" charset="0"/>
              </a:rPr>
              <a:t>window for sales having shrunk </a:t>
            </a:r>
            <a:r>
              <a:rPr lang="en-IN" sz="1800" b="1" dirty="0">
                <a:latin typeface="Times New Roman" pitchFamily="18" charset="0"/>
                <a:cs typeface="Times New Roman" pitchFamily="18" charset="0"/>
              </a:rPr>
              <a:t>considerably in the past </a:t>
            </a:r>
            <a:r>
              <a:rPr lang="en-IN" sz="1800" dirty="0">
                <a:latin typeface="Times New Roman" pitchFamily="18" charset="0"/>
                <a:cs typeface="Times New Roman" pitchFamily="18" charset="0"/>
              </a:rPr>
              <a:t>two years</a:t>
            </a:r>
            <a:r>
              <a:rPr lang="en-IN" sz="1800" dirty="0">
                <a:solidFill>
                  <a:srgbClr val="FF0000"/>
                </a:solidFill>
                <a:latin typeface="Times New Roman" pitchFamily="18" charset="0"/>
                <a:cs typeface="Times New Roman" pitchFamily="18" charset="0"/>
              </a:rPr>
              <a:t>. </a:t>
            </a:r>
            <a:br>
              <a:rPr lang="en-IN" sz="1800" dirty="0">
                <a:solidFill>
                  <a:srgbClr val="FF0000"/>
                </a:solidFill>
                <a:latin typeface="Times New Roman" pitchFamily="18" charset="0"/>
                <a:cs typeface="Times New Roman" pitchFamily="18" charset="0"/>
              </a:rPr>
            </a:br>
            <a:endParaRPr lang="en-IN" sz="1800" dirty="0" smtClean="0">
              <a:solidFill>
                <a:srgbClr val="FF0000"/>
              </a:solidFill>
              <a:latin typeface="Times New Roman" pitchFamily="18" charset="0"/>
              <a:cs typeface="Times New Roman" pitchFamily="18" charset="0"/>
            </a:endParaRPr>
          </a:p>
          <a:p>
            <a:pPr algn="l"/>
            <a:r>
              <a:rPr lang="en-IN" sz="1800" dirty="0" smtClean="0">
                <a:solidFill>
                  <a:srgbClr val="FF0000"/>
                </a:solidFill>
                <a:latin typeface="Times New Roman" pitchFamily="18" charset="0"/>
                <a:cs typeface="Times New Roman" pitchFamily="18" charset="0"/>
              </a:rPr>
              <a:t>Cool </a:t>
            </a:r>
            <a:r>
              <a:rPr lang="en-IN" sz="1800" dirty="0">
                <a:solidFill>
                  <a:srgbClr val="FF0000"/>
                </a:solidFill>
                <a:latin typeface="Times New Roman" pitchFamily="18" charset="0"/>
                <a:cs typeface="Times New Roman" pitchFamily="18" charset="0"/>
              </a:rPr>
              <a:t>and rainy weather conditions lasted through April </a:t>
            </a:r>
            <a:r>
              <a:rPr lang="en-IN" sz="1800" dirty="0">
                <a:latin typeface="Times New Roman" pitchFamily="18" charset="0"/>
                <a:cs typeface="Times New Roman" pitchFamily="18" charset="0"/>
              </a:rPr>
              <a:t>in most of the country, particularly northern markets, including Delhi-NCR, Punjab, Haryana, Uttar Pradesh and Himachal Pradesh, which contribute </a:t>
            </a:r>
            <a:r>
              <a:rPr lang="en-IN" sz="1800" dirty="0">
                <a:solidFill>
                  <a:srgbClr val="FF0000"/>
                </a:solidFill>
                <a:latin typeface="Times New Roman" pitchFamily="18" charset="0"/>
                <a:cs typeface="Times New Roman" pitchFamily="18" charset="0"/>
              </a:rPr>
              <a:t>close to </a:t>
            </a:r>
            <a:r>
              <a:rPr lang="en-IN" sz="3200" dirty="0">
                <a:solidFill>
                  <a:srgbClr val="FF0000"/>
                </a:solidFill>
                <a:latin typeface="Times New Roman" pitchFamily="18" charset="0"/>
                <a:cs typeface="Times New Roman" pitchFamily="18" charset="0"/>
              </a:rPr>
              <a:t>half </a:t>
            </a:r>
            <a:r>
              <a:rPr lang="en-IN" sz="1800" dirty="0">
                <a:solidFill>
                  <a:srgbClr val="FF0000"/>
                </a:solidFill>
                <a:latin typeface="Times New Roman" pitchFamily="18" charset="0"/>
                <a:cs typeface="Times New Roman" pitchFamily="18" charset="0"/>
              </a:rPr>
              <a:t>of national soft drinks sales. </a:t>
            </a: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endParaRPr lang="en-IN" sz="1800" dirty="0" smtClean="0">
              <a:latin typeface="Times New Roman" pitchFamily="18" charset="0"/>
              <a:cs typeface="Times New Roman" pitchFamily="18" charset="0"/>
            </a:endParaRPr>
          </a:p>
          <a:p>
            <a:pPr algn="l"/>
            <a:r>
              <a:rPr lang="en-IN" sz="1800" dirty="0" smtClean="0">
                <a:solidFill>
                  <a:srgbClr val="FF0000"/>
                </a:solidFill>
                <a:latin typeface="Times New Roman" pitchFamily="18" charset="0"/>
                <a:cs typeface="Times New Roman" pitchFamily="18" charset="0"/>
              </a:rPr>
              <a:t>April-June </a:t>
            </a:r>
            <a:r>
              <a:rPr lang="en-IN" sz="1800" dirty="0">
                <a:solidFill>
                  <a:srgbClr val="FF0000"/>
                </a:solidFill>
                <a:latin typeface="Times New Roman" pitchFamily="18" charset="0"/>
                <a:cs typeface="Times New Roman" pitchFamily="18" charset="0"/>
              </a:rPr>
              <a:t>is the peak season </a:t>
            </a:r>
            <a:r>
              <a:rPr lang="en-IN" sz="1800" dirty="0">
                <a:latin typeface="Times New Roman" pitchFamily="18" charset="0"/>
                <a:cs typeface="Times New Roman" pitchFamily="18" charset="0"/>
              </a:rPr>
              <a:t>for soft drinks industry in the country, contributing about </a:t>
            </a:r>
            <a:r>
              <a:rPr lang="en-IN" sz="1800" dirty="0">
                <a:solidFill>
                  <a:srgbClr val="FF0000"/>
                </a:solidFill>
                <a:latin typeface="Times New Roman" pitchFamily="18" charset="0"/>
                <a:cs typeface="Times New Roman" pitchFamily="18" charset="0"/>
              </a:rPr>
              <a:t>40% of annual sales estimated at over </a:t>
            </a:r>
            <a:r>
              <a:rPr lang="en-IN" sz="1800" dirty="0" err="1">
                <a:solidFill>
                  <a:srgbClr val="FF0000"/>
                </a:solidFill>
                <a:latin typeface="Times New Roman" pitchFamily="18" charset="0"/>
                <a:cs typeface="Times New Roman" pitchFamily="18" charset="0"/>
              </a:rPr>
              <a:t>Rs</a:t>
            </a:r>
            <a:r>
              <a:rPr lang="en-IN" sz="1800" dirty="0">
                <a:solidFill>
                  <a:srgbClr val="FF0000"/>
                </a:solidFill>
                <a:latin typeface="Times New Roman" pitchFamily="18" charset="0"/>
                <a:cs typeface="Times New Roman" pitchFamily="18" charset="0"/>
              </a:rPr>
              <a:t> 14,000 </a:t>
            </a:r>
            <a:r>
              <a:rPr lang="en-IN" sz="1800" dirty="0" err="1">
                <a:solidFill>
                  <a:srgbClr val="FF0000"/>
                </a:solidFill>
                <a:latin typeface="Times New Roman" pitchFamily="18" charset="0"/>
                <a:cs typeface="Times New Roman" pitchFamily="18" charset="0"/>
              </a:rPr>
              <a:t>crore</a:t>
            </a:r>
            <a:r>
              <a:rPr lang="en-IN" sz="1800" dirty="0">
                <a:solidFill>
                  <a:srgbClr val="FF0000"/>
                </a:solidFill>
                <a:latin typeface="Times New Roman" pitchFamily="18" charset="0"/>
                <a:cs typeface="Times New Roman" pitchFamily="18" charset="0"/>
              </a:rPr>
              <a:t>.</a:t>
            </a:r>
            <a:endParaRPr lang="en-IN" sz="1800" dirty="0">
              <a:solidFill>
                <a:srgbClr val="FF0000"/>
              </a:solidFill>
            </a:endParaRPr>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1714" y="5295900"/>
            <a:ext cx="2762110" cy="1257300"/>
          </a:xfrm>
          <a:prstGeom prst="rect">
            <a:avLst/>
          </a:prstGeom>
        </p:spPr>
      </p:pic>
      <p:sp>
        <p:nvSpPr>
          <p:cNvPr id="6" name="Rectangle 5"/>
          <p:cNvSpPr/>
          <p:nvPr/>
        </p:nvSpPr>
        <p:spPr>
          <a:xfrm>
            <a:off x="962024" y="5295900"/>
            <a:ext cx="7829689" cy="1415772"/>
          </a:xfrm>
          <a:prstGeom prst="rect">
            <a:avLst/>
          </a:prstGeom>
        </p:spPr>
        <p:txBody>
          <a:bodyPr wrap="square">
            <a:spAutoFit/>
          </a:bodyPr>
          <a:lstStyle/>
          <a:p>
            <a:r>
              <a:rPr lang="en-IN" sz="1600" dirty="0">
                <a:latin typeface="Times New Roman" pitchFamily="18" charset="0"/>
                <a:cs typeface="Times New Roman" pitchFamily="18" charset="0"/>
              </a:rPr>
              <a:t>The launch of </a:t>
            </a:r>
            <a:r>
              <a:rPr lang="en-IN" sz="1600" dirty="0" err="1">
                <a:solidFill>
                  <a:srgbClr val="FF0000"/>
                </a:solidFill>
                <a:latin typeface="Times New Roman" pitchFamily="18" charset="0"/>
                <a:cs typeface="Times New Roman" pitchFamily="18" charset="0"/>
              </a:rPr>
              <a:t>Fuze</a:t>
            </a:r>
            <a:r>
              <a:rPr lang="en-IN" sz="1600" dirty="0">
                <a:solidFill>
                  <a:srgbClr val="FF0000"/>
                </a:solidFill>
                <a:latin typeface="Times New Roman" pitchFamily="18" charset="0"/>
                <a:cs typeface="Times New Roman" pitchFamily="18" charset="0"/>
              </a:rPr>
              <a:t> tea </a:t>
            </a:r>
            <a:r>
              <a:rPr lang="en-IN" sz="1600" dirty="0">
                <a:latin typeface="Times New Roman" pitchFamily="18" charset="0"/>
                <a:cs typeface="Times New Roman" pitchFamily="18" charset="0"/>
              </a:rPr>
              <a:t>not only does it </a:t>
            </a:r>
            <a:r>
              <a:rPr lang="en-IN" sz="1600" dirty="0">
                <a:solidFill>
                  <a:srgbClr val="FF0000"/>
                </a:solidFill>
                <a:latin typeface="Times New Roman" pitchFamily="18" charset="0"/>
                <a:cs typeface="Times New Roman" pitchFamily="18" charset="0"/>
              </a:rPr>
              <a:t>reduce dependence on carbonated soft drinks</a:t>
            </a:r>
            <a:r>
              <a:rPr lang="en-IN" sz="1600" dirty="0">
                <a:latin typeface="Times New Roman" pitchFamily="18" charset="0"/>
                <a:cs typeface="Times New Roman" pitchFamily="18" charset="0"/>
              </a:rPr>
              <a:t>, it also </a:t>
            </a:r>
            <a:r>
              <a:rPr lang="en-IN" sz="2000" b="1" dirty="0">
                <a:solidFill>
                  <a:srgbClr val="FF0000"/>
                </a:solidFill>
                <a:latin typeface="Times New Roman" pitchFamily="18" charset="0"/>
                <a:cs typeface="Times New Roman" pitchFamily="18" charset="0"/>
              </a:rPr>
              <a:t>de-risks from seasonality </a:t>
            </a:r>
            <a:r>
              <a:rPr lang="en-IN" sz="1600" dirty="0">
                <a:latin typeface="Times New Roman" pitchFamily="18" charset="0"/>
                <a:cs typeface="Times New Roman" pitchFamily="18" charset="0"/>
              </a:rPr>
              <a:t>because </a:t>
            </a:r>
            <a:r>
              <a:rPr lang="en-IN" b="1" dirty="0">
                <a:latin typeface="Times New Roman" pitchFamily="18" charset="0"/>
                <a:cs typeface="Times New Roman" pitchFamily="18" charset="0"/>
              </a:rPr>
              <a:t>consumption of </a:t>
            </a:r>
            <a:r>
              <a:rPr lang="en-IN" b="1" dirty="0">
                <a:solidFill>
                  <a:srgbClr val="FF0000"/>
                </a:solidFill>
                <a:latin typeface="Times New Roman" pitchFamily="18" charset="0"/>
                <a:cs typeface="Times New Roman" pitchFamily="18" charset="0"/>
              </a:rPr>
              <a:t>tea isn't restricted to seasons</a:t>
            </a:r>
            <a:r>
              <a:rPr lang="en-IN" b="1" dirty="0">
                <a:latin typeface="Times New Roman" pitchFamily="18" charset="0"/>
                <a:cs typeface="Times New Roman" pitchFamily="18" charset="0"/>
              </a:rPr>
              <a:t>. </a:t>
            </a: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endParaRPr lang="en-IN" sz="1600" dirty="0"/>
          </a:p>
        </p:txBody>
      </p:sp>
    </p:spTree>
    <p:extLst>
      <p:ext uri="{BB962C8B-B14F-4D97-AF65-F5344CB8AC3E}">
        <p14:creationId xmlns:p14="http://schemas.microsoft.com/office/powerpoint/2010/main" val="2480656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36712"/>
            <a:ext cx="8229600" cy="1080120"/>
          </a:xfrm>
        </p:spPr>
        <p:txBody>
          <a:bodyPr>
            <a:noAutofit/>
          </a:bodyPr>
          <a:lstStyle/>
          <a:p>
            <a:r>
              <a:rPr lang="en-IN" sz="2800" b="1" dirty="0" smtClean="0">
                <a:solidFill>
                  <a:srgbClr val="FF0000"/>
                </a:solidFill>
                <a:latin typeface="Times New Roman" pitchFamily="18" charset="0"/>
                <a:cs typeface="Times New Roman" pitchFamily="18" charset="0"/>
              </a:rPr>
              <a:t>-</a:t>
            </a:r>
            <a:r>
              <a:rPr lang="en-IN" sz="2800" b="1" dirty="0" smtClean="0">
                <a:latin typeface="Times New Roman" pitchFamily="18" charset="0"/>
                <a:cs typeface="Times New Roman" pitchFamily="18" charset="0"/>
              </a:rPr>
              <a:t>Real Estate</a:t>
            </a:r>
            <a:r>
              <a:rPr lang="en-IN" sz="2800" b="1" dirty="0">
                <a:latin typeface="Times New Roman" pitchFamily="18" charset="0"/>
                <a:cs typeface="Times New Roman" pitchFamily="18" charset="0"/>
              </a:rPr>
              <a:t/>
            </a:r>
            <a:br>
              <a:rPr lang="en-IN" sz="2800" b="1" dirty="0">
                <a:latin typeface="Times New Roman" pitchFamily="18" charset="0"/>
                <a:cs typeface="Times New Roman" pitchFamily="18" charset="0"/>
              </a:rPr>
            </a:br>
            <a:endParaRPr lang="en-IN" sz="2800" dirty="0">
              <a:latin typeface="Times New Roman" pitchFamily="18" charset="0"/>
              <a:cs typeface="Times New Roman" pitchFamily="18" charset="0"/>
            </a:endParaRPr>
          </a:p>
        </p:txBody>
      </p:sp>
      <p:sp>
        <p:nvSpPr>
          <p:cNvPr id="3" name="Rectangle 2"/>
          <p:cNvSpPr/>
          <p:nvPr/>
        </p:nvSpPr>
        <p:spPr>
          <a:xfrm>
            <a:off x="800100" y="1734220"/>
            <a:ext cx="11001375" cy="3385542"/>
          </a:xfrm>
          <a:prstGeom prst="rect">
            <a:avLst/>
          </a:prstGeom>
        </p:spPr>
        <p:txBody>
          <a:bodyPr wrap="square">
            <a:spAutoFit/>
          </a:bodyPr>
          <a:lstStyle/>
          <a:p>
            <a:r>
              <a:rPr lang="en-IN" dirty="0">
                <a:latin typeface="Times New Roman" pitchFamily="18" charset="0"/>
                <a:cs typeface="Times New Roman" pitchFamily="18" charset="0"/>
              </a:rPr>
              <a:t>The </a:t>
            </a:r>
            <a:r>
              <a:rPr lang="en-IN" dirty="0">
                <a:solidFill>
                  <a:srgbClr val="FF0000"/>
                </a:solidFill>
                <a:latin typeface="Times New Roman" pitchFamily="18" charset="0"/>
                <a:cs typeface="Times New Roman" pitchFamily="18" charset="0"/>
              </a:rPr>
              <a:t>value of unsold apartments </a:t>
            </a:r>
            <a:r>
              <a:rPr lang="en-IN" dirty="0">
                <a:latin typeface="Times New Roman" pitchFamily="18" charset="0"/>
                <a:cs typeface="Times New Roman" pitchFamily="18" charset="0"/>
              </a:rPr>
              <a:t>across the </a:t>
            </a:r>
            <a:r>
              <a:rPr lang="en-IN" dirty="0">
                <a:solidFill>
                  <a:srgbClr val="FF0000"/>
                </a:solidFill>
                <a:latin typeface="Times New Roman" pitchFamily="18" charset="0"/>
                <a:cs typeface="Times New Roman" pitchFamily="18" charset="0"/>
              </a:rPr>
              <a:t>top seven cities </a:t>
            </a:r>
            <a:r>
              <a:rPr lang="en-IN" dirty="0">
                <a:latin typeface="Times New Roman" pitchFamily="18" charset="0"/>
                <a:cs typeface="Times New Roman" pitchFamily="18" charset="0"/>
              </a:rPr>
              <a:t>of the country </a:t>
            </a:r>
            <a:r>
              <a:rPr lang="en-IN" dirty="0" smtClean="0">
                <a:latin typeface="Times New Roman" pitchFamily="18" charset="0"/>
                <a:cs typeface="Times New Roman" pitchFamily="18" charset="0"/>
              </a:rPr>
              <a:t>has </a:t>
            </a:r>
            <a:r>
              <a:rPr lang="en-IN" dirty="0">
                <a:latin typeface="Times New Roman" pitchFamily="18" charset="0"/>
                <a:cs typeface="Times New Roman" pitchFamily="18" charset="0"/>
              </a:rPr>
              <a:t>been estimated at a whopping </a:t>
            </a:r>
            <a:r>
              <a:rPr lang="en-IN" dirty="0" err="1">
                <a:solidFill>
                  <a:srgbClr val="FF0000"/>
                </a:solidFill>
                <a:latin typeface="Times New Roman" pitchFamily="18" charset="0"/>
                <a:cs typeface="Times New Roman" pitchFamily="18" charset="0"/>
              </a:rPr>
              <a:t>Rs</a:t>
            </a:r>
            <a:r>
              <a:rPr lang="en-IN" dirty="0">
                <a:solidFill>
                  <a:srgbClr val="FF0000"/>
                </a:solidFill>
                <a:latin typeface="Times New Roman" pitchFamily="18" charset="0"/>
                <a:cs typeface="Times New Roman" pitchFamily="18" charset="0"/>
              </a:rPr>
              <a:t> 4 lakh </a:t>
            </a:r>
            <a:r>
              <a:rPr lang="en-IN" dirty="0" err="1">
                <a:solidFill>
                  <a:srgbClr val="FF0000"/>
                </a:solidFill>
                <a:latin typeface="Times New Roman" pitchFamily="18" charset="0"/>
                <a:cs typeface="Times New Roman" pitchFamily="18" charset="0"/>
              </a:rPr>
              <a:t>crore</a:t>
            </a:r>
            <a:r>
              <a:rPr lang="en-IN" dirty="0">
                <a:latin typeface="Times New Roman" pitchFamily="18" charset="0"/>
                <a:cs typeface="Times New Roman" pitchFamily="18" charset="0"/>
              </a:rPr>
              <a:t>, with few signs the inventory will be cleared anytime in the </a:t>
            </a:r>
            <a:r>
              <a:rPr lang="en-IN" dirty="0">
                <a:solidFill>
                  <a:srgbClr val="FF0000"/>
                </a:solidFill>
                <a:latin typeface="Times New Roman" pitchFamily="18" charset="0"/>
                <a:cs typeface="Times New Roman" pitchFamily="18" charset="0"/>
              </a:rPr>
              <a:t>next four years</a:t>
            </a:r>
            <a:r>
              <a:rPr lang="en-IN" dirty="0">
                <a:latin typeface="Times New Roman" pitchFamily="18" charset="0"/>
                <a:cs typeface="Times New Roman" pitchFamily="18" charset="0"/>
              </a:rPr>
              <a:t>. </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r>
              <a:rPr lang="en-IN" dirty="0">
                <a:solidFill>
                  <a:srgbClr val="FF0000"/>
                </a:solidFill>
                <a:latin typeface="Times New Roman" pitchFamily="18" charset="0"/>
                <a:cs typeface="Times New Roman" pitchFamily="18" charset="0"/>
              </a:rPr>
              <a:t>At </a:t>
            </a:r>
            <a:r>
              <a:rPr lang="en-IN" sz="2800" dirty="0">
                <a:solidFill>
                  <a:srgbClr val="FF0000"/>
                </a:solidFill>
                <a:latin typeface="Times New Roman" pitchFamily="18" charset="0"/>
                <a:cs typeface="Times New Roman" pitchFamily="18" charset="0"/>
              </a:rPr>
              <a:t>7.5 lakh</a:t>
            </a:r>
            <a:r>
              <a:rPr lang="en-IN" dirty="0">
                <a:solidFill>
                  <a:srgbClr val="FF0000"/>
                </a:solidFill>
                <a:latin typeface="Times New Roman" pitchFamily="18" charset="0"/>
                <a:cs typeface="Times New Roman" pitchFamily="18" charset="0"/>
              </a:rPr>
              <a:t>, the number of flats in the mid-priced range </a:t>
            </a:r>
            <a:r>
              <a:rPr lang="en-IN" dirty="0">
                <a:latin typeface="Times New Roman" pitchFamily="18" charset="0"/>
                <a:cs typeface="Times New Roman" pitchFamily="18" charset="0"/>
              </a:rPr>
              <a:t>is virtually the </a:t>
            </a:r>
            <a:r>
              <a:rPr lang="en-IN" dirty="0" smtClean="0">
                <a:latin typeface="Times New Roman" pitchFamily="18" charset="0"/>
                <a:cs typeface="Times New Roman" pitchFamily="18" charset="0"/>
              </a:rPr>
              <a:t>same, which </a:t>
            </a:r>
            <a:r>
              <a:rPr lang="en-IN" dirty="0">
                <a:latin typeface="Times New Roman" pitchFamily="18" charset="0"/>
                <a:cs typeface="Times New Roman" pitchFamily="18" charset="0"/>
              </a:rPr>
              <a:t>means sales have come to a standstill.</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In addition, there are </a:t>
            </a:r>
            <a:r>
              <a:rPr lang="en-IN" sz="2400" dirty="0">
                <a:solidFill>
                  <a:srgbClr val="FF0000"/>
                </a:solidFill>
                <a:latin typeface="Times New Roman" pitchFamily="18" charset="0"/>
                <a:cs typeface="Times New Roman" pitchFamily="18" charset="0"/>
              </a:rPr>
              <a:t>50,000 luxury apartments</a:t>
            </a:r>
            <a:r>
              <a:rPr lang="en-IN" dirty="0">
                <a:solidFill>
                  <a:srgbClr val="FF0000"/>
                </a:solidFill>
                <a:latin typeface="Times New Roman" pitchFamily="18" charset="0"/>
                <a:cs typeface="Times New Roman" pitchFamily="18" charset="0"/>
              </a:rPr>
              <a:t>, priced at an estimated </a:t>
            </a:r>
            <a:r>
              <a:rPr lang="en-IN" dirty="0" err="1">
                <a:solidFill>
                  <a:srgbClr val="FF0000"/>
                </a:solidFill>
                <a:latin typeface="Times New Roman" pitchFamily="18" charset="0"/>
                <a:cs typeface="Times New Roman" pitchFamily="18" charset="0"/>
              </a:rPr>
              <a:t>Rs</a:t>
            </a:r>
            <a:r>
              <a:rPr lang="en-IN" dirty="0">
                <a:solidFill>
                  <a:srgbClr val="FF0000"/>
                </a:solidFill>
                <a:latin typeface="Times New Roman" pitchFamily="18" charset="0"/>
                <a:cs typeface="Times New Roman" pitchFamily="18" charset="0"/>
              </a:rPr>
              <a:t> 1 lakh </a:t>
            </a:r>
            <a:r>
              <a:rPr lang="en-IN" dirty="0" err="1">
                <a:solidFill>
                  <a:srgbClr val="FF0000"/>
                </a:solidFill>
                <a:latin typeface="Times New Roman" pitchFamily="18" charset="0"/>
                <a:cs typeface="Times New Roman" pitchFamily="18" charset="0"/>
              </a:rPr>
              <a:t>crore</a:t>
            </a:r>
            <a:r>
              <a:rPr lang="en-IN" dirty="0">
                <a:solidFill>
                  <a:srgbClr val="FF0000"/>
                </a:solidFill>
                <a:latin typeface="Times New Roman" pitchFamily="18" charset="0"/>
                <a:cs typeface="Times New Roman" pitchFamily="18" charset="0"/>
              </a:rPr>
              <a:t>,</a:t>
            </a:r>
            <a:r>
              <a:rPr lang="en-IN" dirty="0">
                <a:latin typeface="Times New Roman" pitchFamily="18" charset="0"/>
                <a:cs typeface="Times New Roman" pitchFamily="18" charset="0"/>
              </a:rPr>
              <a:t> lying unsold in Mumbai alone.</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Developers are now reducing the sizes of the apartments to make them more affordable.</a:t>
            </a:r>
            <a:br>
              <a:rPr lang="en-IN" dirty="0">
                <a:latin typeface="Times New Roman" pitchFamily="18" charset="0"/>
                <a:cs typeface="Times New Roman" pitchFamily="18" charset="0"/>
              </a:rPr>
            </a:br>
            <a:endParaRPr lang="en-IN" dirty="0"/>
          </a:p>
        </p:txBody>
      </p:sp>
    </p:spTree>
    <p:extLst>
      <p:ext uri="{BB962C8B-B14F-4D97-AF65-F5344CB8AC3E}">
        <p14:creationId xmlns:p14="http://schemas.microsoft.com/office/powerpoint/2010/main" val="5209059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876" y="1362074"/>
            <a:ext cx="11239500" cy="5163269"/>
          </a:xfrm>
        </p:spPr>
        <p:txBody>
          <a:bodyPr>
            <a:noAutofit/>
          </a:bodyPr>
          <a:lstStyle/>
          <a:p>
            <a:pPr algn="l"/>
            <a:r>
              <a:rPr lang="en-IN" sz="1800" dirty="0" smtClean="0">
                <a:latin typeface="Times New Roman" pitchFamily="18" charset="0"/>
                <a:cs typeface="Times New Roman" pitchFamily="18" charset="0"/>
              </a:rPr>
              <a:t>The </a:t>
            </a:r>
            <a:r>
              <a:rPr lang="en-IN" sz="1800" dirty="0">
                <a:latin typeface="Times New Roman" pitchFamily="18" charset="0"/>
                <a:cs typeface="Times New Roman" pitchFamily="18" charset="0"/>
              </a:rPr>
              <a:t>number of employees whose income is below </a:t>
            </a:r>
            <a:r>
              <a:rPr lang="en-IN" sz="1800" dirty="0" err="1">
                <a:solidFill>
                  <a:srgbClr val="FF0000"/>
                </a:solidFill>
                <a:latin typeface="Times New Roman" pitchFamily="18" charset="0"/>
                <a:cs typeface="Times New Roman" pitchFamily="18" charset="0"/>
              </a:rPr>
              <a:t>Rs</a:t>
            </a:r>
            <a:r>
              <a:rPr lang="en-IN" sz="1800" dirty="0">
                <a:solidFill>
                  <a:srgbClr val="FF0000"/>
                </a:solidFill>
                <a:latin typeface="Times New Roman" pitchFamily="18" charset="0"/>
                <a:cs typeface="Times New Roman" pitchFamily="18" charset="0"/>
              </a:rPr>
              <a:t> 40,000 </a:t>
            </a:r>
            <a:r>
              <a:rPr lang="en-IN" sz="1800" dirty="0">
                <a:latin typeface="Times New Roman" pitchFamily="18" charset="0"/>
                <a:cs typeface="Times New Roman" pitchFamily="18" charset="0"/>
              </a:rPr>
              <a:t>a </a:t>
            </a:r>
            <a:r>
              <a:rPr lang="en-IN" sz="1800" dirty="0" smtClean="0">
                <a:latin typeface="Times New Roman" pitchFamily="18" charset="0"/>
                <a:cs typeface="Times New Roman" pitchFamily="18" charset="0"/>
              </a:rPr>
              <a:t>month, gone </a:t>
            </a:r>
            <a:r>
              <a:rPr lang="en-IN" sz="1800" dirty="0">
                <a:latin typeface="Times New Roman" pitchFamily="18" charset="0"/>
                <a:cs typeface="Times New Roman" pitchFamily="18" charset="0"/>
              </a:rPr>
              <a:t>up. These are </a:t>
            </a:r>
            <a:r>
              <a:rPr lang="en-IN" sz="1400" dirty="0">
                <a:latin typeface="Times New Roman" pitchFamily="18" charset="0"/>
                <a:cs typeface="Times New Roman" pitchFamily="18" charset="0"/>
              </a:rPr>
              <a:t>the</a:t>
            </a:r>
            <a:r>
              <a:rPr lang="en-IN" sz="1800" dirty="0">
                <a:latin typeface="Times New Roman" pitchFamily="18" charset="0"/>
                <a:cs typeface="Times New Roman" pitchFamily="18" charset="0"/>
              </a:rPr>
              <a:t> </a:t>
            </a:r>
            <a:r>
              <a:rPr lang="en-IN" sz="1800" dirty="0">
                <a:solidFill>
                  <a:srgbClr val="FF0000"/>
                </a:solidFill>
                <a:latin typeface="Times New Roman" pitchFamily="18" charset="0"/>
                <a:cs typeface="Times New Roman" pitchFamily="18" charset="0"/>
              </a:rPr>
              <a:t>potential customers for the mini and the compact </a:t>
            </a:r>
            <a:r>
              <a:rPr lang="en-IN" sz="1800" dirty="0">
                <a:latin typeface="Times New Roman" pitchFamily="18" charset="0"/>
                <a:cs typeface="Times New Roman" pitchFamily="18" charset="0"/>
              </a:rPr>
              <a:t>cars.</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The biggest beneficiary </a:t>
            </a:r>
            <a:r>
              <a:rPr lang="en-IN" sz="1800" dirty="0" smtClean="0">
                <a:latin typeface="Times New Roman" pitchFamily="18" charset="0"/>
                <a:cs typeface="Times New Roman" pitchFamily="18" charset="0"/>
              </a:rPr>
              <a:t>-</a:t>
            </a:r>
            <a:r>
              <a:rPr lang="en-IN" sz="1800" dirty="0">
                <a:latin typeface="Times New Roman" pitchFamily="18" charset="0"/>
                <a:cs typeface="Times New Roman" pitchFamily="18" charset="0"/>
              </a:rPr>
              <a:t> </a:t>
            </a:r>
            <a:r>
              <a:rPr lang="en-IN" sz="1800" dirty="0" err="1">
                <a:solidFill>
                  <a:srgbClr val="FF0000"/>
                </a:solidFill>
                <a:latin typeface="Times New Roman" pitchFamily="18" charset="0"/>
                <a:cs typeface="Times New Roman" pitchFamily="18" charset="0"/>
              </a:rPr>
              <a:t>Maruti</a:t>
            </a:r>
            <a:r>
              <a:rPr lang="en-IN" sz="1800" dirty="0">
                <a:solidFill>
                  <a:srgbClr val="FF0000"/>
                </a:solidFill>
                <a:latin typeface="Times New Roman" pitchFamily="18" charset="0"/>
                <a:cs typeface="Times New Roman" pitchFamily="18" charset="0"/>
              </a:rPr>
              <a:t> Suzuki </a:t>
            </a:r>
            <a:r>
              <a:rPr lang="en-IN" sz="1800" dirty="0">
                <a:latin typeface="Times New Roman" pitchFamily="18" charset="0"/>
                <a:cs typeface="Times New Roman" pitchFamily="18" charset="0"/>
              </a:rPr>
              <a:t>as the company is the leader in entry level segment with models like </a:t>
            </a:r>
            <a:r>
              <a:rPr lang="en-IN" sz="1800" dirty="0">
                <a:solidFill>
                  <a:srgbClr val="FF0000"/>
                </a:solidFill>
                <a:latin typeface="Times New Roman" pitchFamily="18" charset="0"/>
                <a:cs typeface="Times New Roman" pitchFamily="18" charset="0"/>
              </a:rPr>
              <a:t>Alto, Wagon R, </a:t>
            </a:r>
            <a:r>
              <a:rPr lang="en-IN" sz="1800" dirty="0" err="1">
                <a:solidFill>
                  <a:srgbClr val="FF0000"/>
                </a:solidFill>
                <a:latin typeface="Times New Roman" pitchFamily="18" charset="0"/>
                <a:cs typeface="Times New Roman" pitchFamily="18" charset="0"/>
              </a:rPr>
              <a:t>Celerio</a:t>
            </a:r>
            <a:r>
              <a:rPr lang="en-IN" sz="1800" dirty="0">
                <a:solidFill>
                  <a:srgbClr val="FF0000"/>
                </a:solidFill>
                <a:latin typeface="Times New Roman" pitchFamily="18" charset="0"/>
                <a:cs typeface="Times New Roman" pitchFamily="18" charset="0"/>
              </a:rPr>
              <a:t> and Swift</a:t>
            </a:r>
            <a:r>
              <a:rPr lang="en-IN" sz="1800" dirty="0">
                <a:latin typeface="Times New Roman" pitchFamily="18" charset="0"/>
                <a:cs typeface="Times New Roman" pitchFamily="18" charset="0"/>
              </a:rPr>
              <a:t>.</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smtClean="0">
                <a:solidFill>
                  <a:srgbClr val="FF0000"/>
                </a:solidFill>
                <a:latin typeface="Times New Roman" pitchFamily="18" charset="0"/>
                <a:cs typeface="Times New Roman" pitchFamily="18" charset="0"/>
              </a:rPr>
              <a:t>Hyundai </a:t>
            </a:r>
            <a:r>
              <a:rPr lang="en-IN" sz="1800" dirty="0" smtClean="0">
                <a:latin typeface="Times New Roman" pitchFamily="18" charset="0"/>
                <a:cs typeface="Times New Roman" pitchFamily="18" charset="0"/>
              </a:rPr>
              <a:t>-</a:t>
            </a:r>
            <a:r>
              <a:rPr lang="en-IN" sz="1800" dirty="0" smtClean="0">
                <a:solidFill>
                  <a:srgbClr val="FF0000"/>
                </a:solidFill>
                <a:latin typeface="Times New Roman" pitchFamily="18" charset="0"/>
                <a:cs typeface="Times New Roman" pitchFamily="18" charset="0"/>
              </a:rPr>
              <a:t>i10</a:t>
            </a:r>
            <a:r>
              <a:rPr lang="en-IN" sz="1800" dirty="0" smtClean="0">
                <a:latin typeface="Times New Roman" pitchFamily="18" charset="0"/>
                <a:cs typeface="Times New Roman" pitchFamily="18" charset="0"/>
              </a:rPr>
              <a:t> </a:t>
            </a:r>
            <a:r>
              <a:rPr lang="en-IN" sz="1800" dirty="0">
                <a:latin typeface="Times New Roman" pitchFamily="18" charset="0"/>
                <a:cs typeface="Times New Roman" pitchFamily="18" charset="0"/>
              </a:rPr>
              <a:t>at the entry level and the hatchback segment.</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
            </a:r>
            <a:br>
              <a:rPr lang="en-IN" sz="1800" dirty="0">
                <a:latin typeface="Times New Roman" pitchFamily="18" charset="0"/>
                <a:cs typeface="Times New Roman" pitchFamily="18" charset="0"/>
              </a:rPr>
            </a:br>
            <a:r>
              <a:rPr lang="en-IN" sz="1800" dirty="0">
                <a:latin typeface="Times New Roman" pitchFamily="18" charset="0"/>
                <a:cs typeface="Times New Roman" pitchFamily="18" charset="0"/>
              </a:rPr>
              <a:t>The 7</a:t>
            </a:r>
            <a:r>
              <a:rPr lang="en-IN" sz="1800" baseline="30000" dirty="0">
                <a:latin typeface="Times New Roman" pitchFamily="18" charset="0"/>
                <a:cs typeface="Times New Roman" pitchFamily="18" charset="0"/>
              </a:rPr>
              <a:t>th</a:t>
            </a:r>
            <a:r>
              <a:rPr lang="en-IN" sz="1800" dirty="0">
                <a:latin typeface="Times New Roman" pitchFamily="18" charset="0"/>
                <a:cs typeface="Times New Roman" pitchFamily="18" charset="0"/>
              </a:rPr>
              <a:t>  Pay Commission </a:t>
            </a:r>
            <a:r>
              <a:rPr lang="en-IN" sz="1800" dirty="0" smtClean="0">
                <a:latin typeface="Times New Roman" pitchFamily="18" charset="0"/>
                <a:cs typeface="Times New Roman" pitchFamily="18" charset="0"/>
              </a:rPr>
              <a:t>-resulted </a:t>
            </a:r>
            <a:r>
              <a:rPr lang="en-IN" sz="1800" dirty="0">
                <a:latin typeface="Times New Roman" pitchFamily="18" charset="0"/>
                <a:cs typeface="Times New Roman" pitchFamily="18" charset="0"/>
              </a:rPr>
              <a:t>in almost </a:t>
            </a:r>
            <a:r>
              <a:rPr lang="en-IN" sz="1800" dirty="0">
                <a:solidFill>
                  <a:srgbClr val="FF0000"/>
                </a:solidFill>
                <a:latin typeface="Times New Roman" pitchFamily="18" charset="0"/>
                <a:cs typeface="Times New Roman" pitchFamily="18" charset="0"/>
              </a:rPr>
              <a:t>25% of the central government and 20% of state government employees becoming eligible car buyers,</a:t>
            </a:r>
            <a:r>
              <a:rPr lang="en-IN" sz="1800" dirty="0">
                <a:latin typeface="Times New Roman" pitchFamily="18" charset="0"/>
                <a:cs typeface="Times New Roman" pitchFamily="18" charset="0"/>
              </a:rPr>
              <a:t> earning over </a:t>
            </a:r>
            <a:r>
              <a:rPr lang="en-IN" sz="1800" dirty="0" err="1">
                <a:latin typeface="Times New Roman" pitchFamily="18" charset="0"/>
                <a:cs typeface="Times New Roman" pitchFamily="18" charset="0"/>
              </a:rPr>
              <a:t>Rs</a:t>
            </a:r>
            <a:r>
              <a:rPr lang="en-IN" sz="1800" dirty="0">
                <a:latin typeface="Times New Roman" pitchFamily="18" charset="0"/>
                <a:cs typeface="Times New Roman" pitchFamily="18" charset="0"/>
              </a:rPr>
              <a:t> 40,000 a month. </a:t>
            </a:r>
            <a:r>
              <a:rPr lang="en-IN" sz="1800" dirty="0">
                <a:solidFill>
                  <a:srgbClr val="FF0000"/>
                </a:solidFill>
                <a:latin typeface="Times New Roman" pitchFamily="18" charset="0"/>
                <a:cs typeface="Times New Roman" pitchFamily="18" charset="0"/>
              </a:rPr>
              <a:t>This would make almost 3 million employees a target segment for </a:t>
            </a:r>
            <a:r>
              <a:rPr lang="en-IN" sz="1600" dirty="0" err="1">
                <a:solidFill>
                  <a:srgbClr val="FF0000"/>
                </a:solidFill>
                <a:latin typeface="Times New Roman" pitchFamily="18" charset="0"/>
                <a:cs typeface="Times New Roman" pitchFamily="18" charset="0"/>
              </a:rPr>
              <a:t>Maruti</a:t>
            </a:r>
            <a:r>
              <a:rPr lang="en-IN" sz="1800" dirty="0" smtClean="0">
                <a:latin typeface="Times New Roman" pitchFamily="18" charset="0"/>
                <a:cs typeface="Times New Roman" pitchFamily="18" charset="0"/>
              </a:rPr>
              <a:t>.”</a:t>
            </a:r>
            <a:r>
              <a:rPr lang="en-IN" sz="1400" dirty="0">
                <a:latin typeface="Times New Roman" pitchFamily="18" charset="0"/>
                <a:cs typeface="Times New Roman" pitchFamily="18" charset="0"/>
              </a:rPr>
              <a:t/>
            </a:r>
            <a:br>
              <a:rPr lang="en-IN" sz="1400" dirty="0">
                <a:latin typeface="Times New Roman" pitchFamily="18" charset="0"/>
                <a:cs typeface="Times New Roman" pitchFamily="18" charset="0"/>
              </a:rPr>
            </a:br>
            <a:r>
              <a:rPr lang="en-IN" sz="1400" dirty="0">
                <a:solidFill>
                  <a:srgbClr val="FF0000"/>
                </a:solidFill>
                <a:latin typeface="Times New Roman" pitchFamily="18" charset="0"/>
                <a:cs typeface="Times New Roman" pitchFamily="18" charset="0"/>
              </a:rPr>
              <a:t/>
            </a:r>
            <a:br>
              <a:rPr lang="en-IN" sz="1400" dirty="0">
                <a:solidFill>
                  <a:srgbClr val="FF0000"/>
                </a:solidFill>
                <a:latin typeface="Times New Roman" pitchFamily="18" charset="0"/>
                <a:cs typeface="Times New Roman" pitchFamily="18" charset="0"/>
              </a:rPr>
            </a:br>
            <a:r>
              <a:rPr lang="en-IN" sz="1400" dirty="0">
                <a:solidFill>
                  <a:srgbClr val="FF0000"/>
                </a:solidFill>
                <a:latin typeface="Times New Roman" pitchFamily="18" charset="0"/>
                <a:cs typeface="Times New Roman" pitchFamily="18" charset="0"/>
              </a:rPr>
              <a:t/>
            </a:r>
            <a:br>
              <a:rPr lang="en-IN" sz="1400" dirty="0">
                <a:solidFill>
                  <a:srgbClr val="FF0000"/>
                </a:solidFill>
                <a:latin typeface="Times New Roman" pitchFamily="18" charset="0"/>
                <a:cs typeface="Times New Roman" pitchFamily="18" charset="0"/>
              </a:rPr>
            </a:br>
            <a:r>
              <a:rPr lang="en-IN" sz="1800" dirty="0">
                <a:latin typeface="Times New Roman" pitchFamily="18" charset="0"/>
                <a:cs typeface="Times New Roman" pitchFamily="18" charset="0"/>
              </a:rPr>
              <a:t>Customers look to upgrade from two-wheeler to cars at this juncture. </a:t>
            </a:r>
            <a:r>
              <a:rPr lang="en-IN" sz="1400" dirty="0">
                <a:latin typeface="Times New Roman" pitchFamily="18" charset="0"/>
                <a:cs typeface="Times New Roman" pitchFamily="18" charset="0"/>
              </a:rPr>
              <a:t/>
            </a:r>
            <a:br>
              <a:rPr lang="en-IN" sz="1400" dirty="0">
                <a:latin typeface="Times New Roman" pitchFamily="18" charset="0"/>
                <a:cs typeface="Times New Roman" pitchFamily="18" charset="0"/>
              </a:rPr>
            </a:br>
            <a:r>
              <a:rPr lang="en-IN" sz="1400" dirty="0">
                <a:latin typeface="Times New Roman" pitchFamily="18" charset="0"/>
                <a:cs typeface="Times New Roman" pitchFamily="18" charset="0"/>
              </a:rPr>
              <a:t/>
            </a:r>
            <a:br>
              <a:rPr lang="en-IN" sz="1400" dirty="0">
                <a:latin typeface="Times New Roman" pitchFamily="18" charset="0"/>
                <a:cs typeface="Times New Roman" pitchFamily="18" charset="0"/>
              </a:rPr>
            </a:br>
            <a:endParaRPr lang="en-IN" sz="1400" dirty="0">
              <a:latin typeface="Times New Roman" pitchFamily="18" charset="0"/>
              <a:cs typeface="Times New Roman" pitchFamily="18" charset="0"/>
            </a:endParaRPr>
          </a:p>
        </p:txBody>
      </p:sp>
      <p:sp>
        <p:nvSpPr>
          <p:cNvPr id="3" name="Rectangle 2"/>
          <p:cNvSpPr/>
          <p:nvPr/>
        </p:nvSpPr>
        <p:spPr>
          <a:xfrm>
            <a:off x="4610100" y="400735"/>
            <a:ext cx="3124200" cy="646331"/>
          </a:xfrm>
          <a:prstGeom prst="rect">
            <a:avLst/>
          </a:prstGeom>
        </p:spPr>
        <p:txBody>
          <a:bodyPr wrap="square">
            <a:spAutoFit/>
          </a:bodyPr>
          <a:lstStyle/>
          <a:p>
            <a:r>
              <a:rPr lang="en-IN" b="1" dirty="0">
                <a:solidFill>
                  <a:srgbClr val="FF0000"/>
                </a:solidFill>
                <a:latin typeface="Times New Roman" pitchFamily="18" charset="0"/>
                <a:cs typeface="Times New Roman" pitchFamily="18" charset="0"/>
              </a:rPr>
              <a:t/>
            </a:r>
            <a:br>
              <a:rPr lang="en-IN" b="1" dirty="0">
                <a:solidFill>
                  <a:srgbClr val="FF0000"/>
                </a:solidFill>
                <a:latin typeface="Times New Roman" pitchFamily="18" charset="0"/>
                <a:cs typeface="Times New Roman" pitchFamily="18" charset="0"/>
              </a:rPr>
            </a:br>
            <a:r>
              <a:rPr lang="en-IN" b="1" dirty="0" smtClean="0">
                <a:solidFill>
                  <a:srgbClr val="FF0000"/>
                </a:solidFill>
                <a:latin typeface="Times New Roman" pitchFamily="18" charset="0"/>
                <a:cs typeface="Times New Roman" pitchFamily="18" charset="0"/>
              </a:rPr>
              <a:t>Economic </a:t>
            </a:r>
            <a:r>
              <a:rPr lang="en-IN" b="1" dirty="0">
                <a:solidFill>
                  <a:srgbClr val="FF0000"/>
                </a:solidFill>
                <a:latin typeface="Times New Roman" pitchFamily="18" charset="0"/>
                <a:cs typeface="Times New Roman" pitchFamily="18" charset="0"/>
              </a:rPr>
              <a:t>7</a:t>
            </a:r>
            <a:r>
              <a:rPr lang="en-IN" b="1" baseline="30000" dirty="0">
                <a:solidFill>
                  <a:srgbClr val="FF0000"/>
                </a:solidFill>
                <a:latin typeface="Times New Roman" pitchFamily="18" charset="0"/>
                <a:cs typeface="Times New Roman" pitchFamily="18" charset="0"/>
              </a:rPr>
              <a:t>th</a:t>
            </a:r>
            <a:r>
              <a:rPr lang="en-IN" b="1" dirty="0">
                <a:solidFill>
                  <a:srgbClr val="FF0000"/>
                </a:solidFill>
                <a:latin typeface="Times New Roman" pitchFamily="18" charset="0"/>
                <a:cs typeface="Times New Roman" pitchFamily="18" charset="0"/>
              </a:rPr>
              <a:t> pay</a:t>
            </a:r>
            <a:endParaRPr lang="en-IN" dirty="0">
              <a:solidFill>
                <a:srgbClr val="FF0000"/>
              </a:solidFill>
            </a:endParaRPr>
          </a:p>
        </p:txBody>
      </p:sp>
    </p:spTree>
    <p:extLst>
      <p:ext uri="{BB962C8B-B14F-4D97-AF65-F5344CB8AC3E}">
        <p14:creationId xmlns:p14="http://schemas.microsoft.com/office/powerpoint/2010/main" val="16156055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algn="ctr"/>
            <a:r>
              <a:rPr lang="en-IN" sz="2800" b="1" dirty="0">
                <a:latin typeface="Times New Roman" pitchFamily="18" charset="0"/>
                <a:cs typeface="Times New Roman" pitchFamily="18" charset="0"/>
              </a:rPr>
              <a:t>Technological</a:t>
            </a:r>
            <a:endParaRPr lang="en-IN" sz="3600" b="1" dirty="0">
              <a:latin typeface="Times New Roman" pitchFamily="18" charset="0"/>
              <a:cs typeface="Times New Roman" pitchFamily="18" charset="0"/>
            </a:endParaRPr>
          </a:p>
        </p:txBody>
      </p:sp>
      <p:sp>
        <p:nvSpPr>
          <p:cNvPr id="2" name="Content Placeholder 1"/>
          <p:cNvSpPr>
            <a:spLocks noGrp="1"/>
          </p:cNvSpPr>
          <p:nvPr>
            <p:ph idx="1"/>
          </p:nvPr>
        </p:nvSpPr>
        <p:spPr>
          <a:xfrm>
            <a:off x="609600" y="1417639"/>
            <a:ext cx="10972800" cy="4708526"/>
          </a:xfrm>
        </p:spPr>
        <p:txBody>
          <a:bodyPr>
            <a:noAutofit/>
          </a:bodyPr>
          <a:lstStyle/>
          <a:p>
            <a:pPr marL="0" indent="0" algn="ctr">
              <a:buNone/>
            </a:pPr>
            <a:r>
              <a:rPr lang="en-IN" sz="1100" b="1" dirty="0" smtClean="0">
                <a:solidFill>
                  <a:srgbClr val="FF0000"/>
                </a:solidFill>
                <a:latin typeface="Times New Roman" pitchFamily="18" charset="0"/>
                <a:cs typeface="Times New Roman" pitchFamily="18" charset="0"/>
              </a:rPr>
              <a:t> </a:t>
            </a:r>
          </a:p>
          <a:p>
            <a:pPr marL="0" indent="0" algn="ctr">
              <a:buNone/>
            </a:pPr>
            <a:r>
              <a:rPr lang="en-US" sz="1200" b="1" dirty="0" err="1" smtClean="0">
                <a:latin typeface="Times New Roman" pitchFamily="18" charset="0"/>
                <a:cs typeface="Times New Roman" pitchFamily="18" charset="0"/>
              </a:rPr>
              <a:t>ChatGPT</a:t>
            </a:r>
            <a:endParaRPr lang="en-US" sz="1200" b="1" dirty="0" smtClean="0">
              <a:latin typeface="Times New Roman" pitchFamily="18" charset="0"/>
              <a:cs typeface="Times New Roman" pitchFamily="18" charset="0"/>
            </a:endParaRPr>
          </a:p>
          <a:p>
            <a:pPr marL="0" indent="0" algn="ctr">
              <a:buNone/>
            </a:pPr>
            <a:endParaRPr lang="en-IN" sz="1200" b="1" dirty="0" smtClean="0">
              <a:solidFill>
                <a:srgbClr val="FF0000"/>
              </a:solidFill>
              <a:latin typeface="Times New Roman" pitchFamily="18" charset="0"/>
              <a:cs typeface="Times New Roman" pitchFamily="18" charset="0"/>
            </a:endParaRPr>
          </a:p>
          <a:p>
            <a:pPr marL="0" indent="0" algn="ctr">
              <a:buNone/>
            </a:pPr>
            <a:r>
              <a:rPr lang="en-IN" sz="1200" b="1" dirty="0" smtClean="0">
                <a:solidFill>
                  <a:srgbClr val="FF0000"/>
                </a:solidFill>
                <a:latin typeface="Times New Roman" pitchFamily="18" charset="0"/>
                <a:cs typeface="Times New Roman" pitchFamily="18" charset="0"/>
              </a:rPr>
              <a:t>AI</a:t>
            </a:r>
            <a:endParaRPr lang="en-IN" sz="1200" b="1" dirty="0">
              <a:solidFill>
                <a:srgbClr val="FF0000"/>
              </a:solidFill>
              <a:latin typeface="Times New Roman" pitchFamily="18" charset="0"/>
              <a:cs typeface="Times New Roman" pitchFamily="18" charset="0"/>
            </a:endParaRPr>
          </a:p>
          <a:p>
            <a:pPr marL="0" indent="0" algn="ctr">
              <a:buNone/>
            </a:pPr>
            <a:endParaRPr lang="en-US" sz="1200" b="1" dirty="0" smtClean="0">
              <a:latin typeface="Times New Roman" pitchFamily="18" charset="0"/>
              <a:cs typeface="Times New Roman" pitchFamily="18" charset="0"/>
            </a:endParaRPr>
          </a:p>
          <a:p>
            <a:pPr marL="0" indent="0" algn="ctr">
              <a:buNone/>
            </a:pPr>
            <a:r>
              <a:rPr lang="en-US" sz="1200" b="1" dirty="0" smtClean="0">
                <a:latin typeface="Times New Roman" pitchFamily="18" charset="0"/>
                <a:cs typeface="Times New Roman" pitchFamily="18" charset="0"/>
              </a:rPr>
              <a:t>5G</a:t>
            </a:r>
            <a:endParaRPr lang="en-IN" sz="1200" b="1" dirty="0" smtClean="0">
              <a:latin typeface="Times New Roman" pitchFamily="18" charset="0"/>
              <a:cs typeface="Times New Roman" pitchFamily="18" charset="0"/>
            </a:endParaRPr>
          </a:p>
          <a:p>
            <a:pPr marL="0" indent="0" algn="ctr">
              <a:buNone/>
            </a:pPr>
            <a:endParaRPr lang="en-IN" sz="1200" b="1" dirty="0">
              <a:latin typeface="Times New Roman" pitchFamily="18" charset="0"/>
              <a:cs typeface="Times New Roman" pitchFamily="18" charset="0"/>
            </a:endParaRPr>
          </a:p>
          <a:p>
            <a:pPr marL="0" indent="0" algn="ctr">
              <a:buNone/>
            </a:pPr>
            <a:r>
              <a:rPr lang="en-IN" sz="1200" b="1" dirty="0" smtClean="0">
                <a:solidFill>
                  <a:srgbClr val="FF0000"/>
                </a:solidFill>
                <a:latin typeface="Times New Roman" pitchFamily="18" charset="0"/>
                <a:cs typeface="Times New Roman" pitchFamily="18" charset="0"/>
              </a:rPr>
              <a:t>Cashless</a:t>
            </a:r>
          </a:p>
          <a:p>
            <a:pPr marL="0" indent="0" algn="ctr">
              <a:buNone/>
            </a:pPr>
            <a:endParaRPr lang="en-IN" sz="1200" b="1" dirty="0" smtClean="0">
              <a:latin typeface="Times New Roman" pitchFamily="18" charset="0"/>
              <a:cs typeface="Times New Roman" pitchFamily="18" charset="0"/>
            </a:endParaRPr>
          </a:p>
          <a:p>
            <a:pPr marL="0" indent="0" algn="ctr">
              <a:buNone/>
            </a:pPr>
            <a:r>
              <a:rPr lang="en-IN" sz="1200" b="1" dirty="0" smtClean="0">
                <a:latin typeface="Times New Roman" pitchFamily="18" charset="0"/>
                <a:cs typeface="Times New Roman" pitchFamily="18" charset="0"/>
              </a:rPr>
              <a:t>Smart watches</a:t>
            </a:r>
          </a:p>
          <a:p>
            <a:pPr marL="0" indent="0" algn="ctr">
              <a:buNone/>
            </a:pPr>
            <a:endParaRPr lang="en-IN" sz="1200" b="1" dirty="0">
              <a:latin typeface="Times New Roman" pitchFamily="18" charset="0"/>
              <a:cs typeface="Times New Roman" pitchFamily="18" charset="0"/>
            </a:endParaRPr>
          </a:p>
          <a:p>
            <a:pPr marL="0" indent="0" algn="ctr">
              <a:buNone/>
            </a:pPr>
            <a:r>
              <a:rPr lang="en-IN" sz="1200" b="1" dirty="0" smtClean="0">
                <a:solidFill>
                  <a:srgbClr val="FF0000"/>
                </a:solidFill>
                <a:latin typeface="Times New Roman" pitchFamily="18" charset="0"/>
                <a:cs typeface="Times New Roman" pitchFamily="18" charset="0"/>
              </a:rPr>
              <a:t>Driverless cars</a:t>
            </a:r>
          </a:p>
          <a:p>
            <a:pPr marL="0" indent="0" algn="ctr">
              <a:buNone/>
            </a:pPr>
            <a:endParaRPr lang="en-IN" sz="1200" b="1" dirty="0" smtClean="0">
              <a:latin typeface="Times New Roman" pitchFamily="18" charset="0"/>
              <a:cs typeface="Times New Roman" pitchFamily="18" charset="0"/>
            </a:endParaRPr>
          </a:p>
          <a:p>
            <a:pPr marL="0" indent="0" algn="ctr">
              <a:buNone/>
            </a:pPr>
            <a:r>
              <a:rPr lang="en-IN" sz="1200" b="1" dirty="0" smtClean="0">
                <a:latin typeface="Times New Roman" pitchFamily="18" charset="0"/>
                <a:cs typeface="Times New Roman" pitchFamily="18" charset="0"/>
              </a:rPr>
              <a:t>Wearable's</a:t>
            </a:r>
          </a:p>
          <a:p>
            <a:pPr marL="0" indent="0" algn="ctr">
              <a:buNone/>
            </a:pPr>
            <a:endParaRPr lang="en-IN" sz="1200" b="1" dirty="0" smtClean="0">
              <a:latin typeface="Times New Roman" pitchFamily="18" charset="0"/>
              <a:cs typeface="Times New Roman" pitchFamily="18" charset="0"/>
            </a:endParaRPr>
          </a:p>
          <a:p>
            <a:pPr marL="0" indent="0" algn="ctr">
              <a:buNone/>
            </a:pPr>
            <a:r>
              <a:rPr lang="en-IN" sz="1200" b="1" dirty="0" smtClean="0">
                <a:solidFill>
                  <a:srgbClr val="FF0000"/>
                </a:solidFill>
                <a:latin typeface="Times New Roman" pitchFamily="18" charset="0"/>
                <a:cs typeface="Times New Roman" pitchFamily="18" charset="0"/>
              </a:rPr>
              <a:t>Electric cars</a:t>
            </a:r>
          </a:p>
          <a:p>
            <a:pPr marL="0" indent="0" algn="ctr">
              <a:buNone/>
            </a:pPr>
            <a:endParaRPr lang="en-IN" sz="1200" b="1" dirty="0" smtClean="0">
              <a:latin typeface="Times New Roman" pitchFamily="18" charset="0"/>
              <a:cs typeface="Times New Roman" pitchFamily="18" charset="0"/>
            </a:endParaRPr>
          </a:p>
          <a:p>
            <a:pPr marL="0" indent="0" algn="ctr">
              <a:buNone/>
            </a:pPr>
            <a:r>
              <a:rPr lang="en-US" sz="1200" b="1" dirty="0" smtClean="0">
                <a:latin typeface="Times New Roman" pitchFamily="18" charset="0"/>
                <a:cs typeface="Times New Roman" pitchFamily="18" charset="0"/>
              </a:rPr>
              <a:t>Apps</a:t>
            </a:r>
          </a:p>
          <a:p>
            <a:pPr marL="0" indent="0" algn="ctr">
              <a:buNone/>
            </a:pPr>
            <a:endParaRPr lang="en-US" sz="1200" b="1" dirty="0" smtClean="0">
              <a:latin typeface="Times New Roman" pitchFamily="18" charset="0"/>
              <a:cs typeface="Times New Roman" pitchFamily="18" charset="0"/>
            </a:endParaRPr>
          </a:p>
          <a:p>
            <a:pPr marL="0" indent="0" algn="ctr">
              <a:buNone/>
            </a:pPr>
            <a:r>
              <a:rPr lang="en-US" sz="1200" b="1" dirty="0" smtClean="0">
                <a:solidFill>
                  <a:srgbClr val="FF0000"/>
                </a:solidFill>
                <a:latin typeface="Times New Roman" pitchFamily="18" charset="0"/>
                <a:cs typeface="Times New Roman" pitchFamily="18" charset="0"/>
              </a:rPr>
              <a:t>Ecommerce</a:t>
            </a:r>
          </a:p>
          <a:p>
            <a:pPr marL="0" indent="0" algn="ctr">
              <a:buNone/>
            </a:pPr>
            <a:endParaRPr lang="en-US" sz="1200" b="1" dirty="0">
              <a:latin typeface="Times New Roman" pitchFamily="18" charset="0"/>
              <a:cs typeface="Times New Roman" pitchFamily="18" charset="0"/>
            </a:endParaRPr>
          </a:p>
          <a:p>
            <a:pPr marL="0" indent="0" algn="ctr">
              <a:buNone/>
            </a:pPr>
            <a:r>
              <a:rPr lang="en-US" sz="1200" b="1" dirty="0" smtClean="0">
                <a:latin typeface="Times New Roman" pitchFamily="18" charset="0"/>
                <a:cs typeface="Times New Roman" pitchFamily="18" charset="0"/>
              </a:rPr>
              <a:t>Social Media</a:t>
            </a:r>
          </a:p>
          <a:p>
            <a:pPr marL="0" indent="0" algn="ctr">
              <a:buNone/>
            </a:pPr>
            <a:endParaRPr lang="en-US" sz="1100" b="1" dirty="0">
              <a:latin typeface="Times New Roman" pitchFamily="18" charset="0"/>
              <a:cs typeface="Times New Roman" pitchFamily="18" charset="0"/>
            </a:endParaRPr>
          </a:p>
          <a:p>
            <a:pPr marL="0" indent="0" algn="ctr">
              <a:buNone/>
            </a:pPr>
            <a:endParaRPr lang="en-IN" sz="1100" b="1" dirty="0" smtClean="0">
              <a:latin typeface="Times New Roman" pitchFamily="18" charset="0"/>
              <a:cs typeface="Times New Roman" pitchFamily="18" charset="0"/>
            </a:endParaRPr>
          </a:p>
          <a:p>
            <a:pPr marL="0" indent="0" algn="ctr">
              <a:buNone/>
            </a:pPr>
            <a:endParaRPr lang="en-US" sz="1100" b="1" dirty="0">
              <a:latin typeface="Times New Roman" pitchFamily="18" charset="0"/>
              <a:cs typeface="Times New Roman" pitchFamily="18" charset="0"/>
            </a:endParaRPr>
          </a:p>
          <a:p>
            <a:pPr marL="0" indent="0" algn="ctr">
              <a:buNone/>
            </a:pPr>
            <a:endParaRPr lang="en-IN" sz="1100" b="1" dirty="0" smtClean="0">
              <a:latin typeface="Times New Roman" pitchFamily="18" charset="0"/>
              <a:cs typeface="Times New Roman" pitchFamily="18" charset="0"/>
            </a:endParaRPr>
          </a:p>
          <a:p>
            <a:pPr marL="0" indent="0" algn="ctr">
              <a:buNone/>
            </a:pPr>
            <a:endParaRPr lang="en-IN" sz="1100" b="1" dirty="0" smtClean="0">
              <a:latin typeface="Times New Roman" pitchFamily="18" charset="0"/>
              <a:cs typeface="Times New Roman" pitchFamily="18" charset="0"/>
            </a:endParaRPr>
          </a:p>
          <a:p>
            <a:pPr marL="0" indent="0" algn="ctr">
              <a:buNone/>
            </a:pPr>
            <a:endParaRPr lang="en-IN" sz="1100" b="1" dirty="0">
              <a:latin typeface="Times New Roman" pitchFamily="18" charset="0"/>
              <a:cs typeface="Times New Roman" pitchFamily="18" charset="0"/>
            </a:endParaRPr>
          </a:p>
        </p:txBody>
      </p:sp>
    </p:spTree>
    <p:extLst>
      <p:ext uri="{BB962C8B-B14F-4D97-AF65-F5344CB8AC3E}">
        <p14:creationId xmlns:p14="http://schemas.microsoft.com/office/powerpoint/2010/main" val="10912820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dia world’s most populous with 142.86 cr by mid-’23: UN repo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424" y="1981629"/>
            <a:ext cx="7943850" cy="37052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042984" y="865143"/>
            <a:ext cx="8155459" cy="369332"/>
          </a:xfrm>
          <a:prstGeom prst="rect">
            <a:avLst/>
          </a:prstGeom>
        </p:spPr>
        <p:txBody>
          <a:bodyPr wrap="square">
            <a:spAutoFit/>
          </a:bodyPr>
          <a:lstStyle/>
          <a:p>
            <a:pPr fontAlgn="base"/>
            <a:r>
              <a:rPr lang="fr-FR" b="1" dirty="0" err="1">
                <a:solidFill>
                  <a:srgbClr val="000000"/>
                </a:solidFill>
                <a:latin typeface="Times New Roman" panose="02020603050405020304" pitchFamily="18" charset="0"/>
                <a:cs typeface="Times New Roman" panose="02020603050405020304" pitchFamily="18" charset="0"/>
              </a:rPr>
              <a:t>India’s</a:t>
            </a:r>
            <a:r>
              <a:rPr lang="fr-FR" b="1" dirty="0">
                <a:solidFill>
                  <a:srgbClr val="000000"/>
                </a:solidFill>
                <a:latin typeface="Times New Roman" panose="02020603050405020304" pitchFamily="18" charset="0"/>
                <a:cs typeface="Times New Roman" panose="02020603050405020304" pitchFamily="18" charset="0"/>
              </a:rPr>
              <a:t> population 142.8 </a:t>
            </a:r>
            <a:r>
              <a:rPr lang="fr-FR" b="1" dirty="0" err="1">
                <a:solidFill>
                  <a:srgbClr val="000000"/>
                </a:solidFill>
                <a:latin typeface="Times New Roman" panose="02020603050405020304" pitchFamily="18" charset="0"/>
                <a:cs typeface="Times New Roman" panose="02020603050405020304" pitchFamily="18" charset="0"/>
              </a:rPr>
              <a:t>crore</a:t>
            </a:r>
            <a:r>
              <a:rPr lang="fr-FR" b="1" dirty="0">
                <a:solidFill>
                  <a:srgbClr val="000000"/>
                </a:solidFill>
                <a:latin typeface="Times New Roman" panose="02020603050405020304" pitchFamily="18" charset="0"/>
                <a:cs typeface="Times New Roman" panose="02020603050405020304" pitchFamily="18" charset="0"/>
              </a:rPr>
              <a:t> in 2023, crosses </a:t>
            </a:r>
            <a:r>
              <a:rPr lang="fr-FR" b="1" dirty="0" err="1">
                <a:solidFill>
                  <a:srgbClr val="000000"/>
                </a:solidFill>
                <a:latin typeface="Times New Roman" panose="02020603050405020304" pitchFamily="18" charset="0"/>
                <a:cs typeface="Times New Roman" panose="02020603050405020304" pitchFamily="18" charset="0"/>
              </a:rPr>
              <a:t>China’s</a:t>
            </a:r>
            <a:r>
              <a:rPr lang="fr-FR" b="1" dirty="0">
                <a:solidFill>
                  <a:srgbClr val="000000"/>
                </a:solidFill>
                <a:latin typeface="Times New Roman" panose="02020603050405020304" pitchFamily="18" charset="0"/>
                <a:cs typeface="Times New Roman" panose="02020603050405020304" pitchFamily="18" charset="0"/>
              </a:rPr>
              <a:t>: UN population report</a:t>
            </a:r>
            <a:endParaRPr lang="fr-FR"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25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81200" y="704088"/>
            <a:ext cx="8305800" cy="1048512"/>
          </a:xfrm>
        </p:spPr>
        <p:txBody>
          <a:bodyPr>
            <a:noAutofit/>
          </a:bodyPr>
          <a:lstStyle/>
          <a:p>
            <a:r>
              <a:rPr lang="en-IN" sz="3600" b="1" dirty="0">
                <a:latin typeface="Times New Roman" pitchFamily="18" charset="0"/>
                <a:cs typeface="Times New Roman" pitchFamily="18" charset="0"/>
              </a:rPr>
              <a:t>Demographic</a:t>
            </a:r>
            <a:endParaRPr lang="en-IN" sz="6000" b="1" dirty="0">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0901"/>
          <a:stretch/>
        </p:blipFill>
        <p:spPr bwMode="auto">
          <a:xfrm>
            <a:off x="5143500" y="3418702"/>
            <a:ext cx="3048000" cy="135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800" y="2743201"/>
            <a:ext cx="18669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3600" y="2590800"/>
            <a:ext cx="2895600" cy="3136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15830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a:latin typeface="Times New Roman" panose="02020603050405020304" pitchFamily="18" charset="0"/>
                <a:cs typeface="Times New Roman" panose="02020603050405020304" pitchFamily="18" charset="0"/>
              </a:rPr>
              <a:t>Nestle India </a:t>
            </a:r>
            <a:r>
              <a:rPr lang="en-US" sz="2400" b="1" dirty="0" smtClean="0">
                <a:latin typeface="Times New Roman" panose="02020603050405020304" pitchFamily="18" charset="0"/>
                <a:cs typeface="Times New Roman" panose="02020603050405020304" pitchFamily="18" charset="0"/>
              </a:rPr>
              <a:t>-</a:t>
            </a:r>
            <a:r>
              <a:rPr lang="en-US" sz="2400" b="1" dirty="0" smtClean="0">
                <a:solidFill>
                  <a:srgbClr val="FF0000"/>
                </a:solidFill>
                <a:latin typeface="Times New Roman" panose="02020603050405020304" pitchFamily="18" charset="0"/>
                <a:cs typeface="Times New Roman" panose="02020603050405020304" pitchFamily="18" charset="0"/>
              </a:rPr>
              <a:t>production capacity expansion</a:t>
            </a:r>
            <a:r>
              <a:rPr lang="en-US" sz="2400" b="1" dirty="0">
                <a:latin typeface="Times New Roman" panose="02020603050405020304" pitchFamily="18" charset="0"/>
                <a:cs typeface="Times New Roman" panose="02020603050405020304" pitchFamily="18" charset="0"/>
              </a:rPr>
              <a:t/>
            </a:r>
            <a:br>
              <a:rPr lang="en-US" sz="2400" b="1" dirty="0">
                <a:latin typeface="Times New Roman" panose="02020603050405020304" pitchFamily="18" charset="0"/>
                <a:cs typeface="Times New Roman" panose="02020603050405020304" pitchFamily="18" charset="0"/>
              </a:rPr>
            </a:br>
            <a:r>
              <a:rPr lang="en-US" sz="2400" b="1" dirty="0" smtClean="0">
                <a:latin typeface="Times New Roman" panose="02020603050405020304" pitchFamily="18" charset="0"/>
                <a:cs typeface="Times New Roman" panose="02020603050405020304" pitchFamily="18" charset="0"/>
              </a:rPr>
              <a:t/>
            </a:r>
            <a:br>
              <a:rPr lang="en-US" sz="2400" b="1" dirty="0" smtClean="0">
                <a:latin typeface="Times New Roman" panose="02020603050405020304" pitchFamily="18" charset="0"/>
                <a:cs typeface="Times New Roman" panose="02020603050405020304" pitchFamily="18" charset="0"/>
              </a:rPr>
            </a:br>
            <a:r>
              <a:rPr lang="en-US" sz="2400" b="1" dirty="0" smtClean="0">
                <a:latin typeface="Times New Roman" panose="02020603050405020304" pitchFamily="18" charset="0"/>
                <a:cs typeface="Times New Roman" panose="02020603050405020304" pitchFamily="18" charset="0"/>
              </a:rPr>
              <a:t>Internal</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417639"/>
            <a:ext cx="10972800" cy="4708526"/>
          </a:xfrm>
        </p:spPr>
        <p:txBody>
          <a:bodyPr>
            <a:noAutofit/>
          </a:bodyPr>
          <a:lstStyle/>
          <a:p>
            <a:r>
              <a:rPr lang="en-US" sz="1800" b="1" dirty="0" smtClean="0">
                <a:solidFill>
                  <a:srgbClr val="FF0000"/>
                </a:solidFill>
                <a:latin typeface="Times New Roman" panose="02020603050405020304" pitchFamily="18" charset="0"/>
                <a:cs typeface="Times New Roman" panose="02020603050405020304" pitchFamily="18" charset="0"/>
              </a:rPr>
              <a:t>Rise in Demand</a:t>
            </a:r>
          </a:p>
          <a:p>
            <a:r>
              <a:rPr lang="en-US" sz="1600" dirty="0" smtClean="0">
                <a:latin typeface="Times New Roman" panose="02020603050405020304" pitchFamily="18" charset="0"/>
                <a:cs typeface="Times New Roman" panose="02020603050405020304" pitchFamily="18" charset="0"/>
              </a:rPr>
              <a:t>Activities </a:t>
            </a:r>
            <a:r>
              <a:rPr lang="en-US" sz="1600" dirty="0">
                <a:latin typeface="Times New Roman" panose="02020603050405020304" pitchFamily="18" charset="0"/>
                <a:cs typeface="Times New Roman" panose="02020603050405020304" pitchFamily="18" charset="0"/>
              </a:rPr>
              <a:t>and new launches have helped Nestle India maintain leadership positions in more than 85% of product </a:t>
            </a:r>
            <a:r>
              <a:rPr lang="en-US" sz="1600" dirty="0" smtClean="0">
                <a:latin typeface="Times New Roman" panose="02020603050405020304" pitchFamily="18" charset="0"/>
                <a:cs typeface="Times New Roman" panose="02020603050405020304" pitchFamily="18" charset="0"/>
              </a:rPr>
              <a:t>categories</a:t>
            </a:r>
          </a:p>
          <a:p>
            <a:r>
              <a:rPr lang="en-US" sz="1600" dirty="0" smtClean="0">
                <a:latin typeface="Times New Roman" panose="02020603050405020304" pitchFamily="18" charset="0"/>
                <a:cs typeface="Times New Roman" panose="02020603050405020304" pitchFamily="18" charset="0"/>
              </a:rPr>
              <a:t>Brands </a:t>
            </a:r>
            <a:r>
              <a:rPr lang="en-US" sz="1600" dirty="0">
                <a:latin typeface="Times New Roman" panose="02020603050405020304" pitchFamily="18" charset="0"/>
                <a:cs typeface="Times New Roman" panose="02020603050405020304" pitchFamily="18" charset="0"/>
              </a:rPr>
              <a:t>like </a:t>
            </a:r>
            <a:r>
              <a:rPr lang="en-US" sz="1600" dirty="0" err="1">
                <a:latin typeface="Times New Roman" panose="02020603050405020304" pitchFamily="18" charset="0"/>
                <a:cs typeface="Times New Roman" panose="02020603050405020304" pitchFamily="18" charset="0"/>
              </a:rPr>
              <a:t>Lactogen</a:t>
            </a:r>
            <a:r>
              <a:rPr lang="en-US" sz="1600" dirty="0">
                <a:latin typeface="Times New Roman" panose="02020603050405020304" pitchFamily="18" charset="0"/>
                <a:cs typeface="Times New Roman" panose="02020603050405020304" pitchFamily="18" charset="0"/>
              </a:rPr>
              <a:t> and Nan (together </a:t>
            </a:r>
            <a:r>
              <a:rPr lang="en-US" sz="1600" dirty="0">
                <a:solidFill>
                  <a:srgbClr val="FF0000"/>
                </a:solidFill>
                <a:latin typeface="Times New Roman" panose="02020603050405020304" pitchFamily="18" charset="0"/>
                <a:cs typeface="Times New Roman" panose="02020603050405020304" pitchFamily="18" charset="0"/>
              </a:rPr>
              <a:t>67.7 per cent</a:t>
            </a:r>
            <a:r>
              <a:rPr lang="en-US" sz="1600" dirty="0">
                <a:latin typeface="Times New Roman" panose="02020603050405020304" pitchFamily="18" charset="0"/>
                <a:cs typeface="Times New Roman" panose="02020603050405020304" pitchFamily="18" charset="0"/>
              </a:rPr>
              <a:t>), </a:t>
            </a:r>
            <a:endParaRPr lang="en-US" sz="1600" dirty="0" smtClean="0">
              <a:latin typeface="Times New Roman" panose="02020603050405020304" pitchFamily="18" charset="0"/>
              <a:cs typeface="Times New Roman" panose="02020603050405020304" pitchFamily="18" charset="0"/>
            </a:endParaRPr>
          </a:p>
          <a:p>
            <a:r>
              <a:rPr lang="en-US" sz="1600" dirty="0" err="1" smtClean="0">
                <a:latin typeface="Times New Roman" panose="02020603050405020304" pitchFamily="18" charset="0"/>
                <a:cs typeface="Times New Roman" panose="02020603050405020304" pitchFamily="18" charset="0"/>
              </a:rPr>
              <a:t>Cerelac</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en-US" sz="1600" dirty="0">
                <a:solidFill>
                  <a:srgbClr val="FF0000"/>
                </a:solidFill>
                <a:latin typeface="Times New Roman" panose="02020603050405020304" pitchFamily="18" charset="0"/>
                <a:cs typeface="Times New Roman" panose="02020603050405020304" pitchFamily="18" charset="0"/>
              </a:rPr>
              <a:t>96.1</a:t>
            </a:r>
            <a:r>
              <a:rPr lang="en-US" sz="1600" dirty="0">
                <a:latin typeface="Times New Roman" panose="02020603050405020304" pitchFamily="18" charset="0"/>
                <a:cs typeface="Times New Roman" panose="02020603050405020304" pitchFamily="18" charset="0"/>
              </a:rPr>
              <a:t> per cent</a:t>
            </a:r>
            <a:r>
              <a:rPr lang="en-US" sz="1600" dirty="0" smtClean="0">
                <a:latin typeface="Times New Roman" panose="02020603050405020304" pitchFamily="18" charset="0"/>
                <a:cs typeface="Times New Roman" panose="02020603050405020304" pitchFamily="18" charset="0"/>
              </a:rPr>
              <a:t>),</a:t>
            </a:r>
          </a:p>
          <a:p>
            <a:r>
              <a:rPr lang="en-US" sz="1600" dirty="0" err="1" smtClean="0">
                <a:latin typeface="Times New Roman" panose="02020603050405020304" pitchFamily="18" charset="0"/>
                <a:cs typeface="Times New Roman" panose="02020603050405020304" pitchFamily="18" charset="0"/>
              </a:rPr>
              <a:t>KitKat</a:t>
            </a:r>
            <a:r>
              <a:rPr lang="en-US" sz="1600" dirty="0">
                <a:latin typeface="Times New Roman" panose="02020603050405020304" pitchFamily="18" charset="0"/>
                <a:cs typeface="Times New Roman" panose="02020603050405020304" pitchFamily="18" charset="0"/>
              </a:rPr>
              <a:t>, Munch and </a:t>
            </a:r>
            <a:r>
              <a:rPr lang="en-US" sz="1600" dirty="0" err="1">
                <a:latin typeface="Times New Roman" panose="02020603050405020304" pitchFamily="18" charset="0"/>
                <a:cs typeface="Times New Roman" panose="02020603050405020304" pitchFamily="18" charset="0"/>
              </a:rPr>
              <a:t>Milkybar</a:t>
            </a:r>
            <a:r>
              <a:rPr lang="en-US" sz="1600" dirty="0">
                <a:latin typeface="Times New Roman" panose="02020603050405020304" pitchFamily="18" charset="0"/>
                <a:cs typeface="Times New Roman" panose="02020603050405020304" pitchFamily="18" charset="0"/>
              </a:rPr>
              <a:t> (together </a:t>
            </a:r>
            <a:r>
              <a:rPr lang="en-US" sz="1600" dirty="0">
                <a:solidFill>
                  <a:srgbClr val="FF0000"/>
                </a:solidFill>
                <a:latin typeface="Times New Roman" panose="02020603050405020304" pitchFamily="18" charset="0"/>
                <a:cs typeface="Times New Roman" panose="02020603050405020304" pitchFamily="18" charset="0"/>
              </a:rPr>
              <a:t>61</a:t>
            </a:r>
            <a:r>
              <a:rPr lang="en-US" sz="1600" dirty="0">
                <a:latin typeface="Times New Roman" panose="02020603050405020304" pitchFamily="18" charset="0"/>
                <a:cs typeface="Times New Roman" panose="02020603050405020304" pitchFamily="18" charset="0"/>
              </a:rPr>
              <a:t> per cent),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Nescafé </a:t>
            </a:r>
            <a:r>
              <a:rPr lang="en-US" sz="1600" dirty="0">
                <a:solidFill>
                  <a:srgbClr val="FF0000"/>
                </a:solidFill>
                <a:latin typeface="Times New Roman" panose="02020603050405020304" pitchFamily="18" charset="0"/>
                <a:cs typeface="Times New Roman" panose="02020603050405020304" pitchFamily="18" charset="0"/>
              </a:rPr>
              <a:t>(51 </a:t>
            </a:r>
            <a:r>
              <a:rPr lang="en-US" sz="1600" dirty="0">
                <a:latin typeface="Times New Roman" panose="02020603050405020304" pitchFamily="18" charset="0"/>
                <a:cs typeface="Times New Roman" panose="02020603050405020304" pitchFamily="18" charset="0"/>
              </a:rPr>
              <a:t>per cent) and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Maggi </a:t>
            </a:r>
            <a:r>
              <a:rPr lang="en-US" sz="1600" dirty="0">
                <a:latin typeface="Times New Roman" panose="02020603050405020304" pitchFamily="18" charset="0"/>
                <a:cs typeface="Times New Roman" panose="02020603050405020304" pitchFamily="18" charset="0"/>
              </a:rPr>
              <a:t>noodles (</a:t>
            </a:r>
            <a:r>
              <a:rPr lang="en-US" sz="1600" dirty="0">
                <a:solidFill>
                  <a:srgbClr val="FF0000"/>
                </a:solidFill>
                <a:latin typeface="Times New Roman" panose="02020603050405020304" pitchFamily="18" charset="0"/>
                <a:cs typeface="Times New Roman" panose="02020603050405020304" pitchFamily="18" charset="0"/>
              </a:rPr>
              <a:t>60</a:t>
            </a:r>
            <a:r>
              <a:rPr lang="en-US" sz="1600" dirty="0">
                <a:latin typeface="Times New Roman" panose="02020603050405020304" pitchFamily="18" charset="0"/>
                <a:cs typeface="Times New Roman" panose="02020603050405020304" pitchFamily="18" charset="0"/>
              </a:rPr>
              <a:t> per cent) are market leaders in their respective categories</a:t>
            </a:r>
            <a:r>
              <a:rPr lang="en-US" sz="1600" dirty="0" smtClean="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Focus on </a:t>
            </a:r>
            <a:r>
              <a:rPr lang="en-US" sz="1600" dirty="0">
                <a:latin typeface="Times New Roman" panose="02020603050405020304" pitchFamily="18" charset="0"/>
                <a:cs typeface="Times New Roman" panose="02020603050405020304" pitchFamily="18" charset="0"/>
              </a:rPr>
              <a:t>consolidating its business activities by </a:t>
            </a:r>
            <a:r>
              <a:rPr lang="en-US" sz="1600" dirty="0">
                <a:solidFill>
                  <a:srgbClr val="FF0000"/>
                </a:solidFill>
                <a:latin typeface="Times New Roman" panose="02020603050405020304" pitchFamily="18" charset="0"/>
                <a:cs typeface="Times New Roman" panose="02020603050405020304" pitchFamily="18" charset="0"/>
              </a:rPr>
              <a:t>adding capacity</a:t>
            </a:r>
            <a:r>
              <a:rPr lang="en-US" sz="1600" dirty="0">
                <a:latin typeface="Times New Roman" panose="02020603050405020304" pitchFamily="18" charset="0"/>
                <a:cs typeface="Times New Roman" panose="02020603050405020304" pitchFamily="18" charset="0"/>
              </a:rPr>
              <a:t> and strengthening the market position of its newly launched products</a:t>
            </a:r>
            <a:r>
              <a:rPr lang="en-US" sz="1600" dirty="0" smtClean="0">
                <a:latin typeface="Times New Roman" panose="02020603050405020304" pitchFamily="18" charset="0"/>
                <a:cs typeface="Times New Roman" panose="02020603050405020304" pitchFamily="18" charset="0"/>
              </a:rPr>
              <a:t>.</a:t>
            </a:r>
          </a:p>
          <a:p>
            <a:r>
              <a:rPr lang="en-US" sz="1600" dirty="0" smtClean="0">
                <a:latin typeface="Times New Roman" panose="02020603050405020304" pitchFamily="18" charset="0"/>
                <a:cs typeface="Times New Roman" panose="02020603050405020304" pitchFamily="18" charset="0"/>
              </a:rPr>
              <a:t>Expanding </a:t>
            </a:r>
            <a:r>
              <a:rPr lang="en-US" sz="1600" dirty="0">
                <a:latin typeface="Times New Roman" panose="02020603050405020304" pitchFamily="18" charset="0"/>
                <a:cs typeface="Times New Roman" panose="02020603050405020304" pitchFamily="18" charset="0"/>
              </a:rPr>
              <a:t>our capacity - </a:t>
            </a:r>
            <a:r>
              <a:rPr lang="en-US" sz="1600" dirty="0">
                <a:solidFill>
                  <a:srgbClr val="FF0000"/>
                </a:solidFill>
                <a:latin typeface="Times New Roman" panose="02020603050405020304" pitchFamily="18" charset="0"/>
                <a:cs typeface="Times New Roman" panose="02020603050405020304" pitchFamily="18" charset="0"/>
              </a:rPr>
              <a:t>either by adding lines in our existing facilities or through a new </a:t>
            </a:r>
            <a:r>
              <a:rPr lang="en-US" sz="1600" dirty="0" smtClean="0">
                <a:solidFill>
                  <a:srgbClr val="FF0000"/>
                </a:solidFill>
                <a:latin typeface="Times New Roman" panose="02020603050405020304" pitchFamily="18" charset="0"/>
                <a:cs typeface="Times New Roman" panose="02020603050405020304" pitchFamily="18" charset="0"/>
              </a:rPr>
              <a:t>plant.</a:t>
            </a:r>
            <a:endParaRPr lang="en-US" sz="1600" dirty="0">
              <a:solidFill>
                <a:srgbClr val="FF0000"/>
              </a:solidFill>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last time Nestlé set up a plant in India was in</a:t>
            </a:r>
            <a:r>
              <a:rPr lang="en-US" sz="1600" dirty="0">
                <a:solidFill>
                  <a:srgbClr val="FF0000"/>
                </a:solidFill>
                <a:latin typeface="Times New Roman" panose="02020603050405020304" pitchFamily="18" charset="0"/>
                <a:cs typeface="Times New Roman" panose="02020603050405020304" pitchFamily="18" charset="0"/>
              </a:rPr>
              <a:t> 2012, when its facility at </a:t>
            </a:r>
            <a:r>
              <a:rPr lang="en-US" sz="1600" dirty="0" err="1">
                <a:solidFill>
                  <a:srgbClr val="FF0000"/>
                </a:solidFill>
                <a:latin typeface="Times New Roman" panose="02020603050405020304" pitchFamily="18" charset="0"/>
                <a:cs typeface="Times New Roman" panose="02020603050405020304" pitchFamily="18" charset="0"/>
              </a:rPr>
              <a:t>Tahliwal</a:t>
            </a:r>
            <a:r>
              <a:rPr lang="en-US" sz="1600" dirty="0">
                <a:solidFill>
                  <a:srgbClr val="FF0000"/>
                </a:solidFill>
                <a:latin typeface="Times New Roman" panose="02020603050405020304" pitchFamily="18" charset="0"/>
                <a:cs typeface="Times New Roman" panose="02020603050405020304" pitchFamily="18" charset="0"/>
              </a:rPr>
              <a:t>, Himachal </a:t>
            </a:r>
            <a:r>
              <a:rPr lang="en-US" sz="1600" dirty="0" smtClean="0">
                <a:solidFill>
                  <a:srgbClr val="FF0000"/>
                </a:solidFill>
                <a:latin typeface="Times New Roman" panose="02020603050405020304" pitchFamily="18" charset="0"/>
                <a:cs typeface="Times New Roman" panose="02020603050405020304" pitchFamily="18" charset="0"/>
              </a:rPr>
              <a:t>Pradesh.</a:t>
            </a:r>
          </a:p>
          <a:p>
            <a:r>
              <a:rPr lang="en-US" sz="1600" dirty="0" smtClean="0">
                <a:latin typeface="Times New Roman" panose="02020603050405020304" pitchFamily="18" charset="0"/>
                <a:cs typeface="Times New Roman" panose="02020603050405020304" pitchFamily="18" charset="0"/>
              </a:rPr>
              <a:t>Currently</a:t>
            </a:r>
            <a:r>
              <a:rPr lang="en-US" sz="1600" dirty="0">
                <a:latin typeface="Times New Roman" panose="02020603050405020304" pitchFamily="18" charset="0"/>
                <a:cs typeface="Times New Roman" panose="02020603050405020304" pitchFamily="18" charset="0"/>
              </a:rPr>
              <a:t>, the 107-year-old firm </a:t>
            </a:r>
            <a:r>
              <a:rPr lang="en-US" sz="1600" dirty="0">
                <a:solidFill>
                  <a:srgbClr val="FF0000"/>
                </a:solidFill>
                <a:latin typeface="Times New Roman" panose="02020603050405020304" pitchFamily="18" charset="0"/>
                <a:cs typeface="Times New Roman" panose="02020603050405020304" pitchFamily="18" charset="0"/>
              </a:rPr>
              <a:t>has eight manufacturing facilities in the country. </a:t>
            </a:r>
            <a:endParaRPr lang="en-US" sz="1600" dirty="0" smtClean="0">
              <a:solidFill>
                <a:srgbClr val="FF0000"/>
              </a:solidFill>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Its </a:t>
            </a:r>
            <a:r>
              <a:rPr lang="en-US" sz="1600" dirty="0">
                <a:latin typeface="Times New Roman" panose="02020603050405020304" pitchFamily="18" charset="0"/>
                <a:cs typeface="Times New Roman" panose="02020603050405020304" pitchFamily="18" charset="0"/>
              </a:rPr>
              <a:t>first facility at </a:t>
            </a:r>
            <a:r>
              <a:rPr lang="en-US" sz="1600" dirty="0" err="1">
                <a:solidFill>
                  <a:srgbClr val="FF0000"/>
                </a:solidFill>
                <a:latin typeface="Times New Roman" panose="02020603050405020304" pitchFamily="18" charset="0"/>
                <a:cs typeface="Times New Roman" panose="02020603050405020304" pitchFamily="18" charset="0"/>
              </a:rPr>
              <a:t>Moga</a:t>
            </a:r>
            <a:r>
              <a:rPr lang="en-US" sz="1600" dirty="0">
                <a:solidFill>
                  <a:srgbClr val="FF0000"/>
                </a:solidFill>
                <a:latin typeface="Times New Roman" panose="02020603050405020304" pitchFamily="18" charset="0"/>
                <a:cs typeface="Times New Roman" panose="02020603050405020304" pitchFamily="18" charset="0"/>
              </a:rPr>
              <a:t> in Punjab came up in 1961.</a:t>
            </a:r>
          </a:p>
          <a:p>
            <a:endParaRPr lang="en-IN"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95447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143000"/>
          </a:xfrm>
        </p:spPr>
        <p:txBody>
          <a:bodyPr>
            <a:noAutofit/>
          </a:bodyPr>
          <a:lstStyle/>
          <a:p>
            <a:r>
              <a:rPr lang="en-US" sz="2800" dirty="0" smtClean="0">
                <a:solidFill>
                  <a:srgbClr val="FF0000"/>
                </a:solidFill>
                <a:latin typeface="Times New Roman" panose="02020603050405020304" pitchFamily="18" charset="0"/>
                <a:cs typeface="Times New Roman" panose="02020603050405020304" pitchFamily="18" charset="0"/>
              </a:rPr>
              <a:t>Public</a:t>
            </a:r>
            <a:br>
              <a:rPr lang="en-US" sz="2800" dirty="0" smtClean="0">
                <a:solidFill>
                  <a:srgbClr val="FF0000"/>
                </a:solidFill>
                <a:latin typeface="Times New Roman" panose="02020603050405020304" pitchFamily="18" charset="0"/>
                <a:cs typeface="Times New Roman" panose="02020603050405020304" pitchFamily="18" charset="0"/>
              </a:rPr>
            </a:br>
            <a:r>
              <a:rPr lang="en-US" sz="2800" dirty="0" err="1" smtClean="0">
                <a:solidFill>
                  <a:srgbClr val="FF0000"/>
                </a:solidFill>
                <a:latin typeface="Times New Roman" panose="02020603050405020304" pitchFamily="18" charset="0"/>
                <a:cs typeface="Times New Roman" panose="02020603050405020304" pitchFamily="18" charset="0"/>
              </a:rPr>
              <a:t>Bournvita</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21493"/>
            <a:ext cx="10972800" cy="5346356"/>
          </a:xfrm>
        </p:spPr>
        <p:txBody>
          <a:bodyPr>
            <a:noAutofit/>
          </a:bodyPr>
          <a:lstStyle/>
          <a:p>
            <a:endParaRPr lang="en-US" sz="1600" dirty="0" smtClean="0">
              <a:latin typeface="Times New Roman" panose="02020603050405020304" pitchFamily="18" charset="0"/>
              <a:cs typeface="Times New Roman" panose="02020603050405020304" pitchFamily="18" charset="0"/>
            </a:endParaRPr>
          </a:p>
          <a:p>
            <a:r>
              <a:rPr lang="en-US" sz="1600" dirty="0" smtClean="0">
                <a:solidFill>
                  <a:srgbClr val="FF0000"/>
                </a:solidFill>
                <a:latin typeface="Times New Roman" panose="02020603050405020304" pitchFamily="18" charset="0"/>
                <a:cs typeface="Times New Roman" panose="02020603050405020304" pitchFamily="18" charset="0"/>
              </a:rPr>
              <a:t>12 </a:t>
            </a:r>
            <a:r>
              <a:rPr lang="en-US" sz="1600" dirty="0">
                <a:solidFill>
                  <a:srgbClr val="FF0000"/>
                </a:solidFill>
                <a:latin typeface="Times New Roman" panose="02020603050405020304" pitchFamily="18" charset="0"/>
                <a:cs typeface="Times New Roman" panose="02020603050405020304" pitchFamily="18" charset="0"/>
              </a:rPr>
              <a:t>million views -</a:t>
            </a:r>
            <a:r>
              <a:rPr lang="en-US" sz="1600" dirty="0">
                <a:latin typeface="Times New Roman" panose="02020603050405020304" pitchFamily="18" charset="0"/>
                <a:cs typeface="Times New Roman" panose="02020603050405020304" pitchFamily="18" charset="0"/>
              </a:rPr>
              <a:t>In the video, </a:t>
            </a:r>
            <a:r>
              <a:rPr lang="en-US" sz="1600" dirty="0" err="1">
                <a:latin typeface="Times New Roman" panose="02020603050405020304" pitchFamily="18" charset="0"/>
                <a:cs typeface="Times New Roman" panose="02020603050405020304" pitchFamily="18" charset="0"/>
              </a:rPr>
              <a:t>Himatsingka</a:t>
            </a:r>
            <a:r>
              <a:rPr lang="en-US" sz="1600" dirty="0">
                <a:latin typeface="Times New Roman" panose="02020603050405020304" pitchFamily="18" charset="0"/>
                <a:cs typeface="Times New Roman" panose="02020603050405020304" pitchFamily="18" charset="0"/>
              </a:rPr>
              <a:t> who presents himself as a nutritionist and a health coach, claimed that </a:t>
            </a:r>
            <a:r>
              <a:rPr lang="en-US" sz="1600" dirty="0" err="1">
                <a:latin typeface="Times New Roman" panose="02020603050405020304" pitchFamily="18" charset="0"/>
                <a:cs typeface="Times New Roman" panose="02020603050405020304" pitchFamily="18" charset="0"/>
              </a:rPr>
              <a:t>Bournvita</a:t>
            </a:r>
            <a:r>
              <a:rPr lang="en-US" sz="1600" dirty="0">
                <a:latin typeface="Times New Roman" panose="02020603050405020304" pitchFamily="18" charset="0"/>
                <a:cs typeface="Times New Roman" panose="02020603050405020304" pitchFamily="18" charset="0"/>
              </a:rPr>
              <a:t> has </a:t>
            </a:r>
            <a:r>
              <a:rPr lang="en-US" sz="1600" dirty="0">
                <a:solidFill>
                  <a:srgbClr val="FF0000"/>
                </a:solidFill>
                <a:latin typeface="Times New Roman" panose="02020603050405020304" pitchFamily="18" charset="0"/>
                <a:cs typeface="Times New Roman" panose="02020603050405020304" pitchFamily="18" charset="0"/>
              </a:rPr>
              <a:t>sugar, cocoa solids and cancer-causing </a:t>
            </a:r>
            <a:r>
              <a:rPr lang="en-US" sz="1600" dirty="0" err="1">
                <a:solidFill>
                  <a:srgbClr val="FF0000"/>
                </a:solidFill>
                <a:latin typeface="Times New Roman" panose="02020603050405020304" pitchFamily="18" charset="0"/>
                <a:cs typeface="Times New Roman" panose="02020603050405020304" pitchFamily="18" charset="0"/>
              </a:rPr>
              <a:t>colourant</a:t>
            </a:r>
            <a:r>
              <a:rPr lang="en-US" sz="1600" dirty="0">
                <a:solidFill>
                  <a:srgbClr val="FF0000"/>
                </a:solidFill>
                <a:latin typeface="Times New Roman" panose="02020603050405020304" pitchFamily="18" charset="0"/>
                <a:cs typeface="Times New Roman" panose="02020603050405020304" pitchFamily="18" charset="0"/>
              </a:rPr>
              <a:t>. Video has created "panic, </a:t>
            </a:r>
            <a:r>
              <a:rPr lang="en-US" sz="1600" dirty="0" smtClean="0">
                <a:solidFill>
                  <a:srgbClr val="FF0000"/>
                </a:solidFill>
                <a:latin typeface="Times New Roman" panose="02020603050405020304" pitchFamily="18" charset="0"/>
                <a:cs typeface="Times New Roman" panose="02020603050405020304" pitchFamily="18" charset="0"/>
              </a:rPr>
              <a:t>anxiety</a:t>
            </a:r>
            <a:r>
              <a:rPr lang="en-US" sz="1600" dirty="0" smtClean="0">
                <a:latin typeface="Times New Roman" panose="02020603050405020304" pitchFamily="18" charset="0"/>
                <a:cs typeface="Times New Roman" panose="02020603050405020304" pitchFamily="18" charset="0"/>
              </a:rPr>
              <a:t>. </a:t>
            </a:r>
            <a:r>
              <a:rPr lang="en-US" sz="1600" dirty="0" smtClean="0">
                <a:solidFill>
                  <a:srgbClr val="FF0000"/>
                </a:solidFill>
                <a:latin typeface="Times New Roman" panose="02020603050405020304" pitchFamily="18" charset="0"/>
                <a:cs typeface="Times New Roman" panose="02020603050405020304" pitchFamily="18" charset="0"/>
              </a:rPr>
              <a:t>Deleted </a:t>
            </a:r>
            <a:r>
              <a:rPr lang="en-US" sz="1600" dirty="0">
                <a:solidFill>
                  <a:srgbClr val="FF0000"/>
                </a:solidFill>
                <a:latin typeface="Times New Roman" panose="02020603050405020304" pitchFamily="18" charset="0"/>
                <a:cs typeface="Times New Roman" panose="02020603050405020304" pitchFamily="18" charset="0"/>
              </a:rPr>
              <a:t>by the influencer </a:t>
            </a:r>
            <a:r>
              <a:rPr lang="en-US" sz="1600" dirty="0" err="1">
                <a:solidFill>
                  <a:srgbClr val="FF0000"/>
                </a:solidFill>
                <a:latin typeface="Times New Roman" panose="02020603050405020304" pitchFamily="18" charset="0"/>
                <a:cs typeface="Times New Roman" panose="02020603050405020304" pitchFamily="18" charset="0"/>
              </a:rPr>
              <a:t>Revant</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Himatsingka</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after being served a legal notice by the </a:t>
            </a:r>
            <a:r>
              <a:rPr lang="en-US" sz="1600" dirty="0" smtClean="0">
                <a:latin typeface="Times New Roman" panose="02020603050405020304" pitchFamily="18" charset="0"/>
                <a:cs typeface="Times New Roman" panose="02020603050405020304" pitchFamily="18" charset="0"/>
              </a:rPr>
              <a:t>company.</a:t>
            </a:r>
            <a:endParaRPr lang="en-US" sz="1600" dirty="0">
              <a:latin typeface="Times New Roman" panose="02020603050405020304" pitchFamily="18" charset="0"/>
              <a:cs typeface="Times New Roman" panose="02020603050405020304" pitchFamily="18" charset="0"/>
            </a:endParaRPr>
          </a:p>
          <a:p>
            <a:endParaRPr lang="en-US" sz="1600" dirty="0" smtClean="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Mondelez</a:t>
            </a:r>
            <a:r>
              <a:rPr lang="en-US" sz="1600" dirty="0">
                <a:latin typeface="Times New Roman" panose="02020603050405020304" pitchFamily="18" charset="0"/>
                <a:cs typeface="Times New Roman" panose="02020603050405020304" pitchFamily="18" charset="0"/>
              </a:rPr>
              <a:t> India-owned health drink brand </a:t>
            </a:r>
            <a:r>
              <a:rPr lang="en-US" sz="1600" dirty="0" err="1">
                <a:latin typeface="Times New Roman" panose="02020603050405020304" pitchFamily="18" charset="0"/>
                <a:cs typeface="Times New Roman" panose="02020603050405020304" pitchFamily="18" charset="0"/>
              </a:rPr>
              <a:t>Bournvita</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a:t>
            </a:r>
            <a:r>
              <a:rPr lang="en-US" sz="1600" dirty="0" smtClean="0">
                <a:solidFill>
                  <a:srgbClr val="FF0000"/>
                </a:solidFill>
                <a:latin typeface="Times New Roman" panose="02020603050405020304" pitchFamily="18" charset="0"/>
                <a:cs typeface="Times New Roman" panose="02020603050405020304" pitchFamily="18" charset="0"/>
              </a:rPr>
              <a:t>rejected </a:t>
            </a:r>
            <a:r>
              <a:rPr lang="en-US" sz="1600" dirty="0">
                <a:solidFill>
                  <a:srgbClr val="FF0000"/>
                </a:solidFill>
                <a:latin typeface="Times New Roman" panose="02020603050405020304" pitchFamily="18" charset="0"/>
                <a:cs typeface="Times New Roman" panose="02020603050405020304" pitchFamily="18" charset="0"/>
              </a:rPr>
              <a:t>the claims of a social media influencer of having high sugar content</a:t>
            </a:r>
            <a:r>
              <a:rPr lang="en-US" sz="1600" dirty="0">
                <a:latin typeface="Times New Roman" panose="02020603050405020304" pitchFamily="18" charset="0"/>
                <a:cs typeface="Times New Roman" panose="02020603050405020304" pitchFamily="18" charset="0"/>
              </a:rPr>
              <a:t>, terming a </a:t>
            </a:r>
            <a:r>
              <a:rPr lang="en-US" sz="1600" dirty="0">
                <a:solidFill>
                  <a:srgbClr val="FF0000"/>
                </a:solidFill>
                <a:latin typeface="Times New Roman" panose="02020603050405020304" pitchFamily="18" charset="0"/>
                <a:cs typeface="Times New Roman" panose="02020603050405020304" pitchFamily="18" charset="0"/>
              </a:rPr>
              <a:t>video</a:t>
            </a:r>
            <a:r>
              <a:rPr lang="en-US" sz="1600" dirty="0">
                <a:latin typeface="Times New Roman" panose="02020603050405020304" pitchFamily="18" charset="0"/>
                <a:cs typeface="Times New Roman" panose="02020603050405020304" pitchFamily="18" charset="0"/>
              </a:rPr>
              <a:t> posted by him as "</a:t>
            </a:r>
            <a:r>
              <a:rPr lang="en-US" sz="1600" dirty="0">
                <a:solidFill>
                  <a:srgbClr val="FF0000"/>
                </a:solidFill>
                <a:latin typeface="Times New Roman" panose="02020603050405020304" pitchFamily="18" charset="0"/>
                <a:cs typeface="Times New Roman" panose="02020603050405020304" pitchFamily="18" charset="0"/>
              </a:rPr>
              <a:t>unscientific</a:t>
            </a:r>
            <a:r>
              <a:rPr lang="en-US" sz="1600" dirty="0">
                <a:latin typeface="Times New Roman" panose="02020603050405020304" pitchFamily="18" charset="0"/>
                <a:cs typeface="Times New Roman" panose="02020603050405020304" pitchFamily="18" charset="0"/>
              </a:rPr>
              <a:t>", which "</a:t>
            </a:r>
            <a:r>
              <a:rPr lang="en-US" sz="1600" dirty="0">
                <a:solidFill>
                  <a:srgbClr val="FF0000"/>
                </a:solidFill>
                <a:latin typeface="Times New Roman" panose="02020603050405020304" pitchFamily="18" charset="0"/>
                <a:cs typeface="Times New Roman" panose="02020603050405020304" pitchFamily="18" charset="0"/>
              </a:rPr>
              <a:t>distorted facts </a:t>
            </a:r>
            <a:r>
              <a:rPr lang="en-US" sz="1600" dirty="0">
                <a:latin typeface="Times New Roman" panose="02020603050405020304" pitchFamily="18" charset="0"/>
                <a:cs typeface="Times New Roman" panose="02020603050405020304" pitchFamily="18" charset="0"/>
              </a:rPr>
              <a:t>and made false and </a:t>
            </a:r>
            <a:r>
              <a:rPr lang="en-US" sz="1600" dirty="0">
                <a:solidFill>
                  <a:srgbClr val="FF0000"/>
                </a:solidFill>
                <a:latin typeface="Times New Roman" panose="02020603050405020304" pitchFamily="18" charset="0"/>
                <a:cs typeface="Times New Roman" panose="02020603050405020304" pitchFamily="18" charset="0"/>
              </a:rPr>
              <a:t>negative inferences</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Rejecting </a:t>
            </a:r>
            <a:r>
              <a:rPr lang="en-US" sz="1600" dirty="0">
                <a:latin typeface="Times New Roman" panose="02020603050405020304" pitchFamily="18" charset="0"/>
                <a:cs typeface="Times New Roman" panose="02020603050405020304" pitchFamily="18" charset="0"/>
              </a:rPr>
              <a:t>it, </a:t>
            </a:r>
            <a:r>
              <a:rPr lang="en-US" sz="1600" dirty="0" err="1">
                <a:latin typeface="Times New Roman" panose="02020603050405020304" pitchFamily="18" charset="0"/>
                <a:cs typeface="Times New Roman" panose="02020603050405020304" pitchFamily="18" charset="0"/>
              </a:rPr>
              <a:t>Bournvita</a:t>
            </a:r>
            <a:r>
              <a:rPr lang="en-US" sz="1600" dirty="0">
                <a:latin typeface="Times New Roman" panose="02020603050405020304" pitchFamily="18" charset="0"/>
                <a:cs typeface="Times New Roman" panose="02020603050405020304" pitchFamily="18" charset="0"/>
              </a:rPr>
              <a:t> in a statement said over the </a:t>
            </a:r>
            <a:r>
              <a:rPr lang="en-US" sz="1600" dirty="0">
                <a:solidFill>
                  <a:srgbClr val="FF0000"/>
                </a:solidFill>
                <a:latin typeface="Times New Roman" panose="02020603050405020304" pitchFamily="18" charset="0"/>
                <a:cs typeface="Times New Roman" panose="02020603050405020304" pitchFamily="18" charset="0"/>
              </a:rPr>
              <a:t>last seven decades</a:t>
            </a:r>
            <a:r>
              <a:rPr lang="en-US" sz="1600" dirty="0">
                <a:latin typeface="Times New Roman" panose="02020603050405020304" pitchFamily="18" charset="0"/>
                <a:cs typeface="Times New Roman" panose="02020603050405020304" pitchFamily="18" charset="0"/>
              </a:rPr>
              <a:t>, it has earned the trust of consumers in India by being a </a:t>
            </a:r>
            <a:r>
              <a:rPr lang="en-US" sz="1600" dirty="0">
                <a:solidFill>
                  <a:srgbClr val="FF0000"/>
                </a:solidFill>
                <a:latin typeface="Times New Roman" panose="02020603050405020304" pitchFamily="18" charset="0"/>
                <a:cs typeface="Times New Roman" panose="02020603050405020304" pitchFamily="18" charset="0"/>
              </a:rPr>
              <a:t>scientifically formulated product that adheres to quality standards </a:t>
            </a:r>
            <a:r>
              <a:rPr lang="en-US" sz="1600" dirty="0">
                <a:latin typeface="Times New Roman" panose="02020603050405020304" pitchFamily="18" charset="0"/>
                <a:cs typeface="Times New Roman" panose="02020603050405020304" pitchFamily="18" charset="0"/>
              </a:rPr>
              <a:t>and complies with the laws of the land</a:t>
            </a:r>
            <a:r>
              <a:rPr lang="en-US" sz="1600" dirty="0" smtClean="0">
                <a:latin typeface="Times New Roman" panose="02020603050405020304" pitchFamily="18" charset="0"/>
                <a:cs typeface="Times New Roman" panose="02020603050405020304" pitchFamily="18" charset="0"/>
              </a:rPr>
              <a:t>.</a:t>
            </a:r>
          </a:p>
          <a:p>
            <a:r>
              <a:rPr lang="en-US" sz="1600" dirty="0" smtClean="0">
                <a:latin typeface="Times New Roman" panose="02020603050405020304" pitchFamily="18" charset="0"/>
                <a:cs typeface="Times New Roman" panose="02020603050405020304" pitchFamily="18" charset="0"/>
              </a:rPr>
              <a:t>The formulation </a:t>
            </a:r>
            <a:r>
              <a:rPr lang="en-US" sz="1600" dirty="0">
                <a:latin typeface="Times New Roman" panose="02020603050405020304" pitchFamily="18" charset="0"/>
                <a:cs typeface="Times New Roman" panose="02020603050405020304" pitchFamily="18" charset="0"/>
              </a:rPr>
              <a:t>has been </a:t>
            </a:r>
            <a:r>
              <a:rPr lang="en-US" sz="1600" dirty="0">
                <a:solidFill>
                  <a:srgbClr val="FF0000"/>
                </a:solidFill>
                <a:latin typeface="Times New Roman" panose="02020603050405020304" pitchFamily="18" charset="0"/>
                <a:cs typeface="Times New Roman" panose="02020603050405020304" pitchFamily="18" charset="0"/>
              </a:rPr>
              <a:t>scientifically crafted by a team of nutritionists and food scientists to offer the best of taste and health. </a:t>
            </a:r>
            <a:r>
              <a:rPr lang="en-US" sz="1600" dirty="0">
                <a:latin typeface="Times New Roman" panose="02020603050405020304" pitchFamily="18" charset="0"/>
                <a:cs typeface="Times New Roman" panose="02020603050405020304" pitchFamily="18" charset="0"/>
              </a:rPr>
              <a:t>All our claims are verified and transparent and all ingredients have </a:t>
            </a:r>
            <a:r>
              <a:rPr lang="en-US" sz="1600" dirty="0">
                <a:solidFill>
                  <a:srgbClr val="FF0000"/>
                </a:solidFill>
                <a:latin typeface="Times New Roman" panose="02020603050405020304" pitchFamily="18" charset="0"/>
                <a:cs typeface="Times New Roman" panose="02020603050405020304" pitchFamily="18" charset="0"/>
              </a:rPr>
              <a:t>regulatory approvals</a:t>
            </a:r>
            <a:r>
              <a:rPr lang="en-US" sz="1600" dirty="0">
                <a:latin typeface="Times New Roman" panose="02020603050405020304" pitchFamily="18" charset="0"/>
                <a:cs typeface="Times New Roman" panose="02020603050405020304" pitchFamily="18" charset="0"/>
              </a:rPr>
              <a:t>. All the necessary </a:t>
            </a:r>
            <a:r>
              <a:rPr lang="en-US" sz="1600" dirty="0">
                <a:solidFill>
                  <a:srgbClr val="FF0000"/>
                </a:solidFill>
                <a:latin typeface="Times New Roman" panose="02020603050405020304" pitchFamily="18" charset="0"/>
                <a:cs typeface="Times New Roman" panose="02020603050405020304" pitchFamily="18" charset="0"/>
              </a:rPr>
              <a:t>nutritional information is mentioned on the pack </a:t>
            </a:r>
            <a:r>
              <a:rPr lang="en-US" sz="1600" dirty="0">
                <a:latin typeface="Times New Roman" panose="02020603050405020304" pitchFamily="18" charset="0"/>
                <a:cs typeface="Times New Roman" panose="02020603050405020304" pitchFamily="18" charset="0"/>
              </a:rPr>
              <a:t>for consumers to make informed choices," said a </a:t>
            </a:r>
            <a:r>
              <a:rPr lang="en-US" sz="1600" dirty="0" err="1">
                <a:latin typeface="Times New Roman" panose="02020603050405020304" pitchFamily="18" charset="0"/>
                <a:cs typeface="Times New Roman" panose="02020603050405020304" pitchFamily="18" charset="0"/>
              </a:rPr>
              <a:t>Bournvita</a:t>
            </a:r>
            <a:r>
              <a:rPr lang="en-US" sz="1600" dirty="0">
                <a:latin typeface="Times New Roman" panose="02020603050405020304" pitchFamily="18" charset="0"/>
                <a:cs typeface="Times New Roman" panose="02020603050405020304" pitchFamily="18" charset="0"/>
              </a:rPr>
              <a:t> spokesperson</a:t>
            </a:r>
            <a:r>
              <a:rPr lang="en-US" sz="1600" dirty="0" smtClean="0">
                <a:latin typeface="Times New Roman" panose="02020603050405020304" pitchFamily="18" charset="0"/>
                <a:cs typeface="Times New Roman" panose="02020603050405020304" pitchFamily="18" charset="0"/>
              </a:rPr>
              <a:t>.</a:t>
            </a:r>
          </a:p>
          <a:p>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company said </a:t>
            </a:r>
            <a:r>
              <a:rPr lang="en-US" sz="1600" dirty="0" err="1">
                <a:latin typeface="Times New Roman" panose="02020603050405020304" pitchFamily="18" charset="0"/>
                <a:cs typeface="Times New Roman" panose="02020603050405020304" pitchFamily="18" charset="0"/>
              </a:rPr>
              <a:t>Bournvita</a:t>
            </a:r>
            <a:r>
              <a:rPr lang="en-US" sz="1600" dirty="0">
                <a:latin typeface="Times New Roman" panose="02020603050405020304" pitchFamily="18" charset="0"/>
                <a:cs typeface="Times New Roman" panose="02020603050405020304" pitchFamily="18" charset="0"/>
              </a:rPr>
              <a:t> is best consumed with a glass of </a:t>
            </a:r>
            <a:r>
              <a:rPr lang="en-US" sz="1600" dirty="0">
                <a:solidFill>
                  <a:srgbClr val="FF0000"/>
                </a:solidFill>
                <a:latin typeface="Times New Roman" panose="02020603050405020304" pitchFamily="18" charset="0"/>
                <a:cs typeface="Times New Roman" panose="02020603050405020304" pitchFamily="18" charset="0"/>
              </a:rPr>
              <a:t>200 </a:t>
            </a:r>
            <a:r>
              <a:rPr lang="en-US" sz="1600" dirty="0" err="1">
                <a:solidFill>
                  <a:srgbClr val="FF0000"/>
                </a:solidFill>
                <a:latin typeface="Times New Roman" panose="02020603050405020304" pitchFamily="18" charset="0"/>
                <a:cs typeface="Times New Roman" panose="02020603050405020304" pitchFamily="18" charset="0"/>
              </a:rPr>
              <a:t>millilitere</a:t>
            </a:r>
            <a:r>
              <a:rPr lang="en-US" sz="1600" dirty="0">
                <a:solidFill>
                  <a:srgbClr val="FF0000"/>
                </a:solidFill>
                <a:latin typeface="Times New Roman" panose="02020603050405020304" pitchFamily="18" charset="0"/>
                <a:cs typeface="Times New Roman" panose="02020603050405020304" pitchFamily="18" charset="0"/>
              </a:rPr>
              <a:t> of hot or cold milk </a:t>
            </a:r>
            <a:r>
              <a:rPr lang="en-US" sz="1600" dirty="0">
                <a:latin typeface="Times New Roman" panose="02020603050405020304" pitchFamily="18" charset="0"/>
                <a:cs typeface="Times New Roman" panose="02020603050405020304" pitchFamily="18" charset="0"/>
              </a:rPr>
              <a:t>as highlighted on the pack.</a:t>
            </a:r>
          </a:p>
          <a:p>
            <a:r>
              <a:rPr lang="en-US" sz="1600" dirty="0">
                <a:latin typeface="Times New Roman" panose="02020603050405020304" pitchFamily="18" charset="0"/>
                <a:cs typeface="Times New Roman" panose="02020603050405020304" pitchFamily="18" charset="0"/>
              </a:rPr>
              <a:t>"Every serving of </a:t>
            </a:r>
            <a:r>
              <a:rPr lang="en-US" sz="1600" dirty="0">
                <a:solidFill>
                  <a:srgbClr val="FF0000"/>
                </a:solidFill>
                <a:latin typeface="Times New Roman" panose="02020603050405020304" pitchFamily="18" charset="0"/>
                <a:cs typeface="Times New Roman" panose="02020603050405020304" pitchFamily="18" charset="0"/>
              </a:rPr>
              <a:t>20 </a:t>
            </a:r>
            <a:r>
              <a:rPr lang="en-US" sz="1600" dirty="0" err="1">
                <a:solidFill>
                  <a:srgbClr val="FF0000"/>
                </a:solidFill>
                <a:latin typeface="Times New Roman" panose="02020603050405020304" pitchFamily="18" charset="0"/>
                <a:cs typeface="Times New Roman" panose="02020603050405020304" pitchFamily="18" charset="0"/>
              </a:rPr>
              <a:t>gm</a:t>
            </a:r>
            <a:r>
              <a:rPr lang="en-US" sz="1600" dirty="0">
                <a:solidFill>
                  <a:srgbClr val="FF0000"/>
                </a:solidFill>
                <a:latin typeface="Times New Roman" panose="02020603050405020304" pitchFamily="18" charset="0"/>
                <a:cs typeface="Times New Roman" panose="02020603050405020304" pitchFamily="18" charset="0"/>
              </a:rPr>
              <a:t> of </a:t>
            </a:r>
            <a:r>
              <a:rPr lang="en-US" sz="1600" dirty="0" err="1">
                <a:solidFill>
                  <a:srgbClr val="FF0000"/>
                </a:solidFill>
                <a:latin typeface="Times New Roman" panose="02020603050405020304" pitchFamily="18" charset="0"/>
                <a:cs typeface="Times New Roman" panose="02020603050405020304" pitchFamily="18" charset="0"/>
              </a:rPr>
              <a:t>Bournvita</a:t>
            </a:r>
            <a:r>
              <a:rPr lang="en-US" sz="1600" dirty="0">
                <a:solidFill>
                  <a:srgbClr val="FF0000"/>
                </a:solidFill>
                <a:latin typeface="Times New Roman" panose="02020603050405020304" pitchFamily="18" charset="0"/>
                <a:cs typeface="Times New Roman" panose="02020603050405020304" pitchFamily="18" charset="0"/>
              </a:rPr>
              <a:t> has 7.5 grams of added sugar</a:t>
            </a:r>
            <a:r>
              <a:rPr lang="en-US" sz="1600" dirty="0">
                <a:latin typeface="Times New Roman" panose="02020603050405020304" pitchFamily="18" charset="0"/>
                <a:cs typeface="Times New Roman" panose="02020603050405020304" pitchFamily="18" charset="0"/>
              </a:rPr>
              <a:t>, which is approximately one and a half teaspoons. This is much less than the daily recommended intake limits of sugar for children," </a:t>
            </a:r>
          </a:p>
          <a:p>
            <a:r>
              <a:rPr lang="en-US" sz="1600" dirty="0">
                <a:latin typeface="Times New Roman" panose="02020603050405020304" pitchFamily="18" charset="0"/>
                <a:cs typeface="Times New Roman" panose="02020603050405020304" pitchFamily="18" charset="0"/>
              </a:rPr>
              <a:t>Moreover, over </a:t>
            </a:r>
            <a:r>
              <a:rPr lang="en-US" sz="1600" dirty="0">
                <a:solidFill>
                  <a:srgbClr val="FF0000"/>
                </a:solidFill>
                <a:latin typeface="Times New Roman" panose="02020603050405020304" pitchFamily="18" charset="0"/>
                <a:cs typeface="Times New Roman" panose="02020603050405020304" pitchFamily="18" charset="0"/>
              </a:rPr>
              <a:t>Caramel </a:t>
            </a:r>
            <a:r>
              <a:rPr lang="en-US" sz="1600" dirty="0" err="1">
                <a:solidFill>
                  <a:srgbClr val="FF0000"/>
                </a:solidFill>
                <a:latin typeface="Times New Roman" panose="02020603050405020304" pitchFamily="18" charset="0"/>
                <a:cs typeface="Times New Roman" panose="02020603050405020304" pitchFamily="18" charset="0"/>
              </a:rPr>
              <a:t>Colour</a:t>
            </a:r>
            <a:r>
              <a:rPr lang="en-US" sz="1600" dirty="0">
                <a:solidFill>
                  <a:srgbClr val="FF0000"/>
                </a:solidFill>
                <a:latin typeface="Times New Roman" panose="02020603050405020304" pitchFamily="18" charset="0"/>
                <a:cs typeface="Times New Roman" panose="02020603050405020304" pitchFamily="18" charset="0"/>
              </a:rPr>
              <a:t> (150 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Bournvita</a:t>
            </a:r>
            <a:r>
              <a:rPr lang="en-US" sz="1600" dirty="0">
                <a:latin typeface="Times New Roman" panose="02020603050405020304" pitchFamily="18" charset="0"/>
                <a:cs typeface="Times New Roman" panose="02020603050405020304" pitchFamily="18" charset="0"/>
              </a:rPr>
              <a:t> said it "is within permissible limits as per guidelines defined by regulations".</a:t>
            </a:r>
          </a:p>
          <a:p>
            <a:r>
              <a:rPr lang="en-US" sz="1600" dirty="0">
                <a:solidFill>
                  <a:srgbClr val="FF0000"/>
                </a:solidFill>
                <a:latin typeface="Times New Roman" panose="02020603050405020304" pitchFamily="18" charset="0"/>
                <a:cs typeface="Times New Roman" panose="02020603050405020304" pitchFamily="18" charset="0"/>
              </a:rPr>
              <a:t>Cadbury Dairy Milk, 5 Star, Oreo cookie and Gems.</a:t>
            </a:r>
          </a:p>
          <a:p>
            <a:endParaRPr lang="en-US" sz="1600" dirty="0">
              <a:solidFill>
                <a:srgbClr val="FF0000"/>
              </a:solidFill>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480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563" y="2894270"/>
            <a:ext cx="10972800" cy="1143000"/>
          </a:xfrm>
        </p:spPr>
        <p:txBody>
          <a:bodyPr/>
          <a:lstStyle/>
          <a:p>
            <a:r>
              <a:rPr lang="en-US" dirty="0" smtClean="0">
                <a:solidFill>
                  <a:srgbClr val="FF0000"/>
                </a:solidFill>
              </a:rPr>
              <a:t>Thank You</a:t>
            </a:r>
            <a:endParaRPr lang="en-IN" dirty="0">
              <a:solidFill>
                <a:srgbClr val="FF0000"/>
              </a:solidFill>
            </a:endParaRPr>
          </a:p>
        </p:txBody>
      </p:sp>
    </p:spTree>
    <p:extLst>
      <p:ext uri="{BB962C8B-B14F-4D97-AF65-F5344CB8AC3E}">
        <p14:creationId xmlns:p14="http://schemas.microsoft.com/office/powerpoint/2010/main" val="3457024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866</Words>
  <Application>Microsoft Office PowerPoint</Application>
  <PresentationFormat>Widescreen</PresentationFormat>
  <Paragraphs>112</Paragraphs>
  <Slides>27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27</vt:i4>
      </vt:variant>
    </vt:vector>
  </HeadingPairs>
  <TitlesOfParts>
    <vt:vector size="33" baseType="lpstr">
      <vt:lpstr>Arial</vt:lpstr>
      <vt:lpstr>Calibri</vt:lpstr>
      <vt:lpstr>Calibri Light</vt:lpstr>
      <vt:lpstr>Times New Roman</vt:lpstr>
      <vt:lpstr>Office Theme</vt:lpstr>
      <vt:lpstr>1_Office Theme</vt:lpstr>
      <vt:lpstr>PowerPoint Presentation</vt:lpstr>
      <vt:lpstr> (PEST) ANALYSIS  Political Legal-Rules, Laws, Companies Act, Consumer protection Act, Environmental protection Act etc. ASCI, FSSAI,TRAI, IRDA, SEBI. Economic-Purchasing power, Inflation, Recession, Income. Socio-cultural, Spiritual-Values, Attitude, Norms, Lifestyle. Technological-Research, Innovation.  Natural-Environment, Pollution, Global warming,  Demographic- Population Growth, Mix, Literacy, Location, Census.  Internal-Company- R&amp;D, Production, HR, Location, Financial Capability. External-MICRO ( Suppliers, Customers, Intermediaries, Competitors, Public)&amp; MACRO (PEST-ND)</vt:lpstr>
      <vt:lpstr>Marketing Environment</vt:lpstr>
      <vt:lpstr>PowerPoint Presentation</vt:lpstr>
      <vt:lpstr>Political-Legal ITC –T for…..</vt:lpstr>
      <vt:lpstr>The toilet cleaner segment, which was growing at 3-6%, has seen a sudden 10-12% growth  RB- Banega Swachh India campaign –Dettol, Harpic  HUL- ‘Clean-India' - Lifebuoy's hand-washing programme, Domex   Dabur - `Swachh Toilet, Swachh Bharat Abhiyan',. Sanifresh toilet cleaners.  The WHO and the United Nations Children's Education Fund (UNICEF) estimate that there are more than 620 million people engaged in open defecation due to lack of access to proper sanitation and 60% of all open defecation is in India.</vt:lpstr>
      <vt:lpstr> United Nations - June 21 International Yoga Day, GWR conditions.  Jawaharlal Nehru stadium - 29,973 people record was set up by students at a Gwalior university in 2005.   Rajpath as the new venue because of its vast area and historical significance.  One person needs around three square metre area for performing yoga activities.   Morarji Desai National Institute of Yoga developed the protocol. The GWR, however, found 105 people not performing Yoga and removed their names from the finally tally of 35,985 people who set the new world record.   Snapdeal  launched a special yoga-themed store featuring over 500 yoga–related products like yoga learning e-guides, mats, modern yoga equipment, yoga-wear and more.  VLCC conducted free yoga sessions.  Freecultr has launched trendy ‘Yoga’ themed T-shirts.   Art of Living store on eBay offered audio CDs and DVDs.   Yatra.com has announced special yoga packages for its customers. The packages to Hrishikesh in North and Kovalam in the South of India. </vt:lpstr>
      <vt:lpstr>Fairness creams-FDA </vt:lpstr>
      <vt:lpstr>  Multiplex would be well within its right to disallow a patron to carry water bottle inside the theatre for security reason.   Three Agartala residents had moved the forum against Rupasi Multiplex for restraining them from carrying water bottles into the cinema hall while complaining that there was no provision for drinking water inside the multiplex, except the option of buying highly priced water bottles from the cafeteria.   "If such a deficiency is shown, the consumer forum would be fully justified in awarding suitable compensation to the complainant," the NCDRC bench said, sending a warning to multiplexes all over the country.  In  opinion, it constitute unfair trade practice within the meaning of Section 2 (r) of the Consumer Protection Act, 1986," the NCDRC said. Finding Rupasi Multiplex guilty of deficiency in service.   The national consumer forum has asked a multiplex to pay a patron Rs 11,000 for refusing to allow to carry a Rs 20 water bottle inside even though it had not made provision for free, clean drinking water inside the cinema hall </vt:lpstr>
      <vt:lpstr>Consumer Protection Act</vt:lpstr>
      <vt:lpstr>PowerPoint Presentation</vt:lpstr>
      <vt:lpstr>PowerPoint Presentation</vt:lpstr>
      <vt:lpstr>    Philips, the electronics brand, has put up a unique innovation made with 6,380 Philips LED bulbs.   The grand, techno-artistic structure comprises a thirteen-foot-long Mushak, who is supposed to be Ganesha's carrier,  along with a twenty-six-foot long Om, in the colours of brand Philips.  Objective is to highlight fact that Philips LED comes with Duramax technology which offers longer lasting brightness.  The detailing of the structure has been done to showcase that Philips LED bulbs are available in  multiple power outputs,  across a variety of colours and various layers of brightness to suit consumers needs.  In the installation, different lumen capacities of Philips LED light bulbs have been used, ranging from 0.5 watt to 4 watts.   The objective of the installation is to provide an actual 'touch and feel' of Philips LED bulbs.   Prior, Philips had created an eye-catching 'modak' made up of Philips LED bulbs at the same venue.     </vt:lpstr>
      <vt:lpstr>Mela</vt:lpstr>
      <vt:lpstr>HUL's 3 Roses  At Maha Pushkaram, a huge fair held at Rajamundhary in Andhra Pradesh, HUL's 3 Roses, the largest tea brand in South India, wanted to advertise an improved formulation. Apart from upping the visibility of the brand, HUL distributed special cups across 250 tea stalls.   The brand logo and message appeared on the cup when it was filled with hot beverage, something of a novelty for large parts of the rural audience,  wanted to convey the message during the moment of truth, which is that of consumption. There was a unanimous “wow“ around the “magic“ effect. Many even wanted to take the cup home with them! Vodafone at the last Maha Kumbh,  supplyed branded headphones. Besides having pre-recorded bhajans and commercial messaging, they also doubled up as earmuffs.  At the Maha Kumbh, people were camping out and Odomos is the only protection against mosquitos that works both outdoors and indoors. Dabur distributed it extensively in sachets.  At the Kumbh Mela in Nashik, Dabur's digestive brand Hajmola is being sampled at all large eateries.</vt:lpstr>
      <vt:lpstr> </vt:lpstr>
      <vt:lpstr> Young women  - job offers in Delhi and its suburbs. Abroad--parents raise no objections- Delhi in her own car- firearm is the only way "I'd feel truly safe in the city".  Women in Delhi have over 15 safety apps to choose from. Most of them alert a list of emergency contacts, and transmit the victim's location through GPS. The newer of these don't even require the app to be opened - for instance, just shaking the phone three times activates the emergency contacts.   Delhi Police launched a safety app called Himmat, The police have also launched WhatsApp and Hike groups where women can send photos of "undesirable elements". One way out is to learn self-defence.   Offices too want their women employees to be prepared. Self Defence, a private fitness company, has conducted close to 250 trainings for companies such as HCL, Ranbaxy, Iris Software, IBM, Indigo Airlines - a 60 per cent increase in the last three to five years.  For many working women in the city, cabs have become a necessity - call a friend and stay on the phone the entire duration of the ride, keeping them updated about every turn the cab takes. There are many women who are taking up driving as well - to avoid cabs. Maruti Suzuki - driving schools  enrolment increased.  Uber claims to have tightened its security features, which includes "re-verification of all driver partners with the police, additional background screening, and the establishment of a dedicated local incident response team to handle critical situations".   </vt:lpstr>
      <vt:lpstr>Natural </vt:lpstr>
      <vt:lpstr>PowerPoint Presentation</vt:lpstr>
      <vt:lpstr>-Real Estate </vt:lpstr>
      <vt:lpstr>The number of employees whose income is below Rs 40,000 a month, gone up. These are the potential customers for the mini and the compact cars.  The biggest beneficiary - Maruti Suzuki as the company is the leader in entry level segment with models like Alto, Wagon R, Celerio and Swift.  Hyundai -i10 at the entry level and the hatchback segment.  The 7th  Pay Commission -resulted in almost 25% of the central government and 20% of state government employees becoming eligible car buyers, earning over Rs 40,000 a month. This would make almost 3 million employees a target segment for Maruti.”   Customers look to upgrade from two-wheeler to cars at this juncture.   </vt:lpstr>
      <vt:lpstr>Technological</vt:lpstr>
      <vt:lpstr>PowerPoint Presentation</vt:lpstr>
      <vt:lpstr>Demographic</vt:lpstr>
      <vt:lpstr>Nestle India -production capacity expansion  Internal</vt:lpstr>
      <vt:lpstr>Public Bournvita</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96</cp:revision>
  <dcterms:created xsi:type="dcterms:W3CDTF">2023-04-17T10:47:08Z</dcterms:created>
  <dcterms:modified xsi:type="dcterms:W3CDTF">2024-12-01T06:28:53Z</dcterms:modified>
</cp:coreProperties>
</file>