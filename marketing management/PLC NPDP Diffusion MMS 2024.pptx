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84" r:id="rId2"/>
    <p:sldId id="283" r:id="rId3"/>
    <p:sldId id="259" r:id="rId4"/>
    <p:sldId id="262" r:id="rId5"/>
    <p:sldId id="261" r:id="rId6"/>
    <p:sldId id="268" r:id="rId7"/>
    <p:sldId id="271" r:id="rId8"/>
    <p:sldId id="270" r:id="rId9"/>
    <p:sldId id="278" r:id="rId10"/>
    <p:sldId id="279" r:id="rId11"/>
    <p:sldId id="280" r:id="rId12"/>
    <p:sldId id="281" r:id="rId13"/>
    <p:sldId id="282" r:id="rId14"/>
    <p:sldId id="266" r:id="rId15"/>
    <p:sldId id="286" r:id="rId16"/>
    <p:sldId id="265" r:id="rId17"/>
    <p:sldId id="287" r:id="rId18"/>
    <p:sldId id="288" r:id="rId19"/>
    <p:sldId id="289" r:id="rId20"/>
    <p:sldId id="290" r:id="rId21"/>
    <p:sldId id="291" r:id="rId22"/>
    <p:sldId id="292" r:id="rId23"/>
    <p:sldId id="295" r:id="rId24"/>
    <p:sldId id="296" r:id="rId25"/>
    <p:sldId id="297" r:id="rId26"/>
    <p:sldId id="298" r:id="rId27"/>
    <p:sldId id="300" r:id="rId28"/>
    <p:sldId id="305" r:id="rId29"/>
    <p:sldId id="303" r:id="rId30"/>
    <p:sldId id="301" r:id="rId31"/>
    <p:sldId id="302" r:id="rId32"/>
    <p:sldId id="304" r:id="rId33"/>
    <p:sldId id="299" r:id="rId34"/>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70" d="100"/>
          <a:sy n="70" d="100"/>
        </p:scale>
        <p:origin x="1386" y="7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11/24/2024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11/24/2024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11/24/2024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11/24/2024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11/24/2024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11/24/2024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11/24/2024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11/24/2024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11/24/2024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11/24/2024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11/24/2024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11/24/2024</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8" Type="http://schemas.openxmlformats.org/officeDocument/2006/relationships/image" Target="../media/image11.png"/><Relationship Id="rId13" Type="http://schemas.openxmlformats.org/officeDocument/2006/relationships/image" Target="../media/image16.png"/><Relationship Id="rId18" Type="http://schemas.openxmlformats.org/officeDocument/2006/relationships/image" Target="../media/image21.png"/><Relationship Id="rId3" Type="http://schemas.openxmlformats.org/officeDocument/2006/relationships/image" Target="../media/image6.jpg"/><Relationship Id="rId21" Type="http://schemas.openxmlformats.org/officeDocument/2006/relationships/image" Target="../media/image24.png"/><Relationship Id="rId7" Type="http://schemas.openxmlformats.org/officeDocument/2006/relationships/image" Target="../media/image10.png"/><Relationship Id="rId12" Type="http://schemas.openxmlformats.org/officeDocument/2006/relationships/image" Target="../media/image15.png"/><Relationship Id="rId17" Type="http://schemas.openxmlformats.org/officeDocument/2006/relationships/image" Target="../media/image20.png"/><Relationship Id="rId2" Type="http://schemas.openxmlformats.org/officeDocument/2006/relationships/image" Target="../media/image5.jpg"/><Relationship Id="rId16" Type="http://schemas.openxmlformats.org/officeDocument/2006/relationships/image" Target="../media/image19.png"/><Relationship Id="rId20" Type="http://schemas.openxmlformats.org/officeDocument/2006/relationships/image" Target="../media/image23.png"/><Relationship Id="rId1" Type="http://schemas.openxmlformats.org/officeDocument/2006/relationships/slideLayout" Target="../slideLayouts/slideLayout7.xml"/><Relationship Id="rId6" Type="http://schemas.openxmlformats.org/officeDocument/2006/relationships/image" Target="../media/image9.png"/><Relationship Id="rId11" Type="http://schemas.openxmlformats.org/officeDocument/2006/relationships/image" Target="../media/image14.png"/><Relationship Id="rId24" Type="http://schemas.openxmlformats.org/officeDocument/2006/relationships/image" Target="../media/image27.png"/><Relationship Id="rId5" Type="http://schemas.openxmlformats.org/officeDocument/2006/relationships/image" Target="../media/image8.png"/><Relationship Id="rId15" Type="http://schemas.openxmlformats.org/officeDocument/2006/relationships/image" Target="../media/image18.png"/><Relationship Id="rId23" Type="http://schemas.openxmlformats.org/officeDocument/2006/relationships/image" Target="../media/image26.png"/><Relationship Id="rId10" Type="http://schemas.openxmlformats.org/officeDocument/2006/relationships/image" Target="../media/image13.png"/><Relationship Id="rId19" Type="http://schemas.openxmlformats.org/officeDocument/2006/relationships/image" Target="../media/image22.png"/><Relationship Id="rId4" Type="http://schemas.openxmlformats.org/officeDocument/2006/relationships/image" Target="../media/image7.jpg"/><Relationship Id="rId9" Type="http://schemas.openxmlformats.org/officeDocument/2006/relationships/image" Target="../media/image12.png"/><Relationship Id="rId14" Type="http://schemas.openxmlformats.org/officeDocument/2006/relationships/image" Target="../media/image17.png"/><Relationship Id="rId22" Type="http://schemas.openxmlformats.org/officeDocument/2006/relationships/image" Target="../media/image2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30.jpe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32.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image" Target="../media/image33.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34.jpe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35.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7.xml"/><Relationship Id="rId4" Type="http://schemas.openxmlformats.org/officeDocument/2006/relationships/image" Target="../media/image38.png"/></Relationships>
</file>

<file path=ppt/slides/_rels/slide24.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40.jpe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Stages of life and human development. Vector illustration in a cartoon  style of , #ad, #developm… | Human development, Human life cycle, Stages of  human developmen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43000" y="1371600"/>
            <a:ext cx="7000875" cy="393382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9412317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a:spLocks noGrp="1"/>
          </p:cNvSpPr>
          <p:nvPr>
            <p:ph type="title"/>
          </p:nvPr>
        </p:nvSpPr>
        <p:spPr>
          <a:xfrm>
            <a:off x="457200" y="274638"/>
            <a:ext cx="8229600" cy="5364162"/>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sz="4000" b="1" smtClean="0">
                <a:solidFill>
                  <a:srgbClr val="FF0000"/>
                </a:solidFill>
                <a:latin typeface="Times New Roman" pitchFamily="18" charset="0"/>
                <a:cs typeface="Times New Roman" pitchFamily="18" charset="0"/>
              </a:rPr>
              <a:t>PLC</a:t>
            </a:r>
            <a:br>
              <a:rPr lang="en-US" sz="4000" b="1" smtClean="0">
                <a:solidFill>
                  <a:srgbClr val="FF0000"/>
                </a:solidFill>
                <a:latin typeface="Times New Roman" pitchFamily="18" charset="0"/>
                <a:cs typeface="Times New Roman" pitchFamily="18" charset="0"/>
              </a:rPr>
            </a:br>
            <a:r>
              <a:rPr lang="en-US" sz="4000" b="1" smtClean="0">
                <a:latin typeface="Times New Roman" pitchFamily="18" charset="0"/>
                <a:cs typeface="Times New Roman" pitchFamily="18" charset="0"/>
              </a:rPr>
              <a:t> </a:t>
            </a:r>
            <a:r>
              <a:rPr lang="en-US" sz="4000" b="1" dirty="0">
                <a:latin typeface="Times New Roman" pitchFamily="18" charset="0"/>
                <a:cs typeface="Times New Roman" pitchFamily="18" charset="0"/>
              </a:rPr>
              <a:t>PRODUCT LIFE-CYCLE </a:t>
            </a:r>
            <a:endParaRPr lang="en-US" sz="6000" b="1" dirty="0">
              <a:solidFill>
                <a:srgbClr val="FF0000"/>
              </a:solidFill>
              <a:latin typeface="Times New Roman" pitchFamily="18" charset="0"/>
              <a:cs typeface="Times New Roman" pitchFamily="18" charset="0"/>
            </a:endParaRPr>
          </a:p>
        </p:txBody>
      </p:sp>
    </p:spTree>
    <p:extLst>
      <p:ext uri="{BB962C8B-B14F-4D97-AF65-F5344CB8AC3E}">
        <p14:creationId xmlns:p14="http://schemas.microsoft.com/office/powerpoint/2010/main" val="347565556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1600200"/>
            <a:ext cx="7848600" cy="4525963"/>
          </a:xfrm>
        </p:spPr>
        <p:txBody>
          <a:bodyPr vert="horz" lIns="91440" tIns="45720" rIns="91440" bIns="45720" rtlCol="0">
            <a:noAutofit/>
          </a:bodyPr>
          <a:lstStyle/>
          <a:p>
            <a:pPr algn="ctr">
              <a:buFont typeface="Wingdings" pitchFamily="2" charset="2"/>
              <a:buChar char="§"/>
            </a:pPr>
            <a:endParaRPr lang="en-US" sz="1800" b="1" dirty="0" smtClean="0">
              <a:solidFill>
                <a:srgbClr val="FF0000"/>
              </a:solidFill>
              <a:latin typeface="Times New Roman" pitchFamily="18" charset="0"/>
              <a:cs typeface="Times New Roman" pitchFamily="18" charset="0"/>
            </a:endParaRPr>
          </a:p>
          <a:p>
            <a:pPr algn="ctr">
              <a:buFont typeface="Wingdings" pitchFamily="2" charset="2"/>
              <a:buChar char="§"/>
            </a:pPr>
            <a:r>
              <a:rPr lang="en-US" sz="1800" b="1" dirty="0" smtClean="0">
                <a:solidFill>
                  <a:srgbClr val="FF0000"/>
                </a:solidFill>
                <a:latin typeface="Times New Roman" pitchFamily="18" charset="0"/>
                <a:cs typeface="Times New Roman" pitchFamily="18" charset="0"/>
              </a:rPr>
              <a:t>Limited life</a:t>
            </a:r>
          </a:p>
          <a:p>
            <a:pPr algn="ctr">
              <a:buFont typeface="Wingdings" pitchFamily="2" charset="2"/>
              <a:buChar char="§"/>
            </a:pPr>
            <a:r>
              <a:rPr lang="en-US" sz="1800" b="1" dirty="0" smtClean="0">
                <a:solidFill>
                  <a:srgbClr val="FF0000"/>
                </a:solidFill>
                <a:latin typeface="Times New Roman" pitchFamily="18" charset="0"/>
                <a:cs typeface="Times New Roman" pitchFamily="18" charset="0"/>
              </a:rPr>
              <a:t>Different </a:t>
            </a:r>
            <a:r>
              <a:rPr lang="en-US" sz="1800" b="1" dirty="0">
                <a:solidFill>
                  <a:srgbClr val="FF0000"/>
                </a:solidFill>
                <a:latin typeface="Times New Roman" pitchFamily="18" charset="0"/>
                <a:cs typeface="Times New Roman" pitchFamily="18" charset="0"/>
              </a:rPr>
              <a:t>Stages- </a:t>
            </a:r>
            <a:r>
              <a:rPr lang="en-US" sz="1800" b="1" dirty="0" smtClean="0">
                <a:solidFill>
                  <a:srgbClr val="FF0000"/>
                </a:solidFill>
                <a:latin typeface="Times New Roman" pitchFamily="18" charset="0"/>
                <a:cs typeface="Times New Roman" pitchFamily="18" charset="0"/>
              </a:rPr>
              <a:t>Challenges</a:t>
            </a:r>
          </a:p>
          <a:p>
            <a:pPr algn="ctr">
              <a:buFont typeface="Wingdings" pitchFamily="2" charset="2"/>
              <a:buChar char="§"/>
            </a:pPr>
            <a:r>
              <a:rPr lang="en-US" sz="1800" b="1" dirty="0" smtClean="0">
                <a:solidFill>
                  <a:srgbClr val="FF0000"/>
                </a:solidFill>
                <a:latin typeface="Times New Roman" pitchFamily="18" charset="0"/>
                <a:cs typeface="Times New Roman" pitchFamily="18" charset="0"/>
              </a:rPr>
              <a:t>Profits </a:t>
            </a:r>
            <a:r>
              <a:rPr lang="en-US" sz="1800" b="1" dirty="0">
                <a:solidFill>
                  <a:srgbClr val="FF0000"/>
                </a:solidFill>
                <a:latin typeface="Times New Roman" pitchFamily="18" charset="0"/>
                <a:cs typeface="Times New Roman" pitchFamily="18" charset="0"/>
              </a:rPr>
              <a:t>–Rise and </a:t>
            </a:r>
            <a:r>
              <a:rPr lang="en-US" sz="1800" b="1" dirty="0" smtClean="0">
                <a:solidFill>
                  <a:srgbClr val="FF0000"/>
                </a:solidFill>
                <a:latin typeface="Times New Roman" pitchFamily="18" charset="0"/>
                <a:cs typeface="Times New Roman" pitchFamily="18" charset="0"/>
              </a:rPr>
              <a:t>fall</a:t>
            </a:r>
          </a:p>
          <a:p>
            <a:pPr algn="ctr">
              <a:buFont typeface="Wingdings" pitchFamily="2" charset="2"/>
              <a:buChar char="§"/>
            </a:pPr>
            <a:r>
              <a:rPr lang="en-US" sz="1800" b="1" dirty="0" smtClean="0">
                <a:solidFill>
                  <a:srgbClr val="FF0000"/>
                </a:solidFill>
                <a:latin typeface="Times New Roman" pitchFamily="18" charset="0"/>
                <a:cs typeface="Times New Roman" pitchFamily="18" charset="0"/>
              </a:rPr>
              <a:t>Different </a:t>
            </a:r>
            <a:r>
              <a:rPr lang="en-US" sz="1800" b="1" dirty="0">
                <a:solidFill>
                  <a:srgbClr val="FF0000"/>
                </a:solidFill>
                <a:latin typeface="Times New Roman" pitchFamily="18" charset="0"/>
                <a:cs typeface="Times New Roman" pitchFamily="18" charset="0"/>
              </a:rPr>
              <a:t>strategies at each stage </a:t>
            </a:r>
            <a:endParaRPr lang="en-US" sz="1800" b="1" dirty="0" smtClean="0">
              <a:solidFill>
                <a:srgbClr val="FF0000"/>
              </a:solidFill>
              <a:latin typeface="Times New Roman" pitchFamily="18" charset="0"/>
              <a:cs typeface="Times New Roman" pitchFamily="18" charset="0"/>
            </a:endParaRPr>
          </a:p>
          <a:p>
            <a:pPr algn="ctr">
              <a:buFont typeface="Wingdings" pitchFamily="2" charset="2"/>
              <a:buChar char="§"/>
            </a:pPr>
            <a:r>
              <a:rPr lang="en-US" sz="1800" b="1" dirty="0" smtClean="0">
                <a:solidFill>
                  <a:srgbClr val="FF0000"/>
                </a:solidFill>
                <a:latin typeface="Times New Roman" pitchFamily="18" charset="0"/>
                <a:cs typeface="Times New Roman" pitchFamily="18" charset="0"/>
              </a:rPr>
              <a:t>Bell shaped curve</a:t>
            </a:r>
          </a:p>
          <a:p>
            <a:pPr algn="ctr">
              <a:buFont typeface="Wingdings" pitchFamily="2" charset="2"/>
              <a:buChar char="§"/>
            </a:pPr>
            <a:endParaRPr lang="en-US" sz="1800" b="1" dirty="0" smtClean="0">
              <a:solidFill>
                <a:srgbClr val="FF0000"/>
              </a:solidFill>
              <a:latin typeface="Times New Roman" pitchFamily="18" charset="0"/>
              <a:cs typeface="Times New Roman" pitchFamily="18" charset="0"/>
            </a:endParaRPr>
          </a:p>
          <a:p>
            <a:pPr marL="0" indent="0">
              <a:buNone/>
            </a:pPr>
            <a:endParaRPr lang="en-US" sz="1800" b="1" dirty="0" smtClean="0">
              <a:solidFill>
                <a:srgbClr val="FF0000"/>
              </a:solidFill>
              <a:latin typeface="Times New Roman" pitchFamily="18" charset="0"/>
              <a:cs typeface="Times New Roman" pitchFamily="18" charset="0"/>
            </a:endParaRPr>
          </a:p>
          <a:p>
            <a:pPr marL="0" indent="0" algn="just">
              <a:buNone/>
            </a:pPr>
            <a:r>
              <a:rPr lang="en-US" sz="1800" b="1" dirty="0" smtClean="0">
                <a:latin typeface="Times New Roman" pitchFamily="18" charset="0"/>
                <a:cs typeface="Times New Roman" pitchFamily="18" charset="0"/>
              </a:rPr>
              <a:t>PRODUCT LIFE-CYCLE management</a:t>
            </a:r>
            <a:r>
              <a:rPr lang="en-US" sz="1800" b="1" dirty="0">
                <a:latin typeface="Times New Roman" pitchFamily="18" charset="0"/>
                <a:cs typeface="Times New Roman" pitchFamily="18" charset="0"/>
              </a:rPr>
              <a:t> </a:t>
            </a:r>
            <a:r>
              <a:rPr lang="en-US" sz="1800" b="1" dirty="0" smtClean="0">
                <a:latin typeface="Times New Roman" pitchFamily="18" charset="0"/>
                <a:cs typeface="Times New Roman" pitchFamily="18" charset="0"/>
              </a:rPr>
              <a:t>is </a:t>
            </a:r>
            <a:r>
              <a:rPr lang="en-US" sz="1800" b="1" dirty="0">
                <a:latin typeface="Times New Roman" pitchFamily="18" charset="0"/>
                <a:cs typeface="Times New Roman" pitchFamily="18" charset="0"/>
              </a:rPr>
              <a:t>the succession of </a:t>
            </a:r>
            <a:r>
              <a:rPr lang="en-US" sz="1800" b="1" dirty="0">
                <a:solidFill>
                  <a:srgbClr val="FF0000"/>
                </a:solidFill>
                <a:latin typeface="Times New Roman" pitchFamily="18" charset="0"/>
                <a:cs typeface="Times New Roman" pitchFamily="18" charset="0"/>
              </a:rPr>
              <a:t>strategies</a:t>
            </a:r>
            <a:r>
              <a:rPr lang="en-US" sz="1800" b="1" dirty="0">
                <a:latin typeface="Times New Roman" pitchFamily="18" charset="0"/>
                <a:cs typeface="Times New Roman" pitchFamily="18" charset="0"/>
              </a:rPr>
              <a:t> used by business management as a </a:t>
            </a:r>
            <a:r>
              <a:rPr lang="en-US" sz="1800" b="1" dirty="0">
                <a:solidFill>
                  <a:srgbClr val="FF0000"/>
                </a:solidFill>
                <a:latin typeface="Times New Roman" pitchFamily="18" charset="0"/>
                <a:cs typeface="Times New Roman" pitchFamily="18" charset="0"/>
              </a:rPr>
              <a:t>product goes through its life-cycle</a:t>
            </a:r>
            <a:r>
              <a:rPr lang="en-US" sz="1800" b="1" dirty="0">
                <a:latin typeface="Times New Roman" pitchFamily="18" charset="0"/>
                <a:cs typeface="Times New Roman" pitchFamily="18" charset="0"/>
              </a:rPr>
              <a:t>. </a:t>
            </a:r>
            <a:endParaRPr lang="en-US" sz="1800" b="1" dirty="0" smtClean="0">
              <a:latin typeface="Times New Roman" pitchFamily="18" charset="0"/>
              <a:cs typeface="Times New Roman" pitchFamily="18" charset="0"/>
            </a:endParaRPr>
          </a:p>
          <a:p>
            <a:pPr marL="0" indent="0" algn="just">
              <a:buNone/>
            </a:pPr>
            <a:endParaRPr lang="en-US" sz="1800" b="1" dirty="0">
              <a:latin typeface="Times New Roman" pitchFamily="18" charset="0"/>
              <a:cs typeface="Times New Roman" pitchFamily="18" charset="0"/>
            </a:endParaRPr>
          </a:p>
          <a:p>
            <a:pPr marL="0" indent="0" algn="just">
              <a:buNone/>
            </a:pPr>
            <a:r>
              <a:rPr lang="en-US" sz="1800" b="1" dirty="0" smtClean="0">
                <a:latin typeface="Times New Roman" pitchFamily="18" charset="0"/>
                <a:cs typeface="Times New Roman" pitchFamily="18" charset="0"/>
              </a:rPr>
              <a:t>The </a:t>
            </a:r>
            <a:r>
              <a:rPr lang="en-US" sz="1800" b="1" dirty="0">
                <a:solidFill>
                  <a:srgbClr val="FF0000"/>
                </a:solidFill>
                <a:latin typeface="Times New Roman" pitchFamily="18" charset="0"/>
                <a:cs typeface="Times New Roman" pitchFamily="18" charset="0"/>
              </a:rPr>
              <a:t>conditions</a:t>
            </a:r>
            <a:r>
              <a:rPr lang="en-US" sz="1800" b="1" dirty="0">
                <a:latin typeface="Times New Roman" pitchFamily="18" charset="0"/>
                <a:cs typeface="Times New Roman" pitchFamily="18" charset="0"/>
              </a:rPr>
              <a:t> in which a product is sold </a:t>
            </a:r>
            <a:r>
              <a:rPr lang="en-US" sz="1800" b="1" dirty="0">
                <a:solidFill>
                  <a:srgbClr val="FF0000"/>
                </a:solidFill>
                <a:latin typeface="Times New Roman" pitchFamily="18" charset="0"/>
                <a:cs typeface="Times New Roman" pitchFamily="18" charset="0"/>
              </a:rPr>
              <a:t>changes</a:t>
            </a:r>
            <a:r>
              <a:rPr lang="en-US" sz="1800" b="1" dirty="0">
                <a:latin typeface="Times New Roman" pitchFamily="18" charset="0"/>
                <a:cs typeface="Times New Roman" pitchFamily="18" charset="0"/>
              </a:rPr>
              <a:t> over time and must be managed as it moves through its succession of stages.</a:t>
            </a:r>
          </a:p>
        </p:txBody>
      </p:sp>
      <p:sp>
        <p:nvSpPr>
          <p:cNvPr id="4" name="Title 1"/>
          <p:cNvSpPr txBox="1">
            <a:spLocks/>
          </p:cNvSpPr>
          <p:nvPr/>
        </p:nvSpPr>
        <p:spPr>
          <a:xfrm>
            <a:off x="533400" y="228600"/>
            <a:ext cx="7772400" cy="1470025"/>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sz="4000" b="1" dirty="0" smtClean="0">
                <a:solidFill>
                  <a:srgbClr val="FF0000"/>
                </a:solidFill>
                <a:latin typeface="Times New Roman" pitchFamily="18" charset="0"/>
                <a:cs typeface="Times New Roman" pitchFamily="18" charset="0"/>
              </a:rPr>
              <a:t>PLC-</a:t>
            </a:r>
            <a:r>
              <a:rPr lang="en-US" sz="4000" b="1" dirty="0">
                <a:latin typeface="Times New Roman" pitchFamily="18" charset="0"/>
                <a:cs typeface="Times New Roman" pitchFamily="18" charset="0"/>
              </a:rPr>
              <a:t> PRODUCT LIFE-CYCLE </a:t>
            </a:r>
            <a:endParaRPr lang="en-US" sz="6000" b="1" dirty="0">
              <a:solidFill>
                <a:srgbClr val="FF0000"/>
              </a:solidFill>
              <a:latin typeface="Times New Roman" pitchFamily="18" charset="0"/>
              <a:cs typeface="Times New Roman" pitchFamily="18" charset="0"/>
            </a:endParaRPr>
          </a:p>
        </p:txBody>
      </p:sp>
    </p:spTree>
    <p:extLst>
      <p:ext uri="{BB962C8B-B14F-4D97-AF65-F5344CB8AC3E}">
        <p14:creationId xmlns:p14="http://schemas.microsoft.com/office/powerpoint/2010/main" val="156109886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PLC2.jpg"/>
          <p:cNvPicPr>
            <a:picLocks noGrp="1" noChangeAspect="1"/>
          </p:cNvPicPr>
          <p:nvPr>
            <p:ph idx="1"/>
          </p:nvPr>
        </p:nvPicPr>
        <p:blipFill>
          <a:blip r:embed="rId2"/>
          <a:stretch>
            <a:fillRect/>
          </a:stretch>
        </p:blipFill>
        <p:spPr>
          <a:xfrm>
            <a:off x="304800" y="152400"/>
            <a:ext cx="8610600" cy="6464784"/>
          </a:xfrm>
        </p:spPr>
      </p:pic>
      <p:sp>
        <p:nvSpPr>
          <p:cNvPr id="2" name="TextBox 1"/>
          <p:cNvSpPr txBox="1"/>
          <p:nvPr/>
        </p:nvSpPr>
        <p:spPr>
          <a:xfrm>
            <a:off x="4572000" y="5791200"/>
            <a:ext cx="990600" cy="369332"/>
          </a:xfrm>
          <a:prstGeom prst="rect">
            <a:avLst/>
          </a:prstGeom>
          <a:solidFill>
            <a:schemeClr val="bg1">
              <a:lumMod val="95000"/>
            </a:schemeClr>
          </a:solidFill>
        </p:spPr>
        <p:txBody>
          <a:bodyPr wrap="square" rtlCol="0">
            <a:spAutoFit/>
          </a:bodyPr>
          <a:lstStyle/>
          <a:p>
            <a:r>
              <a:rPr lang="en-IN" dirty="0" smtClean="0"/>
              <a:t>Time</a:t>
            </a:r>
            <a:endParaRPr lang="en-IN" dirty="0"/>
          </a:p>
        </p:txBody>
      </p:sp>
    </p:spTree>
    <p:extLst>
      <p:ext uri="{BB962C8B-B14F-4D97-AF65-F5344CB8AC3E}">
        <p14:creationId xmlns:p14="http://schemas.microsoft.com/office/powerpoint/2010/main" val="173260779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354762"/>
          </a:xfrm>
        </p:spPr>
        <p:txBody>
          <a:bodyPr>
            <a:noAutofit/>
          </a:bodyPr>
          <a:lstStyle/>
          <a:p>
            <a:pPr algn="l"/>
            <a:r>
              <a:rPr lang="en-IN" sz="2400" b="1" dirty="0" smtClean="0">
                <a:solidFill>
                  <a:srgbClr val="FF0000"/>
                </a:solidFill>
                <a:latin typeface="Times New Roman" pitchFamily="18" charset="0"/>
                <a:cs typeface="Times New Roman" pitchFamily="18" charset="0"/>
              </a:rPr>
              <a:t> 	PLC </a:t>
            </a:r>
            <a:r>
              <a:rPr lang="en-IN" sz="2400" b="1" dirty="0">
                <a:solidFill>
                  <a:srgbClr val="FF0000"/>
                </a:solidFill>
                <a:latin typeface="Times New Roman" pitchFamily="18" charset="0"/>
                <a:cs typeface="Times New Roman" pitchFamily="18" charset="0"/>
              </a:rPr>
              <a:t>curve is typically divided into four </a:t>
            </a:r>
            <a:r>
              <a:rPr lang="en-IN" sz="2400" b="1" dirty="0" smtClean="0">
                <a:solidFill>
                  <a:srgbClr val="FF0000"/>
                </a:solidFill>
                <a:latin typeface="Times New Roman" pitchFamily="18" charset="0"/>
                <a:cs typeface="Times New Roman" pitchFamily="18" charset="0"/>
              </a:rPr>
              <a:t>stages</a:t>
            </a:r>
            <a:r>
              <a:rPr lang="en-IN" sz="2000" b="1" dirty="0" smtClean="0">
                <a:solidFill>
                  <a:srgbClr val="FF0000"/>
                </a:solidFill>
                <a:latin typeface="Times New Roman" pitchFamily="18" charset="0"/>
                <a:cs typeface="Times New Roman" pitchFamily="18" charset="0"/>
              </a:rPr>
              <a:t/>
            </a:r>
            <a:br>
              <a:rPr lang="en-IN" sz="2000" b="1" dirty="0" smtClean="0">
                <a:solidFill>
                  <a:srgbClr val="FF0000"/>
                </a:solidFill>
                <a:latin typeface="Times New Roman" pitchFamily="18" charset="0"/>
                <a:cs typeface="Times New Roman" pitchFamily="18" charset="0"/>
              </a:rPr>
            </a:br>
            <a:r>
              <a:rPr lang="en-IN" sz="2000" b="1" dirty="0" smtClean="0">
                <a:solidFill>
                  <a:srgbClr val="FF0000"/>
                </a:solidFill>
                <a:latin typeface="Times New Roman" pitchFamily="18" charset="0"/>
                <a:cs typeface="Times New Roman" pitchFamily="18" charset="0"/>
              </a:rPr>
              <a:t/>
            </a:r>
            <a:br>
              <a:rPr lang="en-IN" sz="2000" b="1" dirty="0" smtClean="0">
                <a:solidFill>
                  <a:srgbClr val="FF0000"/>
                </a:solidFill>
                <a:latin typeface="Times New Roman" pitchFamily="18" charset="0"/>
                <a:cs typeface="Times New Roman" pitchFamily="18" charset="0"/>
              </a:rPr>
            </a:br>
            <a:r>
              <a:rPr lang="en-IN" sz="2000" b="1" dirty="0" smtClean="0">
                <a:latin typeface="Times New Roman" pitchFamily="18" charset="0"/>
                <a:cs typeface="Times New Roman" pitchFamily="18" charset="0"/>
              </a:rPr>
              <a:t/>
            </a:r>
            <a:br>
              <a:rPr lang="en-IN" sz="2000" b="1" dirty="0" smtClean="0">
                <a:latin typeface="Times New Roman" pitchFamily="18" charset="0"/>
                <a:cs typeface="Times New Roman" pitchFamily="18" charset="0"/>
              </a:rPr>
            </a:br>
            <a:r>
              <a:rPr lang="en-IN" sz="2000" dirty="0" smtClean="0">
                <a:solidFill>
                  <a:srgbClr val="FF0000"/>
                </a:solidFill>
                <a:latin typeface="Times New Roman" pitchFamily="18" charset="0"/>
                <a:cs typeface="Times New Roman" pitchFamily="18" charset="0"/>
              </a:rPr>
              <a:t>➤ </a:t>
            </a:r>
            <a:r>
              <a:rPr lang="en-IN" sz="2000" b="1" dirty="0">
                <a:solidFill>
                  <a:srgbClr val="FF0000"/>
                </a:solidFill>
                <a:latin typeface="Times New Roman" pitchFamily="18" charset="0"/>
                <a:cs typeface="Times New Roman" pitchFamily="18" charset="0"/>
              </a:rPr>
              <a:t>Introduction</a:t>
            </a:r>
            <a:r>
              <a:rPr lang="en-IN" sz="2000" dirty="0">
                <a:solidFill>
                  <a:srgbClr val="FF0000"/>
                </a:solidFill>
                <a:latin typeface="Times New Roman" pitchFamily="18" charset="0"/>
                <a:cs typeface="Times New Roman" pitchFamily="18" charset="0"/>
              </a:rPr>
              <a:t>: </a:t>
            </a:r>
            <a:r>
              <a:rPr lang="en-IN" sz="2000" dirty="0">
                <a:latin typeface="Times New Roman" pitchFamily="18" charset="0"/>
                <a:cs typeface="Times New Roman" pitchFamily="18" charset="0"/>
              </a:rPr>
              <a:t>A period of </a:t>
            </a:r>
            <a:r>
              <a:rPr lang="en-IN" sz="2000" dirty="0">
                <a:solidFill>
                  <a:srgbClr val="FF0000"/>
                </a:solidFill>
                <a:latin typeface="Times New Roman" pitchFamily="18" charset="0"/>
                <a:cs typeface="Times New Roman" pitchFamily="18" charset="0"/>
              </a:rPr>
              <a:t>slow sales </a:t>
            </a:r>
            <a:r>
              <a:rPr lang="en-IN" sz="2000" dirty="0">
                <a:latin typeface="Times New Roman" pitchFamily="18" charset="0"/>
                <a:cs typeface="Times New Roman" pitchFamily="18" charset="0"/>
              </a:rPr>
              <a:t>growth as the product is introduced in the market. Proﬁts are </a:t>
            </a:r>
            <a:r>
              <a:rPr lang="en-IN" sz="2000" dirty="0" smtClean="0">
                <a:latin typeface="Times New Roman" pitchFamily="18" charset="0"/>
                <a:cs typeface="Times New Roman" pitchFamily="18" charset="0"/>
              </a:rPr>
              <a:t>non-existent </a:t>
            </a:r>
            <a:r>
              <a:rPr lang="en-IN" sz="2000" dirty="0">
                <a:latin typeface="Times New Roman" pitchFamily="18" charset="0"/>
                <a:cs typeface="Times New Roman" pitchFamily="18" charset="0"/>
              </a:rPr>
              <a:t>in this stage because of the heavy expenses incurred with product introduction</a:t>
            </a:r>
            <a:r>
              <a:rPr lang="en-IN" sz="2000" dirty="0" smtClean="0">
                <a:latin typeface="Times New Roman" pitchFamily="18" charset="0"/>
                <a:cs typeface="Times New Roman" pitchFamily="18" charset="0"/>
              </a:rPr>
              <a:t>.</a:t>
            </a:r>
            <a:br>
              <a:rPr lang="en-IN" sz="2000" dirty="0" smtClean="0">
                <a:latin typeface="Times New Roman" pitchFamily="18" charset="0"/>
                <a:cs typeface="Times New Roman" pitchFamily="18" charset="0"/>
              </a:rPr>
            </a:br>
            <a:r>
              <a:rPr lang="en-IN" sz="2000" dirty="0" smtClean="0">
                <a:latin typeface="Times New Roman" pitchFamily="18" charset="0"/>
                <a:cs typeface="Times New Roman" pitchFamily="18" charset="0"/>
              </a:rPr>
              <a:t/>
            </a:r>
            <a:br>
              <a:rPr lang="en-IN" sz="2000" dirty="0" smtClean="0">
                <a:latin typeface="Times New Roman" pitchFamily="18" charset="0"/>
                <a:cs typeface="Times New Roman" pitchFamily="18" charset="0"/>
              </a:rPr>
            </a:br>
            <a:r>
              <a:rPr lang="en-IN" sz="2000" dirty="0" smtClean="0">
                <a:solidFill>
                  <a:srgbClr val="FF0000"/>
                </a:solidFill>
                <a:latin typeface="Times New Roman" pitchFamily="18" charset="0"/>
                <a:cs typeface="Times New Roman" pitchFamily="18" charset="0"/>
              </a:rPr>
              <a:t> </a:t>
            </a:r>
            <a:r>
              <a:rPr lang="en-IN" sz="2000" dirty="0">
                <a:solidFill>
                  <a:srgbClr val="FF0000"/>
                </a:solidFill>
                <a:latin typeface="Times New Roman" pitchFamily="18" charset="0"/>
                <a:cs typeface="Times New Roman" pitchFamily="18" charset="0"/>
              </a:rPr>
              <a:t>➤ </a:t>
            </a:r>
            <a:r>
              <a:rPr lang="en-IN" sz="2000" b="1" dirty="0">
                <a:solidFill>
                  <a:srgbClr val="FF0000"/>
                </a:solidFill>
                <a:latin typeface="Times New Roman" pitchFamily="18" charset="0"/>
                <a:cs typeface="Times New Roman" pitchFamily="18" charset="0"/>
              </a:rPr>
              <a:t>Growth: </a:t>
            </a:r>
            <a:r>
              <a:rPr lang="en-IN" sz="2000" dirty="0">
                <a:latin typeface="Times New Roman" pitchFamily="18" charset="0"/>
                <a:cs typeface="Times New Roman" pitchFamily="18" charset="0"/>
              </a:rPr>
              <a:t>A period of </a:t>
            </a:r>
            <a:r>
              <a:rPr lang="en-IN" sz="2000" dirty="0">
                <a:solidFill>
                  <a:srgbClr val="FF0000"/>
                </a:solidFill>
                <a:latin typeface="Times New Roman" pitchFamily="18" charset="0"/>
                <a:cs typeface="Times New Roman" pitchFamily="18" charset="0"/>
              </a:rPr>
              <a:t>rapid market acceptance </a:t>
            </a:r>
            <a:r>
              <a:rPr lang="en-IN" sz="2000" dirty="0">
                <a:latin typeface="Times New Roman" pitchFamily="18" charset="0"/>
                <a:cs typeface="Times New Roman" pitchFamily="18" charset="0"/>
              </a:rPr>
              <a:t>and substantial proﬁt improvement. </a:t>
            </a:r>
            <a:r>
              <a:rPr lang="en-IN" sz="2000" dirty="0" smtClean="0">
                <a:latin typeface="Times New Roman" pitchFamily="18" charset="0"/>
                <a:cs typeface="Times New Roman" pitchFamily="18" charset="0"/>
              </a:rPr>
              <a:t/>
            </a:r>
            <a:br>
              <a:rPr lang="en-IN" sz="2000" dirty="0" smtClean="0">
                <a:latin typeface="Times New Roman" pitchFamily="18" charset="0"/>
                <a:cs typeface="Times New Roman" pitchFamily="18" charset="0"/>
              </a:rPr>
            </a:br>
            <a:r>
              <a:rPr lang="en-IN" sz="2000" dirty="0" smtClean="0">
                <a:latin typeface="Times New Roman" pitchFamily="18" charset="0"/>
                <a:cs typeface="Times New Roman" pitchFamily="18" charset="0"/>
              </a:rPr>
              <a:t/>
            </a:r>
            <a:br>
              <a:rPr lang="en-IN" sz="2000" dirty="0" smtClean="0">
                <a:latin typeface="Times New Roman" pitchFamily="18" charset="0"/>
                <a:cs typeface="Times New Roman" pitchFamily="18" charset="0"/>
              </a:rPr>
            </a:br>
            <a:r>
              <a:rPr lang="en-IN" sz="2000" dirty="0" smtClean="0">
                <a:solidFill>
                  <a:srgbClr val="FF0000"/>
                </a:solidFill>
                <a:latin typeface="Times New Roman" pitchFamily="18" charset="0"/>
                <a:cs typeface="Times New Roman" pitchFamily="18" charset="0"/>
              </a:rPr>
              <a:t>➤ </a:t>
            </a:r>
            <a:r>
              <a:rPr lang="en-IN" sz="2000" b="1" dirty="0">
                <a:solidFill>
                  <a:srgbClr val="FF0000"/>
                </a:solidFill>
                <a:latin typeface="Times New Roman" pitchFamily="18" charset="0"/>
                <a:cs typeface="Times New Roman" pitchFamily="18" charset="0"/>
              </a:rPr>
              <a:t>Maturity</a:t>
            </a:r>
            <a:r>
              <a:rPr lang="en-IN" sz="2000" dirty="0">
                <a:latin typeface="Times New Roman" pitchFamily="18" charset="0"/>
                <a:cs typeface="Times New Roman" pitchFamily="18" charset="0"/>
              </a:rPr>
              <a:t>: A </a:t>
            </a:r>
            <a:r>
              <a:rPr lang="en-IN" sz="2000" dirty="0">
                <a:solidFill>
                  <a:srgbClr val="FF0000"/>
                </a:solidFill>
                <a:latin typeface="Times New Roman" pitchFamily="18" charset="0"/>
                <a:cs typeface="Times New Roman" pitchFamily="18" charset="0"/>
              </a:rPr>
              <a:t>period of a slowdown in sales growth </a:t>
            </a:r>
            <a:r>
              <a:rPr lang="en-IN" sz="2000" dirty="0">
                <a:latin typeface="Times New Roman" pitchFamily="18" charset="0"/>
                <a:cs typeface="Times New Roman" pitchFamily="18" charset="0"/>
              </a:rPr>
              <a:t>because the product has achieved acceptance by most potential buyers. Proﬁts stabilize or decline because of increased competition. </a:t>
            </a:r>
            <a:r>
              <a:rPr lang="en-IN" sz="2000" dirty="0" smtClean="0">
                <a:latin typeface="Times New Roman" pitchFamily="18" charset="0"/>
                <a:cs typeface="Times New Roman" pitchFamily="18" charset="0"/>
              </a:rPr>
              <a:t/>
            </a:r>
            <a:br>
              <a:rPr lang="en-IN" sz="2000" dirty="0" smtClean="0">
                <a:latin typeface="Times New Roman" pitchFamily="18" charset="0"/>
                <a:cs typeface="Times New Roman" pitchFamily="18" charset="0"/>
              </a:rPr>
            </a:br>
            <a:r>
              <a:rPr lang="en-IN" sz="2000" dirty="0" smtClean="0">
                <a:latin typeface="Times New Roman" pitchFamily="18" charset="0"/>
                <a:cs typeface="Times New Roman" pitchFamily="18" charset="0"/>
              </a:rPr>
              <a:t/>
            </a:r>
            <a:br>
              <a:rPr lang="en-IN" sz="2000" dirty="0" smtClean="0">
                <a:latin typeface="Times New Roman" pitchFamily="18" charset="0"/>
                <a:cs typeface="Times New Roman" pitchFamily="18" charset="0"/>
              </a:rPr>
            </a:br>
            <a:r>
              <a:rPr lang="en-IN" sz="2000" dirty="0" smtClean="0">
                <a:solidFill>
                  <a:srgbClr val="FF0000"/>
                </a:solidFill>
                <a:latin typeface="Times New Roman" pitchFamily="18" charset="0"/>
                <a:cs typeface="Times New Roman" pitchFamily="18" charset="0"/>
              </a:rPr>
              <a:t>➤ </a:t>
            </a:r>
            <a:r>
              <a:rPr lang="en-IN" sz="2000" b="1" dirty="0">
                <a:solidFill>
                  <a:srgbClr val="FF0000"/>
                </a:solidFill>
                <a:latin typeface="Times New Roman" pitchFamily="18" charset="0"/>
                <a:cs typeface="Times New Roman" pitchFamily="18" charset="0"/>
              </a:rPr>
              <a:t>Decline: </a:t>
            </a:r>
            <a:r>
              <a:rPr lang="en-IN" sz="2000" dirty="0">
                <a:latin typeface="Times New Roman" pitchFamily="18" charset="0"/>
                <a:cs typeface="Times New Roman" pitchFamily="18" charset="0"/>
              </a:rPr>
              <a:t>The period when </a:t>
            </a:r>
            <a:r>
              <a:rPr lang="en-IN" sz="2000" dirty="0">
                <a:solidFill>
                  <a:srgbClr val="FF0000"/>
                </a:solidFill>
                <a:latin typeface="Times New Roman" pitchFamily="18" charset="0"/>
                <a:cs typeface="Times New Roman" pitchFamily="18" charset="0"/>
              </a:rPr>
              <a:t>sales show a downward drift </a:t>
            </a:r>
            <a:r>
              <a:rPr lang="en-IN" sz="2000" dirty="0">
                <a:latin typeface="Times New Roman" pitchFamily="18" charset="0"/>
                <a:cs typeface="Times New Roman" pitchFamily="18" charset="0"/>
              </a:rPr>
              <a:t>and proﬁts erode.</a:t>
            </a:r>
            <a:br>
              <a:rPr lang="en-IN" sz="2000" dirty="0">
                <a:latin typeface="Times New Roman" pitchFamily="18" charset="0"/>
                <a:cs typeface="Times New Roman" pitchFamily="18" charset="0"/>
              </a:rPr>
            </a:br>
            <a:endParaRPr lang="en-IN" sz="2000" dirty="0">
              <a:latin typeface="Times New Roman" pitchFamily="18" charset="0"/>
              <a:cs typeface="Times New Roman" pitchFamily="18" charset="0"/>
            </a:endParaRPr>
          </a:p>
        </p:txBody>
      </p:sp>
    </p:spTree>
    <p:extLst>
      <p:ext uri="{BB962C8B-B14F-4D97-AF65-F5344CB8AC3E}">
        <p14:creationId xmlns:p14="http://schemas.microsoft.com/office/powerpoint/2010/main" val="224770898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oo"/>
          <p:cNvPicPr>
            <a:picLocks noGrp="1" noChangeAspect="1"/>
          </p:cNvPicPr>
          <p:nvPr isPhoto="1"/>
        </p:nvPicPr>
        <p:blipFill rotWithShape="1">
          <a:blip r:embed="rId2">
            <a:lum/>
            <a:extLst>
              <a:ext uri="{28A0092B-C50C-407E-A947-70E740481C1C}">
                <a14:useLocalDpi xmlns:a14="http://schemas.microsoft.com/office/drawing/2010/main" val="0"/>
              </a:ext>
            </a:extLst>
          </a:blip>
          <a:srcRect r="3438" b="3916"/>
          <a:stretch/>
        </p:blipFill>
        <p:spPr>
          <a:xfrm>
            <a:off x="998718" y="914400"/>
            <a:ext cx="4293588" cy="2438400"/>
          </a:xfrm>
          <a:prstGeom prst="rect">
            <a:avLst/>
          </a:prstGeom>
          <a:noFill/>
          <a:ln>
            <a:noFill/>
          </a:ln>
        </p:spPr>
      </p:pic>
      <p:pic>
        <p:nvPicPr>
          <p:cNvPr id="2050" name="Picture 2"/>
          <p:cNvPicPr>
            <a:picLocks noChangeAspect="1" noChangeArrowheads="1"/>
          </p:cNvPicPr>
          <p:nvPr/>
        </p:nvPicPr>
        <p:blipFill rotWithShape="1">
          <a:blip r:embed="rId3">
            <a:extLst>
              <a:ext uri="{28A0092B-C50C-407E-A947-70E740481C1C}">
                <a14:useLocalDpi xmlns:a14="http://schemas.microsoft.com/office/drawing/2010/main" val="0"/>
              </a:ext>
            </a:extLst>
          </a:blip>
          <a:srcRect l="11349" t="4482" r="3605" b="6014"/>
          <a:stretch/>
        </p:blipFill>
        <p:spPr bwMode="auto">
          <a:xfrm>
            <a:off x="4495800" y="3352800"/>
            <a:ext cx="3581400" cy="28227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Rectangle 2"/>
          <p:cNvSpPr/>
          <p:nvPr/>
        </p:nvSpPr>
        <p:spPr>
          <a:xfrm>
            <a:off x="998718" y="3748499"/>
            <a:ext cx="4572000" cy="2585323"/>
          </a:xfrm>
          <a:prstGeom prst="rect">
            <a:avLst/>
          </a:prstGeom>
        </p:spPr>
        <p:txBody>
          <a:bodyPr>
            <a:spAutoFit/>
          </a:bodyPr>
          <a:lstStyle/>
          <a:p>
            <a:r>
              <a:rPr lang="en-US" dirty="0"/>
              <a:t>Style</a:t>
            </a:r>
            <a:br>
              <a:rPr lang="en-US" dirty="0"/>
            </a:br>
            <a:r>
              <a:rPr lang="en-US" dirty="0"/>
              <a:t>Fashion</a:t>
            </a:r>
            <a:br>
              <a:rPr lang="en-US" dirty="0"/>
            </a:br>
            <a:r>
              <a:rPr lang="en-US" dirty="0"/>
              <a:t>Fad</a:t>
            </a:r>
            <a:endParaRPr lang="en-IN" dirty="0"/>
          </a:p>
          <a:p>
            <a:endParaRPr lang="en-US" dirty="0" smtClean="0"/>
          </a:p>
          <a:p>
            <a:r>
              <a:rPr lang="en-US" dirty="0"/>
              <a:t/>
            </a:r>
            <a:br>
              <a:rPr lang="en-US" dirty="0"/>
            </a:br>
            <a:r>
              <a:rPr lang="en-US" dirty="0"/>
              <a:t>Growth Slump Maturity Pattern</a:t>
            </a:r>
            <a:br>
              <a:rPr lang="en-US" dirty="0"/>
            </a:br>
            <a:r>
              <a:rPr lang="en-US" dirty="0"/>
              <a:t>Cycle-Recycle pattern</a:t>
            </a:r>
            <a:br>
              <a:rPr lang="en-US" dirty="0"/>
            </a:br>
            <a:r>
              <a:rPr lang="en-US" dirty="0"/>
              <a:t>Scalloped Pattern</a:t>
            </a:r>
            <a:br>
              <a:rPr lang="en-US" dirty="0"/>
            </a:br>
            <a:endParaRPr lang="en-IN" dirty="0"/>
          </a:p>
        </p:txBody>
      </p:sp>
    </p:spTree>
    <p:extLst>
      <p:ext uri="{BB962C8B-B14F-4D97-AF65-F5344CB8AC3E}">
        <p14:creationId xmlns:p14="http://schemas.microsoft.com/office/powerpoint/2010/main" val="97660581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download (3)"/>
          <p:cNvPicPr>
            <a:picLocks noGrp="1" noChangeAspect="1"/>
          </p:cNvPicPr>
          <p:nvPr isPhoto="1"/>
        </p:nvPicPr>
        <p:blipFill>
          <a:blip r:embed="rId2">
            <a:lum/>
            <a:extLst>
              <a:ext uri="{28A0092B-C50C-407E-A947-70E740481C1C}">
                <a14:useLocalDpi xmlns:a14="http://schemas.microsoft.com/office/drawing/2010/main" val="0"/>
              </a:ext>
            </a:extLst>
          </a:blip>
          <a:stretch>
            <a:fillRect/>
          </a:stretch>
        </p:blipFill>
        <p:spPr>
          <a:xfrm>
            <a:off x="471488" y="3491883"/>
            <a:ext cx="2418670" cy="1354623"/>
          </a:xfrm>
          <a:prstGeom prst="rect">
            <a:avLst/>
          </a:prstGeom>
          <a:noFill/>
          <a:ln>
            <a:noFill/>
          </a:ln>
        </p:spPr>
      </p:pic>
      <p:pic>
        <p:nvPicPr>
          <p:cNvPr id="3" name="Picture 2" descr="download (2)"/>
          <p:cNvPicPr>
            <a:picLocks noGrp="1" noChangeAspect="1"/>
          </p:cNvPicPr>
          <p:nvPr isPhoto="1"/>
        </p:nvPicPr>
        <p:blipFill>
          <a:blip r:embed="rId3">
            <a:lum/>
            <a:extLst>
              <a:ext uri="{28A0092B-C50C-407E-A947-70E740481C1C}">
                <a14:useLocalDpi xmlns:a14="http://schemas.microsoft.com/office/drawing/2010/main" val="0"/>
              </a:ext>
            </a:extLst>
          </a:blip>
          <a:stretch>
            <a:fillRect/>
          </a:stretch>
        </p:blipFill>
        <p:spPr>
          <a:xfrm>
            <a:off x="3870722" y="1675157"/>
            <a:ext cx="1403322" cy="737962"/>
          </a:xfrm>
          <a:prstGeom prst="rect">
            <a:avLst/>
          </a:prstGeom>
          <a:noFill/>
          <a:ln>
            <a:noFill/>
          </a:ln>
        </p:spPr>
      </p:pic>
      <p:pic>
        <p:nvPicPr>
          <p:cNvPr id="4" name="Picture 3" descr="download (4)"/>
          <p:cNvPicPr>
            <a:picLocks noGrp="1" noChangeAspect="1"/>
          </p:cNvPicPr>
          <p:nvPr isPhoto="1"/>
        </p:nvPicPr>
        <p:blipFill>
          <a:blip r:embed="rId4" cstate="print">
            <a:lum/>
            <a:extLst>
              <a:ext uri="{28A0092B-C50C-407E-A947-70E740481C1C}">
                <a14:useLocalDpi xmlns:a14="http://schemas.microsoft.com/office/drawing/2010/main" val="0"/>
              </a:ext>
            </a:extLst>
          </a:blip>
          <a:stretch>
            <a:fillRect/>
          </a:stretch>
        </p:blipFill>
        <p:spPr>
          <a:xfrm>
            <a:off x="802850" y="1347475"/>
            <a:ext cx="1224643" cy="679507"/>
          </a:xfrm>
          <a:prstGeom prst="rect">
            <a:avLst/>
          </a:prstGeom>
          <a:noFill/>
          <a:ln>
            <a:noFill/>
          </a:ln>
        </p:spPr>
      </p:pic>
      <p:pic>
        <p:nvPicPr>
          <p:cNvPr id="1026"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676166" y="3876228"/>
            <a:ext cx="1207294"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7" name="Picture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743200" y="2737748"/>
            <a:ext cx="1362075"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8" name="Picture 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003627" y="2439194"/>
            <a:ext cx="1503759" cy="1000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9" name="Picture 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094935" y="3540473"/>
            <a:ext cx="1513284" cy="14938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30" name="Picture 6"/>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12720" y="2348368"/>
            <a:ext cx="1930004" cy="1279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31" name="Picture 7"/>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7451951" y="1730913"/>
            <a:ext cx="1083469" cy="592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32" name="Picture 8"/>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7451952" y="128586"/>
            <a:ext cx="1503759" cy="15001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33" name="Picture 9"/>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5510722" y="3705645"/>
            <a:ext cx="1244204" cy="927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34" name="Picture 10"/>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7071931" y="5480450"/>
            <a:ext cx="1618059" cy="1006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35" name="Picture 11"/>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5334000" y="431515"/>
            <a:ext cx="1893094" cy="1255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36" name="Picture 12"/>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3132051" y="5166406"/>
            <a:ext cx="1751409" cy="920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37" name="Picture 13"/>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2156222" y="390524"/>
            <a:ext cx="1714500" cy="1139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38" name="Picture 14"/>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7058025" y="2430464"/>
            <a:ext cx="1550194" cy="10175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39" name="Picture 15"/>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1677948" y="4779056"/>
            <a:ext cx="1275159" cy="847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098" name="Picture 2"/>
          <p:cNvPicPr>
            <a:picLocks noChangeAspect="1" noChangeArrowheads="1"/>
          </p:cNvPicPr>
          <p:nvPr/>
        </p:nvPicPr>
        <p:blipFill>
          <a:blip r:embed="rId19" cstate="print">
            <a:extLst>
              <a:ext uri="{28A0092B-C50C-407E-A947-70E740481C1C}">
                <a14:useLocalDpi xmlns:a14="http://schemas.microsoft.com/office/drawing/2010/main" val="0"/>
              </a:ext>
            </a:extLst>
          </a:blip>
          <a:srcRect/>
          <a:stretch>
            <a:fillRect/>
          </a:stretch>
        </p:blipFill>
        <p:spPr bwMode="auto">
          <a:xfrm>
            <a:off x="2326085" y="1687229"/>
            <a:ext cx="1487487" cy="9384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099" name="Picture 3"/>
          <p:cNvPicPr>
            <a:picLocks noChangeAspect="1" noChangeArrowheads="1"/>
          </p:cNvPicPr>
          <p:nvPr/>
        </p:nvPicPr>
        <p:blipFill>
          <a:blip r:embed="rId20" cstate="print">
            <a:extLst>
              <a:ext uri="{28A0092B-C50C-407E-A947-70E740481C1C}">
                <a14:useLocalDpi xmlns:a14="http://schemas.microsoft.com/office/drawing/2010/main" val="0"/>
              </a:ext>
            </a:extLst>
          </a:blip>
          <a:srcRect/>
          <a:stretch>
            <a:fillRect/>
          </a:stretch>
        </p:blipFill>
        <p:spPr bwMode="auto">
          <a:xfrm>
            <a:off x="5003627" y="5747714"/>
            <a:ext cx="1751299" cy="7392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100" name="Picture 4"/>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693698" y="5697146"/>
            <a:ext cx="1968500" cy="981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101" name="Picture 5"/>
          <p:cNvPicPr>
            <a:picLocks noChangeAspect="1" noChangeArrowheads="1"/>
          </p:cNvPicPr>
          <p:nvPr/>
        </p:nvPicPr>
        <p:blipFill>
          <a:blip r:embed="rId22" cstate="print">
            <a:extLst>
              <a:ext uri="{28A0092B-C50C-407E-A947-70E740481C1C}">
                <a14:useLocalDpi xmlns:a14="http://schemas.microsoft.com/office/drawing/2010/main" val="0"/>
              </a:ext>
            </a:extLst>
          </a:blip>
          <a:srcRect/>
          <a:stretch>
            <a:fillRect/>
          </a:stretch>
        </p:blipFill>
        <p:spPr bwMode="auto">
          <a:xfrm>
            <a:off x="120146" y="262043"/>
            <a:ext cx="1846193" cy="1036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102" name="Picture 6"/>
          <p:cNvPicPr>
            <a:picLocks noChangeAspect="1" noChangeArrowheads="1"/>
          </p:cNvPicPr>
          <p:nvPr/>
        </p:nvPicPr>
        <p:blipFill>
          <a:blip r:embed="rId23" cstate="print">
            <a:extLst>
              <a:ext uri="{28A0092B-C50C-407E-A947-70E740481C1C}">
                <a14:useLocalDpi xmlns:a14="http://schemas.microsoft.com/office/drawing/2010/main" val="0"/>
              </a:ext>
            </a:extLst>
          </a:blip>
          <a:srcRect/>
          <a:stretch>
            <a:fillRect/>
          </a:stretch>
        </p:blipFill>
        <p:spPr bwMode="auto">
          <a:xfrm>
            <a:off x="3976227" y="128586"/>
            <a:ext cx="1104922" cy="831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103" name="Picture 7"/>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4852348" y="4779057"/>
            <a:ext cx="1902578" cy="706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62865520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126162"/>
          </a:xfrm>
        </p:spPr>
        <p:txBody>
          <a:bodyPr>
            <a:noAutofit/>
          </a:bodyPr>
          <a:lstStyle/>
          <a:p>
            <a:r>
              <a:rPr lang="en-IN" sz="2000" b="1" dirty="0" smtClean="0">
                <a:solidFill>
                  <a:srgbClr val="FF0000"/>
                </a:solidFill>
                <a:latin typeface="Times New Roman" pitchFamily="18" charset="0"/>
                <a:cs typeface="Times New Roman" pitchFamily="18" charset="0"/>
              </a:rPr>
              <a:t>Introduction</a:t>
            </a:r>
            <a:r>
              <a:rPr lang="en-IN" sz="2000" dirty="0" smtClean="0">
                <a:latin typeface="Times New Roman" pitchFamily="18" charset="0"/>
                <a:cs typeface="Times New Roman" pitchFamily="18" charset="0"/>
              </a:rPr>
              <a:t>- 5G, Driverless cars, Sport </a:t>
            </a:r>
            <a:r>
              <a:rPr lang="en-IN" sz="2000" dirty="0">
                <a:latin typeface="Times New Roman" pitchFamily="18" charset="0"/>
                <a:cs typeface="Times New Roman" pitchFamily="18" charset="0"/>
              </a:rPr>
              <a:t>Leagues</a:t>
            </a:r>
            <a:r>
              <a:rPr lang="en-IN" sz="2000" dirty="0" smtClean="0">
                <a:latin typeface="Times New Roman" pitchFamily="18" charset="0"/>
                <a:cs typeface="Times New Roman" pitchFamily="18" charset="0"/>
              </a:rPr>
              <a:t>, OTT</a:t>
            </a:r>
            <a:br>
              <a:rPr lang="en-IN" sz="2000" dirty="0" smtClean="0">
                <a:latin typeface="Times New Roman" pitchFamily="18" charset="0"/>
                <a:cs typeface="Times New Roman" pitchFamily="18" charset="0"/>
              </a:rPr>
            </a:br>
            <a:r>
              <a:rPr lang="en-IN" sz="2000" dirty="0" smtClean="0">
                <a:latin typeface="Times New Roman" pitchFamily="18" charset="0"/>
                <a:cs typeface="Times New Roman" pitchFamily="18" charset="0"/>
              </a:rPr>
              <a:t/>
            </a:r>
            <a:br>
              <a:rPr lang="en-IN" sz="2000" dirty="0" smtClean="0">
                <a:latin typeface="Times New Roman" pitchFamily="18" charset="0"/>
                <a:cs typeface="Times New Roman" pitchFamily="18" charset="0"/>
              </a:rPr>
            </a:br>
            <a:r>
              <a:rPr lang="en-IN" sz="2000" b="1" dirty="0" smtClean="0">
                <a:solidFill>
                  <a:srgbClr val="FF0000"/>
                </a:solidFill>
                <a:latin typeface="Times New Roman" pitchFamily="18" charset="0"/>
                <a:cs typeface="Times New Roman" pitchFamily="18" charset="0"/>
              </a:rPr>
              <a:t>Growth</a:t>
            </a:r>
            <a:r>
              <a:rPr lang="en-IN" sz="2000" dirty="0" smtClean="0">
                <a:latin typeface="Times New Roman" pitchFamily="18" charset="0"/>
                <a:cs typeface="Times New Roman" pitchFamily="18" charset="0"/>
              </a:rPr>
              <a:t>-LED, Plasma </a:t>
            </a:r>
            <a:r>
              <a:rPr lang="en-IN" sz="2000" dirty="0" err="1" smtClean="0">
                <a:latin typeface="Times New Roman" pitchFamily="18" charset="0"/>
                <a:cs typeface="Times New Roman" pitchFamily="18" charset="0"/>
              </a:rPr>
              <a:t>Tv</a:t>
            </a:r>
            <a:r>
              <a:rPr lang="en-IN" sz="2000" dirty="0" smtClean="0">
                <a:latin typeface="Times New Roman" pitchFamily="18" charset="0"/>
                <a:cs typeface="Times New Roman" pitchFamily="18" charset="0"/>
              </a:rPr>
              <a:t>, </a:t>
            </a:r>
            <a:r>
              <a:rPr lang="en-IN" sz="2000" dirty="0" err="1" smtClean="0">
                <a:latin typeface="Times New Roman" pitchFamily="18" charset="0"/>
                <a:cs typeface="Times New Roman" pitchFamily="18" charset="0"/>
              </a:rPr>
              <a:t>Wearables</a:t>
            </a:r>
            <a:r>
              <a:rPr lang="en-IN" sz="2000" dirty="0" smtClean="0">
                <a:latin typeface="Times New Roman" pitchFamily="18" charset="0"/>
                <a:cs typeface="Times New Roman" pitchFamily="18" charset="0"/>
              </a:rPr>
              <a:t>, </a:t>
            </a:r>
            <a:r>
              <a:rPr lang="en-IN" sz="2000" dirty="0">
                <a:latin typeface="Times New Roman" pitchFamily="18" charset="0"/>
                <a:cs typeface="Times New Roman" pitchFamily="18" charset="0"/>
              </a:rPr>
              <a:t>Smart watches,  Electric cars</a:t>
            </a:r>
            <a:r>
              <a:rPr lang="en-IN" sz="2000" dirty="0" smtClean="0">
                <a:latin typeface="Times New Roman" pitchFamily="18" charset="0"/>
                <a:cs typeface="Times New Roman" pitchFamily="18" charset="0"/>
              </a:rPr>
              <a:t>, Smartphones, Ecommerce, Ready to eat foods, Solar </a:t>
            </a:r>
            <a:br>
              <a:rPr lang="en-IN" sz="2000" dirty="0" smtClean="0">
                <a:latin typeface="Times New Roman" pitchFamily="18" charset="0"/>
                <a:cs typeface="Times New Roman" pitchFamily="18" charset="0"/>
              </a:rPr>
            </a:br>
            <a:r>
              <a:rPr lang="en-IN" sz="2000" dirty="0" smtClean="0">
                <a:latin typeface="Times New Roman" pitchFamily="18" charset="0"/>
                <a:cs typeface="Times New Roman" pitchFamily="18" charset="0"/>
              </a:rPr>
              <a:t/>
            </a:r>
            <a:br>
              <a:rPr lang="en-IN" sz="2000" dirty="0" smtClean="0">
                <a:latin typeface="Times New Roman" pitchFamily="18" charset="0"/>
                <a:cs typeface="Times New Roman" pitchFamily="18" charset="0"/>
              </a:rPr>
            </a:br>
            <a:r>
              <a:rPr lang="en-IN" sz="2000" b="1" dirty="0" smtClean="0">
                <a:solidFill>
                  <a:srgbClr val="FF0000"/>
                </a:solidFill>
                <a:latin typeface="Times New Roman" pitchFamily="18" charset="0"/>
                <a:cs typeface="Times New Roman" pitchFamily="18" charset="0"/>
              </a:rPr>
              <a:t>Maturity</a:t>
            </a:r>
            <a:r>
              <a:rPr lang="en-IN" sz="2000" dirty="0" smtClean="0">
                <a:latin typeface="Times New Roman" pitchFamily="18" charset="0"/>
                <a:cs typeface="Times New Roman" pitchFamily="18" charset="0"/>
              </a:rPr>
              <a:t>- FMCG</a:t>
            </a:r>
            <a:r>
              <a:rPr lang="en-IN" sz="2000" dirty="0">
                <a:latin typeface="Times New Roman" pitchFamily="18" charset="0"/>
                <a:cs typeface="Times New Roman" pitchFamily="18" charset="0"/>
              </a:rPr>
              <a:t>, cola </a:t>
            </a:r>
            <a:r>
              <a:rPr lang="en-IN" sz="2000" dirty="0" smtClean="0">
                <a:latin typeface="Times New Roman" pitchFamily="18" charset="0"/>
                <a:cs typeface="Times New Roman" pitchFamily="18" charset="0"/>
              </a:rPr>
              <a:t>majors</a:t>
            </a:r>
            <a:br>
              <a:rPr lang="en-IN" sz="2000" dirty="0" smtClean="0">
                <a:latin typeface="Times New Roman" pitchFamily="18" charset="0"/>
                <a:cs typeface="Times New Roman" pitchFamily="18" charset="0"/>
              </a:rPr>
            </a:br>
            <a:r>
              <a:rPr lang="en-IN" sz="2000" dirty="0" smtClean="0">
                <a:latin typeface="Times New Roman" pitchFamily="18" charset="0"/>
                <a:cs typeface="Times New Roman" pitchFamily="18" charset="0"/>
              </a:rPr>
              <a:t/>
            </a:r>
            <a:br>
              <a:rPr lang="en-IN" sz="2000" dirty="0" smtClean="0">
                <a:latin typeface="Times New Roman" pitchFamily="18" charset="0"/>
                <a:cs typeface="Times New Roman" pitchFamily="18" charset="0"/>
              </a:rPr>
            </a:br>
            <a:r>
              <a:rPr lang="en-IN" sz="2000" b="1" dirty="0" smtClean="0">
                <a:solidFill>
                  <a:srgbClr val="FF0000"/>
                </a:solidFill>
                <a:latin typeface="Times New Roman" pitchFamily="18" charset="0"/>
                <a:cs typeface="Times New Roman" pitchFamily="18" charset="0"/>
              </a:rPr>
              <a:t>Decline</a:t>
            </a:r>
            <a:r>
              <a:rPr lang="en-IN" sz="2000" dirty="0">
                <a:latin typeface="Times New Roman" pitchFamily="18" charset="0"/>
                <a:cs typeface="Times New Roman" pitchFamily="18" charset="0"/>
              </a:rPr>
              <a:t>- Feature Phones, Landline phones, CDs, </a:t>
            </a:r>
            <a:r>
              <a:rPr lang="en-IN" sz="2000" dirty="0" smtClean="0">
                <a:latin typeface="Times New Roman" pitchFamily="18" charset="0"/>
                <a:cs typeface="Times New Roman" pitchFamily="18" charset="0"/>
              </a:rPr>
              <a:t>DVDs</a:t>
            </a:r>
            <a:endParaRPr lang="en-IN" sz="2000" dirty="0">
              <a:latin typeface="Times New Roman" pitchFamily="18" charset="0"/>
              <a:cs typeface="Times New Roman" pitchFamily="18" charset="0"/>
            </a:endParaRPr>
          </a:p>
        </p:txBody>
      </p:sp>
    </p:spTree>
    <p:extLst>
      <p:ext uri="{BB962C8B-B14F-4D97-AF65-F5344CB8AC3E}">
        <p14:creationId xmlns:p14="http://schemas.microsoft.com/office/powerpoint/2010/main" val="11267041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126162"/>
          </a:xfrm>
        </p:spPr>
        <p:txBody>
          <a:bodyPr>
            <a:normAutofit/>
          </a:bodyPr>
          <a:lstStyle/>
          <a:p>
            <a:pPr algn="ctr"/>
            <a:r>
              <a:rPr lang="en-IN" sz="3200" dirty="0" smtClean="0">
                <a:latin typeface="Times New Roman" pitchFamily="18" charset="0"/>
                <a:cs typeface="Times New Roman" pitchFamily="18" charset="0"/>
              </a:rPr>
              <a:t/>
            </a:r>
            <a:br>
              <a:rPr lang="en-IN" sz="3200" dirty="0" smtClean="0">
                <a:latin typeface="Times New Roman" pitchFamily="18" charset="0"/>
                <a:cs typeface="Times New Roman" pitchFamily="18" charset="0"/>
              </a:rPr>
            </a:br>
            <a:r>
              <a:rPr lang="en-IN" sz="3200" dirty="0" smtClean="0">
                <a:latin typeface="Times New Roman" pitchFamily="18" charset="0"/>
                <a:cs typeface="Times New Roman" pitchFamily="18" charset="0"/>
              </a:rPr>
              <a:t>Increase </a:t>
            </a:r>
            <a:br>
              <a:rPr lang="en-IN" sz="3200" dirty="0" smtClean="0">
                <a:latin typeface="Times New Roman" pitchFamily="18" charset="0"/>
                <a:cs typeface="Times New Roman" pitchFamily="18" charset="0"/>
              </a:rPr>
            </a:br>
            <a:r>
              <a:rPr lang="en-IN" sz="3200" dirty="0" smtClean="0">
                <a:solidFill>
                  <a:srgbClr val="FF0000"/>
                </a:solidFill>
                <a:latin typeface="Times New Roman" pitchFamily="18" charset="0"/>
                <a:cs typeface="Times New Roman" pitchFamily="18" charset="0"/>
              </a:rPr>
              <a:t>users</a:t>
            </a:r>
            <a:r>
              <a:rPr lang="en-IN" sz="3200" dirty="0" smtClean="0">
                <a:latin typeface="Times New Roman" pitchFamily="18" charset="0"/>
                <a:cs typeface="Times New Roman" pitchFamily="18" charset="0"/>
              </a:rPr>
              <a:t/>
            </a:r>
            <a:br>
              <a:rPr lang="en-IN" sz="3200" dirty="0" smtClean="0">
                <a:latin typeface="Times New Roman" pitchFamily="18" charset="0"/>
                <a:cs typeface="Times New Roman" pitchFamily="18" charset="0"/>
              </a:rPr>
            </a:br>
            <a:r>
              <a:rPr lang="en-IN" sz="3200" dirty="0" smtClean="0">
                <a:solidFill>
                  <a:srgbClr val="FF0000"/>
                </a:solidFill>
                <a:latin typeface="Times New Roman" pitchFamily="18" charset="0"/>
                <a:cs typeface="Times New Roman" pitchFamily="18" charset="0"/>
              </a:rPr>
              <a:t>uses</a:t>
            </a:r>
            <a:r>
              <a:rPr lang="en-IN" sz="3200" dirty="0" smtClean="0">
                <a:latin typeface="Times New Roman" pitchFamily="18" charset="0"/>
                <a:cs typeface="Times New Roman" pitchFamily="18" charset="0"/>
              </a:rPr>
              <a:t/>
            </a:r>
            <a:br>
              <a:rPr lang="en-IN" sz="3200" dirty="0" smtClean="0">
                <a:latin typeface="Times New Roman" pitchFamily="18" charset="0"/>
                <a:cs typeface="Times New Roman" pitchFamily="18" charset="0"/>
              </a:rPr>
            </a:br>
            <a:r>
              <a:rPr lang="en-IN" sz="3200" dirty="0" smtClean="0">
                <a:solidFill>
                  <a:srgbClr val="FF0000"/>
                </a:solidFill>
                <a:latin typeface="Times New Roman" pitchFamily="18" charset="0"/>
                <a:cs typeface="Times New Roman" pitchFamily="18" charset="0"/>
              </a:rPr>
              <a:t>Occasions</a:t>
            </a:r>
            <a:r>
              <a:rPr lang="en-IN" sz="3200" dirty="0" smtClean="0">
                <a:latin typeface="Times New Roman" pitchFamily="18" charset="0"/>
                <a:cs typeface="Times New Roman" pitchFamily="18" charset="0"/>
              </a:rPr>
              <a:t/>
            </a:r>
            <a:br>
              <a:rPr lang="en-IN" sz="3200" dirty="0" smtClean="0">
                <a:latin typeface="Times New Roman" pitchFamily="18" charset="0"/>
                <a:cs typeface="Times New Roman" pitchFamily="18" charset="0"/>
              </a:rPr>
            </a:br>
            <a:r>
              <a:rPr lang="en-IN" sz="3200" dirty="0" smtClean="0">
                <a:solidFill>
                  <a:srgbClr val="FF0000"/>
                </a:solidFill>
                <a:latin typeface="Times New Roman" pitchFamily="18" charset="0"/>
                <a:cs typeface="Times New Roman" pitchFamily="18" charset="0"/>
              </a:rPr>
              <a:t>Frequency</a:t>
            </a:r>
            <a:endParaRPr lang="en-IN" sz="3200" dirty="0">
              <a:solidFill>
                <a:srgbClr val="FF0000"/>
              </a:solidFill>
              <a:latin typeface="Times New Roman" pitchFamily="18" charset="0"/>
              <a:cs typeface="Times New Roman" pitchFamily="18" charset="0"/>
            </a:endParaRPr>
          </a:p>
        </p:txBody>
      </p:sp>
      <p:pic>
        <p:nvPicPr>
          <p:cNvPr id="3074"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b="23886"/>
          <a:stretch/>
        </p:blipFill>
        <p:spPr bwMode="auto">
          <a:xfrm>
            <a:off x="3166597" y="624589"/>
            <a:ext cx="2670175" cy="12481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Rectangle 3"/>
          <p:cNvSpPr/>
          <p:nvPr/>
        </p:nvSpPr>
        <p:spPr>
          <a:xfrm>
            <a:off x="3581400" y="1956700"/>
            <a:ext cx="3004349" cy="307777"/>
          </a:xfrm>
          <a:prstGeom prst="rect">
            <a:avLst/>
          </a:prstGeom>
          <a:solidFill>
            <a:schemeClr val="bg1">
              <a:lumMod val="85000"/>
            </a:schemeClr>
          </a:solidFill>
        </p:spPr>
        <p:txBody>
          <a:bodyPr wrap="none">
            <a:spAutoFit/>
          </a:bodyPr>
          <a:lstStyle/>
          <a:p>
            <a:r>
              <a:rPr lang="en-IN" sz="1400" dirty="0">
                <a:solidFill>
                  <a:srgbClr val="FF0000"/>
                </a:solidFill>
                <a:latin typeface="Times New Roman" pitchFamily="18" charset="0"/>
                <a:cs typeface="Times New Roman" pitchFamily="18" charset="0"/>
              </a:rPr>
              <a:t>'</a:t>
            </a:r>
            <a:r>
              <a:rPr lang="en-IN" sz="1400" dirty="0" err="1">
                <a:solidFill>
                  <a:srgbClr val="FF0000"/>
                </a:solidFill>
                <a:latin typeface="Times New Roman" pitchFamily="18" charset="0"/>
                <a:cs typeface="Times New Roman" pitchFamily="18" charset="0"/>
              </a:rPr>
              <a:t>chutki</a:t>
            </a:r>
            <a:r>
              <a:rPr lang="en-IN" sz="1400" dirty="0">
                <a:solidFill>
                  <a:srgbClr val="FF0000"/>
                </a:solidFill>
                <a:latin typeface="Times New Roman" pitchFamily="18" charset="0"/>
                <a:cs typeface="Times New Roman" pitchFamily="18" charset="0"/>
              </a:rPr>
              <a:t> </a:t>
            </a:r>
            <a:r>
              <a:rPr lang="en-IN" sz="1400" dirty="0" err="1">
                <a:solidFill>
                  <a:srgbClr val="FF0000"/>
                </a:solidFill>
                <a:latin typeface="Times New Roman" pitchFamily="18" charset="0"/>
                <a:cs typeface="Times New Roman" pitchFamily="18" charset="0"/>
              </a:rPr>
              <a:t>mein</a:t>
            </a:r>
            <a:r>
              <a:rPr lang="en-IN" sz="1400" dirty="0">
                <a:solidFill>
                  <a:srgbClr val="FF0000"/>
                </a:solidFill>
                <a:latin typeface="Times New Roman" pitchFamily="18" charset="0"/>
                <a:cs typeface="Times New Roman" pitchFamily="18" charset="0"/>
              </a:rPr>
              <a:t> </a:t>
            </a:r>
            <a:r>
              <a:rPr lang="en-IN" sz="1400" dirty="0" err="1">
                <a:solidFill>
                  <a:srgbClr val="FF0000"/>
                </a:solidFill>
                <a:latin typeface="Times New Roman" pitchFamily="18" charset="0"/>
                <a:cs typeface="Times New Roman" pitchFamily="18" charset="0"/>
              </a:rPr>
              <a:t>chipkaye</a:t>
            </a:r>
            <a:r>
              <a:rPr lang="en-IN" sz="1400" dirty="0">
                <a:solidFill>
                  <a:srgbClr val="FF0000"/>
                </a:solidFill>
                <a:latin typeface="Times New Roman" pitchFamily="18" charset="0"/>
                <a:cs typeface="Times New Roman" pitchFamily="18" charset="0"/>
              </a:rPr>
              <a:t>' </a:t>
            </a:r>
            <a:r>
              <a:rPr lang="en-IN" sz="1400" dirty="0" smtClean="0">
                <a:solidFill>
                  <a:srgbClr val="FF0000"/>
                </a:solidFill>
                <a:latin typeface="Times New Roman" pitchFamily="18" charset="0"/>
                <a:cs typeface="Times New Roman" pitchFamily="18" charset="0"/>
              </a:rPr>
              <a:t>Instant adhesive</a:t>
            </a:r>
            <a:endParaRPr lang="en-IN" sz="1400" dirty="0">
              <a:solidFill>
                <a:srgbClr val="FF0000"/>
              </a:solidFill>
              <a:latin typeface="Times New Roman" pitchFamily="18" charset="0"/>
              <a:cs typeface="Times New Roman" pitchFamily="18" charset="0"/>
            </a:endParaRPr>
          </a:p>
        </p:txBody>
      </p:sp>
      <p:sp>
        <p:nvSpPr>
          <p:cNvPr id="3" name="TextBox 2"/>
          <p:cNvSpPr txBox="1"/>
          <p:nvPr/>
        </p:nvSpPr>
        <p:spPr>
          <a:xfrm>
            <a:off x="2973387" y="5095220"/>
            <a:ext cx="3276600" cy="954107"/>
          </a:xfrm>
          <a:prstGeom prst="rect">
            <a:avLst/>
          </a:prstGeom>
          <a:solidFill>
            <a:schemeClr val="bg1">
              <a:lumMod val="85000"/>
            </a:schemeClr>
          </a:solidFill>
        </p:spPr>
        <p:txBody>
          <a:bodyPr wrap="square" rtlCol="0">
            <a:spAutoFit/>
          </a:bodyPr>
          <a:lstStyle/>
          <a:p>
            <a:r>
              <a:rPr lang="en-IN" sz="1400" dirty="0" smtClean="0">
                <a:solidFill>
                  <a:srgbClr val="FF0000"/>
                </a:solidFill>
                <a:latin typeface="Times New Roman" pitchFamily="18" charset="0"/>
                <a:cs typeface="Times New Roman" pitchFamily="18" charset="0"/>
              </a:rPr>
              <a:t>Toy and </a:t>
            </a:r>
            <a:r>
              <a:rPr lang="en-IN" sz="1400" dirty="0" err="1" smtClean="0">
                <a:solidFill>
                  <a:srgbClr val="FF0000"/>
                </a:solidFill>
                <a:latin typeface="Times New Roman" pitchFamily="18" charset="0"/>
                <a:cs typeface="Times New Roman" pitchFamily="18" charset="0"/>
              </a:rPr>
              <a:t>chasma</a:t>
            </a:r>
            <a:r>
              <a:rPr lang="en-IN" sz="1400" dirty="0" smtClean="0">
                <a:solidFill>
                  <a:srgbClr val="FF0000"/>
                </a:solidFill>
                <a:latin typeface="Times New Roman" pitchFamily="18" charset="0"/>
                <a:cs typeface="Times New Roman" pitchFamily="18" charset="0"/>
              </a:rPr>
              <a:t>-can </a:t>
            </a:r>
            <a:r>
              <a:rPr lang="en-IN" sz="1400" dirty="0">
                <a:solidFill>
                  <a:srgbClr val="FF0000"/>
                </a:solidFill>
                <a:latin typeface="Times New Roman" pitchFamily="18" charset="0"/>
                <a:cs typeface="Times New Roman" pitchFamily="18" charset="0"/>
              </a:rPr>
              <a:t>be used to fix a whole host of </a:t>
            </a:r>
            <a:r>
              <a:rPr lang="en-IN" sz="1400" dirty="0" smtClean="0">
                <a:solidFill>
                  <a:srgbClr val="FF0000"/>
                </a:solidFill>
                <a:latin typeface="Times New Roman" pitchFamily="18" charset="0"/>
                <a:cs typeface="Times New Roman" pitchFamily="18" charset="0"/>
              </a:rPr>
              <a:t>objects</a:t>
            </a:r>
          </a:p>
          <a:p>
            <a:r>
              <a:rPr lang="en-US" sz="1400" dirty="0" smtClean="0">
                <a:solidFill>
                  <a:srgbClr val="FF0000"/>
                </a:solidFill>
                <a:latin typeface="Times New Roman" pitchFamily="18" charset="0"/>
                <a:cs typeface="Times New Roman" pitchFamily="18" charset="0"/>
              </a:rPr>
              <a:t>Versatile, Professional Use, all purpose, reuse</a:t>
            </a:r>
            <a:endParaRPr lang="en-IN" sz="1400" dirty="0">
              <a:solidFill>
                <a:srgbClr val="FF0000"/>
              </a:solidFill>
            </a:endParaRPr>
          </a:p>
        </p:txBody>
      </p:sp>
    </p:spTree>
    <p:extLst>
      <p:ext uri="{BB962C8B-B14F-4D97-AF65-F5344CB8AC3E}">
        <p14:creationId xmlns:p14="http://schemas.microsoft.com/office/powerpoint/2010/main" val="236299480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74638"/>
            <a:ext cx="7568226" cy="6106690"/>
          </a:xfrm>
        </p:spPr>
        <p:txBody>
          <a:bodyPr>
            <a:noAutofit/>
          </a:bodyPr>
          <a:lstStyle/>
          <a:p>
            <a:pPr algn="just"/>
            <a:r>
              <a:rPr lang="en-IN" sz="1600" b="1" dirty="0">
                <a:solidFill>
                  <a:srgbClr val="0070C0"/>
                </a:solidFill>
                <a:latin typeface="Times New Roman" pitchFamily="18" charset="0"/>
                <a:cs typeface="Times New Roman" pitchFamily="18" charset="0"/>
              </a:rPr>
              <a:t> </a:t>
            </a:r>
            <a:r>
              <a:rPr lang="en-IN" sz="2000" b="1" dirty="0" err="1" smtClean="0">
                <a:solidFill>
                  <a:srgbClr val="0070C0"/>
                </a:solidFill>
                <a:latin typeface="Times New Roman" pitchFamily="18" charset="0"/>
                <a:cs typeface="Times New Roman" pitchFamily="18" charset="0"/>
              </a:rPr>
              <a:t>Fevi</a:t>
            </a:r>
            <a:r>
              <a:rPr lang="en-IN" sz="2000" b="1" dirty="0" err="1" smtClean="0">
                <a:solidFill>
                  <a:srgbClr val="FFC000"/>
                </a:solidFill>
                <a:latin typeface="Times New Roman" pitchFamily="18" charset="0"/>
                <a:cs typeface="Times New Roman" pitchFamily="18" charset="0"/>
              </a:rPr>
              <a:t>kwik</a:t>
            </a:r>
            <a:r>
              <a:rPr lang="en-IN" sz="1600" dirty="0" smtClean="0">
                <a:solidFill>
                  <a:srgbClr val="FF0000"/>
                </a:solidFill>
                <a:latin typeface="Times New Roman" pitchFamily="18" charset="0"/>
                <a:cs typeface="Times New Roman" pitchFamily="18" charset="0"/>
              </a:rPr>
              <a:t/>
            </a:r>
            <a:br>
              <a:rPr lang="en-IN" sz="1600" dirty="0" smtClean="0">
                <a:solidFill>
                  <a:srgbClr val="FF0000"/>
                </a:solidFill>
                <a:latin typeface="Times New Roman" pitchFamily="18" charset="0"/>
                <a:cs typeface="Times New Roman" pitchFamily="18" charset="0"/>
              </a:rPr>
            </a:br>
            <a:r>
              <a:rPr lang="en-IN" sz="1600" dirty="0">
                <a:solidFill>
                  <a:srgbClr val="FF0000"/>
                </a:solidFill>
                <a:latin typeface="Times New Roman" pitchFamily="18" charset="0"/>
                <a:cs typeface="Times New Roman" pitchFamily="18" charset="0"/>
              </a:rPr>
              <a:t/>
            </a:r>
            <a:br>
              <a:rPr lang="en-IN" sz="1600" dirty="0">
                <a:solidFill>
                  <a:srgbClr val="FF0000"/>
                </a:solidFill>
                <a:latin typeface="Times New Roman" pitchFamily="18" charset="0"/>
                <a:cs typeface="Times New Roman" pitchFamily="18" charset="0"/>
              </a:rPr>
            </a:br>
            <a:r>
              <a:rPr lang="en-IN" sz="1600" dirty="0" smtClean="0">
                <a:solidFill>
                  <a:srgbClr val="FF0000"/>
                </a:solidFill>
                <a:latin typeface="Times New Roman" pitchFamily="18" charset="0"/>
                <a:cs typeface="Times New Roman" pitchFamily="18" charset="0"/>
              </a:rPr>
              <a:t/>
            </a:r>
            <a:br>
              <a:rPr lang="en-IN" sz="1600" dirty="0" smtClean="0">
                <a:solidFill>
                  <a:srgbClr val="FF0000"/>
                </a:solidFill>
                <a:latin typeface="Times New Roman" pitchFamily="18" charset="0"/>
                <a:cs typeface="Times New Roman" pitchFamily="18" charset="0"/>
              </a:rPr>
            </a:br>
            <a:r>
              <a:rPr lang="en-IN" sz="1600" dirty="0" smtClean="0">
                <a:solidFill>
                  <a:srgbClr val="FF0000"/>
                </a:solidFill>
                <a:latin typeface="Times New Roman" pitchFamily="18" charset="0"/>
                <a:cs typeface="Times New Roman" pitchFamily="18" charset="0"/>
              </a:rPr>
              <a:t> 					</a:t>
            </a:r>
            <a:br>
              <a:rPr lang="en-IN" sz="1600" dirty="0" smtClean="0">
                <a:solidFill>
                  <a:srgbClr val="FF0000"/>
                </a:solidFill>
                <a:latin typeface="Times New Roman" pitchFamily="18" charset="0"/>
                <a:cs typeface="Times New Roman" pitchFamily="18" charset="0"/>
              </a:rPr>
            </a:br>
            <a:r>
              <a:rPr lang="en-IN" sz="1600" dirty="0" smtClean="0">
                <a:solidFill>
                  <a:srgbClr val="FF0000"/>
                </a:solidFill>
                <a:latin typeface="Times New Roman" pitchFamily="18" charset="0"/>
                <a:cs typeface="Times New Roman" pitchFamily="18" charset="0"/>
              </a:rPr>
              <a:t>Humour </a:t>
            </a:r>
            <a:r>
              <a:rPr lang="en-IN" sz="1600" dirty="0">
                <a:solidFill>
                  <a:srgbClr val="FF0000"/>
                </a:solidFill>
                <a:latin typeface="Times New Roman" pitchFamily="18" charset="0"/>
                <a:cs typeface="Times New Roman" pitchFamily="18" charset="0"/>
              </a:rPr>
              <a:t>in </a:t>
            </a:r>
            <a:r>
              <a:rPr lang="en-IN" sz="1600" dirty="0" smtClean="0">
                <a:solidFill>
                  <a:srgbClr val="FF0000"/>
                </a:solidFill>
                <a:latin typeface="Times New Roman" pitchFamily="18" charset="0"/>
                <a:cs typeface="Times New Roman" pitchFamily="18" charset="0"/>
              </a:rPr>
              <a:t>marketing-</a:t>
            </a:r>
            <a:r>
              <a:rPr lang="en-IN" sz="1600" dirty="0" err="1" smtClean="0">
                <a:solidFill>
                  <a:srgbClr val="FF0000"/>
                </a:solidFill>
                <a:latin typeface="Times New Roman" pitchFamily="18" charset="0"/>
                <a:cs typeface="Times New Roman" pitchFamily="18" charset="0"/>
              </a:rPr>
              <a:t>Pidilite</a:t>
            </a:r>
            <a:r>
              <a:rPr lang="en-IN" sz="1600" dirty="0" smtClean="0">
                <a:solidFill>
                  <a:srgbClr val="FF0000"/>
                </a:solidFill>
                <a:latin typeface="Times New Roman" pitchFamily="18" charset="0"/>
                <a:cs typeface="Times New Roman" pitchFamily="18" charset="0"/>
              </a:rPr>
              <a:t> Industries</a:t>
            </a:r>
            <a:r>
              <a:rPr lang="en-IN" sz="1600" dirty="0">
                <a:solidFill>
                  <a:srgbClr val="FF0000"/>
                </a:solidFill>
                <a:latin typeface="Times New Roman" pitchFamily="18" charset="0"/>
                <a:cs typeface="Times New Roman" pitchFamily="18" charset="0"/>
              </a:rPr>
              <a:t>. </a:t>
            </a:r>
            <a:r>
              <a:rPr lang="en-IN" sz="1600" dirty="0" smtClean="0">
                <a:solidFill>
                  <a:srgbClr val="FF0000"/>
                </a:solidFill>
                <a:latin typeface="Times New Roman" pitchFamily="18" charset="0"/>
                <a:cs typeface="Times New Roman" pitchFamily="18" charset="0"/>
              </a:rPr>
              <a:t>'Toy </a:t>
            </a:r>
            <a:r>
              <a:rPr lang="en-IN" sz="1600" dirty="0">
                <a:solidFill>
                  <a:srgbClr val="FF0000"/>
                </a:solidFill>
                <a:latin typeface="Times New Roman" pitchFamily="18" charset="0"/>
                <a:cs typeface="Times New Roman" pitchFamily="18" charset="0"/>
              </a:rPr>
              <a:t>and </a:t>
            </a:r>
            <a:r>
              <a:rPr lang="en-IN" sz="1600" dirty="0" err="1">
                <a:solidFill>
                  <a:srgbClr val="FF0000"/>
                </a:solidFill>
                <a:latin typeface="Times New Roman" pitchFamily="18" charset="0"/>
                <a:cs typeface="Times New Roman" pitchFamily="18" charset="0"/>
              </a:rPr>
              <a:t>chashma</a:t>
            </a:r>
            <a:r>
              <a:rPr lang="en-IN" sz="1600" dirty="0">
                <a:solidFill>
                  <a:srgbClr val="FF0000"/>
                </a:solidFill>
                <a:latin typeface="Times New Roman" pitchFamily="18" charset="0"/>
                <a:cs typeface="Times New Roman" pitchFamily="18" charset="0"/>
              </a:rPr>
              <a:t>'. </a:t>
            </a:r>
            <a:r>
              <a:rPr lang="en-IN" sz="1600" dirty="0" smtClean="0">
                <a:latin typeface="Times New Roman" pitchFamily="18" charset="0"/>
                <a:cs typeface="Times New Roman" pitchFamily="18" charset="0"/>
              </a:rPr>
              <a:t>-</a:t>
            </a:r>
            <a:r>
              <a:rPr lang="en-IN" sz="1600" dirty="0" smtClean="0">
                <a:solidFill>
                  <a:srgbClr val="FF0000"/>
                </a:solidFill>
                <a:latin typeface="Times New Roman" pitchFamily="18" charset="0"/>
                <a:cs typeface="Times New Roman" pitchFamily="18" charset="0"/>
              </a:rPr>
              <a:t>aimed </a:t>
            </a:r>
            <a:r>
              <a:rPr lang="en-IN" sz="1600" dirty="0">
                <a:solidFill>
                  <a:srgbClr val="FF0000"/>
                </a:solidFill>
                <a:latin typeface="Times New Roman" pitchFamily="18" charset="0"/>
                <a:cs typeface="Times New Roman" pitchFamily="18" charset="0"/>
              </a:rPr>
              <a:t>at broadening the brand's appeal </a:t>
            </a:r>
            <a:r>
              <a:rPr lang="en-IN" sz="1600" dirty="0">
                <a:latin typeface="Times New Roman" pitchFamily="18" charset="0"/>
                <a:cs typeface="Times New Roman" pitchFamily="18" charset="0"/>
              </a:rPr>
              <a:t>beyond its established position as a </a:t>
            </a:r>
            <a:r>
              <a:rPr lang="en-IN" sz="1600" dirty="0">
                <a:solidFill>
                  <a:srgbClr val="FF0000"/>
                </a:solidFill>
                <a:latin typeface="Times New Roman" pitchFamily="18" charset="0"/>
                <a:cs typeface="Times New Roman" pitchFamily="18" charset="0"/>
              </a:rPr>
              <a:t>'one-drop instant adhesive</a:t>
            </a:r>
            <a:r>
              <a:rPr lang="en-IN" sz="1600" dirty="0" smtClean="0">
                <a:latin typeface="Times New Roman" pitchFamily="18" charset="0"/>
                <a:cs typeface="Times New Roman" pitchFamily="18" charset="0"/>
              </a:rPr>
              <a:t>'. -</a:t>
            </a:r>
            <a:r>
              <a:rPr lang="en-IN" sz="1600" dirty="0" err="1" smtClean="0">
                <a:solidFill>
                  <a:srgbClr val="FF0000"/>
                </a:solidFill>
                <a:latin typeface="Times New Roman" pitchFamily="18" charset="0"/>
                <a:cs typeface="Times New Roman" pitchFamily="18" charset="0"/>
              </a:rPr>
              <a:t>Fevikwik's</a:t>
            </a:r>
            <a:r>
              <a:rPr lang="en-IN" sz="1600" dirty="0" smtClean="0">
                <a:solidFill>
                  <a:srgbClr val="FF0000"/>
                </a:solidFill>
                <a:latin typeface="Times New Roman" pitchFamily="18" charset="0"/>
                <a:cs typeface="Times New Roman" pitchFamily="18" charset="0"/>
              </a:rPr>
              <a:t> versatility</a:t>
            </a:r>
            <a:r>
              <a:rPr lang="en-IN" sz="1600" dirty="0" smtClean="0">
                <a:latin typeface="Times New Roman" pitchFamily="18" charset="0"/>
                <a:cs typeface="Times New Roman" pitchFamily="18" charset="0"/>
              </a:rPr>
              <a:t>. </a:t>
            </a:r>
            <a:br>
              <a:rPr lang="en-IN" sz="1600" dirty="0" smtClean="0">
                <a:latin typeface="Times New Roman" pitchFamily="18" charset="0"/>
                <a:cs typeface="Times New Roman" pitchFamily="18" charset="0"/>
              </a:rPr>
            </a:br>
            <a:r>
              <a:rPr lang="en-IN" sz="1600" dirty="0">
                <a:latin typeface="Times New Roman" pitchFamily="18" charset="0"/>
                <a:cs typeface="Times New Roman" pitchFamily="18" charset="0"/>
              </a:rPr>
              <a:t/>
            </a:r>
            <a:br>
              <a:rPr lang="en-IN" sz="1600" dirty="0">
                <a:latin typeface="Times New Roman" pitchFamily="18" charset="0"/>
                <a:cs typeface="Times New Roman" pitchFamily="18" charset="0"/>
              </a:rPr>
            </a:br>
            <a:r>
              <a:rPr lang="en-IN" sz="1600" dirty="0" smtClean="0">
                <a:latin typeface="Times New Roman" pitchFamily="18" charset="0"/>
                <a:cs typeface="Times New Roman" pitchFamily="18" charset="0"/>
              </a:rPr>
              <a:t/>
            </a:r>
            <a:br>
              <a:rPr lang="en-IN" sz="1600" dirty="0" smtClean="0">
                <a:latin typeface="Times New Roman" pitchFamily="18" charset="0"/>
                <a:cs typeface="Times New Roman" pitchFamily="18" charset="0"/>
              </a:rPr>
            </a:br>
            <a:r>
              <a:rPr lang="en-IN" sz="1600" dirty="0" smtClean="0">
                <a:solidFill>
                  <a:srgbClr val="FF0000"/>
                </a:solidFill>
                <a:latin typeface="Times New Roman" pitchFamily="18" charset="0"/>
                <a:cs typeface="Times New Roman" pitchFamily="18" charset="0"/>
              </a:rPr>
              <a:t>By </a:t>
            </a:r>
            <a:r>
              <a:rPr lang="en-IN" sz="1600" dirty="0">
                <a:solidFill>
                  <a:srgbClr val="FF0000"/>
                </a:solidFill>
                <a:latin typeface="Times New Roman" pitchFamily="18" charset="0"/>
                <a:cs typeface="Times New Roman" pitchFamily="18" charset="0"/>
              </a:rPr>
              <a:t>increasing the usage occasions - moving from professional use to home use </a:t>
            </a:r>
            <a:r>
              <a:rPr lang="en-IN" sz="1600" dirty="0">
                <a:latin typeface="Times New Roman" pitchFamily="18" charset="0"/>
                <a:cs typeface="Times New Roman" pitchFamily="18" charset="0"/>
              </a:rPr>
              <a:t>to being an </a:t>
            </a:r>
            <a:r>
              <a:rPr lang="en-IN" sz="1600" dirty="0">
                <a:solidFill>
                  <a:srgbClr val="FF0000"/>
                </a:solidFill>
                <a:latin typeface="Times New Roman" pitchFamily="18" charset="0"/>
                <a:cs typeface="Times New Roman" pitchFamily="18" charset="0"/>
              </a:rPr>
              <a:t>all-purpose fixer </a:t>
            </a:r>
            <a:r>
              <a:rPr lang="en-IN" sz="1600" dirty="0">
                <a:latin typeface="Times New Roman" pitchFamily="18" charset="0"/>
                <a:cs typeface="Times New Roman" pitchFamily="18" charset="0"/>
              </a:rPr>
              <a:t>- </a:t>
            </a:r>
            <a:r>
              <a:rPr lang="en-IN" sz="1600" dirty="0" smtClean="0">
                <a:solidFill>
                  <a:srgbClr val="FF0000"/>
                </a:solidFill>
                <a:latin typeface="Times New Roman" pitchFamily="18" charset="0"/>
                <a:cs typeface="Times New Roman" pitchFamily="18" charset="0"/>
              </a:rPr>
              <a:t>instant </a:t>
            </a:r>
            <a:r>
              <a:rPr lang="en-IN" sz="1600" dirty="0">
                <a:solidFill>
                  <a:srgbClr val="FF0000"/>
                </a:solidFill>
                <a:latin typeface="Times New Roman" pitchFamily="18" charset="0"/>
                <a:cs typeface="Times New Roman" pitchFamily="18" charset="0"/>
              </a:rPr>
              <a:t>adhesives market with the proposition of '</a:t>
            </a:r>
            <a:r>
              <a:rPr lang="en-IN" sz="1600" dirty="0" err="1">
                <a:solidFill>
                  <a:srgbClr val="FF0000"/>
                </a:solidFill>
                <a:latin typeface="Times New Roman" pitchFamily="18" charset="0"/>
                <a:cs typeface="Times New Roman" pitchFamily="18" charset="0"/>
              </a:rPr>
              <a:t>chutki</a:t>
            </a:r>
            <a:r>
              <a:rPr lang="en-IN" sz="1600" dirty="0">
                <a:solidFill>
                  <a:srgbClr val="FF0000"/>
                </a:solidFill>
                <a:latin typeface="Times New Roman" pitchFamily="18" charset="0"/>
                <a:cs typeface="Times New Roman" pitchFamily="18" charset="0"/>
              </a:rPr>
              <a:t> </a:t>
            </a:r>
            <a:r>
              <a:rPr lang="en-IN" sz="1600" dirty="0" err="1">
                <a:solidFill>
                  <a:srgbClr val="FF0000"/>
                </a:solidFill>
                <a:latin typeface="Times New Roman" pitchFamily="18" charset="0"/>
                <a:cs typeface="Times New Roman" pitchFamily="18" charset="0"/>
              </a:rPr>
              <a:t>mein</a:t>
            </a:r>
            <a:r>
              <a:rPr lang="en-IN" sz="1600" dirty="0">
                <a:solidFill>
                  <a:srgbClr val="FF0000"/>
                </a:solidFill>
                <a:latin typeface="Times New Roman" pitchFamily="18" charset="0"/>
                <a:cs typeface="Times New Roman" pitchFamily="18" charset="0"/>
              </a:rPr>
              <a:t> </a:t>
            </a:r>
            <a:r>
              <a:rPr lang="en-IN" sz="1600" dirty="0" err="1">
                <a:solidFill>
                  <a:srgbClr val="FF0000"/>
                </a:solidFill>
                <a:latin typeface="Times New Roman" pitchFamily="18" charset="0"/>
                <a:cs typeface="Times New Roman" pitchFamily="18" charset="0"/>
              </a:rPr>
              <a:t>chipkaye</a:t>
            </a:r>
            <a:r>
              <a:rPr lang="en-IN" sz="1600" dirty="0">
                <a:latin typeface="Times New Roman" pitchFamily="18" charset="0"/>
                <a:cs typeface="Times New Roman" pitchFamily="18" charset="0"/>
              </a:rPr>
              <a:t>' </a:t>
            </a:r>
            <a:r>
              <a:rPr lang="en-IN" sz="1600" dirty="0" smtClean="0">
                <a:latin typeface="Times New Roman" pitchFamily="18" charset="0"/>
                <a:cs typeface="Times New Roman" pitchFamily="18" charset="0"/>
              </a:rPr>
              <a:t>.</a:t>
            </a:r>
            <a:br>
              <a:rPr lang="en-IN" sz="1600" dirty="0" smtClean="0">
                <a:latin typeface="Times New Roman" pitchFamily="18" charset="0"/>
                <a:cs typeface="Times New Roman" pitchFamily="18" charset="0"/>
              </a:rPr>
            </a:br>
            <a:r>
              <a:rPr lang="en-IN" sz="1600" dirty="0" err="1" smtClean="0">
                <a:solidFill>
                  <a:srgbClr val="FF0000"/>
                </a:solidFill>
                <a:latin typeface="Times New Roman" pitchFamily="18" charset="0"/>
                <a:cs typeface="Times New Roman" pitchFamily="18" charset="0"/>
              </a:rPr>
              <a:t>Pidilite</a:t>
            </a:r>
            <a:r>
              <a:rPr lang="en-IN" sz="1600" dirty="0" smtClean="0">
                <a:solidFill>
                  <a:srgbClr val="FF0000"/>
                </a:solidFill>
                <a:latin typeface="Times New Roman" pitchFamily="18" charset="0"/>
                <a:cs typeface="Times New Roman" pitchFamily="18" charset="0"/>
              </a:rPr>
              <a:t> </a:t>
            </a:r>
            <a:r>
              <a:rPr lang="en-IN" sz="1600" dirty="0">
                <a:solidFill>
                  <a:srgbClr val="FF0000"/>
                </a:solidFill>
                <a:latin typeface="Times New Roman" pitchFamily="18" charset="0"/>
                <a:cs typeface="Times New Roman" pitchFamily="18" charset="0"/>
              </a:rPr>
              <a:t>enjoys a leadership position (with over 60 per cent share) both in the Indian adhesives market as well as the instant adhesive category (80 per cent share</a:t>
            </a:r>
            <a:r>
              <a:rPr lang="en-IN" sz="1600" dirty="0" smtClean="0">
                <a:solidFill>
                  <a:srgbClr val="FF0000"/>
                </a:solidFill>
                <a:latin typeface="Times New Roman" pitchFamily="18" charset="0"/>
                <a:cs typeface="Times New Roman" pitchFamily="18" charset="0"/>
              </a:rPr>
              <a:t>). </a:t>
            </a:r>
            <a:br>
              <a:rPr lang="en-IN" sz="1600" dirty="0" smtClean="0">
                <a:solidFill>
                  <a:srgbClr val="FF0000"/>
                </a:solidFill>
                <a:latin typeface="Times New Roman" pitchFamily="18" charset="0"/>
                <a:cs typeface="Times New Roman" pitchFamily="18" charset="0"/>
              </a:rPr>
            </a:br>
            <a:r>
              <a:rPr lang="en-IN" sz="1600" dirty="0">
                <a:solidFill>
                  <a:srgbClr val="FF0000"/>
                </a:solidFill>
                <a:latin typeface="Times New Roman" pitchFamily="18" charset="0"/>
                <a:cs typeface="Times New Roman" pitchFamily="18" charset="0"/>
              </a:rPr>
              <a:t/>
            </a:r>
            <a:br>
              <a:rPr lang="en-IN" sz="1600" dirty="0">
                <a:solidFill>
                  <a:srgbClr val="FF0000"/>
                </a:solidFill>
                <a:latin typeface="Times New Roman" pitchFamily="18" charset="0"/>
                <a:cs typeface="Times New Roman" pitchFamily="18" charset="0"/>
              </a:rPr>
            </a:br>
            <a:r>
              <a:rPr lang="en-IN" sz="1600" dirty="0" smtClean="0">
                <a:latin typeface="Times New Roman" pitchFamily="18" charset="0"/>
                <a:cs typeface="Times New Roman" pitchFamily="18" charset="0"/>
              </a:rPr>
              <a:t>The </a:t>
            </a:r>
            <a:r>
              <a:rPr lang="en-IN" sz="1600" dirty="0">
                <a:latin typeface="Times New Roman" pitchFamily="18" charset="0"/>
                <a:cs typeface="Times New Roman" pitchFamily="18" charset="0"/>
              </a:rPr>
              <a:t>new campaign aims to </a:t>
            </a:r>
            <a:r>
              <a:rPr lang="en-IN" sz="1600" dirty="0">
                <a:solidFill>
                  <a:srgbClr val="FF0000"/>
                </a:solidFill>
                <a:latin typeface="Times New Roman" pitchFamily="18" charset="0"/>
                <a:cs typeface="Times New Roman" pitchFamily="18" charset="0"/>
              </a:rPr>
              <a:t>target young people by urging them to reuse </a:t>
            </a:r>
            <a:r>
              <a:rPr lang="en-IN" sz="1600" dirty="0">
                <a:latin typeface="Times New Roman" pitchFamily="18" charset="0"/>
                <a:cs typeface="Times New Roman" pitchFamily="18" charset="0"/>
              </a:rPr>
              <a:t>and recycle products. </a:t>
            </a:r>
            <a:br>
              <a:rPr lang="en-IN" sz="1600" dirty="0">
                <a:latin typeface="Times New Roman" pitchFamily="18" charset="0"/>
                <a:cs typeface="Times New Roman" pitchFamily="18" charset="0"/>
              </a:rPr>
            </a:br>
            <a:endParaRPr lang="en-IN" sz="1600" dirty="0">
              <a:latin typeface="Times New Roman" pitchFamily="18" charset="0"/>
              <a:cs typeface="Times New Roman" pitchFamily="18" charset="0"/>
            </a:endParaRPr>
          </a:p>
        </p:txBody>
      </p:sp>
    </p:spTree>
    <p:extLst>
      <p:ext uri="{BB962C8B-B14F-4D97-AF65-F5344CB8AC3E}">
        <p14:creationId xmlns:p14="http://schemas.microsoft.com/office/powerpoint/2010/main" val="39218284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77634" y="273600"/>
            <a:ext cx="6804756" cy="1144800"/>
          </a:xfrm>
        </p:spPr>
        <p:txBody>
          <a:bodyPr>
            <a:noAutofit/>
          </a:bodyPr>
          <a:lstStyle/>
          <a:p>
            <a:pPr algn="ctr"/>
            <a:r>
              <a:rPr lang="en-IN" sz="3200" b="1" dirty="0" smtClean="0">
                <a:latin typeface="Times New Roman" pitchFamily="18" charset="0"/>
                <a:cs typeface="Times New Roman" pitchFamily="18" charset="0"/>
              </a:rPr>
              <a:t>GSK Horlicks </a:t>
            </a:r>
            <a:r>
              <a:rPr lang="en-IN" sz="3200" b="1" dirty="0" smtClean="0">
                <a:solidFill>
                  <a:srgbClr val="FF0000"/>
                </a:solidFill>
                <a:latin typeface="Times New Roman" pitchFamily="18" charset="0"/>
                <a:cs typeface="Times New Roman" pitchFamily="18" charset="0"/>
              </a:rPr>
              <a:t>to</a:t>
            </a:r>
            <a:r>
              <a:rPr lang="en-IN" sz="3200" b="1" dirty="0" smtClean="0">
                <a:latin typeface="Times New Roman" pitchFamily="18" charset="0"/>
                <a:cs typeface="Times New Roman" pitchFamily="18" charset="0"/>
              </a:rPr>
              <a:t> </a:t>
            </a:r>
            <a:r>
              <a:rPr lang="en-IN" sz="3200" b="1" dirty="0" err="1" smtClean="0">
                <a:latin typeface="Times New Roman" pitchFamily="18" charset="0"/>
                <a:cs typeface="Times New Roman" pitchFamily="18" charset="0"/>
              </a:rPr>
              <a:t>Sensodyne</a:t>
            </a:r>
            <a:endParaRPr lang="en-IN" sz="3200" b="1" dirty="0">
              <a:latin typeface="Times New Roman" pitchFamily="18" charset="0"/>
              <a:cs typeface="Times New Roman" pitchFamily="18" charset="0"/>
            </a:endParaRPr>
          </a:p>
        </p:txBody>
      </p:sp>
      <p:sp>
        <p:nvSpPr>
          <p:cNvPr id="3" name="Content Placeholder 2"/>
          <p:cNvSpPr>
            <a:spLocks noGrp="1"/>
          </p:cNvSpPr>
          <p:nvPr>
            <p:ph idx="4294967295"/>
          </p:nvPr>
        </p:nvSpPr>
        <p:spPr>
          <a:xfrm>
            <a:off x="683568" y="1600202"/>
            <a:ext cx="8003232" cy="4525963"/>
          </a:xfrm>
          <a:prstGeom prst="rect">
            <a:avLst/>
          </a:prstGeom>
        </p:spPr>
        <p:txBody>
          <a:bodyPr>
            <a:normAutofit/>
          </a:bodyPr>
          <a:lstStyle/>
          <a:p>
            <a:endParaRPr lang="en-IN" sz="2400" dirty="0" smtClean="0">
              <a:solidFill>
                <a:srgbClr val="FF0000"/>
              </a:solidFill>
              <a:latin typeface="Times New Roman" pitchFamily="18" charset="0"/>
              <a:cs typeface="Times New Roman" pitchFamily="18" charset="0"/>
            </a:endParaRPr>
          </a:p>
          <a:p>
            <a:endParaRPr lang="en-IN" dirty="0">
              <a:solidFill>
                <a:srgbClr val="FF0000"/>
              </a:solidFill>
              <a:latin typeface="Times New Roman" pitchFamily="18" charset="0"/>
              <a:cs typeface="Times New Roman" pitchFamily="18" charset="0"/>
            </a:endParaRPr>
          </a:p>
          <a:p>
            <a:pPr marL="0" indent="0" algn="just">
              <a:buNone/>
            </a:pPr>
            <a:r>
              <a:rPr lang="en-IN" sz="1500" dirty="0" smtClean="0">
                <a:solidFill>
                  <a:srgbClr val="FF0000"/>
                </a:solidFill>
                <a:latin typeface="Times New Roman" pitchFamily="18" charset="0"/>
                <a:cs typeface="Times New Roman" pitchFamily="18" charset="0"/>
              </a:rPr>
              <a:t>Shifting focus to power brands </a:t>
            </a:r>
            <a:r>
              <a:rPr lang="en-IN" sz="1500" dirty="0" err="1" smtClean="0">
                <a:solidFill>
                  <a:srgbClr val="FF0000"/>
                </a:solidFill>
                <a:latin typeface="Times New Roman" pitchFamily="18" charset="0"/>
                <a:cs typeface="Times New Roman" pitchFamily="18" charset="0"/>
              </a:rPr>
              <a:t>Sensodyne</a:t>
            </a:r>
            <a:r>
              <a:rPr lang="en-IN" sz="1500" dirty="0" smtClean="0">
                <a:solidFill>
                  <a:srgbClr val="FF0000"/>
                </a:solidFill>
                <a:latin typeface="Times New Roman" pitchFamily="18" charset="0"/>
                <a:cs typeface="Times New Roman" pitchFamily="18" charset="0"/>
              </a:rPr>
              <a:t> </a:t>
            </a:r>
            <a:r>
              <a:rPr lang="en-IN" sz="1500" dirty="0" smtClean="0">
                <a:latin typeface="Times New Roman" pitchFamily="18" charset="0"/>
                <a:cs typeface="Times New Roman" pitchFamily="18" charset="0"/>
              </a:rPr>
              <a:t>toothpaste and OTC drugs. This marks a shift</a:t>
            </a:r>
            <a:r>
              <a:rPr lang="en-US" altLang="ja-JP" sz="1500" dirty="0" smtClean="0">
                <a:latin typeface="Times New Roman" pitchFamily="18" charset="0"/>
                <a:cs typeface="Times New Roman" pitchFamily="18" charset="0"/>
              </a:rPr>
              <a:t> </a:t>
            </a:r>
            <a:r>
              <a:rPr lang="en-IN" sz="1500" dirty="0" smtClean="0">
                <a:latin typeface="Times New Roman" pitchFamily="18" charset="0"/>
                <a:cs typeface="Times New Roman" pitchFamily="18" charset="0"/>
              </a:rPr>
              <a:t>for the first time in over three decades, away from its mainstay Horlicks in the country.</a:t>
            </a:r>
          </a:p>
          <a:p>
            <a:pPr marL="0" indent="0" algn="just">
              <a:buNone/>
            </a:pPr>
            <a:r>
              <a:rPr lang="en-US" sz="1500" dirty="0" smtClean="0">
                <a:latin typeface="Times New Roman" pitchFamily="18" charset="0"/>
                <a:cs typeface="Times New Roman" pitchFamily="18" charset="0"/>
              </a:rPr>
              <a:t>The </a:t>
            </a:r>
            <a:r>
              <a:rPr lang="en-US" sz="1500" dirty="0">
                <a:latin typeface="Times New Roman" pitchFamily="18" charset="0"/>
                <a:cs typeface="Times New Roman" pitchFamily="18" charset="0"/>
              </a:rPr>
              <a:t>Rs4,000-crore </a:t>
            </a:r>
            <a:r>
              <a:rPr lang="en-US" sz="1500" dirty="0">
                <a:solidFill>
                  <a:srgbClr val="FF0000"/>
                </a:solidFill>
                <a:latin typeface="Times New Roman" pitchFamily="18" charset="0"/>
                <a:cs typeface="Times New Roman" pitchFamily="18" charset="0"/>
              </a:rPr>
              <a:t>Horlicks</a:t>
            </a:r>
            <a:r>
              <a:rPr lang="en-US" sz="1500" dirty="0">
                <a:latin typeface="Times New Roman" pitchFamily="18" charset="0"/>
                <a:cs typeface="Times New Roman" pitchFamily="18" charset="0"/>
              </a:rPr>
              <a:t> which competes head-on with </a:t>
            </a:r>
            <a:r>
              <a:rPr lang="en-US" sz="1500" dirty="0" err="1">
                <a:solidFill>
                  <a:srgbClr val="FF0000"/>
                </a:solidFill>
                <a:latin typeface="Times New Roman" pitchFamily="18" charset="0"/>
                <a:cs typeface="Times New Roman" pitchFamily="18" charset="0"/>
              </a:rPr>
              <a:t>Mondelez’s</a:t>
            </a:r>
            <a:r>
              <a:rPr lang="en-US" sz="1500" dirty="0">
                <a:solidFill>
                  <a:srgbClr val="FF0000"/>
                </a:solidFill>
                <a:latin typeface="Times New Roman" pitchFamily="18" charset="0"/>
                <a:cs typeface="Times New Roman" pitchFamily="18" charset="0"/>
              </a:rPr>
              <a:t> </a:t>
            </a:r>
            <a:r>
              <a:rPr lang="en-US" sz="1500" dirty="0" err="1">
                <a:solidFill>
                  <a:srgbClr val="FF0000"/>
                </a:solidFill>
                <a:latin typeface="Times New Roman" pitchFamily="18" charset="0"/>
                <a:cs typeface="Times New Roman" pitchFamily="18" charset="0"/>
              </a:rPr>
              <a:t>Bournvita</a:t>
            </a:r>
            <a:r>
              <a:rPr lang="en-US" sz="1500" dirty="0">
                <a:solidFill>
                  <a:srgbClr val="FF0000"/>
                </a:solidFill>
                <a:latin typeface="Times New Roman" pitchFamily="18" charset="0"/>
                <a:cs typeface="Times New Roman" pitchFamily="18" charset="0"/>
              </a:rPr>
              <a:t> and Heinz’s </a:t>
            </a:r>
            <a:r>
              <a:rPr lang="en-US" sz="1500" dirty="0" err="1">
                <a:solidFill>
                  <a:srgbClr val="FF0000"/>
                </a:solidFill>
                <a:latin typeface="Times New Roman" pitchFamily="18" charset="0"/>
                <a:cs typeface="Times New Roman" pitchFamily="18" charset="0"/>
              </a:rPr>
              <a:t>Complan</a:t>
            </a:r>
            <a:r>
              <a:rPr lang="en-US" sz="1500" dirty="0">
                <a:latin typeface="Times New Roman" pitchFamily="18" charset="0"/>
                <a:cs typeface="Times New Roman" pitchFamily="18" charset="0"/>
              </a:rPr>
              <a:t>, leads the </a:t>
            </a:r>
            <a:r>
              <a:rPr lang="en-US" sz="1500" dirty="0">
                <a:solidFill>
                  <a:srgbClr val="FF0000"/>
                </a:solidFill>
                <a:latin typeface="Times New Roman" pitchFamily="18" charset="0"/>
                <a:cs typeface="Times New Roman" pitchFamily="18" charset="0"/>
              </a:rPr>
              <a:t>milk food drink category with near 70% share but headroom for growth is relatively less</a:t>
            </a:r>
            <a:r>
              <a:rPr lang="en-US" sz="1500" dirty="0" smtClean="0">
                <a:latin typeface="Times New Roman" pitchFamily="18" charset="0"/>
                <a:cs typeface="Times New Roman" pitchFamily="18" charset="0"/>
              </a:rPr>
              <a:t>.</a:t>
            </a:r>
            <a:r>
              <a:rPr lang="en-US" sz="1500" dirty="0">
                <a:solidFill>
                  <a:srgbClr val="FF0000"/>
                </a:solidFill>
                <a:latin typeface="Times New Roman" pitchFamily="18" charset="0"/>
                <a:cs typeface="Times New Roman" pitchFamily="18" charset="0"/>
              </a:rPr>
              <a:t> </a:t>
            </a:r>
            <a:endParaRPr lang="en-US" sz="1500" dirty="0" smtClean="0">
              <a:solidFill>
                <a:srgbClr val="FF0000"/>
              </a:solidFill>
              <a:latin typeface="Times New Roman" pitchFamily="18" charset="0"/>
              <a:cs typeface="Times New Roman" pitchFamily="18" charset="0"/>
            </a:endParaRPr>
          </a:p>
          <a:p>
            <a:pPr marL="0" indent="0" algn="just">
              <a:buNone/>
            </a:pPr>
            <a:r>
              <a:rPr lang="en-US" sz="1500" dirty="0" smtClean="0">
                <a:solidFill>
                  <a:srgbClr val="FF0000"/>
                </a:solidFill>
                <a:latin typeface="Times New Roman" pitchFamily="18" charset="0"/>
                <a:cs typeface="Times New Roman" pitchFamily="18" charset="0"/>
              </a:rPr>
              <a:t>It </a:t>
            </a:r>
            <a:r>
              <a:rPr lang="en-US" sz="1500" dirty="0">
                <a:solidFill>
                  <a:srgbClr val="FF0000"/>
                </a:solidFill>
                <a:latin typeface="Times New Roman" pitchFamily="18" charset="0"/>
                <a:cs typeface="Times New Roman" pitchFamily="18" charset="0"/>
              </a:rPr>
              <a:t>is slowing down for good reason and there are more nutrition choices like breakfast cereals and so on,” </a:t>
            </a:r>
          </a:p>
          <a:p>
            <a:pPr marL="0" indent="0" algn="just">
              <a:buNone/>
            </a:pPr>
            <a:endParaRPr lang="en-US" sz="1500" dirty="0" smtClean="0">
              <a:latin typeface="Times New Roman" pitchFamily="18" charset="0"/>
              <a:cs typeface="Times New Roman" pitchFamily="18" charset="0"/>
            </a:endParaRPr>
          </a:p>
          <a:p>
            <a:pPr marL="0" indent="0" algn="just">
              <a:buNone/>
            </a:pPr>
            <a:r>
              <a:rPr lang="en-US" sz="1500" dirty="0" smtClean="0">
                <a:latin typeface="Times New Roman" pitchFamily="18" charset="0"/>
                <a:cs typeface="Times New Roman" pitchFamily="18" charset="0"/>
              </a:rPr>
              <a:t>In India, the power brands will be </a:t>
            </a:r>
            <a:r>
              <a:rPr lang="en-US" sz="1500" dirty="0" err="1" smtClean="0">
                <a:latin typeface="Times New Roman" pitchFamily="18" charset="0"/>
                <a:cs typeface="Times New Roman" pitchFamily="18" charset="0"/>
              </a:rPr>
              <a:t>Sensodyne</a:t>
            </a:r>
            <a:r>
              <a:rPr lang="en-US" sz="1500" dirty="0" smtClean="0">
                <a:latin typeface="Times New Roman" pitchFamily="18" charset="0"/>
                <a:cs typeface="Times New Roman" pitchFamily="18" charset="0"/>
              </a:rPr>
              <a:t>, Panadol (called </a:t>
            </a:r>
            <a:r>
              <a:rPr lang="en-US" sz="1500" dirty="0" err="1" smtClean="0">
                <a:latin typeface="Times New Roman" pitchFamily="18" charset="0"/>
                <a:cs typeface="Times New Roman" pitchFamily="18" charset="0"/>
              </a:rPr>
              <a:t>Crocin</a:t>
            </a:r>
            <a:r>
              <a:rPr lang="en-US" sz="1500" dirty="0" smtClean="0">
                <a:latin typeface="Times New Roman" pitchFamily="18" charset="0"/>
                <a:cs typeface="Times New Roman" pitchFamily="18" charset="0"/>
              </a:rPr>
              <a:t> in India), nasal decongestant </a:t>
            </a:r>
            <a:r>
              <a:rPr lang="en-US" sz="1500" dirty="0" err="1" smtClean="0">
                <a:latin typeface="Times New Roman" pitchFamily="18" charset="0"/>
                <a:cs typeface="Times New Roman" pitchFamily="18" charset="0"/>
              </a:rPr>
              <a:t>Otrivin</a:t>
            </a:r>
            <a:r>
              <a:rPr lang="en-US" sz="1500" dirty="0" smtClean="0">
                <a:latin typeface="Times New Roman" pitchFamily="18" charset="0"/>
                <a:cs typeface="Times New Roman" pitchFamily="18" charset="0"/>
              </a:rPr>
              <a:t> and </a:t>
            </a:r>
            <a:r>
              <a:rPr lang="en-US" sz="1500" dirty="0" err="1" smtClean="0">
                <a:latin typeface="Times New Roman" pitchFamily="18" charset="0"/>
                <a:cs typeface="Times New Roman" pitchFamily="18" charset="0"/>
              </a:rPr>
              <a:t>Voltaren</a:t>
            </a:r>
            <a:r>
              <a:rPr lang="en-US" sz="1500" dirty="0" smtClean="0">
                <a:latin typeface="Times New Roman" pitchFamily="18" charset="0"/>
                <a:cs typeface="Times New Roman" pitchFamily="18" charset="0"/>
              </a:rPr>
              <a:t> pain relieving gels and rubs.</a:t>
            </a:r>
            <a:r>
              <a:rPr lang="en-US" sz="1500" dirty="0">
                <a:latin typeface="Times New Roman" pitchFamily="18" charset="0"/>
                <a:cs typeface="Times New Roman" pitchFamily="18" charset="0"/>
              </a:rPr>
              <a:t> </a:t>
            </a:r>
            <a:endParaRPr lang="en-IN" sz="3000" dirty="0">
              <a:solidFill>
                <a:srgbClr val="FF0000"/>
              </a:solidFill>
              <a:latin typeface="Times New Roman" pitchFamily="18" charset="0"/>
              <a:cs typeface="Times New Roman" pitchFamily="18" charset="0"/>
            </a:endParaRPr>
          </a:p>
        </p:txBody>
      </p:sp>
      <p:pic>
        <p:nvPicPr>
          <p:cNvPr id="1026"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815916" y="1268760"/>
            <a:ext cx="1219200" cy="1219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843378924"/>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download (12).jpg"/>
          <p:cNvPicPr>
            <a:picLocks noGrp="1" noChangeAspect="1"/>
          </p:cNvPicPr>
          <p:nvPr isPhoto="1"/>
        </p:nvPicPr>
        <p:blipFill rotWithShape="1">
          <a:blip r:embed="rId2">
            <a:lum/>
          </a:blip>
          <a:srcRect b="7772"/>
          <a:stretch/>
        </p:blipFill>
        <p:spPr>
          <a:xfrm>
            <a:off x="3005826" y="441717"/>
            <a:ext cx="3129750" cy="2164887"/>
          </a:xfrm>
          <a:prstGeom prst="rect">
            <a:avLst/>
          </a:prstGeom>
          <a:noFill/>
          <a:ln>
            <a:noFill/>
          </a:ln>
        </p:spPr>
      </p:pic>
      <p:sp>
        <p:nvSpPr>
          <p:cNvPr id="3" name="Rectangle 2"/>
          <p:cNvSpPr/>
          <p:nvPr/>
        </p:nvSpPr>
        <p:spPr>
          <a:xfrm>
            <a:off x="1169622" y="2958317"/>
            <a:ext cx="7188566" cy="2646878"/>
          </a:xfrm>
          <a:prstGeom prst="rect">
            <a:avLst/>
          </a:prstGeom>
        </p:spPr>
        <p:txBody>
          <a:bodyPr wrap="square">
            <a:spAutoFit/>
          </a:bodyPr>
          <a:lstStyle/>
          <a:p>
            <a:pPr algn="ctr"/>
            <a:r>
              <a:rPr lang="en-IN" sz="2000" b="1" dirty="0" err="1">
                <a:latin typeface="Times New Roman" pitchFamily="18" charset="0"/>
                <a:cs typeface="Times New Roman" pitchFamily="18" charset="0"/>
              </a:rPr>
              <a:t>Mondelez</a:t>
            </a:r>
            <a:r>
              <a:rPr lang="en-IN" sz="2000" b="1" dirty="0">
                <a:latin typeface="Times New Roman" pitchFamily="18" charset="0"/>
                <a:cs typeface="Times New Roman" pitchFamily="18" charset="0"/>
              </a:rPr>
              <a:t> - </a:t>
            </a:r>
            <a:r>
              <a:rPr lang="en-IN" sz="2000" b="1" dirty="0">
                <a:solidFill>
                  <a:srgbClr val="FF0000"/>
                </a:solidFill>
                <a:latin typeface="Times New Roman" pitchFamily="18" charset="0"/>
                <a:cs typeface="Times New Roman" pitchFamily="18" charset="0"/>
              </a:rPr>
              <a:t>'Bubbly' </a:t>
            </a:r>
            <a:endParaRPr lang="en-IN" sz="2000" b="1" dirty="0" smtClean="0">
              <a:solidFill>
                <a:srgbClr val="FF0000"/>
              </a:solidFill>
              <a:latin typeface="Times New Roman" pitchFamily="18" charset="0"/>
              <a:cs typeface="Times New Roman" pitchFamily="18" charset="0"/>
            </a:endParaRPr>
          </a:p>
          <a:p>
            <a:pPr algn="ctr"/>
            <a:endParaRPr lang="en-IN" b="1" dirty="0" smtClean="0">
              <a:solidFill>
                <a:srgbClr val="FF0000"/>
              </a:solidFill>
              <a:latin typeface="Times New Roman" pitchFamily="18" charset="0"/>
              <a:cs typeface="Times New Roman" pitchFamily="18" charset="0"/>
            </a:endParaRPr>
          </a:p>
          <a:p>
            <a:pPr algn="just"/>
            <a:r>
              <a:rPr lang="en-IN" sz="1600" dirty="0" smtClean="0">
                <a:solidFill>
                  <a:srgbClr val="FF0000"/>
                </a:solidFill>
                <a:latin typeface="Times New Roman" pitchFamily="18" charset="0"/>
                <a:cs typeface="Times New Roman" pitchFamily="18" charset="0"/>
              </a:rPr>
              <a:t>Bubbly </a:t>
            </a:r>
            <a:r>
              <a:rPr lang="en-IN" sz="1600" dirty="0">
                <a:solidFill>
                  <a:srgbClr val="FF0000"/>
                </a:solidFill>
                <a:latin typeface="Times New Roman" pitchFamily="18" charset="0"/>
                <a:cs typeface="Times New Roman" pitchFamily="18" charset="0"/>
              </a:rPr>
              <a:t>is an aerated chocolate </a:t>
            </a:r>
            <a:r>
              <a:rPr lang="en-IN" sz="1600" dirty="0">
                <a:latin typeface="Times New Roman" pitchFamily="18" charset="0"/>
                <a:cs typeface="Times New Roman" pitchFamily="18" charset="0"/>
              </a:rPr>
              <a:t>- a puffed-up chocolate </a:t>
            </a:r>
            <a:r>
              <a:rPr lang="en-IN" sz="1600" dirty="0" smtClean="0">
                <a:latin typeface="Times New Roman" pitchFamily="18" charset="0"/>
                <a:cs typeface="Times New Roman" pitchFamily="18" charset="0"/>
              </a:rPr>
              <a:t>- </a:t>
            </a:r>
            <a:r>
              <a:rPr lang="en-IN" sz="1600" dirty="0">
                <a:latin typeface="Times New Roman" pitchFamily="18" charset="0"/>
                <a:cs typeface="Times New Roman" pitchFamily="18" charset="0"/>
              </a:rPr>
              <a:t>which is a product innovation that requires special technology given the sticky nature of chocolate. In Bubbly's case, </a:t>
            </a:r>
            <a:r>
              <a:rPr lang="en-IN" sz="1600" dirty="0">
                <a:solidFill>
                  <a:srgbClr val="FF0000"/>
                </a:solidFill>
                <a:latin typeface="Times New Roman" pitchFamily="18" charset="0"/>
                <a:cs typeface="Times New Roman" pitchFamily="18" charset="0"/>
              </a:rPr>
              <a:t>the air bubbles are both inside and outside of it, hence the name</a:t>
            </a:r>
            <a:r>
              <a:rPr lang="en-IN" sz="1600" dirty="0" smtClean="0">
                <a:solidFill>
                  <a:srgbClr val="FF0000"/>
                </a:solidFill>
                <a:latin typeface="Times New Roman" pitchFamily="18" charset="0"/>
                <a:cs typeface="Times New Roman" pitchFamily="18" charset="0"/>
              </a:rPr>
              <a:t>.</a:t>
            </a:r>
          </a:p>
          <a:p>
            <a:pPr algn="just"/>
            <a:endParaRPr lang="en-IN" sz="1600" dirty="0">
              <a:solidFill>
                <a:srgbClr val="FF0000"/>
              </a:solidFill>
              <a:latin typeface="Times New Roman" pitchFamily="18" charset="0"/>
              <a:cs typeface="Times New Roman" pitchFamily="18" charset="0"/>
            </a:endParaRPr>
          </a:p>
          <a:p>
            <a:pPr algn="just"/>
            <a:r>
              <a:rPr lang="en-IN" sz="1600" dirty="0">
                <a:latin typeface="Times New Roman" pitchFamily="18" charset="0"/>
                <a:cs typeface="Times New Roman" pitchFamily="18" charset="0"/>
              </a:rPr>
              <a:t>Fast moving consumer goods (FMCG) analysts say that by </a:t>
            </a:r>
            <a:r>
              <a:rPr lang="en-IN" sz="1600" dirty="0">
                <a:solidFill>
                  <a:srgbClr val="FF0000"/>
                </a:solidFill>
                <a:latin typeface="Times New Roman" pitchFamily="18" charset="0"/>
                <a:cs typeface="Times New Roman" pitchFamily="18" charset="0"/>
              </a:rPr>
              <a:t>launching the country's first aerated chocolate</a:t>
            </a:r>
            <a:r>
              <a:rPr lang="en-IN" sz="1600" dirty="0">
                <a:latin typeface="Times New Roman" pitchFamily="18" charset="0"/>
                <a:cs typeface="Times New Roman" pitchFamily="18" charset="0"/>
              </a:rPr>
              <a:t>, </a:t>
            </a:r>
            <a:r>
              <a:rPr lang="en-IN" sz="1600" dirty="0" err="1">
                <a:latin typeface="Times New Roman" pitchFamily="18" charset="0"/>
                <a:cs typeface="Times New Roman" pitchFamily="18" charset="0"/>
              </a:rPr>
              <a:t>Mondelez</a:t>
            </a:r>
            <a:r>
              <a:rPr lang="en-IN" sz="1600" dirty="0">
                <a:latin typeface="Times New Roman" pitchFamily="18" charset="0"/>
                <a:cs typeface="Times New Roman" pitchFamily="18" charset="0"/>
              </a:rPr>
              <a:t> is also attempting to bring much </a:t>
            </a:r>
            <a:r>
              <a:rPr lang="en-IN" sz="1600" dirty="0">
                <a:solidFill>
                  <a:srgbClr val="FF0000"/>
                </a:solidFill>
                <a:latin typeface="Times New Roman" pitchFamily="18" charset="0"/>
                <a:cs typeface="Times New Roman" pitchFamily="18" charset="0"/>
              </a:rPr>
              <a:t>needed spark </a:t>
            </a:r>
            <a:r>
              <a:rPr lang="en-IN" sz="1600" dirty="0">
                <a:latin typeface="Times New Roman" pitchFamily="18" charset="0"/>
                <a:cs typeface="Times New Roman" pitchFamily="18" charset="0"/>
              </a:rPr>
              <a:t>into its India business, which has been reeling under a discretionary </a:t>
            </a:r>
            <a:r>
              <a:rPr lang="en-IN" sz="1600" dirty="0">
                <a:solidFill>
                  <a:srgbClr val="FF0000"/>
                </a:solidFill>
                <a:latin typeface="Times New Roman" pitchFamily="18" charset="0"/>
                <a:cs typeface="Times New Roman" pitchFamily="18" charset="0"/>
              </a:rPr>
              <a:t>slowdown in the last few quarters</a:t>
            </a:r>
            <a:r>
              <a:rPr lang="en-IN" sz="1600" dirty="0" smtClean="0">
                <a:latin typeface="Times New Roman" pitchFamily="18" charset="0"/>
                <a:cs typeface="Times New Roman" pitchFamily="18" charset="0"/>
              </a:rPr>
              <a:t>.</a:t>
            </a:r>
            <a:endParaRPr lang="en-IN" sz="1600" dirty="0">
              <a:latin typeface="Times New Roman" pitchFamily="18" charset="0"/>
              <a:cs typeface="Times New Roman" pitchFamily="18" charset="0"/>
            </a:endParaRPr>
          </a:p>
        </p:txBody>
      </p:sp>
    </p:spTree>
    <p:extLst>
      <p:ext uri="{BB962C8B-B14F-4D97-AF65-F5344CB8AC3E}">
        <p14:creationId xmlns:p14="http://schemas.microsoft.com/office/powerpoint/2010/main" val="263105462"/>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1439652" y="381000"/>
            <a:ext cx="6804756" cy="1143000"/>
          </a:xfrm>
        </p:spPr>
        <p:txBody>
          <a:bodyPr>
            <a:noAutofit/>
          </a:bodyPr>
          <a:lstStyle/>
          <a:p>
            <a:pPr algn="ctr"/>
            <a:r>
              <a:rPr lang="en-IN" sz="2400" b="1" dirty="0">
                <a:solidFill>
                  <a:srgbClr val="FF0000"/>
                </a:solidFill>
                <a:latin typeface="Times New Roman" pitchFamily="18" charset="0"/>
                <a:cs typeface="Times New Roman" pitchFamily="18" charset="0"/>
              </a:rPr>
              <a:t>Paper </a:t>
            </a:r>
            <a:r>
              <a:rPr lang="en-IN" sz="2400" b="1" dirty="0" smtClean="0">
                <a:solidFill>
                  <a:srgbClr val="FF0000"/>
                </a:solidFill>
                <a:latin typeface="Times New Roman" pitchFamily="18" charset="0"/>
                <a:cs typeface="Times New Roman" pitchFamily="18" charset="0"/>
              </a:rPr>
              <a:t>Boat</a:t>
            </a:r>
            <a:r>
              <a:rPr lang="en-IN" sz="2400" b="1" dirty="0">
                <a:solidFill>
                  <a:srgbClr val="FF0000"/>
                </a:solidFill>
                <a:latin typeface="Times New Roman" pitchFamily="18" charset="0"/>
                <a:cs typeface="Times New Roman" pitchFamily="18" charset="0"/>
              </a:rPr>
              <a:t/>
            </a:r>
            <a:br>
              <a:rPr lang="en-IN" sz="2400" b="1" dirty="0">
                <a:solidFill>
                  <a:srgbClr val="FF0000"/>
                </a:solidFill>
                <a:latin typeface="Times New Roman" pitchFamily="18" charset="0"/>
                <a:cs typeface="Times New Roman" pitchFamily="18" charset="0"/>
              </a:rPr>
            </a:br>
            <a:r>
              <a:rPr lang="en-IN" sz="2400" b="1" dirty="0">
                <a:solidFill>
                  <a:srgbClr val="FF0000"/>
                </a:solidFill>
                <a:latin typeface="Times New Roman" pitchFamily="18" charset="0"/>
                <a:cs typeface="Times New Roman" pitchFamily="18" charset="0"/>
              </a:rPr>
              <a:t>Hector Beverages </a:t>
            </a:r>
            <a:r>
              <a:rPr lang="en-IN" sz="2400" b="1" dirty="0" smtClean="0">
                <a:solidFill>
                  <a:srgbClr val="FF0000"/>
                </a:solidFill>
                <a:latin typeface="Times New Roman" pitchFamily="18" charset="0"/>
                <a:cs typeface="Times New Roman" pitchFamily="18" charset="0"/>
              </a:rPr>
              <a:t>-special </a:t>
            </a:r>
            <a:r>
              <a:rPr lang="en-IN" sz="2400" b="1" dirty="0">
                <a:solidFill>
                  <a:srgbClr val="FF0000"/>
                </a:solidFill>
                <a:latin typeface="Times New Roman" pitchFamily="18" charset="0"/>
                <a:cs typeface="Times New Roman" pitchFamily="18" charset="0"/>
              </a:rPr>
              <a:t>drinks for special </a:t>
            </a:r>
            <a:r>
              <a:rPr lang="en-IN" sz="2400" b="1" dirty="0" smtClean="0">
                <a:solidFill>
                  <a:srgbClr val="FF0000"/>
                </a:solidFill>
                <a:latin typeface="Times New Roman" pitchFamily="18" charset="0"/>
                <a:cs typeface="Times New Roman" pitchFamily="18" charset="0"/>
              </a:rPr>
              <a:t>occasions</a:t>
            </a:r>
            <a:r>
              <a:rPr lang="en-IN" sz="2400" b="1" dirty="0">
                <a:solidFill>
                  <a:srgbClr val="FF0000"/>
                </a:solidFill>
                <a:latin typeface="Times New Roman" pitchFamily="18" charset="0"/>
                <a:cs typeface="Times New Roman" pitchFamily="18" charset="0"/>
              </a:rPr>
              <a:t/>
            </a:r>
            <a:br>
              <a:rPr lang="en-IN" sz="2400" b="1" dirty="0">
                <a:solidFill>
                  <a:srgbClr val="FF0000"/>
                </a:solidFill>
                <a:latin typeface="Times New Roman" pitchFamily="18" charset="0"/>
                <a:cs typeface="Times New Roman" pitchFamily="18" charset="0"/>
              </a:rPr>
            </a:br>
            <a:endParaRPr lang="en-IN" sz="2400" b="1" dirty="0">
              <a:solidFill>
                <a:srgbClr val="FF0000"/>
              </a:solidFill>
              <a:latin typeface="Times New Roman" pitchFamily="18" charset="0"/>
              <a:cs typeface="Times New Roman" pitchFamily="18" charset="0"/>
            </a:endParaRPr>
          </a:p>
        </p:txBody>
      </p:sp>
      <p:sp>
        <p:nvSpPr>
          <p:cNvPr id="3" name="Content Placeholder 2"/>
          <p:cNvSpPr>
            <a:spLocks noGrp="1"/>
          </p:cNvSpPr>
          <p:nvPr>
            <p:ph idx="4294967295"/>
          </p:nvPr>
        </p:nvSpPr>
        <p:spPr>
          <a:xfrm>
            <a:off x="1385646" y="2667002"/>
            <a:ext cx="7451172" cy="3994121"/>
          </a:xfrm>
          <a:prstGeom prst="rect">
            <a:avLst/>
          </a:prstGeom>
        </p:spPr>
        <p:txBody>
          <a:bodyPr>
            <a:noAutofit/>
          </a:bodyPr>
          <a:lstStyle/>
          <a:p>
            <a:endParaRPr lang="en-IN" sz="2000" dirty="0" smtClean="0">
              <a:latin typeface="Times New Roman" pitchFamily="18" charset="0"/>
              <a:cs typeface="Times New Roman" pitchFamily="18" charset="0"/>
            </a:endParaRPr>
          </a:p>
          <a:p>
            <a:r>
              <a:rPr lang="en-IN" sz="2000" dirty="0" err="1" smtClean="0">
                <a:latin typeface="Times New Roman" pitchFamily="18" charset="0"/>
                <a:cs typeface="Times New Roman" pitchFamily="18" charset="0"/>
              </a:rPr>
              <a:t>Nonaerated</a:t>
            </a:r>
            <a:r>
              <a:rPr lang="en-IN" sz="2000" dirty="0" smtClean="0">
                <a:latin typeface="Times New Roman" pitchFamily="18" charset="0"/>
                <a:cs typeface="Times New Roman" pitchFamily="18" charset="0"/>
              </a:rPr>
              <a:t> beverage brand has decided to do something disruptive. </a:t>
            </a:r>
          </a:p>
          <a:p>
            <a:r>
              <a:rPr lang="en-IN" sz="2000" dirty="0" smtClean="0">
                <a:latin typeface="Times New Roman" pitchFamily="18" charset="0"/>
                <a:cs typeface="Times New Roman" pitchFamily="18" charset="0"/>
              </a:rPr>
              <a:t>launch of the </a:t>
            </a:r>
          </a:p>
          <a:p>
            <a:pPr marL="342900" indent="-342900">
              <a:buFont typeface="Wingdings" pitchFamily="2" charset="2"/>
              <a:buChar char="§"/>
            </a:pPr>
            <a:r>
              <a:rPr lang="en-IN" sz="2000" dirty="0" err="1" smtClean="0">
                <a:solidFill>
                  <a:srgbClr val="FF0000"/>
                </a:solidFill>
                <a:latin typeface="Times New Roman" pitchFamily="18" charset="0"/>
                <a:cs typeface="Times New Roman" pitchFamily="18" charset="0"/>
              </a:rPr>
              <a:t>Thandai</a:t>
            </a:r>
            <a:r>
              <a:rPr lang="en-IN" sz="2000" dirty="0" smtClean="0">
                <a:solidFill>
                  <a:srgbClr val="FF0000"/>
                </a:solidFill>
                <a:latin typeface="Times New Roman" pitchFamily="18" charset="0"/>
                <a:cs typeface="Times New Roman" pitchFamily="18" charset="0"/>
              </a:rPr>
              <a:t> </a:t>
            </a:r>
            <a:r>
              <a:rPr lang="en-IN" sz="2000" dirty="0" smtClean="0">
                <a:latin typeface="Times New Roman" pitchFamily="18" charset="0"/>
                <a:cs typeface="Times New Roman" pitchFamily="18" charset="0"/>
              </a:rPr>
              <a:t>(an </a:t>
            </a:r>
            <a:r>
              <a:rPr lang="en-IN" sz="2000" dirty="0" smtClean="0">
                <a:solidFill>
                  <a:srgbClr val="FF0000"/>
                </a:solidFill>
                <a:latin typeface="Times New Roman" pitchFamily="18" charset="0"/>
                <a:cs typeface="Times New Roman" pitchFamily="18" charset="0"/>
              </a:rPr>
              <a:t>almond ­flavoured </a:t>
            </a:r>
            <a:r>
              <a:rPr lang="en-IN" sz="2000" dirty="0" smtClean="0">
                <a:latin typeface="Times New Roman" pitchFamily="18" charset="0"/>
                <a:cs typeface="Times New Roman" pitchFamily="18" charset="0"/>
              </a:rPr>
              <a:t>beverage) for </a:t>
            </a:r>
            <a:r>
              <a:rPr lang="en-IN" sz="2000" dirty="0" smtClean="0">
                <a:solidFill>
                  <a:srgbClr val="FF0000"/>
                </a:solidFill>
                <a:latin typeface="Times New Roman" pitchFamily="18" charset="0"/>
                <a:cs typeface="Times New Roman" pitchFamily="18" charset="0"/>
              </a:rPr>
              <a:t>North India </a:t>
            </a:r>
            <a:r>
              <a:rPr lang="en-IN" sz="2000" dirty="0" smtClean="0">
                <a:latin typeface="Times New Roman" pitchFamily="18" charset="0"/>
                <a:cs typeface="Times New Roman" pitchFamily="18" charset="0"/>
              </a:rPr>
              <a:t>timed around </a:t>
            </a:r>
            <a:r>
              <a:rPr lang="en-IN" sz="2000" dirty="0" err="1" smtClean="0">
                <a:solidFill>
                  <a:srgbClr val="FF0000"/>
                </a:solidFill>
                <a:latin typeface="Times New Roman" pitchFamily="18" charset="0"/>
                <a:cs typeface="Times New Roman" pitchFamily="18" charset="0"/>
              </a:rPr>
              <a:t>Holi</a:t>
            </a:r>
            <a:r>
              <a:rPr lang="en-IN" sz="2000" dirty="0" smtClean="0">
                <a:solidFill>
                  <a:srgbClr val="FF0000"/>
                </a:solidFill>
                <a:latin typeface="Times New Roman" pitchFamily="18" charset="0"/>
                <a:cs typeface="Times New Roman" pitchFamily="18" charset="0"/>
              </a:rPr>
              <a:t>.</a:t>
            </a:r>
          </a:p>
          <a:p>
            <a:pPr marL="342900" indent="-342900">
              <a:buFont typeface="Wingdings" pitchFamily="2" charset="2"/>
              <a:buChar char="§"/>
            </a:pPr>
            <a:r>
              <a:rPr lang="en-IN" sz="2000" dirty="0" err="1" smtClean="0">
                <a:solidFill>
                  <a:srgbClr val="FF0000"/>
                </a:solidFill>
                <a:latin typeface="Times New Roman" pitchFamily="18" charset="0"/>
                <a:cs typeface="Times New Roman" pitchFamily="18" charset="0"/>
              </a:rPr>
              <a:t>Panakam</a:t>
            </a:r>
            <a:r>
              <a:rPr lang="en-IN" sz="2000" dirty="0" smtClean="0">
                <a:solidFill>
                  <a:srgbClr val="FF0000"/>
                </a:solidFill>
                <a:latin typeface="Times New Roman" pitchFamily="18" charset="0"/>
                <a:cs typeface="Times New Roman" pitchFamily="18" charset="0"/>
              </a:rPr>
              <a:t> (</a:t>
            </a:r>
            <a:r>
              <a:rPr lang="en-IN" sz="2000" dirty="0" err="1" smtClean="0">
                <a:solidFill>
                  <a:srgbClr val="FF0000"/>
                </a:solidFill>
                <a:latin typeface="Times New Roman" pitchFamily="18" charset="0"/>
                <a:cs typeface="Times New Roman" pitchFamily="18" charset="0"/>
              </a:rPr>
              <a:t>jaggery­based</a:t>
            </a:r>
            <a:r>
              <a:rPr lang="en-IN" sz="2000" dirty="0" smtClean="0">
                <a:solidFill>
                  <a:srgbClr val="FF0000"/>
                </a:solidFill>
                <a:latin typeface="Times New Roman" pitchFamily="18" charset="0"/>
                <a:cs typeface="Times New Roman" pitchFamily="18" charset="0"/>
              </a:rPr>
              <a:t> drink) </a:t>
            </a:r>
            <a:r>
              <a:rPr lang="en-IN" sz="2000" dirty="0" smtClean="0">
                <a:latin typeface="Times New Roman" pitchFamily="18" charset="0"/>
                <a:cs typeface="Times New Roman" pitchFamily="18" charset="0"/>
              </a:rPr>
              <a:t>-  to coincide with </a:t>
            </a:r>
            <a:r>
              <a:rPr lang="en-IN" sz="2000" dirty="0" smtClean="0">
                <a:solidFill>
                  <a:srgbClr val="FF0000"/>
                </a:solidFill>
                <a:latin typeface="Times New Roman" pitchFamily="18" charset="0"/>
                <a:cs typeface="Times New Roman" pitchFamily="18" charset="0"/>
              </a:rPr>
              <a:t>Rama </a:t>
            </a:r>
            <a:r>
              <a:rPr lang="en-IN" sz="2000" dirty="0" err="1" smtClean="0">
                <a:solidFill>
                  <a:srgbClr val="FF0000"/>
                </a:solidFill>
                <a:latin typeface="Times New Roman" pitchFamily="18" charset="0"/>
                <a:cs typeface="Times New Roman" pitchFamily="18" charset="0"/>
              </a:rPr>
              <a:t>Navami</a:t>
            </a:r>
            <a:r>
              <a:rPr lang="en-IN" sz="2000" dirty="0" smtClean="0">
                <a:solidFill>
                  <a:srgbClr val="FF0000"/>
                </a:solidFill>
                <a:latin typeface="Times New Roman" pitchFamily="18" charset="0"/>
                <a:cs typeface="Times New Roman" pitchFamily="18" charset="0"/>
              </a:rPr>
              <a:t> festival for the Southern market</a:t>
            </a:r>
            <a:r>
              <a:rPr lang="en-IN" sz="2000" dirty="0" smtClean="0">
                <a:latin typeface="Times New Roman" pitchFamily="18" charset="0"/>
                <a:cs typeface="Times New Roman" pitchFamily="18" charset="0"/>
              </a:rPr>
              <a:t>. </a:t>
            </a:r>
          </a:p>
          <a:p>
            <a:pPr marL="342900" indent="-342900">
              <a:buFont typeface="Wingdings" pitchFamily="2" charset="2"/>
              <a:buChar char="§"/>
            </a:pPr>
            <a:r>
              <a:rPr lang="en-IN" sz="2000" dirty="0" err="1" smtClean="0">
                <a:solidFill>
                  <a:srgbClr val="FF0000"/>
                </a:solidFill>
                <a:latin typeface="Times New Roman" pitchFamily="18" charset="0"/>
                <a:cs typeface="Times New Roman" pitchFamily="18" charset="0"/>
              </a:rPr>
              <a:t>Kacchi</a:t>
            </a:r>
            <a:r>
              <a:rPr lang="en-IN" sz="2000" dirty="0" smtClean="0">
                <a:solidFill>
                  <a:srgbClr val="FF0000"/>
                </a:solidFill>
                <a:latin typeface="Times New Roman" pitchFamily="18" charset="0"/>
                <a:cs typeface="Times New Roman" pitchFamily="18" charset="0"/>
              </a:rPr>
              <a:t> </a:t>
            </a:r>
            <a:r>
              <a:rPr lang="en-IN" sz="2000" dirty="0" err="1" smtClean="0">
                <a:solidFill>
                  <a:srgbClr val="FF0000"/>
                </a:solidFill>
                <a:latin typeface="Times New Roman" pitchFamily="18" charset="0"/>
                <a:cs typeface="Times New Roman" pitchFamily="18" charset="0"/>
              </a:rPr>
              <a:t>Lassi</a:t>
            </a:r>
            <a:r>
              <a:rPr lang="en-IN" sz="2000" dirty="0" smtClean="0">
                <a:solidFill>
                  <a:srgbClr val="FF0000"/>
                </a:solidFill>
                <a:latin typeface="Times New Roman" pitchFamily="18" charset="0"/>
                <a:cs typeface="Times New Roman" pitchFamily="18" charset="0"/>
              </a:rPr>
              <a:t> </a:t>
            </a:r>
            <a:r>
              <a:rPr lang="en-IN" sz="2000" dirty="0" smtClean="0">
                <a:latin typeface="Times New Roman" pitchFamily="18" charset="0"/>
                <a:cs typeface="Times New Roman" pitchFamily="18" charset="0"/>
              </a:rPr>
              <a:t>that would make an entry around </a:t>
            </a:r>
            <a:r>
              <a:rPr lang="en-IN" sz="2000" dirty="0" err="1" smtClean="0">
                <a:solidFill>
                  <a:srgbClr val="FF0000"/>
                </a:solidFill>
                <a:latin typeface="Times New Roman" pitchFamily="18" charset="0"/>
                <a:cs typeface="Times New Roman" pitchFamily="18" charset="0"/>
              </a:rPr>
              <a:t>Baisakhi</a:t>
            </a:r>
            <a:r>
              <a:rPr lang="en-IN" sz="2000" dirty="0" smtClean="0">
                <a:solidFill>
                  <a:srgbClr val="FF0000"/>
                </a:solidFill>
                <a:latin typeface="Times New Roman" pitchFamily="18" charset="0"/>
                <a:cs typeface="Times New Roman" pitchFamily="18" charset="0"/>
              </a:rPr>
              <a:t> .</a:t>
            </a:r>
          </a:p>
          <a:p>
            <a:pPr marL="342900" indent="-342900">
              <a:buFont typeface="Wingdings" pitchFamily="2" charset="2"/>
              <a:buChar char="§"/>
            </a:pPr>
            <a:r>
              <a:rPr lang="en-IN" sz="2000" dirty="0" smtClean="0">
                <a:solidFill>
                  <a:srgbClr val="FF0000"/>
                </a:solidFill>
                <a:latin typeface="Times New Roman" pitchFamily="18" charset="0"/>
                <a:cs typeface="Times New Roman" pitchFamily="18" charset="0"/>
              </a:rPr>
              <a:t>Rose Sherbet </a:t>
            </a:r>
            <a:r>
              <a:rPr lang="en-IN" sz="2000" dirty="0" smtClean="0">
                <a:latin typeface="Times New Roman" pitchFamily="18" charset="0"/>
                <a:cs typeface="Times New Roman" pitchFamily="18" charset="0"/>
              </a:rPr>
              <a:t>during </a:t>
            </a:r>
            <a:r>
              <a:rPr lang="en-IN" sz="2000" dirty="0" err="1" smtClean="0">
                <a:solidFill>
                  <a:srgbClr val="FF0000"/>
                </a:solidFill>
                <a:latin typeface="Times New Roman" pitchFamily="18" charset="0"/>
                <a:cs typeface="Times New Roman" pitchFamily="18" charset="0"/>
              </a:rPr>
              <a:t>Ramzan</a:t>
            </a:r>
            <a:r>
              <a:rPr lang="en-IN" sz="2000" dirty="0" smtClean="0">
                <a:solidFill>
                  <a:srgbClr val="FF0000"/>
                </a:solidFill>
                <a:latin typeface="Times New Roman" pitchFamily="18" charset="0"/>
                <a:cs typeface="Times New Roman" pitchFamily="18" charset="0"/>
              </a:rPr>
              <a:t>. </a:t>
            </a:r>
            <a:endParaRPr lang="en-IN" sz="1400" dirty="0">
              <a:solidFill>
                <a:srgbClr val="FF0000"/>
              </a:solidFill>
              <a:latin typeface="Times New Roman" pitchFamily="18" charset="0"/>
              <a:cs typeface="Times New Roman" pitchFamily="18" charset="0"/>
            </a:endParaRPr>
          </a:p>
        </p:txBody>
      </p:sp>
      <p:pic>
        <p:nvPicPr>
          <p:cNvPr id="921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10001" y="1676402"/>
            <a:ext cx="1824038" cy="1127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01143343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extLst>
              <p:ext uri="{D42A27DB-BD31-4B8C-83A1-F6EECF244321}">
                <p14:modId xmlns:p14="http://schemas.microsoft.com/office/powerpoint/2010/main" val="3303790546"/>
              </p:ext>
            </p:extLst>
          </p:nvPr>
        </p:nvGraphicFramePr>
        <p:xfrm>
          <a:off x="152400" y="2971800"/>
          <a:ext cx="8915400" cy="2753884"/>
        </p:xfrm>
        <a:graphic>
          <a:graphicData uri="http://schemas.openxmlformats.org/drawingml/2006/table">
            <a:tbl>
              <a:tblPr firstRow="1" bandRow="1">
                <a:tableStyleId>{5C22544A-7EE6-4342-B048-85BDC9FD1C3A}</a:tableStyleId>
              </a:tblPr>
              <a:tblGrid>
                <a:gridCol w="1783080"/>
                <a:gridCol w="1616861"/>
                <a:gridCol w="1934060"/>
                <a:gridCol w="1798319"/>
                <a:gridCol w="1783080"/>
              </a:tblGrid>
              <a:tr h="360666">
                <a:tc>
                  <a:txBody>
                    <a:bodyPr/>
                    <a:lstStyle/>
                    <a:p>
                      <a:r>
                        <a:rPr lang="en-IN" sz="1200" dirty="0" smtClean="0">
                          <a:latin typeface="Times New Roman" pitchFamily="18" charset="0"/>
                          <a:cs typeface="Times New Roman" pitchFamily="18" charset="0"/>
                        </a:rPr>
                        <a:t>Characteristics</a:t>
                      </a:r>
                      <a:endParaRPr lang="en-IN" sz="1200" dirty="0">
                        <a:latin typeface="Times New Roman" pitchFamily="18" charset="0"/>
                        <a:cs typeface="Times New Roman" pitchFamily="18" charset="0"/>
                      </a:endParaRPr>
                    </a:p>
                  </a:txBody>
                  <a:tcPr>
                    <a:solidFill>
                      <a:schemeClr val="bg1">
                        <a:lumMod val="50000"/>
                      </a:schemeClr>
                    </a:solidFill>
                  </a:tcPr>
                </a:tc>
                <a:tc>
                  <a:txBody>
                    <a:bodyPr/>
                    <a:lstStyle/>
                    <a:p>
                      <a:pPr algn="ctr"/>
                      <a:r>
                        <a:rPr lang="en-IN" sz="1200" dirty="0" smtClean="0">
                          <a:solidFill>
                            <a:srgbClr val="FF0000"/>
                          </a:solidFill>
                          <a:latin typeface="Times New Roman" pitchFamily="18" charset="0"/>
                          <a:cs typeface="Times New Roman" pitchFamily="18" charset="0"/>
                        </a:rPr>
                        <a:t>Introduction</a:t>
                      </a:r>
                      <a:endParaRPr lang="en-IN" sz="1200" dirty="0">
                        <a:solidFill>
                          <a:srgbClr val="FF0000"/>
                        </a:solidFill>
                        <a:latin typeface="Times New Roman" pitchFamily="18" charset="0"/>
                        <a:cs typeface="Times New Roman" pitchFamily="18" charset="0"/>
                      </a:endParaRPr>
                    </a:p>
                  </a:txBody>
                  <a:tcPr>
                    <a:solidFill>
                      <a:schemeClr val="bg1">
                        <a:lumMod val="75000"/>
                      </a:schemeClr>
                    </a:solidFill>
                  </a:tcPr>
                </a:tc>
                <a:tc>
                  <a:txBody>
                    <a:bodyPr/>
                    <a:lstStyle/>
                    <a:p>
                      <a:pPr algn="ctr"/>
                      <a:r>
                        <a:rPr lang="en-IN" sz="1200" dirty="0" smtClean="0">
                          <a:solidFill>
                            <a:srgbClr val="FF0000"/>
                          </a:solidFill>
                          <a:latin typeface="Times New Roman" pitchFamily="18" charset="0"/>
                          <a:cs typeface="Times New Roman" pitchFamily="18" charset="0"/>
                        </a:rPr>
                        <a:t>Growth</a:t>
                      </a:r>
                      <a:endParaRPr lang="en-IN" sz="1200" dirty="0">
                        <a:solidFill>
                          <a:srgbClr val="FF0000"/>
                        </a:solidFill>
                        <a:latin typeface="Times New Roman" pitchFamily="18" charset="0"/>
                        <a:cs typeface="Times New Roman" pitchFamily="18" charset="0"/>
                      </a:endParaRPr>
                    </a:p>
                  </a:txBody>
                  <a:tcPr>
                    <a:solidFill>
                      <a:schemeClr val="bg1">
                        <a:lumMod val="75000"/>
                      </a:schemeClr>
                    </a:solidFill>
                  </a:tcPr>
                </a:tc>
                <a:tc>
                  <a:txBody>
                    <a:bodyPr/>
                    <a:lstStyle/>
                    <a:p>
                      <a:pPr algn="ctr"/>
                      <a:r>
                        <a:rPr lang="en-IN" sz="1200" dirty="0" smtClean="0">
                          <a:solidFill>
                            <a:srgbClr val="FF0000"/>
                          </a:solidFill>
                          <a:latin typeface="Times New Roman" pitchFamily="18" charset="0"/>
                          <a:cs typeface="Times New Roman" pitchFamily="18" charset="0"/>
                        </a:rPr>
                        <a:t>Maturity </a:t>
                      </a:r>
                      <a:endParaRPr lang="en-IN" sz="1200" dirty="0">
                        <a:solidFill>
                          <a:srgbClr val="FF0000"/>
                        </a:solidFill>
                        <a:latin typeface="Times New Roman" pitchFamily="18" charset="0"/>
                        <a:cs typeface="Times New Roman" pitchFamily="18" charset="0"/>
                      </a:endParaRPr>
                    </a:p>
                  </a:txBody>
                  <a:tcPr>
                    <a:solidFill>
                      <a:schemeClr val="bg1">
                        <a:lumMod val="75000"/>
                      </a:schemeClr>
                    </a:solidFill>
                  </a:tcPr>
                </a:tc>
                <a:tc>
                  <a:txBody>
                    <a:bodyPr/>
                    <a:lstStyle/>
                    <a:p>
                      <a:pPr algn="ctr"/>
                      <a:r>
                        <a:rPr lang="en-IN" sz="1200" dirty="0" smtClean="0">
                          <a:solidFill>
                            <a:srgbClr val="FF0000"/>
                          </a:solidFill>
                          <a:latin typeface="Times New Roman" pitchFamily="18" charset="0"/>
                          <a:cs typeface="Times New Roman" pitchFamily="18" charset="0"/>
                        </a:rPr>
                        <a:t>Decline</a:t>
                      </a:r>
                      <a:endParaRPr lang="en-IN" sz="1200" dirty="0">
                        <a:solidFill>
                          <a:srgbClr val="FF0000"/>
                        </a:solidFill>
                        <a:latin typeface="Times New Roman" pitchFamily="18" charset="0"/>
                        <a:cs typeface="Times New Roman" pitchFamily="18" charset="0"/>
                      </a:endParaRPr>
                    </a:p>
                  </a:txBody>
                  <a:tcPr>
                    <a:solidFill>
                      <a:schemeClr val="bg1">
                        <a:lumMod val="75000"/>
                      </a:schemeClr>
                    </a:solidFill>
                  </a:tcPr>
                </a:tc>
              </a:tr>
              <a:tr h="395383">
                <a:tc>
                  <a:txBody>
                    <a:bodyPr/>
                    <a:lstStyle/>
                    <a:p>
                      <a:r>
                        <a:rPr lang="en-IN" sz="1200" b="1" dirty="0" smtClean="0">
                          <a:solidFill>
                            <a:srgbClr val="FF0000"/>
                          </a:solidFill>
                          <a:latin typeface="Times New Roman" pitchFamily="18" charset="0"/>
                          <a:cs typeface="Times New Roman" pitchFamily="18" charset="0"/>
                        </a:rPr>
                        <a:t>Sales</a:t>
                      </a:r>
                      <a:endParaRPr lang="en-IN" sz="1200" b="1" dirty="0">
                        <a:solidFill>
                          <a:srgbClr val="FF0000"/>
                        </a:solidFill>
                        <a:latin typeface="Times New Roman" pitchFamily="18" charset="0"/>
                        <a:cs typeface="Times New Roman" pitchFamily="18" charset="0"/>
                      </a:endParaRPr>
                    </a:p>
                  </a:txBody>
                  <a:tcPr>
                    <a:solidFill>
                      <a:schemeClr val="bg1">
                        <a:lumMod val="75000"/>
                      </a:schemeClr>
                    </a:solidFill>
                  </a:tcPr>
                </a:tc>
                <a:tc>
                  <a:txBody>
                    <a:bodyPr/>
                    <a:lstStyle/>
                    <a:p>
                      <a:r>
                        <a:rPr lang="en-IN" sz="1200" dirty="0" smtClean="0">
                          <a:latin typeface="Times New Roman" pitchFamily="18" charset="0"/>
                          <a:cs typeface="Times New Roman" pitchFamily="18" charset="0"/>
                        </a:rPr>
                        <a:t>Sales Low</a:t>
                      </a:r>
                      <a:endParaRPr lang="en-IN" sz="1200" dirty="0">
                        <a:latin typeface="Times New Roman" pitchFamily="18" charset="0"/>
                        <a:cs typeface="Times New Roman" pitchFamily="18" charset="0"/>
                      </a:endParaRPr>
                    </a:p>
                  </a:txBody>
                  <a:tcPr>
                    <a:solidFill>
                      <a:schemeClr val="bg1">
                        <a:lumMod val="75000"/>
                      </a:schemeClr>
                    </a:solidFill>
                  </a:tcPr>
                </a:tc>
                <a:tc>
                  <a:txBody>
                    <a:bodyPr/>
                    <a:lstStyle/>
                    <a:p>
                      <a:r>
                        <a:rPr lang="en-IN" sz="1200" dirty="0" smtClean="0">
                          <a:latin typeface="Times New Roman" pitchFamily="18" charset="0"/>
                          <a:cs typeface="Times New Roman" pitchFamily="18" charset="0"/>
                        </a:rPr>
                        <a:t>Rapidly rising sales</a:t>
                      </a:r>
                      <a:endParaRPr lang="en-IN" sz="1200" dirty="0">
                        <a:latin typeface="Times New Roman" pitchFamily="18" charset="0"/>
                        <a:cs typeface="Times New Roman" pitchFamily="18" charset="0"/>
                      </a:endParaRPr>
                    </a:p>
                  </a:txBody>
                  <a:tcPr>
                    <a:solidFill>
                      <a:schemeClr val="bg1">
                        <a:lumMod val="75000"/>
                      </a:schemeClr>
                    </a:solidFill>
                  </a:tcPr>
                </a:tc>
                <a:tc>
                  <a:txBody>
                    <a:bodyPr/>
                    <a:lstStyle/>
                    <a:p>
                      <a:r>
                        <a:rPr lang="en-IN" sz="1200" dirty="0" smtClean="0">
                          <a:latin typeface="Times New Roman" pitchFamily="18" charset="0"/>
                          <a:cs typeface="Times New Roman" pitchFamily="18" charset="0"/>
                        </a:rPr>
                        <a:t>Peak sales</a:t>
                      </a:r>
                      <a:endParaRPr lang="en-IN" sz="1200" dirty="0">
                        <a:latin typeface="Times New Roman" pitchFamily="18" charset="0"/>
                        <a:cs typeface="Times New Roman" pitchFamily="18" charset="0"/>
                      </a:endParaRPr>
                    </a:p>
                  </a:txBody>
                  <a:tcPr>
                    <a:solidFill>
                      <a:schemeClr val="bg1">
                        <a:lumMod val="75000"/>
                      </a:schemeClr>
                    </a:solidFill>
                  </a:tcPr>
                </a:tc>
                <a:tc>
                  <a:txBody>
                    <a:bodyPr/>
                    <a:lstStyle/>
                    <a:p>
                      <a:r>
                        <a:rPr lang="en-IN" sz="1200" dirty="0" smtClean="0">
                          <a:latin typeface="Times New Roman" pitchFamily="18" charset="0"/>
                          <a:cs typeface="Times New Roman" pitchFamily="18" charset="0"/>
                        </a:rPr>
                        <a:t>Declining sales </a:t>
                      </a:r>
                      <a:endParaRPr lang="en-IN" sz="1200" dirty="0">
                        <a:latin typeface="Times New Roman" pitchFamily="18" charset="0"/>
                        <a:cs typeface="Times New Roman" pitchFamily="18" charset="0"/>
                      </a:endParaRPr>
                    </a:p>
                  </a:txBody>
                  <a:tcPr>
                    <a:solidFill>
                      <a:schemeClr val="bg1">
                        <a:lumMod val="75000"/>
                      </a:schemeClr>
                    </a:solidFill>
                  </a:tcPr>
                </a:tc>
              </a:tr>
              <a:tr h="439611">
                <a:tc>
                  <a:txBody>
                    <a:bodyPr/>
                    <a:lstStyle/>
                    <a:p>
                      <a:r>
                        <a:rPr lang="en-IN" sz="1200" b="1" dirty="0" smtClean="0">
                          <a:solidFill>
                            <a:srgbClr val="FF0000"/>
                          </a:solidFill>
                          <a:latin typeface="Times New Roman" pitchFamily="18" charset="0"/>
                          <a:cs typeface="Times New Roman" pitchFamily="18" charset="0"/>
                        </a:rPr>
                        <a:t>Costs</a:t>
                      </a:r>
                      <a:endParaRPr lang="en-IN" sz="1200" b="1" dirty="0">
                        <a:solidFill>
                          <a:srgbClr val="FF0000"/>
                        </a:solidFill>
                        <a:latin typeface="Times New Roman" pitchFamily="18" charset="0"/>
                        <a:cs typeface="Times New Roman" pitchFamily="18" charset="0"/>
                      </a:endParaRPr>
                    </a:p>
                  </a:txBody>
                  <a:tcPr>
                    <a:solidFill>
                      <a:schemeClr val="bg1">
                        <a:lumMod val="75000"/>
                      </a:schemeClr>
                    </a:solidFill>
                  </a:tcPr>
                </a:tc>
                <a:tc>
                  <a:txBody>
                    <a:bodyPr/>
                    <a:lstStyle/>
                    <a:p>
                      <a:r>
                        <a:rPr lang="en-IN" sz="1200" dirty="0" smtClean="0">
                          <a:latin typeface="Times New Roman" pitchFamily="18" charset="0"/>
                          <a:cs typeface="Times New Roman" pitchFamily="18" charset="0"/>
                        </a:rPr>
                        <a:t>High cost per customer</a:t>
                      </a:r>
                      <a:endParaRPr lang="en-IN" sz="1200" dirty="0">
                        <a:latin typeface="Times New Roman" pitchFamily="18" charset="0"/>
                        <a:cs typeface="Times New Roman" pitchFamily="18" charset="0"/>
                      </a:endParaRPr>
                    </a:p>
                  </a:txBody>
                  <a:tcPr>
                    <a:solidFill>
                      <a:schemeClr val="bg1">
                        <a:lumMod val="75000"/>
                      </a:schemeClr>
                    </a:solidFill>
                  </a:tcPr>
                </a:tc>
                <a:tc>
                  <a:txBody>
                    <a:bodyPr/>
                    <a:lstStyle/>
                    <a:p>
                      <a:r>
                        <a:rPr lang="en-IN" sz="1200" dirty="0" smtClean="0">
                          <a:latin typeface="Times New Roman" pitchFamily="18" charset="0"/>
                          <a:cs typeface="Times New Roman" pitchFamily="18" charset="0"/>
                        </a:rPr>
                        <a:t>Average cost per customer</a:t>
                      </a:r>
                      <a:endParaRPr lang="en-IN" sz="1200" dirty="0">
                        <a:latin typeface="Times New Roman" pitchFamily="18" charset="0"/>
                        <a:cs typeface="Times New Roman" pitchFamily="18" charset="0"/>
                      </a:endParaRPr>
                    </a:p>
                  </a:txBody>
                  <a:tcPr>
                    <a:solidFill>
                      <a:schemeClr val="bg1">
                        <a:lumMod val="75000"/>
                      </a:schemeClr>
                    </a:solidFill>
                  </a:tcPr>
                </a:tc>
                <a:tc>
                  <a:txBody>
                    <a:bodyPr/>
                    <a:lstStyle/>
                    <a:p>
                      <a:r>
                        <a:rPr lang="en-IN" sz="1200" dirty="0" smtClean="0">
                          <a:latin typeface="Times New Roman" pitchFamily="18" charset="0"/>
                          <a:cs typeface="Times New Roman" pitchFamily="18" charset="0"/>
                        </a:rPr>
                        <a:t>Low cost per customer</a:t>
                      </a:r>
                      <a:endParaRPr lang="en-IN" sz="1200" dirty="0">
                        <a:latin typeface="Times New Roman" pitchFamily="18" charset="0"/>
                        <a:cs typeface="Times New Roman" pitchFamily="18" charset="0"/>
                      </a:endParaRPr>
                    </a:p>
                  </a:txBody>
                  <a:tcPr>
                    <a:solidFill>
                      <a:schemeClr val="bg1">
                        <a:lumMod val="75000"/>
                      </a:schemeClr>
                    </a:solidFill>
                  </a:tcPr>
                </a:tc>
                <a:tc>
                  <a:txBody>
                    <a:bodyPr/>
                    <a:lstStyle/>
                    <a:p>
                      <a:r>
                        <a:rPr lang="en-IN" sz="1200" dirty="0" smtClean="0">
                          <a:latin typeface="Times New Roman" pitchFamily="18" charset="0"/>
                          <a:cs typeface="Times New Roman" pitchFamily="18" charset="0"/>
                        </a:rPr>
                        <a:t>Low cost per customer</a:t>
                      </a:r>
                      <a:endParaRPr lang="en-IN" sz="1200" dirty="0">
                        <a:latin typeface="Times New Roman" pitchFamily="18" charset="0"/>
                        <a:cs typeface="Times New Roman" pitchFamily="18" charset="0"/>
                      </a:endParaRPr>
                    </a:p>
                  </a:txBody>
                  <a:tcPr>
                    <a:solidFill>
                      <a:schemeClr val="bg1">
                        <a:lumMod val="75000"/>
                      </a:schemeClr>
                    </a:solidFill>
                  </a:tcPr>
                </a:tc>
              </a:tr>
              <a:tr h="359590">
                <a:tc>
                  <a:txBody>
                    <a:bodyPr/>
                    <a:lstStyle/>
                    <a:p>
                      <a:r>
                        <a:rPr lang="en-IN" sz="1200" b="1" dirty="0" smtClean="0">
                          <a:solidFill>
                            <a:srgbClr val="FF0000"/>
                          </a:solidFill>
                          <a:latin typeface="Times New Roman" pitchFamily="18" charset="0"/>
                          <a:cs typeface="Times New Roman" pitchFamily="18" charset="0"/>
                        </a:rPr>
                        <a:t>Proﬁts </a:t>
                      </a:r>
                      <a:endParaRPr lang="en-IN" sz="1200" b="1" dirty="0">
                        <a:solidFill>
                          <a:srgbClr val="FF0000"/>
                        </a:solidFill>
                        <a:latin typeface="Times New Roman" pitchFamily="18" charset="0"/>
                        <a:cs typeface="Times New Roman" pitchFamily="18" charset="0"/>
                      </a:endParaRPr>
                    </a:p>
                  </a:txBody>
                  <a:tcPr>
                    <a:solidFill>
                      <a:schemeClr val="bg1">
                        <a:lumMod val="75000"/>
                      </a:schemeClr>
                    </a:solidFill>
                  </a:tcPr>
                </a:tc>
                <a:tc>
                  <a:txBody>
                    <a:bodyPr/>
                    <a:lstStyle/>
                    <a:p>
                      <a:r>
                        <a:rPr lang="en-IN" sz="1200" dirty="0" smtClean="0">
                          <a:latin typeface="Times New Roman" pitchFamily="18" charset="0"/>
                          <a:cs typeface="Times New Roman" pitchFamily="18" charset="0"/>
                        </a:rPr>
                        <a:t>Negative</a:t>
                      </a:r>
                      <a:endParaRPr lang="en-IN" sz="1200" dirty="0">
                        <a:latin typeface="Times New Roman" pitchFamily="18" charset="0"/>
                        <a:cs typeface="Times New Roman" pitchFamily="18" charset="0"/>
                      </a:endParaRPr>
                    </a:p>
                  </a:txBody>
                  <a:tcPr>
                    <a:solidFill>
                      <a:schemeClr val="bg1">
                        <a:lumMod val="75000"/>
                      </a:schemeClr>
                    </a:solidFill>
                  </a:tcPr>
                </a:tc>
                <a:tc>
                  <a:txBody>
                    <a:bodyPr/>
                    <a:lstStyle/>
                    <a:p>
                      <a:r>
                        <a:rPr lang="en-IN" sz="1200" dirty="0" smtClean="0">
                          <a:latin typeface="Times New Roman" pitchFamily="18" charset="0"/>
                          <a:cs typeface="Times New Roman" pitchFamily="18" charset="0"/>
                        </a:rPr>
                        <a:t>Rising</a:t>
                      </a:r>
                      <a:endParaRPr lang="en-IN" sz="1200" dirty="0">
                        <a:latin typeface="Times New Roman" pitchFamily="18" charset="0"/>
                        <a:cs typeface="Times New Roman" pitchFamily="18" charset="0"/>
                      </a:endParaRPr>
                    </a:p>
                  </a:txBody>
                  <a:tcPr>
                    <a:solidFill>
                      <a:schemeClr val="bg1">
                        <a:lumMod val="75000"/>
                      </a:schemeClr>
                    </a:solidFill>
                  </a:tcPr>
                </a:tc>
                <a:tc>
                  <a:txBody>
                    <a:bodyPr/>
                    <a:lstStyle/>
                    <a:p>
                      <a:r>
                        <a:rPr lang="en-IN" sz="1200" dirty="0" smtClean="0">
                          <a:latin typeface="Times New Roman" pitchFamily="18" charset="0"/>
                          <a:cs typeface="Times New Roman" pitchFamily="18" charset="0"/>
                        </a:rPr>
                        <a:t>High</a:t>
                      </a:r>
                      <a:endParaRPr lang="en-IN" sz="1200" dirty="0">
                        <a:latin typeface="Times New Roman" pitchFamily="18" charset="0"/>
                        <a:cs typeface="Times New Roman" pitchFamily="18" charset="0"/>
                      </a:endParaRPr>
                    </a:p>
                  </a:txBody>
                  <a:tcPr>
                    <a:solidFill>
                      <a:schemeClr val="bg1">
                        <a:lumMod val="75000"/>
                      </a:schemeClr>
                    </a:solidFill>
                  </a:tcPr>
                </a:tc>
                <a:tc>
                  <a:txBody>
                    <a:bodyPr/>
                    <a:lstStyle/>
                    <a:p>
                      <a:r>
                        <a:rPr lang="en-IN" sz="1200" dirty="0" smtClean="0">
                          <a:latin typeface="Times New Roman" pitchFamily="18" charset="0"/>
                          <a:cs typeface="Times New Roman" pitchFamily="18" charset="0"/>
                        </a:rPr>
                        <a:t>Declining proﬁts </a:t>
                      </a:r>
                      <a:endParaRPr lang="en-IN" sz="1200" dirty="0">
                        <a:latin typeface="Times New Roman" pitchFamily="18" charset="0"/>
                        <a:cs typeface="Times New Roman" pitchFamily="18" charset="0"/>
                      </a:endParaRPr>
                    </a:p>
                  </a:txBody>
                  <a:tcPr>
                    <a:solidFill>
                      <a:schemeClr val="bg1">
                        <a:lumMod val="75000"/>
                      </a:schemeClr>
                    </a:solidFill>
                  </a:tcPr>
                </a:tc>
              </a:tr>
              <a:tr h="599317">
                <a:tc>
                  <a:txBody>
                    <a:bodyPr/>
                    <a:lstStyle/>
                    <a:p>
                      <a:r>
                        <a:rPr lang="en-IN" sz="1200" b="1" dirty="0" smtClean="0">
                          <a:solidFill>
                            <a:srgbClr val="FF0000"/>
                          </a:solidFill>
                          <a:latin typeface="Times New Roman" pitchFamily="18" charset="0"/>
                          <a:cs typeface="Times New Roman" pitchFamily="18" charset="0"/>
                        </a:rPr>
                        <a:t>Customers</a:t>
                      </a:r>
                      <a:endParaRPr lang="en-IN" sz="1200" b="1" dirty="0">
                        <a:solidFill>
                          <a:srgbClr val="FF0000"/>
                        </a:solidFill>
                        <a:latin typeface="Times New Roman" pitchFamily="18" charset="0"/>
                        <a:cs typeface="Times New Roman" pitchFamily="18" charset="0"/>
                      </a:endParaRPr>
                    </a:p>
                  </a:txBody>
                  <a:tcPr>
                    <a:solidFill>
                      <a:schemeClr val="bg1">
                        <a:lumMod val="75000"/>
                      </a:schemeClr>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sz="1200" dirty="0" smtClean="0">
                          <a:latin typeface="Times New Roman" pitchFamily="18" charset="0"/>
                          <a:cs typeface="Times New Roman" pitchFamily="18" charset="0"/>
                        </a:rPr>
                        <a:t>Innovators/Early adopters</a:t>
                      </a:r>
                      <a:endParaRPr lang="en-IN" sz="1200" dirty="0">
                        <a:latin typeface="Times New Roman" pitchFamily="18" charset="0"/>
                        <a:cs typeface="Times New Roman" pitchFamily="18" charset="0"/>
                      </a:endParaRPr>
                    </a:p>
                  </a:txBody>
                  <a:tcPr>
                    <a:solidFill>
                      <a:schemeClr val="bg1">
                        <a:lumMod val="75000"/>
                      </a:schemeClr>
                    </a:solidFill>
                  </a:tcPr>
                </a:tc>
                <a:tc>
                  <a:txBody>
                    <a:bodyPr/>
                    <a:lstStyle/>
                    <a:p>
                      <a:r>
                        <a:rPr lang="en-IN" sz="1200" dirty="0" smtClean="0">
                          <a:latin typeface="Times New Roman" pitchFamily="18" charset="0"/>
                          <a:cs typeface="Times New Roman" pitchFamily="18" charset="0"/>
                        </a:rPr>
                        <a:t>Early adopters/ Early Majority</a:t>
                      </a:r>
                      <a:endParaRPr lang="en-IN" sz="1200" dirty="0">
                        <a:latin typeface="Times New Roman" pitchFamily="18" charset="0"/>
                        <a:cs typeface="Times New Roman" pitchFamily="18" charset="0"/>
                      </a:endParaRPr>
                    </a:p>
                  </a:txBody>
                  <a:tcPr>
                    <a:solidFill>
                      <a:schemeClr val="bg1">
                        <a:lumMod val="75000"/>
                      </a:schemeClr>
                    </a:solidFill>
                  </a:tcPr>
                </a:tc>
                <a:tc>
                  <a:txBody>
                    <a:bodyPr/>
                    <a:lstStyle/>
                    <a:p>
                      <a:r>
                        <a:rPr lang="en-IN" sz="1200" dirty="0" smtClean="0">
                          <a:latin typeface="Times New Roman" pitchFamily="18" charset="0"/>
                          <a:cs typeface="Times New Roman" pitchFamily="18" charset="0"/>
                        </a:rPr>
                        <a:t>Middle majority</a:t>
                      </a:r>
                      <a:endParaRPr lang="en-IN" sz="1200" dirty="0">
                        <a:latin typeface="Times New Roman" pitchFamily="18" charset="0"/>
                        <a:cs typeface="Times New Roman" pitchFamily="18" charset="0"/>
                      </a:endParaRPr>
                    </a:p>
                  </a:txBody>
                  <a:tcPr>
                    <a:solidFill>
                      <a:schemeClr val="bg1">
                        <a:lumMod val="75000"/>
                      </a:schemeClr>
                    </a:solidFill>
                  </a:tcPr>
                </a:tc>
                <a:tc>
                  <a:txBody>
                    <a:bodyPr/>
                    <a:lstStyle/>
                    <a:p>
                      <a:r>
                        <a:rPr lang="en-IN" sz="1200" dirty="0" smtClean="0">
                          <a:latin typeface="Times New Roman" pitchFamily="18" charset="0"/>
                          <a:cs typeface="Times New Roman" pitchFamily="18" charset="0"/>
                        </a:rPr>
                        <a:t>Laggards</a:t>
                      </a:r>
                      <a:endParaRPr lang="en-IN" sz="1200" dirty="0">
                        <a:latin typeface="Times New Roman" pitchFamily="18" charset="0"/>
                        <a:cs typeface="Times New Roman" pitchFamily="18" charset="0"/>
                      </a:endParaRPr>
                    </a:p>
                  </a:txBody>
                  <a:tcPr>
                    <a:solidFill>
                      <a:schemeClr val="bg1">
                        <a:lumMod val="75000"/>
                      </a:schemeClr>
                    </a:solidFill>
                  </a:tcPr>
                </a:tc>
              </a:tr>
              <a:tr h="599317">
                <a:tc>
                  <a:txBody>
                    <a:bodyPr/>
                    <a:lstStyle/>
                    <a:p>
                      <a:r>
                        <a:rPr lang="en-IN" sz="1200" b="1" dirty="0" smtClean="0">
                          <a:solidFill>
                            <a:srgbClr val="FF0000"/>
                          </a:solidFill>
                          <a:latin typeface="Times New Roman" pitchFamily="18" charset="0"/>
                          <a:cs typeface="Times New Roman" pitchFamily="18" charset="0"/>
                        </a:rPr>
                        <a:t>Competitors</a:t>
                      </a:r>
                      <a:endParaRPr lang="en-IN" sz="1200" b="1" dirty="0">
                        <a:solidFill>
                          <a:srgbClr val="FF0000"/>
                        </a:solidFill>
                        <a:latin typeface="Times New Roman" pitchFamily="18" charset="0"/>
                        <a:cs typeface="Times New Roman" pitchFamily="18" charset="0"/>
                      </a:endParaRPr>
                    </a:p>
                  </a:txBody>
                  <a:tcPr>
                    <a:solidFill>
                      <a:schemeClr val="bg1">
                        <a:lumMod val="75000"/>
                      </a:schemeClr>
                    </a:solidFill>
                  </a:tcPr>
                </a:tc>
                <a:tc>
                  <a:txBody>
                    <a:bodyPr/>
                    <a:lstStyle/>
                    <a:p>
                      <a:r>
                        <a:rPr lang="en-IN" sz="1200" dirty="0" smtClean="0">
                          <a:latin typeface="Times New Roman" pitchFamily="18" charset="0"/>
                          <a:cs typeface="Times New Roman" pitchFamily="18" charset="0"/>
                        </a:rPr>
                        <a:t>Few</a:t>
                      </a:r>
                      <a:endParaRPr lang="en-IN" sz="1200" dirty="0">
                        <a:latin typeface="Times New Roman" pitchFamily="18" charset="0"/>
                        <a:cs typeface="Times New Roman" pitchFamily="18" charset="0"/>
                      </a:endParaRPr>
                    </a:p>
                  </a:txBody>
                  <a:tcPr>
                    <a:solidFill>
                      <a:schemeClr val="bg1">
                        <a:lumMod val="75000"/>
                      </a:schemeClr>
                    </a:solidFill>
                  </a:tcPr>
                </a:tc>
                <a:tc>
                  <a:txBody>
                    <a:bodyPr/>
                    <a:lstStyle/>
                    <a:p>
                      <a:r>
                        <a:rPr lang="en-IN" sz="1200" dirty="0" smtClean="0">
                          <a:latin typeface="Times New Roman" pitchFamily="18" charset="0"/>
                          <a:cs typeface="Times New Roman" pitchFamily="18" charset="0"/>
                        </a:rPr>
                        <a:t>Growing number</a:t>
                      </a:r>
                      <a:endParaRPr lang="en-IN" sz="1200" dirty="0">
                        <a:latin typeface="Times New Roman" pitchFamily="18" charset="0"/>
                        <a:cs typeface="Times New Roman" pitchFamily="18" charset="0"/>
                      </a:endParaRPr>
                    </a:p>
                  </a:txBody>
                  <a:tcPr>
                    <a:solidFill>
                      <a:schemeClr val="bg1">
                        <a:lumMod val="75000"/>
                      </a:schemeClr>
                    </a:solidFill>
                  </a:tcPr>
                </a:tc>
                <a:tc>
                  <a:txBody>
                    <a:bodyPr/>
                    <a:lstStyle/>
                    <a:p>
                      <a:r>
                        <a:rPr lang="en-IN" sz="1200" dirty="0" smtClean="0">
                          <a:latin typeface="Times New Roman" pitchFamily="18" charset="0"/>
                          <a:cs typeface="Times New Roman" pitchFamily="18" charset="0"/>
                        </a:rPr>
                        <a:t>Stable number beginning to decline</a:t>
                      </a:r>
                      <a:endParaRPr lang="en-IN" sz="1200" dirty="0">
                        <a:latin typeface="Times New Roman" pitchFamily="18" charset="0"/>
                        <a:cs typeface="Times New Roman" pitchFamily="18" charset="0"/>
                      </a:endParaRPr>
                    </a:p>
                  </a:txBody>
                  <a:tcPr>
                    <a:solidFill>
                      <a:schemeClr val="bg1">
                        <a:lumMod val="75000"/>
                      </a:schemeClr>
                    </a:solidFill>
                  </a:tcPr>
                </a:tc>
                <a:tc>
                  <a:txBody>
                    <a:bodyPr/>
                    <a:lstStyle/>
                    <a:p>
                      <a:r>
                        <a:rPr lang="en-IN" sz="1200" dirty="0" smtClean="0">
                          <a:latin typeface="Times New Roman" pitchFamily="18" charset="0"/>
                          <a:cs typeface="Times New Roman" pitchFamily="18" charset="0"/>
                        </a:rPr>
                        <a:t>Declining number</a:t>
                      </a:r>
                      <a:endParaRPr lang="en-IN" sz="1200" dirty="0">
                        <a:latin typeface="Times New Roman" pitchFamily="18" charset="0"/>
                        <a:cs typeface="Times New Roman" pitchFamily="18" charset="0"/>
                      </a:endParaRPr>
                    </a:p>
                  </a:txBody>
                  <a:tcPr>
                    <a:solidFill>
                      <a:schemeClr val="bg1">
                        <a:lumMod val="75000"/>
                      </a:schemeClr>
                    </a:solidFill>
                  </a:tcPr>
                </a:tc>
              </a:tr>
            </a:tbl>
          </a:graphicData>
        </a:graphic>
      </p:graphicFrame>
      <p:pic>
        <p:nvPicPr>
          <p:cNvPr id="5" name="Content Placeholder 3" descr="plc3.jpg"/>
          <p:cNvPicPr>
            <a:picLocks noChangeAspect="1"/>
          </p:cNvPicPr>
          <p:nvPr/>
        </p:nvPicPr>
        <p:blipFill>
          <a:blip r:embed="rId2"/>
          <a:stretch>
            <a:fillRect/>
          </a:stretch>
        </p:blipFill>
        <p:spPr>
          <a:xfrm>
            <a:off x="3048000" y="914400"/>
            <a:ext cx="2819400" cy="1879600"/>
          </a:xfrm>
          <a:prstGeom prst="rect">
            <a:avLst/>
          </a:prstGeom>
        </p:spPr>
      </p:pic>
      <p:sp>
        <p:nvSpPr>
          <p:cNvPr id="9" name="Rectangle 8"/>
          <p:cNvSpPr/>
          <p:nvPr/>
        </p:nvSpPr>
        <p:spPr>
          <a:xfrm>
            <a:off x="3864428" y="457200"/>
            <a:ext cx="1186543" cy="276999"/>
          </a:xfrm>
          <a:prstGeom prst="rect">
            <a:avLst/>
          </a:prstGeom>
          <a:solidFill>
            <a:srgbClr val="92D050"/>
          </a:solidFill>
        </p:spPr>
        <p:txBody>
          <a:bodyPr wrap="none">
            <a:spAutoFit/>
          </a:bodyPr>
          <a:lstStyle/>
          <a:p>
            <a:r>
              <a:rPr lang="en-IN" sz="1200" b="1" dirty="0" smtClean="0">
                <a:latin typeface="Times New Roman" pitchFamily="18" charset="0"/>
                <a:cs typeface="Times New Roman" pitchFamily="18" charset="0"/>
              </a:rPr>
              <a:t>Characteristics</a:t>
            </a:r>
            <a:endParaRPr lang="en-IN" sz="1200" b="1" dirty="0"/>
          </a:p>
        </p:txBody>
      </p:sp>
    </p:spTree>
    <p:extLst>
      <p:ext uri="{BB962C8B-B14F-4D97-AF65-F5344CB8AC3E}">
        <p14:creationId xmlns:p14="http://schemas.microsoft.com/office/powerpoint/2010/main" val="4265979094"/>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Content Placeholder 3"/>
          <p:cNvGraphicFramePr>
            <a:graphicFrameLocks/>
          </p:cNvGraphicFramePr>
          <p:nvPr>
            <p:extLst>
              <p:ext uri="{D42A27DB-BD31-4B8C-83A1-F6EECF244321}">
                <p14:modId xmlns:p14="http://schemas.microsoft.com/office/powerpoint/2010/main" val="2726547290"/>
              </p:ext>
            </p:extLst>
          </p:nvPr>
        </p:nvGraphicFramePr>
        <p:xfrm>
          <a:off x="152400" y="2133600"/>
          <a:ext cx="8915401" cy="3733798"/>
        </p:xfrm>
        <a:graphic>
          <a:graphicData uri="http://schemas.openxmlformats.org/drawingml/2006/table">
            <a:tbl>
              <a:tblPr firstRow="1" bandRow="1">
                <a:tableStyleId>{5C22544A-7EE6-4342-B048-85BDC9FD1C3A}</a:tableStyleId>
              </a:tblPr>
              <a:tblGrid>
                <a:gridCol w="1371600"/>
                <a:gridCol w="1981200"/>
                <a:gridCol w="1828800"/>
                <a:gridCol w="1981200"/>
                <a:gridCol w="1752601"/>
              </a:tblGrid>
              <a:tr h="589547">
                <a:tc>
                  <a:txBody>
                    <a:bodyPr/>
                    <a:lstStyle/>
                    <a:p>
                      <a:r>
                        <a:rPr lang="en-IN" sz="1200" dirty="0" smtClean="0">
                          <a:latin typeface="Times New Roman" pitchFamily="18" charset="0"/>
                          <a:cs typeface="Times New Roman" pitchFamily="18" charset="0"/>
                        </a:rPr>
                        <a:t>Objectives/ Strategies</a:t>
                      </a:r>
                      <a:endParaRPr lang="en-IN" sz="1200" dirty="0">
                        <a:latin typeface="Times New Roman" pitchFamily="18" charset="0"/>
                        <a:cs typeface="Times New Roman" pitchFamily="18" charset="0"/>
                      </a:endParaRPr>
                    </a:p>
                  </a:txBody>
                  <a:tcPr>
                    <a:solidFill>
                      <a:schemeClr val="bg1">
                        <a:lumMod val="50000"/>
                      </a:schemeClr>
                    </a:solidFill>
                  </a:tcPr>
                </a:tc>
                <a:tc>
                  <a:txBody>
                    <a:bodyPr/>
                    <a:lstStyle/>
                    <a:p>
                      <a:r>
                        <a:rPr lang="en-IN" sz="1200" dirty="0" smtClean="0">
                          <a:solidFill>
                            <a:srgbClr val="FF0000"/>
                          </a:solidFill>
                          <a:latin typeface="Times New Roman" pitchFamily="18" charset="0"/>
                          <a:cs typeface="Times New Roman" pitchFamily="18" charset="0"/>
                        </a:rPr>
                        <a:t>I-Create product awareness and trial</a:t>
                      </a:r>
                      <a:endParaRPr lang="en-IN" sz="1200" dirty="0">
                        <a:solidFill>
                          <a:srgbClr val="FF0000"/>
                        </a:solidFill>
                        <a:latin typeface="Times New Roman" pitchFamily="18" charset="0"/>
                        <a:cs typeface="Times New Roman" pitchFamily="18" charset="0"/>
                      </a:endParaRPr>
                    </a:p>
                  </a:txBody>
                  <a:tcPr>
                    <a:solidFill>
                      <a:schemeClr val="bg1">
                        <a:lumMod val="75000"/>
                      </a:schemeClr>
                    </a:solidFill>
                  </a:tcPr>
                </a:tc>
                <a:tc>
                  <a:txBody>
                    <a:bodyPr/>
                    <a:lstStyle/>
                    <a:p>
                      <a:r>
                        <a:rPr lang="en-IN" sz="1200" dirty="0" smtClean="0">
                          <a:solidFill>
                            <a:srgbClr val="FF0000"/>
                          </a:solidFill>
                          <a:latin typeface="Times New Roman" pitchFamily="18" charset="0"/>
                          <a:cs typeface="Times New Roman" pitchFamily="18" charset="0"/>
                        </a:rPr>
                        <a:t>G-Maximize market share</a:t>
                      </a:r>
                      <a:endParaRPr lang="en-IN" sz="1200" dirty="0">
                        <a:solidFill>
                          <a:srgbClr val="FF0000"/>
                        </a:solidFill>
                        <a:latin typeface="Times New Roman" pitchFamily="18" charset="0"/>
                        <a:cs typeface="Times New Roman" pitchFamily="18" charset="0"/>
                      </a:endParaRPr>
                    </a:p>
                  </a:txBody>
                  <a:tcPr>
                    <a:solidFill>
                      <a:schemeClr val="bg1">
                        <a:lumMod val="75000"/>
                      </a:schemeClr>
                    </a:solidFill>
                  </a:tcPr>
                </a:tc>
                <a:tc>
                  <a:txBody>
                    <a:bodyPr/>
                    <a:lstStyle/>
                    <a:p>
                      <a:r>
                        <a:rPr lang="en-IN" sz="1200" dirty="0" smtClean="0">
                          <a:solidFill>
                            <a:srgbClr val="FF0000"/>
                          </a:solidFill>
                          <a:latin typeface="Times New Roman" pitchFamily="18" charset="0"/>
                          <a:cs typeface="Times New Roman" pitchFamily="18" charset="0"/>
                        </a:rPr>
                        <a:t>M- Maximize proﬁt while defending market share</a:t>
                      </a:r>
                      <a:endParaRPr lang="en-IN" sz="1200" dirty="0">
                        <a:solidFill>
                          <a:srgbClr val="FF0000"/>
                        </a:solidFill>
                        <a:latin typeface="Times New Roman" pitchFamily="18" charset="0"/>
                        <a:cs typeface="Times New Roman" pitchFamily="18" charset="0"/>
                      </a:endParaRPr>
                    </a:p>
                  </a:txBody>
                  <a:tcPr>
                    <a:solidFill>
                      <a:schemeClr val="bg1">
                        <a:lumMod val="75000"/>
                      </a:schemeClr>
                    </a:solidFill>
                  </a:tcPr>
                </a:tc>
                <a:tc>
                  <a:txBody>
                    <a:bodyPr/>
                    <a:lstStyle/>
                    <a:p>
                      <a:r>
                        <a:rPr lang="en-IN" sz="1200" dirty="0" smtClean="0">
                          <a:solidFill>
                            <a:srgbClr val="FF0000"/>
                          </a:solidFill>
                          <a:latin typeface="Times New Roman" pitchFamily="18" charset="0"/>
                          <a:cs typeface="Times New Roman" pitchFamily="18" charset="0"/>
                        </a:rPr>
                        <a:t>D-Reduce expenditure and milk the brand</a:t>
                      </a:r>
                      <a:endParaRPr lang="en-IN" sz="1200" dirty="0">
                        <a:solidFill>
                          <a:srgbClr val="FF0000"/>
                        </a:solidFill>
                        <a:latin typeface="Times New Roman" pitchFamily="18" charset="0"/>
                        <a:cs typeface="Times New Roman" pitchFamily="18" charset="0"/>
                      </a:endParaRPr>
                    </a:p>
                  </a:txBody>
                  <a:tcPr>
                    <a:solidFill>
                      <a:schemeClr val="bg1">
                        <a:lumMod val="75000"/>
                      </a:schemeClr>
                    </a:solidFill>
                  </a:tcPr>
                </a:tc>
              </a:tr>
              <a:tr h="589547">
                <a:tc>
                  <a:txBody>
                    <a:bodyPr/>
                    <a:lstStyle/>
                    <a:p>
                      <a:r>
                        <a:rPr lang="en-IN" sz="1200" b="1" dirty="0" smtClean="0">
                          <a:solidFill>
                            <a:srgbClr val="FF0000"/>
                          </a:solidFill>
                          <a:latin typeface="Times New Roman" pitchFamily="18" charset="0"/>
                          <a:cs typeface="Times New Roman" pitchFamily="18" charset="0"/>
                        </a:rPr>
                        <a:t>Product</a:t>
                      </a:r>
                      <a:endParaRPr lang="en-IN" sz="1200" b="1" dirty="0">
                        <a:solidFill>
                          <a:srgbClr val="FF0000"/>
                        </a:solidFill>
                        <a:latin typeface="Times New Roman" pitchFamily="18" charset="0"/>
                        <a:cs typeface="Times New Roman" pitchFamily="18" charset="0"/>
                      </a:endParaRPr>
                    </a:p>
                  </a:txBody>
                  <a:tcPr>
                    <a:solidFill>
                      <a:schemeClr val="bg1">
                        <a:lumMod val="75000"/>
                      </a:schemeClr>
                    </a:solidFill>
                  </a:tcPr>
                </a:tc>
                <a:tc>
                  <a:txBody>
                    <a:bodyPr/>
                    <a:lstStyle/>
                    <a:p>
                      <a:r>
                        <a:rPr lang="en-IN" sz="1200" dirty="0" smtClean="0">
                          <a:latin typeface="Times New Roman" pitchFamily="18" charset="0"/>
                          <a:cs typeface="Times New Roman" pitchFamily="18" charset="0"/>
                        </a:rPr>
                        <a:t>Offer a basic product</a:t>
                      </a:r>
                      <a:endParaRPr lang="en-IN" sz="1200" dirty="0">
                        <a:latin typeface="Times New Roman" pitchFamily="18" charset="0"/>
                        <a:cs typeface="Times New Roman" pitchFamily="18" charset="0"/>
                      </a:endParaRPr>
                    </a:p>
                  </a:txBody>
                  <a:tcPr>
                    <a:solidFill>
                      <a:schemeClr val="bg1">
                        <a:lumMod val="75000"/>
                      </a:schemeClr>
                    </a:solidFill>
                  </a:tcPr>
                </a:tc>
                <a:tc>
                  <a:txBody>
                    <a:bodyPr/>
                    <a:lstStyle/>
                    <a:p>
                      <a:r>
                        <a:rPr lang="en-IN" sz="1200" dirty="0" smtClean="0">
                          <a:latin typeface="Times New Roman" pitchFamily="18" charset="0"/>
                          <a:cs typeface="Times New Roman" pitchFamily="18" charset="0"/>
                        </a:rPr>
                        <a:t>Offer product extensions, service warranty </a:t>
                      </a:r>
                      <a:endParaRPr lang="en-IN" sz="1200" dirty="0">
                        <a:latin typeface="Times New Roman" pitchFamily="18" charset="0"/>
                        <a:cs typeface="Times New Roman" pitchFamily="18" charset="0"/>
                      </a:endParaRPr>
                    </a:p>
                  </a:txBody>
                  <a:tcPr>
                    <a:solidFill>
                      <a:schemeClr val="bg1">
                        <a:lumMod val="75000"/>
                      </a:schemeClr>
                    </a:solidFill>
                  </a:tcPr>
                </a:tc>
                <a:tc>
                  <a:txBody>
                    <a:bodyPr/>
                    <a:lstStyle/>
                    <a:p>
                      <a:r>
                        <a:rPr lang="en-IN" sz="1200" dirty="0" smtClean="0">
                          <a:latin typeface="Times New Roman" pitchFamily="18" charset="0"/>
                          <a:cs typeface="Times New Roman" pitchFamily="18" charset="0"/>
                        </a:rPr>
                        <a:t>Diversify brands and items models</a:t>
                      </a:r>
                      <a:endParaRPr lang="en-IN" sz="1200" dirty="0">
                        <a:latin typeface="Times New Roman" pitchFamily="18" charset="0"/>
                        <a:cs typeface="Times New Roman" pitchFamily="18" charset="0"/>
                      </a:endParaRPr>
                    </a:p>
                  </a:txBody>
                  <a:tcPr>
                    <a:solidFill>
                      <a:schemeClr val="bg1">
                        <a:lumMod val="75000"/>
                      </a:schemeClr>
                    </a:solidFill>
                  </a:tcPr>
                </a:tc>
                <a:tc>
                  <a:txBody>
                    <a:bodyPr/>
                    <a:lstStyle/>
                    <a:p>
                      <a:r>
                        <a:rPr lang="en-IN" sz="1200" dirty="0" smtClean="0">
                          <a:latin typeface="Times New Roman" pitchFamily="18" charset="0"/>
                          <a:cs typeface="Times New Roman" pitchFamily="18" charset="0"/>
                        </a:rPr>
                        <a:t>Phase out weak product</a:t>
                      </a:r>
                      <a:endParaRPr lang="en-IN" sz="1200" dirty="0">
                        <a:latin typeface="Times New Roman" pitchFamily="18" charset="0"/>
                        <a:cs typeface="Times New Roman" pitchFamily="18" charset="0"/>
                      </a:endParaRPr>
                    </a:p>
                  </a:txBody>
                  <a:tcPr>
                    <a:solidFill>
                      <a:schemeClr val="bg1">
                        <a:lumMod val="75000"/>
                      </a:schemeClr>
                    </a:solidFill>
                  </a:tcPr>
                </a:tc>
              </a:tr>
              <a:tr h="589547">
                <a:tc>
                  <a:txBody>
                    <a:bodyPr/>
                    <a:lstStyle/>
                    <a:p>
                      <a:r>
                        <a:rPr lang="en-IN" sz="1200" b="1" dirty="0" smtClean="0">
                          <a:solidFill>
                            <a:srgbClr val="FF0000"/>
                          </a:solidFill>
                          <a:latin typeface="Times New Roman" pitchFamily="18" charset="0"/>
                          <a:cs typeface="Times New Roman" pitchFamily="18" charset="0"/>
                        </a:rPr>
                        <a:t>Price</a:t>
                      </a:r>
                      <a:endParaRPr lang="en-IN" sz="1200" b="1" dirty="0">
                        <a:solidFill>
                          <a:srgbClr val="FF0000"/>
                        </a:solidFill>
                        <a:latin typeface="Times New Roman" pitchFamily="18" charset="0"/>
                        <a:cs typeface="Times New Roman" pitchFamily="18" charset="0"/>
                      </a:endParaRPr>
                    </a:p>
                  </a:txBody>
                  <a:tcPr>
                    <a:solidFill>
                      <a:schemeClr val="bg1">
                        <a:lumMod val="75000"/>
                      </a:schemeClr>
                    </a:solidFill>
                  </a:tcPr>
                </a:tc>
                <a:tc>
                  <a:txBody>
                    <a:bodyPr/>
                    <a:lstStyle/>
                    <a:p>
                      <a:r>
                        <a:rPr lang="en-IN" sz="1200" dirty="0" smtClean="0">
                          <a:latin typeface="Times New Roman" pitchFamily="18" charset="0"/>
                          <a:cs typeface="Times New Roman" pitchFamily="18" charset="0"/>
                        </a:rPr>
                        <a:t>Charge cost-plus</a:t>
                      </a:r>
                      <a:endParaRPr lang="en-IN" sz="1200" dirty="0">
                        <a:latin typeface="Times New Roman" pitchFamily="18" charset="0"/>
                        <a:cs typeface="Times New Roman" pitchFamily="18" charset="0"/>
                      </a:endParaRPr>
                    </a:p>
                  </a:txBody>
                  <a:tcPr>
                    <a:solidFill>
                      <a:schemeClr val="bg1">
                        <a:lumMod val="75000"/>
                      </a:schemeClr>
                    </a:solidFill>
                  </a:tcPr>
                </a:tc>
                <a:tc>
                  <a:txBody>
                    <a:bodyPr/>
                    <a:lstStyle/>
                    <a:p>
                      <a:r>
                        <a:rPr lang="en-IN" sz="1200" dirty="0" smtClean="0">
                          <a:latin typeface="Times New Roman" pitchFamily="18" charset="0"/>
                          <a:cs typeface="Times New Roman" pitchFamily="18" charset="0"/>
                        </a:rPr>
                        <a:t>Price to penetrate market</a:t>
                      </a:r>
                      <a:endParaRPr lang="en-IN" sz="1200" dirty="0">
                        <a:latin typeface="Times New Roman" pitchFamily="18" charset="0"/>
                        <a:cs typeface="Times New Roman" pitchFamily="18" charset="0"/>
                      </a:endParaRPr>
                    </a:p>
                  </a:txBody>
                  <a:tcPr>
                    <a:solidFill>
                      <a:schemeClr val="bg1">
                        <a:lumMod val="75000"/>
                      </a:schemeClr>
                    </a:solidFill>
                  </a:tcPr>
                </a:tc>
                <a:tc>
                  <a:txBody>
                    <a:bodyPr/>
                    <a:lstStyle/>
                    <a:p>
                      <a:r>
                        <a:rPr lang="en-IN" sz="1200" dirty="0" smtClean="0">
                          <a:latin typeface="Times New Roman" pitchFamily="18" charset="0"/>
                          <a:cs typeface="Times New Roman" pitchFamily="18" charset="0"/>
                        </a:rPr>
                        <a:t>Price to match or best competitors’</a:t>
                      </a:r>
                      <a:endParaRPr lang="en-IN" sz="1200" dirty="0">
                        <a:latin typeface="Times New Roman" pitchFamily="18" charset="0"/>
                        <a:cs typeface="Times New Roman" pitchFamily="18" charset="0"/>
                      </a:endParaRPr>
                    </a:p>
                  </a:txBody>
                  <a:tcPr>
                    <a:solidFill>
                      <a:schemeClr val="bg1">
                        <a:lumMod val="75000"/>
                      </a:schemeClr>
                    </a:solidFill>
                  </a:tcPr>
                </a:tc>
                <a:tc>
                  <a:txBody>
                    <a:bodyPr/>
                    <a:lstStyle/>
                    <a:p>
                      <a:r>
                        <a:rPr lang="en-IN" sz="1200" dirty="0" smtClean="0">
                          <a:latin typeface="Times New Roman" pitchFamily="18" charset="0"/>
                          <a:cs typeface="Times New Roman" pitchFamily="18" charset="0"/>
                        </a:rPr>
                        <a:t>Cut price</a:t>
                      </a:r>
                      <a:endParaRPr lang="en-IN" sz="1200" dirty="0">
                        <a:latin typeface="Times New Roman" pitchFamily="18" charset="0"/>
                        <a:cs typeface="Times New Roman" pitchFamily="18" charset="0"/>
                      </a:endParaRPr>
                    </a:p>
                  </a:txBody>
                  <a:tcPr>
                    <a:solidFill>
                      <a:schemeClr val="bg1">
                        <a:lumMod val="75000"/>
                      </a:schemeClr>
                    </a:solidFill>
                  </a:tcPr>
                </a:tc>
              </a:tr>
              <a:tr h="589547">
                <a:tc>
                  <a:txBody>
                    <a:bodyPr/>
                    <a:lstStyle/>
                    <a:p>
                      <a:r>
                        <a:rPr lang="en-IN" sz="1200" b="1" dirty="0" smtClean="0">
                          <a:solidFill>
                            <a:srgbClr val="FF0000"/>
                          </a:solidFill>
                          <a:latin typeface="Times New Roman" pitchFamily="18" charset="0"/>
                          <a:cs typeface="Times New Roman" pitchFamily="18" charset="0"/>
                        </a:rPr>
                        <a:t>Place Distribution</a:t>
                      </a:r>
                      <a:endParaRPr lang="en-IN" sz="1200" b="1" dirty="0">
                        <a:solidFill>
                          <a:srgbClr val="FF0000"/>
                        </a:solidFill>
                        <a:latin typeface="Times New Roman" pitchFamily="18" charset="0"/>
                        <a:cs typeface="Times New Roman" pitchFamily="18" charset="0"/>
                      </a:endParaRPr>
                    </a:p>
                  </a:txBody>
                  <a:tcPr>
                    <a:solidFill>
                      <a:schemeClr val="bg1">
                        <a:lumMod val="75000"/>
                      </a:schemeClr>
                    </a:solidFill>
                  </a:tcPr>
                </a:tc>
                <a:tc>
                  <a:txBody>
                    <a:bodyPr/>
                    <a:lstStyle/>
                    <a:p>
                      <a:r>
                        <a:rPr lang="en-IN" sz="1200" dirty="0" smtClean="0">
                          <a:latin typeface="Times New Roman" pitchFamily="18" charset="0"/>
                          <a:cs typeface="Times New Roman" pitchFamily="18" charset="0"/>
                        </a:rPr>
                        <a:t>Build selective distribution</a:t>
                      </a:r>
                      <a:endParaRPr lang="en-IN" sz="1200" dirty="0">
                        <a:latin typeface="Times New Roman" pitchFamily="18" charset="0"/>
                        <a:cs typeface="Times New Roman" pitchFamily="18" charset="0"/>
                      </a:endParaRPr>
                    </a:p>
                  </a:txBody>
                  <a:tcPr>
                    <a:solidFill>
                      <a:schemeClr val="bg1">
                        <a:lumMod val="75000"/>
                      </a:schemeClr>
                    </a:solidFill>
                  </a:tcPr>
                </a:tc>
                <a:tc>
                  <a:txBody>
                    <a:bodyPr/>
                    <a:lstStyle/>
                    <a:p>
                      <a:r>
                        <a:rPr lang="en-IN" sz="1200" dirty="0" smtClean="0">
                          <a:latin typeface="Times New Roman" pitchFamily="18" charset="0"/>
                          <a:cs typeface="Times New Roman" pitchFamily="18" charset="0"/>
                        </a:rPr>
                        <a:t>Build intensive distribution </a:t>
                      </a:r>
                      <a:endParaRPr lang="en-IN" sz="1200" dirty="0">
                        <a:latin typeface="Times New Roman" pitchFamily="18" charset="0"/>
                        <a:cs typeface="Times New Roman" pitchFamily="18" charset="0"/>
                      </a:endParaRPr>
                    </a:p>
                  </a:txBody>
                  <a:tcPr>
                    <a:solidFill>
                      <a:schemeClr val="bg1">
                        <a:lumMod val="75000"/>
                      </a:schemeClr>
                    </a:solidFill>
                  </a:tcPr>
                </a:tc>
                <a:tc>
                  <a:txBody>
                    <a:bodyPr/>
                    <a:lstStyle/>
                    <a:p>
                      <a:r>
                        <a:rPr lang="en-IN" sz="1200" dirty="0" smtClean="0">
                          <a:latin typeface="Times New Roman" pitchFamily="18" charset="0"/>
                          <a:cs typeface="Times New Roman" pitchFamily="18" charset="0"/>
                        </a:rPr>
                        <a:t>Build more intensive distribution </a:t>
                      </a:r>
                      <a:endParaRPr lang="en-IN" sz="1200" dirty="0">
                        <a:latin typeface="Times New Roman" pitchFamily="18" charset="0"/>
                        <a:cs typeface="Times New Roman" pitchFamily="18" charset="0"/>
                      </a:endParaRPr>
                    </a:p>
                  </a:txBody>
                  <a:tcPr>
                    <a:solidFill>
                      <a:schemeClr val="bg1">
                        <a:lumMod val="75000"/>
                      </a:schemeClr>
                    </a:solidFill>
                  </a:tcPr>
                </a:tc>
                <a:tc>
                  <a:txBody>
                    <a:bodyPr/>
                    <a:lstStyle/>
                    <a:p>
                      <a:r>
                        <a:rPr lang="en-IN" sz="1200" dirty="0" smtClean="0">
                          <a:latin typeface="Times New Roman" pitchFamily="18" charset="0"/>
                          <a:cs typeface="Times New Roman" pitchFamily="18" charset="0"/>
                        </a:rPr>
                        <a:t>Go selective: phase out unproﬁtable outlets </a:t>
                      </a:r>
                      <a:endParaRPr lang="en-IN" sz="1200" dirty="0">
                        <a:latin typeface="Times New Roman" pitchFamily="18" charset="0"/>
                        <a:cs typeface="Times New Roman" pitchFamily="18" charset="0"/>
                      </a:endParaRPr>
                    </a:p>
                  </a:txBody>
                  <a:tcPr>
                    <a:solidFill>
                      <a:schemeClr val="bg1">
                        <a:lumMod val="75000"/>
                      </a:schemeClr>
                    </a:solidFill>
                  </a:tcPr>
                </a:tc>
              </a:tr>
              <a:tr h="727108">
                <a:tc>
                  <a:txBody>
                    <a:bodyPr/>
                    <a:lstStyle/>
                    <a:p>
                      <a:r>
                        <a:rPr lang="en-IN" sz="1200" b="1" dirty="0" smtClean="0">
                          <a:solidFill>
                            <a:srgbClr val="FF0000"/>
                          </a:solidFill>
                          <a:latin typeface="Times New Roman" pitchFamily="18" charset="0"/>
                          <a:cs typeface="Times New Roman" pitchFamily="18" charset="0"/>
                        </a:rPr>
                        <a:t>Advertising</a:t>
                      </a:r>
                      <a:endParaRPr lang="en-IN" sz="1200" b="1" dirty="0">
                        <a:solidFill>
                          <a:srgbClr val="FF0000"/>
                        </a:solidFill>
                        <a:latin typeface="Times New Roman" pitchFamily="18" charset="0"/>
                        <a:cs typeface="Times New Roman" pitchFamily="18" charset="0"/>
                      </a:endParaRPr>
                    </a:p>
                  </a:txBody>
                  <a:tcPr>
                    <a:solidFill>
                      <a:schemeClr val="bg1">
                        <a:lumMod val="75000"/>
                      </a:schemeClr>
                    </a:solidFill>
                  </a:tcPr>
                </a:tc>
                <a:tc>
                  <a:txBody>
                    <a:bodyPr/>
                    <a:lstStyle/>
                    <a:p>
                      <a:r>
                        <a:rPr lang="en-IN" sz="1200" dirty="0" smtClean="0">
                          <a:latin typeface="Times New Roman" pitchFamily="18" charset="0"/>
                          <a:cs typeface="Times New Roman" pitchFamily="18" charset="0"/>
                        </a:rPr>
                        <a:t>Build product awareness among early adopters dealers </a:t>
                      </a:r>
                      <a:endParaRPr lang="en-IN" sz="1200" dirty="0">
                        <a:latin typeface="Times New Roman" pitchFamily="18" charset="0"/>
                        <a:cs typeface="Times New Roman" pitchFamily="18" charset="0"/>
                      </a:endParaRPr>
                    </a:p>
                  </a:txBody>
                  <a:tcPr>
                    <a:solidFill>
                      <a:schemeClr val="bg1">
                        <a:lumMod val="75000"/>
                      </a:schemeClr>
                    </a:solidFill>
                  </a:tcPr>
                </a:tc>
                <a:tc>
                  <a:txBody>
                    <a:bodyPr/>
                    <a:lstStyle/>
                    <a:p>
                      <a:r>
                        <a:rPr lang="en-IN" sz="1200" dirty="0" smtClean="0">
                          <a:latin typeface="Times New Roman" pitchFamily="18" charset="0"/>
                          <a:cs typeface="Times New Roman" pitchFamily="18" charset="0"/>
                        </a:rPr>
                        <a:t>Build awareness and interest in the mass market </a:t>
                      </a:r>
                      <a:endParaRPr lang="en-IN" sz="1200" dirty="0">
                        <a:latin typeface="Times New Roman" pitchFamily="18" charset="0"/>
                        <a:cs typeface="Times New Roman" pitchFamily="18" charset="0"/>
                      </a:endParaRPr>
                    </a:p>
                  </a:txBody>
                  <a:tcPr>
                    <a:solidFill>
                      <a:schemeClr val="bg1">
                        <a:lumMod val="75000"/>
                      </a:schemeClr>
                    </a:solidFill>
                  </a:tcPr>
                </a:tc>
                <a:tc>
                  <a:txBody>
                    <a:bodyPr/>
                    <a:lstStyle/>
                    <a:p>
                      <a:r>
                        <a:rPr lang="en-IN" sz="1200" dirty="0" smtClean="0">
                          <a:latin typeface="Times New Roman" pitchFamily="18" charset="0"/>
                          <a:cs typeface="Times New Roman" pitchFamily="18" charset="0"/>
                        </a:rPr>
                        <a:t>Stress brand differences and beneﬁts</a:t>
                      </a:r>
                      <a:endParaRPr lang="en-IN" sz="1200" dirty="0">
                        <a:latin typeface="Times New Roman" pitchFamily="18" charset="0"/>
                        <a:cs typeface="Times New Roman" pitchFamily="18" charset="0"/>
                      </a:endParaRPr>
                    </a:p>
                  </a:txBody>
                  <a:tcPr>
                    <a:solidFill>
                      <a:schemeClr val="bg1">
                        <a:lumMod val="75000"/>
                      </a:schemeClr>
                    </a:solidFill>
                  </a:tcPr>
                </a:tc>
                <a:tc>
                  <a:txBody>
                    <a:bodyPr/>
                    <a:lstStyle/>
                    <a:p>
                      <a:r>
                        <a:rPr lang="en-IN" sz="1200" dirty="0" smtClean="0">
                          <a:latin typeface="Times New Roman" pitchFamily="18" charset="0"/>
                          <a:cs typeface="Times New Roman" pitchFamily="18" charset="0"/>
                        </a:rPr>
                        <a:t>Reduce to level needed to retain hard-core </a:t>
                      </a:r>
                      <a:r>
                        <a:rPr lang="en-IN" sz="1200" dirty="0" err="1" smtClean="0">
                          <a:latin typeface="Times New Roman" pitchFamily="18" charset="0"/>
                          <a:cs typeface="Times New Roman" pitchFamily="18" charset="0"/>
                        </a:rPr>
                        <a:t>loyals</a:t>
                      </a:r>
                      <a:r>
                        <a:rPr lang="en-IN" sz="1200" dirty="0" smtClean="0">
                          <a:latin typeface="Times New Roman" pitchFamily="18" charset="0"/>
                          <a:cs typeface="Times New Roman" pitchFamily="18" charset="0"/>
                        </a:rPr>
                        <a:t> </a:t>
                      </a:r>
                      <a:endParaRPr lang="en-IN" sz="1200" dirty="0">
                        <a:latin typeface="Times New Roman" pitchFamily="18" charset="0"/>
                        <a:cs typeface="Times New Roman" pitchFamily="18" charset="0"/>
                      </a:endParaRPr>
                    </a:p>
                  </a:txBody>
                  <a:tcPr>
                    <a:solidFill>
                      <a:schemeClr val="bg1">
                        <a:lumMod val="75000"/>
                      </a:schemeClr>
                    </a:solidFill>
                  </a:tcPr>
                </a:tc>
              </a:tr>
              <a:tr h="648502">
                <a:tc>
                  <a:txBody>
                    <a:bodyPr/>
                    <a:lstStyle/>
                    <a:p>
                      <a:r>
                        <a:rPr lang="en-IN" sz="1200" b="1" dirty="0" smtClean="0">
                          <a:solidFill>
                            <a:srgbClr val="FF0000"/>
                          </a:solidFill>
                          <a:latin typeface="Times New Roman" pitchFamily="18" charset="0"/>
                          <a:cs typeface="Times New Roman" pitchFamily="18" charset="0"/>
                        </a:rPr>
                        <a:t>Sales Promotion</a:t>
                      </a:r>
                      <a:endParaRPr lang="en-IN" sz="1200" b="1" dirty="0">
                        <a:solidFill>
                          <a:srgbClr val="FF0000"/>
                        </a:solidFill>
                        <a:latin typeface="Times New Roman" pitchFamily="18" charset="0"/>
                        <a:cs typeface="Times New Roman" pitchFamily="18" charset="0"/>
                      </a:endParaRPr>
                    </a:p>
                  </a:txBody>
                  <a:tcPr>
                    <a:solidFill>
                      <a:schemeClr val="bg1">
                        <a:lumMod val="75000"/>
                      </a:schemeClr>
                    </a:solidFill>
                  </a:tcPr>
                </a:tc>
                <a:tc>
                  <a:txBody>
                    <a:bodyPr/>
                    <a:lstStyle/>
                    <a:p>
                      <a:r>
                        <a:rPr lang="en-IN" sz="1200" dirty="0" smtClean="0">
                          <a:latin typeface="Times New Roman" pitchFamily="18" charset="0"/>
                          <a:cs typeface="Times New Roman" pitchFamily="18" charset="0"/>
                        </a:rPr>
                        <a:t>Use heavy sales promotion to entice trial</a:t>
                      </a:r>
                      <a:endParaRPr lang="en-IN" sz="1200" dirty="0">
                        <a:latin typeface="Times New Roman" pitchFamily="18" charset="0"/>
                        <a:cs typeface="Times New Roman" pitchFamily="18" charset="0"/>
                      </a:endParaRPr>
                    </a:p>
                  </a:txBody>
                  <a:tcPr>
                    <a:solidFill>
                      <a:schemeClr val="bg1">
                        <a:lumMod val="75000"/>
                      </a:schemeClr>
                    </a:solidFill>
                  </a:tcPr>
                </a:tc>
                <a:tc>
                  <a:txBody>
                    <a:bodyPr/>
                    <a:lstStyle/>
                    <a:p>
                      <a:r>
                        <a:rPr lang="en-IN" sz="1200" dirty="0" smtClean="0">
                          <a:latin typeface="Times New Roman" pitchFamily="18" charset="0"/>
                          <a:cs typeface="Times New Roman" pitchFamily="18" charset="0"/>
                        </a:rPr>
                        <a:t>Reduce to take advantage of heavy demand</a:t>
                      </a:r>
                      <a:endParaRPr lang="en-IN" sz="1200" dirty="0">
                        <a:latin typeface="Times New Roman" pitchFamily="18" charset="0"/>
                        <a:cs typeface="Times New Roman" pitchFamily="18" charset="0"/>
                      </a:endParaRPr>
                    </a:p>
                  </a:txBody>
                  <a:tcPr>
                    <a:solidFill>
                      <a:schemeClr val="bg1">
                        <a:lumMod val="75000"/>
                      </a:schemeClr>
                    </a:solidFill>
                  </a:tcPr>
                </a:tc>
                <a:tc>
                  <a:txBody>
                    <a:bodyPr/>
                    <a:lstStyle/>
                    <a:p>
                      <a:r>
                        <a:rPr lang="en-IN" sz="1200" dirty="0" smtClean="0">
                          <a:latin typeface="Times New Roman" pitchFamily="18" charset="0"/>
                          <a:cs typeface="Times New Roman" pitchFamily="18" charset="0"/>
                        </a:rPr>
                        <a:t>Increase to encourage brand switching</a:t>
                      </a:r>
                      <a:endParaRPr lang="en-IN" sz="1200" dirty="0">
                        <a:latin typeface="Times New Roman" pitchFamily="18" charset="0"/>
                        <a:cs typeface="Times New Roman" pitchFamily="18" charset="0"/>
                      </a:endParaRPr>
                    </a:p>
                  </a:txBody>
                  <a:tcPr>
                    <a:solidFill>
                      <a:schemeClr val="bg1">
                        <a:lumMod val="75000"/>
                      </a:schemeClr>
                    </a:solidFill>
                  </a:tcPr>
                </a:tc>
                <a:tc>
                  <a:txBody>
                    <a:bodyPr/>
                    <a:lstStyle/>
                    <a:p>
                      <a:r>
                        <a:rPr lang="en-IN" sz="1200" dirty="0" smtClean="0">
                          <a:latin typeface="Times New Roman" pitchFamily="18" charset="0"/>
                          <a:cs typeface="Times New Roman" pitchFamily="18" charset="0"/>
                        </a:rPr>
                        <a:t>Reduce to minimal level</a:t>
                      </a:r>
                      <a:endParaRPr lang="en-IN" sz="1200" dirty="0">
                        <a:latin typeface="Times New Roman" pitchFamily="18" charset="0"/>
                        <a:cs typeface="Times New Roman" pitchFamily="18" charset="0"/>
                      </a:endParaRPr>
                    </a:p>
                  </a:txBody>
                  <a:tcPr>
                    <a:solidFill>
                      <a:schemeClr val="bg1">
                        <a:lumMod val="75000"/>
                      </a:schemeClr>
                    </a:solidFill>
                  </a:tcPr>
                </a:tc>
              </a:tr>
            </a:tbl>
          </a:graphicData>
        </a:graphic>
      </p:graphicFrame>
      <p:sp>
        <p:nvSpPr>
          <p:cNvPr id="4" name="Title 3"/>
          <p:cNvSpPr>
            <a:spLocks noGrp="1"/>
          </p:cNvSpPr>
          <p:nvPr>
            <p:ph type="title"/>
          </p:nvPr>
        </p:nvSpPr>
        <p:spPr>
          <a:xfrm>
            <a:off x="2825368" y="661472"/>
            <a:ext cx="3493264" cy="369332"/>
          </a:xfrm>
          <a:prstGeom prst="rect">
            <a:avLst/>
          </a:prstGeom>
          <a:solidFill>
            <a:srgbClr val="FFC000"/>
          </a:solidFill>
        </p:spPr>
        <p:txBody>
          <a:bodyPr wrap="none">
            <a:spAutoFit/>
          </a:bodyPr>
          <a:lstStyle/>
          <a:p>
            <a:r>
              <a:rPr lang="en-IN" sz="1800" b="1" dirty="0">
                <a:latin typeface="Times New Roman" pitchFamily="18" charset="0"/>
                <a:cs typeface="Times New Roman" pitchFamily="18" charset="0"/>
              </a:rPr>
              <a:t>Marketing Objectives &amp; strategy </a:t>
            </a:r>
            <a:endParaRPr lang="en-IN" sz="1800" dirty="0"/>
          </a:p>
        </p:txBody>
      </p:sp>
    </p:spTree>
    <p:extLst>
      <p:ext uri="{BB962C8B-B14F-4D97-AF65-F5344CB8AC3E}">
        <p14:creationId xmlns:p14="http://schemas.microsoft.com/office/powerpoint/2010/main" val="411249487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57200"/>
            <a:ext cx="8229600" cy="1143000"/>
          </a:xfrm>
        </p:spPr>
        <p:txBody>
          <a:bodyPr>
            <a:noAutofit/>
          </a:bodyPr>
          <a:lstStyle/>
          <a:p>
            <a:r>
              <a:rPr lang="en-US" sz="3600" b="1" dirty="0" smtClean="0">
                <a:solidFill>
                  <a:srgbClr val="FF0000"/>
                </a:solidFill>
                <a:latin typeface="Times New Roman" pitchFamily="18" charset="0"/>
                <a:cs typeface="Times New Roman" pitchFamily="18" charset="0"/>
              </a:rPr>
              <a:t>Limitations</a:t>
            </a:r>
            <a:br>
              <a:rPr lang="en-US" sz="3600" b="1" dirty="0" smtClean="0">
                <a:solidFill>
                  <a:srgbClr val="FF0000"/>
                </a:solidFill>
                <a:latin typeface="Times New Roman" pitchFamily="18" charset="0"/>
                <a:cs typeface="Times New Roman" pitchFamily="18" charset="0"/>
              </a:rPr>
            </a:br>
            <a:endParaRPr lang="en-US" sz="3600" b="1" dirty="0">
              <a:solidFill>
                <a:srgbClr val="FF0000"/>
              </a:solidFill>
              <a:latin typeface="Times New Roman" pitchFamily="18" charset="0"/>
              <a:cs typeface="Times New Roman" pitchFamily="18" charset="0"/>
            </a:endParaRPr>
          </a:p>
        </p:txBody>
      </p:sp>
      <p:sp>
        <p:nvSpPr>
          <p:cNvPr id="3" name="Content Placeholder 2"/>
          <p:cNvSpPr>
            <a:spLocks noGrp="1"/>
          </p:cNvSpPr>
          <p:nvPr>
            <p:ph idx="1"/>
          </p:nvPr>
        </p:nvSpPr>
        <p:spPr>
          <a:xfrm>
            <a:off x="457200" y="990600"/>
            <a:ext cx="8229600" cy="5135563"/>
          </a:xfrm>
        </p:spPr>
        <p:txBody>
          <a:bodyPr>
            <a:noAutofit/>
          </a:bodyPr>
          <a:lstStyle/>
          <a:p>
            <a:endParaRPr lang="en-US" sz="2000" dirty="0" smtClean="0">
              <a:latin typeface="Times New Roman" pitchFamily="18" charset="0"/>
              <a:cs typeface="Times New Roman" pitchFamily="18" charset="0"/>
            </a:endParaRPr>
          </a:p>
          <a:p>
            <a:r>
              <a:rPr lang="en-US" sz="2000" dirty="0" smtClean="0">
                <a:latin typeface="Times New Roman" pitchFamily="18" charset="0"/>
                <a:cs typeface="Times New Roman" pitchFamily="18" charset="0"/>
              </a:rPr>
              <a:t>It </a:t>
            </a:r>
            <a:r>
              <a:rPr lang="en-US" sz="2000" dirty="0">
                <a:latin typeface="Times New Roman" pitchFamily="18" charset="0"/>
                <a:cs typeface="Times New Roman" pitchFamily="18" charset="0"/>
              </a:rPr>
              <a:t>is </a:t>
            </a:r>
            <a:r>
              <a:rPr lang="en-US" sz="2000" dirty="0">
                <a:solidFill>
                  <a:srgbClr val="FF0000"/>
                </a:solidFill>
                <a:latin typeface="Times New Roman" pitchFamily="18" charset="0"/>
                <a:cs typeface="Times New Roman" pitchFamily="18" charset="0"/>
              </a:rPr>
              <a:t>difficult </a:t>
            </a:r>
            <a:r>
              <a:rPr lang="en-US" sz="2000" dirty="0">
                <a:latin typeface="Times New Roman" pitchFamily="18" charset="0"/>
                <a:cs typeface="Times New Roman" pitchFamily="18" charset="0"/>
              </a:rPr>
              <a:t>for marketing management to </a:t>
            </a:r>
            <a:r>
              <a:rPr lang="en-US" sz="2000" dirty="0">
                <a:solidFill>
                  <a:srgbClr val="FF0000"/>
                </a:solidFill>
                <a:latin typeface="Times New Roman" pitchFamily="18" charset="0"/>
                <a:cs typeface="Times New Roman" pitchFamily="18" charset="0"/>
              </a:rPr>
              <a:t>gauge accurately </a:t>
            </a:r>
            <a:r>
              <a:rPr lang="en-US" sz="2000" dirty="0">
                <a:latin typeface="Times New Roman" pitchFamily="18" charset="0"/>
                <a:cs typeface="Times New Roman" pitchFamily="18" charset="0"/>
              </a:rPr>
              <a:t>where a product is on its life cycle. A rise in sales </a:t>
            </a:r>
            <a:r>
              <a:rPr lang="en-US" sz="2000" i="1" dirty="0">
                <a:latin typeface="Times New Roman" pitchFamily="18" charset="0"/>
                <a:cs typeface="Times New Roman" pitchFamily="18" charset="0"/>
              </a:rPr>
              <a:t>per se</a:t>
            </a:r>
            <a:r>
              <a:rPr lang="en-US" sz="2000" dirty="0">
                <a:latin typeface="Times New Roman" pitchFamily="18" charset="0"/>
                <a:cs typeface="Times New Roman" pitchFamily="18" charset="0"/>
              </a:rPr>
              <a:t> is not necessarily evidence of growth, a fall in sales </a:t>
            </a:r>
            <a:r>
              <a:rPr lang="en-US" sz="2000" i="1" dirty="0">
                <a:latin typeface="Times New Roman" pitchFamily="18" charset="0"/>
                <a:cs typeface="Times New Roman" pitchFamily="18" charset="0"/>
              </a:rPr>
              <a:t>per se</a:t>
            </a:r>
            <a:r>
              <a:rPr lang="en-US" sz="2000" dirty="0">
                <a:latin typeface="Times New Roman" pitchFamily="18" charset="0"/>
                <a:cs typeface="Times New Roman" pitchFamily="18" charset="0"/>
              </a:rPr>
              <a:t> does not typify </a:t>
            </a:r>
            <a:r>
              <a:rPr lang="en-US" sz="2000" dirty="0" smtClean="0">
                <a:latin typeface="Times New Roman" pitchFamily="18" charset="0"/>
                <a:cs typeface="Times New Roman" pitchFamily="18" charset="0"/>
              </a:rPr>
              <a:t>decline.</a:t>
            </a:r>
          </a:p>
          <a:p>
            <a:endParaRPr lang="en-US" sz="2000" dirty="0">
              <a:latin typeface="Times New Roman" pitchFamily="18" charset="0"/>
              <a:cs typeface="Times New Roman" pitchFamily="18" charset="0"/>
            </a:endParaRPr>
          </a:p>
          <a:p>
            <a:r>
              <a:rPr lang="en-US" sz="2000" dirty="0" smtClean="0">
                <a:latin typeface="Times New Roman" pitchFamily="18" charset="0"/>
                <a:cs typeface="Times New Roman" pitchFamily="18" charset="0"/>
              </a:rPr>
              <a:t>Different </a:t>
            </a:r>
            <a:r>
              <a:rPr lang="en-US" sz="2000" dirty="0">
                <a:latin typeface="Times New Roman" pitchFamily="18" charset="0"/>
                <a:cs typeface="Times New Roman" pitchFamily="18" charset="0"/>
              </a:rPr>
              <a:t>products possess </a:t>
            </a:r>
            <a:r>
              <a:rPr lang="en-US" sz="2000" dirty="0">
                <a:solidFill>
                  <a:srgbClr val="FF0000"/>
                </a:solidFill>
                <a:latin typeface="Times New Roman" pitchFamily="18" charset="0"/>
                <a:cs typeface="Times New Roman" pitchFamily="18" charset="0"/>
              </a:rPr>
              <a:t>different PLC </a:t>
            </a:r>
            <a:r>
              <a:rPr lang="en-US" sz="2000" dirty="0">
                <a:latin typeface="Times New Roman" pitchFamily="18" charset="0"/>
                <a:cs typeface="Times New Roman" pitchFamily="18" charset="0"/>
              </a:rPr>
              <a:t>"</a:t>
            </a:r>
            <a:r>
              <a:rPr lang="en-US" sz="2000" dirty="0" smtClean="0">
                <a:latin typeface="Times New Roman" pitchFamily="18" charset="0"/>
                <a:cs typeface="Times New Roman" pitchFamily="18" charset="0"/>
              </a:rPr>
              <a:t>shapes“ </a:t>
            </a:r>
          </a:p>
          <a:p>
            <a:endParaRPr lang="en-US" sz="2000" dirty="0" smtClean="0">
              <a:latin typeface="Times New Roman" pitchFamily="18" charset="0"/>
              <a:cs typeface="Times New Roman" pitchFamily="18" charset="0"/>
            </a:endParaRPr>
          </a:p>
          <a:p>
            <a:r>
              <a:rPr lang="en-US" sz="2000" dirty="0" smtClean="0">
                <a:latin typeface="Times New Roman" pitchFamily="18" charset="0"/>
                <a:cs typeface="Times New Roman" pitchFamily="18" charset="0"/>
              </a:rPr>
              <a:t>Typical </a:t>
            </a:r>
            <a:r>
              <a:rPr lang="en-US" sz="2000" dirty="0">
                <a:latin typeface="Times New Roman" pitchFamily="18" charset="0"/>
                <a:cs typeface="Times New Roman" pitchFamily="18" charset="0"/>
              </a:rPr>
              <a:t>PLC models are only useful as a </a:t>
            </a:r>
            <a:r>
              <a:rPr lang="en-US" sz="2000" dirty="0">
                <a:solidFill>
                  <a:srgbClr val="FF0000"/>
                </a:solidFill>
                <a:latin typeface="Times New Roman" pitchFamily="18" charset="0"/>
                <a:cs typeface="Times New Roman" pitchFamily="18" charset="0"/>
              </a:rPr>
              <a:t>rough guide </a:t>
            </a:r>
            <a:r>
              <a:rPr lang="en-US" sz="2000" dirty="0">
                <a:latin typeface="Times New Roman" pitchFamily="18" charset="0"/>
                <a:cs typeface="Times New Roman" pitchFamily="18" charset="0"/>
              </a:rPr>
              <a:t>for marketing management</a:t>
            </a:r>
            <a:r>
              <a:rPr lang="en-US" sz="2000" dirty="0" smtClean="0">
                <a:latin typeface="Times New Roman" pitchFamily="18" charset="0"/>
                <a:cs typeface="Times New Roman" pitchFamily="18" charset="0"/>
              </a:rPr>
              <a:t>.</a:t>
            </a:r>
          </a:p>
          <a:p>
            <a:endParaRPr lang="en-US" sz="2000" dirty="0">
              <a:latin typeface="Times New Roman" pitchFamily="18" charset="0"/>
              <a:cs typeface="Times New Roman" pitchFamily="18" charset="0"/>
            </a:endParaRPr>
          </a:p>
          <a:p>
            <a:r>
              <a:rPr lang="en-US" sz="2000" dirty="0">
                <a:latin typeface="Times New Roman" pitchFamily="18" charset="0"/>
                <a:cs typeface="Times New Roman" pitchFamily="18" charset="0"/>
              </a:rPr>
              <a:t>For specific products, the duration of each PLC stage is </a:t>
            </a:r>
            <a:r>
              <a:rPr lang="en-US" sz="2000" dirty="0">
                <a:solidFill>
                  <a:srgbClr val="FF0000"/>
                </a:solidFill>
                <a:latin typeface="Times New Roman" pitchFamily="18" charset="0"/>
                <a:cs typeface="Times New Roman" pitchFamily="18" charset="0"/>
              </a:rPr>
              <a:t>unpredictable</a:t>
            </a:r>
            <a:r>
              <a:rPr lang="en-US" sz="2000" dirty="0">
                <a:latin typeface="Times New Roman" pitchFamily="18" charset="0"/>
                <a:cs typeface="Times New Roman" pitchFamily="18" charset="0"/>
              </a:rPr>
              <a:t> and it's difficult to </a:t>
            </a:r>
            <a:r>
              <a:rPr lang="en-US" sz="2000" dirty="0">
                <a:solidFill>
                  <a:srgbClr val="FF0000"/>
                </a:solidFill>
                <a:latin typeface="Times New Roman" pitchFamily="18" charset="0"/>
                <a:cs typeface="Times New Roman" pitchFamily="18" charset="0"/>
              </a:rPr>
              <a:t>detect</a:t>
            </a:r>
            <a:r>
              <a:rPr lang="en-US" sz="2000" dirty="0">
                <a:latin typeface="Times New Roman" pitchFamily="18" charset="0"/>
                <a:cs typeface="Times New Roman" pitchFamily="18" charset="0"/>
              </a:rPr>
              <a:t> when maturity or decline has begun</a:t>
            </a:r>
            <a:r>
              <a:rPr lang="en-US" sz="2000" dirty="0" smtClean="0">
                <a:latin typeface="Times New Roman" pitchFamily="18" charset="0"/>
                <a:cs typeface="Times New Roman" pitchFamily="18" charset="0"/>
              </a:rPr>
              <a:t>.</a:t>
            </a:r>
          </a:p>
          <a:p>
            <a:endParaRPr lang="en-US" sz="2000" dirty="0">
              <a:latin typeface="Times New Roman" pitchFamily="18" charset="0"/>
              <a:cs typeface="Times New Roman" pitchFamily="18" charset="0"/>
            </a:endParaRPr>
          </a:p>
          <a:p>
            <a:r>
              <a:rPr lang="en-US" sz="2000" dirty="0">
                <a:latin typeface="Times New Roman" pitchFamily="18" charset="0"/>
                <a:cs typeface="Times New Roman" pitchFamily="18" charset="0"/>
              </a:rPr>
              <a:t>Because of these limitations, strict adherence to PLC can lead a company to </a:t>
            </a:r>
            <a:r>
              <a:rPr lang="en-US" sz="2000" dirty="0">
                <a:solidFill>
                  <a:srgbClr val="FF0000"/>
                </a:solidFill>
                <a:latin typeface="Times New Roman" pitchFamily="18" charset="0"/>
                <a:cs typeface="Times New Roman" pitchFamily="18" charset="0"/>
              </a:rPr>
              <a:t>misleading</a:t>
            </a:r>
            <a:r>
              <a:rPr lang="en-US" sz="2000" dirty="0">
                <a:latin typeface="Times New Roman" pitchFamily="18" charset="0"/>
                <a:cs typeface="Times New Roman" pitchFamily="18" charset="0"/>
              </a:rPr>
              <a:t> objectives and strategy prescriptions.</a:t>
            </a:r>
          </a:p>
          <a:p>
            <a:endParaRPr lang="en-US" sz="2000" dirty="0">
              <a:latin typeface="Times New Roman" pitchFamily="18" charset="0"/>
              <a:cs typeface="Times New Roman" pitchFamily="18" charset="0"/>
            </a:endParaRPr>
          </a:p>
        </p:txBody>
      </p:sp>
    </p:spTree>
    <p:extLst>
      <p:ext uri="{BB962C8B-B14F-4D97-AF65-F5344CB8AC3E}">
        <p14:creationId xmlns:p14="http://schemas.microsoft.com/office/powerpoint/2010/main" val="196622272"/>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7520" y="2823970"/>
            <a:ext cx="8445842" cy="994172"/>
          </a:xfrm>
        </p:spPr>
        <p:txBody>
          <a:bodyPr>
            <a:noAutofit/>
          </a:bodyPr>
          <a:lstStyle/>
          <a:p>
            <a:pPr algn="ctr"/>
            <a:r>
              <a:rPr lang="en-US" sz="3600" b="1" dirty="0">
                <a:latin typeface="Times New Roman" panose="02020603050405020304" pitchFamily="18" charset="0"/>
                <a:cs typeface="Times New Roman" panose="02020603050405020304" pitchFamily="18" charset="0"/>
              </a:rPr>
              <a:t>NP</a:t>
            </a:r>
            <a:r>
              <a:rPr lang="en-US" sz="3600" b="1" dirty="0">
                <a:solidFill>
                  <a:srgbClr val="FF0000"/>
                </a:solidFill>
                <a:latin typeface="Times New Roman" panose="02020603050405020304" pitchFamily="18" charset="0"/>
                <a:cs typeface="Times New Roman" panose="02020603050405020304" pitchFamily="18" charset="0"/>
              </a:rPr>
              <a:t>DP</a:t>
            </a:r>
            <a:br>
              <a:rPr lang="en-US" sz="3600" b="1" dirty="0">
                <a:solidFill>
                  <a:srgbClr val="FF0000"/>
                </a:solidFill>
                <a:latin typeface="Times New Roman" panose="02020603050405020304" pitchFamily="18" charset="0"/>
                <a:cs typeface="Times New Roman" panose="02020603050405020304" pitchFamily="18" charset="0"/>
              </a:rPr>
            </a:br>
            <a:r>
              <a:rPr lang="en-US" sz="3600" b="1" dirty="0">
                <a:solidFill>
                  <a:srgbClr val="FF0000"/>
                </a:solidFill>
                <a:latin typeface="Times New Roman" panose="02020603050405020304" pitchFamily="18" charset="0"/>
                <a:cs typeface="Times New Roman" panose="02020603050405020304" pitchFamily="18" charset="0"/>
              </a:rPr>
              <a:t>New Product </a:t>
            </a:r>
            <a:r>
              <a:rPr lang="en-US" sz="3600" b="1" dirty="0">
                <a:latin typeface="Times New Roman" panose="02020603050405020304" pitchFamily="18" charset="0"/>
                <a:cs typeface="Times New Roman" panose="02020603050405020304" pitchFamily="18" charset="0"/>
              </a:rPr>
              <a:t>Development Process</a:t>
            </a:r>
            <a:endParaRPr lang="en-IN" sz="36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2208182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91468" y="1673781"/>
            <a:ext cx="7886700" cy="3859492"/>
          </a:xfrm>
        </p:spPr>
        <p:txBody>
          <a:bodyPr>
            <a:normAutofit fontScale="90000"/>
          </a:bodyPr>
          <a:lstStyle/>
          <a:p>
            <a:pPr algn="ctr"/>
            <a:r>
              <a:rPr lang="en-US" sz="2700" dirty="0">
                <a:latin typeface="Times New Roman" panose="02020603050405020304" pitchFamily="18" charset="0"/>
                <a:cs typeface="Times New Roman" panose="02020603050405020304" pitchFamily="18" charset="0"/>
              </a:rPr>
              <a:t>Innovation</a:t>
            </a:r>
            <a:br>
              <a:rPr lang="en-US" sz="2700" dirty="0">
                <a:latin typeface="Times New Roman" panose="02020603050405020304" pitchFamily="18" charset="0"/>
                <a:cs typeface="Times New Roman" panose="02020603050405020304" pitchFamily="18" charset="0"/>
              </a:rPr>
            </a:br>
            <a:r>
              <a:rPr lang="en-US" sz="2700" dirty="0">
                <a:solidFill>
                  <a:srgbClr val="FF0000"/>
                </a:solidFill>
                <a:latin typeface="Times New Roman" panose="02020603050405020304" pitchFamily="18" charset="0"/>
                <a:cs typeface="Times New Roman" panose="02020603050405020304" pitchFamily="18" charset="0"/>
              </a:rPr>
              <a:t>Idea</a:t>
            </a:r>
            <a:r>
              <a:rPr lang="en-US" sz="2700" dirty="0">
                <a:latin typeface="Times New Roman" panose="02020603050405020304" pitchFamily="18" charset="0"/>
                <a:cs typeface="Times New Roman" panose="02020603050405020304" pitchFamily="18" charset="0"/>
              </a:rPr>
              <a:t/>
            </a:r>
            <a:br>
              <a:rPr lang="en-US" sz="2700" dirty="0">
                <a:latin typeface="Times New Roman" panose="02020603050405020304" pitchFamily="18" charset="0"/>
                <a:cs typeface="Times New Roman" panose="02020603050405020304" pitchFamily="18" charset="0"/>
              </a:rPr>
            </a:br>
            <a:r>
              <a:rPr lang="en-US" sz="2700" dirty="0">
                <a:latin typeface="Times New Roman" panose="02020603050405020304" pitchFamily="18" charset="0"/>
                <a:cs typeface="Times New Roman" panose="02020603050405020304" pitchFamily="18" charset="0"/>
              </a:rPr>
              <a:t>Invention</a:t>
            </a:r>
            <a:br>
              <a:rPr lang="en-US" sz="2700" dirty="0">
                <a:latin typeface="Times New Roman" panose="02020603050405020304" pitchFamily="18" charset="0"/>
                <a:cs typeface="Times New Roman" panose="02020603050405020304" pitchFamily="18" charset="0"/>
              </a:rPr>
            </a:br>
            <a:r>
              <a:rPr lang="en-US" sz="2700" dirty="0">
                <a:solidFill>
                  <a:srgbClr val="FF0000"/>
                </a:solidFill>
                <a:latin typeface="Times New Roman" panose="02020603050405020304" pitchFamily="18" charset="0"/>
                <a:cs typeface="Times New Roman" panose="02020603050405020304" pitchFamily="18" charset="0"/>
              </a:rPr>
              <a:t>Discovery</a:t>
            </a:r>
            <a:br>
              <a:rPr lang="en-US" sz="2700" dirty="0">
                <a:solidFill>
                  <a:srgbClr val="FF0000"/>
                </a:solidFill>
                <a:latin typeface="Times New Roman" panose="02020603050405020304" pitchFamily="18" charset="0"/>
                <a:cs typeface="Times New Roman" panose="02020603050405020304" pitchFamily="18" charset="0"/>
              </a:rPr>
            </a:br>
            <a:r>
              <a:rPr lang="en-US" sz="2700" dirty="0">
                <a:solidFill>
                  <a:srgbClr val="FF0000"/>
                </a:solidFill>
                <a:latin typeface="Times New Roman" panose="02020603050405020304" pitchFamily="18" charset="0"/>
                <a:cs typeface="Times New Roman" panose="02020603050405020304" pitchFamily="18" charset="0"/>
              </a:rPr>
              <a:t/>
            </a:r>
            <a:br>
              <a:rPr lang="en-US" sz="2700" dirty="0">
                <a:solidFill>
                  <a:srgbClr val="FF0000"/>
                </a:solidFill>
                <a:latin typeface="Times New Roman" panose="02020603050405020304" pitchFamily="18" charset="0"/>
                <a:cs typeface="Times New Roman" panose="02020603050405020304" pitchFamily="18" charset="0"/>
              </a:rPr>
            </a:br>
            <a:r>
              <a:rPr lang="en-IN" sz="1650" dirty="0">
                <a:solidFill>
                  <a:srgbClr val="FF0000"/>
                </a:solidFill>
                <a:latin typeface="Times New Roman" panose="02020603050405020304" pitchFamily="18" charset="0"/>
                <a:cs typeface="Times New Roman" panose="02020603050405020304" pitchFamily="18" charset="0"/>
              </a:rPr>
              <a:t>Innovation</a:t>
            </a:r>
            <a:r>
              <a:rPr lang="en-IN" sz="1650" dirty="0">
                <a:latin typeface="Times New Roman" panose="02020603050405020304" pitchFamily="18" charset="0"/>
                <a:cs typeface="Times New Roman" panose="02020603050405020304" pitchFamily="18" charset="0"/>
              </a:rPr>
              <a:t>- It changes the life of the customer in some way, or the world in which the customer experiences things that’s an innovation.</a:t>
            </a:r>
            <a:r>
              <a:rPr lang="en-IN" sz="2700" dirty="0">
                <a:latin typeface="Times New Roman" panose="02020603050405020304" pitchFamily="18" charset="0"/>
                <a:cs typeface="Times New Roman" panose="02020603050405020304" pitchFamily="18" charset="0"/>
              </a:rPr>
              <a:t/>
            </a:r>
            <a:br>
              <a:rPr lang="en-IN" sz="2700" dirty="0">
                <a:latin typeface="Times New Roman" panose="02020603050405020304" pitchFamily="18" charset="0"/>
                <a:cs typeface="Times New Roman" panose="02020603050405020304" pitchFamily="18" charset="0"/>
              </a:rPr>
            </a:br>
            <a:r>
              <a:rPr lang="en-IN" sz="1650" dirty="0">
                <a:solidFill>
                  <a:srgbClr val="FF0000"/>
                </a:solidFill>
                <a:latin typeface="Times New Roman" panose="02020603050405020304" pitchFamily="18" charset="0"/>
                <a:cs typeface="Times New Roman" panose="02020603050405020304" pitchFamily="18" charset="0"/>
              </a:rPr>
              <a:t>Invention</a:t>
            </a:r>
            <a:r>
              <a:rPr lang="en-IN" sz="1650" dirty="0">
                <a:latin typeface="Times New Roman" panose="02020603050405020304" pitchFamily="18" charset="0"/>
                <a:cs typeface="Times New Roman" panose="02020603050405020304" pitchFamily="18" charset="0"/>
              </a:rPr>
              <a:t>-is the product of a creative and curious mind</a:t>
            </a:r>
            <a:br>
              <a:rPr lang="en-IN" sz="1650" dirty="0">
                <a:latin typeface="Times New Roman" panose="02020603050405020304" pitchFamily="18" charset="0"/>
                <a:cs typeface="Times New Roman" panose="02020603050405020304" pitchFamily="18" charset="0"/>
              </a:rPr>
            </a:br>
            <a:r>
              <a:rPr lang="en-IN" sz="1650" dirty="0">
                <a:solidFill>
                  <a:srgbClr val="FF0000"/>
                </a:solidFill>
                <a:latin typeface="Times New Roman" panose="02020603050405020304" pitchFamily="18" charset="0"/>
                <a:cs typeface="Times New Roman" panose="02020603050405020304" pitchFamily="18" charset="0"/>
              </a:rPr>
              <a:t>Discovery</a:t>
            </a:r>
            <a:r>
              <a:rPr lang="en-IN" sz="1650" dirty="0">
                <a:latin typeface="Times New Roman" panose="02020603050405020304" pitchFamily="18" charset="0"/>
                <a:cs typeface="Times New Roman" panose="02020603050405020304" pitchFamily="18" charset="0"/>
              </a:rPr>
              <a:t>- Already there</a:t>
            </a:r>
            <a:br>
              <a:rPr lang="en-IN" sz="1650" dirty="0">
                <a:latin typeface="Times New Roman" panose="02020603050405020304" pitchFamily="18" charset="0"/>
                <a:cs typeface="Times New Roman" panose="02020603050405020304" pitchFamily="18" charset="0"/>
              </a:rPr>
            </a:br>
            <a:r>
              <a:rPr lang="en-IN" sz="1650" dirty="0">
                <a:solidFill>
                  <a:srgbClr val="FF0000"/>
                </a:solidFill>
                <a:latin typeface="Times New Roman" panose="02020603050405020304" pitchFamily="18" charset="0"/>
                <a:cs typeface="Times New Roman" panose="02020603050405020304" pitchFamily="18" charset="0"/>
              </a:rPr>
              <a:t>Ideas</a:t>
            </a:r>
            <a:r>
              <a:rPr lang="en-IN" sz="1650" dirty="0">
                <a:latin typeface="Times New Roman" panose="02020603050405020304" pitchFamily="18" charset="0"/>
                <a:cs typeface="Times New Roman" panose="02020603050405020304" pitchFamily="18" charset="0"/>
              </a:rPr>
              <a:t>- by themselves change nothing</a:t>
            </a:r>
            <a:br>
              <a:rPr lang="en-IN" sz="1650" dirty="0">
                <a:latin typeface="Times New Roman" panose="02020603050405020304" pitchFamily="18" charset="0"/>
                <a:cs typeface="Times New Roman" panose="02020603050405020304" pitchFamily="18" charset="0"/>
              </a:rPr>
            </a:br>
            <a:r>
              <a:rPr lang="en-IN" sz="2700" dirty="0"/>
              <a:t/>
            </a:r>
            <a:br>
              <a:rPr lang="en-IN" sz="2700" dirty="0"/>
            </a:br>
            <a:endParaRPr lang="en-IN" sz="2700" dirty="0">
              <a:solidFill>
                <a:srgbClr val="FF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0472710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77330" y="1326807"/>
            <a:ext cx="7617941" cy="1995617"/>
          </a:xfrm>
        </p:spPr>
        <p:txBody>
          <a:bodyPr>
            <a:noAutofit/>
          </a:bodyPr>
          <a:lstStyle/>
          <a:p>
            <a:r>
              <a:rPr lang="en-IN" sz="1500" dirty="0">
                <a:latin typeface="Times New Roman" panose="02020603050405020304" pitchFamily="18" charset="0"/>
                <a:cs typeface="Times New Roman" panose="02020603050405020304" pitchFamily="18" charset="0"/>
              </a:rPr>
              <a:t>Jubilant </a:t>
            </a:r>
            <a:r>
              <a:rPr lang="en-IN" sz="1500" dirty="0" err="1">
                <a:latin typeface="Times New Roman" panose="02020603050405020304" pitchFamily="18" charset="0"/>
                <a:cs typeface="Times New Roman" panose="02020603050405020304" pitchFamily="18" charset="0"/>
              </a:rPr>
              <a:t>FoodWorks</a:t>
            </a:r>
            <a:r>
              <a:rPr lang="en-IN" sz="1500" dirty="0">
                <a:latin typeface="Times New Roman" panose="02020603050405020304" pitchFamily="18" charset="0"/>
                <a:cs typeface="Times New Roman" panose="02020603050405020304" pitchFamily="18" charset="0"/>
              </a:rPr>
              <a:t>,-Domino's Pizza franchise introduced "</a:t>
            </a:r>
            <a:r>
              <a:rPr lang="en-IN" sz="1500" dirty="0">
                <a:solidFill>
                  <a:srgbClr val="FF0000"/>
                </a:solidFill>
                <a:latin typeface="Times New Roman" panose="02020603050405020304" pitchFamily="18" charset="0"/>
                <a:cs typeface="Times New Roman" panose="02020603050405020304" pitchFamily="18" charset="0"/>
              </a:rPr>
              <a:t>The Unthinkable Pizza</a:t>
            </a:r>
            <a:r>
              <a:rPr lang="en-IN" sz="1500" dirty="0">
                <a:latin typeface="Times New Roman" panose="02020603050405020304" pitchFamily="18" charset="0"/>
                <a:cs typeface="Times New Roman" panose="02020603050405020304" pitchFamily="18" charset="0"/>
              </a:rPr>
              <a:t>", India's first </a:t>
            </a:r>
            <a:r>
              <a:rPr lang="en-IN" sz="1500" b="1" dirty="0">
                <a:solidFill>
                  <a:srgbClr val="FF0000"/>
                </a:solidFill>
                <a:latin typeface="Times New Roman" panose="02020603050405020304" pitchFamily="18" charset="0"/>
                <a:cs typeface="Times New Roman" panose="02020603050405020304" pitchFamily="18" charset="0"/>
              </a:rPr>
              <a:t>plant protein based </a:t>
            </a:r>
            <a:r>
              <a:rPr lang="en-IN" sz="1500" dirty="0">
                <a:solidFill>
                  <a:srgbClr val="FF0000"/>
                </a:solidFill>
                <a:latin typeface="Times New Roman" panose="02020603050405020304" pitchFamily="18" charset="0"/>
                <a:cs typeface="Times New Roman" panose="02020603050405020304" pitchFamily="18" charset="0"/>
              </a:rPr>
              <a:t>product.</a:t>
            </a:r>
          </a:p>
          <a:p>
            <a:r>
              <a:rPr lang="en-IN" sz="1500" dirty="0">
                <a:latin typeface="Times New Roman" panose="02020603050405020304" pitchFamily="18" charset="0"/>
                <a:cs typeface="Times New Roman" panose="02020603050405020304" pitchFamily="18" charset="0"/>
              </a:rPr>
              <a:t>The Unthinkable Pizza is made entirely from </a:t>
            </a:r>
            <a:r>
              <a:rPr lang="en-IN" sz="1500" dirty="0">
                <a:solidFill>
                  <a:srgbClr val="FF0000"/>
                </a:solidFill>
                <a:latin typeface="Times New Roman" panose="02020603050405020304" pitchFamily="18" charset="0"/>
                <a:cs typeface="Times New Roman" panose="02020603050405020304" pitchFamily="18" charset="0"/>
              </a:rPr>
              <a:t>plant-based proteins, is 100% vegetarian and yet has the sensory properties of chicken</a:t>
            </a:r>
            <a:r>
              <a:rPr lang="en-IN" sz="1500" dirty="0">
                <a:latin typeface="Times New Roman" panose="02020603050405020304" pitchFamily="18" charset="0"/>
                <a:cs typeface="Times New Roman" panose="02020603050405020304" pitchFamily="18" charset="0"/>
              </a:rPr>
              <a:t>. </a:t>
            </a:r>
          </a:p>
          <a:p>
            <a:r>
              <a:rPr lang="en-IN" sz="1500" dirty="0">
                <a:latin typeface="Times New Roman" panose="02020603050405020304" pitchFamily="18" charset="0"/>
                <a:cs typeface="Times New Roman" panose="02020603050405020304" pitchFamily="18" charset="0"/>
              </a:rPr>
              <a:t>Jubilant </a:t>
            </a:r>
            <a:r>
              <a:rPr lang="en-IN" sz="1500" dirty="0" err="1">
                <a:latin typeface="Times New Roman" panose="02020603050405020304" pitchFamily="18" charset="0"/>
                <a:cs typeface="Times New Roman" panose="02020603050405020304" pitchFamily="18" charset="0"/>
              </a:rPr>
              <a:t>FoodWorks</a:t>
            </a:r>
            <a:r>
              <a:rPr lang="en-IN" sz="1500" dirty="0">
                <a:latin typeface="Times New Roman" panose="02020603050405020304" pitchFamily="18" charset="0"/>
                <a:cs typeface="Times New Roman" panose="02020603050405020304" pitchFamily="18" charset="0"/>
              </a:rPr>
              <a:t> is India's largest food service company, with a network of </a:t>
            </a:r>
          </a:p>
          <a:p>
            <a:r>
              <a:rPr lang="en-IN" sz="1500" dirty="0">
                <a:solidFill>
                  <a:srgbClr val="FF0000"/>
                </a:solidFill>
                <a:latin typeface="Times New Roman" panose="02020603050405020304" pitchFamily="18" charset="0"/>
                <a:cs typeface="Times New Roman" panose="02020603050405020304" pitchFamily="18" charset="0"/>
              </a:rPr>
              <a:t>1,264 Domino's Pizza restaurants across 281 cities </a:t>
            </a:r>
            <a:r>
              <a:rPr lang="en-IN" sz="1500" dirty="0">
                <a:latin typeface="Times New Roman" panose="02020603050405020304" pitchFamily="18" charset="0"/>
                <a:cs typeface="Times New Roman" panose="02020603050405020304" pitchFamily="18" charset="0"/>
              </a:rPr>
              <a:t>(Approx.). </a:t>
            </a:r>
          </a:p>
          <a:p>
            <a:r>
              <a:rPr lang="en-IN" sz="1500" dirty="0">
                <a:latin typeface="Times New Roman" panose="02020603050405020304" pitchFamily="18" charset="0"/>
                <a:cs typeface="Times New Roman" panose="02020603050405020304" pitchFamily="18" charset="0"/>
              </a:rPr>
              <a:t>The company has the exclusive rights to develop and operate Domino's Pizza brand in India, Sri Lanka, Bangladesh and Nepal.</a:t>
            </a:r>
          </a:p>
          <a:p>
            <a:endParaRPr lang="en-IN" sz="1500" dirty="0">
              <a:latin typeface="Times New Roman" panose="02020603050405020304" pitchFamily="18" charset="0"/>
              <a:cs typeface="Times New Roman" panose="02020603050405020304" pitchFamily="18" charset="0"/>
            </a:endParaRPr>
          </a:p>
        </p:txBody>
      </p:sp>
      <p:pic>
        <p:nvPicPr>
          <p:cNvPr id="2050" name="Picture 2" descr="Domino's Pizza introduces The Unthinkable Pizza, India's first  plant-protein pizza - The Statesman"/>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184951" y="3798157"/>
            <a:ext cx="2576384" cy="171758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7502466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1900" y="3600450"/>
            <a:ext cx="7886700" cy="952919"/>
          </a:xfrm>
        </p:spPr>
        <p:txBody>
          <a:bodyPr>
            <a:noAutofit/>
          </a:bodyPr>
          <a:lstStyle/>
          <a:p>
            <a:pPr algn="ctr"/>
            <a:r>
              <a:rPr lang="en-IN" sz="2100" dirty="0">
                <a:latin typeface="Times New Roman" pitchFamily="18" charset="0"/>
                <a:cs typeface="Times New Roman" pitchFamily="18" charset="0"/>
              </a:rPr>
              <a:t>NESTLE</a:t>
            </a:r>
            <a:r>
              <a:rPr lang="en-IN" sz="2100" dirty="0">
                <a:solidFill>
                  <a:srgbClr val="FF0000"/>
                </a:solidFill>
                <a:latin typeface="Times New Roman" pitchFamily="18" charset="0"/>
                <a:cs typeface="Times New Roman" pitchFamily="18" charset="0"/>
              </a:rPr>
              <a:t/>
            </a:r>
            <a:br>
              <a:rPr lang="en-IN" sz="2100" dirty="0">
                <a:solidFill>
                  <a:srgbClr val="FF0000"/>
                </a:solidFill>
                <a:latin typeface="Times New Roman" pitchFamily="18" charset="0"/>
                <a:cs typeface="Times New Roman" pitchFamily="18" charset="0"/>
              </a:rPr>
            </a:br>
            <a:r>
              <a:rPr lang="en-IN" sz="1800" dirty="0">
                <a:solidFill>
                  <a:srgbClr val="FF0000"/>
                </a:solidFill>
                <a:latin typeface="Times New Roman" pitchFamily="18" charset="0"/>
                <a:cs typeface="Times New Roman" pitchFamily="18" charset="0"/>
              </a:rPr>
              <a:t>In-home indulgence segment of products and introduced new products under MAGGI- Cooking Made Simple service.</a:t>
            </a:r>
            <a:r>
              <a:rPr lang="en-IN" sz="2100" dirty="0">
                <a:solidFill>
                  <a:srgbClr val="FF0000"/>
                </a:solidFill>
                <a:latin typeface="Times New Roman" pitchFamily="18" charset="0"/>
                <a:cs typeface="Times New Roman" pitchFamily="18" charset="0"/>
              </a:rPr>
              <a:t/>
            </a:r>
            <a:br>
              <a:rPr lang="en-IN" sz="2100" dirty="0">
                <a:solidFill>
                  <a:srgbClr val="FF0000"/>
                </a:solidFill>
                <a:latin typeface="Times New Roman" pitchFamily="18" charset="0"/>
                <a:cs typeface="Times New Roman" pitchFamily="18" charset="0"/>
              </a:rPr>
            </a:br>
            <a:endParaRPr lang="en-IN" sz="2100" dirty="0">
              <a:solidFill>
                <a:srgbClr val="FF0000"/>
              </a:solidFill>
              <a:latin typeface="Times New Roman" pitchFamily="18" charset="0"/>
              <a:cs typeface="Times New Roman" pitchFamily="18" charset="0"/>
            </a:endParaRPr>
          </a:p>
        </p:txBody>
      </p:sp>
      <p:sp>
        <p:nvSpPr>
          <p:cNvPr id="3" name="Rectangle 2"/>
          <p:cNvSpPr/>
          <p:nvPr/>
        </p:nvSpPr>
        <p:spPr>
          <a:xfrm>
            <a:off x="2601098" y="1915373"/>
            <a:ext cx="3867665" cy="1708160"/>
          </a:xfrm>
          <a:prstGeom prst="rect">
            <a:avLst/>
          </a:prstGeom>
        </p:spPr>
        <p:txBody>
          <a:bodyPr wrap="square">
            <a:spAutoFit/>
          </a:bodyPr>
          <a:lstStyle/>
          <a:p>
            <a:pPr algn="ctr"/>
            <a:r>
              <a:rPr lang="en-IN" dirty="0" err="1">
                <a:solidFill>
                  <a:srgbClr val="FF0000"/>
                </a:solidFill>
                <a:latin typeface="Times New Roman" panose="02020603050405020304" pitchFamily="18" charset="0"/>
                <a:cs typeface="Times New Roman" panose="02020603050405020304" pitchFamily="18" charset="0"/>
              </a:rPr>
              <a:t>Sunbean</a:t>
            </a:r>
            <a:r>
              <a:rPr lang="en-IN" dirty="0">
                <a:solidFill>
                  <a:srgbClr val="FF0000"/>
                </a:solidFill>
                <a:latin typeface="Times New Roman" panose="02020603050405020304" pitchFamily="18" charset="0"/>
                <a:cs typeface="Times New Roman" panose="02020603050405020304" pitchFamily="18" charset="0"/>
              </a:rPr>
              <a:t> Coffee</a:t>
            </a:r>
          </a:p>
          <a:p>
            <a:pPr algn="ctr"/>
            <a:r>
              <a:rPr lang="en-IN" dirty="0">
                <a:solidFill>
                  <a:srgbClr val="FF0000"/>
                </a:solidFill>
                <a:latin typeface="Times New Roman" panose="02020603050405020304" pitchFamily="18" charset="0"/>
                <a:cs typeface="Times New Roman" panose="02020603050405020304" pitchFamily="18" charset="0"/>
              </a:rPr>
              <a:t>NETFLIX</a:t>
            </a:r>
          </a:p>
          <a:p>
            <a:pPr algn="ctr"/>
            <a:r>
              <a:rPr lang="en-IN" sz="1500" dirty="0" err="1">
                <a:solidFill>
                  <a:srgbClr val="FF0000"/>
                </a:solidFill>
                <a:latin typeface="Times New Roman" panose="02020603050405020304" pitchFamily="18" charset="0"/>
                <a:cs typeface="Times New Roman" panose="02020603050405020304" pitchFamily="18" charset="0"/>
              </a:rPr>
              <a:t>Frapuccino</a:t>
            </a:r>
            <a:r>
              <a:rPr lang="en-IN" sz="1500" dirty="0">
                <a:solidFill>
                  <a:srgbClr val="FF0000"/>
                </a:solidFill>
                <a:latin typeface="Times New Roman" panose="02020603050405020304" pitchFamily="18" charset="0"/>
                <a:cs typeface="Times New Roman" panose="02020603050405020304" pitchFamily="18" charset="0"/>
              </a:rPr>
              <a:t>-</a:t>
            </a:r>
            <a:r>
              <a:rPr lang="en-US" sz="1500" dirty="0">
                <a:latin typeface="Times New Roman" panose="02020603050405020304" pitchFamily="18" charset="0"/>
                <a:cs typeface="Times New Roman" panose="02020603050405020304" pitchFamily="18" charset="0"/>
              </a:rPr>
              <a:t>a thick milkshake with ice cream</a:t>
            </a:r>
          </a:p>
          <a:p>
            <a:pPr algn="ctr"/>
            <a:r>
              <a:rPr lang="en-IN" dirty="0">
                <a:latin typeface="Times New Roman" panose="02020603050405020304" pitchFamily="18" charset="0"/>
                <a:cs typeface="Times New Roman" panose="02020603050405020304" pitchFamily="18" charset="0"/>
              </a:rPr>
              <a:t>51 variants- </a:t>
            </a:r>
            <a:r>
              <a:rPr lang="en-IN" dirty="0" err="1">
                <a:solidFill>
                  <a:srgbClr val="FF0000"/>
                </a:solidFill>
                <a:latin typeface="Times New Roman" panose="02020603050405020304" pitchFamily="18" charset="0"/>
                <a:cs typeface="Times New Roman" panose="02020603050405020304" pitchFamily="18" charset="0"/>
              </a:rPr>
              <a:t>Activa</a:t>
            </a:r>
            <a:endParaRPr lang="en-IN" dirty="0">
              <a:solidFill>
                <a:srgbClr val="FF0000"/>
              </a:solidFill>
              <a:latin typeface="Times New Roman" panose="02020603050405020304" pitchFamily="18" charset="0"/>
              <a:cs typeface="Times New Roman" panose="02020603050405020304" pitchFamily="18" charset="0"/>
            </a:endParaRPr>
          </a:p>
          <a:p>
            <a:pPr algn="ctr"/>
            <a:endParaRPr lang="en-US" dirty="0">
              <a:solidFill>
                <a:srgbClr val="FF0000"/>
              </a:solidFill>
              <a:latin typeface="Times New Roman" panose="02020603050405020304" pitchFamily="18" charset="0"/>
              <a:cs typeface="Times New Roman" panose="02020603050405020304" pitchFamily="18" charset="0"/>
            </a:endParaRPr>
          </a:p>
          <a:p>
            <a:pPr algn="ctr"/>
            <a:endParaRPr lang="en-IN" dirty="0">
              <a:solidFill>
                <a:srgbClr val="FF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6523231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an Goodknight kill the mosquito incense stick market?"/>
          <p:cNvPicPr/>
          <p:nvPr/>
        </p:nvPicPr>
        <p:blipFill>
          <a:blip r:embed="rId2">
            <a:extLst>
              <a:ext uri="{28A0092B-C50C-407E-A947-70E740481C1C}">
                <a14:useLocalDpi xmlns:a14="http://schemas.microsoft.com/office/drawing/2010/main" val="0"/>
              </a:ext>
            </a:extLst>
          </a:blip>
          <a:srcRect/>
          <a:stretch>
            <a:fillRect/>
          </a:stretch>
        </p:blipFill>
        <p:spPr bwMode="auto">
          <a:xfrm>
            <a:off x="685800" y="762000"/>
            <a:ext cx="7619999" cy="5181599"/>
          </a:xfrm>
          <a:prstGeom prst="rect">
            <a:avLst/>
          </a:prstGeom>
          <a:noFill/>
          <a:ln>
            <a:noFill/>
          </a:ln>
        </p:spPr>
      </p:pic>
    </p:spTree>
    <p:extLst>
      <p:ext uri="{BB962C8B-B14F-4D97-AF65-F5344CB8AC3E}">
        <p14:creationId xmlns:p14="http://schemas.microsoft.com/office/powerpoint/2010/main" val="267166258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Can Goodknight kill the mosquito incense stick market?"/>
          <p:cNvPicPr>
            <a:picLocks noGrp="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920579" y="1066801"/>
            <a:ext cx="7385221" cy="4368628"/>
          </a:xfrm>
          <a:prstGeom prst="rect">
            <a:avLst/>
          </a:prstGeom>
          <a:noFill/>
          <a:ln>
            <a:noFill/>
          </a:ln>
        </p:spPr>
      </p:pic>
    </p:spTree>
    <p:extLst>
      <p:ext uri="{BB962C8B-B14F-4D97-AF65-F5344CB8AC3E}">
        <p14:creationId xmlns:p14="http://schemas.microsoft.com/office/powerpoint/2010/main" val="165069079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290" t="13515" r="290" b="8680"/>
          <a:stretch/>
        </p:blipFill>
        <p:spPr bwMode="auto">
          <a:xfrm>
            <a:off x="500449" y="3347304"/>
            <a:ext cx="3731741" cy="21776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 name="Picture 4" descr="The Product Development Process: Listening, Learning &amp; Launching - B2B  International USA"/>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91862" y="1245442"/>
            <a:ext cx="3954869" cy="2058541"/>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2" descr="NEW-TO-THE-WORLD PRODUCT DEVELOPMENT"/>
          <p:cNvPicPr>
            <a:picLocks noChangeAspect="1" noChangeArrowheads="1"/>
          </p:cNvPicPr>
          <p:nvPr/>
        </p:nvPicPr>
        <p:blipFill rotWithShape="1">
          <a:blip r:embed="rId4">
            <a:extLst>
              <a:ext uri="{28A0092B-C50C-407E-A947-70E740481C1C}">
                <a14:useLocalDpi xmlns:a14="http://schemas.microsoft.com/office/drawing/2010/main" val="0"/>
              </a:ext>
            </a:extLst>
          </a:blip>
          <a:srcRect t="14767"/>
          <a:stretch/>
        </p:blipFill>
        <p:spPr bwMode="auto">
          <a:xfrm>
            <a:off x="4715996" y="3178793"/>
            <a:ext cx="3933734" cy="2514640"/>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p:cNvSpPr/>
          <p:nvPr/>
        </p:nvSpPr>
        <p:spPr>
          <a:xfrm>
            <a:off x="4969152" y="1515760"/>
            <a:ext cx="3680578" cy="1131079"/>
          </a:xfrm>
          <a:prstGeom prst="rect">
            <a:avLst/>
          </a:prstGeom>
        </p:spPr>
        <p:txBody>
          <a:bodyPr wrap="square">
            <a:spAutoFit/>
          </a:bodyPr>
          <a:lstStyle/>
          <a:p>
            <a:pPr>
              <a:buFont typeface="Arial" panose="020B0604020202020204" pitchFamily="34" charset="0"/>
              <a:buChar char="•"/>
            </a:pPr>
            <a:r>
              <a:rPr lang="en-US" sz="1350" b="1" dirty="0">
                <a:solidFill>
                  <a:srgbClr val="FF0000"/>
                </a:solidFill>
                <a:latin typeface="Times New Roman" panose="02020603050405020304" pitchFamily="18" charset="0"/>
                <a:cs typeface="Times New Roman" panose="02020603050405020304" pitchFamily="18" charset="0"/>
              </a:rPr>
              <a:t>New to company </a:t>
            </a:r>
            <a:r>
              <a:rPr lang="en-US" sz="1350" b="1" dirty="0">
                <a:latin typeface="Times New Roman" panose="02020603050405020304" pitchFamily="18" charset="0"/>
                <a:cs typeface="Times New Roman" panose="02020603050405020304" pitchFamily="18" charset="0"/>
              </a:rPr>
              <a:t>products</a:t>
            </a:r>
            <a:r>
              <a:rPr lang="en-US" sz="1350" dirty="0">
                <a:latin typeface="Times New Roman" panose="02020603050405020304" pitchFamily="18" charset="0"/>
                <a:cs typeface="Times New Roman" panose="02020603050405020304" pitchFamily="18" charset="0"/>
              </a:rPr>
              <a:t>, meaning that the company have never developed or sold this product before, but other companies might have.</a:t>
            </a:r>
          </a:p>
          <a:p>
            <a:pPr>
              <a:buFont typeface="Arial" panose="020B0604020202020204" pitchFamily="34" charset="0"/>
              <a:buChar char="•"/>
            </a:pPr>
            <a:r>
              <a:rPr lang="en-US" sz="1350" b="1" dirty="0">
                <a:solidFill>
                  <a:srgbClr val="FF0000"/>
                </a:solidFill>
                <a:latin typeface="Times New Roman" panose="02020603050405020304" pitchFamily="18" charset="0"/>
                <a:cs typeface="Times New Roman" panose="02020603050405020304" pitchFamily="18" charset="0"/>
              </a:rPr>
              <a:t>New to market </a:t>
            </a:r>
            <a:r>
              <a:rPr lang="en-US" sz="1350" b="1" dirty="0">
                <a:latin typeface="Times New Roman" panose="02020603050405020304" pitchFamily="18" charset="0"/>
                <a:cs typeface="Times New Roman" panose="02020603050405020304" pitchFamily="18" charset="0"/>
              </a:rPr>
              <a:t>products</a:t>
            </a:r>
            <a:r>
              <a:rPr lang="en-US" sz="1350" dirty="0">
                <a:latin typeface="Times New Roman" panose="02020603050405020304" pitchFamily="18" charset="0"/>
                <a:cs typeface="Times New Roman" panose="02020603050405020304" pitchFamily="18" charset="0"/>
              </a:rPr>
              <a:t>, and these are products that were never seen before in the marketplace.</a:t>
            </a:r>
          </a:p>
        </p:txBody>
      </p:sp>
    </p:spTree>
    <p:extLst>
      <p:ext uri="{BB962C8B-B14F-4D97-AF65-F5344CB8AC3E}">
        <p14:creationId xmlns:p14="http://schemas.microsoft.com/office/powerpoint/2010/main" val="163757137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b="11806"/>
          <a:stretch/>
        </p:blipFill>
        <p:spPr bwMode="auto">
          <a:xfrm>
            <a:off x="704511" y="1667046"/>
            <a:ext cx="7536656" cy="36479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Rectangle 2"/>
          <p:cNvSpPr/>
          <p:nvPr/>
        </p:nvSpPr>
        <p:spPr>
          <a:xfrm>
            <a:off x="3181865" y="1142785"/>
            <a:ext cx="3021227" cy="369332"/>
          </a:xfrm>
          <a:prstGeom prst="rect">
            <a:avLst/>
          </a:prstGeom>
        </p:spPr>
        <p:txBody>
          <a:bodyPr wrap="square">
            <a:spAutoFit/>
          </a:bodyPr>
          <a:lstStyle/>
          <a:p>
            <a:r>
              <a:rPr lang="en-IN" dirty="0">
                <a:solidFill>
                  <a:srgbClr val="FF0000"/>
                </a:solidFill>
                <a:latin typeface="Times New Roman" panose="02020603050405020304" pitchFamily="18" charset="0"/>
                <a:cs typeface="Times New Roman" panose="02020603050405020304" pitchFamily="18" charset="0"/>
              </a:rPr>
              <a:t>New Product Decision Process</a:t>
            </a:r>
          </a:p>
        </p:txBody>
      </p:sp>
    </p:spTree>
    <p:extLst>
      <p:ext uri="{BB962C8B-B14F-4D97-AF65-F5344CB8AC3E}">
        <p14:creationId xmlns:p14="http://schemas.microsoft.com/office/powerpoint/2010/main" val="15488824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33682" y="1341159"/>
            <a:ext cx="7886700" cy="751767"/>
          </a:xfrm>
        </p:spPr>
        <p:txBody>
          <a:bodyPr>
            <a:normAutofit/>
          </a:bodyPr>
          <a:lstStyle/>
          <a:p>
            <a:pPr algn="ctr"/>
            <a:r>
              <a:rPr lang="en-IN" sz="2700" dirty="0">
                <a:latin typeface="Times New Roman" panose="02020603050405020304" pitchFamily="18" charset="0"/>
                <a:cs typeface="Times New Roman" panose="02020603050405020304" pitchFamily="18" charset="0"/>
              </a:rPr>
              <a:t>Pampers</a:t>
            </a:r>
            <a:endParaRPr lang="en-IN" sz="2700" dirty="0"/>
          </a:p>
        </p:txBody>
      </p:sp>
      <p:sp>
        <p:nvSpPr>
          <p:cNvPr id="3" name="Content Placeholder 2"/>
          <p:cNvSpPr>
            <a:spLocks noGrp="1"/>
          </p:cNvSpPr>
          <p:nvPr>
            <p:ph idx="1"/>
          </p:nvPr>
        </p:nvSpPr>
        <p:spPr>
          <a:xfrm>
            <a:off x="628650" y="2350036"/>
            <a:ext cx="7886700" cy="3263504"/>
          </a:xfrm>
        </p:spPr>
        <p:txBody>
          <a:bodyPr/>
          <a:lstStyle/>
          <a:p>
            <a:r>
              <a:rPr lang="en-IN" sz="1800" dirty="0">
                <a:solidFill>
                  <a:srgbClr val="FF0000"/>
                </a:solidFill>
                <a:latin typeface="Times New Roman" panose="02020603050405020304" pitchFamily="18" charset="0"/>
                <a:cs typeface="Times New Roman" panose="02020603050405020304" pitchFamily="18" charset="0"/>
              </a:rPr>
              <a:t>In 1956, when a P&amp;G researcher </a:t>
            </a:r>
            <a:r>
              <a:rPr lang="en-IN" sz="1800" dirty="0">
                <a:latin typeface="Times New Roman" panose="02020603050405020304" pitchFamily="18" charset="0"/>
                <a:cs typeface="Times New Roman" panose="02020603050405020304" pitchFamily="18" charset="0"/>
              </a:rPr>
              <a:t>experienced the </a:t>
            </a:r>
            <a:r>
              <a:rPr lang="en-IN" sz="1800" dirty="0">
                <a:solidFill>
                  <a:srgbClr val="FF0000"/>
                </a:solidFill>
                <a:latin typeface="Times New Roman" panose="02020603050405020304" pitchFamily="18" charset="0"/>
                <a:cs typeface="Times New Roman" panose="02020603050405020304" pitchFamily="18" charset="0"/>
              </a:rPr>
              <a:t>inconvenience of frequently changing and washing his baby grand daughter’s diapers</a:t>
            </a:r>
            <a:r>
              <a:rPr lang="en-IN" sz="1800" dirty="0">
                <a:latin typeface="Times New Roman" panose="02020603050405020304" pitchFamily="18" charset="0"/>
                <a:cs typeface="Times New Roman" panose="02020603050405020304" pitchFamily="18" charset="0"/>
              </a:rPr>
              <a:t>, he decided to try and develop a diaper that was </a:t>
            </a:r>
            <a:r>
              <a:rPr lang="en-IN" sz="1800" dirty="0">
                <a:solidFill>
                  <a:srgbClr val="FF0000"/>
                </a:solidFill>
                <a:latin typeface="Times New Roman" panose="02020603050405020304" pitchFamily="18" charset="0"/>
                <a:cs typeface="Times New Roman" panose="02020603050405020304" pitchFamily="18" charset="0"/>
              </a:rPr>
              <a:t>absorbent, kept babies dry, and was disposable</a:t>
            </a:r>
            <a:r>
              <a:rPr lang="en-IN" sz="1800" dirty="0">
                <a:latin typeface="Times New Roman" panose="02020603050405020304" pitchFamily="18" charset="0"/>
                <a:cs typeface="Times New Roman" panose="02020603050405020304" pitchFamily="18" charset="0"/>
              </a:rPr>
              <a:t>. </a:t>
            </a:r>
          </a:p>
          <a:p>
            <a:r>
              <a:rPr lang="en-IN" sz="1800" dirty="0">
                <a:latin typeface="Times New Roman" panose="02020603050405020304" pitchFamily="18" charset="0"/>
                <a:cs typeface="Times New Roman" panose="02020603050405020304" pitchFamily="18" charset="0"/>
              </a:rPr>
              <a:t>In 1961, after </a:t>
            </a:r>
            <a:r>
              <a:rPr lang="en-IN" sz="2400" b="1" dirty="0">
                <a:solidFill>
                  <a:srgbClr val="FF0000"/>
                </a:solidFill>
                <a:latin typeface="Times New Roman" panose="02020603050405020304" pitchFamily="18" charset="0"/>
                <a:cs typeface="Times New Roman" panose="02020603050405020304" pitchFamily="18" charset="0"/>
              </a:rPr>
              <a:t>six years </a:t>
            </a:r>
            <a:r>
              <a:rPr lang="en-IN" sz="1800" dirty="0">
                <a:solidFill>
                  <a:srgbClr val="FF0000"/>
                </a:solidFill>
                <a:latin typeface="Times New Roman" panose="02020603050405020304" pitchFamily="18" charset="0"/>
                <a:cs typeface="Times New Roman" panose="02020603050405020304" pitchFamily="18" charset="0"/>
              </a:rPr>
              <a:t>of intensive research</a:t>
            </a:r>
            <a:r>
              <a:rPr lang="en-IN" sz="1800" dirty="0">
                <a:latin typeface="Times New Roman" panose="02020603050405020304" pitchFamily="18" charset="0"/>
                <a:cs typeface="Times New Roman" panose="02020603050405020304" pitchFamily="18" charset="0"/>
              </a:rPr>
              <a:t>, Pampers, was introduced in the US market.</a:t>
            </a:r>
          </a:p>
          <a:p>
            <a:endParaRPr lang="en-IN" dirty="0">
              <a:latin typeface="Times New Roman" panose="02020603050405020304" pitchFamily="18" charset="0"/>
              <a:cs typeface="Times New Roman" panose="02020603050405020304" pitchFamily="18" charset="0"/>
            </a:endParaRPr>
          </a:p>
        </p:txBody>
      </p:sp>
      <p:sp>
        <p:nvSpPr>
          <p:cNvPr id="4" name="Rectangle 3"/>
          <p:cNvSpPr/>
          <p:nvPr/>
        </p:nvSpPr>
        <p:spPr>
          <a:xfrm>
            <a:off x="2718486" y="4080643"/>
            <a:ext cx="4386648" cy="461665"/>
          </a:xfrm>
          <a:prstGeom prst="rect">
            <a:avLst/>
          </a:prstGeom>
        </p:spPr>
        <p:txBody>
          <a:bodyPr wrap="square">
            <a:spAutoFit/>
          </a:bodyPr>
          <a:lstStyle/>
          <a:p>
            <a:r>
              <a:rPr lang="en-IN" sz="2400" dirty="0">
                <a:solidFill>
                  <a:srgbClr val="FF0000"/>
                </a:solidFill>
                <a:latin typeface="Times New Roman" panose="02020603050405020304" pitchFamily="18" charset="0"/>
                <a:cs typeface="Times New Roman" panose="02020603050405020304" pitchFamily="18" charset="0"/>
              </a:rPr>
              <a:t>Test marketing- </a:t>
            </a:r>
            <a:r>
              <a:rPr lang="en-IN" sz="2400" dirty="0" err="1">
                <a:latin typeface="Times New Roman" panose="02020603050405020304" pitchFamily="18" charset="0"/>
                <a:cs typeface="Times New Roman" panose="02020603050405020304" pitchFamily="18" charset="0"/>
              </a:rPr>
              <a:t>Fabelle</a:t>
            </a:r>
            <a:r>
              <a:rPr lang="en-IN" sz="2400" dirty="0">
                <a:latin typeface="Times New Roman" panose="02020603050405020304" pitchFamily="18" charset="0"/>
                <a:cs typeface="Times New Roman" panose="02020603050405020304" pitchFamily="18" charset="0"/>
              </a:rPr>
              <a:t>-ITC</a:t>
            </a:r>
          </a:p>
        </p:txBody>
      </p:sp>
    </p:spTree>
    <p:extLst>
      <p:ext uri="{BB962C8B-B14F-4D97-AF65-F5344CB8AC3E}">
        <p14:creationId xmlns:p14="http://schemas.microsoft.com/office/powerpoint/2010/main" val="202524139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idx="1"/>
          </p:nvPr>
        </p:nvSpPr>
        <p:spPr>
          <a:xfrm>
            <a:off x="685800" y="685800"/>
            <a:ext cx="7625663" cy="5201424"/>
          </a:xfrm>
          <a:prstGeom prst="rect">
            <a:avLst/>
          </a:prstGeom>
        </p:spPr>
        <p:txBody>
          <a:bodyPr wrap="square">
            <a:spAutoFit/>
          </a:bodyPr>
          <a:lstStyle/>
          <a:p>
            <a:pPr marL="0" indent="0">
              <a:buNone/>
            </a:pPr>
            <a:r>
              <a:rPr lang="en-IN" sz="2000" b="1" dirty="0" smtClean="0">
                <a:solidFill>
                  <a:srgbClr val="FF0000"/>
                </a:solidFill>
                <a:latin typeface="Times New Roman" panose="02020603050405020304" pitchFamily="18" charset="0"/>
                <a:cs typeface="Times New Roman" panose="02020603050405020304" pitchFamily="18" charset="0"/>
              </a:rPr>
              <a:t>What </a:t>
            </a:r>
            <a:r>
              <a:rPr lang="en-IN" sz="2000" b="1" dirty="0">
                <a:solidFill>
                  <a:srgbClr val="FF0000"/>
                </a:solidFill>
                <a:latin typeface="Times New Roman" panose="02020603050405020304" pitchFamily="18" charset="0"/>
                <a:cs typeface="Times New Roman" panose="02020603050405020304" pitchFamily="18" charset="0"/>
              </a:rPr>
              <a:t>makes a good new product is a </a:t>
            </a:r>
            <a:r>
              <a:rPr lang="en-IN" sz="2400" b="1" dirty="0">
                <a:latin typeface="Times New Roman" panose="02020603050405020304" pitchFamily="18" charset="0"/>
                <a:cs typeface="Times New Roman" panose="02020603050405020304" pitchFamily="18" charset="0"/>
              </a:rPr>
              <a:t>point of difference</a:t>
            </a:r>
          </a:p>
          <a:p>
            <a:pPr marL="0" indent="0">
              <a:buNone/>
            </a:pPr>
            <a:endParaRPr lang="en-IN" sz="2000" b="1" dirty="0">
              <a:latin typeface="Times New Roman" panose="02020603050405020304" pitchFamily="18" charset="0"/>
              <a:cs typeface="Times New Roman" panose="02020603050405020304" pitchFamily="18" charset="0"/>
            </a:endParaRPr>
          </a:p>
          <a:p>
            <a:r>
              <a:rPr lang="en-IN" sz="2000" dirty="0">
                <a:latin typeface="Times New Roman" panose="02020603050405020304" pitchFamily="18" charset="0"/>
                <a:cs typeface="Times New Roman" panose="02020603050405020304" pitchFamily="18" charset="0"/>
              </a:rPr>
              <a:t>A lot of companies are trying to say that </a:t>
            </a:r>
            <a:r>
              <a:rPr lang="en-IN" sz="2000" dirty="0">
                <a:solidFill>
                  <a:srgbClr val="FF0000"/>
                </a:solidFill>
                <a:latin typeface="Times New Roman" panose="02020603050405020304" pitchFamily="18" charset="0"/>
                <a:cs typeface="Times New Roman" panose="02020603050405020304" pitchFamily="18" charset="0"/>
              </a:rPr>
              <a:t>what are the reasons </a:t>
            </a:r>
            <a:r>
              <a:rPr lang="en-IN" sz="2000" dirty="0">
                <a:latin typeface="Times New Roman" panose="02020603050405020304" pitchFamily="18" charset="0"/>
                <a:cs typeface="Times New Roman" panose="02020603050405020304" pitchFamily="18" charset="0"/>
              </a:rPr>
              <a:t>that we have to give the consumer to believe the benefit. Particularly, </a:t>
            </a:r>
            <a:r>
              <a:rPr lang="en-IN" sz="2000" dirty="0">
                <a:solidFill>
                  <a:srgbClr val="FF0000"/>
                </a:solidFill>
                <a:latin typeface="Times New Roman" panose="02020603050405020304" pitchFamily="18" charset="0"/>
                <a:cs typeface="Times New Roman" panose="02020603050405020304" pitchFamily="18" charset="0"/>
              </a:rPr>
              <a:t>with cosmetics, it makes your skin better </a:t>
            </a:r>
            <a:r>
              <a:rPr lang="en-IN" sz="2000" dirty="0">
                <a:latin typeface="Times New Roman" panose="02020603050405020304" pitchFamily="18" charset="0"/>
                <a:cs typeface="Times New Roman" panose="02020603050405020304" pitchFamily="18" charset="0"/>
              </a:rPr>
              <a:t>or whatever, and the reason if you believe the benefits are the ingredients. If the reason is plausible, the benefit becomes credible.</a:t>
            </a:r>
          </a:p>
          <a:p>
            <a:endParaRPr lang="en-IN" sz="2000" dirty="0">
              <a:latin typeface="Times New Roman" panose="02020603050405020304" pitchFamily="18" charset="0"/>
              <a:cs typeface="Times New Roman" panose="02020603050405020304" pitchFamily="18" charset="0"/>
            </a:endParaRPr>
          </a:p>
          <a:p>
            <a:endParaRPr lang="en-IN" sz="2000" dirty="0">
              <a:latin typeface="Times New Roman" panose="02020603050405020304" pitchFamily="18" charset="0"/>
              <a:cs typeface="Times New Roman" panose="02020603050405020304" pitchFamily="18" charset="0"/>
            </a:endParaRPr>
          </a:p>
          <a:p>
            <a:r>
              <a:rPr lang="en-IN" sz="2000" dirty="0">
                <a:latin typeface="Times New Roman" panose="02020603050405020304" pitchFamily="18" charset="0"/>
                <a:cs typeface="Times New Roman" panose="02020603050405020304" pitchFamily="18" charset="0"/>
              </a:rPr>
              <a:t>Major companies like Procter, Unilever and Reckitt are investing a lot on R&amp;D. It seems to be there is less innovation. May be there is a feeling that there is so much technological innovation </a:t>
            </a:r>
            <a:r>
              <a:rPr lang="en-IN" sz="2000" b="1" dirty="0">
                <a:solidFill>
                  <a:srgbClr val="FF0000"/>
                </a:solidFill>
                <a:latin typeface="Times New Roman" panose="02020603050405020304" pitchFamily="18" charset="0"/>
                <a:cs typeface="Times New Roman" panose="02020603050405020304" pitchFamily="18" charset="0"/>
              </a:rPr>
              <a:t>as it is that a slightly better fabric detergent doesn't interest people very much</a:t>
            </a:r>
            <a:r>
              <a:rPr lang="en-IN" sz="2000" dirty="0">
                <a:latin typeface="Times New Roman" panose="02020603050405020304" pitchFamily="18" charset="0"/>
                <a:cs typeface="Times New Roman" panose="02020603050405020304" pitchFamily="18" charset="0"/>
              </a:rPr>
              <a:t>.</a:t>
            </a:r>
            <a:endParaRPr lang="en-US" sz="2000" dirty="0">
              <a:latin typeface="Times New Roman" panose="02020603050405020304" pitchFamily="18" charset="0"/>
              <a:cs typeface="Times New Roman" panose="02020603050405020304" pitchFamily="18" charset="0"/>
            </a:endParaRPr>
          </a:p>
          <a:p>
            <a:endParaRPr lang="en-IN" sz="2000" dirty="0">
              <a:latin typeface="Times New Roman" panose="02020603050405020304" pitchFamily="18" charset="0"/>
              <a:cs typeface="Times New Roman" panose="02020603050405020304" pitchFamily="18" charset="0"/>
            </a:endParaRPr>
          </a:p>
          <a:p>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6426648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7" name="TextShape 1"/>
          <p:cNvSpPr txBox="1"/>
          <p:nvPr/>
        </p:nvSpPr>
        <p:spPr>
          <a:xfrm>
            <a:off x="1780380" y="2426490"/>
            <a:ext cx="6683580" cy="2371410"/>
          </a:xfrm>
          <a:prstGeom prst="rect">
            <a:avLst/>
          </a:prstGeom>
          <a:noFill/>
          <a:ln>
            <a:noFill/>
          </a:ln>
        </p:spPr>
        <p:txBody>
          <a:bodyPr>
            <a:noAutofit/>
          </a:bodyPr>
          <a:lstStyle/>
          <a:p>
            <a:pPr>
              <a:lnSpc>
                <a:spcPct val="100000"/>
              </a:lnSpc>
            </a:pPr>
            <a:r>
              <a:rPr lang="en-US" sz="2700" b="1" spc="-1" dirty="0">
                <a:solidFill>
                  <a:srgbClr val="FF0000"/>
                </a:solidFill>
                <a:latin typeface="Times New Roman" pitchFamily="18" charset="0"/>
                <a:cs typeface="Times New Roman" pitchFamily="18" charset="0"/>
              </a:rPr>
              <a:t>The consumer adoption Process of Innovation</a:t>
            </a:r>
            <a:r>
              <a:rPr sz="1350" dirty="0">
                <a:solidFill>
                  <a:srgbClr val="FF0000"/>
                </a:solidFill>
                <a:latin typeface="Times New Roman" pitchFamily="18" charset="0"/>
                <a:cs typeface="Times New Roman" pitchFamily="18" charset="0"/>
              </a:rPr>
              <a:t/>
            </a:r>
            <a:br>
              <a:rPr sz="1350" dirty="0">
                <a:solidFill>
                  <a:srgbClr val="FF0000"/>
                </a:solidFill>
                <a:latin typeface="Times New Roman" pitchFamily="18" charset="0"/>
                <a:cs typeface="Times New Roman" pitchFamily="18" charset="0"/>
              </a:rPr>
            </a:br>
            <a:r>
              <a:rPr sz="1350" dirty="0">
                <a:solidFill>
                  <a:srgbClr val="FF0000"/>
                </a:solidFill>
                <a:latin typeface="Times New Roman" pitchFamily="18" charset="0"/>
                <a:cs typeface="Times New Roman" pitchFamily="18" charset="0"/>
              </a:rPr>
              <a:t/>
            </a:r>
            <a:br>
              <a:rPr sz="1350" dirty="0">
                <a:solidFill>
                  <a:srgbClr val="FF0000"/>
                </a:solidFill>
                <a:latin typeface="Times New Roman" pitchFamily="18" charset="0"/>
                <a:cs typeface="Times New Roman" pitchFamily="18" charset="0"/>
              </a:rPr>
            </a:br>
            <a:endParaRPr lang="en-US" sz="2700" spc="-1" dirty="0">
              <a:solidFill>
                <a:srgbClr val="FF0000"/>
              </a:solidFill>
              <a:latin typeface="Times New Roman" pitchFamily="18" charset="0"/>
              <a:cs typeface="Times New Roman" pitchFamily="18" charset="0"/>
            </a:endParaRPr>
          </a:p>
        </p:txBody>
      </p:sp>
    </p:spTree>
    <p:extLst>
      <p:ext uri="{BB962C8B-B14F-4D97-AF65-F5344CB8AC3E}">
        <p14:creationId xmlns:p14="http://schemas.microsoft.com/office/powerpoint/2010/main" val="288571599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895600" y="1371600"/>
            <a:ext cx="3657600" cy="3970318"/>
          </a:xfrm>
          <a:prstGeom prst="rect">
            <a:avLst/>
          </a:prstGeom>
          <a:solidFill>
            <a:schemeClr val="bg1">
              <a:lumMod val="85000"/>
            </a:schemeClr>
          </a:solidFill>
        </p:spPr>
        <p:txBody>
          <a:bodyPr wrap="square" rtlCol="0">
            <a:spAutoFit/>
          </a:bodyPr>
          <a:lstStyle/>
          <a:p>
            <a:pPr algn="ctr"/>
            <a:r>
              <a:rPr lang="en-IN" b="1" dirty="0" smtClean="0">
                <a:solidFill>
                  <a:schemeClr val="tx1">
                    <a:lumMod val="50000"/>
                    <a:lumOff val="50000"/>
                  </a:schemeClr>
                </a:solidFill>
              </a:rPr>
              <a:t>Contact Lenses</a:t>
            </a:r>
          </a:p>
          <a:p>
            <a:pPr algn="ctr"/>
            <a:endParaRPr lang="en-IN" b="1" dirty="0">
              <a:solidFill>
                <a:schemeClr val="tx1">
                  <a:lumMod val="50000"/>
                  <a:lumOff val="50000"/>
                </a:schemeClr>
              </a:solidFill>
            </a:endParaRPr>
          </a:p>
          <a:p>
            <a:pPr algn="ctr"/>
            <a:r>
              <a:rPr lang="en-IN" b="1" dirty="0" smtClean="0">
                <a:solidFill>
                  <a:schemeClr val="tx1">
                    <a:lumMod val="50000"/>
                    <a:lumOff val="50000"/>
                  </a:schemeClr>
                </a:solidFill>
              </a:rPr>
              <a:t>Electric Cars</a:t>
            </a:r>
          </a:p>
          <a:p>
            <a:pPr algn="ctr"/>
            <a:endParaRPr lang="en-IN" b="1" dirty="0">
              <a:solidFill>
                <a:schemeClr val="tx1">
                  <a:lumMod val="50000"/>
                  <a:lumOff val="50000"/>
                </a:schemeClr>
              </a:solidFill>
            </a:endParaRPr>
          </a:p>
          <a:p>
            <a:pPr algn="ctr"/>
            <a:r>
              <a:rPr lang="en-IN" b="1" dirty="0" smtClean="0">
                <a:solidFill>
                  <a:schemeClr val="tx1">
                    <a:lumMod val="50000"/>
                    <a:lumOff val="50000"/>
                  </a:schemeClr>
                </a:solidFill>
              </a:rPr>
              <a:t>Weight Loss</a:t>
            </a:r>
          </a:p>
          <a:p>
            <a:pPr algn="ctr"/>
            <a:endParaRPr lang="en-IN" b="1" dirty="0">
              <a:solidFill>
                <a:schemeClr val="tx1">
                  <a:lumMod val="50000"/>
                  <a:lumOff val="50000"/>
                </a:schemeClr>
              </a:solidFill>
            </a:endParaRPr>
          </a:p>
          <a:p>
            <a:pPr algn="ctr"/>
            <a:r>
              <a:rPr lang="en-IN" b="1" dirty="0" smtClean="0">
                <a:solidFill>
                  <a:schemeClr val="tx1">
                    <a:lumMod val="50000"/>
                    <a:lumOff val="50000"/>
                  </a:schemeClr>
                </a:solidFill>
              </a:rPr>
              <a:t>Hair Transplant</a:t>
            </a:r>
          </a:p>
          <a:p>
            <a:pPr algn="ctr"/>
            <a:endParaRPr lang="en-IN" b="1" dirty="0">
              <a:solidFill>
                <a:schemeClr val="tx1">
                  <a:lumMod val="50000"/>
                  <a:lumOff val="50000"/>
                </a:schemeClr>
              </a:solidFill>
            </a:endParaRPr>
          </a:p>
          <a:p>
            <a:pPr algn="ctr"/>
            <a:r>
              <a:rPr lang="en-IN" b="1" dirty="0" smtClean="0">
                <a:solidFill>
                  <a:schemeClr val="tx1">
                    <a:lumMod val="50000"/>
                    <a:lumOff val="50000"/>
                  </a:schemeClr>
                </a:solidFill>
              </a:rPr>
              <a:t>Hair Straighteners</a:t>
            </a:r>
          </a:p>
          <a:p>
            <a:pPr algn="ctr"/>
            <a:endParaRPr lang="en-IN" b="1" dirty="0">
              <a:solidFill>
                <a:schemeClr val="tx1">
                  <a:lumMod val="50000"/>
                  <a:lumOff val="50000"/>
                </a:schemeClr>
              </a:solidFill>
            </a:endParaRPr>
          </a:p>
          <a:p>
            <a:pPr algn="ctr"/>
            <a:r>
              <a:rPr lang="en-IN" b="1" dirty="0" smtClean="0">
                <a:solidFill>
                  <a:schemeClr val="tx1">
                    <a:lumMod val="50000"/>
                    <a:lumOff val="50000"/>
                  </a:schemeClr>
                </a:solidFill>
              </a:rPr>
              <a:t>Online Jewellery</a:t>
            </a:r>
          </a:p>
          <a:p>
            <a:pPr algn="ctr"/>
            <a:endParaRPr lang="en-IN" b="1" dirty="0" smtClean="0">
              <a:solidFill>
                <a:schemeClr val="tx1">
                  <a:lumMod val="50000"/>
                  <a:lumOff val="50000"/>
                </a:schemeClr>
              </a:solidFill>
            </a:endParaRPr>
          </a:p>
          <a:p>
            <a:pPr algn="ctr"/>
            <a:r>
              <a:rPr lang="en-IN" b="1" dirty="0" smtClean="0">
                <a:solidFill>
                  <a:schemeClr val="tx1">
                    <a:lumMod val="50000"/>
                    <a:lumOff val="50000"/>
                  </a:schemeClr>
                </a:solidFill>
              </a:rPr>
              <a:t>Online Education</a:t>
            </a:r>
            <a:endParaRPr lang="en-IN" b="1" dirty="0">
              <a:solidFill>
                <a:schemeClr val="tx1">
                  <a:lumMod val="50000"/>
                  <a:lumOff val="50000"/>
                </a:schemeClr>
              </a:solidFill>
            </a:endParaRPr>
          </a:p>
          <a:p>
            <a:pPr algn="ctr"/>
            <a:endParaRPr lang="en-IN" b="1" dirty="0" smtClean="0">
              <a:solidFill>
                <a:schemeClr val="tx1">
                  <a:lumMod val="50000"/>
                  <a:lumOff val="50000"/>
                </a:schemeClr>
              </a:solidFill>
            </a:endParaRPr>
          </a:p>
        </p:txBody>
      </p:sp>
    </p:spTree>
    <p:extLst>
      <p:ext uri="{BB962C8B-B14F-4D97-AF65-F5344CB8AC3E}">
        <p14:creationId xmlns:p14="http://schemas.microsoft.com/office/powerpoint/2010/main" val="183179847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3" name="Content Placeholder 3"/>
          <p:cNvPicPr/>
          <p:nvPr/>
        </p:nvPicPr>
        <p:blipFill>
          <a:blip r:embed="rId2"/>
          <a:stretch/>
        </p:blipFill>
        <p:spPr>
          <a:xfrm>
            <a:off x="1490670" y="1270080"/>
            <a:ext cx="6139800" cy="4604850"/>
          </a:xfrm>
          <a:prstGeom prst="rect">
            <a:avLst/>
          </a:prstGeom>
          <a:ln>
            <a:noFill/>
          </a:ln>
        </p:spPr>
      </p:pic>
    </p:spTree>
    <p:extLst>
      <p:ext uri="{BB962C8B-B14F-4D97-AF65-F5344CB8AC3E}">
        <p14:creationId xmlns:p14="http://schemas.microsoft.com/office/powerpoint/2010/main" val="907592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6" name="TextShape 1"/>
          <p:cNvSpPr txBox="1"/>
          <p:nvPr/>
        </p:nvSpPr>
        <p:spPr>
          <a:xfrm>
            <a:off x="1944810" y="1325430"/>
            <a:ext cx="6683580" cy="960390"/>
          </a:xfrm>
          <a:prstGeom prst="rect">
            <a:avLst/>
          </a:prstGeom>
          <a:noFill/>
          <a:ln>
            <a:noFill/>
          </a:ln>
        </p:spPr>
        <p:txBody>
          <a:bodyPr>
            <a:noAutofit/>
          </a:bodyPr>
          <a:lstStyle/>
          <a:p>
            <a:pPr>
              <a:lnSpc>
                <a:spcPct val="100000"/>
              </a:lnSpc>
            </a:pPr>
            <a:r>
              <a:rPr lang="en-US" sz="2700" b="1" spc="-1">
                <a:solidFill>
                  <a:srgbClr val="178DBB"/>
                </a:solidFill>
                <a:latin typeface="Century Gothic"/>
              </a:rPr>
              <a:t>The consumer adoption Process of Innovation</a:t>
            </a:r>
            <a:endParaRPr lang="en-US" sz="2700" spc="-1">
              <a:solidFill>
                <a:srgbClr val="000000"/>
              </a:solidFill>
              <a:latin typeface="Century Gothic"/>
            </a:endParaRPr>
          </a:p>
        </p:txBody>
      </p:sp>
      <p:sp>
        <p:nvSpPr>
          <p:cNvPr id="217" name="TextShape 2"/>
          <p:cNvSpPr txBox="1"/>
          <p:nvPr/>
        </p:nvSpPr>
        <p:spPr>
          <a:xfrm>
            <a:off x="1941840" y="2457540"/>
            <a:ext cx="6686280" cy="2832840"/>
          </a:xfrm>
          <a:prstGeom prst="rect">
            <a:avLst/>
          </a:prstGeom>
          <a:noFill/>
          <a:ln>
            <a:noFill/>
          </a:ln>
        </p:spPr>
        <p:txBody>
          <a:bodyPr>
            <a:normAutofit fontScale="87000" lnSpcReduction="20000"/>
          </a:bodyPr>
          <a:lstStyle/>
          <a:p>
            <a:pPr marL="257310" indent="-257040">
              <a:spcBef>
                <a:spcPts val="751"/>
              </a:spcBef>
              <a:buClr>
                <a:srgbClr val="353535"/>
              </a:buClr>
              <a:buFont typeface="Wingdings 3" charset="2"/>
              <a:buChar char=""/>
            </a:pPr>
            <a:r>
              <a:rPr lang="en-US" sz="1350" spc="-1" dirty="0">
                <a:solidFill>
                  <a:srgbClr val="404040"/>
                </a:solidFill>
                <a:latin typeface="Times New Roman" pitchFamily="18" charset="0"/>
                <a:cs typeface="Times New Roman" pitchFamily="18" charset="0"/>
              </a:rPr>
              <a:t>The consumer adoption process is the </a:t>
            </a:r>
            <a:r>
              <a:rPr lang="en-US" sz="1350" spc="-1" dirty="0">
                <a:solidFill>
                  <a:srgbClr val="FF0000"/>
                </a:solidFill>
                <a:latin typeface="Times New Roman" pitchFamily="18" charset="0"/>
                <a:cs typeface="Times New Roman" pitchFamily="18" charset="0"/>
              </a:rPr>
              <a:t>mental steps through which an individual passes </a:t>
            </a:r>
            <a:r>
              <a:rPr lang="en-US" sz="1350" spc="-1" dirty="0">
                <a:solidFill>
                  <a:srgbClr val="404040"/>
                </a:solidFill>
                <a:latin typeface="Times New Roman" pitchFamily="18" charset="0"/>
                <a:cs typeface="Times New Roman" pitchFamily="18" charset="0"/>
              </a:rPr>
              <a:t>from first hearing about an innovation to final adoption.</a:t>
            </a:r>
          </a:p>
          <a:p>
            <a:pPr marL="257310" indent="-257040">
              <a:spcBef>
                <a:spcPts val="751"/>
              </a:spcBef>
              <a:buClr>
                <a:srgbClr val="353535"/>
              </a:buClr>
              <a:buFont typeface="Wingdings 3" charset="2"/>
              <a:buChar char=""/>
            </a:pPr>
            <a:r>
              <a:rPr lang="en-US" sz="1350" b="1" spc="-1" dirty="0">
                <a:solidFill>
                  <a:srgbClr val="404040"/>
                </a:solidFill>
                <a:latin typeface="Times New Roman" pitchFamily="18" charset="0"/>
                <a:cs typeface="Times New Roman" pitchFamily="18" charset="0"/>
              </a:rPr>
              <a:t>Adopters of new products move through </a:t>
            </a:r>
            <a:r>
              <a:rPr lang="en-US" sz="1350" b="1" spc="-1" dirty="0">
                <a:solidFill>
                  <a:srgbClr val="FF0000"/>
                </a:solidFill>
                <a:latin typeface="Times New Roman" pitchFamily="18" charset="0"/>
                <a:cs typeface="Times New Roman" pitchFamily="18" charset="0"/>
              </a:rPr>
              <a:t>five stages</a:t>
            </a:r>
            <a:endParaRPr lang="en-US" sz="1350" spc="-1" dirty="0">
              <a:solidFill>
                <a:srgbClr val="404040"/>
              </a:solidFill>
              <a:latin typeface="Times New Roman" pitchFamily="18" charset="0"/>
              <a:cs typeface="Times New Roman" pitchFamily="18" charset="0"/>
            </a:endParaRPr>
          </a:p>
          <a:p>
            <a:pPr marL="257310" indent="-257040">
              <a:spcBef>
                <a:spcPts val="751"/>
              </a:spcBef>
              <a:buClr>
                <a:srgbClr val="353535"/>
              </a:buClr>
              <a:buFont typeface="Wingdings 3" charset="2"/>
              <a:buChar char=""/>
            </a:pPr>
            <a:r>
              <a:rPr lang="en-US" sz="1350" b="1" spc="-1" dirty="0">
                <a:solidFill>
                  <a:srgbClr val="FF0000"/>
                </a:solidFill>
                <a:latin typeface="Times New Roman" pitchFamily="18" charset="0"/>
                <a:cs typeface="Times New Roman" pitchFamily="18" charset="0"/>
              </a:rPr>
              <a:t>1 Awareness- </a:t>
            </a:r>
            <a:r>
              <a:rPr lang="en-US" sz="1350" b="1" spc="-1" dirty="0">
                <a:solidFill>
                  <a:srgbClr val="404040"/>
                </a:solidFill>
                <a:latin typeface="Times New Roman" pitchFamily="18" charset="0"/>
                <a:cs typeface="Times New Roman" pitchFamily="18" charset="0"/>
              </a:rPr>
              <a:t>Becomes aware, lacks information</a:t>
            </a:r>
            <a:endParaRPr lang="en-US" sz="1350" spc="-1" dirty="0">
              <a:solidFill>
                <a:srgbClr val="404040"/>
              </a:solidFill>
              <a:latin typeface="Times New Roman" pitchFamily="18" charset="0"/>
              <a:cs typeface="Times New Roman" pitchFamily="18" charset="0"/>
            </a:endParaRPr>
          </a:p>
          <a:p>
            <a:pPr marL="257310" indent="-257040">
              <a:spcBef>
                <a:spcPts val="751"/>
              </a:spcBef>
              <a:buClr>
                <a:srgbClr val="353535"/>
              </a:buClr>
              <a:buFont typeface="Wingdings 3" charset="2"/>
              <a:buChar char=""/>
            </a:pPr>
            <a:r>
              <a:rPr lang="en-US" sz="1350" b="1" spc="-1" dirty="0">
                <a:solidFill>
                  <a:srgbClr val="FF0000"/>
                </a:solidFill>
                <a:latin typeface="Times New Roman" pitchFamily="18" charset="0"/>
                <a:cs typeface="Times New Roman" pitchFamily="18" charset="0"/>
              </a:rPr>
              <a:t>2 Interest- </a:t>
            </a:r>
            <a:r>
              <a:rPr lang="en-US" sz="1350" b="1" spc="-1" dirty="0">
                <a:solidFill>
                  <a:srgbClr val="404040"/>
                </a:solidFill>
                <a:latin typeface="Times New Roman" pitchFamily="18" charset="0"/>
                <a:cs typeface="Times New Roman" pitchFamily="18" charset="0"/>
              </a:rPr>
              <a:t>Stimulated to seek information about innovation</a:t>
            </a:r>
            <a:endParaRPr lang="en-US" sz="1350" spc="-1" dirty="0">
              <a:solidFill>
                <a:srgbClr val="404040"/>
              </a:solidFill>
              <a:latin typeface="Times New Roman" pitchFamily="18" charset="0"/>
              <a:cs typeface="Times New Roman" pitchFamily="18" charset="0"/>
            </a:endParaRPr>
          </a:p>
          <a:p>
            <a:pPr marL="257310" indent="-257040">
              <a:spcBef>
                <a:spcPts val="751"/>
              </a:spcBef>
              <a:buClr>
                <a:srgbClr val="353535"/>
              </a:buClr>
              <a:buFont typeface="Wingdings 3" charset="2"/>
              <a:buChar char=""/>
            </a:pPr>
            <a:r>
              <a:rPr lang="en-US" sz="1350" b="1" spc="-1" dirty="0">
                <a:solidFill>
                  <a:srgbClr val="FF0000"/>
                </a:solidFill>
                <a:latin typeface="Times New Roman" pitchFamily="18" charset="0"/>
                <a:cs typeface="Times New Roman" pitchFamily="18" charset="0"/>
              </a:rPr>
              <a:t>3 Evaluation- </a:t>
            </a:r>
            <a:r>
              <a:rPr lang="en-US" sz="1350" b="1" spc="-1" dirty="0">
                <a:solidFill>
                  <a:srgbClr val="404040"/>
                </a:solidFill>
                <a:latin typeface="Times New Roman" pitchFamily="18" charset="0"/>
                <a:cs typeface="Times New Roman" pitchFamily="18" charset="0"/>
              </a:rPr>
              <a:t>Considers whether to try innovation</a:t>
            </a:r>
            <a:endParaRPr lang="en-US" sz="1350" spc="-1" dirty="0">
              <a:solidFill>
                <a:srgbClr val="404040"/>
              </a:solidFill>
              <a:latin typeface="Times New Roman" pitchFamily="18" charset="0"/>
              <a:cs typeface="Times New Roman" pitchFamily="18" charset="0"/>
            </a:endParaRPr>
          </a:p>
          <a:p>
            <a:pPr marL="257310" indent="-257040">
              <a:spcBef>
                <a:spcPts val="751"/>
              </a:spcBef>
              <a:buClr>
                <a:srgbClr val="353535"/>
              </a:buClr>
              <a:buFont typeface="Wingdings 3" charset="2"/>
              <a:buChar char=""/>
            </a:pPr>
            <a:r>
              <a:rPr lang="en-US" sz="1350" b="1" spc="-1" dirty="0">
                <a:solidFill>
                  <a:srgbClr val="FF0000"/>
                </a:solidFill>
                <a:latin typeface="Times New Roman" pitchFamily="18" charset="0"/>
                <a:cs typeface="Times New Roman" pitchFamily="18" charset="0"/>
              </a:rPr>
              <a:t>4 Trial </a:t>
            </a:r>
            <a:r>
              <a:rPr lang="en-US" sz="1350" b="1" spc="-1" dirty="0">
                <a:solidFill>
                  <a:srgbClr val="404040"/>
                </a:solidFill>
                <a:latin typeface="Times New Roman" pitchFamily="18" charset="0"/>
                <a:cs typeface="Times New Roman" pitchFamily="18" charset="0"/>
              </a:rPr>
              <a:t>– Tries it</a:t>
            </a:r>
            <a:endParaRPr lang="en-US" sz="1350" spc="-1" dirty="0">
              <a:solidFill>
                <a:srgbClr val="404040"/>
              </a:solidFill>
              <a:latin typeface="Times New Roman" pitchFamily="18" charset="0"/>
              <a:cs typeface="Times New Roman" pitchFamily="18" charset="0"/>
            </a:endParaRPr>
          </a:p>
          <a:p>
            <a:pPr marL="257310" indent="-257040">
              <a:spcBef>
                <a:spcPts val="751"/>
              </a:spcBef>
              <a:buClr>
                <a:srgbClr val="353535"/>
              </a:buClr>
              <a:buFont typeface="Wingdings 3" charset="2"/>
              <a:buChar char=""/>
            </a:pPr>
            <a:r>
              <a:rPr lang="en-US" sz="1350" b="1" spc="-1" dirty="0">
                <a:solidFill>
                  <a:srgbClr val="FF0000"/>
                </a:solidFill>
                <a:latin typeface="Times New Roman" pitchFamily="18" charset="0"/>
                <a:cs typeface="Times New Roman" pitchFamily="18" charset="0"/>
              </a:rPr>
              <a:t>5 Adoption</a:t>
            </a:r>
            <a:r>
              <a:rPr lang="en-US" sz="1350" b="1" spc="-1" dirty="0">
                <a:solidFill>
                  <a:srgbClr val="404040"/>
                </a:solidFill>
                <a:latin typeface="Times New Roman" pitchFamily="18" charset="0"/>
                <a:cs typeface="Times New Roman" pitchFamily="18" charset="0"/>
              </a:rPr>
              <a:t> – Decides regular use</a:t>
            </a:r>
            <a:endParaRPr lang="en-US" sz="1350" spc="-1" dirty="0">
              <a:solidFill>
                <a:srgbClr val="404040"/>
              </a:solidFill>
              <a:latin typeface="Times New Roman" pitchFamily="18" charset="0"/>
              <a:cs typeface="Times New Roman" pitchFamily="18" charset="0"/>
            </a:endParaRPr>
          </a:p>
          <a:p>
            <a:pPr marL="257310" indent="-257040">
              <a:spcBef>
                <a:spcPts val="751"/>
              </a:spcBef>
              <a:buClr>
                <a:srgbClr val="353535"/>
              </a:buClr>
              <a:buFont typeface="Wingdings 3" charset="2"/>
              <a:buChar char=""/>
            </a:pPr>
            <a:r>
              <a:rPr lang="en-US" sz="1350" spc="-1" dirty="0">
                <a:solidFill>
                  <a:srgbClr val="404040"/>
                </a:solidFill>
                <a:latin typeface="Times New Roman" pitchFamily="18" charset="0"/>
                <a:cs typeface="Times New Roman" pitchFamily="18" charset="0"/>
              </a:rPr>
              <a:t>The new product marketer should facilitate movement through these stages</a:t>
            </a:r>
          </a:p>
          <a:p>
            <a:pPr marL="257310" indent="-257040">
              <a:spcBef>
                <a:spcPts val="751"/>
              </a:spcBef>
              <a:buClr>
                <a:srgbClr val="353535"/>
              </a:buClr>
              <a:buFont typeface="Wingdings 3" charset="2"/>
              <a:buChar char=""/>
            </a:pPr>
            <a:r>
              <a:rPr lang="en-US" sz="1350" spc="-1" dirty="0">
                <a:solidFill>
                  <a:srgbClr val="404040"/>
                </a:solidFill>
                <a:latin typeface="Times New Roman" pitchFamily="18" charset="0"/>
                <a:cs typeface="Times New Roman" pitchFamily="18" charset="0"/>
              </a:rPr>
              <a:t>Readiness to try new products: Persons level of innovativeness is the degree to which an individual is relatively earlier in adopting new ideas than the other members of his social system. In each product area there are pioneers and early adopters some people are the first to adopt new things. Some doctors are first to prescribe new medicines.</a:t>
            </a:r>
          </a:p>
          <a:p>
            <a:pPr>
              <a:spcBef>
                <a:spcPts val="751"/>
              </a:spcBef>
            </a:pPr>
            <a:endParaRPr lang="en-US" sz="1350" spc="-1" dirty="0">
              <a:solidFill>
                <a:srgbClr val="404040"/>
              </a:solidFill>
              <a:latin typeface="Times New Roman" pitchFamily="18" charset="0"/>
              <a:cs typeface="Times New Roman" pitchFamily="18" charset="0"/>
            </a:endParaRPr>
          </a:p>
          <a:p>
            <a:pPr>
              <a:spcBef>
                <a:spcPts val="751"/>
              </a:spcBef>
            </a:pPr>
            <a:endParaRPr lang="en-US" sz="1350" spc="-1" dirty="0">
              <a:solidFill>
                <a:srgbClr val="404040"/>
              </a:solidFill>
              <a:latin typeface="Times New Roman" pitchFamily="18" charset="0"/>
              <a:cs typeface="Times New Roman" pitchFamily="18" charset="0"/>
            </a:endParaRPr>
          </a:p>
        </p:txBody>
      </p:sp>
    </p:spTree>
    <p:extLst>
      <p:ext uri="{BB962C8B-B14F-4D97-AF65-F5344CB8AC3E}">
        <p14:creationId xmlns:p14="http://schemas.microsoft.com/office/powerpoint/2010/main" val="217047021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8" name="TextShape 1"/>
          <p:cNvSpPr txBox="1"/>
          <p:nvPr/>
        </p:nvSpPr>
        <p:spPr>
          <a:xfrm>
            <a:off x="1944810" y="1325430"/>
            <a:ext cx="6683580" cy="960390"/>
          </a:xfrm>
          <a:prstGeom prst="rect">
            <a:avLst/>
          </a:prstGeom>
          <a:noFill/>
          <a:ln>
            <a:noFill/>
          </a:ln>
        </p:spPr>
        <p:txBody>
          <a:bodyPr>
            <a:noAutofit/>
          </a:bodyPr>
          <a:lstStyle/>
          <a:p>
            <a:pPr>
              <a:lnSpc>
                <a:spcPct val="100000"/>
              </a:lnSpc>
            </a:pPr>
            <a:r>
              <a:rPr lang="en-US" sz="2700" b="1" spc="-1">
                <a:solidFill>
                  <a:srgbClr val="178DBB"/>
                </a:solidFill>
                <a:latin typeface="Times New Roman" pitchFamily="18" charset="0"/>
                <a:cs typeface="Times New Roman" pitchFamily="18" charset="0"/>
              </a:rPr>
              <a:t>The five adopters group</a:t>
            </a:r>
            <a:endParaRPr lang="en-US" sz="2700" spc="-1">
              <a:solidFill>
                <a:srgbClr val="000000"/>
              </a:solidFill>
              <a:latin typeface="Times New Roman" pitchFamily="18" charset="0"/>
              <a:cs typeface="Times New Roman" pitchFamily="18" charset="0"/>
            </a:endParaRPr>
          </a:p>
        </p:txBody>
      </p:sp>
      <p:sp>
        <p:nvSpPr>
          <p:cNvPr id="219" name="TextShape 2"/>
          <p:cNvSpPr txBox="1"/>
          <p:nvPr/>
        </p:nvSpPr>
        <p:spPr>
          <a:xfrm>
            <a:off x="1941840" y="2457540"/>
            <a:ext cx="6686280" cy="2832840"/>
          </a:xfrm>
          <a:prstGeom prst="rect">
            <a:avLst/>
          </a:prstGeom>
          <a:noFill/>
          <a:ln>
            <a:noFill/>
          </a:ln>
        </p:spPr>
        <p:txBody>
          <a:bodyPr>
            <a:normAutofit/>
          </a:bodyPr>
          <a:lstStyle/>
          <a:p>
            <a:pPr marL="257310" indent="-257040">
              <a:spcBef>
                <a:spcPts val="751"/>
              </a:spcBef>
              <a:buClr>
                <a:srgbClr val="353535"/>
              </a:buClr>
              <a:buFont typeface="Wingdings 3" charset="2"/>
              <a:buChar char=""/>
            </a:pPr>
            <a:r>
              <a:rPr lang="en-US" sz="1350" b="1" spc="-1" dirty="0">
                <a:solidFill>
                  <a:srgbClr val="404040"/>
                </a:solidFill>
                <a:latin typeface="Times New Roman" pitchFamily="18" charset="0"/>
                <a:cs typeface="Times New Roman" pitchFamily="18" charset="0"/>
              </a:rPr>
              <a:t>1</a:t>
            </a:r>
            <a:r>
              <a:rPr lang="en-US" sz="1350" b="1" spc="-1" dirty="0">
                <a:solidFill>
                  <a:srgbClr val="FF0000"/>
                </a:solidFill>
                <a:latin typeface="Times New Roman" pitchFamily="18" charset="0"/>
                <a:cs typeface="Times New Roman" pitchFamily="18" charset="0"/>
              </a:rPr>
              <a:t> Innovators- </a:t>
            </a:r>
            <a:r>
              <a:rPr lang="en-US" sz="1350" b="1" spc="-1" dirty="0">
                <a:solidFill>
                  <a:srgbClr val="404040"/>
                </a:solidFill>
                <a:latin typeface="Times New Roman" pitchFamily="18" charset="0"/>
                <a:cs typeface="Times New Roman" pitchFamily="18" charset="0"/>
              </a:rPr>
              <a:t>Are technology enthusiasts, Venturesome</a:t>
            </a:r>
            <a:endParaRPr lang="en-US" sz="1350" spc="-1" dirty="0">
              <a:solidFill>
                <a:srgbClr val="404040"/>
              </a:solidFill>
              <a:latin typeface="Times New Roman" pitchFamily="18" charset="0"/>
              <a:cs typeface="Times New Roman" pitchFamily="18" charset="0"/>
            </a:endParaRPr>
          </a:p>
          <a:p>
            <a:pPr marL="257310" indent="-257040">
              <a:spcBef>
                <a:spcPts val="751"/>
              </a:spcBef>
              <a:buClr>
                <a:srgbClr val="353535"/>
              </a:buClr>
              <a:buFont typeface="Wingdings 3" charset="2"/>
              <a:buChar char=""/>
            </a:pPr>
            <a:r>
              <a:rPr lang="en-US" sz="1350" b="1" spc="-1" dirty="0">
                <a:solidFill>
                  <a:srgbClr val="404040"/>
                </a:solidFill>
                <a:latin typeface="Times New Roman" pitchFamily="18" charset="0"/>
                <a:cs typeface="Times New Roman" pitchFamily="18" charset="0"/>
              </a:rPr>
              <a:t>2 </a:t>
            </a:r>
            <a:r>
              <a:rPr lang="en-US" sz="1350" b="1" spc="-1" dirty="0">
                <a:solidFill>
                  <a:srgbClr val="FF0000"/>
                </a:solidFill>
                <a:latin typeface="Times New Roman" pitchFamily="18" charset="0"/>
                <a:cs typeface="Times New Roman" pitchFamily="18" charset="0"/>
              </a:rPr>
              <a:t>Early Adopters- </a:t>
            </a:r>
            <a:r>
              <a:rPr lang="en-US" sz="1350" b="1" spc="-1" dirty="0">
                <a:solidFill>
                  <a:srgbClr val="404040"/>
                </a:solidFill>
                <a:latin typeface="Times New Roman" pitchFamily="18" charset="0"/>
                <a:cs typeface="Times New Roman" pitchFamily="18" charset="0"/>
              </a:rPr>
              <a:t>Are opinion leaders, who carefully search</a:t>
            </a:r>
            <a:endParaRPr lang="en-US" sz="1350" spc="-1" dirty="0">
              <a:solidFill>
                <a:srgbClr val="404040"/>
              </a:solidFill>
              <a:latin typeface="Times New Roman" pitchFamily="18" charset="0"/>
              <a:cs typeface="Times New Roman" pitchFamily="18" charset="0"/>
            </a:endParaRPr>
          </a:p>
          <a:p>
            <a:pPr marL="257310" indent="-257040">
              <a:spcBef>
                <a:spcPts val="751"/>
              </a:spcBef>
              <a:buClr>
                <a:srgbClr val="353535"/>
              </a:buClr>
              <a:buFont typeface="Wingdings 3" charset="2"/>
              <a:buChar char=""/>
            </a:pPr>
            <a:r>
              <a:rPr lang="en-US" sz="1350" b="1" spc="-1" dirty="0">
                <a:solidFill>
                  <a:srgbClr val="404040"/>
                </a:solidFill>
                <a:latin typeface="Times New Roman" pitchFamily="18" charset="0"/>
                <a:cs typeface="Times New Roman" pitchFamily="18" charset="0"/>
              </a:rPr>
              <a:t>3 </a:t>
            </a:r>
            <a:r>
              <a:rPr lang="en-US" sz="1350" b="1" spc="-1" dirty="0">
                <a:solidFill>
                  <a:srgbClr val="FF0000"/>
                </a:solidFill>
                <a:latin typeface="Times New Roman" pitchFamily="18" charset="0"/>
                <a:cs typeface="Times New Roman" pitchFamily="18" charset="0"/>
              </a:rPr>
              <a:t>Early Majority- </a:t>
            </a:r>
            <a:r>
              <a:rPr lang="en-US" sz="1350" b="1" spc="-1" dirty="0">
                <a:solidFill>
                  <a:srgbClr val="404040"/>
                </a:solidFill>
                <a:latin typeface="Times New Roman" pitchFamily="18" charset="0"/>
                <a:cs typeface="Times New Roman" pitchFamily="18" charset="0"/>
              </a:rPr>
              <a:t>Adopts when benefits are proven, Mainstream market</a:t>
            </a:r>
            <a:endParaRPr lang="en-US" sz="1350" spc="-1" dirty="0">
              <a:solidFill>
                <a:srgbClr val="404040"/>
              </a:solidFill>
              <a:latin typeface="Times New Roman" pitchFamily="18" charset="0"/>
              <a:cs typeface="Times New Roman" pitchFamily="18" charset="0"/>
            </a:endParaRPr>
          </a:p>
          <a:p>
            <a:pPr marL="257310" indent="-257040">
              <a:spcBef>
                <a:spcPts val="751"/>
              </a:spcBef>
              <a:buClr>
                <a:srgbClr val="353535"/>
              </a:buClr>
              <a:buFont typeface="Wingdings 3" charset="2"/>
              <a:buChar char=""/>
            </a:pPr>
            <a:r>
              <a:rPr lang="en-US" sz="1350" b="1" spc="-1" dirty="0">
                <a:solidFill>
                  <a:srgbClr val="404040"/>
                </a:solidFill>
                <a:latin typeface="Times New Roman" pitchFamily="18" charset="0"/>
                <a:cs typeface="Times New Roman" pitchFamily="18" charset="0"/>
              </a:rPr>
              <a:t>4 </a:t>
            </a:r>
            <a:r>
              <a:rPr lang="en-US" sz="1350" b="1" spc="-1" dirty="0">
                <a:solidFill>
                  <a:srgbClr val="FF0000"/>
                </a:solidFill>
                <a:latin typeface="Times New Roman" pitchFamily="18" charset="0"/>
                <a:cs typeface="Times New Roman" pitchFamily="18" charset="0"/>
              </a:rPr>
              <a:t>Late Majority- </a:t>
            </a:r>
            <a:r>
              <a:rPr lang="en-US" sz="1350" b="1" spc="-1" dirty="0">
                <a:solidFill>
                  <a:srgbClr val="404040"/>
                </a:solidFill>
                <a:latin typeface="Times New Roman" pitchFamily="18" charset="0"/>
                <a:cs typeface="Times New Roman" pitchFamily="18" charset="0"/>
              </a:rPr>
              <a:t>Are skeptical conservatives, who are risk averse, technology shy, and price sensitive</a:t>
            </a:r>
            <a:endParaRPr lang="en-US" sz="1350" spc="-1" dirty="0">
              <a:solidFill>
                <a:srgbClr val="404040"/>
              </a:solidFill>
              <a:latin typeface="Times New Roman" pitchFamily="18" charset="0"/>
              <a:cs typeface="Times New Roman" pitchFamily="18" charset="0"/>
            </a:endParaRPr>
          </a:p>
          <a:p>
            <a:pPr marL="257310" indent="-257040">
              <a:spcBef>
                <a:spcPts val="751"/>
              </a:spcBef>
              <a:buClr>
                <a:srgbClr val="353535"/>
              </a:buClr>
              <a:buFont typeface="Wingdings 3" charset="2"/>
              <a:buChar char=""/>
            </a:pPr>
            <a:r>
              <a:rPr lang="en-US" sz="1350" b="1" spc="-1" dirty="0">
                <a:solidFill>
                  <a:srgbClr val="404040"/>
                </a:solidFill>
                <a:latin typeface="Times New Roman" pitchFamily="18" charset="0"/>
                <a:cs typeface="Times New Roman" pitchFamily="18" charset="0"/>
              </a:rPr>
              <a:t>5 </a:t>
            </a:r>
            <a:r>
              <a:rPr lang="en-US" sz="1350" b="1" spc="-1" dirty="0">
                <a:solidFill>
                  <a:srgbClr val="FF0000"/>
                </a:solidFill>
                <a:latin typeface="Times New Roman" pitchFamily="18" charset="0"/>
                <a:cs typeface="Times New Roman" pitchFamily="18" charset="0"/>
              </a:rPr>
              <a:t>Laggards</a:t>
            </a:r>
            <a:r>
              <a:rPr lang="en-US" sz="1350" b="1" spc="-1" dirty="0">
                <a:solidFill>
                  <a:srgbClr val="404040"/>
                </a:solidFill>
                <a:latin typeface="Times New Roman" pitchFamily="18" charset="0"/>
                <a:cs typeface="Times New Roman" pitchFamily="18" charset="0"/>
              </a:rPr>
              <a:t>- are tradition bound and resist the innovation until they find that the status quo is no longer defensible.</a:t>
            </a:r>
            <a:endParaRPr lang="en-US" sz="1350" spc="-1" dirty="0">
              <a:solidFill>
                <a:srgbClr val="404040"/>
              </a:solidFill>
              <a:latin typeface="Times New Roman" pitchFamily="18" charset="0"/>
              <a:cs typeface="Times New Roman" pitchFamily="18" charset="0"/>
            </a:endParaRPr>
          </a:p>
          <a:p>
            <a:pPr>
              <a:spcBef>
                <a:spcPts val="751"/>
              </a:spcBef>
            </a:pPr>
            <a:endParaRPr lang="en-US" sz="1350" spc="-1" dirty="0">
              <a:solidFill>
                <a:srgbClr val="404040"/>
              </a:solidFill>
              <a:latin typeface="Times New Roman" pitchFamily="18" charset="0"/>
              <a:cs typeface="Times New Roman" pitchFamily="18" charset="0"/>
            </a:endParaRPr>
          </a:p>
        </p:txBody>
      </p:sp>
    </p:spTree>
    <p:extLst>
      <p:ext uri="{BB962C8B-B14F-4D97-AF65-F5344CB8AC3E}">
        <p14:creationId xmlns:p14="http://schemas.microsoft.com/office/powerpoint/2010/main" val="402083746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4" name="TextShape 1"/>
          <p:cNvSpPr txBox="1"/>
          <p:nvPr/>
        </p:nvSpPr>
        <p:spPr>
          <a:xfrm>
            <a:off x="1600200" y="762000"/>
            <a:ext cx="6683580" cy="960390"/>
          </a:xfrm>
          <a:prstGeom prst="rect">
            <a:avLst/>
          </a:prstGeom>
          <a:noFill/>
          <a:ln>
            <a:noFill/>
          </a:ln>
        </p:spPr>
        <p:txBody>
          <a:bodyPr>
            <a:noAutofit/>
          </a:bodyPr>
          <a:lstStyle/>
          <a:p>
            <a:pPr>
              <a:lnSpc>
                <a:spcPct val="100000"/>
              </a:lnSpc>
            </a:pPr>
            <a:r>
              <a:rPr lang="en-US" sz="2700" b="1" spc="-1" dirty="0">
                <a:solidFill>
                  <a:srgbClr val="178DBB"/>
                </a:solidFill>
                <a:latin typeface="Times New Roman" pitchFamily="18" charset="0"/>
                <a:cs typeface="Times New Roman" pitchFamily="18" charset="0"/>
              </a:rPr>
              <a:t>Adoption –Innovation diffusion</a:t>
            </a:r>
            <a:endParaRPr lang="en-US" sz="2700" spc="-1" dirty="0">
              <a:solidFill>
                <a:srgbClr val="000000"/>
              </a:solidFill>
              <a:latin typeface="Times New Roman" pitchFamily="18" charset="0"/>
              <a:cs typeface="Times New Roman" pitchFamily="18" charset="0"/>
            </a:endParaRPr>
          </a:p>
        </p:txBody>
      </p:sp>
      <p:sp>
        <p:nvSpPr>
          <p:cNvPr id="215" name="TextShape 2"/>
          <p:cNvSpPr txBox="1"/>
          <p:nvPr/>
        </p:nvSpPr>
        <p:spPr>
          <a:xfrm>
            <a:off x="1371600" y="1729214"/>
            <a:ext cx="6686280" cy="2832840"/>
          </a:xfrm>
          <a:prstGeom prst="rect">
            <a:avLst/>
          </a:prstGeom>
          <a:noFill/>
          <a:ln>
            <a:noFill/>
          </a:ln>
        </p:spPr>
        <p:txBody>
          <a:bodyPr>
            <a:noAutofit/>
          </a:bodyPr>
          <a:lstStyle/>
          <a:p>
            <a:pPr marL="257310" indent="-257040">
              <a:spcBef>
                <a:spcPts val="751"/>
              </a:spcBef>
              <a:buClr>
                <a:srgbClr val="353535"/>
              </a:buClr>
              <a:buFont typeface="Wingdings 3" charset="2"/>
              <a:buChar char=""/>
            </a:pPr>
            <a:r>
              <a:rPr lang="en-US" sz="1350" b="1" spc="-1" dirty="0">
                <a:solidFill>
                  <a:srgbClr val="404040"/>
                </a:solidFill>
                <a:latin typeface="Times New Roman" pitchFamily="18" charset="0"/>
                <a:cs typeface="Times New Roman" pitchFamily="18" charset="0"/>
              </a:rPr>
              <a:t>Adoption is an individuals decision to become a regular user of a product.</a:t>
            </a:r>
            <a:endParaRPr lang="en-US" sz="1350" spc="-1" dirty="0">
              <a:solidFill>
                <a:srgbClr val="404040"/>
              </a:solidFill>
              <a:latin typeface="Times New Roman" pitchFamily="18" charset="0"/>
              <a:cs typeface="Times New Roman" pitchFamily="18" charset="0"/>
            </a:endParaRPr>
          </a:p>
          <a:p>
            <a:pPr marL="257310" indent="-257040">
              <a:spcBef>
                <a:spcPts val="751"/>
              </a:spcBef>
              <a:buClr>
                <a:srgbClr val="353535"/>
              </a:buClr>
              <a:buFont typeface="Wingdings 3" charset="2"/>
              <a:buChar char=""/>
            </a:pPr>
            <a:r>
              <a:rPr lang="en-US" sz="1350" spc="-1" dirty="0">
                <a:solidFill>
                  <a:srgbClr val="404040"/>
                </a:solidFill>
                <a:latin typeface="Times New Roman" pitchFamily="18" charset="0"/>
                <a:cs typeface="Times New Roman" pitchFamily="18" charset="0"/>
              </a:rPr>
              <a:t>Years ago, new product marketers used a </a:t>
            </a:r>
            <a:r>
              <a:rPr lang="en-US" sz="1350" spc="-1" dirty="0">
                <a:solidFill>
                  <a:srgbClr val="FF0000"/>
                </a:solidFill>
                <a:latin typeface="Times New Roman" pitchFamily="18" charset="0"/>
                <a:cs typeface="Times New Roman" pitchFamily="18" charset="0"/>
              </a:rPr>
              <a:t>mass- market </a:t>
            </a:r>
            <a:r>
              <a:rPr lang="en-US" sz="1350" spc="-1" dirty="0">
                <a:solidFill>
                  <a:srgbClr val="404040"/>
                </a:solidFill>
                <a:latin typeface="Times New Roman" pitchFamily="18" charset="0"/>
                <a:cs typeface="Times New Roman" pitchFamily="18" charset="0"/>
              </a:rPr>
              <a:t>approach to launch products, which had two main drawbacks, It called for heavy </a:t>
            </a:r>
            <a:r>
              <a:rPr lang="en-US" sz="1350" spc="-1" dirty="0">
                <a:solidFill>
                  <a:srgbClr val="FF0000"/>
                </a:solidFill>
                <a:latin typeface="Times New Roman" pitchFamily="18" charset="0"/>
                <a:cs typeface="Times New Roman" pitchFamily="18" charset="0"/>
              </a:rPr>
              <a:t>marketing expenditures </a:t>
            </a:r>
            <a:r>
              <a:rPr lang="en-US" sz="1350" spc="-1" dirty="0">
                <a:solidFill>
                  <a:srgbClr val="404040"/>
                </a:solidFill>
                <a:latin typeface="Times New Roman" pitchFamily="18" charset="0"/>
                <a:cs typeface="Times New Roman" pitchFamily="18" charset="0"/>
              </a:rPr>
              <a:t>and it wasted many resources.</a:t>
            </a:r>
          </a:p>
          <a:p>
            <a:pPr marL="257310" indent="-257040">
              <a:spcBef>
                <a:spcPts val="751"/>
              </a:spcBef>
              <a:buClr>
                <a:srgbClr val="353535"/>
              </a:buClr>
              <a:buFont typeface="Wingdings 3" charset="2"/>
              <a:buChar char=""/>
            </a:pPr>
            <a:r>
              <a:rPr lang="en-US" sz="1350" spc="-1" dirty="0">
                <a:solidFill>
                  <a:srgbClr val="404040"/>
                </a:solidFill>
                <a:latin typeface="Times New Roman" pitchFamily="18" charset="0"/>
                <a:cs typeface="Times New Roman" pitchFamily="18" charset="0"/>
              </a:rPr>
              <a:t>New product marketers now </a:t>
            </a:r>
            <a:r>
              <a:rPr lang="en-US" sz="1350" spc="-1" dirty="0">
                <a:solidFill>
                  <a:srgbClr val="FF0000"/>
                </a:solidFill>
                <a:latin typeface="Times New Roman" pitchFamily="18" charset="0"/>
                <a:cs typeface="Times New Roman" pitchFamily="18" charset="0"/>
              </a:rPr>
              <a:t>aim at early adopters </a:t>
            </a:r>
            <a:r>
              <a:rPr lang="en-US" sz="1350" spc="-1" dirty="0">
                <a:solidFill>
                  <a:srgbClr val="404040"/>
                </a:solidFill>
                <a:latin typeface="Times New Roman" pitchFamily="18" charset="0"/>
                <a:cs typeface="Times New Roman" pitchFamily="18" charset="0"/>
              </a:rPr>
              <a:t>and use the theory of innovation diffusion and consumer adoption to identify them.</a:t>
            </a:r>
          </a:p>
          <a:p>
            <a:pPr marL="257310" indent="-257040">
              <a:spcBef>
                <a:spcPts val="751"/>
              </a:spcBef>
              <a:buClr>
                <a:srgbClr val="353535"/>
              </a:buClr>
              <a:buFont typeface="Wingdings 3" charset="2"/>
              <a:buChar char=""/>
            </a:pPr>
            <a:r>
              <a:rPr lang="en-US" sz="1350" spc="-1" dirty="0">
                <a:solidFill>
                  <a:srgbClr val="404040"/>
                </a:solidFill>
                <a:latin typeface="Times New Roman" pitchFamily="18" charset="0"/>
                <a:cs typeface="Times New Roman" pitchFamily="18" charset="0"/>
              </a:rPr>
              <a:t>An innovation is any good, service or idea that someone perceives as new, Innovations takes time to spread.</a:t>
            </a:r>
          </a:p>
          <a:p>
            <a:pPr marL="257310" indent="-257040">
              <a:spcBef>
                <a:spcPts val="751"/>
              </a:spcBef>
              <a:buClr>
                <a:srgbClr val="353535"/>
              </a:buClr>
              <a:buFont typeface="Wingdings 3" charset="2"/>
              <a:buChar char=""/>
            </a:pPr>
            <a:endParaRPr lang="en-US" sz="1350" spc="-1" dirty="0">
              <a:solidFill>
                <a:srgbClr val="404040"/>
              </a:solidFill>
              <a:latin typeface="Times New Roman" pitchFamily="18" charset="0"/>
              <a:cs typeface="Times New Roman" pitchFamily="18" charset="0"/>
            </a:endParaRPr>
          </a:p>
          <a:p>
            <a:pPr marL="257310" indent="-257040">
              <a:spcBef>
                <a:spcPts val="751"/>
              </a:spcBef>
              <a:buClr>
                <a:srgbClr val="353535"/>
              </a:buClr>
              <a:buFont typeface="Wingdings 3" charset="2"/>
              <a:buChar char=""/>
            </a:pPr>
            <a:r>
              <a:rPr lang="en-US" sz="2800" spc="-1" dirty="0">
                <a:solidFill>
                  <a:srgbClr val="FF0000"/>
                </a:solidFill>
                <a:latin typeface="Times New Roman" pitchFamily="18" charset="0"/>
                <a:cs typeface="Times New Roman" pitchFamily="18" charset="0"/>
              </a:rPr>
              <a:t>Everett Rogers </a:t>
            </a:r>
            <a:r>
              <a:rPr lang="en-US" sz="2800" spc="-1" dirty="0">
                <a:solidFill>
                  <a:srgbClr val="404040"/>
                </a:solidFill>
                <a:latin typeface="Times New Roman" pitchFamily="18" charset="0"/>
                <a:cs typeface="Times New Roman" pitchFamily="18" charset="0"/>
              </a:rPr>
              <a:t>defines the </a:t>
            </a:r>
            <a:r>
              <a:rPr lang="en-US" sz="2800" b="1" spc="-1" dirty="0">
                <a:solidFill>
                  <a:srgbClr val="00B0F0"/>
                </a:solidFill>
                <a:latin typeface="Times New Roman" pitchFamily="18" charset="0"/>
                <a:cs typeface="Times New Roman" pitchFamily="18" charset="0"/>
              </a:rPr>
              <a:t>innovation diffusion process </a:t>
            </a:r>
            <a:r>
              <a:rPr lang="en-US" sz="2800" spc="-1" dirty="0">
                <a:solidFill>
                  <a:srgbClr val="404040"/>
                </a:solidFill>
                <a:latin typeface="Times New Roman" pitchFamily="18" charset="0"/>
                <a:cs typeface="Times New Roman" pitchFamily="18" charset="0"/>
              </a:rPr>
              <a:t>as the </a:t>
            </a:r>
            <a:r>
              <a:rPr lang="en-US" sz="2800" b="1" spc="-1" dirty="0">
                <a:solidFill>
                  <a:srgbClr val="FF0000"/>
                </a:solidFill>
                <a:latin typeface="Times New Roman" pitchFamily="18" charset="0"/>
                <a:cs typeface="Times New Roman" pitchFamily="18" charset="0"/>
              </a:rPr>
              <a:t>“the spread of a new idea from its source of invention or creation to its ultimate users or adopters. </a:t>
            </a:r>
            <a:endParaRPr lang="en-US" sz="2800" spc="-1" dirty="0">
              <a:solidFill>
                <a:srgbClr val="404040"/>
              </a:solidFill>
              <a:latin typeface="Times New Roman" pitchFamily="18" charset="0"/>
              <a:cs typeface="Times New Roman" pitchFamily="18" charset="0"/>
            </a:endParaRPr>
          </a:p>
        </p:txBody>
      </p:sp>
    </p:spTree>
    <p:extLst>
      <p:ext uri="{BB962C8B-B14F-4D97-AF65-F5344CB8AC3E}">
        <p14:creationId xmlns:p14="http://schemas.microsoft.com/office/powerpoint/2010/main" val="345653744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6946" y="2975992"/>
            <a:ext cx="7886700" cy="994172"/>
          </a:xfrm>
        </p:spPr>
        <p:txBody>
          <a:bodyPr/>
          <a:lstStyle/>
          <a:p>
            <a:pPr algn="ctr"/>
            <a:r>
              <a:rPr lang="en-IN" b="1" dirty="0" smtClean="0">
                <a:latin typeface="Times New Roman" panose="02020603050405020304" pitchFamily="18" charset="0"/>
                <a:cs typeface="Times New Roman" panose="02020603050405020304" pitchFamily="18" charset="0"/>
              </a:rPr>
              <a:t>Thank </a:t>
            </a:r>
            <a:r>
              <a:rPr lang="en-IN" b="1" dirty="0" smtClean="0">
                <a:solidFill>
                  <a:srgbClr val="FF0000"/>
                </a:solidFill>
                <a:latin typeface="Times New Roman" panose="02020603050405020304" pitchFamily="18" charset="0"/>
                <a:cs typeface="Times New Roman" panose="02020603050405020304" pitchFamily="18" charset="0"/>
              </a:rPr>
              <a:t>you</a:t>
            </a:r>
            <a:endParaRPr lang="en-IN" b="1" dirty="0">
              <a:solidFill>
                <a:srgbClr val="FF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5950608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274</TotalTime>
  <Words>1259</Words>
  <Application>Microsoft Office PowerPoint</Application>
  <PresentationFormat>On-screen Show (4:3)</PresentationFormat>
  <Paragraphs>181</Paragraphs>
  <Slides>33</Slides>
  <Notes>0</Notes>
  <HiddenSlides>1</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33</vt:i4>
      </vt:variant>
    </vt:vector>
  </HeadingPairs>
  <TitlesOfParts>
    <vt:vector size="41" baseType="lpstr">
      <vt:lpstr>ＭＳ Ｐゴシック</vt:lpstr>
      <vt:lpstr>Arial</vt:lpstr>
      <vt:lpstr>Calibri</vt:lpstr>
      <vt:lpstr>Century Gothic</vt:lpstr>
      <vt:lpstr>Times New Roman</vt:lpstr>
      <vt:lpstr>Wingdings</vt:lpstr>
      <vt:lpstr>Wingdings 3</vt:lpstr>
      <vt:lpstr>Office Theme</vt:lpstr>
      <vt:lpstr>PowerPoint Presentation</vt:lpstr>
      <vt:lpstr>PLC  PRODUCT LIFE-CYCLE </vt:lpstr>
      <vt:lpstr>PowerPoint Presentation</vt:lpstr>
      <vt:lpstr>PowerPoint Presentation</vt:lpstr>
      <vt:lpstr>  PLC curve is typically divided into four stages   ➤ Introduction: A period of slow sales growth as the product is introduced in the market. Proﬁts are non-existent in this stage because of the heavy expenses incurred with product introduction.   ➤ Growth: A period of rapid market acceptance and substantial proﬁt improvement.   ➤ Maturity: A period of a slowdown in sales growth because the product has achieved acceptance by most potential buyers. Proﬁts stabilize or decline because of increased competition.   ➤ Decline: The period when sales show a downward drift and proﬁts erode. </vt:lpstr>
      <vt:lpstr>PowerPoint Presentation</vt:lpstr>
      <vt:lpstr>PowerPoint Presentation</vt:lpstr>
      <vt:lpstr>Introduction- 5G, Driverless cars, Sport Leagues, OTT  Growth-LED, Plasma Tv, Wearables, Smart watches,  Electric cars, Smartphones, Ecommerce, Ready to eat foods, Solar   Maturity- FMCG, cola majors  Decline- Feature Phones, Landline phones, CDs, DVDs</vt:lpstr>
      <vt:lpstr> Increase  users uses Occasions Frequency</vt:lpstr>
      <vt:lpstr> Fevikwik          Humour in marketing-Pidilite Industries. 'Toy and chashma'. -aimed at broadening the brand's appeal beyond its established position as a 'one-drop instant adhesive'. -Fevikwik's versatility.    By increasing the usage occasions - moving from professional use to home use to being an all-purpose fixer - instant adhesives market with the proposition of 'chutki mein chipkaye' . Pidilite enjoys a leadership position (with over 60 per cent share) both in the Indian adhesives market as well as the instant adhesive category (80 per cent share).   The new campaign aims to target young people by urging them to reuse and recycle products.  </vt:lpstr>
      <vt:lpstr>GSK Horlicks to Sensodyne</vt:lpstr>
      <vt:lpstr>PowerPoint Presentation</vt:lpstr>
      <vt:lpstr>Paper Boat Hector Beverages -special drinks for special occasions </vt:lpstr>
      <vt:lpstr>PowerPoint Presentation</vt:lpstr>
      <vt:lpstr>Marketing Objectives &amp; strategy </vt:lpstr>
      <vt:lpstr>Limitations </vt:lpstr>
      <vt:lpstr>NPDP New Product Development Process</vt:lpstr>
      <vt:lpstr>Innovation Idea Invention Discovery  Innovation- It changes the life of the customer in some way, or the world in which the customer experiences things that’s an innovation. Invention-is the product of a creative and curious mind Discovery- Already there Ideas- by themselves change nothing  </vt:lpstr>
      <vt:lpstr>PowerPoint Presentation</vt:lpstr>
      <vt:lpstr>NESTLE In-home indulgence segment of products and introduced new products under MAGGI- Cooking Made Simple service. </vt:lpstr>
      <vt:lpstr>PowerPoint Presentation</vt:lpstr>
      <vt:lpstr>PowerPoint Presentation</vt:lpstr>
      <vt:lpstr>PowerPoint Presentation</vt:lpstr>
      <vt:lpstr>PowerPoint Presentation</vt:lpstr>
      <vt:lpstr>Pampers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Thank you</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Human life</dc:title>
  <dc:creator>Lenovo</dc:creator>
  <cp:lastModifiedBy>Lenovo</cp:lastModifiedBy>
  <cp:revision>71</cp:revision>
  <dcterms:created xsi:type="dcterms:W3CDTF">2006-08-16T00:00:00Z</dcterms:created>
  <dcterms:modified xsi:type="dcterms:W3CDTF">2024-11-24T04:47:39Z</dcterms:modified>
</cp:coreProperties>
</file>