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22" r:id="rId2"/>
    <p:sldId id="265" r:id="rId3"/>
    <p:sldId id="351" r:id="rId4"/>
    <p:sldId id="353" r:id="rId5"/>
    <p:sldId id="357" r:id="rId6"/>
    <p:sldId id="362" r:id="rId7"/>
    <p:sldId id="352" r:id="rId8"/>
    <p:sldId id="355" r:id="rId9"/>
    <p:sldId id="354" r:id="rId10"/>
    <p:sldId id="356" r:id="rId11"/>
    <p:sldId id="360" r:id="rId12"/>
    <p:sldId id="258" r:id="rId13"/>
    <p:sldId id="358" r:id="rId14"/>
    <p:sldId id="363" r:id="rId15"/>
    <p:sldId id="364" r:id="rId16"/>
    <p:sldId id="365" r:id="rId17"/>
    <p:sldId id="366" r:id="rId18"/>
    <p:sldId id="267" r:id="rId19"/>
    <p:sldId id="261" r:id="rId20"/>
    <p:sldId id="260" r:id="rId21"/>
    <p:sldId id="268" r:id="rId22"/>
    <p:sldId id="269" r:id="rId23"/>
    <p:sldId id="279" r:id="rId24"/>
    <p:sldId id="271" r:id="rId25"/>
    <p:sldId id="330" r:id="rId26"/>
    <p:sldId id="361" r:id="rId27"/>
    <p:sldId id="333" r:id="rId28"/>
    <p:sldId id="331" r:id="rId29"/>
    <p:sldId id="332" r:id="rId30"/>
    <p:sldId id="367" r:id="rId31"/>
    <p:sldId id="368" r:id="rId32"/>
    <p:sldId id="369" r:id="rId33"/>
    <p:sldId id="278" r:id="rId34"/>
    <p:sldId id="277" r:id="rId35"/>
    <p:sldId id="276" r:id="rId36"/>
    <p:sldId id="337" r:id="rId37"/>
    <p:sldId id="338" r:id="rId38"/>
    <p:sldId id="345" r:id="rId39"/>
    <p:sldId id="282" r:id="rId40"/>
    <p:sldId id="347" r:id="rId41"/>
    <p:sldId id="335" r:id="rId42"/>
    <p:sldId id="346" r:id="rId43"/>
    <p:sldId id="370" r:id="rId44"/>
    <p:sldId id="325" r:id="rId45"/>
    <p:sldId id="326" r:id="rId46"/>
    <p:sldId id="328" r:id="rId47"/>
    <p:sldId id="340" r:id="rId48"/>
    <p:sldId id="341" r:id="rId49"/>
    <p:sldId id="339" r:id="rId50"/>
    <p:sldId id="327" r:id="rId51"/>
    <p:sldId id="371" r:id="rId52"/>
    <p:sldId id="297"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01" autoAdjust="0"/>
    <p:restoredTop sz="94660"/>
  </p:normalViewPr>
  <p:slideViewPr>
    <p:cSldViewPr>
      <p:cViewPr varScale="1">
        <p:scale>
          <a:sx n="70" d="100"/>
          <a:sy n="70" d="100"/>
        </p:scale>
        <p:origin x="1212"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65B82A-2C90-4E57-8AD8-3965E94A43B6}"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IN"/>
        </a:p>
      </dgm:t>
    </dgm:pt>
    <dgm:pt modelId="{9D9DAB6E-67F2-41CD-A499-C8C571E8DEA6}">
      <dgm:prSet phldrT="[Text]" custT="1"/>
      <dgm:spPr>
        <a:solidFill>
          <a:srgbClr val="92D050"/>
        </a:solidFill>
      </dgm:spPr>
      <dgm:t>
        <a:bodyPr/>
        <a:lstStyle/>
        <a:p>
          <a:r>
            <a:rPr lang="en-US" sz="2400" b="1" dirty="0" smtClean="0">
              <a:latin typeface="Times New Roman" panose="02020603050405020304" pitchFamily="18" charset="0"/>
              <a:cs typeface="Times New Roman" panose="02020603050405020304" pitchFamily="18" charset="0"/>
            </a:rPr>
            <a:t>Product</a:t>
          </a:r>
          <a:endParaRPr lang="en-IN" sz="2400" b="1" dirty="0">
            <a:latin typeface="Times New Roman" panose="02020603050405020304" pitchFamily="18" charset="0"/>
            <a:cs typeface="Times New Roman" panose="02020603050405020304" pitchFamily="18" charset="0"/>
          </a:endParaRPr>
        </a:p>
      </dgm:t>
    </dgm:pt>
    <dgm:pt modelId="{E4E1F851-6087-45F4-A571-FBAB3DFA5711}" type="parTrans" cxnId="{60479B1C-DB44-40F1-8774-354662E9C802}">
      <dgm:prSet/>
      <dgm:spPr/>
      <dgm:t>
        <a:bodyPr/>
        <a:lstStyle/>
        <a:p>
          <a:endParaRPr lang="en-IN" sz="2400" b="1">
            <a:latin typeface="Times New Roman" panose="02020603050405020304" pitchFamily="18" charset="0"/>
            <a:cs typeface="Times New Roman" panose="02020603050405020304" pitchFamily="18" charset="0"/>
          </a:endParaRPr>
        </a:p>
      </dgm:t>
    </dgm:pt>
    <dgm:pt modelId="{1AD8104C-6009-4EC6-90C4-318CA26B5A4C}" type="sibTrans" cxnId="{60479B1C-DB44-40F1-8774-354662E9C802}">
      <dgm:prSet/>
      <dgm:spPr/>
      <dgm:t>
        <a:bodyPr/>
        <a:lstStyle/>
        <a:p>
          <a:endParaRPr lang="en-IN" sz="2400" b="1">
            <a:latin typeface="Times New Roman" panose="02020603050405020304" pitchFamily="18" charset="0"/>
            <a:cs typeface="Times New Roman" panose="02020603050405020304" pitchFamily="18" charset="0"/>
          </a:endParaRPr>
        </a:p>
      </dgm:t>
    </dgm:pt>
    <dgm:pt modelId="{47022E61-8514-4A93-B9FC-451839444757}">
      <dgm:prSet phldrT="[Text]" custT="1"/>
      <dgm:spPr>
        <a:solidFill>
          <a:srgbClr val="00B050"/>
        </a:solidFill>
      </dgm:spPr>
      <dgm:t>
        <a:bodyPr/>
        <a:lstStyle/>
        <a:p>
          <a:r>
            <a:rPr lang="en-US" sz="1800" b="1" dirty="0" smtClean="0">
              <a:latin typeface="Times New Roman" panose="02020603050405020304" pitchFamily="18" charset="0"/>
              <a:cs typeface="Times New Roman" panose="02020603050405020304" pitchFamily="18" charset="0"/>
            </a:rPr>
            <a:t>Features, Appearance</a:t>
          </a:r>
          <a:endParaRPr lang="en-IN" sz="1800" b="1" dirty="0">
            <a:latin typeface="Times New Roman" panose="02020603050405020304" pitchFamily="18" charset="0"/>
            <a:cs typeface="Times New Roman" panose="02020603050405020304" pitchFamily="18" charset="0"/>
          </a:endParaRPr>
        </a:p>
      </dgm:t>
    </dgm:pt>
    <dgm:pt modelId="{67DE1069-B8C9-4030-A01C-B215E7655202}" type="parTrans" cxnId="{B1A641A7-CA7D-46B5-B24A-4705E1510A3F}">
      <dgm:prSet/>
      <dgm:spPr/>
      <dgm:t>
        <a:bodyPr/>
        <a:lstStyle/>
        <a:p>
          <a:endParaRPr lang="en-IN" sz="2400" b="1">
            <a:latin typeface="Times New Roman" panose="02020603050405020304" pitchFamily="18" charset="0"/>
            <a:cs typeface="Times New Roman" panose="02020603050405020304" pitchFamily="18" charset="0"/>
          </a:endParaRPr>
        </a:p>
      </dgm:t>
    </dgm:pt>
    <dgm:pt modelId="{1762360C-5497-46EC-96CF-DD9EDEDC48F3}" type="sibTrans" cxnId="{B1A641A7-CA7D-46B5-B24A-4705E1510A3F}">
      <dgm:prSet/>
      <dgm:spPr/>
      <dgm:t>
        <a:bodyPr/>
        <a:lstStyle/>
        <a:p>
          <a:endParaRPr lang="en-IN" sz="2400" b="1">
            <a:latin typeface="Times New Roman" panose="02020603050405020304" pitchFamily="18" charset="0"/>
            <a:cs typeface="Times New Roman" panose="02020603050405020304" pitchFamily="18" charset="0"/>
          </a:endParaRPr>
        </a:p>
      </dgm:t>
    </dgm:pt>
    <dgm:pt modelId="{E054BA09-57D2-4044-9F99-031A75B01E50}">
      <dgm:prSet phldrT="[Text]" custT="1"/>
      <dgm:spPr>
        <a:solidFill>
          <a:srgbClr val="00B0F0"/>
        </a:solidFill>
      </dgm:spPr>
      <dgm:t>
        <a:bodyPr/>
        <a:lstStyle/>
        <a:p>
          <a:r>
            <a:rPr lang="en-US" sz="2400" b="1" dirty="0" smtClean="0">
              <a:latin typeface="Times New Roman" panose="02020603050405020304" pitchFamily="18" charset="0"/>
              <a:cs typeface="Times New Roman" panose="02020603050405020304" pitchFamily="18" charset="0"/>
            </a:rPr>
            <a:t>Price</a:t>
          </a:r>
          <a:endParaRPr lang="en-IN" sz="2400" b="1" dirty="0">
            <a:latin typeface="Times New Roman" panose="02020603050405020304" pitchFamily="18" charset="0"/>
            <a:cs typeface="Times New Roman" panose="02020603050405020304" pitchFamily="18" charset="0"/>
          </a:endParaRPr>
        </a:p>
      </dgm:t>
    </dgm:pt>
    <dgm:pt modelId="{B7FAE1CE-18B0-41D7-8E27-D307471F6331}" type="parTrans" cxnId="{734C7994-E260-4C11-8A82-C6EF00EBC46A}">
      <dgm:prSet/>
      <dgm:spPr/>
      <dgm:t>
        <a:bodyPr/>
        <a:lstStyle/>
        <a:p>
          <a:endParaRPr lang="en-IN" sz="2400" b="1">
            <a:latin typeface="Times New Roman" panose="02020603050405020304" pitchFamily="18" charset="0"/>
            <a:cs typeface="Times New Roman" panose="02020603050405020304" pitchFamily="18" charset="0"/>
          </a:endParaRPr>
        </a:p>
      </dgm:t>
    </dgm:pt>
    <dgm:pt modelId="{2C31EDF8-0BE2-4D15-950B-009FA9B04EBE}" type="sibTrans" cxnId="{734C7994-E260-4C11-8A82-C6EF00EBC46A}">
      <dgm:prSet/>
      <dgm:spPr/>
      <dgm:t>
        <a:bodyPr/>
        <a:lstStyle/>
        <a:p>
          <a:endParaRPr lang="en-IN" sz="2400" b="1">
            <a:latin typeface="Times New Roman" panose="02020603050405020304" pitchFamily="18" charset="0"/>
            <a:cs typeface="Times New Roman" panose="02020603050405020304" pitchFamily="18" charset="0"/>
          </a:endParaRPr>
        </a:p>
      </dgm:t>
    </dgm:pt>
    <dgm:pt modelId="{C4115F9B-1C95-4A9D-9EDA-E1411995BFF5}">
      <dgm:prSet phldrT="[Text]" custT="1"/>
      <dgm:spPr>
        <a:solidFill>
          <a:srgbClr val="7030A0"/>
        </a:solidFill>
      </dgm:spPr>
      <dgm:t>
        <a:bodyPr/>
        <a:lstStyle/>
        <a:p>
          <a:r>
            <a:rPr lang="en-US" sz="1600" b="1" dirty="0" smtClean="0">
              <a:latin typeface="Times New Roman" panose="02020603050405020304" pitchFamily="18" charset="0"/>
              <a:cs typeface="Times New Roman" panose="02020603050405020304" pitchFamily="18" charset="0"/>
            </a:rPr>
            <a:t>How much customer has to pay</a:t>
          </a:r>
          <a:endParaRPr lang="en-IN" sz="1600" b="1" dirty="0">
            <a:latin typeface="Times New Roman" panose="02020603050405020304" pitchFamily="18" charset="0"/>
            <a:cs typeface="Times New Roman" panose="02020603050405020304" pitchFamily="18" charset="0"/>
          </a:endParaRPr>
        </a:p>
      </dgm:t>
    </dgm:pt>
    <dgm:pt modelId="{A3A522FF-2CA2-496F-9567-9A566C03DBD1}" type="parTrans" cxnId="{5A60E105-AFA5-4505-8A88-D8EC1E4AC068}">
      <dgm:prSet/>
      <dgm:spPr/>
      <dgm:t>
        <a:bodyPr/>
        <a:lstStyle/>
        <a:p>
          <a:endParaRPr lang="en-IN" sz="2400" b="1">
            <a:latin typeface="Times New Roman" panose="02020603050405020304" pitchFamily="18" charset="0"/>
            <a:cs typeface="Times New Roman" panose="02020603050405020304" pitchFamily="18" charset="0"/>
          </a:endParaRPr>
        </a:p>
      </dgm:t>
    </dgm:pt>
    <dgm:pt modelId="{FB511086-9F62-445B-AABE-AA4E5CF52467}" type="sibTrans" cxnId="{5A60E105-AFA5-4505-8A88-D8EC1E4AC068}">
      <dgm:prSet/>
      <dgm:spPr/>
      <dgm:t>
        <a:bodyPr/>
        <a:lstStyle/>
        <a:p>
          <a:endParaRPr lang="en-IN" sz="2400" b="1">
            <a:latin typeface="Times New Roman" panose="02020603050405020304" pitchFamily="18" charset="0"/>
            <a:cs typeface="Times New Roman" panose="02020603050405020304" pitchFamily="18" charset="0"/>
          </a:endParaRPr>
        </a:p>
      </dgm:t>
    </dgm:pt>
    <dgm:pt modelId="{42340AAC-157B-4C01-A8D7-B4568397DB03}">
      <dgm:prSet phldrT="[Text]" custT="1"/>
      <dgm:spPr>
        <a:solidFill>
          <a:srgbClr val="FF0000"/>
        </a:solidFill>
      </dgm:spPr>
      <dgm:t>
        <a:bodyPr/>
        <a:lstStyle/>
        <a:p>
          <a:r>
            <a:rPr lang="en-US" sz="2400" b="1" dirty="0" smtClean="0">
              <a:latin typeface="Times New Roman" panose="02020603050405020304" pitchFamily="18" charset="0"/>
              <a:cs typeface="Times New Roman" panose="02020603050405020304" pitchFamily="18" charset="0"/>
            </a:rPr>
            <a:t>Promotion</a:t>
          </a:r>
          <a:endParaRPr lang="en-IN" sz="2000" b="1" dirty="0">
            <a:latin typeface="Times New Roman" panose="02020603050405020304" pitchFamily="18" charset="0"/>
            <a:cs typeface="Times New Roman" panose="02020603050405020304" pitchFamily="18" charset="0"/>
          </a:endParaRPr>
        </a:p>
      </dgm:t>
    </dgm:pt>
    <dgm:pt modelId="{A6F43277-6EFC-4445-A094-18D796584A5F}" type="parTrans" cxnId="{557F4946-F96D-48FD-AD05-F547CBCC671F}">
      <dgm:prSet/>
      <dgm:spPr/>
      <dgm:t>
        <a:bodyPr/>
        <a:lstStyle/>
        <a:p>
          <a:endParaRPr lang="en-IN" sz="2400" b="1">
            <a:latin typeface="Times New Roman" panose="02020603050405020304" pitchFamily="18" charset="0"/>
            <a:cs typeface="Times New Roman" panose="02020603050405020304" pitchFamily="18" charset="0"/>
          </a:endParaRPr>
        </a:p>
      </dgm:t>
    </dgm:pt>
    <dgm:pt modelId="{0D31C28D-CF19-43C8-9B8B-BF499BE5CA87}" type="sibTrans" cxnId="{557F4946-F96D-48FD-AD05-F547CBCC671F}">
      <dgm:prSet/>
      <dgm:spPr/>
      <dgm:t>
        <a:bodyPr/>
        <a:lstStyle/>
        <a:p>
          <a:endParaRPr lang="en-IN" sz="2400" b="1">
            <a:latin typeface="Times New Roman" panose="02020603050405020304" pitchFamily="18" charset="0"/>
            <a:cs typeface="Times New Roman" panose="02020603050405020304" pitchFamily="18" charset="0"/>
          </a:endParaRPr>
        </a:p>
      </dgm:t>
    </dgm:pt>
    <dgm:pt modelId="{A7194712-7827-41D1-ADF7-7793264C0352}">
      <dgm:prSet phldrT="[Text]" custT="1"/>
      <dgm:spPr>
        <a:solidFill>
          <a:srgbClr val="FFFF00"/>
        </a:solidFill>
      </dgm:spPr>
      <dgm:t>
        <a:bodyPr/>
        <a:lstStyle/>
        <a:p>
          <a:r>
            <a:rPr lang="en-US" sz="1400" b="1" dirty="0" smtClean="0">
              <a:latin typeface="Times New Roman" panose="02020603050405020304" pitchFamily="18" charset="0"/>
              <a:cs typeface="Times New Roman" panose="02020603050405020304" pitchFamily="18" charset="0"/>
            </a:rPr>
            <a:t>How customers are informed about products</a:t>
          </a:r>
          <a:endParaRPr lang="en-IN" sz="1400" b="1" dirty="0">
            <a:latin typeface="Times New Roman" panose="02020603050405020304" pitchFamily="18" charset="0"/>
            <a:cs typeface="Times New Roman" panose="02020603050405020304" pitchFamily="18" charset="0"/>
          </a:endParaRPr>
        </a:p>
      </dgm:t>
    </dgm:pt>
    <dgm:pt modelId="{89302AA2-302E-454F-BBB9-96D14BF13EB3}" type="parTrans" cxnId="{CDD4AEBC-3DD6-44BF-95EB-9C8713F9FD79}">
      <dgm:prSet/>
      <dgm:spPr/>
      <dgm:t>
        <a:bodyPr/>
        <a:lstStyle/>
        <a:p>
          <a:endParaRPr lang="en-IN" sz="2400" b="1">
            <a:latin typeface="Times New Roman" panose="02020603050405020304" pitchFamily="18" charset="0"/>
            <a:cs typeface="Times New Roman" panose="02020603050405020304" pitchFamily="18" charset="0"/>
          </a:endParaRPr>
        </a:p>
      </dgm:t>
    </dgm:pt>
    <dgm:pt modelId="{FF5B962B-C529-4D46-BB4F-19DD616B6EBB}" type="sibTrans" cxnId="{CDD4AEBC-3DD6-44BF-95EB-9C8713F9FD79}">
      <dgm:prSet/>
      <dgm:spPr/>
      <dgm:t>
        <a:bodyPr/>
        <a:lstStyle/>
        <a:p>
          <a:endParaRPr lang="en-IN" sz="2400" b="1">
            <a:latin typeface="Times New Roman" panose="02020603050405020304" pitchFamily="18" charset="0"/>
            <a:cs typeface="Times New Roman" panose="02020603050405020304" pitchFamily="18" charset="0"/>
          </a:endParaRPr>
        </a:p>
      </dgm:t>
    </dgm:pt>
    <dgm:pt modelId="{59B0EB99-685A-4E0B-A873-32A50B83B396}">
      <dgm:prSet phldrT="[Text]" custT="1"/>
      <dgm:spPr>
        <a:solidFill>
          <a:srgbClr val="FFC000"/>
        </a:solidFill>
      </dgm:spPr>
      <dgm:t>
        <a:bodyPr/>
        <a:lstStyle/>
        <a:p>
          <a:r>
            <a:rPr lang="en-US" sz="2400" b="1" dirty="0" smtClean="0">
              <a:latin typeface="Times New Roman" panose="02020603050405020304" pitchFamily="18" charset="0"/>
              <a:cs typeface="Times New Roman" panose="02020603050405020304" pitchFamily="18" charset="0"/>
            </a:rPr>
            <a:t>Place</a:t>
          </a:r>
          <a:endParaRPr lang="en-IN" sz="2000" b="1" dirty="0">
            <a:latin typeface="Times New Roman" panose="02020603050405020304" pitchFamily="18" charset="0"/>
            <a:cs typeface="Times New Roman" panose="02020603050405020304" pitchFamily="18" charset="0"/>
          </a:endParaRPr>
        </a:p>
      </dgm:t>
    </dgm:pt>
    <dgm:pt modelId="{653E058A-E87C-4BED-9EEB-1D9E7B5DBC65}" type="parTrans" cxnId="{DF7A31A3-CE25-4809-8CA5-D096C4A3CBF9}">
      <dgm:prSet/>
      <dgm:spPr/>
      <dgm:t>
        <a:bodyPr/>
        <a:lstStyle/>
        <a:p>
          <a:endParaRPr lang="en-IN" sz="2400" b="1">
            <a:latin typeface="Times New Roman" panose="02020603050405020304" pitchFamily="18" charset="0"/>
            <a:cs typeface="Times New Roman" panose="02020603050405020304" pitchFamily="18" charset="0"/>
          </a:endParaRPr>
        </a:p>
      </dgm:t>
    </dgm:pt>
    <dgm:pt modelId="{11B2AF00-D3E9-4BD0-BFDD-5FC04D8CFB0C}" type="sibTrans" cxnId="{DF7A31A3-CE25-4809-8CA5-D096C4A3CBF9}">
      <dgm:prSet/>
      <dgm:spPr/>
      <dgm:t>
        <a:bodyPr/>
        <a:lstStyle/>
        <a:p>
          <a:endParaRPr lang="en-IN" sz="2400" b="1">
            <a:latin typeface="Times New Roman" panose="02020603050405020304" pitchFamily="18" charset="0"/>
            <a:cs typeface="Times New Roman" panose="02020603050405020304" pitchFamily="18" charset="0"/>
          </a:endParaRPr>
        </a:p>
      </dgm:t>
    </dgm:pt>
    <dgm:pt modelId="{D446354C-99D8-4735-9DBA-B19CE9DC1848}">
      <dgm:prSet phldrT="[Text]" custT="1"/>
      <dgm:spPr>
        <a:solidFill>
          <a:schemeClr val="accent6"/>
        </a:solidFill>
      </dgm:spPr>
      <dgm:t>
        <a:bodyPr/>
        <a:lstStyle/>
        <a:p>
          <a:r>
            <a:rPr lang="en-US" sz="1600" b="1" dirty="0" smtClean="0">
              <a:latin typeface="Times New Roman" panose="02020603050405020304" pitchFamily="18" charset="0"/>
              <a:cs typeface="Times New Roman" panose="02020603050405020304" pitchFamily="18" charset="0"/>
            </a:rPr>
            <a:t>Point where products are made available</a:t>
          </a:r>
          <a:endParaRPr lang="en-IN" sz="1600" b="1" dirty="0">
            <a:latin typeface="Times New Roman" panose="02020603050405020304" pitchFamily="18" charset="0"/>
            <a:cs typeface="Times New Roman" panose="02020603050405020304" pitchFamily="18" charset="0"/>
          </a:endParaRPr>
        </a:p>
      </dgm:t>
    </dgm:pt>
    <dgm:pt modelId="{97291091-9D0D-4AA1-A723-3267D0913BC7}" type="parTrans" cxnId="{213A4BCD-F6D0-41DD-B9FF-2CCC7DB50C90}">
      <dgm:prSet/>
      <dgm:spPr/>
      <dgm:t>
        <a:bodyPr/>
        <a:lstStyle/>
        <a:p>
          <a:endParaRPr lang="en-IN" sz="2400" b="1">
            <a:latin typeface="Times New Roman" panose="02020603050405020304" pitchFamily="18" charset="0"/>
            <a:cs typeface="Times New Roman" panose="02020603050405020304" pitchFamily="18" charset="0"/>
          </a:endParaRPr>
        </a:p>
      </dgm:t>
    </dgm:pt>
    <dgm:pt modelId="{30156C57-D384-49B5-915B-75370823A068}" type="sibTrans" cxnId="{213A4BCD-F6D0-41DD-B9FF-2CCC7DB50C90}">
      <dgm:prSet/>
      <dgm:spPr/>
      <dgm:t>
        <a:bodyPr/>
        <a:lstStyle/>
        <a:p>
          <a:endParaRPr lang="en-IN" sz="2400" b="1">
            <a:latin typeface="Times New Roman" panose="02020603050405020304" pitchFamily="18" charset="0"/>
            <a:cs typeface="Times New Roman" panose="02020603050405020304" pitchFamily="18" charset="0"/>
          </a:endParaRPr>
        </a:p>
      </dgm:t>
    </dgm:pt>
    <dgm:pt modelId="{E531101D-9792-4EFA-8D92-3096F9F117BC}">
      <dgm:prSet phldrT="[Text]" custT="1"/>
      <dgm:spPr>
        <a:solidFill>
          <a:srgbClr val="FFFF00"/>
        </a:solidFill>
      </dgm:spPr>
      <dgm:t>
        <a:bodyPr/>
        <a:lstStyle/>
        <a:p>
          <a:endParaRPr lang="en-IN" sz="1400" b="1" dirty="0">
            <a:latin typeface="Times New Roman" panose="02020603050405020304" pitchFamily="18" charset="0"/>
            <a:cs typeface="Times New Roman" panose="02020603050405020304" pitchFamily="18" charset="0"/>
          </a:endParaRPr>
        </a:p>
      </dgm:t>
    </dgm:pt>
    <dgm:pt modelId="{83D9C3C2-ACB5-4196-B323-6D77BE7291A4}" type="parTrans" cxnId="{CFE8436B-77D4-4CB3-8D1B-887B86C6FBE4}">
      <dgm:prSet/>
      <dgm:spPr/>
      <dgm:t>
        <a:bodyPr/>
        <a:lstStyle/>
        <a:p>
          <a:endParaRPr lang="en-IN"/>
        </a:p>
      </dgm:t>
    </dgm:pt>
    <dgm:pt modelId="{5E6512BB-3947-44C3-B1BB-AFA9C8B6FF48}" type="sibTrans" cxnId="{CFE8436B-77D4-4CB3-8D1B-887B86C6FBE4}">
      <dgm:prSet/>
      <dgm:spPr/>
      <dgm:t>
        <a:bodyPr/>
        <a:lstStyle/>
        <a:p>
          <a:endParaRPr lang="en-IN"/>
        </a:p>
      </dgm:t>
    </dgm:pt>
    <dgm:pt modelId="{B760A5A2-824B-421B-A107-40F1E29A61A6}">
      <dgm:prSet phldrT="[Text]" custT="1"/>
      <dgm:spPr>
        <a:solidFill>
          <a:srgbClr val="FFFF00"/>
        </a:solidFill>
      </dgm:spPr>
      <dgm:t>
        <a:bodyPr/>
        <a:lstStyle/>
        <a:p>
          <a:endParaRPr lang="en-IN" sz="1400" b="1" dirty="0">
            <a:latin typeface="Times New Roman" panose="02020603050405020304" pitchFamily="18" charset="0"/>
            <a:cs typeface="Times New Roman" panose="02020603050405020304" pitchFamily="18" charset="0"/>
          </a:endParaRPr>
        </a:p>
      </dgm:t>
    </dgm:pt>
    <dgm:pt modelId="{9EAFB15B-936D-4545-9E7B-38A7BDF645E2}" type="parTrans" cxnId="{F523873A-9394-4245-AD74-EE52D1F0840D}">
      <dgm:prSet/>
      <dgm:spPr/>
      <dgm:t>
        <a:bodyPr/>
        <a:lstStyle/>
        <a:p>
          <a:endParaRPr lang="en-IN"/>
        </a:p>
      </dgm:t>
    </dgm:pt>
    <dgm:pt modelId="{E5748206-2967-4531-91F3-ABDB2649450C}" type="sibTrans" cxnId="{F523873A-9394-4245-AD74-EE52D1F0840D}">
      <dgm:prSet/>
      <dgm:spPr/>
      <dgm:t>
        <a:bodyPr/>
        <a:lstStyle/>
        <a:p>
          <a:endParaRPr lang="en-IN"/>
        </a:p>
      </dgm:t>
    </dgm:pt>
    <dgm:pt modelId="{33B0629D-230C-47E5-A4D3-AB03AF3AA1FD}">
      <dgm:prSet phldrT="[Text]" custT="1"/>
      <dgm:spPr>
        <a:solidFill>
          <a:srgbClr val="FFFF00"/>
        </a:solidFill>
      </dgm:spPr>
      <dgm:t>
        <a:bodyPr/>
        <a:lstStyle/>
        <a:p>
          <a:endParaRPr lang="en-IN" sz="1400" b="1" dirty="0">
            <a:latin typeface="Times New Roman" panose="02020603050405020304" pitchFamily="18" charset="0"/>
            <a:cs typeface="Times New Roman" panose="02020603050405020304" pitchFamily="18" charset="0"/>
          </a:endParaRPr>
        </a:p>
      </dgm:t>
    </dgm:pt>
    <dgm:pt modelId="{D41FEEB4-6FE9-4F32-BEAF-95568A873F91}" type="parTrans" cxnId="{F1924081-C1AA-49DA-9515-A34F1AFAFFFC}">
      <dgm:prSet/>
      <dgm:spPr/>
      <dgm:t>
        <a:bodyPr/>
        <a:lstStyle/>
        <a:p>
          <a:endParaRPr lang="en-IN"/>
        </a:p>
      </dgm:t>
    </dgm:pt>
    <dgm:pt modelId="{630AE694-7BED-48CB-B761-17653F2741AA}" type="sibTrans" cxnId="{F1924081-C1AA-49DA-9515-A34F1AFAFFFC}">
      <dgm:prSet/>
      <dgm:spPr/>
      <dgm:t>
        <a:bodyPr/>
        <a:lstStyle/>
        <a:p>
          <a:endParaRPr lang="en-IN"/>
        </a:p>
      </dgm:t>
    </dgm:pt>
    <dgm:pt modelId="{47C8C4C2-2DE2-4ACA-9663-FB063FE473A0}" type="pres">
      <dgm:prSet presAssocID="{A465B82A-2C90-4E57-8AD8-3965E94A43B6}" presName="cycleMatrixDiagram" presStyleCnt="0">
        <dgm:presLayoutVars>
          <dgm:chMax val="1"/>
          <dgm:dir/>
          <dgm:animLvl val="lvl"/>
          <dgm:resizeHandles val="exact"/>
        </dgm:presLayoutVars>
      </dgm:prSet>
      <dgm:spPr/>
      <dgm:t>
        <a:bodyPr/>
        <a:lstStyle/>
        <a:p>
          <a:endParaRPr lang="en-IN"/>
        </a:p>
      </dgm:t>
    </dgm:pt>
    <dgm:pt modelId="{854C2C98-8F10-4C21-890A-F84C1798EE31}" type="pres">
      <dgm:prSet presAssocID="{A465B82A-2C90-4E57-8AD8-3965E94A43B6}" presName="children" presStyleCnt="0"/>
      <dgm:spPr/>
    </dgm:pt>
    <dgm:pt modelId="{A610C802-A936-4AA5-A399-8C9BA01F7DF3}" type="pres">
      <dgm:prSet presAssocID="{A465B82A-2C90-4E57-8AD8-3965E94A43B6}" presName="child1group" presStyleCnt="0"/>
      <dgm:spPr/>
    </dgm:pt>
    <dgm:pt modelId="{AE7B60EE-31A3-42EA-A57C-9FE5752C5D6D}" type="pres">
      <dgm:prSet presAssocID="{A465B82A-2C90-4E57-8AD8-3965E94A43B6}" presName="child1" presStyleLbl="bgAcc1" presStyleIdx="0" presStyleCnt="4" custLinFactNeighborX="-2309"/>
      <dgm:spPr/>
      <dgm:t>
        <a:bodyPr/>
        <a:lstStyle/>
        <a:p>
          <a:endParaRPr lang="en-IN"/>
        </a:p>
      </dgm:t>
    </dgm:pt>
    <dgm:pt modelId="{8E25D874-6590-46E6-892A-56482777BF1B}" type="pres">
      <dgm:prSet presAssocID="{A465B82A-2C90-4E57-8AD8-3965E94A43B6}" presName="child1Text" presStyleLbl="bgAcc1" presStyleIdx="0" presStyleCnt="4">
        <dgm:presLayoutVars>
          <dgm:bulletEnabled val="1"/>
        </dgm:presLayoutVars>
      </dgm:prSet>
      <dgm:spPr/>
      <dgm:t>
        <a:bodyPr/>
        <a:lstStyle/>
        <a:p>
          <a:endParaRPr lang="en-IN"/>
        </a:p>
      </dgm:t>
    </dgm:pt>
    <dgm:pt modelId="{69F9E037-11CC-44F5-B60B-BBC632E2E345}" type="pres">
      <dgm:prSet presAssocID="{A465B82A-2C90-4E57-8AD8-3965E94A43B6}" presName="child2group" presStyleCnt="0"/>
      <dgm:spPr/>
    </dgm:pt>
    <dgm:pt modelId="{3D3B1946-2AB1-4BAE-862D-18A900DBC16A}" type="pres">
      <dgm:prSet presAssocID="{A465B82A-2C90-4E57-8AD8-3965E94A43B6}" presName="child2" presStyleLbl="bgAcc1" presStyleIdx="1" presStyleCnt="4"/>
      <dgm:spPr/>
      <dgm:t>
        <a:bodyPr/>
        <a:lstStyle/>
        <a:p>
          <a:endParaRPr lang="en-IN"/>
        </a:p>
      </dgm:t>
    </dgm:pt>
    <dgm:pt modelId="{539C9776-6EA9-417A-9C5F-72CB1228BD33}" type="pres">
      <dgm:prSet presAssocID="{A465B82A-2C90-4E57-8AD8-3965E94A43B6}" presName="child2Text" presStyleLbl="bgAcc1" presStyleIdx="1" presStyleCnt="4">
        <dgm:presLayoutVars>
          <dgm:bulletEnabled val="1"/>
        </dgm:presLayoutVars>
      </dgm:prSet>
      <dgm:spPr/>
      <dgm:t>
        <a:bodyPr/>
        <a:lstStyle/>
        <a:p>
          <a:endParaRPr lang="en-IN"/>
        </a:p>
      </dgm:t>
    </dgm:pt>
    <dgm:pt modelId="{FFA7F758-D946-47EB-B300-D4A9D55E9158}" type="pres">
      <dgm:prSet presAssocID="{A465B82A-2C90-4E57-8AD8-3965E94A43B6}" presName="child3group" presStyleCnt="0"/>
      <dgm:spPr/>
    </dgm:pt>
    <dgm:pt modelId="{A0530372-8BA8-4EE5-A415-22C0BBF8C674}" type="pres">
      <dgm:prSet presAssocID="{A465B82A-2C90-4E57-8AD8-3965E94A43B6}" presName="child3" presStyleLbl="bgAcc1" presStyleIdx="2" presStyleCnt="4" custScaleX="146369"/>
      <dgm:spPr/>
      <dgm:t>
        <a:bodyPr/>
        <a:lstStyle/>
        <a:p>
          <a:endParaRPr lang="en-IN"/>
        </a:p>
      </dgm:t>
    </dgm:pt>
    <dgm:pt modelId="{B05A5E82-EE8A-40CF-82A2-729A706A5F8A}" type="pres">
      <dgm:prSet presAssocID="{A465B82A-2C90-4E57-8AD8-3965E94A43B6}" presName="child3Text" presStyleLbl="bgAcc1" presStyleIdx="2" presStyleCnt="4">
        <dgm:presLayoutVars>
          <dgm:bulletEnabled val="1"/>
        </dgm:presLayoutVars>
      </dgm:prSet>
      <dgm:spPr/>
      <dgm:t>
        <a:bodyPr/>
        <a:lstStyle/>
        <a:p>
          <a:endParaRPr lang="en-IN"/>
        </a:p>
      </dgm:t>
    </dgm:pt>
    <dgm:pt modelId="{E8021B3A-1587-4F08-8D40-1C32BF625B44}" type="pres">
      <dgm:prSet presAssocID="{A465B82A-2C90-4E57-8AD8-3965E94A43B6}" presName="child4group" presStyleCnt="0"/>
      <dgm:spPr/>
    </dgm:pt>
    <dgm:pt modelId="{1B63E234-918A-43F0-858A-C9AEAB5D3D7C}" type="pres">
      <dgm:prSet presAssocID="{A465B82A-2C90-4E57-8AD8-3965E94A43B6}" presName="child4" presStyleLbl="bgAcc1" presStyleIdx="3" presStyleCnt="4"/>
      <dgm:spPr/>
      <dgm:t>
        <a:bodyPr/>
        <a:lstStyle/>
        <a:p>
          <a:endParaRPr lang="en-IN"/>
        </a:p>
      </dgm:t>
    </dgm:pt>
    <dgm:pt modelId="{C5A20BE6-EA96-4C60-B53F-2668322BA33F}" type="pres">
      <dgm:prSet presAssocID="{A465B82A-2C90-4E57-8AD8-3965E94A43B6}" presName="child4Text" presStyleLbl="bgAcc1" presStyleIdx="3" presStyleCnt="4">
        <dgm:presLayoutVars>
          <dgm:bulletEnabled val="1"/>
        </dgm:presLayoutVars>
      </dgm:prSet>
      <dgm:spPr/>
      <dgm:t>
        <a:bodyPr/>
        <a:lstStyle/>
        <a:p>
          <a:endParaRPr lang="en-IN"/>
        </a:p>
      </dgm:t>
    </dgm:pt>
    <dgm:pt modelId="{0144E64A-A408-4A64-AB89-C5E9D44F8512}" type="pres">
      <dgm:prSet presAssocID="{A465B82A-2C90-4E57-8AD8-3965E94A43B6}" presName="childPlaceholder" presStyleCnt="0"/>
      <dgm:spPr/>
    </dgm:pt>
    <dgm:pt modelId="{29BB188C-CFF9-4C04-B865-8B687ED61366}" type="pres">
      <dgm:prSet presAssocID="{A465B82A-2C90-4E57-8AD8-3965E94A43B6}" presName="circle" presStyleCnt="0"/>
      <dgm:spPr/>
    </dgm:pt>
    <dgm:pt modelId="{EABF36CD-18E4-4903-A8EF-B54F9DE7E140}" type="pres">
      <dgm:prSet presAssocID="{A465B82A-2C90-4E57-8AD8-3965E94A43B6}" presName="quadrant1" presStyleLbl="node1" presStyleIdx="0" presStyleCnt="4" custScaleX="141898" custScaleY="133657" custLinFactNeighborX="-1336" custLinFactNeighborY="3204">
        <dgm:presLayoutVars>
          <dgm:chMax val="1"/>
          <dgm:bulletEnabled val="1"/>
        </dgm:presLayoutVars>
      </dgm:prSet>
      <dgm:spPr/>
      <dgm:t>
        <a:bodyPr/>
        <a:lstStyle/>
        <a:p>
          <a:endParaRPr lang="en-IN"/>
        </a:p>
      </dgm:t>
    </dgm:pt>
    <dgm:pt modelId="{DC3DB20F-5A8B-4821-921B-702303BF086D}" type="pres">
      <dgm:prSet presAssocID="{A465B82A-2C90-4E57-8AD8-3965E94A43B6}" presName="quadrant2" presStyleLbl="node1" presStyleIdx="1" presStyleCnt="4" custScaleX="106874" custScaleY="109583" custLinFactNeighborX="-3654" custLinFactNeighborY="3204">
        <dgm:presLayoutVars>
          <dgm:chMax val="1"/>
          <dgm:bulletEnabled val="1"/>
        </dgm:presLayoutVars>
      </dgm:prSet>
      <dgm:spPr/>
      <dgm:t>
        <a:bodyPr/>
        <a:lstStyle/>
        <a:p>
          <a:endParaRPr lang="en-IN"/>
        </a:p>
      </dgm:t>
    </dgm:pt>
    <dgm:pt modelId="{88D53F9A-40D3-4F44-87EF-4A41AE67CAEA}" type="pres">
      <dgm:prSet presAssocID="{A465B82A-2C90-4E57-8AD8-3965E94A43B6}" presName="quadrant3" presStyleLbl="node1" presStyleIdx="2" presStyleCnt="4" custScaleX="128360" custScaleY="113637" custLinFactNeighborX="-411" custLinFactNeighborY="886">
        <dgm:presLayoutVars>
          <dgm:chMax val="1"/>
          <dgm:bulletEnabled val="1"/>
        </dgm:presLayoutVars>
      </dgm:prSet>
      <dgm:spPr/>
      <dgm:t>
        <a:bodyPr/>
        <a:lstStyle/>
        <a:p>
          <a:endParaRPr lang="en-IN"/>
        </a:p>
      </dgm:t>
    </dgm:pt>
    <dgm:pt modelId="{259EE9C9-79C2-4DA5-80FB-FB29D267D63F}" type="pres">
      <dgm:prSet presAssocID="{A465B82A-2C90-4E57-8AD8-3965E94A43B6}" presName="quadrant4" presStyleLbl="node1" presStyleIdx="3" presStyleCnt="4" custScaleX="94269" custScaleY="88683" custLinFactNeighborX="0">
        <dgm:presLayoutVars>
          <dgm:chMax val="1"/>
          <dgm:bulletEnabled val="1"/>
        </dgm:presLayoutVars>
      </dgm:prSet>
      <dgm:spPr/>
      <dgm:t>
        <a:bodyPr/>
        <a:lstStyle/>
        <a:p>
          <a:endParaRPr lang="en-IN"/>
        </a:p>
      </dgm:t>
    </dgm:pt>
    <dgm:pt modelId="{AB9A7170-1B8F-4E95-B60D-A9DF3A6B8535}" type="pres">
      <dgm:prSet presAssocID="{A465B82A-2C90-4E57-8AD8-3965E94A43B6}" presName="quadrantPlaceholder" presStyleCnt="0"/>
      <dgm:spPr/>
    </dgm:pt>
    <dgm:pt modelId="{B9791EBB-BE29-44C2-9E97-224313E7F552}" type="pres">
      <dgm:prSet presAssocID="{A465B82A-2C90-4E57-8AD8-3965E94A43B6}" presName="center1" presStyleLbl="fgShp" presStyleIdx="0" presStyleCnt="2"/>
      <dgm:spPr/>
    </dgm:pt>
    <dgm:pt modelId="{D841F545-544B-4100-892C-35BA6C4AEADB}" type="pres">
      <dgm:prSet presAssocID="{A465B82A-2C90-4E57-8AD8-3965E94A43B6}" presName="center2" presStyleLbl="fgShp" presStyleIdx="1" presStyleCnt="2"/>
      <dgm:spPr/>
    </dgm:pt>
  </dgm:ptLst>
  <dgm:cxnLst>
    <dgm:cxn modelId="{557F4946-F96D-48FD-AD05-F547CBCC671F}" srcId="{A465B82A-2C90-4E57-8AD8-3965E94A43B6}" destId="{42340AAC-157B-4C01-A8D7-B4568397DB03}" srcOrd="2" destOrd="0" parTransId="{A6F43277-6EFC-4445-A094-18D796584A5F}" sibTransId="{0D31C28D-CF19-43C8-9B8B-BF499BE5CA87}"/>
    <dgm:cxn modelId="{CDC63E76-6A04-4C67-9F16-B481A92964F5}" type="presOf" srcId="{42340AAC-157B-4C01-A8D7-B4568397DB03}" destId="{88D53F9A-40D3-4F44-87EF-4A41AE67CAEA}" srcOrd="0" destOrd="0" presId="urn:microsoft.com/office/officeart/2005/8/layout/cycle4"/>
    <dgm:cxn modelId="{79A44070-907F-4F3C-A0AB-8C8D164AF430}" type="presOf" srcId="{E531101D-9792-4EFA-8D92-3096F9F117BC}" destId="{A0530372-8BA8-4EE5-A415-22C0BBF8C674}" srcOrd="0" destOrd="0" presId="urn:microsoft.com/office/officeart/2005/8/layout/cycle4"/>
    <dgm:cxn modelId="{9F7A9C73-814F-4533-A801-31516B1ADE27}" type="presOf" srcId="{A465B82A-2C90-4E57-8AD8-3965E94A43B6}" destId="{47C8C4C2-2DE2-4ACA-9663-FB063FE473A0}" srcOrd="0" destOrd="0" presId="urn:microsoft.com/office/officeart/2005/8/layout/cycle4"/>
    <dgm:cxn modelId="{716E3315-028D-4303-9BB2-6F3B183AE4B5}" type="presOf" srcId="{47022E61-8514-4A93-B9FC-451839444757}" destId="{AE7B60EE-31A3-42EA-A57C-9FE5752C5D6D}" srcOrd="0" destOrd="0" presId="urn:microsoft.com/office/officeart/2005/8/layout/cycle4"/>
    <dgm:cxn modelId="{2DBA2B6B-9933-4E23-834A-A4C25C528F2F}" type="presOf" srcId="{A7194712-7827-41D1-ADF7-7793264C0352}" destId="{A0530372-8BA8-4EE5-A415-22C0BBF8C674}" srcOrd="0" destOrd="3" presId="urn:microsoft.com/office/officeart/2005/8/layout/cycle4"/>
    <dgm:cxn modelId="{B94A5C10-5CD8-47E2-B31C-5062BB4FFF5A}" type="presOf" srcId="{47022E61-8514-4A93-B9FC-451839444757}" destId="{8E25D874-6590-46E6-892A-56482777BF1B}" srcOrd="1" destOrd="0" presId="urn:microsoft.com/office/officeart/2005/8/layout/cycle4"/>
    <dgm:cxn modelId="{F523873A-9394-4245-AD74-EE52D1F0840D}" srcId="{42340AAC-157B-4C01-A8D7-B4568397DB03}" destId="{B760A5A2-824B-421B-A107-40F1E29A61A6}" srcOrd="1" destOrd="0" parTransId="{9EAFB15B-936D-4545-9E7B-38A7BDF645E2}" sibTransId="{E5748206-2967-4531-91F3-ABDB2649450C}"/>
    <dgm:cxn modelId="{A666D0EC-F287-4FE9-B6C6-6CB2987D07CB}" type="presOf" srcId="{A7194712-7827-41D1-ADF7-7793264C0352}" destId="{B05A5E82-EE8A-40CF-82A2-729A706A5F8A}" srcOrd="1" destOrd="3" presId="urn:microsoft.com/office/officeart/2005/8/layout/cycle4"/>
    <dgm:cxn modelId="{D94AA1EE-8445-4B4D-90A2-A2BB9A634856}" type="presOf" srcId="{59B0EB99-685A-4E0B-A873-32A50B83B396}" destId="{259EE9C9-79C2-4DA5-80FB-FB29D267D63F}" srcOrd="0" destOrd="0" presId="urn:microsoft.com/office/officeart/2005/8/layout/cycle4"/>
    <dgm:cxn modelId="{DF7A31A3-CE25-4809-8CA5-D096C4A3CBF9}" srcId="{A465B82A-2C90-4E57-8AD8-3965E94A43B6}" destId="{59B0EB99-685A-4E0B-A873-32A50B83B396}" srcOrd="3" destOrd="0" parTransId="{653E058A-E87C-4BED-9EEB-1D9E7B5DBC65}" sibTransId="{11B2AF00-D3E9-4BD0-BFDD-5FC04D8CFB0C}"/>
    <dgm:cxn modelId="{B1A641A7-CA7D-46B5-B24A-4705E1510A3F}" srcId="{9D9DAB6E-67F2-41CD-A499-C8C571E8DEA6}" destId="{47022E61-8514-4A93-B9FC-451839444757}" srcOrd="0" destOrd="0" parTransId="{67DE1069-B8C9-4030-A01C-B215E7655202}" sibTransId="{1762360C-5497-46EC-96CF-DD9EDEDC48F3}"/>
    <dgm:cxn modelId="{AE48C9AF-9787-45E2-B4C5-90D44282D744}" type="presOf" srcId="{E531101D-9792-4EFA-8D92-3096F9F117BC}" destId="{B05A5E82-EE8A-40CF-82A2-729A706A5F8A}" srcOrd="1" destOrd="0" presId="urn:microsoft.com/office/officeart/2005/8/layout/cycle4"/>
    <dgm:cxn modelId="{9913297D-10DA-403A-A781-BB4D9C1F18E5}" type="presOf" srcId="{B760A5A2-824B-421B-A107-40F1E29A61A6}" destId="{A0530372-8BA8-4EE5-A415-22C0BBF8C674}" srcOrd="0" destOrd="1" presId="urn:microsoft.com/office/officeart/2005/8/layout/cycle4"/>
    <dgm:cxn modelId="{9176431D-F2E2-4611-85F9-47C8F9610544}" type="presOf" srcId="{C4115F9B-1C95-4A9D-9EDA-E1411995BFF5}" destId="{3D3B1946-2AB1-4BAE-862D-18A900DBC16A}" srcOrd="0" destOrd="0" presId="urn:microsoft.com/office/officeart/2005/8/layout/cycle4"/>
    <dgm:cxn modelId="{CDD4AEBC-3DD6-44BF-95EB-9C8713F9FD79}" srcId="{42340AAC-157B-4C01-A8D7-B4568397DB03}" destId="{A7194712-7827-41D1-ADF7-7793264C0352}" srcOrd="3" destOrd="0" parTransId="{89302AA2-302E-454F-BBB9-96D14BF13EB3}" sibTransId="{FF5B962B-C529-4D46-BB4F-19DD616B6EBB}"/>
    <dgm:cxn modelId="{8C0E4F76-D802-47B3-8BD2-BE78BD6B79BB}" type="presOf" srcId="{D446354C-99D8-4735-9DBA-B19CE9DC1848}" destId="{1B63E234-918A-43F0-858A-C9AEAB5D3D7C}" srcOrd="0" destOrd="0" presId="urn:microsoft.com/office/officeart/2005/8/layout/cycle4"/>
    <dgm:cxn modelId="{28308748-25B5-4410-A7DE-0A497549BB47}" type="presOf" srcId="{E054BA09-57D2-4044-9F99-031A75B01E50}" destId="{DC3DB20F-5A8B-4821-921B-702303BF086D}" srcOrd="0" destOrd="0" presId="urn:microsoft.com/office/officeart/2005/8/layout/cycle4"/>
    <dgm:cxn modelId="{734C7994-E260-4C11-8A82-C6EF00EBC46A}" srcId="{A465B82A-2C90-4E57-8AD8-3965E94A43B6}" destId="{E054BA09-57D2-4044-9F99-031A75B01E50}" srcOrd="1" destOrd="0" parTransId="{B7FAE1CE-18B0-41D7-8E27-D307471F6331}" sibTransId="{2C31EDF8-0BE2-4D15-950B-009FA9B04EBE}"/>
    <dgm:cxn modelId="{1802AEF7-6C85-403E-B9E1-A88498ECE474}" type="presOf" srcId="{33B0629D-230C-47E5-A4D3-AB03AF3AA1FD}" destId="{B05A5E82-EE8A-40CF-82A2-729A706A5F8A}" srcOrd="1" destOrd="2" presId="urn:microsoft.com/office/officeart/2005/8/layout/cycle4"/>
    <dgm:cxn modelId="{4999DED6-DDFB-4516-A29B-6ECD43514F98}" type="presOf" srcId="{9D9DAB6E-67F2-41CD-A499-C8C571E8DEA6}" destId="{EABF36CD-18E4-4903-A8EF-B54F9DE7E140}" srcOrd="0" destOrd="0" presId="urn:microsoft.com/office/officeart/2005/8/layout/cycle4"/>
    <dgm:cxn modelId="{05B4EF09-5E9D-4DE1-B0D9-69CA3A026FC3}" type="presOf" srcId="{C4115F9B-1C95-4A9D-9EDA-E1411995BFF5}" destId="{539C9776-6EA9-417A-9C5F-72CB1228BD33}" srcOrd="1" destOrd="0" presId="urn:microsoft.com/office/officeart/2005/8/layout/cycle4"/>
    <dgm:cxn modelId="{6979FE84-F972-4150-A447-40407207AD92}" type="presOf" srcId="{B760A5A2-824B-421B-A107-40F1E29A61A6}" destId="{B05A5E82-EE8A-40CF-82A2-729A706A5F8A}" srcOrd="1" destOrd="1" presId="urn:microsoft.com/office/officeart/2005/8/layout/cycle4"/>
    <dgm:cxn modelId="{F1924081-C1AA-49DA-9515-A34F1AFAFFFC}" srcId="{42340AAC-157B-4C01-A8D7-B4568397DB03}" destId="{33B0629D-230C-47E5-A4D3-AB03AF3AA1FD}" srcOrd="2" destOrd="0" parTransId="{D41FEEB4-6FE9-4F32-BEAF-95568A873F91}" sibTransId="{630AE694-7BED-48CB-B761-17653F2741AA}"/>
    <dgm:cxn modelId="{60479B1C-DB44-40F1-8774-354662E9C802}" srcId="{A465B82A-2C90-4E57-8AD8-3965E94A43B6}" destId="{9D9DAB6E-67F2-41CD-A499-C8C571E8DEA6}" srcOrd="0" destOrd="0" parTransId="{E4E1F851-6087-45F4-A571-FBAB3DFA5711}" sibTransId="{1AD8104C-6009-4EC6-90C4-318CA26B5A4C}"/>
    <dgm:cxn modelId="{7450A1D9-73D7-42E6-A601-0C402F04D174}" type="presOf" srcId="{33B0629D-230C-47E5-A4D3-AB03AF3AA1FD}" destId="{A0530372-8BA8-4EE5-A415-22C0BBF8C674}" srcOrd="0" destOrd="2" presId="urn:microsoft.com/office/officeart/2005/8/layout/cycle4"/>
    <dgm:cxn modelId="{213A4BCD-F6D0-41DD-B9FF-2CCC7DB50C90}" srcId="{59B0EB99-685A-4E0B-A873-32A50B83B396}" destId="{D446354C-99D8-4735-9DBA-B19CE9DC1848}" srcOrd="0" destOrd="0" parTransId="{97291091-9D0D-4AA1-A723-3267D0913BC7}" sibTransId="{30156C57-D384-49B5-915B-75370823A068}"/>
    <dgm:cxn modelId="{98E7FE05-04F7-44D2-8373-EDAE482A0D9A}" type="presOf" srcId="{D446354C-99D8-4735-9DBA-B19CE9DC1848}" destId="{C5A20BE6-EA96-4C60-B53F-2668322BA33F}" srcOrd="1" destOrd="0" presId="urn:microsoft.com/office/officeart/2005/8/layout/cycle4"/>
    <dgm:cxn modelId="{5A60E105-AFA5-4505-8A88-D8EC1E4AC068}" srcId="{E054BA09-57D2-4044-9F99-031A75B01E50}" destId="{C4115F9B-1C95-4A9D-9EDA-E1411995BFF5}" srcOrd="0" destOrd="0" parTransId="{A3A522FF-2CA2-496F-9567-9A566C03DBD1}" sibTransId="{FB511086-9F62-445B-AABE-AA4E5CF52467}"/>
    <dgm:cxn modelId="{CFE8436B-77D4-4CB3-8D1B-887B86C6FBE4}" srcId="{42340AAC-157B-4C01-A8D7-B4568397DB03}" destId="{E531101D-9792-4EFA-8D92-3096F9F117BC}" srcOrd="0" destOrd="0" parTransId="{83D9C3C2-ACB5-4196-B323-6D77BE7291A4}" sibTransId="{5E6512BB-3947-44C3-B1BB-AFA9C8B6FF48}"/>
    <dgm:cxn modelId="{4F4EC0D2-4C45-47AB-86A0-9F8DB1C660E9}" type="presParOf" srcId="{47C8C4C2-2DE2-4ACA-9663-FB063FE473A0}" destId="{854C2C98-8F10-4C21-890A-F84C1798EE31}" srcOrd="0" destOrd="0" presId="urn:microsoft.com/office/officeart/2005/8/layout/cycle4"/>
    <dgm:cxn modelId="{8B6A62BA-2C7E-48E4-8A22-03EF94481B7F}" type="presParOf" srcId="{854C2C98-8F10-4C21-890A-F84C1798EE31}" destId="{A610C802-A936-4AA5-A399-8C9BA01F7DF3}" srcOrd="0" destOrd="0" presId="urn:microsoft.com/office/officeart/2005/8/layout/cycle4"/>
    <dgm:cxn modelId="{404E3971-1403-4196-A46A-8905E7F279A9}" type="presParOf" srcId="{A610C802-A936-4AA5-A399-8C9BA01F7DF3}" destId="{AE7B60EE-31A3-42EA-A57C-9FE5752C5D6D}" srcOrd="0" destOrd="0" presId="urn:microsoft.com/office/officeart/2005/8/layout/cycle4"/>
    <dgm:cxn modelId="{F11C7B67-9CFE-4061-8EC5-CE33E2415A3A}" type="presParOf" srcId="{A610C802-A936-4AA5-A399-8C9BA01F7DF3}" destId="{8E25D874-6590-46E6-892A-56482777BF1B}" srcOrd="1" destOrd="0" presId="urn:microsoft.com/office/officeart/2005/8/layout/cycle4"/>
    <dgm:cxn modelId="{C6017EB3-3467-461A-AD09-E9E1390E4B93}" type="presParOf" srcId="{854C2C98-8F10-4C21-890A-F84C1798EE31}" destId="{69F9E037-11CC-44F5-B60B-BBC632E2E345}" srcOrd="1" destOrd="0" presId="urn:microsoft.com/office/officeart/2005/8/layout/cycle4"/>
    <dgm:cxn modelId="{E99C3031-18AE-4610-8D87-8C18BA046C6C}" type="presParOf" srcId="{69F9E037-11CC-44F5-B60B-BBC632E2E345}" destId="{3D3B1946-2AB1-4BAE-862D-18A900DBC16A}" srcOrd="0" destOrd="0" presId="urn:microsoft.com/office/officeart/2005/8/layout/cycle4"/>
    <dgm:cxn modelId="{C09506A3-F2EC-44F5-BF5C-880C1A695B93}" type="presParOf" srcId="{69F9E037-11CC-44F5-B60B-BBC632E2E345}" destId="{539C9776-6EA9-417A-9C5F-72CB1228BD33}" srcOrd="1" destOrd="0" presId="urn:microsoft.com/office/officeart/2005/8/layout/cycle4"/>
    <dgm:cxn modelId="{195392F5-7030-442C-AC3E-E171F7F55722}" type="presParOf" srcId="{854C2C98-8F10-4C21-890A-F84C1798EE31}" destId="{FFA7F758-D946-47EB-B300-D4A9D55E9158}" srcOrd="2" destOrd="0" presId="urn:microsoft.com/office/officeart/2005/8/layout/cycle4"/>
    <dgm:cxn modelId="{30000543-FB41-44AF-AF39-55CEBDC91E1A}" type="presParOf" srcId="{FFA7F758-D946-47EB-B300-D4A9D55E9158}" destId="{A0530372-8BA8-4EE5-A415-22C0BBF8C674}" srcOrd="0" destOrd="0" presId="urn:microsoft.com/office/officeart/2005/8/layout/cycle4"/>
    <dgm:cxn modelId="{FE37BF05-EEFD-4BFF-BE19-A121C2005BAB}" type="presParOf" srcId="{FFA7F758-D946-47EB-B300-D4A9D55E9158}" destId="{B05A5E82-EE8A-40CF-82A2-729A706A5F8A}" srcOrd="1" destOrd="0" presId="urn:microsoft.com/office/officeart/2005/8/layout/cycle4"/>
    <dgm:cxn modelId="{3285E754-B2E1-455D-A3CE-B6C95F5B0F67}" type="presParOf" srcId="{854C2C98-8F10-4C21-890A-F84C1798EE31}" destId="{E8021B3A-1587-4F08-8D40-1C32BF625B44}" srcOrd="3" destOrd="0" presId="urn:microsoft.com/office/officeart/2005/8/layout/cycle4"/>
    <dgm:cxn modelId="{F46435C8-DA5E-443C-9631-D7B6A9AFF786}" type="presParOf" srcId="{E8021B3A-1587-4F08-8D40-1C32BF625B44}" destId="{1B63E234-918A-43F0-858A-C9AEAB5D3D7C}" srcOrd="0" destOrd="0" presId="urn:microsoft.com/office/officeart/2005/8/layout/cycle4"/>
    <dgm:cxn modelId="{CDDF4905-F82B-4F89-B6D2-822108656D92}" type="presParOf" srcId="{E8021B3A-1587-4F08-8D40-1C32BF625B44}" destId="{C5A20BE6-EA96-4C60-B53F-2668322BA33F}" srcOrd="1" destOrd="0" presId="urn:microsoft.com/office/officeart/2005/8/layout/cycle4"/>
    <dgm:cxn modelId="{3816D8D1-8201-4188-B64A-A2CAAEE99CB6}" type="presParOf" srcId="{854C2C98-8F10-4C21-890A-F84C1798EE31}" destId="{0144E64A-A408-4A64-AB89-C5E9D44F8512}" srcOrd="4" destOrd="0" presId="urn:microsoft.com/office/officeart/2005/8/layout/cycle4"/>
    <dgm:cxn modelId="{C76550F7-F81B-42DC-A8EC-2E8A33B22BBA}" type="presParOf" srcId="{47C8C4C2-2DE2-4ACA-9663-FB063FE473A0}" destId="{29BB188C-CFF9-4C04-B865-8B687ED61366}" srcOrd="1" destOrd="0" presId="urn:microsoft.com/office/officeart/2005/8/layout/cycle4"/>
    <dgm:cxn modelId="{78E9A8F9-001C-4D59-8BFE-CE5A0676F074}" type="presParOf" srcId="{29BB188C-CFF9-4C04-B865-8B687ED61366}" destId="{EABF36CD-18E4-4903-A8EF-B54F9DE7E140}" srcOrd="0" destOrd="0" presId="urn:microsoft.com/office/officeart/2005/8/layout/cycle4"/>
    <dgm:cxn modelId="{00A4FA08-7829-4F2F-9426-CEB7697E540A}" type="presParOf" srcId="{29BB188C-CFF9-4C04-B865-8B687ED61366}" destId="{DC3DB20F-5A8B-4821-921B-702303BF086D}" srcOrd="1" destOrd="0" presId="urn:microsoft.com/office/officeart/2005/8/layout/cycle4"/>
    <dgm:cxn modelId="{58C876C3-BD5E-425F-B907-5B41A8FC2F7D}" type="presParOf" srcId="{29BB188C-CFF9-4C04-B865-8B687ED61366}" destId="{88D53F9A-40D3-4F44-87EF-4A41AE67CAEA}" srcOrd="2" destOrd="0" presId="urn:microsoft.com/office/officeart/2005/8/layout/cycle4"/>
    <dgm:cxn modelId="{707F181F-B911-454D-8DD7-4280AF3D66B0}" type="presParOf" srcId="{29BB188C-CFF9-4C04-B865-8B687ED61366}" destId="{259EE9C9-79C2-4DA5-80FB-FB29D267D63F}" srcOrd="3" destOrd="0" presId="urn:microsoft.com/office/officeart/2005/8/layout/cycle4"/>
    <dgm:cxn modelId="{AF4819D0-866C-4A8C-A4FC-C1ADE0C8E7AE}" type="presParOf" srcId="{29BB188C-CFF9-4C04-B865-8B687ED61366}" destId="{AB9A7170-1B8F-4E95-B60D-A9DF3A6B8535}" srcOrd="4" destOrd="0" presId="urn:microsoft.com/office/officeart/2005/8/layout/cycle4"/>
    <dgm:cxn modelId="{DFE06798-895B-46C4-87A6-A93A19394304}" type="presParOf" srcId="{47C8C4C2-2DE2-4ACA-9663-FB063FE473A0}" destId="{B9791EBB-BE29-44C2-9E97-224313E7F552}" srcOrd="2" destOrd="0" presId="urn:microsoft.com/office/officeart/2005/8/layout/cycle4"/>
    <dgm:cxn modelId="{56C74725-4ED5-4DA2-A9A1-3E38E8EF9DB4}" type="presParOf" srcId="{47C8C4C2-2DE2-4ACA-9663-FB063FE473A0}" destId="{D841F545-544B-4100-892C-35BA6C4AEADB}"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30372-8BA8-4EE5-A415-22C0BBF8C674}">
      <dsp:nvSpPr>
        <dsp:cNvPr id="0" name=""/>
        <dsp:cNvSpPr/>
      </dsp:nvSpPr>
      <dsp:spPr>
        <a:xfrm>
          <a:off x="3347023" y="3176122"/>
          <a:ext cx="3357671" cy="1485977"/>
        </a:xfrm>
        <a:prstGeom prst="roundRect">
          <a:avLst>
            <a:gd name="adj" fmla="val 10000"/>
          </a:avLst>
        </a:prstGeom>
        <a:solidFill>
          <a:srgbClr val="FFFF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endParaRPr lang="en-IN" sz="1400" b="1"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endParaRPr lang="en-IN" sz="1400" b="1"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endParaRPr lang="en-IN" sz="1400" b="1"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r>
            <a:rPr lang="en-US" sz="1400" b="1" kern="1200" dirty="0" smtClean="0">
              <a:latin typeface="Times New Roman" panose="02020603050405020304" pitchFamily="18" charset="0"/>
              <a:cs typeface="Times New Roman" panose="02020603050405020304" pitchFamily="18" charset="0"/>
            </a:rPr>
            <a:t>How customers are informed about products</a:t>
          </a:r>
          <a:endParaRPr lang="en-IN" sz="1400" b="1" kern="1200" dirty="0">
            <a:latin typeface="Times New Roman" panose="02020603050405020304" pitchFamily="18" charset="0"/>
            <a:cs typeface="Times New Roman" panose="02020603050405020304" pitchFamily="18" charset="0"/>
          </a:endParaRPr>
        </a:p>
      </dsp:txBody>
      <dsp:txXfrm>
        <a:off x="4386966" y="3580258"/>
        <a:ext cx="2285085" cy="1049198"/>
      </dsp:txXfrm>
    </dsp:sp>
    <dsp:sp modelId="{1B63E234-918A-43F0-858A-C9AEAB5D3D7C}">
      <dsp:nvSpPr>
        <dsp:cNvPr id="0" name=""/>
        <dsp:cNvSpPr/>
      </dsp:nvSpPr>
      <dsp:spPr>
        <a:xfrm>
          <a:off x="136065" y="3176122"/>
          <a:ext cx="2293977" cy="1485977"/>
        </a:xfrm>
        <a:prstGeom prst="roundRect">
          <a:avLst>
            <a:gd name="adj" fmla="val 10000"/>
          </a:avLst>
        </a:prstGeom>
        <a:solidFill>
          <a:schemeClr val="accent6"/>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smtClean="0">
              <a:latin typeface="Times New Roman" panose="02020603050405020304" pitchFamily="18" charset="0"/>
              <a:cs typeface="Times New Roman" panose="02020603050405020304" pitchFamily="18" charset="0"/>
            </a:rPr>
            <a:t>Point where products are made available</a:t>
          </a:r>
          <a:endParaRPr lang="en-IN" sz="1600" b="1" kern="1200" dirty="0">
            <a:latin typeface="Times New Roman" panose="02020603050405020304" pitchFamily="18" charset="0"/>
            <a:cs typeface="Times New Roman" panose="02020603050405020304" pitchFamily="18" charset="0"/>
          </a:endParaRPr>
        </a:p>
      </dsp:txBody>
      <dsp:txXfrm>
        <a:off x="168707" y="3580258"/>
        <a:ext cx="1540500" cy="1049198"/>
      </dsp:txXfrm>
    </dsp:sp>
    <dsp:sp modelId="{3D3B1946-2AB1-4BAE-862D-18A900DBC16A}">
      <dsp:nvSpPr>
        <dsp:cNvPr id="0" name=""/>
        <dsp:cNvSpPr/>
      </dsp:nvSpPr>
      <dsp:spPr>
        <a:xfrm>
          <a:off x="3878870" y="18420"/>
          <a:ext cx="2293977" cy="1485977"/>
        </a:xfrm>
        <a:prstGeom prst="roundRect">
          <a:avLst>
            <a:gd name="adj" fmla="val 10000"/>
          </a:avLst>
        </a:prstGeom>
        <a:solidFill>
          <a:srgbClr val="7030A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smtClean="0">
              <a:latin typeface="Times New Roman" panose="02020603050405020304" pitchFamily="18" charset="0"/>
              <a:cs typeface="Times New Roman" panose="02020603050405020304" pitchFamily="18" charset="0"/>
            </a:rPr>
            <a:t>How much customer has to pay</a:t>
          </a:r>
          <a:endParaRPr lang="en-IN" sz="1600" b="1" kern="1200" dirty="0">
            <a:latin typeface="Times New Roman" panose="02020603050405020304" pitchFamily="18" charset="0"/>
            <a:cs typeface="Times New Roman" panose="02020603050405020304" pitchFamily="18" charset="0"/>
          </a:endParaRPr>
        </a:p>
      </dsp:txBody>
      <dsp:txXfrm>
        <a:off x="4599705" y="51062"/>
        <a:ext cx="1540500" cy="1049198"/>
      </dsp:txXfrm>
    </dsp:sp>
    <dsp:sp modelId="{AE7B60EE-31A3-42EA-A57C-9FE5752C5D6D}">
      <dsp:nvSpPr>
        <dsp:cNvPr id="0" name=""/>
        <dsp:cNvSpPr/>
      </dsp:nvSpPr>
      <dsp:spPr>
        <a:xfrm>
          <a:off x="83097" y="18420"/>
          <a:ext cx="2293977" cy="1485977"/>
        </a:xfrm>
        <a:prstGeom prst="roundRect">
          <a:avLst>
            <a:gd name="adj" fmla="val 10000"/>
          </a:avLst>
        </a:prstGeom>
        <a:solidFill>
          <a:srgbClr val="00B0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smtClean="0">
              <a:latin typeface="Times New Roman" panose="02020603050405020304" pitchFamily="18" charset="0"/>
              <a:cs typeface="Times New Roman" panose="02020603050405020304" pitchFamily="18" charset="0"/>
            </a:rPr>
            <a:t>Features, Appearance</a:t>
          </a:r>
          <a:endParaRPr lang="en-IN" sz="1800" b="1" kern="1200" dirty="0">
            <a:latin typeface="Times New Roman" panose="02020603050405020304" pitchFamily="18" charset="0"/>
            <a:cs typeface="Times New Roman" panose="02020603050405020304" pitchFamily="18" charset="0"/>
          </a:endParaRPr>
        </a:p>
      </dsp:txBody>
      <dsp:txXfrm>
        <a:off x="115739" y="51062"/>
        <a:ext cx="1540500" cy="1049198"/>
      </dsp:txXfrm>
    </dsp:sp>
    <dsp:sp modelId="{EABF36CD-18E4-4903-A8EF-B54F9DE7E140}">
      <dsp:nvSpPr>
        <dsp:cNvPr id="0" name=""/>
        <dsp:cNvSpPr/>
      </dsp:nvSpPr>
      <dsp:spPr>
        <a:xfrm>
          <a:off x="983195" y="46002"/>
          <a:ext cx="2853161" cy="2687458"/>
        </a:xfrm>
        <a:prstGeom prst="pieWedg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kern="1200" dirty="0" smtClean="0">
              <a:latin typeface="Times New Roman" panose="02020603050405020304" pitchFamily="18" charset="0"/>
              <a:cs typeface="Times New Roman" panose="02020603050405020304" pitchFamily="18" charset="0"/>
            </a:rPr>
            <a:t>Product</a:t>
          </a:r>
          <a:endParaRPr lang="en-IN" sz="2400" b="1" kern="1200" dirty="0">
            <a:latin typeface="Times New Roman" panose="02020603050405020304" pitchFamily="18" charset="0"/>
            <a:cs typeface="Times New Roman" panose="02020603050405020304" pitchFamily="18" charset="0"/>
          </a:endParaRPr>
        </a:p>
      </dsp:txBody>
      <dsp:txXfrm>
        <a:off x="1818867" y="833140"/>
        <a:ext cx="2017489" cy="1900320"/>
      </dsp:txXfrm>
    </dsp:sp>
    <dsp:sp modelId="{DC3DB20F-5A8B-4821-921B-702303BF086D}">
      <dsp:nvSpPr>
        <dsp:cNvPr id="0" name=""/>
        <dsp:cNvSpPr/>
      </dsp:nvSpPr>
      <dsp:spPr>
        <a:xfrm rot="5400000">
          <a:off x="3365054" y="315267"/>
          <a:ext cx="2203399" cy="2148929"/>
        </a:xfrm>
        <a:prstGeom prst="pieWedge">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kern="1200" dirty="0" smtClean="0">
              <a:latin typeface="Times New Roman" panose="02020603050405020304" pitchFamily="18" charset="0"/>
              <a:cs typeface="Times New Roman" panose="02020603050405020304" pitchFamily="18" charset="0"/>
            </a:rPr>
            <a:t>Price</a:t>
          </a:r>
          <a:endParaRPr lang="en-IN" sz="2400" b="1" kern="1200" dirty="0">
            <a:latin typeface="Times New Roman" panose="02020603050405020304" pitchFamily="18" charset="0"/>
            <a:cs typeface="Times New Roman" panose="02020603050405020304" pitchFamily="18" charset="0"/>
          </a:endParaRPr>
        </a:p>
      </dsp:txBody>
      <dsp:txXfrm rot="-5400000">
        <a:off x="3392289" y="933393"/>
        <a:ext cx="1519522" cy="1558038"/>
      </dsp:txXfrm>
    </dsp:sp>
    <dsp:sp modelId="{88D53F9A-40D3-4F44-87EF-4A41AE67CAEA}">
      <dsp:nvSpPr>
        <dsp:cNvPr id="0" name=""/>
        <dsp:cNvSpPr/>
      </dsp:nvSpPr>
      <dsp:spPr>
        <a:xfrm rot="10800000">
          <a:off x="3241486" y="2304252"/>
          <a:ext cx="2580950" cy="2284913"/>
        </a:xfrm>
        <a:prstGeom prst="pieWedg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kern="1200" dirty="0" smtClean="0">
              <a:latin typeface="Times New Roman" panose="02020603050405020304" pitchFamily="18" charset="0"/>
              <a:cs typeface="Times New Roman" panose="02020603050405020304" pitchFamily="18" charset="0"/>
            </a:rPr>
            <a:t>Promotion</a:t>
          </a:r>
          <a:endParaRPr lang="en-IN" sz="2000" b="1" kern="1200" dirty="0">
            <a:latin typeface="Times New Roman" panose="02020603050405020304" pitchFamily="18" charset="0"/>
            <a:cs typeface="Times New Roman" panose="02020603050405020304" pitchFamily="18" charset="0"/>
          </a:endParaRPr>
        </a:p>
      </dsp:txBody>
      <dsp:txXfrm rot="10800000">
        <a:off x="3241486" y="2304252"/>
        <a:ext cx="1825007" cy="1615677"/>
      </dsp:txXfrm>
    </dsp:sp>
    <dsp:sp modelId="{259EE9C9-79C2-4DA5-80FB-FB29D267D63F}">
      <dsp:nvSpPr>
        <dsp:cNvPr id="0" name=""/>
        <dsp:cNvSpPr/>
      </dsp:nvSpPr>
      <dsp:spPr>
        <a:xfrm rot="16200000">
          <a:off x="1545059" y="2481155"/>
          <a:ext cx="1783160" cy="1895478"/>
        </a:xfrm>
        <a:prstGeom prst="pieWedge">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kern="1200" dirty="0" smtClean="0">
              <a:latin typeface="Times New Roman" panose="02020603050405020304" pitchFamily="18" charset="0"/>
              <a:cs typeface="Times New Roman" panose="02020603050405020304" pitchFamily="18" charset="0"/>
            </a:rPr>
            <a:t>Place</a:t>
          </a:r>
          <a:endParaRPr lang="en-IN" sz="2000" b="1" kern="1200" dirty="0">
            <a:latin typeface="Times New Roman" panose="02020603050405020304" pitchFamily="18" charset="0"/>
            <a:cs typeface="Times New Roman" panose="02020603050405020304" pitchFamily="18" charset="0"/>
          </a:endParaRPr>
        </a:p>
      </dsp:txBody>
      <dsp:txXfrm rot="5400000">
        <a:off x="2044073" y="2537314"/>
        <a:ext cx="1340305" cy="1260885"/>
      </dsp:txXfrm>
    </dsp:sp>
    <dsp:sp modelId="{B9791EBB-BE29-44C2-9E97-224313E7F552}">
      <dsp:nvSpPr>
        <dsp:cNvPr id="0" name=""/>
        <dsp:cNvSpPr/>
      </dsp:nvSpPr>
      <dsp:spPr>
        <a:xfrm>
          <a:off x="3073265" y="1922328"/>
          <a:ext cx="694229" cy="603678"/>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41F545-544B-4100-892C-35BA6C4AEADB}">
      <dsp:nvSpPr>
        <dsp:cNvPr id="0" name=""/>
        <dsp:cNvSpPr/>
      </dsp:nvSpPr>
      <dsp:spPr>
        <a:xfrm rot="10800000">
          <a:off x="3073265" y="2154512"/>
          <a:ext cx="694229" cy="603678"/>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C25B37-2FAF-42AC-A552-7D63996B7DE8}" type="datetimeFigureOut">
              <a:rPr lang="en-IN" smtClean="0"/>
              <a:t>24-10-2024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BB5406-F4AB-4C73-9DFC-12CADFA23C29}" type="slidenum">
              <a:rPr lang="en-IN" smtClean="0"/>
              <a:t>‹#›</a:t>
            </a:fld>
            <a:endParaRPr lang="en-IN"/>
          </a:p>
        </p:txBody>
      </p:sp>
    </p:spTree>
    <p:extLst>
      <p:ext uri="{BB962C8B-B14F-4D97-AF65-F5344CB8AC3E}">
        <p14:creationId xmlns:p14="http://schemas.microsoft.com/office/powerpoint/2010/main" val="4278896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91E8CC-44D5-4467-9582-B01D68F276BD}" type="slidenum">
              <a:rPr lang="en-US" smtClean="0"/>
              <a:t>17</a:t>
            </a:fld>
            <a:endParaRPr lang="en-US"/>
          </a:p>
        </p:txBody>
      </p:sp>
    </p:spTree>
    <p:extLst>
      <p:ext uri="{BB962C8B-B14F-4D97-AF65-F5344CB8AC3E}">
        <p14:creationId xmlns:p14="http://schemas.microsoft.com/office/powerpoint/2010/main" val="995280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6BB5406-F4AB-4C73-9DFC-12CADFA23C29}" type="slidenum">
              <a:rPr lang="en-IN" smtClean="0"/>
              <a:t>40</a:t>
            </a:fld>
            <a:endParaRPr lang="en-IN"/>
          </a:p>
        </p:txBody>
      </p:sp>
    </p:spTree>
    <p:extLst>
      <p:ext uri="{BB962C8B-B14F-4D97-AF65-F5344CB8AC3E}">
        <p14:creationId xmlns:p14="http://schemas.microsoft.com/office/powerpoint/2010/main" val="3405167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0E02333-8AFB-4F3A-90D7-5335B556D797}" type="datetimeFigureOut">
              <a:rPr lang="en-IN" smtClean="0"/>
              <a:t>24-10-2024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3383267214"/>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0E02333-8AFB-4F3A-90D7-5335B556D797}" type="datetimeFigureOut">
              <a:rPr lang="en-IN" smtClean="0"/>
              <a:t>24-10-2024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3730247433"/>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E02333-8AFB-4F3A-90D7-5335B556D797}" type="datetimeFigureOut">
              <a:rPr lang="en-IN" smtClean="0"/>
              <a:t>24-10-2024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131149936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0E02333-8AFB-4F3A-90D7-5335B556D797}" type="datetimeFigureOut">
              <a:rPr lang="en-IN" smtClean="0"/>
              <a:t>24-10-2024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2794045445"/>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0E02333-8AFB-4F3A-90D7-5335B556D797}" type="datetimeFigureOut">
              <a:rPr lang="en-IN" smtClean="0"/>
              <a:t>24-10-2024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1122719695"/>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0E02333-8AFB-4F3A-90D7-5335B556D797}" type="datetimeFigureOut">
              <a:rPr lang="en-IN" smtClean="0"/>
              <a:t>24-10-2024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1437517874"/>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E02333-8AFB-4F3A-90D7-5335B556D797}" type="datetimeFigureOut">
              <a:rPr lang="en-IN" smtClean="0"/>
              <a:t>24-10-2024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4291872780"/>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E02333-8AFB-4F3A-90D7-5335B556D797}" type="datetimeFigureOut">
              <a:rPr lang="en-IN" smtClean="0"/>
              <a:t>24-10-2024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3155651676"/>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E02333-8AFB-4F3A-90D7-5335B556D797}" type="datetimeFigureOut">
              <a:rPr lang="en-IN" smtClean="0"/>
              <a:t>24-10-2024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3896230742"/>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0E02333-8AFB-4F3A-90D7-5335B556D797}" type="datetimeFigureOut">
              <a:rPr lang="en-IN" smtClean="0"/>
              <a:t>24-10-2024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2342706519"/>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0E02333-8AFB-4F3A-90D7-5335B556D797}" type="datetimeFigureOut">
              <a:rPr lang="en-IN" smtClean="0"/>
              <a:t>24-10-2024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B55D17-41AA-487B-A998-7682BAACAF0D}" type="slidenum">
              <a:rPr lang="en-IN" smtClean="0"/>
              <a:t>‹#›</a:t>
            </a:fld>
            <a:endParaRPr lang="en-IN"/>
          </a:p>
        </p:txBody>
      </p:sp>
    </p:spTree>
    <p:extLst>
      <p:ext uri="{BB962C8B-B14F-4D97-AF65-F5344CB8AC3E}">
        <p14:creationId xmlns:p14="http://schemas.microsoft.com/office/powerpoint/2010/main" val="1122422633"/>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E02333-8AFB-4F3A-90D7-5335B556D797}" type="datetimeFigureOut">
              <a:rPr lang="en-IN" smtClean="0"/>
              <a:t>24-10-2024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B55D17-41AA-487B-A998-7682BAACAF0D}" type="slidenum">
              <a:rPr lang="en-IN" smtClean="0"/>
              <a:t>‹#›</a:t>
            </a:fld>
            <a:endParaRPr lang="en-IN"/>
          </a:p>
        </p:txBody>
      </p:sp>
    </p:spTree>
    <p:extLst>
      <p:ext uri="{BB962C8B-B14F-4D97-AF65-F5344CB8AC3E}">
        <p14:creationId xmlns:p14="http://schemas.microsoft.com/office/powerpoint/2010/main" val="674929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6.xml"/><Relationship Id="rId4" Type="http://schemas.openxmlformats.org/officeDocument/2006/relationships/image" Target="../media/image3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2.jpeg"/></Relationships>
</file>

<file path=ppt/slides/_rels/slide4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7.xml"/><Relationship Id="rId4" Type="http://schemas.openxmlformats.org/officeDocument/2006/relationships/image" Target="../media/image56.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2204864"/>
            <a:ext cx="7556376" cy="1800200"/>
          </a:xfrm>
          <a:solidFill>
            <a:srgbClr val="92D050"/>
          </a:solidFill>
        </p:spPr>
        <p:txBody>
          <a:bodyPr/>
          <a:lstStyle/>
          <a:p>
            <a:r>
              <a:rPr lang="en-IN" b="1" dirty="0" smtClean="0">
                <a:latin typeface="Times New Roman" pitchFamily="18" charset="0"/>
                <a:cs typeface="Times New Roman" pitchFamily="18" charset="0"/>
              </a:rPr>
              <a:t>Marketing </a:t>
            </a:r>
            <a:br>
              <a:rPr lang="en-IN" b="1" dirty="0" smtClean="0">
                <a:latin typeface="Times New Roman" pitchFamily="18" charset="0"/>
                <a:cs typeface="Times New Roman" pitchFamily="18" charset="0"/>
              </a:rPr>
            </a:br>
            <a:r>
              <a:rPr lang="en-IN" b="1" dirty="0" smtClean="0">
                <a:solidFill>
                  <a:srgbClr val="FF0000"/>
                </a:solidFill>
                <a:latin typeface="Times New Roman" pitchFamily="18" charset="0"/>
                <a:cs typeface="Times New Roman" pitchFamily="18" charset="0"/>
              </a:rPr>
              <a:t>Mix</a:t>
            </a:r>
            <a:endParaRPr lang="en-IN"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524513591"/>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Haldiram 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988840"/>
            <a:ext cx="4464496" cy="2554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955055"/>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i.ytimg.com/vi/r1IRv_-C2xs/maxresdefaul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9699" y="2080358"/>
            <a:ext cx="4294833" cy="265581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141" y="908720"/>
            <a:ext cx="2157503" cy="303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descr="https://cf.shopee.sg/file/194dee19db3eaa7db4f9aed33b4d9252"/>
          <p:cNvPicPr>
            <a:picLocks noChangeAspect="1" noChangeArrowheads="1"/>
          </p:cNvPicPr>
          <p:nvPr/>
        </p:nvPicPr>
        <p:blipFill rotWithShape="1">
          <a:blip r:embed="rId4">
            <a:extLst>
              <a:ext uri="{28A0092B-C50C-407E-A947-70E740481C1C}">
                <a14:useLocalDpi xmlns:a14="http://schemas.microsoft.com/office/drawing/2010/main" val="0"/>
              </a:ext>
            </a:extLst>
          </a:blip>
          <a:srcRect l="34236" t="10331" r="36198" b="8749"/>
          <a:stretch/>
        </p:blipFill>
        <p:spPr bwMode="auto">
          <a:xfrm>
            <a:off x="7080954" y="2437280"/>
            <a:ext cx="1897854" cy="3744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541317"/>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www.asiandukan.co.uk/pub/media/catalog/product/cache/744ba2e6a57cef4cb8ac0090abd30278/h/a/haldiram_murukku.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196752"/>
            <a:ext cx="4608512" cy="460851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www.waangoo.com/cdn/shop/products/0012608_haldirams-south-indian-mixture.jpg?v=169469614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8024" y="1196752"/>
            <a:ext cx="4176463"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34238"/>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i1.wp.com/thepackman.in/wp-content/uploads/2018/10/Haldirams.jpg?fit=1920%2C1098&amp;ssl=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980728"/>
            <a:ext cx="7585171" cy="4337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677314"/>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96136" y="412881"/>
            <a:ext cx="2448272" cy="6001643"/>
          </a:xfrm>
          <a:prstGeom prst="rect">
            <a:avLst/>
          </a:prstGeom>
          <a:solidFill>
            <a:srgbClr val="FFFF00"/>
          </a:solid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Rs</a:t>
            </a:r>
            <a:r>
              <a:rPr lang="en-IN" sz="2400" b="1" dirty="0" smtClean="0">
                <a:solidFill>
                  <a:srgbClr val="FF0000"/>
                </a:solidFill>
                <a:latin typeface="Times New Roman" panose="02020603050405020304" pitchFamily="18" charset="0"/>
                <a:cs typeface="Times New Roman" panose="02020603050405020304" pitchFamily="18" charset="0"/>
              </a:rPr>
              <a:t> 5</a:t>
            </a:r>
            <a:endParaRPr lang="en-IN" sz="2400" b="1" dirty="0" smtClean="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endParaRPr lang="en-IN" sz="2400" b="1" dirty="0" smtClean="0">
              <a:latin typeface="Times New Roman" panose="02020603050405020304" pitchFamily="18" charset="0"/>
              <a:cs typeface="Times New Roman" panose="02020603050405020304" pitchFamily="18" charset="0"/>
            </a:endParaRPr>
          </a:p>
          <a:p>
            <a:pPr algn="ctr"/>
            <a:r>
              <a:rPr lang="en-IN" sz="2400" b="1" dirty="0" smtClean="0">
                <a:solidFill>
                  <a:srgbClr val="FF0000"/>
                </a:solidFill>
                <a:latin typeface="Times New Roman" panose="02020603050405020304" pitchFamily="18" charset="0"/>
                <a:cs typeface="Times New Roman" panose="02020603050405020304" pitchFamily="18" charset="0"/>
              </a:rPr>
              <a:t>Family Pack </a:t>
            </a:r>
          </a:p>
          <a:p>
            <a:pPr algn="ctr"/>
            <a:r>
              <a:rPr lang="en-IN" sz="2400" b="1" dirty="0" err="1" smtClean="0">
                <a:solidFill>
                  <a:srgbClr val="FF0000"/>
                </a:solidFill>
                <a:latin typeface="Times New Roman" panose="02020603050405020304" pitchFamily="18" charset="0"/>
                <a:cs typeface="Times New Roman" panose="02020603050405020304" pitchFamily="18" charset="0"/>
              </a:rPr>
              <a:t>Rs</a:t>
            </a:r>
            <a:r>
              <a:rPr lang="en-IN" sz="2400" b="1" dirty="0" smtClean="0">
                <a:solidFill>
                  <a:srgbClr val="FF0000"/>
                </a:solidFill>
                <a:latin typeface="Times New Roman" panose="02020603050405020304" pitchFamily="18" charset="0"/>
                <a:cs typeface="Times New Roman" panose="02020603050405020304" pitchFamily="18" charset="0"/>
              </a:rPr>
              <a:t> 160</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960" y="692696"/>
            <a:ext cx="792088" cy="1113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060848"/>
            <a:ext cx="3096344" cy="4353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2772535"/>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mastkhabar.com/wp-content/uploads/2021/11/Haldiram-Franchise-in-Ind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548680"/>
            <a:ext cx="7629525"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4253233"/>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i.pinimg.com/originals/09/27/fd/0927fd801d0d2e6886b768a5eae5cc8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980728"/>
            <a:ext cx="5181600" cy="5181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285039"/>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i.ytimg.com/vi/j48gnUlOE3U/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340768"/>
            <a:ext cx="7080721" cy="3982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191128"/>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b.zmtcdn.com/data/pictures/chains/2/3300272/67d010c134a54f510e49eab11593c41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1844824"/>
            <a:ext cx="6858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38569"/>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03648" y="1160748"/>
            <a:ext cx="6336704" cy="4320480"/>
          </a:xfrm>
          <a:prstGeom prst="rect">
            <a:avLst/>
          </a:prstGeom>
          <a:solidFill>
            <a:srgbClr val="FF0000"/>
          </a:solidFill>
        </p:spPr>
        <p:txBody>
          <a:bodyPr wrap="square" rtlCol="0">
            <a:spAutoFit/>
          </a:bodyPr>
          <a:lstStyle/>
          <a:p>
            <a:endParaRPr lang="en-IN" dirty="0"/>
          </a:p>
        </p:txBody>
      </p:sp>
      <p:pic>
        <p:nvPicPr>
          <p:cNvPr id="10242" name="Picture 2" descr="https://image.slidesharecdn.com/haldiramscasepresentation-140524132715-phpapp02/85/haldirams-case-presentationgetting-4-ps-right-28-320.jpg?cb=1666790694"/>
          <p:cNvPicPr>
            <a:picLocks noChangeAspect="1" noChangeArrowheads="1"/>
          </p:cNvPicPr>
          <p:nvPr/>
        </p:nvPicPr>
        <p:blipFill rotWithShape="1">
          <a:blip r:embed="rId2">
            <a:extLst>
              <a:ext uri="{28A0092B-C50C-407E-A947-70E740481C1C}">
                <a14:useLocalDpi xmlns:a14="http://schemas.microsoft.com/office/drawing/2010/main" val="0"/>
              </a:ext>
            </a:extLst>
          </a:blip>
          <a:srcRect l="19564" t="23187" r="5436" b="14494"/>
          <a:stretch/>
        </p:blipFill>
        <p:spPr bwMode="auto">
          <a:xfrm>
            <a:off x="2123728" y="1772816"/>
            <a:ext cx="4968552" cy="3096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43035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 name="Picture 2"/>
          <p:cNvPicPr/>
          <p:nvPr/>
        </p:nvPicPr>
        <p:blipFill>
          <a:blip r:embed="rId2"/>
          <a:stretch/>
        </p:blipFill>
        <p:spPr>
          <a:xfrm>
            <a:off x="2088150" y="1484784"/>
            <a:ext cx="4671060" cy="4223360"/>
          </a:xfrm>
          <a:prstGeom prst="rect">
            <a:avLst/>
          </a:prstGeom>
          <a:ln>
            <a:noFill/>
          </a:ln>
        </p:spPr>
      </p:pic>
    </p:spTree>
    <p:extLst>
      <p:ext uri="{BB962C8B-B14F-4D97-AF65-F5344CB8AC3E}">
        <p14:creationId xmlns:p14="http://schemas.microsoft.com/office/powerpoint/2010/main" val="2123869288"/>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685" y="116632"/>
            <a:ext cx="3024336" cy="2677656"/>
          </a:xfrm>
          <a:prstGeom prst="rect">
            <a:avLst/>
          </a:prstGeom>
          <a:solidFill>
            <a:srgbClr val="FFC000"/>
          </a:solidFill>
        </p:spPr>
        <p:txBody>
          <a:bodyPr wrap="square" rtlCol="0">
            <a:spAutoFit/>
          </a:bodyPr>
          <a:lstStyle/>
          <a:p>
            <a:r>
              <a:rPr lang="en-IN" sz="2400" b="1" dirty="0" smtClean="0">
                <a:solidFill>
                  <a:srgbClr val="FF0000"/>
                </a:solidFill>
              </a:rPr>
              <a:t>Product </a:t>
            </a:r>
          </a:p>
          <a:p>
            <a:r>
              <a:rPr lang="en-IN" b="1" dirty="0" smtClean="0"/>
              <a:t>Range includes</a:t>
            </a:r>
          </a:p>
          <a:p>
            <a:r>
              <a:rPr lang="en-IN" b="1" dirty="0" err="1" smtClean="0">
                <a:solidFill>
                  <a:srgbClr val="FF0000"/>
                </a:solidFill>
              </a:rPr>
              <a:t>Namkeens</a:t>
            </a:r>
            <a:r>
              <a:rPr lang="en-IN" b="1" dirty="0" smtClean="0">
                <a:solidFill>
                  <a:srgbClr val="FF0000"/>
                </a:solidFill>
              </a:rPr>
              <a:t>- Different Flavours</a:t>
            </a:r>
          </a:p>
          <a:p>
            <a:r>
              <a:rPr lang="en-IN" b="1" dirty="0" smtClean="0"/>
              <a:t>Sweets</a:t>
            </a:r>
          </a:p>
          <a:p>
            <a:r>
              <a:rPr lang="en-IN" b="1" dirty="0" err="1" smtClean="0"/>
              <a:t>Sharbats</a:t>
            </a:r>
            <a:endParaRPr lang="en-IN" b="1" dirty="0" smtClean="0"/>
          </a:p>
          <a:p>
            <a:r>
              <a:rPr lang="en-IN" b="1" dirty="0" smtClean="0"/>
              <a:t>Bakery items</a:t>
            </a:r>
          </a:p>
          <a:p>
            <a:r>
              <a:rPr lang="en-IN" b="1" dirty="0" smtClean="0"/>
              <a:t>Dairy Products</a:t>
            </a:r>
          </a:p>
          <a:p>
            <a:r>
              <a:rPr lang="en-IN" b="1" dirty="0" err="1" smtClean="0"/>
              <a:t>Papads</a:t>
            </a:r>
            <a:endParaRPr lang="en-IN" b="1" dirty="0" smtClean="0"/>
          </a:p>
          <a:p>
            <a:r>
              <a:rPr lang="en-IN" b="1" dirty="0" smtClean="0"/>
              <a:t>Ice –creams</a:t>
            </a:r>
            <a:endParaRPr lang="en-IN" b="1" dirty="0"/>
          </a:p>
        </p:txBody>
      </p:sp>
      <p:sp>
        <p:nvSpPr>
          <p:cNvPr id="3" name="TextBox 2"/>
          <p:cNvSpPr txBox="1"/>
          <p:nvPr/>
        </p:nvSpPr>
        <p:spPr>
          <a:xfrm>
            <a:off x="323528" y="2959160"/>
            <a:ext cx="3005493" cy="2123658"/>
          </a:xfrm>
          <a:prstGeom prst="rect">
            <a:avLst/>
          </a:prstGeom>
          <a:solidFill>
            <a:srgbClr val="92D050"/>
          </a:solidFill>
        </p:spPr>
        <p:txBody>
          <a:bodyPr wrap="square" rtlCol="0">
            <a:spAutoFit/>
          </a:bodyPr>
          <a:lstStyle/>
          <a:p>
            <a:r>
              <a:rPr lang="en-IN" sz="2400" b="1" dirty="0" smtClean="0">
                <a:solidFill>
                  <a:srgbClr val="FF0000"/>
                </a:solidFill>
              </a:rPr>
              <a:t>Price</a:t>
            </a:r>
          </a:p>
          <a:p>
            <a:r>
              <a:rPr lang="en-IN" b="1" dirty="0" smtClean="0"/>
              <a:t>Competitive Price</a:t>
            </a:r>
          </a:p>
          <a:p>
            <a:r>
              <a:rPr lang="en-IN" b="1" dirty="0" smtClean="0"/>
              <a:t>Price consciousness nature of Customer</a:t>
            </a:r>
          </a:p>
          <a:p>
            <a:r>
              <a:rPr lang="en-IN" b="1" dirty="0" smtClean="0"/>
              <a:t>Small pack </a:t>
            </a:r>
            <a:r>
              <a:rPr lang="en-IN" b="1" dirty="0" err="1" smtClean="0"/>
              <a:t>Rs</a:t>
            </a:r>
            <a:r>
              <a:rPr lang="en-IN" b="1" dirty="0" smtClean="0"/>
              <a:t> 5</a:t>
            </a:r>
          </a:p>
          <a:p>
            <a:r>
              <a:rPr lang="en-IN" b="1" dirty="0" smtClean="0"/>
              <a:t>Different packs – Rs100, 60, 40, 20, 10, 5</a:t>
            </a:r>
            <a:endParaRPr lang="en-IN" b="1" dirty="0"/>
          </a:p>
        </p:txBody>
      </p:sp>
      <p:sp>
        <p:nvSpPr>
          <p:cNvPr id="4" name="TextBox 3"/>
          <p:cNvSpPr txBox="1"/>
          <p:nvPr/>
        </p:nvSpPr>
        <p:spPr>
          <a:xfrm>
            <a:off x="357182" y="5103724"/>
            <a:ext cx="8448850" cy="1631216"/>
          </a:xfrm>
          <a:prstGeom prst="rect">
            <a:avLst/>
          </a:prstGeom>
          <a:solidFill>
            <a:srgbClr val="00B0F0"/>
          </a:solidFill>
        </p:spPr>
        <p:txBody>
          <a:bodyPr wrap="square" rtlCol="0">
            <a:spAutoFit/>
          </a:bodyPr>
          <a:lstStyle/>
          <a:p>
            <a:r>
              <a:rPr lang="en-IN" sz="2800" b="1" dirty="0" smtClean="0">
                <a:solidFill>
                  <a:srgbClr val="FF0000"/>
                </a:solidFill>
              </a:rPr>
              <a:t>Place</a:t>
            </a:r>
          </a:p>
          <a:p>
            <a:r>
              <a:rPr lang="en-IN" b="1" dirty="0" smtClean="0"/>
              <a:t>Exclusive Showrooms</a:t>
            </a:r>
          </a:p>
          <a:p>
            <a:r>
              <a:rPr lang="en-IN" b="1" dirty="0" smtClean="0"/>
              <a:t>Retail Outlets- Supermarkets, </a:t>
            </a:r>
            <a:r>
              <a:rPr lang="en-IN" b="1" dirty="0" smtClean="0">
                <a:solidFill>
                  <a:srgbClr val="FF0000"/>
                </a:solidFill>
              </a:rPr>
              <a:t>Sweet shops</a:t>
            </a:r>
            <a:r>
              <a:rPr lang="en-IN" b="1" dirty="0" smtClean="0"/>
              <a:t>, Bakeries, Railway stations, Bus stations</a:t>
            </a:r>
          </a:p>
          <a:p>
            <a:r>
              <a:rPr lang="en-IN" b="1" dirty="0" smtClean="0"/>
              <a:t>Ecommerce</a:t>
            </a:r>
          </a:p>
          <a:p>
            <a:r>
              <a:rPr lang="en-IN" b="1" dirty="0" smtClean="0"/>
              <a:t>Giftstoindia.com</a:t>
            </a:r>
            <a:endParaRPr lang="en-IN" b="1" dirty="0"/>
          </a:p>
        </p:txBody>
      </p:sp>
      <p:sp>
        <p:nvSpPr>
          <p:cNvPr id="5" name="TextBox 4"/>
          <p:cNvSpPr txBox="1"/>
          <p:nvPr/>
        </p:nvSpPr>
        <p:spPr>
          <a:xfrm>
            <a:off x="3762106" y="260648"/>
            <a:ext cx="3395032" cy="4678204"/>
          </a:xfrm>
          <a:prstGeom prst="rect">
            <a:avLst/>
          </a:prstGeom>
          <a:solidFill>
            <a:schemeClr val="bg1">
              <a:lumMod val="75000"/>
            </a:schemeClr>
          </a:solidFill>
        </p:spPr>
        <p:txBody>
          <a:bodyPr wrap="square" rtlCol="0">
            <a:spAutoFit/>
          </a:bodyPr>
          <a:lstStyle/>
          <a:p>
            <a:r>
              <a:rPr lang="en-IN" sz="2800" b="1" dirty="0" smtClean="0">
                <a:solidFill>
                  <a:srgbClr val="FF0000"/>
                </a:solidFill>
              </a:rPr>
              <a:t>Promotion</a:t>
            </a:r>
          </a:p>
          <a:p>
            <a:r>
              <a:rPr lang="en-IN" b="1" dirty="0" smtClean="0"/>
              <a:t>Attractive Posters, Banners</a:t>
            </a:r>
          </a:p>
          <a:p>
            <a:r>
              <a:rPr lang="en-IN" b="1" dirty="0" smtClean="0"/>
              <a:t>Appealing masses</a:t>
            </a:r>
          </a:p>
          <a:p>
            <a:r>
              <a:rPr lang="en-IN" b="1" dirty="0" err="1" smtClean="0"/>
              <a:t>Punchline</a:t>
            </a:r>
            <a:endParaRPr lang="en-IN" b="1" dirty="0" smtClean="0"/>
          </a:p>
          <a:p>
            <a:r>
              <a:rPr lang="en-IN" b="1" dirty="0" smtClean="0"/>
              <a:t>Always in good Taste</a:t>
            </a:r>
          </a:p>
          <a:p>
            <a:r>
              <a:rPr lang="en-IN" b="1" dirty="0"/>
              <a:t>The king of all chats</a:t>
            </a:r>
          </a:p>
          <a:p>
            <a:r>
              <a:rPr lang="en-IN" b="1" dirty="0"/>
              <a:t>Six Months on shelf and six seconds in your </a:t>
            </a:r>
            <a:r>
              <a:rPr lang="en-IN" b="1" dirty="0" smtClean="0"/>
              <a:t>mouth</a:t>
            </a:r>
          </a:p>
          <a:p>
            <a:r>
              <a:rPr lang="en-IN" b="1" dirty="0"/>
              <a:t>Captions- Millions of Tongues cant go wrong</a:t>
            </a:r>
          </a:p>
          <a:p>
            <a:endParaRPr lang="en-IN" b="1" dirty="0" smtClean="0"/>
          </a:p>
          <a:p>
            <a:r>
              <a:rPr lang="en-IN" b="1" dirty="0" smtClean="0"/>
              <a:t>Print –Entire Range</a:t>
            </a:r>
          </a:p>
          <a:p>
            <a:r>
              <a:rPr lang="en-IN" b="1" dirty="0" smtClean="0"/>
              <a:t>Hoardings- High Traffic areas (Train/Bus Stations)</a:t>
            </a:r>
          </a:p>
          <a:p>
            <a:r>
              <a:rPr lang="en-IN" b="1" dirty="0" smtClean="0"/>
              <a:t>Poster-History of </a:t>
            </a:r>
            <a:r>
              <a:rPr lang="en-IN" b="1" dirty="0" err="1" smtClean="0"/>
              <a:t>Haldiram’s</a:t>
            </a:r>
            <a:endParaRPr lang="en-IN" b="1" dirty="0"/>
          </a:p>
          <a:p>
            <a:r>
              <a:rPr lang="en-IN" b="1" dirty="0" smtClean="0"/>
              <a:t>POP displays- special racks</a:t>
            </a:r>
            <a:endParaRPr lang="en-IN" b="1" dirty="0"/>
          </a:p>
        </p:txBody>
      </p:sp>
      <p:sp>
        <p:nvSpPr>
          <p:cNvPr id="6" name="TextBox 5"/>
          <p:cNvSpPr txBox="1"/>
          <p:nvPr/>
        </p:nvSpPr>
        <p:spPr>
          <a:xfrm>
            <a:off x="7380312" y="568424"/>
            <a:ext cx="1425720" cy="4062651"/>
          </a:xfrm>
          <a:prstGeom prst="rect">
            <a:avLst/>
          </a:prstGeom>
          <a:solidFill>
            <a:srgbClr val="00B050"/>
          </a:solidFill>
        </p:spPr>
        <p:txBody>
          <a:bodyPr wrap="square" rtlCol="0">
            <a:spAutoFit/>
          </a:bodyPr>
          <a:lstStyle/>
          <a:p>
            <a:r>
              <a:rPr lang="en-IN" sz="2400" dirty="0" smtClean="0">
                <a:solidFill>
                  <a:srgbClr val="FF0000"/>
                </a:solidFill>
              </a:rPr>
              <a:t>Packaging</a:t>
            </a:r>
          </a:p>
          <a:p>
            <a:r>
              <a:rPr lang="en-IN" dirty="0" smtClean="0"/>
              <a:t>Impulse purchase</a:t>
            </a:r>
          </a:p>
          <a:p>
            <a:endParaRPr lang="en-IN" dirty="0" smtClean="0"/>
          </a:p>
          <a:p>
            <a:r>
              <a:rPr lang="en-IN" dirty="0" smtClean="0"/>
              <a:t>Attractive </a:t>
            </a:r>
            <a:r>
              <a:rPr lang="en-IN" dirty="0" err="1" smtClean="0"/>
              <a:t>Color</a:t>
            </a:r>
            <a:r>
              <a:rPr lang="en-IN" dirty="0" smtClean="0"/>
              <a:t>-Red</a:t>
            </a:r>
          </a:p>
          <a:p>
            <a:endParaRPr lang="en-IN" dirty="0" smtClean="0"/>
          </a:p>
          <a:p>
            <a:r>
              <a:rPr lang="en-IN" dirty="0" smtClean="0"/>
              <a:t>Nitrogen filled pouches</a:t>
            </a:r>
          </a:p>
          <a:p>
            <a:endParaRPr lang="en-IN" dirty="0" smtClean="0"/>
          </a:p>
          <a:p>
            <a:r>
              <a:rPr lang="en-IN" dirty="0" smtClean="0"/>
              <a:t>Shelf life Increased- 6 Months</a:t>
            </a:r>
            <a:endParaRPr lang="en-IN" dirty="0"/>
          </a:p>
        </p:txBody>
      </p:sp>
    </p:spTree>
    <p:extLst>
      <p:ext uri="{BB962C8B-B14F-4D97-AF65-F5344CB8AC3E}">
        <p14:creationId xmlns:p14="http://schemas.microsoft.com/office/powerpoint/2010/main" val="170850791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 name="Picture 2"/>
          <p:cNvPicPr/>
          <p:nvPr/>
        </p:nvPicPr>
        <p:blipFill>
          <a:blip r:embed="rId2"/>
          <a:stretch/>
        </p:blipFill>
        <p:spPr>
          <a:xfrm>
            <a:off x="4355976" y="2204864"/>
            <a:ext cx="3134430" cy="3075120"/>
          </a:xfrm>
          <a:prstGeom prst="rect">
            <a:avLst/>
          </a:prstGeom>
          <a:ln>
            <a:noFill/>
          </a:ln>
        </p:spPr>
      </p:pic>
      <p:pic>
        <p:nvPicPr>
          <p:cNvPr id="258" name="Picture 3"/>
          <p:cNvPicPr/>
          <p:nvPr/>
        </p:nvPicPr>
        <p:blipFill>
          <a:blip r:embed="rId3"/>
          <a:stretch/>
        </p:blipFill>
        <p:spPr>
          <a:xfrm>
            <a:off x="1549523" y="1340768"/>
            <a:ext cx="2644650" cy="2819160"/>
          </a:xfrm>
          <a:prstGeom prst="rect">
            <a:avLst/>
          </a:prstGeom>
          <a:ln>
            <a:noFill/>
          </a:ln>
        </p:spPr>
      </p:pic>
    </p:spTree>
    <p:extLst>
      <p:ext uri="{BB962C8B-B14F-4D97-AF65-F5344CB8AC3E}">
        <p14:creationId xmlns:p14="http://schemas.microsoft.com/office/powerpoint/2010/main" val="187747684"/>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TextShape 1"/>
          <p:cNvSpPr txBox="1"/>
          <p:nvPr/>
        </p:nvSpPr>
        <p:spPr>
          <a:xfrm>
            <a:off x="251521" y="908720"/>
            <a:ext cx="8392234" cy="4723920"/>
          </a:xfrm>
          <a:prstGeom prst="rect">
            <a:avLst/>
          </a:prstGeom>
          <a:noFill/>
          <a:ln>
            <a:noFill/>
          </a:ln>
        </p:spPr>
        <p:txBody>
          <a:bodyPr anchor="ctr">
            <a:noAutofit/>
          </a:bodyPr>
          <a:lstStyle/>
          <a:p>
            <a:pPr algn="ctr">
              <a:lnSpc>
                <a:spcPct val="90000"/>
              </a:lnSpc>
            </a:pPr>
            <a:r>
              <a:rPr lang="en-US" sz="3200" b="1" strike="noStrike" cap="all" spc="-1" dirty="0" err="1">
                <a:solidFill>
                  <a:srgbClr val="000000"/>
                </a:solidFill>
                <a:latin typeface="Tw Cen MT"/>
              </a:rPr>
              <a:t>Chotukool</a:t>
            </a:r>
            <a:r>
              <a:rPr sz="1600" dirty="0"/>
              <a:t/>
            </a:r>
            <a:br>
              <a:rPr sz="1600" dirty="0"/>
            </a:br>
            <a:r>
              <a:rPr sz="1600" dirty="0"/>
              <a:t/>
            </a:r>
            <a:br>
              <a:rPr sz="1600" dirty="0"/>
            </a:br>
            <a:r>
              <a:rPr lang="en-US" sz="1600" b="0" strike="noStrike" cap="all" spc="-1" dirty="0">
                <a:solidFill>
                  <a:srgbClr val="000000"/>
                </a:solidFill>
                <a:latin typeface="Tw Cen MT"/>
              </a:rPr>
              <a:t>A</a:t>
            </a:r>
            <a:r>
              <a:rPr lang="en-US" b="0" strike="noStrike" cap="all" spc="-1" dirty="0">
                <a:solidFill>
                  <a:srgbClr val="FF0000"/>
                </a:solidFill>
                <a:latin typeface="Tw Cen MT"/>
              </a:rPr>
              <a:t> refrigerator for the rural India</a:t>
            </a:r>
            <a:r>
              <a:rPr lang="en-US" b="0" strike="noStrike" cap="all" spc="-1" dirty="0">
                <a:solidFill>
                  <a:srgbClr val="000000"/>
                </a:solidFill>
                <a:latin typeface="Tw Cen MT"/>
              </a:rPr>
              <a:t>. </a:t>
            </a:r>
            <a:endParaRPr lang="en-US" b="0" strike="noStrike" cap="all" spc="-1" dirty="0" smtClean="0">
              <a:solidFill>
                <a:srgbClr val="000000"/>
              </a:solidFill>
              <a:latin typeface="Tw Cen MT"/>
            </a:endParaRPr>
          </a:p>
          <a:p>
            <a:pPr algn="ctr">
              <a:lnSpc>
                <a:spcPct val="90000"/>
              </a:lnSpc>
            </a:pPr>
            <a:endParaRPr lang="en-US" b="0" strike="noStrike" cap="all" spc="-1" dirty="0" smtClean="0">
              <a:solidFill>
                <a:srgbClr val="000000"/>
              </a:solidFill>
              <a:latin typeface="Tw Cen MT"/>
            </a:endParaRPr>
          </a:p>
          <a:p>
            <a:pPr algn="ctr">
              <a:lnSpc>
                <a:spcPct val="90000"/>
              </a:lnSpc>
            </a:pPr>
            <a:r>
              <a:rPr lang="en-US" b="0" strike="noStrike" cap="all" spc="-1" dirty="0" smtClean="0">
                <a:solidFill>
                  <a:srgbClr val="000000"/>
                </a:solidFill>
                <a:latin typeface="Tw Cen MT"/>
              </a:rPr>
              <a:t>But </a:t>
            </a:r>
            <a:r>
              <a:rPr lang="en-US" b="0" strike="noStrike" cap="all" spc="-1" dirty="0" err="1">
                <a:solidFill>
                  <a:srgbClr val="000000"/>
                </a:solidFill>
                <a:latin typeface="Tw Cen MT"/>
              </a:rPr>
              <a:t>Chotukool</a:t>
            </a:r>
            <a:r>
              <a:rPr lang="en-US" b="0" strike="noStrike" cap="all" spc="-1" dirty="0">
                <a:solidFill>
                  <a:srgbClr val="000000"/>
                </a:solidFill>
                <a:latin typeface="Tw Cen MT"/>
              </a:rPr>
              <a:t> soon </a:t>
            </a:r>
            <a:r>
              <a:rPr lang="en-US" b="0" strike="noStrike" cap="all" spc="-1" dirty="0" smtClean="0">
                <a:solidFill>
                  <a:srgbClr val="000000"/>
                </a:solidFill>
                <a:latin typeface="Tw Cen MT"/>
              </a:rPr>
              <a:t>faced </a:t>
            </a:r>
            <a:r>
              <a:rPr lang="en-US" b="0" strike="noStrike" cap="all" spc="-1" dirty="0">
                <a:solidFill>
                  <a:srgbClr val="FF0000"/>
                </a:solidFill>
                <a:latin typeface="Tw Cen MT"/>
              </a:rPr>
              <a:t>challenges</a:t>
            </a:r>
            <a:r>
              <a:rPr lang="en-US" b="0" strike="noStrike" cap="all" spc="-1" dirty="0">
                <a:solidFill>
                  <a:srgbClr val="000000"/>
                </a:solidFill>
                <a:latin typeface="Tw Cen MT"/>
              </a:rPr>
              <a:t> in scaling up in </a:t>
            </a:r>
            <a:r>
              <a:rPr lang="en-US" b="0" strike="noStrike" cap="all" spc="-1" dirty="0" smtClean="0">
                <a:solidFill>
                  <a:srgbClr val="000000"/>
                </a:solidFill>
                <a:latin typeface="Tw Cen MT"/>
              </a:rPr>
              <a:t>smaller markets</a:t>
            </a:r>
          </a:p>
          <a:p>
            <a:pPr algn="ctr">
              <a:lnSpc>
                <a:spcPct val="90000"/>
              </a:lnSpc>
            </a:pPr>
            <a:r>
              <a:rPr lang="en-US" b="0" strike="noStrike" cap="all" spc="-1" dirty="0" smtClean="0">
                <a:solidFill>
                  <a:srgbClr val="000000"/>
                </a:solidFill>
                <a:latin typeface="Tw Cen MT"/>
              </a:rPr>
              <a:t>.  </a:t>
            </a:r>
          </a:p>
          <a:p>
            <a:pPr algn="ctr">
              <a:lnSpc>
                <a:spcPct val="90000"/>
              </a:lnSpc>
            </a:pPr>
            <a:r>
              <a:rPr lang="en-US" b="0" strike="noStrike" cap="all" spc="-1" dirty="0" smtClean="0">
                <a:solidFill>
                  <a:srgbClr val="000000"/>
                </a:solidFill>
                <a:latin typeface="Tw Cen MT"/>
              </a:rPr>
              <a:t>While </a:t>
            </a:r>
            <a:r>
              <a:rPr lang="en-US" b="0" strike="noStrike" cap="all" spc="-1" dirty="0">
                <a:solidFill>
                  <a:srgbClr val="000000"/>
                </a:solidFill>
                <a:latin typeface="Tw Cen MT"/>
              </a:rPr>
              <a:t>it was the </a:t>
            </a:r>
            <a:r>
              <a:rPr lang="en-US" b="0" strike="noStrike" cap="all" spc="-1" dirty="0">
                <a:solidFill>
                  <a:srgbClr val="FF0000"/>
                </a:solidFill>
                <a:latin typeface="Tw Cen MT"/>
              </a:rPr>
              <a:t>cheapest refrigerator in India priced at `3,500 and `</a:t>
            </a:r>
            <a:r>
              <a:rPr lang="en-US" b="0" strike="noStrike" cap="all" spc="-1" dirty="0" smtClean="0">
                <a:solidFill>
                  <a:srgbClr val="FF0000"/>
                </a:solidFill>
                <a:latin typeface="Tw Cen MT"/>
              </a:rPr>
              <a:t>3,800.</a:t>
            </a:r>
          </a:p>
          <a:p>
            <a:pPr algn="ctr">
              <a:lnSpc>
                <a:spcPct val="90000"/>
              </a:lnSpc>
            </a:pPr>
            <a:endParaRPr lang="en-US" b="0" strike="noStrike" cap="all" spc="-1" dirty="0" smtClean="0">
              <a:solidFill>
                <a:srgbClr val="FF0000"/>
              </a:solidFill>
              <a:latin typeface="Tw Cen MT"/>
            </a:endParaRPr>
          </a:p>
          <a:p>
            <a:pPr algn="ctr">
              <a:lnSpc>
                <a:spcPct val="90000"/>
              </a:lnSpc>
            </a:pPr>
            <a:r>
              <a:rPr lang="en-US" b="0" strike="noStrike" cap="all" spc="-1" dirty="0" smtClean="0">
                <a:solidFill>
                  <a:srgbClr val="FF0000"/>
                </a:solidFill>
                <a:latin typeface="Tw Cen MT"/>
              </a:rPr>
              <a:t> </a:t>
            </a:r>
            <a:r>
              <a:rPr lang="en-US" b="0" strike="noStrike" cap="all" spc="-1" dirty="0">
                <a:solidFill>
                  <a:srgbClr val="FF0000"/>
                </a:solidFill>
                <a:latin typeface="Tw Cen MT"/>
              </a:rPr>
              <a:t>it faced distribution and infrastructure </a:t>
            </a:r>
            <a:r>
              <a:rPr lang="en-US" b="0" strike="noStrike" cap="all" spc="-1" dirty="0">
                <a:latin typeface="Tw Cen MT"/>
              </a:rPr>
              <a:t>challenges in rural areas</a:t>
            </a:r>
            <a:r>
              <a:rPr lang="en-US" b="0" strike="noStrike" cap="all" spc="-1" dirty="0" smtClean="0">
                <a:solidFill>
                  <a:srgbClr val="FF0000"/>
                </a:solidFill>
                <a:latin typeface="Tw Cen MT"/>
              </a:rPr>
              <a:t>.</a:t>
            </a:r>
          </a:p>
          <a:p>
            <a:pPr algn="ctr">
              <a:lnSpc>
                <a:spcPct val="90000"/>
              </a:lnSpc>
            </a:pPr>
            <a:r>
              <a:rPr sz="1400" dirty="0"/>
              <a:t/>
            </a:r>
            <a:br>
              <a:rPr sz="1400" dirty="0"/>
            </a:br>
            <a:r>
              <a:rPr lang="en-US" b="0" strike="noStrike" cap="all" spc="-1" dirty="0" smtClean="0">
                <a:solidFill>
                  <a:srgbClr val="000000"/>
                </a:solidFill>
                <a:latin typeface="Tw Cen MT"/>
              </a:rPr>
              <a:t>It </a:t>
            </a:r>
            <a:r>
              <a:rPr lang="en-US" b="0" strike="noStrike" cap="all" spc="-1" dirty="0">
                <a:solidFill>
                  <a:srgbClr val="000000"/>
                </a:solidFill>
                <a:latin typeface="Tw Cen MT"/>
              </a:rPr>
              <a:t>tied up with </a:t>
            </a:r>
            <a:r>
              <a:rPr lang="en-US" b="0" strike="noStrike" cap="all" spc="-1" dirty="0">
                <a:solidFill>
                  <a:srgbClr val="FF0000"/>
                </a:solidFill>
                <a:latin typeface="Tw Cen MT"/>
              </a:rPr>
              <a:t>India Post </a:t>
            </a:r>
            <a:r>
              <a:rPr lang="en-US" b="0" strike="noStrike" cap="all" spc="-1" dirty="0">
                <a:solidFill>
                  <a:srgbClr val="000000"/>
                </a:solidFill>
                <a:latin typeface="Tw Cen MT"/>
              </a:rPr>
              <a:t>and launched awareness campaigns, but these measures were not enough.</a:t>
            </a:r>
            <a:r>
              <a:rPr sz="1400" dirty="0"/>
              <a:t/>
            </a:r>
            <a:br>
              <a:rPr sz="1400" dirty="0"/>
            </a:br>
            <a:r>
              <a:rPr sz="1400" dirty="0"/>
              <a:t/>
            </a:r>
            <a:br>
              <a:rPr sz="1400" dirty="0"/>
            </a:br>
            <a:endParaRPr lang="en-US" b="0" strike="noStrike" spc="-1" dirty="0">
              <a:solidFill>
                <a:srgbClr val="000000"/>
              </a:solidFill>
              <a:latin typeface="Tw Cen MT"/>
            </a:endParaRPr>
          </a:p>
        </p:txBody>
      </p:sp>
    </p:spTree>
    <p:extLst>
      <p:ext uri="{BB962C8B-B14F-4D97-AF65-F5344CB8AC3E}">
        <p14:creationId xmlns:p14="http://schemas.microsoft.com/office/powerpoint/2010/main" val="2483011231"/>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 name="Picture 2"/>
          <p:cNvPicPr/>
          <p:nvPr/>
        </p:nvPicPr>
        <p:blipFill>
          <a:blip r:embed="rId2"/>
          <a:stretch/>
        </p:blipFill>
        <p:spPr>
          <a:xfrm>
            <a:off x="1943190" y="2604960"/>
            <a:ext cx="4645034" cy="1832152"/>
          </a:xfrm>
          <a:prstGeom prst="rect">
            <a:avLst/>
          </a:prstGeom>
          <a:ln>
            <a:noFill/>
          </a:ln>
        </p:spPr>
      </p:pic>
      <p:sp>
        <p:nvSpPr>
          <p:cNvPr id="261" name="TextShape 1"/>
          <p:cNvSpPr txBox="1"/>
          <p:nvPr/>
        </p:nvSpPr>
        <p:spPr>
          <a:xfrm>
            <a:off x="1187624" y="764704"/>
            <a:ext cx="6768752" cy="1840256"/>
          </a:xfrm>
          <a:prstGeom prst="rect">
            <a:avLst/>
          </a:prstGeom>
          <a:noFill/>
          <a:ln>
            <a:noFill/>
          </a:ln>
        </p:spPr>
        <p:txBody>
          <a:bodyPr anchor="ctr">
            <a:noAutofit/>
          </a:bodyPr>
          <a:lstStyle/>
          <a:p>
            <a:pPr algn="ctr">
              <a:lnSpc>
                <a:spcPct val="90000"/>
              </a:lnSpc>
            </a:pPr>
            <a:r>
              <a:rPr lang="en-US" sz="3200" b="0" strike="noStrike" cap="all" spc="-1" dirty="0" err="1">
                <a:solidFill>
                  <a:srgbClr val="FF0000"/>
                </a:solidFill>
                <a:latin typeface="Tw Cen MT"/>
              </a:rPr>
              <a:t>ChotuKool</a:t>
            </a:r>
            <a:r>
              <a:rPr lang="en-US" sz="3200" b="0" strike="noStrike" cap="all" spc="-1" dirty="0">
                <a:solidFill>
                  <a:srgbClr val="FF0000"/>
                </a:solidFill>
                <a:latin typeface="Tw Cen MT"/>
              </a:rPr>
              <a:t>, India’s first mobile food and beverage </a:t>
            </a:r>
            <a:r>
              <a:rPr lang="en-US" sz="3200" b="0" strike="noStrike" cap="all" spc="-1" dirty="0" smtClean="0">
                <a:solidFill>
                  <a:srgbClr val="FF0000"/>
                </a:solidFill>
                <a:latin typeface="Tw Cen MT"/>
              </a:rPr>
              <a:t>cooler</a:t>
            </a:r>
          </a:p>
          <a:p>
            <a:pPr algn="ctr">
              <a:lnSpc>
                <a:spcPct val="90000"/>
              </a:lnSpc>
            </a:pPr>
            <a:endParaRPr lang="en-US" sz="3200" b="0" strike="noStrike" cap="all" spc="-1" dirty="0" smtClean="0">
              <a:solidFill>
                <a:srgbClr val="FF0000"/>
              </a:solidFill>
              <a:latin typeface="Tw Cen MT"/>
            </a:endParaRPr>
          </a:p>
          <a:p>
            <a:pPr algn="ctr">
              <a:lnSpc>
                <a:spcPct val="90000"/>
              </a:lnSpc>
            </a:pPr>
            <a:r>
              <a:rPr lang="en-US" b="1" strike="noStrike" cap="all" spc="-1" dirty="0" smtClean="0">
                <a:solidFill>
                  <a:srgbClr val="000000"/>
                </a:solidFill>
                <a:latin typeface="Tw Cen MT"/>
              </a:rPr>
              <a:t>Today it is </a:t>
            </a:r>
            <a:r>
              <a:rPr lang="en-US" b="1" strike="noStrike" cap="all" spc="-1" dirty="0" smtClean="0">
                <a:solidFill>
                  <a:srgbClr val="FF0000"/>
                </a:solidFill>
                <a:latin typeface="Tw Cen MT"/>
              </a:rPr>
              <a:t>a lifestyle product </a:t>
            </a:r>
            <a:r>
              <a:rPr lang="en-US" b="1" strike="noStrike" cap="all" spc="-1" dirty="0" smtClean="0">
                <a:solidFill>
                  <a:srgbClr val="000000"/>
                </a:solidFill>
                <a:latin typeface="Tw Cen MT"/>
              </a:rPr>
              <a:t>that people use in </a:t>
            </a:r>
            <a:r>
              <a:rPr lang="en-US" b="1" strike="noStrike" cap="all" spc="-1" dirty="0" smtClean="0">
                <a:solidFill>
                  <a:srgbClr val="FF0000"/>
                </a:solidFill>
                <a:latin typeface="Tw Cen MT"/>
              </a:rPr>
              <a:t>cars</a:t>
            </a:r>
            <a:r>
              <a:rPr lang="en-US" b="1" strike="noStrike" cap="all" spc="-1" dirty="0" smtClean="0">
                <a:solidFill>
                  <a:srgbClr val="000000"/>
                </a:solidFill>
                <a:latin typeface="Tw Cen MT"/>
              </a:rPr>
              <a:t>. Reinvented its shape and design, offering limited editions and tapping different sets of audience.</a:t>
            </a:r>
            <a:endParaRPr lang="en-US" b="1" strike="noStrike" spc="-1" dirty="0" smtClean="0">
              <a:solidFill>
                <a:srgbClr val="000000"/>
              </a:solidFill>
              <a:latin typeface="Tw Cen MT"/>
            </a:endParaRPr>
          </a:p>
          <a:p>
            <a:pPr algn="ctr">
              <a:lnSpc>
                <a:spcPct val="90000"/>
              </a:lnSpc>
            </a:pPr>
            <a:endParaRPr lang="en-US" sz="3200" b="0" strike="noStrike" spc="-1" dirty="0">
              <a:solidFill>
                <a:srgbClr val="000000"/>
              </a:solidFill>
              <a:latin typeface="Tw Cen MT"/>
            </a:endParaRPr>
          </a:p>
        </p:txBody>
      </p:sp>
      <p:pic>
        <p:nvPicPr>
          <p:cNvPr id="262" name="Picture 3"/>
          <p:cNvPicPr/>
          <p:nvPr/>
        </p:nvPicPr>
        <p:blipFill>
          <a:blip r:embed="rId3"/>
          <a:stretch/>
        </p:blipFill>
        <p:spPr>
          <a:xfrm>
            <a:off x="2743200" y="4653136"/>
            <a:ext cx="3268960" cy="1714544"/>
          </a:xfrm>
          <a:prstGeom prst="rect">
            <a:avLst/>
          </a:prstGeom>
          <a:ln>
            <a:noFill/>
          </a:ln>
        </p:spPr>
      </p:pic>
    </p:spTree>
    <p:extLst>
      <p:ext uri="{BB962C8B-B14F-4D97-AF65-F5344CB8AC3E}">
        <p14:creationId xmlns:p14="http://schemas.microsoft.com/office/powerpoint/2010/main" val="1307660125"/>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Marketing Mix</a:t>
            </a:r>
          </a:p>
        </p:txBody>
      </p:sp>
      <p:sp>
        <p:nvSpPr>
          <p:cNvPr id="3" name="Content Placeholder 2"/>
          <p:cNvSpPr>
            <a:spLocks noGrp="1"/>
          </p:cNvSpPr>
          <p:nvPr>
            <p:ph idx="1"/>
          </p:nvPr>
        </p:nvSpPr>
        <p:spPr>
          <a:xfrm>
            <a:off x="838200" y="1600202"/>
            <a:ext cx="7848600" cy="4525963"/>
          </a:xfrm>
          <a:solidFill>
            <a:schemeClr val="bg1">
              <a:lumMod val="75000"/>
            </a:schemeClr>
          </a:solidFill>
        </p:spPr>
        <p:txBody>
          <a:bodyPr>
            <a:normAutofit/>
          </a:bodyPr>
          <a:lstStyle/>
          <a:p>
            <a:pPr marL="0" indent="0">
              <a:buNone/>
            </a:pPr>
            <a:endParaRPr lang="en-IN" sz="2800" dirty="0" smtClean="0">
              <a:solidFill>
                <a:srgbClr val="FF0000"/>
              </a:solidFill>
            </a:endParaRPr>
          </a:p>
          <a:p>
            <a:pPr marL="0" indent="0">
              <a:buNone/>
            </a:pPr>
            <a:endParaRPr lang="en-IN" sz="2800" b="1" dirty="0" smtClean="0">
              <a:solidFill>
                <a:srgbClr val="FF0000"/>
              </a:solidFill>
              <a:latin typeface="Times New Roman" pitchFamily="18" charset="0"/>
              <a:cs typeface="Times New Roman" pitchFamily="18" charset="0"/>
            </a:endParaRPr>
          </a:p>
          <a:p>
            <a:pPr marL="0" indent="0">
              <a:buNone/>
            </a:pPr>
            <a:r>
              <a:rPr lang="en-IN" sz="2800" b="1" dirty="0" smtClean="0">
                <a:solidFill>
                  <a:srgbClr val="FF0000"/>
                </a:solidFill>
                <a:latin typeface="Times New Roman" pitchFamily="18" charset="0"/>
                <a:cs typeface="Times New Roman" pitchFamily="18" charset="0"/>
              </a:rPr>
              <a:t>Marketing mix is the set of </a:t>
            </a:r>
            <a:r>
              <a:rPr lang="en-IN" sz="2800" b="1" dirty="0" smtClean="0">
                <a:latin typeface="Times New Roman" pitchFamily="18" charset="0"/>
                <a:cs typeface="Times New Roman" pitchFamily="18" charset="0"/>
              </a:rPr>
              <a:t>marketing tools </a:t>
            </a:r>
            <a:r>
              <a:rPr lang="en-IN" sz="2800" b="1" dirty="0" smtClean="0">
                <a:solidFill>
                  <a:srgbClr val="FF0000"/>
                </a:solidFill>
                <a:latin typeface="Times New Roman" pitchFamily="18" charset="0"/>
                <a:cs typeface="Times New Roman" pitchFamily="18" charset="0"/>
              </a:rPr>
              <a:t>that the ﬁrm uses to pursue its marketing objectives.</a:t>
            </a:r>
            <a:endParaRPr lang="en-IN" sz="2800" b="1" dirty="0" smtClean="0">
              <a:latin typeface="Times New Roman" pitchFamily="18" charset="0"/>
              <a:cs typeface="Times New Roman" pitchFamily="18" charset="0"/>
            </a:endParaRPr>
          </a:p>
          <a:p>
            <a:pPr marL="0" indent="0">
              <a:buNone/>
            </a:pPr>
            <a:endParaRPr lang="en-IN" sz="2800" b="1" dirty="0" smtClean="0">
              <a:solidFill>
                <a:srgbClr val="FF0000"/>
              </a:solidFill>
              <a:latin typeface="Times New Roman" pitchFamily="18" charset="0"/>
              <a:cs typeface="Times New Roman" pitchFamily="18" charset="0"/>
            </a:endParaRPr>
          </a:p>
          <a:p>
            <a:pPr marL="0" indent="0">
              <a:buNone/>
            </a:pPr>
            <a:r>
              <a:rPr lang="en-IN" sz="2800" b="1" dirty="0" smtClean="0">
                <a:latin typeface="Times New Roman" pitchFamily="18" charset="0"/>
                <a:cs typeface="Times New Roman" pitchFamily="18" charset="0"/>
              </a:rPr>
              <a:t>Inﬂuence</a:t>
            </a:r>
            <a:r>
              <a:rPr lang="en-IN" sz="2800" b="1" dirty="0" smtClean="0">
                <a:solidFill>
                  <a:srgbClr val="FF0000"/>
                </a:solidFill>
                <a:latin typeface="Times New Roman" pitchFamily="18" charset="0"/>
                <a:cs typeface="Times New Roman" pitchFamily="18" charset="0"/>
              </a:rPr>
              <a:t> the trade channels as well as the ﬁnal consumers. </a:t>
            </a:r>
          </a:p>
          <a:p>
            <a:pPr marL="0" indent="0">
              <a:buNone/>
            </a:pPr>
            <a:endParaRPr lang="en-IN" sz="2800" dirty="0" smtClean="0">
              <a:solidFill>
                <a:srgbClr val="FF0000"/>
              </a:solidFill>
            </a:endParaRPr>
          </a:p>
          <a:p>
            <a:pPr marL="0" indent="0">
              <a:buNone/>
            </a:pPr>
            <a:endParaRPr lang="en-IN" sz="2800" dirty="0"/>
          </a:p>
        </p:txBody>
      </p:sp>
    </p:spTree>
    <p:extLst>
      <p:ext uri="{BB962C8B-B14F-4D97-AF65-F5344CB8AC3E}">
        <p14:creationId xmlns:p14="http://schemas.microsoft.com/office/powerpoint/2010/main" val="2642540076"/>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2098465803"/>
              </p:ext>
            </p:extLst>
          </p:nvPr>
        </p:nvGraphicFramePr>
        <p:xfrm>
          <a:off x="1403648" y="1412776"/>
          <a:ext cx="6840760" cy="4680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556622"/>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4Cs in Digital Marke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692696"/>
            <a:ext cx="7631471" cy="5464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333582"/>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24744"/>
            <a:ext cx="7810128" cy="4536504"/>
          </a:xfrm>
          <a:solidFill>
            <a:srgbClr val="FFC000"/>
          </a:solidFill>
        </p:spPr>
        <p:txBody>
          <a:bodyPr>
            <a:noAutofit/>
          </a:bodyPr>
          <a:lstStyle/>
          <a:p>
            <a:pPr algn="ctr"/>
            <a:r>
              <a:rPr lang="en-IN" sz="3200" b="1" dirty="0" smtClean="0">
                <a:latin typeface="Times New Roman" pitchFamily="18" charset="0"/>
                <a:cs typeface="Times New Roman" pitchFamily="18" charset="0"/>
              </a:rPr>
              <a:t>Coined </a:t>
            </a:r>
            <a:r>
              <a:rPr lang="en-IN" sz="3200" b="1" dirty="0">
                <a:latin typeface="Times New Roman" pitchFamily="18" charset="0"/>
                <a:cs typeface="Times New Roman" pitchFamily="18" charset="0"/>
              </a:rPr>
              <a:t>Marketing </a:t>
            </a:r>
            <a:r>
              <a:rPr lang="en-IN" sz="3200" b="1" dirty="0" smtClean="0">
                <a:latin typeface="Times New Roman" pitchFamily="18" charset="0"/>
                <a:cs typeface="Times New Roman" pitchFamily="18" charset="0"/>
              </a:rPr>
              <a:t>Mix- </a:t>
            </a:r>
            <a:r>
              <a:rPr lang="en-IN" sz="3200" b="1" dirty="0" smtClean="0">
                <a:solidFill>
                  <a:srgbClr val="FF0000"/>
                </a:solidFill>
                <a:latin typeface="Times New Roman" pitchFamily="18" charset="0"/>
                <a:cs typeface="Times New Roman" pitchFamily="18" charset="0"/>
              </a:rPr>
              <a:t>James </a:t>
            </a:r>
            <a:r>
              <a:rPr lang="en-IN" sz="3200" b="1" dirty="0" err="1" smtClean="0">
                <a:solidFill>
                  <a:srgbClr val="FF0000"/>
                </a:solidFill>
                <a:latin typeface="Times New Roman" pitchFamily="18" charset="0"/>
                <a:cs typeface="Times New Roman" pitchFamily="18" charset="0"/>
              </a:rPr>
              <a:t>Culliton</a:t>
            </a:r>
            <a:r>
              <a:rPr lang="en-IN" sz="3200" b="1" dirty="0" smtClean="0">
                <a:solidFill>
                  <a:srgbClr val="FF0000"/>
                </a:solidFill>
                <a:latin typeface="Times New Roman" pitchFamily="18" charset="0"/>
                <a:cs typeface="Times New Roman" pitchFamily="18" charset="0"/>
              </a:rPr>
              <a:t>, </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r>
              <a:rPr lang="en-IN" sz="3200" b="1" dirty="0" smtClean="0">
                <a:latin typeface="Times New Roman" pitchFamily="18" charset="0"/>
                <a:cs typeface="Times New Roman" pitchFamily="18" charset="0"/>
              </a:rPr>
              <a:t>Marketing Manager – Mixer of ingredients</a:t>
            </a:r>
            <a:br>
              <a:rPr lang="en-IN" sz="3200" b="1" dirty="0" smtClean="0">
                <a:latin typeface="Times New Roman" pitchFamily="18" charset="0"/>
                <a:cs typeface="Times New Roman" pitchFamily="18" charset="0"/>
              </a:rPr>
            </a:b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r>
              <a:rPr lang="en-IN" sz="2800" b="1" dirty="0" smtClean="0">
                <a:latin typeface="Times New Roman" pitchFamily="18" charset="0"/>
                <a:cs typeface="Times New Roman" pitchFamily="18" charset="0"/>
              </a:rPr>
              <a:t>Popularized Marketing Mix- </a:t>
            </a:r>
            <a:r>
              <a:rPr lang="en-IN" sz="2800" b="1" dirty="0">
                <a:solidFill>
                  <a:srgbClr val="FF0000"/>
                </a:solidFill>
                <a:latin typeface="Times New Roman" pitchFamily="18" charset="0"/>
                <a:cs typeface="Times New Roman" pitchFamily="18" charset="0"/>
              </a:rPr>
              <a:t>Neil H. </a:t>
            </a:r>
            <a:r>
              <a:rPr lang="en-IN" sz="2800" b="1" dirty="0" err="1" smtClean="0">
                <a:solidFill>
                  <a:srgbClr val="FF0000"/>
                </a:solidFill>
                <a:latin typeface="Times New Roman" pitchFamily="18" charset="0"/>
                <a:cs typeface="Times New Roman" pitchFamily="18" charset="0"/>
              </a:rPr>
              <a:t>Bordon</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r>
              <a:rPr lang="en-IN" sz="3200" b="1" dirty="0" smtClean="0">
                <a:latin typeface="Times New Roman" pitchFamily="18" charset="0"/>
                <a:cs typeface="Times New Roman" pitchFamily="18" charset="0"/>
              </a:rPr>
              <a:t>4Ps-</a:t>
            </a:r>
            <a:r>
              <a:rPr lang="en-IN" sz="3200" b="1" dirty="0">
                <a:latin typeface="Times New Roman" pitchFamily="18" charset="0"/>
                <a:cs typeface="Times New Roman" pitchFamily="18" charset="0"/>
              </a:rPr>
              <a:t> </a:t>
            </a:r>
            <a:r>
              <a:rPr lang="en-IN" sz="3200" b="1" dirty="0">
                <a:solidFill>
                  <a:srgbClr val="FF0000"/>
                </a:solidFill>
                <a:latin typeface="Times New Roman" pitchFamily="18" charset="0"/>
                <a:cs typeface="Times New Roman" pitchFamily="18" charset="0"/>
              </a:rPr>
              <a:t>Jerome Paul </a:t>
            </a:r>
            <a:r>
              <a:rPr lang="en-IN" sz="3200" b="1" dirty="0" smtClean="0">
                <a:solidFill>
                  <a:srgbClr val="FF0000"/>
                </a:solidFill>
                <a:latin typeface="Times New Roman" pitchFamily="18" charset="0"/>
                <a:cs typeface="Times New Roman" pitchFamily="18" charset="0"/>
              </a:rPr>
              <a:t>McCarthy</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r>
              <a:rPr lang="en-IN" sz="3200" b="1" dirty="0" smtClean="0">
                <a:latin typeface="Times New Roman" pitchFamily="18" charset="0"/>
                <a:cs typeface="Times New Roman" pitchFamily="18" charset="0"/>
              </a:rPr>
              <a:t>4Cs- </a:t>
            </a:r>
            <a:r>
              <a:rPr lang="en-IN" sz="3200" b="1" dirty="0">
                <a:solidFill>
                  <a:srgbClr val="FF0000"/>
                </a:solidFill>
                <a:latin typeface="Times New Roman" pitchFamily="18" charset="0"/>
                <a:cs typeface="Times New Roman" pitchFamily="18" charset="0"/>
              </a:rPr>
              <a:t>Robert </a:t>
            </a:r>
            <a:r>
              <a:rPr lang="en-IN" sz="3200" b="1" dirty="0" err="1" smtClean="0">
                <a:solidFill>
                  <a:srgbClr val="FF0000"/>
                </a:solidFill>
                <a:latin typeface="Times New Roman" pitchFamily="18" charset="0"/>
                <a:cs typeface="Times New Roman" pitchFamily="18" charset="0"/>
              </a:rPr>
              <a:t>Lauterborn</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endParaRPr lang="en-IN"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4160482536"/>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5" name="Picture 2"/>
          <p:cNvPicPr/>
          <p:nvPr/>
        </p:nvPicPr>
        <p:blipFill>
          <a:blip r:embed="rId2"/>
          <a:stretch/>
        </p:blipFill>
        <p:spPr>
          <a:xfrm>
            <a:off x="2267744" y="1268760"/>
            <a:ext cx="4376461" cy="3960440"/>
          </a:xfrm>
          <a:prstGeom prst="rect">
            <a:avLst/>
          </a:prstGeom>
          <a:ln>
            <a:noFill/>
          </a:ln>
        </p:spPr>
      </p:pic>
    </p:spTree>
    <p:extLst>
      <p:ext uri="{BB962C8B-B14F-4D97-AF65-F5344CB8AC3E}">
        <p14:creationId xmlns:p14="http://schemas.microsoft.com/office/powerpoint/2010/main" val="1235470260"/>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TextShape 1"/>
          <p:cNvSpPr txBox="1"/>
          <p:nvPr/>
        </p:nvSpPr>
        <p:spPr>
          <a:xfrm>
            <a:off x="179512" y="620640"/>
            <a:ext cx="8536088" cy="5738760"/>
          </a:xfrm>
          <a:prstGeom prst="rect">
            <a:avLst/>
          </a:prstGeom>
          <a:noFill/>
          <a:ln>
            <a:noFill/>
          </a:ln>
        </p:spPr>
        <p:txBody>
          <a:bodyPr anchor="ctr">
            <a:noAutofit/>
          </a:bodyPr>
          <a:lstStyle/>
          <a:p>
            <a:pPr algn="ctr">
              <a:lnSpc>
                <a:spcPct val="90000"/>
              </a:lnSpc>
            </a:pPr>
            <a:r>
              <a:rPr lang="en-US" b="1" strike="noStrike" cap="all" spc="-1" dirty="0" smtClean="0">
                <a:solidFill>
                  <a:srgbClr val="FF0000"/>
                </a:solidFill>
                <a:latin typeface="Times New Roman"/>
              </a:rPr>
              <a:t>135-year</a:t>
            </a:r>
            <a:r>
              <a:rPr lang="en-US" b="1" strike="noStrike" cap="all" spc="-1" dirty="0" smtClean="0">
                <a:solidFill>
                  <a:srgbClr val="000000"/>
                </a:solidFill>
                <a:latin typeface="Times New Roman"/>
              </a:rPr>
              <a:t>-old </a:t>
            </a:r>
            <a:r>
              <a:rPr lang="en-US" b="1" strike="noStrike" cap="all" spc="-1" dirty="0">
                <a:solidFill>
                  <a:srgbClr val="000000"/>
                </a:solidFill>
                <a:latin typeface="Times New Roman"/>
              </a:rPr>
              <a:t>company's product portfolio - </a:t>
            </a:r>
            <a:r>
              <a:rPr lang="en-US" b="1" strike="noStrike" cap="all" spc="-1" dirty="0" err="1">
                <a:solidFill>
                  <a:srgbClr val="000000"/>
                </a:solidFill>
                <a:latin typeface="Times New Roman"/>
              </a:rPr>
              <a:t>Chyawanprash</a:t>
            </a:r>
            <a:r>
              <a:rPr lang="en-US" b="1" strike="noStrike" cap="all" spc="-1" dirty="0">
                <a:solidFill>
                  <a:srgbClr val="000000"/>
                </a:solidFill>
                <a:latin typeface="Times New Roman"/>
              </a:rPr>
              <a:t>, </a:t>
            </a:r>
            <a:r>
              <a:rPr lang="en-US" b="1" strike="noStrike" cap="all" spc="-1" dirty="0" err="1">
                <a:solidFill>
                  <a:srgbClr val="000000"/>
                </a:solidFill>
                <a:latin typeface="Times New Roman"/>
              </a:rPr>
              <a:t>Pudin</a:t>
            </a:r>
            <a:r>
              <a:rPr lang="en-US" b="1" strike="noStrike" cap="all" spc="-1" dirty="0">
                <a:solidFill>
                  <a:srgbClr val="000000"/>
                </a:solidFill>
                <a:latin typeface="Times New Roman"/>
              </a:rPr>
              <a:t> Hara, </a:t>
            </a:r>
            <a:r>
              <a:rPr lang="en-US" b="1" strike="noStrike" cap="all" spc="-1" dirty="0" err="1">
                <a:solidFill>
                  <a:srgbClr val="000000"/>
                </a:solidFill>
                <a:latin typeface="Times New Roman"/>
              </a:rPr>
              <a:t>Hajmola</a:t>
            </a:r>
            <a:r>
              <a:rPr lang="en-US" b="1" strike="noStrike" cap="all" spc="-1" dirty="0">
                <a:solidFill>
                  <a:srgbClr val="000000"/>
                </a:solidFill>
                <a:latin typeface="Times New Roman"/>
              </a:rPr>
              <a:t> etc.</a:t>
            </a:r>
            <a:r>
              <a:rPr sz="1600" dirty="0"/>
              <a:t/>
            </a:r>
            <a:br>
              <a:rPr sz="1600" dirty="0"/>
            </a:br>
            <a:r>
              <a:rPr lang="en-US" b="1" strike="noStrike" cap="all" spc="-1" dirty="0">
                <a:solidFill>
                  <a:srgbClr val="000000"/>
                </a:solidFill>
                <a:latin typeface="Times New Roman"/>
              </a:rPr>
              <a:t>Getting Future Ready. </a:t>
            </a:r>
            <a:endParaRPr lang="en-US" b="1" strike="noStrike" cap="all" spc="-1" dirty="0" smtClean="0">
              <a:solidFill>
                <a:srgbClr val="000000"/>
              </a:solidFill>
              <a:latin typeface="Times New Roman"/>
            </a:endParaRPr>
          </a:p>
          <a:p>
            <a:pPr algn="ctr">
              <a:lnSpc>
                <a:spcPct val="90000"/>
              </a:lnSpc>
            </a:pPr>
            <a:r>
              <a:rPr sz="1600" dirty="0"/>
              <a:t/>
            </a:r>
            <a:br>
              <a:rPr sz="1600" dirty="0"/>
            </a:br>
            <a:r>
              <a:rPr sz="1600" dirty="0"/>
              <a:t/>
            </a:r>
            <a:br>
              <a:rPr sz="1600" dirty="0"/>
            </a:br>
            <a:r>
              <a:rPr lang="en-US" b="1" strike="noStrike" cap="all" spc="-1" dirty="0">
                <a:solidFill>
                  <a:srgbClr val="000000"/>
                </a:solidFill>
                <a:latin typeface="Times New Roman"/>
              </a:rPr>
              <a:t>Those brands which are </a:t>
            </a:r>
            <a:r>
              <a:rPr lang="en-US" b="1" strike="noStrike" cap="all" spc="-1" dirty="0">
                <a:solidFill>
                  <a:srgbClr val="FF0000"/>
                </a:solidFill>
                <a:latin typeface="Times New Roman"/>
              </a:rPr>
              <a:t>not seen as relevant </a:t>
            </a:r>
            <a:r>
              <a:rPr lang="en-US" b="1" strike="noStrike" cap="all" spc="-1" dirty="0">
                <a:solidFill>
                  <a:srgbClr val="000000"/>
                </a:solidFill>
                <a:latin typeface="Times New Roman"/>
              </a:rPr>
              <a:t>to the </a:t>
            </a:r>
            <a:r>
              <a:rPr lang="en-US" b="1" strike="noStrike" cap="all" spc="-1" dirty="0" err="1">
                <a:solidFill>
                  <a:srgbClr val="000000"/>
                </a:solidFill>
                <a:latin typeface="Times New Roman"/>
              </a:rPr>
              <a:t>newage</a:t>
            </a:r>
            <a:r>
              <a:rPr lang="en-US" b="1" strike="noStrike" cap="all" spc="-1" dirty="0">
                <a:solidFill>
                  <a:srgbClr val="000000"/>
                </a:solidFill>
                <a:latin typeface="Times New Roman"/>
              </a:rPr>
              <a:t> consumer will be reengineered to meet that requirement</a:t>
            </a:r>
            <a:r>
              <a:rPr lang="en-US" b="1" strike="noStrike" cap="all" spc="-1" dirty="0" smtClean="0">
                <a:solidFill>
                  <a:srgbClr val="000000"/>
                </a:solidFill>
                <a:latin typeface="Times New Roman"/>
              </a:rPr>
              <a:t>.</a:t>
            </a:r>
          </a:p>
          <a:p>
            <a:pPr algn="ctr">
              <a:lnSpc>
                <a:spcPct val="90000"/>
              </a:lnSpc>
            </a:pPr>
            <a:r>
              <a:rPr sz="1600" dirty="0"/>
              <a:t/>
            </a:r>
            <a:br>
              <a:rPr sz="1600" dirty="0"/>
            </a:br>
            <a:r>
              <a:rPr lang="en-US" b="1" strike="noStrike" cap="all" spc="-1" dirty="0">
                <a:solidFill>
                  <a:srgbClr val="FF0000"/>
                </a:solidFill>
                <a:latin typeface="Times New Roman"/>
              </a:rPr>
              <a:t>Health</a:t>
            </a:r>
            <a:r>
              <a:rPr lang="en-US" b="1" strike="noStrike" cap="all" spc="-1" dirty="0">
                <a:solidFill>
                  <a:srgbClr val="000000"/>
                </a:solidFill>
                <a:latin typeface="Times New Roman"/>
              </a:rPr>
              <a:t>- entire portfolio</a:t>
            </a:r>
            <a:r>
              <a:rPr lang="en-US" b="1" strike="noStrike" cap="all" spc="-1" dirty="0" smtClean="0">
                <a:solidFill>
                  <a:srgbClr val="000000"/>
                </a:solidFill>
                <a:latin typeface="Times New Roman"/>
              </a:rPr>
              <a:t>.</a:t>
            </a:r>
            <a:endParaRPr lang="en-IN" sz="1600" dirty="0" smtClean="0"/>
          </a:p>
          <a:p>
            <a:pPr algn="ctr">
              <a:lnSpc>
                <a:spcPct val="90000"/>
              </a:lnSpc>
            </a:pPr>
            <a:endParaRPr lang="en-IN" sz="1600" b="1" strike="noStrike" cap="all" spc="-1" dirty="0">
              <a:solidFill>
                <a:srgbClr val="FF0000"/>
              </a:solidFill>
              <a:latin typeface="Times New Roman"/>
            </a:endParaRPr>
          </a:p>
          <a:p>
            <a:pPr algn="ctr">
              <a:lnSpc>
                <a:spcPct val="90000"/>
              </a:lnSpc>
            </a:pPr>
            <a:r>
              <a:rPr lang="en-US" b="1" strike="noStrike" cap="all" spc="-1" dirty="0" err="1" smtClean="0">
                <a:solidFill>
                  <a:srgbClr val="FF0000"/>
                </a:solidFill>
                <a:latin typeface="Times New Roman"/>
              </a:rPr>
              <a:t>Chyawanprash</a:t>
            </a:r>
            <a:r>
              <a:rPr lang="en-US" b="1" strike="noStrike" cap="all" spc="-1" dirty="0" smtClean="0">
                <a:solidFill>
                  <a:srgbClr val="FF0000"/>
                </a:solidFill>
                <a:latin typeface="Times New Roman"/>
              </a:rPr>
              <a:t> </a:t>
            </a:r>
            <a:r>
              <a:rPr sz="1600" dirty="0"/>
              <a:t/>
            </a:r>
            <a:br>
              <a:rPr sz="1600" dirty="0"/>
            </a:br>
            <a:r>
              <a:rPr lang="en-US" b="1" strike="noStrike" cap="all" spc="-1" dirty="0">
                <a:solidFill>
                  <a:srgbClr val="FF0000"/>
                </a:solidFill>
                <a:latin typeface="Times New Roman"/>
              </a:rPr>
              <a:t>A candy, bar, tablets or biscuits</a:t>
            </a:r>
            <a:r>
              <a:rPr lang="en-US" b="1" strike="noStrike" cap="all" spc="-1" dirty="0">
                <a:solidFill>
                  <a:srgbClr val="000000"/>
                </a:solidFill>
                <a:latin typeface="Times New Roman"/>
              </a:rPr>
              <a:t>. </a:t>
            </a:r>
            <a:endParaRPr lang="en-US" b="1" strike="noStrike" cap="all" spc="-1" dirty="0" smtClean="0">
              <a:solidFill>
                <a:srgbClr val="000000"/>
              </a:solidFill>
              <a:latin typeface="Times New Roman"/>
            </a:endParaRPr>
          </a:p>
          <a:p>
            <a:pPr algn="ctr">
              <a:lnSpc>
                <a:spcPct val="90000"/>
              </a:lnSpc>
            </a:pPr>
            <a:endParaRPr lang="en-US" b="1" strike="noStrike" cap="all" spc="-1" dirty="0" smtClean="0">
              <a:solidFill>
                <a:srgbClr val="000000"/>
              </a:solidFill>
              <a:latin typeface="Times New Roman"/>
            </a:endParaRPr>
          </a:p>
          <a:p>
            <a:pPr algn="ctr">
              <a:lnSpc>
                <a:spcPct val="90000"/>
              </a:lnSpc>
            </a:pPr>
            <a:r>
              <a:rPr lang="en-US" sz="1600" b="1" cap="all" spc="-1" dirty="0">
                <a:solidFill>
                  <a:srgbClr val="FF0000"/>
                </a:solidFill>
                <a:latin typeface="Times New Roman"/>
              </a:rPr>
              <a:t>Younger talent- </a:t>
            </a:r>
            <a:r>
              <a:rPr lang="en-US" sz="1600" b="1" cap="all" spc="-1" dirty="0">
                <a:solidFill>
                  <a:srgbClr val="000000"/>
                </a:solidFill>
                <a:latin typeface="Times New Roman"/>
              </a:rPr>
              <a:t>leadership roles.</a:t>
            </a:r>
            <a:r>
              <a:rPr sz="1600" dirty="0"/>
              <a:t/>
            </a:r>
            <a:br>
              <a:rPr sz="1600" dirty="0"/>
            </a:br>
            <a:r>
              <a:rPr lang="en-US" b="1" strike="noStrike" cap="all" spc="-1" dirty="0">
                <a:solidFill>
                  <a:srgbClr val="000000"/>
                </a:solidFill>
                <a:latin typeface="Times New Roman"/>
              </a:rPr>
              <a:t>The average </a:t>
            </a:r>
            <a:r>
              <a:rPr lang="en-US" b="1" strike="noStrike" cap="all" spc="-1" dirty="0">
                <a:solidFill>
                  <a:srgbClr val="FF0000"/>
                </a:solidFill>
                <a:latin typeface="Times New Roman"/>
              </a:rPr>
              <a:t>age</a:t>
            </a:r>
            <a:r>
              <a:rPr lang="en-US" b="1" strike="noStrike" cap="all" spc="-1" dirty="0">
                <a:solidFill>
                  <a:srgbClr val="000000"/>
                </a:solidFill>
                <a:latin typeface="Times New Roman"/>
              </a:rPr>
              <a:t> of the marketing team is </a:t>
            </a:r>
            <a:r>
              <a:rPr lang="en-US" b="1" strike="noStrike" cap="all" spc="-1" dirty="0">
                <a:solidFill>
                  <a:srgbClr val="FF0000"/>
                </a:solidFill>
                <a:latin typeface="Times New Roman"/>
              </a:rPr>
              <a:t>35-36, down from 42. </a:t>
            </a:r>
            <a:endParaRPr lang="en-US" b="1" strike="noStrike" cap="all" spc="-1" dirty="0" smtClean="0">
              <a:solidFill>
                <a:srgbClr val="FF0000"/>
              </a:solidFill>
              <a:latin typeface="Times New Roman"/>
            </a:endParaRPr>
          </a:p>
          <a:p>
            <a:pPr algn="ctr">
              <a:lnSpc>
                <a:spcPct val="90000"/>
              </a:lnSpc>
            </a:pPr>
            <a:r>
              <a:rPr sz="1600" dirty="0"/>
              <a:t/>
            </a:r>
            <a:br>
              <a:rPr sz="1600" dirty="0"/>
            </a:br>
            <a:r>
              <a:rPr sz="1600" dirty="0"/>
              <a:t/>
            </a:r>
            <a:br>
              <a:rPr sz="1600" dirty="0"/>
            </a:br>
            <a:r>
              <a:rPr lang="en-US" b="1" strike="noStrike" cap="all" spc="-1" dirty="0">
                <a:solidFill>
                  <a:srgbClr val="000000"/>
                </a:solidFill>
                <a:latin typeface="Times New Roman"/>
              </a:rPr>
              <a:t>Advertising, </a:t>
            </a:r>
            <a:r>
              <a:rPr lang="en-US" b="1" strike="noStrike" cap="all" spc="-1" dirty="0">
                <a:solidFill>
                  <a:srgbClr val="FF0000"/>
                </a:solidFill>
                <a:latin typeface="Times New Roman"/>
              </a:rPr>
              <a:t>communication - change.</a:t>
            </a:r>
            <a:r>
              <a:rPr sz="1600" dirty="0"/>
              <a:t/>
            </a:r>
            <a:br>
              <a:rPr sz="1600" dirty="0"/>
            </a:br>
            <a:r>
              <a:rPr sz="1600" dirty="0"/>
              <a:t/>
            </a:r>
            <a:br>
              <a:rPr sz="1600" dirty="0"/>
            </a:br>
            <a:endParaRPr lang="en-US" b="0" strike="noStrike" spc="-1" dirty="0">
              <a:solidFill>
                <a:srgbClr val="000000"/>
              </a:solidFill>
              <a:latin typeface="Tw Cen MT"/>
            </a:endParaRPr>
          </a:p>
        </p:txBody>
      </p:sp>
    </p:spTree>
    <p:extLst>
      <p:ext uri="{BB962C8B-B14F-4D97-AF65-F5344CB8AC3E}">
        <p14:creationId xmlns:p14="http://schemas.microsoft.com/office/powerpoint/2010/main" val="1450591906"/>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045" y="3574519"/>
            <a:ext cx="1871492" cy="1245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800000" flipV="1">
            <a:off x="397174" y="5092796"/>
            <a:ext cx="1895234" cy="1141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737" y="432707"/>
            <a:ext cx="1716881" cy="137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rotWithShape="1">
          <a:blip r:embed="rId5">
            <a:extLst>
              <a:ext uri="{28A0092B-C50C-407E-A947-70E740481C1C}">
                <a14:useLocalDpi xmlns:a14="http://schemas.microsoft.com/office/drawing/2010/main" val="0"/>
              </a:ext>
            </a:extLst>
          </a:blip>
          <a:srcRect t="12779" r="3342" b="7820"/>
          <a:stretch/>
        </p:blipFill>
        <p:spPr bwMode="auto">
          <a:xfrm>
            <a:off x="322186" y="1996387"/>
            <a:ext cx="1918437" cy="1578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3909" y="1901010"/>
            <a:ext cx="2314812" cy="144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33909" y="3574519"/>
            <a:ext cx="2314812" cy="130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68023" y="4973570"/>
            <a:ext cx="5680697" cy="1380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43808" y="426140"/>
            <a:ext cx="2448272" cy="1380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71060" y="3698817"/>
            <a:ext cx="2477691" cy="12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1540" y="521714"/>
            <a:ext cx="2314812" cy="1175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rotWithShape="1">
          <a:blip r:embed="rId12">
            <a:extLst>
              <a:ext uri="{28A0092B-C50C-407E-A947-70E740481C1C}">
                <a14:useLocalDpi xmlns:a14="http://schemas.microsoft.com/office/drawing/2010/main" val="0"/>
              </a:ext>
            </a:extLst>
          </a:blip>
          <a:srcRect t="11753"/>
          <a:stretch/>
        </p:blipFill>
        <p:spPr bwMode="auto">
          <a:xfrm>
            <a:off x="2844774" y="2079391"/>
            <a:ext cx="2530265" cy="1412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5329938"/>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792088"/>
          </a:xfrm>
        </p:spPr>
        <p:txBody>
          <a:bodyPr>
            <a:noAutofit/>
          </a:bodyPr>
          <a:lstStyle/>
          <a:p>
            <a:r>
              <a:rPr lang="en-US" sz="2800" b="1" dirty="0" smtClean="0">
                <a:solidFill>
                  <a:srgbClr val="FF0000"/>
                </a:solidFill>
                <a:latin typeface="Times New Roman" pitchFamily="18" charset="0"/>
                <a:cs typeface="Times New Roman" pitchFamily="18" charset="0"/>
              </a:rPr>
              <a:t>Classification</a:t>
            </a:r>
            <a:br>
              <a:rPr lang="en-US" sz="2800" b="1" dirty="0" smtClean="0">
                <a:solidFill>
                  <a:srgbClr val="FF0000"/>
                </a:solidFill>
                <a:latin typeface="Times New Roman" pitchFamily="18" charset="0"/>
                <a:cs typeface="Times New Roman" pitchFamily="18" charset="0"/>
              </a:rPr>
            </a:br>
            <a:endParaRPr lang="en-US" sz="2800" b="1" dirty="0">
              <a:latin typeface="Times New Roman" pitchFamily="18" charset="0"/>
              <a:cs typeface="Times New Roman" pitchFamily="18" charset="0"/>
            </a:endParaRPr>
          </a:p>
        </p:txBody>
      </p:sp>
      <p:sp>
        <p:nvSpPr>
          <p:cNvPr id="4" name="Content Placeholder 3"/>
          <p:cNvSpPr>
            <a:spLocks noGrp="1"/>
          </p:cNvSpPr>
          <p:nvPr>
            <p:ph idx="1"/>
          </p:nvPr>
        </p:nvSpPr>
        <p:spPr>
          <a:xfrm>
            <a:off x="672480" y="784548"/>
            <a:ext cx="8229600" cy="4525963"/>
          </a:xfrm>
        </p:spPr>
        <p:txBody>
          <a:bodyPr>
            <a:normAutofit fontScale="70000" lnSpcReduction="20000"/>
          </a:bodyPr>
          <a:lstStyle/>
          <a:p>
            <a:pPr marL="0" indent="0" algn="ctr">
              <a:buNone/>
            </a:pPr>
            <a:r>
              <a:rPr lang="en-US" b="1" dirty="0" smtClean="0">
                <a:solidFill>
                  <a:srgbClr val="FF0000"/>
                </a:solidFill>
                <a:latin typeface="Times New Roman" pitchFamily="18" charset="0"/>
                <a:cs typeface="Times New Roman" pitchFamily="18" charset="0"/>
              </a:rPr>
              <a:t>Consumer Goods</a:t>
            </a:r>
          </a:p>
          <a:p>
            <a:pPr algn="ctr"/>
            <a:r>
              <a:rPr lang="en-US" b="1" dirty="0" smtClean="0">
                <a:latin typeface="Times New Roman" pitchFamily="18" charset="0"/>
                <a:cs typeface="Times New Roman" pitchFamily="18" charset="0"/>
              </a:rPr>
              <a:t>Convenience</a:t>
            </a:r>
          </a:p>
          <a:p>
            <a:pPr lvl="8" algn="just">
              <a:buFont typeface="Wingdings" pitchFamily="2" charset="2"/>
              <a:buChar char="v"/>
            </a:pPr>
            <a:r>
              <a:rPr lang="en-US" b="1" dirty="0" smtClean="0">
                <a:solidFill>
                  <a:srgbClr val="FF0000"/>
                </a:solidFill>
                <a:latin typeface="Times New Roman" pitchFamily="18" charset="0"/>
                <a:cs typeface="Times New Roman" pitchFamily="18" charset="0"/>
              </a:rPr>
              <a:t>Staples</a:t>
            </a:r>
          </a:p>
          <a:p>
            <a:pPr lvl="8" algn="just">
              <a:buFont typeface="Wingdings" pitchFamily="2" charset="2"/>
              <a:buChar char="v"/>
            </a:pPr>
            <a:r>
              <a:rPr lang="en-US" b="1" dirty="0" smtClean="0">
                <a:solidFill>
                  <a:srgbClr val="FF0000"/>
                </a:solidFill>
                <a:latin typeface="Times New Roman" pitchFamily="18" charset="0"/>
                <a:cs typeface="Times New Roman" pitchFamily="18" charset="0"/>
              </a:rPr>
              <a:t>Impulse</a:t>
            </a:r>
          </a:p>
          <a:p>
            <a:pPr lvl="8" algn="just">
              <a:buFont typeface="Wingdings" pitchFamily="2" charset="2"/>
              <a:buChar char="v"/>
            </a:pPr>
            <a:r>
              <a:rPr lang="en-US" b="1" dirty="0" smtClean="0">
                <a:solidFill>
                  <a:srgbClr val="FF0000"/>
                </a:solidFill>
                <a:latin typeface="Times New Roman" pitchFamily="18" charset="0"/>
                <a:cs typeface="Times New Roman" pitchFamily="18" charset="0"/>
              </a:rPr>
              <a:t>Emergency</a:t>
            </a:r>
          </a:p>
          <a:p>
            <a:pPr lvl="1" algn="ctr">
              <a:buFont typeface="Wingdings" pitchFamily="2" charset="2"/>
              <a:buChar char="v"/>
            </a:pPr>
            <a:endParaRPr lang="en-US" b="1" dirty="0" smtClean="0">
              <a:latin typeface="Times New Roman" pitchFamily="18" charset="0"/>
              <a:cs typeface="Times New Roman" pitchFamily="18" charset="0"/>
            </a:endParaRPr>
          </a:p>
          <a:p>
            <a:pPr algn="ctr"/>
            <a:r>
              <a:rPr lang="en-US" b="1" dirty="0" smtClean="0">
                <a:latin typeface="Times New Roman" pitchFamily="18" charset="0"/>
                <a:cs typeface="Times New Roman" pitchFamily="18" charset="0"/>
              </a:rPr>
              <a:t>Shopping</a:t>
            </a:r>
          </a:p>
          <a:p>
            <a:pPr algn="ctr"/>
            <a:r>
              <a:rPr lang="en-US" b="1" dirty="0" smtClean="0">
                <a:latin typeface="Times New Roman" pitchFamily="18" charset="0"/>
                <a:cs typeface="Times New Roman" pitchFamily="18" charset="0"/>
              </a:rPr>
              <a:t>Specialty</a:t>
            </a:r>
          </a:p>
          <a:p>
            <a:pPr algn="ctr"/>
            <a:r>
              <a:rPr lang="en-US" b="1" dirty="0" smtClean="0">
                <a:latin typeface="Times New Roman" pitchFamily="18" charset="0"/>
                <a:cs typeface="Times New Roman" pitchFamily="18" charset="0"/>
              </a:rPr>
              <a:t>Unsought</a:t>
            </a:r>
          </a:p>
          <a:p>
            <a:pPr algn="ctr"/>
            <a:r>
              <a:rPr lang="en-US" b="1" dirty="0" smtClean="0">
                <a:latin typeface="Times New Roman" pitchFamily="18" charset="0"/>
                <a:cs typeface="Times New Roman" pitchFamily="18" charset="0"/>
              </a:rPr>
              <a:t>Durability and Tangibility</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Durable- Non Durable</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Goods- Services</a:t>
            </a:r>
            <a:br>
              <a:rPr lang="en-US" b="1" dirty="0" smtClean="0">
                <a:latin typeface="Times New Roman" pitchFamily="18" charset="0"/>
                <a:cs typeface="Times New Roman" pitchFamily="18" charset="0"/>
              </a:rPr>
            </a:br>
            <a:endParaRPr lang="en-US" b="1" dirty="0" smtClean="0">
              <a:latin typeface="Times New Roman" pitchFamily="18" charset="0"/>
              <a:cs typeface="Times New Roman" pitchFamily="18" charset="0"/>
            </a:endParaRPr>
          </a:p>
          <a:p>
            <a:pPr algn="ctr"/>
            <a:endParaRPr lang="en-US" b="1" dirty="0" smtClean="0">
              <a:latin typeface="Times New Roman" pitchFamily="18" charset="0"/>
              <a:cs typeface="Times New Roman" pitchFamily="18" charset="0"/>
            </a:endParaRPr>
          </a:p>
          <a:p>
            <a:pPr marL="0" indent="0" algn="ctr">
              <a:buNone/>
            </a:pPr>
            <a:r>
              <a:rPr lang="en-US" b="1" dirty="0" smtClean="0">
                <a:solidFill>
                  <a:srgbClr val="FF0000"/>
                </a:solidFill>
                <a:latin typeface="Times New Roman" pitchFamily="18" charset="0"/>
                <a:cs typeface="Times New Roman" pitchFamily="18" charset="0"/>
              </a:rPr>
              <a:t>Industrial Goods-</a:t>
            </a:r>
            <a:r>
              <a:rPr lang="en-US" b="1" dirty="0" smtClean="0">
                <a:latin typeface="Times New Roman" pitchFamily="18" charset="0"/>
                <a:cs typeface="Times New Roman" pitchFamily="18" charset="0"/>
              </a:rPr>
              <a:t> Material and parts,  Capital items, Supplies</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5229200"/>
            <a:ext cx="25908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4134076"/>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564904"/>
            <a:ext cx="8229600" cy="1143000"/>
          </a:xfrm>
        </p:spPr>
        <p:txBody>
          <a:bodyPr>
            <a:normAutofit fontScale="90000"/>
          </a:bodyPr>
          <a:lstStyle/>
          <a:p>
            <a:r>
              <a:rPr lang="en-IN" b="1" dirty="0" smtClean="0">
                <a:solidFill>
                  <a:srgbClr val="FF0000"/>
                </a:solidFill>
                <a:latin typeface="Times New Roman" pitchFamily="18" charset="0"/>
                <a:cs typeface="Times New Roman" pitchFamily="18" charset="0"/>
              </a:rPr>
              <a:t>A </a:t>
            </a:r>
            <a:r>
              <a:rPr lang="en-IN" b="1" dirty="0" smtClean="0">
                <a:latin typeface="Times New Roman" pitchFamily="18" charset="0"/>
                <a:cs typeface="Times New Roman" pitchFamily="18" charset="0"/>
              </a:rPr>
              <a:t>product</a:t>
            </a:r>
            <a:r>
              <a:rPr lang="en-IN" b="1" dirty="0" smtClean="0">
                <a:solidFill>
                  <a:srgbClr val="FF0000"/>
                </a:solidFill>
                <a:latin typeface="Times New Roman" pitchFamily="18" charset="0"/>
                <a:cs typeface="Times New Roman" pitchFamily="18" charset="0"/>
              </a:rPr>
              <a:t> is any offering that can satisfy a need or want</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1174588981"/>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ttps://images.news18.com/ibnlive/uploads/2022/09/ios-16-new-features.jpg?impolicy=website&amp;width=0&amp;height=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275184"/>
            <a:ext cx="6569460" cy="43796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https://upload.wikimedia.org/wikipedia/commons/thumb/1/1e/Nokia_130.jpg/1920px-Nokia_13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67544" y="1988840"/>
            <a:ext cx="1620180"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105810"/>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rom Landline To Smartphone, Phone Journey, Vector Graphic Design in Black  and White Color Stock Vector - Illustration of design, gadget: 189766960"/>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1208"/>
          <a:stretch/>
        </p:blipFill>
        <p:spPr bwMode="auto">
          <a:xfrm>
            <a:off x="251520" y="3076881"/>
            <a:ext cx="5040560" cy="276928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ully Flexible, Foldable Smartphone Is Now a Reality | light speed | Feb  2019 | Photonics Spectr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0116" y="692696"/>
            <a:ext cx="2943928" cy="187220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otorola: Transforming a Phone into a Wearable Smartwatc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84617" y="2684508"/>
            <a:ext cx="2959791" cy="1777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390432"/>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916832"/>
            <a:ext cx="8229600" cy="3672408"/>
          </a:xfrm>
        </p:spPr>
        <p:txBody>
          <a:bodyPr>
            <a:normAutofit fontScale="90000"/>
          </a:bodyPr>
          <a:lstStyle/>
          <a:p>
            <a:r>
              <a:rPr lang="en-IN" b="1" dirty="0" smtClean="0">
                <a:solidFill>
                  <a:srgbClr val="FF0000"/>
                </a:solidFill>
                <a:latin typeface="Times New Roman" pitchFamily="18" charset="0"/>
                <a:cs typeface="Times New Roman" pitchFamily="18" charset="0"/>
              </a:rPr>
              <a:t>DEO</a:t>
            </a:r>
            <a:r>
              <a:rPr lang="en-IN" b="1" dirty="0" smtClean="0">
                <a:solidFill>
                  <a:srgbClr val="00B050"/>
                </a:solidFill>
                <a:latin typeface="Times New Roman" pitchFamily="18" charset="0"/>
                <a:cs typeface="Times New Roman" pitchFamily="18" charset="0"/>
              </a:rPr>
              <a:t/>
            </a:r>
            <a:br>
              <a:rPr lang="en-IN" b="1" dirty="0" smtClean="0">
                <a:solidFill>
                  <a:srgbClr val="00B050"/>
                </a:solidFill>
                <a:latin typeface="Times New Roman" pitchFamily="18" charset="0"/>
                <a:cs typeface="Times New Roman" pitchFamily="18" charset="0"/>
              </a:rPr>
            </a:br>
            <a:r>
              <a:rPr lang="en-IN" b="1" dirty="0">
                <a:solidFill>
                  <a:srgbClr val="00B050"/>
                </a:solidFill>
                <a:latin typeface="Times New Roman" pitchFamily="18" charset="0"/>
                <a:cs typeface="Times New Roman" pitchFamily="18" charset="0"/>
              </a:rPr>
              <a:t/>
            </a:r>
            <a:br>
              <a:rPr lang="en-IN" b="1" dirty="0">
                <a:solidFill>
                  <a:srgbClr val="00B050"/>
                </a:solidFill>
                <a:latin typeface="Times New Roman" pitchFamily="18" charset="0"/>
                <a:cs typeface="Times New Roman" pitchFamily="18" charset="0"/>
              </a:rPr>
            </a:br>
            <a:r>
              <a:rPr lang="en-IN" b="1" dirty="0" smtClean="0">
                <a:solidFill>
                  <a:srgbClr val="00B050"/>
                </a:solidFill>
                <a:latin typeface="Times New Roman" pitchFamily="18" charset="0"/>
                <a:cs typeface="Times New Roman" pitchFamily="18" charset="0"/>
              </a:rPr>
              <a:t>Sweating</a:t>
            </a:r>
            <a:br>
              <a:rPr lang="en-IN" b="1" dirty="0" smtClean="0">
                <a:solidFill>
                  <a:srgbClr val="00B050"/>
                </a:solidFill>
                <a:latin typeface="Times New Roman" pitchFamily="18" charset="0"/>
                <a:cs typeface="Times New Roman" pitchFamily="18" charset="0"/>
              </a:rPr>
            </a:br>
            <a:r>
              <a:rPr lang="en-IN" b="1" dirty="0" smtClean="0">
                <a:solidFill>
                  <a:srgbClr val="00B050"/>
                </a:solidFill>
                <a:latin typeface="Times New Roman" pitchFamily="18" charset="0"/>
                <a:cs typeface="Times New Roman" pitchFamily="18" charset="0"/>
              </a:rPr>
              <a:t>Fragrance</a:t>
            </a:r>
            <a:br>
              <a:rPr lang="en-IN" b="1" dirty="0" smtClean="0">
                <a:solidFill>
                  <a:srgbClr val="00B050"/>
                </a:solidFill>
                <a:latin typeface="Times New Roman" pitchFamily="18" charset="0"/>
                <a:cs typeface="Times New Roman" pitchFamily="18" charset="0"/>
              </a:rPr>
            </a:br>
            <a:r>
              <a:rPr lang="en-IN" b="1" dirty="0" err="1" smtClean="0">
                <a:solidFill>
                  <a:srgbClr val="00B050"/>
                </a:solidFill>
                <a:latin typeface="Times New Roman" pitchFamily="18" charset="0"/>
                <a:cs typeface="Times New Roman" pitchFamily="18" charset="0"/>
              </a:rPr>
              <a:t>Fragrance</a:t>
            </a:r>
            <a:r>
              <a:rPr lang="en-IN" b="1" dirty="0" smtClean="0">
                <a:solidFill>
                  <a:srgbClr val="00B050"/>
                </a:solidFill>
                <a:latin typeface="Times New Roman" pitchFamily="18" charset="0"/>
                <a:cs typeface="Times New Roman" pitchFamily="18" charset="0"/>
              </a:rPr>
              <a:t> variety</a:t>
            </a:r>
            <a:br>
              <a:rPr lang="en-IN" b="1" dirty="0" smtClean="0">
                <a:solidFill>
                  <a:srgbClr val="00B050"/>
                </a:solidFill>
                <a:latin typeface="Times New Roman" pitchFamily="18" charset="0"/>
                <a:cs typeface="Times New Roman" pitchFamily="18" charset="0"/>
              </a:rPr>
            </a:br>
            <a:r>
              <a:rPr lang="en-IN" b="1" dirty="0" smtClean="0">
                <a:solidFill>
                  <a:srgbClr val="00B050"/>
                </a:solidFill>
                <a:latin typeface="Times New Roman" pitchFamily="18" charset="0"/>
                <a:cs typeface="Times New Roman" pitchFamily="18" charset="0"/>
              </a:rPr>
              <a:t>Underarm Whitening</a:t>
            </a:r>
            <a:br>
              <a:rPr lang="en-IN" b="1" dirty="0" smtClean="0">
                <a:solidFill>
                  <a:srgbClr val="00B050"/>
                </a:solidFill>
                <a:latin typeface="Times New Roman" pitchFamily="18" charset="0"/>
                <a:cs typeface="Times New Roman" pitchFamily="18" charset="0"/>
              </a:rPr>
            </a:br>
            <a:r>
              <a:rPr lang="en-IN" b="1" dirty="0" smtClean="0">
                <a:solidFill>
                  <a:srgbClr val="00B050"/>
                </a:solidFill>
                <a:latin typeface="Times New Roman" pitchFamily="18" charset="0"/>
                <a:cs typeface="Times New Roman" pitchFamily="18" charset="0"/>
              </a:rPr>
              <a:t>Sensitive skin</a:t>
            </a:r>
            <a:r>
              <a:rPr lang="en-IN" dirty="0" smtClean="0"/>
              <a:t/>
            </a:r>
            <a:br>
              <a:rPr lang="en-IN" dirty="0" smtClean="0"/>
            </a:br>
            <a:endParaRPr lang="en-IN" dirty="0"/>
          </a:p>
        </p:txBody>
      </p:sp>
    </p:spTree>
    <p:extLst>
      <p:ext uri="{BB962C8B-B14F-4D97-AF65-F5344CB8AC3E}">
        <p14:creationId xmlns:p14="http://schemas.microsoft.com/office/powerpoint/2010/main" val="3888212978"/>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ctr"/>
            <a:r>
              <a:rPr lang="en-US" sz="4000" b="1" dirty="0" smtClean="0">
                <a:latin typeface="Times New Roman" pitchFamily="18" charset="0"/>
                <a:cs typeface="Times New Roman" pitchFamily="18" charset="0"/>
              </a:rPr>
              <a:t>Product Levels</a:t>
            </a:r>
            <a:endParaRPr lang="en-US" sz="4000" b="1" dirty="0">
              <a:latin typeface="Times New Roman" pitchFamily="18" charset="0"/>
              <a:cs typeface="Times New Roman" pitchFamily="18" charset="0"/>
            </a:endParaRP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979" y="1388772"/>
            <a:ext cx="4428443" cy="211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396" r="10705"/>
          <a:stretch/>
        </p:blipFill>
        <p:spPr bwMode="auto">
          <a:xfrm>
            <a:off x="534462" y="1902677"/>
            <a:ext cx="3097212" cy="3208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763688" y="4014556"/>
            <a:ext cx="864096" cy="230832"/>
          </a:xfrm>
          <a:prstGeom prst="rect">
            <a:avLst/>
          </a:prstGeom>
          <a:noFill/>
        </p:spPr>
        <p:txBody>
          <a:bodyPr wrap="square" rtlCol="0">
            <a:spAutoFit/>
          </a:bodyPr>
          <a:lstStyle/>
          <a:p>
            <a:r>
              <a:rPr lang="en-IN" sz="900" b="1" dirty="0" smtClean="0">
                <a:solidFill>
                  <a:schemeClr val="bg1"/>
                </a:solidFill>
              </a:rPr>
              <a:t>Core Product</a:t>
            </a:r>
            <a:endParaRPr lang="en-IN" sz="900" b="1" dirty="0">
              <a:solidFill>
                <a:schemeClr val="bg1"/>
              </a:solidFill>
            </a:endParaRPr>
          </a:p>
        </p:txBody>
      </p:sp>
      <p:sp>
        <p:nvSpPr>
          <p:cNvPr id="3" name="Rectangle 2"/>
          <p:cNvSpPr/>
          <p:nvPr/>
        </p:nvSpPr>
        <p:spPr>
          <a:xfrm>
            <a:off x="3671979" y="3506724"/>
            <a:ext cx="4428443" cy="2677656"/>
          </a:xfrm>
          <a:prstGeom prst="rect">
            <a:avLst/>
          </a:prstGeom>
          <a:solidFill>
            <a:schemeClr val="accent4">
              <a:lumMod val="40000"/>
              <a:lumOff val="60000"/>
            </a:schemeClr>
          </a:solidFill>
        </p:spPr>
        <p:txBody>
          <a:bodyPr wrap="square">
            <a:spAutoFit/>
          </a:bodyPr>
          <a:lstStyle/>
          <a:p>
            <a:r>
              <a:rPr lang="en-US" sz="1200" b="1" dirty="0" smtClean="0">
                <a:solidFill>
                  <a:srgbClr val="FF0000"/>
                </a:solidFill>
                <a:latin typeface="Times New Roman" pitchFamily="18" charset="0"/>
                <a:cs typeface="Times New Roman" pitchFamily="18" charset="0"/>
              </a:rPr>
              <a:t>Core</a:t>
            </a:r>
            <a:r>
              <a:rPr lang="en-US" sz="1200" b="1" dirty="0" smtClean="0">
                <a:latin typeface="Times New Roman" pitchFamily="18" charset="0"/>
                <a:cs typeface="Times New Roman" pitchFamily="18" charset="0"/>
              </a:rPr>
              <a:t> - Consumers</a:t>
            </a:r>
            <a:r>
              <a:rPr lang="en-US" sz="1200" b="1" dirty="0">
                <a:latin typeface="Times New Roman" pitchFamily="18" charset="0"/>
                <a:cs typeface="Times New Roman" pitchFamily="18" charset="0"/>
              </a:rPr>
              <a:t>’ fundamental needs </a:t>
            </a:r>
            <a:r>
              <a:rPr lang="en-US" sz="1200" dirty="0">
                <a:latin typeface="Times New Roman" pitchFamily="18" charset="0"/>
                <a:cs typeface="Times New Roman" pitchFamily="18" charset="0"/>
              </a:rPr>
              <a:t>to satisfy by consuming your product</a:t>
            </a:r>
            <a:r>
              <a:rPr lang="en-US" sz="1200" dirty="0" smtClean="0">
                <a:latin typeface="Times New Roman" pitchFamily="18" charset="0"/>
                <a:cs typeface="Times New Roman" pitchFamily="18" charset="0"/>
              </a:rPr>
              <a:t>.</a:t>
            </a:r>
          </a:p>
          <a:p>
            <a:endParaRPr lang="en-US" sz="1200" dirty="0" smtClean="0">
              <a:latin typeface="Times New Roman" pitchFamily="18" charset="0"/>
              <a:cs typeface="Times New Roman" pitchFamily="18" charset="0"/>
            </a:endParaRPr>
          </a:p>
          <a:p>
            <a:r>
              <a:rPr lang="en-US" sz="1200" dirty="0">
                <a:latin typeface="Times New Roman" pitchFamily="18" charset="0"/>
                <a:cs typeface="Times New Roman" pitchFamily="18" charset="0"/>
              </a:rPr>
              <a:t>A </a:t>
            </a:r>
            <a:r>
              <a:rPr lang="en-US" sz="1200" b="1" dirty="0" smtClean="0">
                <a:solidFill>
                  <a:srgbClr val="FF0000"/>
                </a:solidFill>
                <a:latin typeface="Times New Roman" pitchFamily="18" charset="0"/>
                <a:cs typeface="Times New Roman" pitchFamily="18" charset="0"/>
              </a:rPr>
              <a:t>generic/Basic</a:t>
            </a:r>
            <a:r>
              <a:rPr lang="en-US" sz="1200" dirty="0" smtClean="0">
                <a:latin typeface="Times New Roman" pitchFamily="18" charset="0"/>
                <a:cs typeface="Times New Roman" pitchFamily="18" charset="0"/>
              </a:rPr>
              <a:t> </a:t>
            </a:r>
            <a:r>
              <a:rPr lang="en-US" sz="1200" dirty="0">
                <a:latin typeface="Times New Roman" pitchFamily="18" charset="0"/>
                <a:cs typeface="Times New Roman" pitchFamily="18" charset="0"/>
              </a:rPr>
              <a:t>product is a version of the product containing </a:t>
            </a:r>
            <a:r>
              <a:rPr lang="en-US" sz="1200" b="1" dirty="0">
                <a:latin typeface="Times New Roman" pitchFamily="18" charset="0"/>
                <a:cs typeface="Times New Roman" pitchFamily="18" charset="0"/>
              </a:rPr>
              <a:t>those attributes or characteristics necessary to function</a:t>
            </a:r>
            <a:r>
              <a:rPr lang="en-US" sz="1200" b="1" dirty="0" smtClean="0">
                <a:latin typeface="Times New Roman" pitchFamily="18" charset="0"/>
                <a:cs typeface="Times New Roman" pitchFamily="18" charset="0"/>
              </a:rPr>
              <a:t>.</a:t>
            </a:r>
          </a:p>
          <a:p>
            <a:endParaRPr lang="en-US" sz="1200" dirty="0" smtClean="0">
              <a:latin typeface="Times New Roman" pitchFamily="18" charset="0"/>
              <a:cs typeface="Times New Roman" pitchFamily="18" charset="0"/>
            </a:endParaRPr>
          </a:p>
          <a:p>
            <a:r>
              <a:rPr lang="en-US" sz="1200" b="1" dirty="0" smtClean="0">
                <a:solidFill>
                  <a:srgbClr val="FF0000"/>
                </a:solidFill>
                <a:latin typeface="Times New Roman" pitchFamily="18" charset="0"/>
                <a:cs typeface="Times New Roman" pitchFamily="18" charset="0"/>
              </a:rPr>
              <a:t>Expected </a:t>
            </a:r>
            <a:r>
              <a:rPr lang="en-US" sz="1200" dirty="0" smtClean="0">
                <a:latin typeface="Times New Roman" pitchFamily="18" charset="0"/>
                <a:cs typeface="Times New Roman" pitchFamily="18" charset="0"/>
              </a:rPr>
              <a:t>- Every </a:t>
            </a:r>
            <a:r>
              <a:rPr lang="en-US" sz="1200" dirty="0">
                <a:latin typeface="Times New Roman" pitchFamily="18" charset="0"/>
                <a:cs typeface="Times New Roman" pitchFamily="18" charset="0"/>
              </a:rPr>
              <a:t>product has</a:t>
            </a:r>
            <a:r>
              <a:rPr lang="en-US" sz="1200" b="1" dirty="0">
                <a:latin typeface="Times New Roman" pitchFamily="18" charset="0"/>
                <a:cs typeface="Times New Roman" pitchFamily="18" charset="0"/>
              </a:rPr>
              <a:t> essential product features</a:t>
            </a:r>
            <a:r>
              <a:rPr lang="en-US" sz="1200" dirty="0">
                <a:latin typeface="Times New Roman" pitchFamily="18" charset="0"/>
                <a:cs typeface="Times New Roman" pitchFamily="18" charset="0"/>
              </a:rPr>
              <a:t> that buyers expect when they purchase it</a:t>
            </a:r>
            <a:r>
              <a:rPr lang="en-US" sz="1200" dirty="0" smtClean="0">
                <a:latin typeface="Times New Roman" pitchFamily="18" charset="0"/>
                <a:cs typeface="Times New Roman" pitchFamily="18" charset="0"/>
              </a:rPr>
              <a:t>.</a:t>
            </a:r>
          </a:p>
          <a:p>
            <a:endParaRPr lang="en-US" sz="1200" dirty="0" smtClean="0">
              <a:latin typeface="Times New Roman" pitchFamily="18" charset="0"/>
              <a:cs typeface="Times New Roman" pitchFamily="18" charset="0"/>
            </a:endParaRPr>
          </a:p>
          <a:p>
            <a:r>
              <a:rPr lang="en-US" sz="1200" b="1" dirty="0">
                <a:solidFill>
                  <a:srgbClr val="FF0000"/>
                </a:solidFill>
                <a:latin typeface="Times New Roman" pitchFamily="18" charset="0"/>
                <a:cs typeface="Times New Roman" pitchFamily="18" charset="0"/>
              </a:rPr>
              <a:t>Augmented</a:t>
            </a:r>
            <a:r>
              <a:rPr lang="en-US" sz="1200" dirty="0">
                <a:latin typeface="Times New Roman" pitchFamily="18" charset="0"/>
                <a:cs typeface="Times New Roman" pitchFamily="18" charset="0"/>
              </a:rPr>
              <a:t> products are a </a:t>
            </a:r>
            <a:r>
              <a:rPr lang="en-US" sz="1200" b="1" dirty="0">
                <a:latin typeface="Times New Roman" pitchFamily="18" charset="0"/>
                <a:cs typeface="Times New Roman" pitchFamily="18" charset="0"/>
              </a:rPr>
              <a:t>cost-effective way to set your product apart from the </a:t>
            </a:r>
            <a:r>
              <a:rPr lang="en-US" sz="1200" b="1" dirty="0" smtClean="0">
                <a:latin typeface="Times New Roman" pitchFamily="18" charset="0"/>
                <a:cs typeface="Times New Roman" pitchFamily="18" charset="0"/>
              </a:rPr>
              <a:t>competition, exceeds customer expectations.</a:t>
            </a:r>
          </a:p>
          <a:p>
            <a:endParaRPr lang="en-US" sz="1200" b="1" dirty="0" smtClean="0">
              <a:latin typeface="Times New Roman" pitchFamily="18" charset="0"/>
              <a:cs typeface="Times New Roman" pitchFamily="18" charset="0"/>
            </a:endParaRPr>
          </a:p>
          <a:p>
            <a:r>
              <a:rPr lang="en-US" sz="1200" b="1" dirty="0" smtClean="0">
                <a:solidFill>
                  <a:srgbClr val="FF0000"/>
                </a:solidFill>
                <a:latin typeface="Times New Roman" pitchFamily="18" charset="0"/>
                <a:cs typeface="Times New Roman" pitchFamily="18" charset="0"/>
              </a:rPr>
              <a:t>Potential-</a:t>
            </a:r>
            <a:r>
              <a:rPr lang="en-US" sz="1200" dirty="0" smtClean="0">
                <a:latin typeface="Times New Roman" pitchFamily="18" charset="0"/>
                <a:cs typeface="Times New Roman" pitchFamily="18" charset="0"/>
              </a:rPr>
              <a:t> In </a:t>
            </a:r>
            <a:r>
              <a:rPr lang="en-US" sz="1200" dirty="0">
                <a:latin typeface="Times New Roman" pitchFamily="18" charset="0"/>
                <a:cs typeface="Times New Roman" pitchFamily="18" charset="0"/>
              </a:rPr>
              <a:t>the future, </a:t>
            </a:r>
            <a:r>
              <a:rPr lang="en-US" sz="1200" b="1" dirty="0">
                <a:latin typeface="Times New Roman" pitchFamily="18" charset="0"/>
                <a:cs typeface="Times New Roman" pitchFamily="18" charset="0"/>
              </a:rPr>
              <a:t>products will undergo transformations and augmentations</a:t>
            </a:r>
            <a:endParaRPr lang="en-IN" sz="1200" dirty="0">
              <a:latin typeface="Times New Roman" pitchFamily="18" charset="0"/>
              <a:cs typeface="Times New Roman" pitchFamily="18" charset="0"/>
            </a:endParaRPr>
          </a:p>
        </p:txBody>
      </p:sp>
    </p:spTree>
    <p:extLst>
      <p:ext uri="{BB962C8B-B14F-4D97-AF65-F5344CB8AC3E}">
        <p14:creationId xmlns:p14="http://schemas.microsoft.com/office/powerpoint/2010/main" val="719932029"/>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208" y="4952923"/>
            <a:ext cx="8229600" cy="780333"/>
          </a:xfrm>
        </p:spPr>
        <p:txBody>
          <a:bodyPr>
            <a:normAutofit/>
          </a:bodyPr>
          <a:lstStyle/>
          <a:p>
            <a:pPr marL="0" indent="0" algn="ctr">
              <a:buNone/>
            </a:pPr>
            <a:r>
              <a:rPr lang="en-IN" dirty="0" smtClean="0">
                <a:solidFill>
                  <a:srgbClr val="FF0000"/>
                </a:solidFill>
                <a:latin typeface="Times New Roman" pitchFamily="18" charset="0"/>
                <a:cs typeface="Times New Roman" pitchFamily="18" charset="0"/>
              </a:rPr>
              <a:t>Readymade, </a:t>
            </a:r>
            <a:r>
              <a:rPr lang="en-IN" dirty="0" smtClean="0">
                <a:latin typeface="Times New Roman" pitchFamily="18" charset="0"/>
                <a:cs typeface="Times New Roman" pitchFamily="18" charset="0"/>
              </a:rPr>
              <a:t>International</a:t>
            </a:r>
            <a:endParaRPr lang="en-IN"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620688"/>
            <a:ext cx="4205868" cy="2157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2420888"/>
            <a:ext cx="3600400"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467059"/>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3" y="2700678"/>
            <a:ext cx="8280920" cy="3330007"/>
          </a:xfrm>
        </p:spPr>
        <p:txBody>
          <a:bodyPr>
            <a:noAutofit/>
          </a:bodyPr>
          <a:lstStyle/>
          <a:p>
            <a:pPr algn="l"/>
            <a:r>
              <a:rPr lang="en-IN" sz="1600" b="1" dirty="0">
                <a:latin typeface="Times New Roman" pitchFamily="18" charset="0"/>
                <a:cs typeface="Times New Roman" pitchFamily="18" charset="0"/>
              </a:rPr>
              <a:t>Three core ingredients to make ice cream: </a:t>
            </a:r>
            <a:r>
              <a:rPr lang="en-IN" sz="1600" b="1" dirty="0">
                <a:solidFill>
                  <a:srgbClr val="FF0000"/>
                </a:solidFill>
                <a:latin typeface="Times New Roman" pitchFamily="18" charset="0"/>
                <a:cs typeface="Times New Roman" pitchFamily="18" charset="0"/>
              </a:rPr>
              <a:t>fruits, milk, and sugar</a:t>
            </a:r>
            <a:r>
              <a:rPr lang="en-IN" sz="1600" b="1" dirty="0">
                <a:latin typeface="Times New Roman" pitchFamily="18" charset="0"/>
                <a:cs typeface="Times New Roman" pitchFamily="18" charset="0"/>
              </a:rPr>
              <a:t>. </a:t>
            </a:r>
            <a:r>
              <a:rPr lang="en-IN" sz="1600" b="1" dirty="0" smtClean="0">
                <a:latin typeface="Times New Roman" pitchFamily="18" charset="0"/>
                <a:cs typeface="Times New Roman" pitchFamily="18" charset="0"/>
              </a:rPr>
              <a:t>Selected </a:t>
            </a:r>
            <a:r>
              <a:rPr lang="en-IN" sz="1600" b="1" dirty="0">
                <a:latin typeface="Times New Roman" pitchFamily="18" charset="0"/>
                <a:cs typeface="Times New Roman" pitchFamily="18" charset="0"/>
              </a:rPr>
              <a:t>difficult flavours like </a:t>
            </a:r>
            <a:r>
              <a:rPr lang="en-IN" sz="1600" b="1" dirty="0">
                <a:solidFill>
                  <a:srgbClr val="FF0000"/>
                </a:solidFill>
                <a:latin typeface="Times New Roman" pitchFamily="18" charset="0"/>
                <a:cs typeface="Times New Roman" pitchFamily="18" charset="0"/>
              </a:rPr>
              <a:t>custard apple,</a:t>
            </a:r>
            <a:r>
              <a:rPr lang="en-IN" sz="1600" b="1" dirty="0">
                <a:latin typeface="Times New Roman" pitchFamily="18" charset="0"/>
                <a:cs typeface="Times New Roman" pitchFamily="18" charset="0"/>
              </a:rPr>
              <a:t> to get famous in the fruit ice cream business</a:t>
            </a:r>
            <a:r>
              <a:rPr lang="en-IN" sz="1600" b="1" dirty="0" smtClean="0">
                <a:latin typeface="Times New Roman" pitchFamily="18" charset="0"/>
                <a:cs typeface="Times New Roman" pitchFamily="18" charset="0"/>
              </a:rPr>
              <a:t>. “</a:t>
            </a:r>
            <a:r>
              <a:rPr lang="en-IN" sz="1600" b="1" dirty="0">
                <a:latin typeface="Times New Roman" pitchFamily="18" charset="0"/>
                <a:cs typeface="Times New Roman" pitchFamily="18" charset="0"/>
              </a:rPr>
              <a:t>Natural has fruit flavours no one has picked. They have got </a:t>
            </a:r>
            <a:r>
              <a:rPr lang="en-IN" sz="1600" b="1" dirty="0">
                <a:solidFill>
                  <a:srgbClr val="FF0000"/>
                </a:solidFill>
                <a:latin typeface="Times New Roman" pitchFamily="18" charset="0"/>
                <a:cs typeface="Times New Roman" pitchFamily="18" charset="0"/>
              </a:rPr>
              <a:t>melon, jack fruit, gooseberry, mulberry, raspberry.</a:t>
            </a:r>
            <a:r>
              <a:rPr lang="en-IN" sz="1600" b="1" dirty="0">
                <a:latin typeface="Times New Roman" pitchFamily="18" charset="0"/>
                <a:cs typeface="Times New Roman" pitchFamily="18" charset="0"/>
              </a:rPr>
              <a:t/>
            </a:r>
            <a:br>
              <a:rPr lang="en-IN" sz="1600" b="1" dirty="0">
                <a:latin typeface="Times New Roman" pitchFamily="18" charset="0"/>
                <a:cs typeface="Times New Roman" pitchFamily="18" charset="0"/>
              </a:rPr>
            </a:br>
            <a:r>
              <a:rPr lang="en-IN" sz="1600" b="1" dirty="0" smtClean="0">
                <a:latin typeface="Times New Roman" pitchFamily="18" charset="0"/>
                <a:cs typeface="Times New Roman" pitchFamily="18" charset="0"/>
              </a:rPr>
              <a:t/>
            </a:r>
            <a:br>
              <a:rPr lang="en-IN" sz="1600" b="1" dirty="0" smtClean="0">
                <a:latin typeface="Times New Roman" pitchFamily="18" charset="0"/>
                <a:cs typeface="Times New Roman" pitchFamily="18" charset="0"/>
              </a:rPr>
            </a:br>
            <a:r>
              <a:rPr lang="en-IN" sz="1600" b="1" dirty="0" smtClean="0">
                <a:latin typeface="Times New Roman" pitchFamily="18" charset="0"/>
                <a:cs typeface="Times New Roman" pitchFamily="18" charset="0"/>
              </a:rPr>
              <a:t>Probably highest </a:t>
            </a:r>
            <a:r>
              <a:rPr lang="en-IN" sz="1600" b="1" dirty="0">
                <a:latin typeface="Times New Roman" pitchFamily="18" charset="0"/>
                <a:cs typeface="Times New Roman" pitchFamily="18" charset="0"/>
              </a:rPr>
              <a:t>range of fruits ice cream in the world. </a:t>
            </a:r>
            <a:br>
              <a:rPr lang="en-IN" sz="1600" b="1" dirty="0">
                <a:latin typeface="Times New Roman" pitchFamily="18" charset="0"/>
                <a:cs typeface="Times New Roman" pitchFamily="18" charset="0"/>
              </a:rPr>
            </a:br>
            <a:r>
              <a:rPr lang="en-IN" sz="1600" b="1" dirty="0" smtClean="0">
                <a:latin typeface="Times New Roman" pitchFamily="18" charset="0"/>
                <a:cs typeface="Times New Roman" pitchFamily="18" charset="0"/>
              </a:rPr>
              <a:t>Introduced </a:t>
            </a:r>
            <a:r>
              <a:rPr lang="en-IN" sz="1600" b="1" dirty="0">
                <a:solidFill>
                  <a:srgbClr val="FF0000"/>
                </a:solidFill>
                <a:latin typeface="Times New Roman" pitchFamily="18" charset="0"/>
                <a:cs typeface="Times New Roman" pitchFamily="18" charset="0"/>
              </a:rPr>
              <a:t>‘</a:t>
            </a:r>
            <a:r>
              <a:rPr lang="en-IN" sz="1600" b="1" dirty="0" err="1">
                <a:solidFill>
                  <a:srgbClr val="FF0000"/>
                </a:solidFill>
                <a:latin typeface="Times New Roman" pitchFamily="18" charset="0"/>
                <a:cs typeface="Times New Roman" pitchFamily="18" charset="0"/>
              </a:rPr>
              <a:t>Prasadam</a:t>
            </a:r>
            <a:r>
              <a:rPr lang="en-IN" sz="1600" b="1" dirty="0">
                <a:solidFill>
                  <a:srgbClr val="FF0000"/>
                </a:solidFill>
                <a:latin typeface="Times New Roman" pitchFamily="18" charset="0"/>
                <a:cs typeface="Times New Roman" pitchFamily="18" charset="0"/>
              </a:rPr>
              <a:t>’ </a:t>
            </a:r>
            <a:r>
              <a:rPr lang="en-IN" sz="1600" b="1" dirty="0">
                <a:latin typeface="Times New Roman" pitchFamily="18" charset="0"/>
                <a:cs typeface="Times New Roman" pitchFamily="18" charset="0"/>
              </a:rPr>
              <a:t>category so that people know there’s no egg in this ice cream. </a:t>
            </a:r>
            <a:r>
              <a:rPr lang="en-IN" sz="1600" b="1" dirty="0" smtClean="0">
                <a:latin typeface="Times New Roman" pitchFamily="18" charset="0"/>
                <a:cs typeface="Times New Roman" pitchFamily="18" charset="0"/>
              </a:rPr>
              <a:t/>
            </a:r>
            <a:br>
              <a:rPr lang="en-IN" sz="1600" b="1" dirty="0" smtClean="0">
                <a:latin typeface="Times New Roman" pitchFamily="18" charset="0"/>
                <a:cs typeface="Times New Roman" pitchFamily="18" charset="0"/>
              </a:rPr>
            </a:br>
            <a:r>
              <a:rPr lang="en-IN" sz="1600" b="1" dirty="0" smtClean="0">
                <a:latin typeface="Times New Roman" pitchFamily="18" charset="0"/>
                <a:cs typeface="Times New Roman" pitchFamily="18" charset="0"/>
              </a:rPr>
              <a:t/>
            </a:r>
            <a:br>
              <a:rPr lang="en-IN" sz="1600" b="1" dirty="0" smtClean="0">
                <a:latin typeface="Times New Roman" pitchFamily="18" charset="0"/>
                <a:cs typeface="Times New Roman" pitchFamily="18" charset="0"/>
              </a:rPr>
            </a:br>
            <a:r>
              <a:rPr lang="en-IN" sz="1600" b="1" dirty="0" smtClean="0">
                <a:solidFill>
                  <a:srgbClr val="FF0000"/>
                </a:solidFill>
                <a:latin typeface="Times New Roman" pitchFamily="18" charset="0"/>
                <a:cs typeface="Times New Roman" pitchFamily="18" charset="0"/>
              </a:rPr>
              <a:t>This </a:t>
            </a:r>
            <a:r>
              <a:rPr lang="en-IN" sz="1600" b="1" dirty="0">
                <a:solidFill>
                  <a:srgbClr val="FF0000"/>
                </a:solidFill>
                <a:latin typeface="Times New Roman" pitchFamily="18" charset="0"/>
                <a:cs typeface="Times New Roman" pitchFamily="18" charset="0"/>
              </a:rPr>
              <a:t>is perhaps the only ice cream brand in the world that invents one flavour every week. </a:t>
            </a:r>
            <a:r>
              <a:rPr lang="en-IN" sz="1600" b="1" dirty="0" smtClean="0">
                <a:latin typeface="Times New Roman" pitchFamily="18" charset="0"/>
                <a:cs typeface="Times New Roman" pitchFamily="18" charset="0"/>
              </a:rPr>
              <a:t/>
            </a:r>
            <a:br>
              <a:rPr lang="en-IN" sz="1600" b="1" dirty="0" smtClean="0">
                <a:latin typeface="Times New Roman" pitchFamily="18" charset="0"/>
                <a:cs typeface="Times New Roman" pitchFamily="18" charset="0"/>
              </a:rPr>
            </a:br>
            <a:r>
              <a:rPr lang="en-IN" sz="1600" b="1" dirty="0">
                <a:latin typeface="Times New Roman" pitchFamily="18" charset="0"/>
                <a:cs typeface="Times New Roman" pitchFamily="18" charset="0"/>
              </a:rPr>
              <a:t/>
            </a:r>
            <a:br>
              <a:rPr lang="en-IN" sz="1600" b="1" dirty="0">
                <a:latin typeface="Times New Roman" pitchFamily="18" charset="0"/>
                <a:cs typeface="Times New Roman" pitchFamily="18" charset="0"/>
              </a:rPr>
            </a:br>
            <a:r>
              <a:rPr lang="en-IN" sz="1600" b="1" dirty="0" smtClean="0">
                <a:solidFill>
                  <a:srgbClr val="FF0000"/>
                </a:solidFill>
                <a:latin typeface="Times New Roman" pitchFamily="18" charset="0"/>
                <a:cs typeface="Times New Roman" pitchFamily="18" charset="0"/>
              </a:rPr>
              <a:t>‘Taste </a:t>
            </a:r>
            <a:r>
              <a:rPr lang="en-IN" sz="1600" b="1" dirty="0">
                <a:solidFill>
                  <a:srgbClr val="FF0000"/>
                </a:solidFill>
                <a:latin typeface="Times New Roman" pitchFamily="18" charset="0"/>
                <a:cs typeface="Times New Roman" pitchFamily="18" charset="0"/>
              </a:rPr>
              <a:t>the Original' solved the problem of fake Natural </a:t>
            </a:r>
            <a:r>
              <a:rPr lang="en-IN" sz="1600" b="1" dirty="0" smtClean="0">
                <a:solidFill>
                  <a:srgbClr val="FF0000"/>
                </a:solidFill>
                <a:latin typeface="Times New Roman" pitchFamily="18" charset="0"/>
                <a:cs typeface="Times New Roman" pitchFamily="18" charset="0"/>
              </a:rPr>
              <a:t>parlours. </a:t>
            </a:r>
            <a:r>
              <a:rPr lang="en-IN" sz="1600" b="1" dirty="0" smtClean="0">
                <a:latin typeface="Times New Roman" pitchFamily="18" charset="0"/>
                <a:cs typeface="Times New Roman" pitchFamily="18" charset="0"/>
              </a:rPr>
              <a:t>Unlike </a:t>
            </a:r>
            <a:r>
              <a:rPr lang="en-IN" sz="1600" b="1" dirty="0">
                <a:latin typeface="Times New Roman" pitchFamily="18" charset="0"/>
                <a:cs typeface="Times New Roman" pitchFamily="18" charset="0"/>
              </a:rPr>
              <a:t>any other ice cream, Natural is made of </a:t>
            </a:r>
            <a:r>
              <a:rPr lang="en-IN" sz="1600" b="1" dirty="0">
                <a:solidFill>
                  <a:srgbClr val="FF0000"/>
                </a:solidFill>
                <a:latin typeface="Times New Roman" pitchFamily="18" charset="0"/>
                <a:cs typeface="Times New Roman" pitchFamily="18" charset="0"/>
              </a:rPr>
              <a:t>boiled milk </a:t>
            </a:r>
            <a:r>
              <a:rPr lang="en-IN" sz="1600" b="1" dirty="0">
                <a:latin typeface="Times New Roman" pitchFamily="18" charset="0"/>
                <a:cs typeface="Times New Roman" pitchFamily="18" charset="0"/>
              </a:rPr>
              <a:t>which takes three times as long to get ready to be scooped up. </a:t>
            </a:r>
            <a:endParaRPr lang="en-IN" sz="1600" b="1" dirty="0" smtClean="0">
              <a:latin typeface="Times New Roman" pitchFamily="18" charset="0"/>
              <a:cs typeface="Times New Roman" pitchFamily="18" charset="0"/>
            </a:endParaRP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3623"/>
          <a:stretch/>
        </p:blipFill>
        <p:spPr bwMode="auto">
          <a:xfrm>
            <a:off x="1763688" y="768624"/>
            <a:ext cx="1678306" cy="1720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9912" y="768623"/>
            <a:ext cx="3884566" cy="1720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523474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706090"/>
          </a:xfrm>
        </p:spPr>
        <p:txBody>
          <a:bodyPr>
            <a:normAutofit fontScale="90000"/>
          </a:bodyPr>
          <a:lstStyle/>
          <a:p>
            <a:pPr algn="ctr"/>
            <a:r>
              <a:rPr lang="en-IN" dirty="0" smtClean="0">
                <a:solidFill>
                  <a:srgbClr val="FF0000"/>
                </a:solidFill>
                <a:latin typeface="Times New Roman" pitchFamily="18" charset="0"/>
                <a:cs typeface="Times New Roman" pitchFamily="18" charset="0"/>
              </a:rPr>
              <a:t>Coca-</a:t>
            </a:r>
            <a:r>
              <a:rPr lang="en-IN" dirty="0" smtClean="0">
                <a:solidFill>
                  <a:srgbClr val="002060"/>
                </a:solidFill>
                <a:latin typeface="Times New Roman" pitchFamily="18" charset="0"/>
                <a:cs typeface="Times New Roman" pitchFamily="18" charset="0"/>
              </a:rPr>
              <a:t>Cola</a:t>
            </a:r>
            <a:r>
              <a:rPr lang="en-IN" dirty="0" smtClean="0">
                <a:solidFill>
                  <a:srgbClr val="FF0000"/>
                </a:solidFill>
                <a:latin typeface="Times New Roman" pitchFamily="18" charset="0"/>
                <a:cs typeface="Times New Roman" pitchFamily="18" charset="0"/>
              </a:rPr>
              <a:t> fusion</a:t>
            </a:r>
            <a:r>
              <a:rPr lang="en-IN" dirty="0">
                <a:solidFill>
                  <a:srgbClr val="FF0000"/>
                </a:solidFill>
                <a:latin typeface="Times New Roman" pitchFamily="18" charset="0"/>
                <a:cs typeface="Times New Roman" pitchFamily="18" charset="0"/>
              </a:rPr>
              <a:t/>
            </a:r>
            <a:br>
              <a:rPr lang="en-IN" dirty="0">
                <a:solidFill>
                  <a:srgbClr val="FF0000"/>
                </a:solidFill>
                <a:latin typeface="Times New Roman" pitchFamily="18" charset="0"/>
                <a:cs typeface="Times New Roman" pitchFamily="18" charset="0"/>
              </a:rPr>
            </a:b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683758" y="3690711"/>
            <a:ext cx="8064705" cy="2571296"/>
          </a:xfrm>
        </p:spPr>
        <p:txBody>
          <a:bodyPr>
            <a:noAutofit/>
          </a:bodyPr>
          <a:lstStyle/>
          <a:p>
            <a:r>
              <a:rPr lang="en-IN" sz="2000" dirty="0" smtClean="0">
                <a:latin typeface="Times New Roman" pitchFamily="18" charset="0"/>
                <a:cs typeface="Times New Roman" pitchFamily="18" charset="0"/>
              </a:rPr>
              <a:t>Coca-Cola </a:t>
            </a:r>
            <a:r>
              <a:rPr lang="en-IN" sz="2000" dirty="0">
                <a:latin typeface="Times New Roman" pitchFamily="18" charset="0"/>
                <a:cs typeface="Times New Roman" pitchFamily="18" charset="0"/>
              </a:rPr>
              <a:t>has launched </a:t>
            </a:r>
            <a:r>
              <a:rPr lang="en-IN" sz="2000" dirty="0" err="1">
                <a:solidFill>
                  <a:srgbClr val="FF0000"/>
                </a:solidFill>
                <a:latin typeface="Times New Roman" pitchFamily="18" charset="0"/>
                <a:cs typeface="Times New Roman" pitchFamily="18" charset="0"/>
              </a:rPr>
              <a:t>Fuze</a:t>
            </a:r>
            <a:r>
              <a:rPr lang="en-IN" sz="2000" dirty="0">
                <a:solidFill>
                  <a:srgbClr val="FF0000"/>
                </a:solidFill>
                <a:latin typeface="Times New Roman" pitchFamily="18" charset="0"/>
                <a:cs typeface="Times New Roman" pitchFamily="18" charset="0"/>
              </a:rPr>
              <a:t> Tea</a:t>
            </a:r>
            <a:r>
              <a:rPr lang="en-IN" sz="2000" dirty="0">
                <a:latin typeface="Times New Roman" pitchFamily="18" charset="0"/>
                <a:cs typeface="Times New Roman" pitchFamily="18" charset="0"/>
              </a:rPr>
              <a:t>, a </a:t>
            </a:r>
            <a:r>
              <a:rPr lang="en-IN" sz="2000" dirty="0">
                <a:solidFill>
                  <a:srgbClr val="FF0000"/>
                </a:solidFill>
                <a:latin typeface="Times New Roman" pitchFamily="18" charset="0"/>
                <a:cs typeface="Times New Roman" pitchFamily="18" charset="0"/>
              </a:rPr>
              <a:t>fruit-flavoured tea </a:t>
            </a:r>
            <a:r>
              <a:rPr lang="en-IN" sz="2000" dirty="0">
                <a:latin typeface="Times New Roman" pitchFamily="18" charset="0"/>
                <a:cs typeface="Times New Roman" pitchFamily="18" charset="0"/>
              </a:rPr>
              <a:t>drink, </a:t>
            </a:r>
            <a:r>
              <a:rPr lang="en-IN" sz="2000" dirty="0" err="1">
                <a:solidFill>
                  <a:srgbClr val="FF0000"/>
                </a:solidFill>
                <a:latin typeface="Times New Roman" pitchFamily="18" charset="0"/>
                <a:cs typeface="Times New Roman" pitchFamily="18" charset="0"/>
              </a:rPr>
              <a:t>Vio</a:t>
            </a:r>
            <a:r>
              <a:rPr lang="en-IN" sz="2000" dirty="0">
                <a:solidFill>
                  <a:srgbClr val="FF0000"/>
                </a:solidFill>
                <a:latin typeface="Times New Roman" pitchFamily="18" charset="0"/>
                <a:cs typeface="Times New Roman" pitchFamily="18" charset="0"/>
              </a:rPr>
              <a:t>, a flavoured milk</a:t>
            </a:r>
            <a:r>
              <a:rPr lang="en-IN" sz="2000" dirty="0">
                <a:latin typeface="Times New Roman" pitchFamily="18" charset="0"/>
                <a:cs typeface="Times New Roman" pitchFamily="18" charset="0"/>
              </a:rPr>
              <a:t>, and now, Fanta, that has 10 per cent juice in it. </a:t>
            </a:r>
            <a:endParaRPr lang="en-IN" sz="2000" dirty="0" smtClean="0">
              <a:latin typeface="Times New Roman" pitchFamily="18" charset="0"/>
              <a:cs typeface="Times New Roman" pitchFamily="18" charset="0"/>
            </a:endParaRPr>
          </a:p>
          <a:p>
            <a:endParaRPr lang="en-IN" sz="2000" dirty="0" smtClean="0">
              <a:latin typeface="Times New Roman" pitchFamily="18" charset="0"/>
              <a:cs typeface="Times New Roman" pitchFamily="18" charset="0"/>
            </a:endParaRPr>
          </a:p>
          <a:p>
            <a:r>
              <a:rPr lang="en-IN" sz="2000" dirty="0" smtClean="0">
                <a:latin typeface="Times New Roman" pitchFamily="18" charset="0"/>
                <a:cs typeface="Times New Roman" pitchFamily="18" charset="0"/>
              </a:rPr>
              <a:t>This </a:t>
            </a:r>
            <a:r>
              <a:rPr lang="en-IN" sz="2000" dirty="0">
                <a:latin typeface="Times New Roman" pitchFamily="18" charset="0"/>
                <a:cs typeface="Times New Roman" pitchFamily="18" charset="0"/>
              </a:rPr>
              <a:t>is an innovation following prime </a:t>
            </a:r>
            <a:r>
              <a:rPr lang="en-IN" sz="2000" dirty="0" smtClean="0">
                <a:latin typeface="Times New Roman" pitchFamily="18" charset="0"/>
                <a:cs typeface="Times New Roman" pitchFamily="18" charset="0"/>
              </a:rPr>
              <a:t>minister’s call </a:t>
            </a:r>
            <a:r>
              <a:rPr lang="en-IN" sz="2000" dirty="0">
                <a:latin typeface="Times New Roman" pitchFamily="18" charset="0"/>
                <a:cs typeface="Times New Roman" pitchFamily="18" charset="0"/>
              </a:rPr>
              <a:t>to manufacturers </a:t>
            </a:r>
            <a:r>
              <a:rPr lang="en-IN" sz="2000" dirty="0">
                <a:solidFill>
                  <a:srgbClr val="FF0000"/>
                </a:solidFill>
                <a:latin typeface="Times New Roman" pitchFamily="18" charset="0"/>
                <a:cs typeface="Times New Roman" pitchFamily="18" charset="0"/>
              </a:rPr>
              <a:t>to add at least two per cent juice in carbonated drinks to help the cause of farmers</a:t>
            </a:r>
            <a:r>
              <a:rPr lang="en-IN" sz="2000" dirty="0" smtClean="0">
                <a:solidFill>
                  <a:srgbClr val="FF0000"/>
                </a:solidFill>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022" y="1627751"/>
            <a:ext cx="3214688"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1781402"/>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354" b="-12354"/>
          <a:stretch/>
        </p:blipFill>
        <p:spPr bwMode="auto">
          <a:xfrm>
            <a:off x="1475655" y="1406055"/>
            <a:ext cx="6144683"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7140338"/>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6753"/>
          <a:stretch/>
        </p:blipFill>
        <p:spPr bwMode="auto">
          <a:xfrm>
            <a:off x="1043608" y="836712"/>
            <a:ext cx="6669087" cy="40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2228528"/>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2909" y="2693168"/>
            <a:ext cx="8517392" cy="563562"/>
          </a:xfrm>
        </p:spPr>
        <p:txBody>
          <a:bodyPr>
            <a:noAutofit/>
          </a:bodyPr>
          <a:lstStyle/>
          <a:p>
            <a:r>
              <a:rPr lang="en-US" sz="3200" b="1" dirty="0" smtClean="0">
                <a:latin typeface="Times New Roman" pitchFamily="18" charset="0"/>
                <a:cs typeface="Times New Roman" pitchFamily="18" charset="0"/>
              </a:rPr>
              <a:t>HUL </a:t>
            </a:r>
            <a:r>
              <a:rPr lang="en-US" sz="3200" b="1" dirty="0" smtClean="0">
                <a:solidFill>
                  <a:srgbClr val="FF0000"/>
                </a:solidFill>
                <a:latin typeface="Times New Roman" pitchFamily="18" charset="0"/>
                <a:cs typeface="Times New Roman" pitchFamily="18" charset="0"/>
              </a:rPr>
              <a:t>Product Mix</a:t>
            </a:r>
            <a:r>
              <a:rPr lang="en-US" sz="3200" b="1" dirty="0" smtClean="0">
                <a:latin typeface="Times New Roman" pitchFamily="18" charset="0"/>
                <a:cs typeface="Times New Roman" pitchFamily="18" charset="0"/>
              </a:rPr>
              <a:t>-Width</a:t>
            </a:r>
            <a:endParaRPr lang="en-US" sz="3200" b="1"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474896872"/>
              </p:ext>
            </p:extLst>
          </p:nvPr>
        </p:nvGraphicFramePr>
        <p:xfrm>
          <a:off x="367393" y="3284984"/>
          <a:ext cx="8597095" cy="2874691"/>
        </p:xfrm>
        <a:graphic>
          <a:graphicData uri="http://schemas.openxmlformats.org/drawingml/2006/table">
            <a:tbl>
              <a:tblPr firstRow="1" bandRow="1">
                <a:tableStyleId>{5C22544A-7EE6-4342-B048-85BDC9FD1C3A}</a:tableStyleId>
              </a:tblPr>
              <a:tblGrid>
                <a:gridCol w="820231"/>
                <a:gridCol w="720080"/>
                <a:gridCol w="504056"/>
                <a:gridCol w="648072"/>
                <a:gridCol w="590021"/>
                <a:gridCol w="778131"/>
                <a:gridCol w="576064"/>
                <a:gridCol w="615281"/>
                <a:gridCol w="656492"/>
                <a:gridCol w="656492"/>
                <a:gridCol w="656492"/>
                <a:gridCol w="656492"/>
                <a:gridCol w="719191"/>
              </a:tblGrid>
              <a:tr h="530678">
                <a:tc>
                  <a:txBody>
                    <a:bodyPr/>
                    <a:lstStyle/>
                    <a:p>
                      <a:pPr algn="ctr" fontAlgn="ctr"/>
                      <a:r>
                        <a:rPr lang="en-US" sz="1400" b="0" i="0" u="none" strike="noStrike" dirty="0">
                          <a:solidFill>
                            <a:schemeClr val="tx1"/>
                          </a:solidFill>
                          <a:latin typeface="Times New Roman"/>
                        </a:rPr>
                        <a:t> </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Personal Wash</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Laundry</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Skin Care</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Hair care</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Oral Care</a:t>
                      </a:r>
                    </a:p>
                  </a:txBody>
                  <a:tcPr marL="9525" marR="9525" marT="9525" marB="0" anchor="ctr">
                    <a:solidFill>
                      <a:schemeClr val="bg1">
                        <a:lumMod val="75000"/>
                      </a:schemeClr>
                    </a:solidFill>
                  </a:tcPr>
                </a:tc>
                <a:tc>
                  <a:txBody>
                    <a:bodyPr/>
                    <a:lstStyle/>
                    <a:p>
                      <a:pPr algn="ctr" fontAlgn="ctr"/>
                      <a:r>
                        <a:rPr lang="en-US" sz="1000" b="1" i="0" u="none" strike="noStrike" dirty="0" err="1">
                          <a:solidFill>
                            <a:schemeClr val="tx1"/>
                          </a:solidFill>
                          <a:latin typeface="Times New Roman"/>
                        </a:rPr>
                        <a:t>Deo</a:t>
                      </a:r>
                      <a:endParaRPr lang="en-US" sz="1000" b="1" i="0" u="none" strike="noStrike" dirty="0">
                        <a:solidFill>
                          <a:schemeClr val="tx1"/>
                        </a:solidFill>
                        <a:latin typeface="Times New Roman"/>
                      </a:endParaRPr>
                    </a:p>
                  </a:txBody>
                  <a:tcPr marL="9525" marR="9525" marT="9525" marB="0" anchor="ctr">
                    <a:solidFill>
                      <a:schemeClr val="bg1">
                        <a:lumMod val="75000"/>
                      </a:schemeClr>
                    </a:solidFill>
                  </a:tcPr>
                </a:tc>
                <a:tc>
                  <a:txBody>
                    <a:bodyPr/>
                    <a:lstStyle/>
                    <a:p>
                      <a:pPr algn="ctr" fontAlgn="ctr"/>
                      <a:r>
                        <a:rPr lang="en-US" sz="1000" b="1" i="0" u="none" strike="noStrike" dirty="0" err="1">
                          <a:solidFill>
                            <a:schemeClr val="tx1"/>
                          </a:solidFill>
                          <a:latin typeface="Times New Roman"/>
                        </a:rPr>
                        <a:t>Ayurvedic</a:t>
                      </a:r>
                      <a:endParaRPr lang="en-US" sz="1000" b="1" i="0" u="none" strike="noStrike" dirty="0">
                        <a:solidFill>
                          <a:schemeClr val="tx1"/>
                        </a:solidFill>
                        <a:latin typeface="Times New Roman"/>
                      </a:endParaRP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Cosmetics</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Tea</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Coffee</a:t>
                      </a:r>
                    </a:p>
                  </a:txBody>
                  <a:tcPr marL="9525" marR="9525" marT="9525" marB="0" anchor="ctr">
                    <a:solidFill>
                      <a:schemeClr val="bg1">
                        <a:lumMod val="75000"/>
                      </a:schemeClr>
                    </a:solidFill>
                  </a:tcPr>
                </a:tc>
                <a:tc>
                  <a:txBody>
                    <a:bodyPr/>
                    <a:lstStyle/>
                    <a:p>
                      <a:pPr algn="ctr" fontAlgn="ctr"/>
                      <a:r>
                        <a:rPr lang="en-US" sz="1000" b="1" i="0" u="none" strike="noStrike" dirty="0">
                          <a:solidFill>
                            <a:schemeClr val="tx1"/>
                          </a:solidFill>
                          <a:latin typeface="Times New Roman"/>
                        </a:rPr>
                        <a:t>Foods</a:t>
                      </a:r>
                    </a:p>
                  </a:txBody>
                  <a:tcPr marL="9525" marR="9525" marT="9525" marB="0" anchor="ctr">
                    <a:solidFill>
                      <a:schemeClr val="bg1">
                        <a:lumMod val="75000"/>
                      </a:schemeClr>
                    </a:solidFill>
                  </a:tcPr>
                </a:tc>
                <a:tc>
                  <a:txBody>
                    <a:bodyPr/>
                    <a:lstStyle/>
                    <a:p>
                      <a:pPr algn="ctr" fontAlgn="ctr"/>
                      <a:r>
                        <a:rPr lang="en-US" sz="1000" b="1" i="0" u="none" strike="noStrike" dirty="0" err="1">
                          <a:solidFill>
                            <a:schemeClr val="tx1"/>
                          </a:solidFill>
                          <a:latin typeface="Times New Roman"/>
                        </a:rPr>
                        <a:t>Icecream</a:t>
                      </a:r>
                      <a:endParaRPr lang="en-US" sz="1000" b="1" i="0" u="none" strike="noStrike" dirty="0">
                        <a:solidFill>
                          <a:schemeClr val="tx1"/>
                        </a:solidFill>
                        <a:latin typeface="Times New Roman"/>
                      </a:endParaRPr>
                    </a:p>
                  </a:txBody>
                  <a:tcPr marL="9525" marR="9525" marT="9525" marB="0" anchor="ctr">
                    <a:solidFill>
                      <a:schemeClr val="bg1">
                        <a:lumMod val="75000"/>
                      </a:schemeClr>
                    </a:solidFill>
                  </a:tcPr>
                </a:tc>
              </a:tr>
              <a:tr h="440871">
                <a:tc rowSpan="8">
                  <a:txBody>
                    <a:bodyPr/>
                    <a:lstStyle/>
                    <a:p>
                      <a:pPr algn="ctr" fontAlgn="ctr"/>
                      <a:r>
                        <a:rPr lang="en-US" sz="1400" b="1" i="0" u="none" strike="noStrike" dirty="0">
                          <a:solidFill>
                            <a:schemeClr val="tx1"/>
                          </a:solidFill>
                          <a:latin typeface="Times New Roman"/>
                        </a:rPr>
                        <a:t>Product Line Length</a:t>
                      </a:r>
                    </a:p>
                    <a:p>
                      <a:pPr algn="ctr" fontAlgn="ctr"/>
                      <a:r>
                        <a:rPr lang="en-US" sz="1400" b="0" i="0" u="none" strike="noStrike" dirty="0">
                          <a:solidFill>
                            <a:schemeClr val="tx1"/>
                          </a:solidFill>
                          <a:latin typeface="Times New Roman"/>
                        </a:rPr>
                        <a:t> </a:t>
                      </a:r>
                    </a:p>
                    <a:p>
                      <a:pPr algn="ctr" fontAlgn="ctr"/>
                      <a:r>
                        <a:rPr lang="en-US" sz="1400" b="0" i="0" u="none" strike="noStrike" dirty="0">
                          <a:solidFill>
                            <a:schemeClr val="tx1"/>
                          </a:solidFill>
                          <a:latin typeface="Times New Roman"/>
                        </a:rPr>
                        <a:t> </a:t>
                      </a:r>
                    </a:p>
                    <a:p>
                      <a:pPr algn="ctr" fontAlgn="ctr"/>
                      <a:r>
                        <a:rPr lang="en-US" sz="1400" b="0" i="0" u="none" strike="noStrike" dirty="0">
                          <a:solidFill>
                            <a:schemeClr val="tx1"/>
                          </a:solidFill>
                          <a:latin typeface="Times New Roman"/>
                        </a:rPr>
                        <a:t> </a:t>
                      </a:r>
                    </a:p>
                    <a:p>
                      <a:pPr algn="ctr" fontAlgn="ctr"/>
                      <a:r>
                        <a:rPr lang="en-US" sz="1400" b="0" i="0" u="none" strike="noStrike" dirty="0">
                          <a:solidFill>
                            <a:schemeClr val="tx1"/>
                          </a:solidFill>
                          <a:latin typeface="Times New Roman"/>
                        </a:rPr>
                        <a:t> </a:t>
                      </a:r>
                    </a:p>
                    <a:p>
                      <a:pPr algn="ctr" fontAlgn="ctr"/>
                      <a:r>
                        <a:rPr lang="en-US" sz="1400" b="0" i="0" u="none" strike="noStrike" dirty="0">
                          <a:solidFill>
                            <a:schemeClr val="tx1"/>
                          </a:solidFill>
                          <a:latin typeface="Times New Roman"/>
                        </a:rPr>
                        <a:t> </a:t>
                      </a:r>
                    </a:p>
                    <a:p>
                      <a:pPr algn="ctr" fontAlgn="ctr"/>
                      <a:r>
                        <a:rPr lang="en-US" sz="1400" b="0" i="0" u="none" strike="noStrike" dirty="0">
                          <a:solidFill>
                            <a:schemeClr val="tx1"/>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Lux</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Surf Excel</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F</a:t>
                      </a:r>
                      <a:r>
                        <a:rPr lang="en-US" sz="1400" b="0" i="0" u="none" strike="noStrike" dirty="0" smtClean="0">
                          <a:solidFill>
                            <a:srgbClr val="FF0000"/>
                          </a:solidFill>
                          <a:latin typeface="Times New Roman"/>
                        </a:rPr>
                        <a:t>&amp; Lovely</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Sunsilk</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Pepsodent</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Axe</a:t>
                      </a:r>
                    </a:p>
                  </a:txBody>
                  <a:tcPr marL="9525" marR="9525"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Ayush</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Lakme</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Brooke Bond</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Bru</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Kissan</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Kwality Walls</a:t>
                      </a:r>
                    </a:p>
                  </a:txBody>
                  <a:tcPr marL="9525" marR="9525" marT="9525" marB="0" anchor="ctr">
                    <a:solidFill>
                      <a:schemeClr val="bg1">
                        <a:lumMod val="75000"/>
                      </a:schemeClr>
                    </a:solidFill>
                  </a:tcPr>
                </a:tc>
              </a:tr>
              <a:tr h="201902">
                <a:tc vMerge="1">
                  <a:txBody>
                    <a:bodyPr/>
                    <a:lstStyle/>
                    <a:p>
                      <a:pPr algn="ctr" fontAlgn="ctr"/>
                      <a:endParaRPr lang="en-US" sz="1400" b="0" i="0" u="none" strike="noStrike" dirty="0">
                        <a:solidFill>
                          <a:schemeClr val="tx1"/>
                        </a:solidFill>
                        <a:latin typeface="Times New Roman"/>
                      </a:endParaRPr>
                    </a:p>
                  </a:txBody>
                  <a:tcPr marL="12700" marR="12700"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Liril</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Rin</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Ponds</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Clinic</a:t>
                      </a:r>
                    </a:p>
                  </a:txBody>
                  <a:tcPr marL="9525" marR="9525"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CloseUp</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Rexona</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Lipton</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Knorr</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r>
              <a:tr h="209810">
                <a:tc vMerge="1">
                  <a:txBody>
                    <a:bodyPr/>
                    <a:lstStyle/>
                    <a:p>
                      <a:pPr algn="ctr" fontAlgn="ctr"/>
                      <a:endParaRPr lang="en-US" sz="1400" b="0" i="0" u="none" strike="noStrike" dirty="0">
                        <a:solidFill>
                          <a:schemeClr val="tx1"/>
                        </a:solidFill>
                        <a:latin typeface="Times New Roman"/>
                      </a:endParaRPr>
                    </a:p>
                  </a:txBody>
                  <a:tcPr marL="12700" marR="12700"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Lifebuoy</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Wheel</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Vaseline</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Annapurna</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r>
              <a:tr h="201902">
                <a:tc vMerge="1">
                  <a:txBody>
                    <a:bodyPr/>
                    <a:lstStyle/>
                    <a:p>
                      <a:pPr algn="ctr" fontAlgn="ctr"/>
                      <a:endParaRPr lang="en-US" sz="1400" b="0" i="0" u="none" strike="noStrike" dirty="0">
                        <a:solidFill>
                          <a:schemeClr val="tx1"/>
                        </a:solidFill>
                        <a:latin typeface="Times New Roman"/>
                      </a:endParaRPr>
                    </a:p>
                  </a:txBody>
                  <a:tcPr marL="12700" marR="12700"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Dove</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r>
              <a:tr h="201902">
                <a:tc vMerge="1">
                  <a:txBody>
                    <a:bodyPr/>
                    <a:lstStyle/>
                    <a:p>
                      <a:pPr algn="ctr" fontAlgn="ctr"/>
                      <a:endParaRPr lang="en-US" sz="1400" b="0" i="0" u="none" strike="noStrike" dirty="0">
                        <a:solidFill>
                          <a:schemeClr val="tx1"/>
                        </a:solidFill>
                        <a:latin typeface="Times New Roman"/>
                      </a:endParaRPr>
                    </a:p>
                  </a:txBody>
                  <a:tcPr marL="12700" marR="12700"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Pears</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r>
              <a:tr h="201902">
                <a:tc vMerge="1">
                  <a:txBody>
                    <a:bodyPr/>
                    <a:lstStyle/>
                    <a:p>
                      <a:pPr algn="ctr" fontAlgn="ctr"/>
                      <a:endParaRPr lang="en-US" sz="1400" b="0" i="0" u="none" strike="noStrike" dirty="0">
                        <a:solidFill>
                          <a:schemeClr val="tx1"/>
                        </a:solidFill>
                        <a:latin typeface="Times New Roman"/>
                      </a:endParaRPr>
                    </a:p>
                  </a:txBody>
                  <a:tcPr marL="12700" marR="12700"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Hamam</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r>
              <a:tr h="201902">
                <a:tc vMerge="1">
                  <a:txBody>
                    <a:bodyPr/>
                    <a:lstStyle/>
                    <a:p>
                      <a:pPr algn="ctr" fontAlgn="ctr"/>
                      <a:endParaRPr lang="en-US" sz="1400" b="0" i="0" u="none" strike="noStrike" dirty="0">
                        <a:solidFill>
                          <a:schemeClr val="tx1"/>
                        </a:solidFill>
                        <a:latin typeface="Times New Roman"/>
                      </a:endParaRPr>
                    </a:p>
                  </a:txBody>
                  <a:tcPr marL="12700" marR="12700"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Breeze</a:t>
                      </a:r>
                    </a:p>
                  </a:txBody>
                  <a:tcPr marL="9525" marR="9525" marT="9525" marB="0" anchor="ctr">
                    <a:solidFill>
                      <a:schemeClr val="bg1">
                        <a:lumMod val="75000"/>
                      </a:schemeClr>
                    </a:solidFill>
                  </a:tcPr>
                </a:tc>
                <a:tc>
                  <a:txBody>
                    <a:bodyPr/>
                    <a:lstStyle/>
                    <a:p>
                      <a:pPr algn="ctr" fontAlgn="ctr"/>
                      <a:r>
                        <a:rPr lang="en-US" sz="1400" b="0" i="0" u="none" strike="noStrike">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r>
              <a:tr h="352472">
                <a:tc vMerge="1">
                  <a:txBody>
                    <a:bodyPr/>
                    <a:lstStyle/>
                    <a:p>
                      <a:pPr algn="ctr" fontAlgn="ctr"/>
                      <a:endParaRPr lang="en-US" sz="1400" b="0" i="0" u="none" strike="noStrike" dirty="0">
                        <a:solidFill>
                          <a:schemeClr val="tx1"/>
                        </a:solidFill>
                        <a:latin typeface="Times New Roman"/>
                      </a:endParaRPr>
                    </a:p>
                  </a:txBody>
                  <a:tcPr marL="12700" marR="12700" marT="9525" marB="0" anchor="ctr">
                    <a:solidFill>
                      <a:schemeClr val="bg1">
                        <a:lumMod val="75000"/>
                      </a:schemeClr>
                    </a:solidFill>
                  </a:tcPr>
                </a:tc>
                <a:tc>
                  <a:txBody>
                    <a:bodyPr/>
                    <a:lstStyle/>
                    <a:p>
                      <a:pPr algn="ctr" fontAlgn="ctr"/>
                      <a:r>
                        <a:rPr lang="en-US" sz="1400" b="0" i="0" u="none" strike="noStrike" dirty="0" err="1">
                          <a:solidFill>
                            <a:srgbClr val="FF0000"/>
                          </a:solidFill>
                          <a:latin typeface="Times New Roman"/>
                        </a:rPr>
                        <a:t>Rexona</a:t>
                      </a: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endParaRPr lang="en-US" sz="1400" b="0" i="0" u="none" strike="noStrike" dirty="0">
                        <a:solidFill>
                          <a:srgbClr val="FF0000"/>
                        </a:solidFill>
                        <a:latin typeface="Times New Roman"/>
                      </a:endParaRP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c>
                  <a:txBody>
                    <a:bodyPr/>
                    <a:lstStyle/>
                    <a:p>
                      <a:pPr algn="ctr" fontAlgn="ctr"/>
                      <a:r>
                        <a:rPr lang="en-US" sz="1400" b="0" i="0" u="none" strike="noStrike" dirty="0">
                          <a:solidFill>
                            <a:srgbClr val="FF0000"/>
                          </a:solidFill>
                          <a:latin typeface="Times New Roman"/>
                        </a:rPr>
                        <a:t> </a:t>
                      </a:r>
                    </a:p>
                  </a:txBody>
                  <a:tcPr marL="9525" marR="9525" marT="9525" marB="0" anchor="ctr">
                    <a:solidFill>
                      <a:schemeClr val="bg1">
                        <a:lumMod val="75000"/>
                      </a:schemeClr>
                    </a:solidFill>
                  </a:tcPr>
                </a:tc>
              </a:tr>
            </a:tbl>
          </a:graphicData>
        </a:graphic>
      </p:graphicFrame>
      <p:sp>
        <p:nvSpPr>
          <p:cNvPr id="6" name="Content Placeholder 2"/>
          <p:cNvSpPr txBox="1">
            <a:spLocks/>
          </p:cNvSpPr>
          <p:nvPr/>
        </p:nvSpPr>
        <p:spPr>
          <a:xfrm>
            <a:off x="367393" y="620688"/>
            <a:ext cx="4237264" cy="2072480"/>
          </a:xfrm>
          <a:prstGeom prst="rect">
            <a:avLst/>
          </a:prstGeom>
          <a:solidFill>
            <a:schemeClr val="bg1">
              <a:lumMod val="65000"/>
            </a:schemeClr>
          </a:solidFill>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dirty="0" smtClean="0">
                <a:latin typeface="Times New Roman" pitchFamily="18" charset="0"/>
                <a:cs typeface="Times New Roman" pitchFamily="18" charset="0"/>
              </a:rPr>
              <a:t>	</a:t>
            </a:r>
            <a:r>
              <a:rPr lang="en-US" sz="2900" b="1" dirty="0" smtClean="0">
                <a:solidFill>
                  <a:srgbClr val="FF0000"/>
                </a:solidFill>
                <a:latin typeface="Times New Roman" pitchFamily="18" charset="0"/>
                <a:cs typeface="Times New Roman" pitchFamily="18" charset="0"/>
              </a:rPr>
              <a:t>Product mix/ assortment- </a:t>
            </a:r>
            <a:r>
              <a:rPr lang="en-US" sz="2900" dirty="0" smtClean="0">
                <a:latin typeface="Times New Roman" pitchFamily="18" charset="0"/>
                <a:cs typeface="Times New Roman" pitchFamily="18" charset="0"/>
              </a:rPr>
              <a:t>Is the </a:t>
            </a:r>
            <a:r>
              <a:rPr lang="en-US" sz="2900" dirty="0" smtClean="0">
                <a:solidFill>
                  <a:srgbClr val="FF0000"/>
                </a:solidFill>
                <a:latin typeface="Times New Roman" pitchFamily="18" charset="0"/>
                <a:cs typeface="Times New Roman" pitchFamily="18" charset="0"/>
              </a:rPr>
              <a:t>set of all products </a:t>
            </a:r>
            <a:r>
              <a:rPr lang="en-US" sz="2900" dirty="0" smtClean="0">
                <a:latin typeface="Times New Roman" pitchFamily="18" charset="0"/>
                <a:cs typeface="Times New Roman" pitchFamily="18" charset="0"/>
              </a:rPr>
              <a:t>and items a particular seller offers for sale. A company’s product mix has certain </a:t>
            </a:r>
          </a:p>
          <a:p>
            <a:pPr>
              <a:buFont typeface="Arial" panose="020B0604020202020204" pitchFamily="34" charset="0"/>
              <a:buNone/>
            </a:pPr>
            <a:endParaRPr lang="en-US" dirty="0" smtClean="0">
              <a:latin typeface="Times New Roman" pitchFamily="18" charset="0"/>
              <a:cs typeface="Times New Roman" pitchFamily="18" charset="0"/>
            </a:endParaRPr>
          </a:p>
          <a:p>
            <a:pPr>
              <a:buFont typeface="Arial" panose="020B0604020202020204" pitchFamily="34" charset="0"/>
              <a:buNone/>
            </a:pPr>
            <a:r>
              <a:rPr lang="en-US" b="1" dirty="0" smtClean="0">
                <a:solidFill>
                  <a:srgbClr val="FF0000"/>
                </a:solidFill>
                <a:latin typeface="Times New Roman" pitchFamily="18" charset="0"/>
                <a:cs typeface="Times New Roman" pitchFamily="18" charset="0"/>
              </a:rPr>
              <a:t>Width</a:t>
            </a:r>
            <a:r>
              <a:rPr lang="en-US" dirty="0" smtClean="0">
                <a:latin typeface="Times New Roman" pitchFamily="18" charset="0"/>
                <a:cs typeface="Times New Roman" pitchFamily="18" charset="0"/>
              </a:rPr>
              <a:t>- How many different </a:t>
            </a:r>
            <a:r>
              <a:rPr lang="en-US" dirty="0" smtClean="0">
                <a:solidFill>
                  <a:srgbClr val="FF0000"/>
                </a:solidFill>
                <a:latin typeface="Times New Roman" pitchFamily="18" charset="0"/>
                <a:cs typeface="Times New Roman" pitchFamily="18" charset="0"/>
              </a:rPr>
              <a:t>product lines</a:t>
            </a:r>
          </a:p>
          <a:p>
            <a:pPr>
              <a:buFont typeface="Arial" panose="020B0604020202020204" pitchFamily="34" charset="0"/>
              <a:buNone/>
            </a:pPr>
            <a:r>
              <a:rPr lang="en-US" b="1" dirty="0" smtClean="0">
                <a:solidFill>
                  <a:srgbClr val="FF0000"/>
                </a:solidFill>
                <a:latin typeface="Times New Roman" pitchFamily="18" charset="0"/>
                <a:cs typeface="Times New Roman" pitchFamily="18" charset="0"/>
              </a:rPr>
              <a:t>Length</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The total </a:t>
            </a:r>
            <a:r>
              <a:rPr lang="en-US" dirty="0" smtClean="0">
                <a:solidFill>
                  <a:srgbClr val="FF0000"/>
                </a:solidFill>
                <a:latin typeface="Times New Roman" pitchFamily="18" charset="0"/>
                <a:cs typeface="Times New Roman" pitchFamily="18" charset="0"/>
              </a:rPr>
              <a:t>number of items </a:t>
            </a:r>
            <a:r>
              <a:rPr lang="en-US" dirty="0" smtClean="0">
                <a:latin typeface="Times New Roman" pitchFamily="18" charset="0"/>
                <a:cs typeface="Times New Roman" pitchFamily="18" charset="0"/>
              </a:rPr>
              <a:t>in the mix</a:t>
            </a:r>
          </a:p>
          <a:p>
            <a:pPr>
              <a:buFont typeface="Arial" panose="020B0604020202020204" pitchFamily="34" charset="0"/>
              <a:buNone/>
            </a:pPr>
            <a:r>
              <a:rPr lang="en-US" b="1" dirty="0" smtClean="0">
                <a:solidFill>
                  <a:srgbClr val="FF0000"/>
                </a:solidFill>
                <a:latin typeface="Times New Roman" pitchFamily="18" charset="0"/>
                <a:cs typeface="Times New Roman" pitchFamily="18" charset="0"/>
              </a:rPr>
              <a:t>Depth</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How many </a:t>
            </a:r>
            <a:r>
              <a:rPr lang="en-US" dirty="0" smtClean="0">
                <a:solidFill>
                  <a:srgbClr val="FF0000"/>
                </a:solidFill>
                <a:latin typeface="Times New Roman" pitchFamily="18" charset="0"/>
                <a:cs typeface="Times New Roman" pitchFamily="18" charset="0"/>
              </a:rPr>
              <a:t>variants</a:t>
            </a:r>
            <a:r>
              <a:rPr lang="en-US" dirty="0" smtClean="0">
                <a:latin typeface="Times New Roman" pitchFamily="18" charset="0"/>
                <a:cs typeface="Times New Roman" pitchFamily="18" charset="0"/>
              </a:rPr>
              <a:t> are offered of each product</a:t>
            </a:r>
          </a:p>
          <a:p>
            <a:pPr>
              <a:buFont typeface="Arial" panose="020B0604020202020204" pitchFamily="34" charset="0"/>
              <a:buNone/>
            </a:pPr>
            <a:r>
              <a:rPr lang="en-US" b="1" dirty="0" smtClean="0">
                <a:solidFill>
                  <a:srgbClr val="FF0000"/>
                </a:solidFill>
                <a:latin typeface="Times New Roman" pitchFamily="18" charset="0"/>
                <a:cs typeface="Times New Roman" pitchFamily="18" charset="0"/>
              </a:rPr>
              <a:t>Consistency</a:t>
            </a:r>
            <a:r>
              <a:rPr lang="en-US" dirty="0" smtClean="0">
                <a:latin typeface="Times New Roman" pitchFamily="18" charset="0"/>
                <a:cs typeface="Times New Roman" pitchFamily="18" charset="0"/>
              </a:rPr>
              <a:t>- How </a:t>
            </a:r>
            <a:r>
              <a:rPr lang="en-US" dirty="0" smtClean="0">
                <a:solidFill>
                  <a:srgbClr val="FF0000"/>
                </a:solidFill>
                <a:latin typeface="Times New Roman" pitchFamily="18" charset="0"/>
                <a:cs typeface="Times New Roman" pitchFamily="18" charset="0"/>
              </a:rPr>
              <a:t>closely related </a:t>
            </a:r>
            <a:r>
              <a:rPr lang="en-US" dirty="0" smtClean="0">
                <a:latin typeface="Times New Roman" pitchFamily="18" charset="0"/>
                <a:cs typeface="Times New Roman" pitchFamily="18" charset="0"/>
              </a:rPr>
              <a:t>the product lines are.</a:t>
            </a:r>
            <a:endParaRPr lang="en-US" dirty="0">
              <a:latin typeface="Times New Roman" pitchFamily="18" charset="0"/>
              <a:cs typeface="Times New Roman" pitchFamily="18" charset="0"/>
            </a:endParaRPr>
          </a:p>
        </p:txBody>
      </p:sp>
      <p:sp>
        <p:nvSpPr>
          <p:cNvPr id="7" name="Title 1"/>
          <p:cNvSpPr txBox="1">
            <a:spLocks/>
          </p:cNvSpPr>
          <p:nvPr/>
        </p:nvSpPr>
        <p:spPr>
          <a:xfrm>
            <a:off x="4745491" y="620686"/>
            <a:ext cx="4139294" cy="2072482"/>
          </a:xfrm>
          <a:prstGeom prst="rect">
            <a:avLst/>
          </a:prstGeom>
          <a:solidFill>
            <a:srgbClr val="92D05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smtClean="0">
                <a:latin typeface="Times New Roman" pitchFamily="18" charset="0"/>
                <a:cs typeface="Times New Roman" pitchFamily="18" charset="0"/>
              </a:rPr>
              <a:t>Product mix dimensions permit the company to </a:t>
            </a:r>
            <a:r>
              <a:rPr lang="en-US" sz="1600" dirty="0" smtClean="0">
                <a:solidFill>
                  <a:srgbClr val="FF0000"/>
                </a:solidFill>
                <a:latin typeface="Times New Roman" pitchFamily="18" charset="0"/>
                <a:cs typeface="Times New Roman" pitchFamily="18" charset="0"/>
              </a:rPr>
              <a:t>expand</a:t>
            </a:r>
            <a:r>
              <a:rPr lang="en-US" sz="1600" dirty="0" smtClean="0">
                <a:latin typeface="Times New Roman" pitchFamily="18" charset="0"/>
                <a:cs typeface="Times New Roman" pitchFamily="18" charset="0"/>
              </a:rPr>
              <a:t> its business in following ways.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It can add </a:t>
            </a:r>
            <a:r>
              <a:rPr lang="en-US" sz="1600" dirty="0" smtClean="0">
                <a:solidFill>
                  <a:srgbClr val="FF0000"/>
                </a:solidFill>
                <a:latin typeface="Times New Roman" pitchFamily="18" charset="0"/>
                <a:cs typeface="Times New Roman" pitchFamily="18" charset="0"/>
              </a:rPr>
              <a:t>new product lines.</a:t>
            </a:r>
            <a:br>
              <a:rPr lang="en-US" sz="1600" dirty="0" smtClean="0">
                <a:solidFill>
                  <a:srgbClr val="FF0000"/>
                </a:solidFill>
                <a:latin typeface="Times New Roman" pitchFamily="18" charset="0"/>
                <a:cs typeface="Times New Roman" pitchFamily="18" charset="0"/>
              </a:rPr>
            </a:br>
            <a:r>
              <a:rPr lang="en-US" sz="1600" dirty="0" smtClean="0">
                <a:latin typeface="Times New Roman" pitchFamily="18" charset="0"/>
                <a:cs typeface="Times New Roman" pitchFamily="18" charset="0"/>
              </a:rPr>
              <a:t>It can </a:t>
            </a:r>
            <a:r>
              <a:rPr lang="en-US" sz="1600" dirty="0" smtClean="0">
                <a:solidFill>
                  <a:srgbClr val="FF0000"/>
                </a:solidFill>
                <a:latin typeface="Times New Roman" pitchFamily="18" charset="0"/>
                <a:cs typeface="Times New Roman" pitchFamily="18" charset="0"/>
              </a:rPr>
              <a:t>lengthen</a:t>
            </a:r>
            <a:r>
              <a:rPr lang="en-US" sz="1600" dirty="0" smtClean="0">
                <a:latin typeface="Times New Roman" pitchFamily="18" charset="0"/>
                <a:cs typeface="Times New Roman" pitchFamily="18" charset="0"/>
              </a:rPr>
              <a:t> each product line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It can add more product </a:t>
            </a:r>
            <a:r>
              <a:rPr lang="en-US" sz="1600" dirty="0" smtClean="0">
                <a:solidFill>
                  <a:srgbClr val="FF0000"/>
                </a:solidFill>
                <a:latin typeface="Times New Roman" pitchFamily="18" charset="0"/>
                <a:cs typeface="Times New Roman" pitchFamily="18" charset="0"/>
              </a:rPr>
              <a:t>variants</a:t>
            </a:r>
            <a:br>
              <a:rPr lang="en-US" sz="1600" dirty="0" smtClean="0">
                <a:solidFill>
                  <a:srgbClr val="FF0000"/>
                </a:solidFill>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Line stretching, Pruning</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1654339593"/>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CustomShape 1"/>
          <p:cNvSpPr/>
          <p:nvPr/>
        </p:nvSpPr>
        <p:spPr>
          <a:xfrm>
            <a:off x="1944540" y="692696"/>
            <a:ext cx="6682500" cy="95931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noAutofit/>
          </a:bodyPr>
          <a:lstStyle/>
          <a:p>
            <a:pPr>
              <a:lnSpc>
                <a:spcPct val="100000"/>
              </a:lnSpc>
            </a:pPr>
            <a:r>
              <a:rPr lang="en-IN" sz="2700" b="1" spc="-1" dirty="0">
                <a:solidFill>
                  <a:srgbClr val="262626"/>
                </a:solidFill>
                <a:latin typeface="Century Gothic"/>
                <a:ea typeface="DejaVu Sans"/>
              </a:rPr>
              <a:t>Is this entity a brand?</a:t>
            </a:r>
            <a:endParaRPr lang="en-IN" sz="2700" spc="-1" dirty="0">
              <a:latin typeface="Arial"/>
            </a:endParaRPr>
          </a:p>
        </p:txBody>
      </p:sp>
      <p:sp>
        <p:nvSpPr>
          <p:cNvPr id="475" name="CustomShape 2"/>
          <p:cNvSpPr/>
          <p:nvPr/>
        </p:nvSpPr>
        <p:spPr>
          <a:xfrm>
            <a:off x="1944540" y="1268760"/>
            <a:ext cx="5579788" cy="4824536"/>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p:style>
        <p:txBody>
          <a:bodyPr lIns="67500" tIns="33750" rIns="67500" bIns="33750">
            <a:noAutofit/>
          </a:bodyPr>
          <a:lstStyle/>
          <a:p>
            <a:pPr>
              <a:spcBef>
                <a:spcPts val="751"/>
              </a:spcBef>
            </a:pPr>
            <a:endParaRPr lang="en-IN" sz="1350" spc="-1" dirty="0">
              <a:latin typeface="Arial"/>
            </a:endParaRPr>
          </a:p>
          <a:p>
            <a:pPr>
              <a:spcBef>
                <a:spcPts val="751"/>
              </a:spcBef>
            </a:pPr>
            <a:endParaRPr lang="en-IN" sz="1350" spc="-1" dirty="0">
              <a:latin typeface="Arial"/>
            </a:endParaRPr>
          </a:p>
          <a:p>
            <a:pPr>
              <a:spcBef>
                <a:spcPts val="751"/>
              </a:spcBef>
            </a:pPr>
            <a:endParaRPr lang="en-IN" sz="1350" spc="-1" dirty="0">
              <a:latin typeface="Arial"/>
            </a:endParaRPr>
          </a:p>
          <a:p>
            <a:pPr>
              <a:spcBef>
                <a:spcPts val="751"/>
              </a:spcBef>
            </a:pPr>
            <a:endParaRPr lang="en-IN" sz="1350" spc="-1" dirty="0">
              <a:latin typeface="Arial"/>
            </a:endParaRPr>
          </a:p>
          <a:p>
            <a:pPr>
              <a:spcBef>
                <a:spcPts val="751"/>
              </a:spcBef>
            </a:pPr>
            <a:endParaRPr lang="en-IN" sz="1350" spc="-1" dirty="0">
              <a:latin typeface="Arial"/>
            </a:endParaRPr>
          </a:p>
          <a:p>
            <a:pPr>
              <a:spcBef>
                <a:spcPts val="751"/>
              </a:spcBef>
            </a:pPr>
            <a:endParaRPr lang="en-IN" sz="1350" spc="-1" dirty="0">
              <a:latin typeface="Arial"/>
            </a:endParaRPr>
          </a:p>
          <a:p>
            <a:pPr>
              <a:spcBef>
                <a:spcPts val="751"/>
              </a:spcBef>
            </a:pPr>
            <a:endParaRPr lang="en-IN" sz="1350" spc="-1" dirty="0">
              <a:latin typeface="Arial"/>
            </a:endParaRPr>
          </a:p>
          <a:p>
            <a:pPr marL="257310" indent="-255960">
              <a:spcBef>
                <a:spcPts val="751"/>
              </a:spcBef>
              <a:buClr>
                <a:srgbClr val="E78712"/>
              </a:buClr>
              <a:buFont typeface="Wingdings 3" charset="2"/>
              <a:buChar char=""/>
            </a:pPr>
            <a:r>
              <a:rPr lang="en-IN" sz="1350" spc="-1" dirty="0">
                <a:solidFill>
                  <a:srgbClr val="404040"/>
                </a:solidFill>
                <a:latin typeface="Century Gothic"/>
                <a:ea typeface="DejaVu Sans"/>
              </a:rPr>
              <a:t>Yes/ NO –Justify</a:t>
            </a:r>
            <a:endParaRPr lang="en-IN" sz="1350" spc="-1" dirty="0">
              <a:latin typeface="Arial"/>
            </a:endParaRPr>
          </a:p>
          <a:p>
            <a:pPr>
              <a:spcBef>
                <a:spcPts val="751"/>
              </a:spcBef>
            </a:pPr>
            <a:endParaRPr lang="en-IN" sz="1350" spc="-1" dirty="0">
              <a:latin typeface="Arial"/>
            </a:endParaRPr>
          </a:p>
        </p:txBody>
      </p:sp>
      <p:pic>
        <p:nvPicPr>
          <p:cNvPr id="476" name="Picture 3"/>
          <p:cNvPicPr/>
          <p:nvPr/>
        </p:nvPicPr>
        <p:blipFill>
          <a:blip r:embed="rId2"/>
          <a:stretch/>
        </p:blipFill>
        <p:spPr>
          <a:xfrm>
            <a:off x="3734370" y="2033640"/>
            <a:ext cx="2165670" cy="3255120"/>
          </a:xfrm>
          <a:prstGeom prst="rect">
            <a:avLst/>
          </a:prstGeom>
          <a:ln>
            <a:noFill/>
          </a:ln>
        </p:spPr>
      </p:pic>
    </p:spTree>
    <p:extLst>
      <p:ext uri="{BB962C8B-B14F-4D97-AF65-F5344CB8AC3E}">
        <p14:creationId xmlns:p14="http://schemas.microsoft.com/office/powerpoint/2010/main" val="181911909"/>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CustomShape 1"/>
          <p:cNvSpPr/>
          <p:nvPr/>
        </p:nvSpPr>
        <p:spPr>
          <a:xfrm>
            <a:off x="827584" y="1124744"/>
            <a:ext cx="6682500" cy="95931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normAutofit/>
          </a:bodyPr>
          <a:lstStyle/>
          <a:p>
            <a:pPr algn="ctr">
              <a:lnSpc>
                <a:spcPct val="100000"/>
              </a:lnSpc>
            </a:pPr>
            <a:r>
              <a:rPr lang="en-IN" sz="3300" b="1" spc="-1" dirty="0" smtClean="0">
                <a:solidFill>
                  <a:srgbClr val="262626"/>
                </a:solidFill>
                <a:latin typeface="Century Gothic"/>
                <a:ea typeface="DejaVu Sans"/>
              </a:rPr>
              <a:t>Brand</a:t>
            </a:r>
            <a:endParaRPr lang="en-IN" sz="3300" spc="-1" dirty="0">
              <a:latin typeface="Arial"/>
            </a:endParaRPr>
          </a:p>
        </p:txBody>
      </p:sp>
      <p:sp>
        <p:nvSpPr>
          <p:cNvPr id="473" name="CustomShape 2"/>
          <p:cNvSpPr/>
          <p:nvPr/>
        </p:nvSpPr>
        <p:spPr>
          <a:xfrm>
            <a:off x="1941570" y="2457270"/>
            <a:ext cx="6685200" cy="283176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normAutofit/>
          </a:bodyPr>
          <a:lstStyle/>
          <a:p>
            <a:pPr marL="257310" indent="-255960">
              <a:spcBef>
                <a:spcPts val="751"/>
              </a:spcBef>
              <a:buClr>
                <a:srgbClr val="E78712"/>
              </a:buClr>
              <a:buFont typeface="Wingdings 3" charset="2"/>
              <a:buChar char=""/>
            </a:pPr>
            <a:r>
              <a:rPr lang="en-IN" sz="3000" b="1" spc="-1">
                <a:solidFill>
                  <a:srgbClr val="00B0F0"/>
                </a:solidFill>
                <a:latin typeface="Century Gothic"/>
                <a:ea typeface="DejaVu Sans"/>
              </a:rPr>
              <a:t>Need fulfillment</a:t>
            </a:r>
            <a:endParaRPr lang="en-IN" sz="3000" spc="-1">
              <a:latin typeface="Arial"/>
            </a:endParaRPr>
          </a:p>
          <a:p>
            <a:pPr marL="257310" indent="-255960">
              <a:spcBef>
                <a:spcPts val="751"/>
              </a:spcBef>
              <a:buClr>
                <a:srgbClr val="E78712"/>
              </a:buClr>
              <a:buFont typeface="Wingdings 3" charset="2"/>
              <a:buChar char=""/>
            </a:pPr>
            <a:r>
              <a:rPr lang="en-IN" sz="3000" b="1" spc="-1">
                <a:solidFill>
                  <a:srgbClr val="00B0F0"/>
                </a:solidFill>
                <a:latin typeface="Century Gothic"/>
                <a:ea typeface="DejaVu Sans"/>
              </a:rPr>
              <a:t>Clear Identity</a:t>
            </a:r>
            <a:endParaRPr lang="en-IN" sz="3000" spc="-1">
              <a:latin typeface="Arial"/>
            </a:endParaRPr>
          </a:p>
          <a:p>
            <a:pPr marL="257310" indent="-255960">
              <a:spcBef>
                <a:spcPts val="751"/>
              </a:spcBef>
              <a:buClr>
                <a:srgbClr val="E78712"/>
              </a:buClr>
              <a:buFont typeface="Wingdings 3" charset="2"/>
              <a:buChar char=""/>
            </a:pPr>
            <a:r>
              <a:rPr lang="en-IN" sz="3000" b="1" spc="-1">
                <a:solidFill>
                  <a:srgbClr val="00B0F0"/>
                </a:solidFill>
                <a:latin typeface="Century Gothic"/>
                <a:ea typeface="DejaVu Sans"/>
              </a:rPr>
              <a:t>Tangibles and Intangibles</a:t>
            </a:r>
            <a:endParaRPr lang="en-IN" sz="3000" spc="-1">
              <a:latin typeface="Arial"/>
            </a:endParaRPr>
          </a:p>
          <a:p>
            <a:pPr marL="257310" indent="-255960">
              <a:spcBef>
                <a:spcPts val="751"/>
              </a:spcBef>
              <a:buClr>
                <a:srgbClr val="E78712"/>
              </a:buClr>
              <a:buFont typeface="Wingdings 3" charset="2"/>
              <a:buChar char=""/>
            </a:pPr>
            <a:r>
              <a:rPr lang="en-IN" sz="3000" b="1" spc="-1">
                <a:solidFill>
                  <a:srgbClr val="00B0F0"/>
                </a:solidFill>
                <a:latin typeface="Century Gothic"/>
                <a:ea typeface="DejaVu Sans"/>
              </a:rPr>
              <a:t>Is it different</a:t>
            </a:r>
            <a:endParaRPr lang="en-IN" sz="3000" spc="-1">
              <a:latin typeface="Arial"/>
            </a:endParaRPr>
          </a:p>
          <a:p>
            <a:pPr marL="257310" indent="-255960">
              <a:spcBef>
                <a:spcPts val="751"/>
              </a:spcBef>
              <a:buClr>
                <a:srgbClr val="E78712"/>
              </a:buClr>
              <a:buFont typeface="Wingdings 3" charset="2"/>
              <a:buChar char=""/>
            </a:pPr>
            <a:r>
              <a:rPr lang="en-IN" sz="3000" b="1" spc="-1">
                <a:solidFill>
                  <a:srgbClr val="00B0F0"/>
                </a:solidFill>
                <a:latin typeface="Century Gothic"/>
                <a:ea typeface="DejaVu Sans"/>
              </a:rPr>
              <a:t>Create Value</a:t>
            </a:r>
            <a:endParaRPr lang="en-IN" sz="3000" spc="-1">
              <a:latin typeface="Arial"/>
            </a:endParaRPr>
          </a:p>
        </p:txBody>
      </p:sp>
    </p:spTree>
    <p:extLst>
      <p:ext uri="{BB962C8B-B14F-4D97-AF65-F5344CB8AC3E}">
        <p14:creationId xmlns:p14="http://schemas.microsoft.com/office/powerpoint/2010/main" val="3903135217"/>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CustomShape 1"/>
          <p:cNvSpPr/>
          <p:nvPr/>
        </p:nvSpPr>
        <p:spPr>
          <a:xfrm>
            <a:off x="1115616" y="548680"/>
            <a:ext cx="7128792" cy="576064"/>
          </a:xfrm>
          <a:prstGeom prst="rect">
            <a:avLst/>
          </a:prstGeom>
          <a:solidFill>
            <a:srgbClr val="92D050"/>
          </a:solidFill>
          <a:ln>
            <a:noFill/>
          </a:ln>
        </p:spPr>
        <p:style>
          <a:lnRef idx="0">
            <a:scrgbClr r="0" g="0" b="0"/>
          </a:lnRef>
          <a:fillRef idx="0">
            <a:scrgbClr r="0" g="0" b="0"/>
          </a:fillRef>
          <a:effectRef idx="0">
            <a:scrgbClr r="0" g="0" b="0"/>
          </a:effectRef>
          <a:fontRef idx="minor"/>
        </p:style>
        <p:txBody>
          <a:bodyPr lIns="67500" tIns="33750" rIns="67500" bIns="33750">
            <a:noAutofit/>
          </a:bodyPr>
          <a:lstStyle/>
          <a:p>
            <a:pPr algn="ctr">
              <a:lnSpc>
                <a:spcPct val="100000"/>
              </a:lnSpc>
            </a:pPr>
            <a:r>
              <a:rPr lang="en-IN" sz="2700" b="1" spc="-1" dirty="0">
                <a:solidFill>
                  <a:srgbClr val="262626"/>
                </a:solidFill>
                <a:latin typeface="Century Gothic"/>
                <a:ea typeface="DejaVu Sans"/>
              </a:rPr>
              <a:t>Brand </a:t>
            </a:r>
            <a:r>
              <a:rPr lang="en-IN" sz="2700" b="1" spc="-1" dirty="0" err="1">
                <a:solidFill>
                  <a:srgbClr val="262626"/>
                </a:solidFill>
                <a:latin typeface="Century Gothic"/>
                <a:ea typeface="DejaVu Sans"/>
              </a:rPr>
              <a:t>Virat</a:t>
            </a:r>
            <a:endParaRPr lang="en-IN" sz="2700" spc="-1" dirty="0">
              <a:latin typeface="Arial"/>
            </a:endParaRPr>
          </a:p>
        </p:txBody>
      </p:sp>
      <p:sp>
        <p:nvSpPr>
          <p:cNvPr id="478" name="CustomShape 2"/>
          <p:cNvSpPr/>
          <p:nvPr/>
        </p:nvSpPr>
        <p:spPr>
          <a:xfrm>
            <a:off x="683568" y="1844824"/>
            <a:ext cx="7992888" cy="4104456"/>
          </a:xfrm>
          <a:prstGeom prst="rect">
            <a:avLst/>
          </a:prstGeom>
          <a:solidFill>
            <a:srgbClr val="FFC000"/>
          </a:solidFill>
          <a:ln>
            <a:noFill/>
          </a:ln>
        </p:spPr>
        <p:style>
          <a:lnRef idx="0">
            <a:scrgbClr r="0" g="0" b="0"/>
          </a:lnRef>
          <a:fillRef idx="0">
            <a:scrgbClr r="0" g="0" b="0"/>
          </a:fillRef>
          <a:effectRef idx="0">
            <a:scrgbClr r="0" g="0" b="0"/>
          </a:effectRef>
          <a:fontRef idx="minor"/>
        </p:style>
        <p:txBody>
          <a:bodyPr lIns="67500" tIns="33750" rIns="67500" bIns="33750">
            <a:noAutofit/>
          </a:bodyPr>
          <a:lstStyle/>
          <a:p>
            <a:pPr marL="1350">
              <a:spcBef>
                <a:spcPts val="751"/>
              </a:spcBef>
              <a:buClr>
                <a:srgbClr val="E78712"/>
              </a:buClr>
            </a:pPr>
            <a:endParaRPr lang="en-IN" sz="2000" b="1" spc="-1" dirty="0" smtClean="0">
              <a:solidFill>
                <a:srgbClr val="404040"/>
              </a:solidFill>
              <a:latin typeface="Times New Roman" panose="02020603050405020304" pitchFamily="18" charset="0"/>
              <a:ea typeface="DejaVu Sans"/>
              <a:cs typeface="Times New Roman" panose="02020603050405020304" pitchFamily="18" charset="0"/>
            </a:endParaRPr>
          </a:p>
          <a:p>
            <a:pPr marL="1350">
              <a:spcBef>
                <a:spcPts val="751"/>
              </a:spcBef>
              <a:buClr>
                <a:srgbClr val="E78712"/>
              </a:buClr>
            </a:pPr>
            <a:endParaRPr lang="en-IN" sz="2000" b="1" spc="-1" dirty="0">
              <a:solidFill>
                <a:srgbClr val="404040"/>
              </a:solidFill>
              <a:latin typeface="Times New Roman" panose="02020603050405020304" pitchFamily="18" charset="0"/>
              <a:ea typeface="DejaVu Sans"/>
              <a:cs typeface="Times New Roman" panose="02020603050405020304" pitchFamily="18" charset="0"/>
            </a:endParaRPr>
          </a:p>
          <a:p>
            <a:pPr marL="257310" indent="-255960">
              <a:spcBef>
                <a:spcPts val="751"/>
              </a:spcBef>
              <a:buClr>
                <a:srgbClr val="E78712"/>
              </a:buClr>
              <a:buFont typeface="Wingdings 3" charset="2"/>
              <a:buChar char=""/>
            </a:pPr>
            <a:r>
              <a:rPr lang="en-IN" sz="2000" b="1" spc="-1" dirty="0" smtClean="0">
                <a:solidFill>
                  <a:srgbClr val="404040"/>
                </a:solidFill>
                <a:latin typeface="Times New Roman" panose="02020603050405020304" pitchFamily="18" charset="0"/>
                <a:ea typeface="DejaVu Sans"/>
                <a:cs typeface="Times New Roman" panose="02020603050405020304" pitchFamily="18" charset="0"/>
              </a:rPr>
              <a:t>Need </a:t>
            </a:r>
            <a:r>
              <a:rPr lang="en-IN" sz="2000" b="1" spc="-1" dirty="0" err="1">
                <a:solidFill>
                  <a:srgbClr val="404040"/>
                </a:solidFill>
                <a:latin typeface="Times New Roman" panose="02020603050405020304" pitchFamily="18" charset="0"/>
                <a:ea typeface="DejaVu Sans"/>
                <a:cs typeface="Times New Roman" panose="02020603050405020304" pitchFamily="18" charset="0"/>
              </a:rPr>
              <a:t>fulfillment</a:t>
            </a:r>
            <a:r>
              <a:rPr lang="en-IN" sz="2000" b="1" spc="-1" dirty="0">
                <a:solidFill>
                  <a:srgbClr val="404040"/>
                </a:solidFill>
                <a:latin typeface="Times New Roman" panose="02020603050405020304" pitchFamily="18" charset="0"/>
                <a:ea typeface="DejaVu Sans"/>
                <a:cs typeface="Times New Roman" panose="02020603050405020304" pitchFamily="18" charset="0"/>
              </a:rPr>
              <a:t>- </a:t>
            </a:r>
            <a:r>
              <a:rPr lang="en-IN" sz="2000" spc="-1" dirty="0">
                <a:solidFill>
                  <a:srgbClr val="404040"/>
                </a:solidFill>
                <a:latin typeface="Times New Roman" panose="02020603050405020304" pitchFamily="18" charset="0"/>
                <a:ea typeface="DejaVu Sans"/>
                <a:cs typeface="Times New Roman" panose="02020603050405020304" pitchFamily="18" charset="0"/>
              </a:rPr>
              <a:t>Winning, Achievement, Entertainment, </a:t>
            </a:r>
            <a:endParaRPr lang="en-IN" sz="2000" spc="-1" dirty="0">
              <a:latin typeface="Times New Roman" panose="02020603050405020304" pitchFamily="18" charset="0"/>
              <a:cs typeface="Times New Roman" panose="02020603050405020304" pitchFamily="18" charset="0"/>
            </a:endParaRPr>
          </a:p>
          <a:p>
            <a:pPr marL="257310" indent="-255960">
              <a:spcBef>
                <a:spcPts val="751"/>
              </a:spcBef>
              <a:buClr>
                <a:srgbClr val="E78712"/>
              </a:buClr>
              <a:buFont typeface="Wingdings 3" charset="2"/>
              <a:buChar char=""/>
            </a:pPr>
            <a:r>
              <a:rPr lang="en-IN" sz="2000" b="1" spc="-1" dirty="0" smtClean="0">
                <a:solidFill>
                  <a:srgbClr val="404040"/>
                </a:solidFill>
                <a:latin typeface="Times New Roman" panose="02020603050405020304" pitchFamily="18" charset="0"/>
                <a:ea typeface="DejaVu Sans"/>
                <a:cs typeface="Times New Roman" panose="02020603050405020304" pitchFamily="18" charset="0"/>
              </a:rPr>
              <a:t>Clear </a:t>
            </a:r>
            <a:r>
              <a:rPr lang="en-IN" sz="2000" b="1" spc="-1" dirty="0">
                <a:solidFill>
                  <a:srgbClr val="404040"/>
                </a:solidFill>
                <a:latin typeface="Times New Roman" panose="02020603050405020304" pitchFamily="18" charset="0"/>
                <a:ea typeface="DejaVu Sans"/>
                <a:cs typeface="Times New Roman" panose="02020603050405020304" pitchFamily="18" charset="0"/>
              </a:rPr>
              <a:t>Identity- </a:t>
            </a:r>
            <a:r>
              <a:rPr lang="en-IN" sz="2000" spc="-1" dirty="0">
                <a:solidFill>
                  <a:srgbClr val="404040"/>
                </a:solidFill>
                <a:latin typeface="Times New Roman" panose="02020603050405020304" pitchFamily="18" charset="0"/>
                <a:ea typeface="DejaVu Sans"/>
                <a:cs typeface="Times New Roman" panose="02020603050405020304" pitchFamily="18" charset="0"/>
              </a:rPr>
              <a:t>Successful Captain, Active, </a:t>
            </a:r>
            <a:r>
              <a:rPr lang="en-IN" sz="2000" spc="-1" dirty="0" err="1">
                <a:solidFill>
                  <a:srgbClr val="404040"/>
                </a:solidFill>
                <a:latin typeface="Times New Roman" panose="02020603050405020304" pitchFamily="18" charset="0"/>
                <a:ea typeface="DejaVu Sans"/>
                <a:cs typeface="Times New Roman" panose="02020603050405020304" pitchFamily="18" charset="0"/>
              </a:rPr>
              <a:t>Anushka</a:t>
            </a:r>
            <a:endParaRPr lang="en-IN" sz="2000" spc="-1" dirty="0">
              <a:latin typeface="Times New Roman" panose="02020603050405020304" pitchFamily="18" charset="0"/>
              <a:cs typeface="Times New Roman" panose="02020603050405020304" pitchFamily="18" charset="0"/>
            </a:endParaRPr>
          </a:p>
          <a:p>
            <a:pPr marL="257310" indent="-255960">
              <a:spcBef>
                <a:spcPts val="751"/>
              </a:spcBef>
              <a:buClr>
                <a:srgbClr val="E78712"/>
              </a:buClr>
              <a:buFont typeface="Wingdings 3" charset="2"/>
              <a:buChar char=""/>
            </a:pPr>
            <a:r>
              <a:rPr lang="en-IN" sz="2000" b="1" spc="-1" dirty="0" smtClean="0">
                <a:solidFill>
                  <a:srgbClr val="404040"/>
                </a:solidFill>
                <a:latin typeface="Times New Roman" panose="02020603050405020304" pitchFamily="18" charset="0"/>
                <a:ea typeface="DejaVu Sans"/>
                <a:cs typeface="Times New Roman" panose="02020603050405020304" pitchFamily="18" charset="0"/>
              </a:rPr>
              <a:t>Tangibles</a:t>
            </a:r>
            <a:r>
              <a:rPr lang="en-IN" sz="2000" spc="-1" dirty="0" smtClean="0">
                <a:solidFill>
                  <a:srgbClr val="404040"/>
                </a:solidFill>
                <a:latin typeface="Times New Roman" panose="02020603050405020304" pitchFamily="18" charset="0"/>
                <a:ea typeface="DejaVu Sans"/>
                <a:cs typeface="Times New Roman" panose="02020603050405020304" pitchFamily="18" charset="0"/>
              </a:rPr>
              <a:t> </a:t>
            </a:r>
            <a:r>
              <a:rPr lang="en-IN" sz="2000" spc="-1" dirty="0">
                <a:solidFill>
                  <a:srgbClr val="404040"/>
                </a:solidFill>
                <a:latin typeface="Times New Roman" panose="02020603050405020304" pitchFamily="18" charset="0"/>
                <a:ea typeface="DejaVu Sans"/>
                <a:cs typeface="Times New Roman" panose="02020603050405020304" pitchFamily="18" charset="0"/>
              </a:rPr>
              <a:t>(Batting Records, Physical Fitness, Beard) and </a:t>
            </a:r>
            <a:r>
              <a:rPr lang="en-IN" sz="2000" b="1" spc="-1" dirty="0">
                <a:solidFill>
                  <a:srgbClr val="404040"/>
                </a:solidFill>
                <a:latin typeface="Times New Roman" panose="02020603050405020304" pitchFamily="18" charset="0"/>
                <a:ea typeface="DejaVu Sans"/>
                <a:cs typeface="Times New Roman" panose="02020603050405020304" pitchFamily="18" charset="0"/>
              </a:rPr>
              <a:t>Intangibles</a:t>
            </a:r>
            <a:r>
              <a:rPr lang="en-IN" sz="2000" spc="-1" dirty="0">
                <a:solidFill>
                  <a:srgbClr val="404040"/>
                </a:solidFill>
                <a:latin typeface="Times New Roman" panose="02020603050405020304" pitchFamily="18" charset="0"/>
                <a:ea typeface="DejaVu Sans"/>
                <a:cs typeface="Times New Roman" panose="02020603050405020304" pitchFamily="18" charset="0"/>
              </a:rPr>
              <a:t>- Proud, </a:t>
            </a:r>
            <a:r>
              <a:rPr lang="en-IN" sz="2000" spc="-1" dirty="0" smtClean="0">
                <a:solidFill>
                  <a:srgbClr val="404040"/>
                </a:solidFill>
                <a:latin typeface="Times New Roman" panose="02020603050405020304" pitchFamily="18" charset="0"/>
                <a:ea typeface="DejaVu Sans"/>
                <a:cs typeface="Times New Roman" panose="02020603050405020304" pitchFamily="18" charset="0"/>
              </a:rPr>
              <a:t>Inspires</a:t>
            </a:r>
            <a:endParaRPr lang="en-IN" sz="2000" spc="-1" dirty="0" smtClean="0">
              <a:latin typeface="Times New Roman" panose="02020603050405020304" pitchFamily="18" charset="0"/>
              <a:cs typeface="Times New Roman" panose="02020603050405020304" pitchFamily="18" charset="0"/>
            </a:endParaRPr>
          </a:p>
          <a:p>
            <a:pPr marL="257310" indent="-255960">
              <a:spcBef>
                <a:spcPts val="751"/>
              </a:spcBef>
              <a:buClr>
                <a:srgbClr val="E78712"/>
              </a:buClr>
              <a:buFont typeface="Wingdings 3" charset="2"/>
              <a:buChar char=""/>
            </a:pPr>
            <a:r>
              <a:rPr lang="en-IN" sz="2000" b="1" spc="-1" dirty="0" smtClean="0">
                <a:solidFill>
                  <a:srgbClr val="404040"/>
                </a:solidFill>
                <a:latin typeface="Times New Roman" panose="02020603050405020304" pitchFamily="18" charset="0"/>
                <a:ea typeface="DejaVu Sans"/>
                <a:cs typeface="Times New Roman" panose="02020603050405020304" pitchFamily="18" charset="0"/>
              </a:rPr>
              <a:t>Different</a:t>
            </a:r>
            <a:r>
              <a:rPr lang="en-IN" sz="2000" spc="-1" dirty="0" smtClean="0">
                <a:solidFill>
                  <a:srgbClr val="404040"/>
                </a:solidFill>
                <a:latin typeface="Times New Roman" panose="02020603050405020304" pitchFamily="18" charset="0"/>
                <a:ea typeface="DejaVu Sans"/>
                <a:cs typeface="Times New Roman" panose="02020603050405020304" pitchFamily="18" charset="0"/>
              </a:rPr>
              <a:t>- </a:t>
            </a:r>
            <a:r>
              <a:rPr lang="en-IN" sz="2000" spc="-1" dirty="0">
                <a:solidFill>
                  <a:srgbClr val="404040"/>
                </a:solidFill>
                <a:latin typeface="Times New Roman" panose="02020603050405020304" pitchFamily="18" charset="0"/>
                <a:ea typeface="DejaVu Sans"/>
                <a:cs typeface="Times New Roman" panose="02020603050405020304" pitchFamily="18" charset="0"/>
              </a:rPr>
              <a:t>Aggression, Stand-Cola,  Cool- </a:t>
            </a:r>
            <a:r>
              <a:rPr lang="en-IN" sz="2000" spc="-1" dirty="0" err="1">
                <a:solidFill>
                  <a:srgbClr val="404040"/>
                </a:solidFill>
                <a:latin typeface="Times New Roman" panose="02020603050405020304" pitchFamily="18" charset="0"/>
                <a:ea typeface="DejaVu Sans"/>
                <a:cs typeface="Times New Roman" panose="02020603050405020304" pitchFamily="18" charset="0"/>
              </a:rPr>
              <a:t>Dhoni</a:t>
            </a:r>
            <a:r>
              <a:rPr lang="en-IN" sz="2000" spc="-1" dirty="0">
                <a:solidFill>
                  <a:srgbClr val="404040"/>
                </a:solidFill>
                <a:latin typeface="Times New Roman" panose="02020603050405020304" pitchFamily="18" charset="0"/>
                <a:ea typeface="DejaVu Sans"/>
                <a:cs typeface="Times New Roman" panose="02020603050405020304" pitchFamily="18" charset="0"/>
              </a:rPr>
              <a:t>, Patient </a:t>
            </a:r>
            <a:r>
              <a:rPr lang="en-IN" sz="2000" spc="-1" dirty="0" err="1">
                <a:solidFill>
                  <a:srgbClr val="404040"/>
                </a:solidFill>
                <a:latin typeface="Times New Roman" panose="02020603050405020304" pitchFamily="18" charset="0"/>
                <a:ea typeface="DejaVu Sans"/>
                <a:cs typeface="Times New Roman" panose="02020603050405020304" pitchFamily="18" charset="0"/>
              </a:rPr>
              <a:t>Hitman</a:t>
            </a:r>
            <a:r>
              <a:rPr lang="en-IN" sz="2000" spc="-1" dirty="0">
                <a:solidFill>
                  <a:srgbClr val="404040"/>
                </a:solidFill>
                <a:latin typeface="Times New Roman" panose="02020603050405020304" pitchFamily="18" charset="0"/>
                <a:ea typeface="DejaVu Sans"/>
                <a:cs typeface="Times New Roman" panose="02020603050405020304" pitchFamily="18" charset="0"/>
              </a:rPr>
              <a:t> </a:t>
            </a:r>
            <a:r>
              <a:rPr lang="en-IN" sz="2000" spc="-1" dirty="0" err="1">
                <a:solidFill>
                  <a:srgbClr val="404040"/>
                </a:solidFill>
                <a:latin typeface="Times New Roman" panose="02020603050405020304" pitchFamily="18" charset="0"/>
                <a:ea typeface="DejaVu Sans"/>
                <a:cs typeface="Times New Roman" panose="02020603050405020304" pitchFamily="18" charset="0"/>
              </a:rPr>
              <a:t>Rohit</a:t>
            </a:r>
            <a:endParaRPr lang="en-IN" sz="2000" spc="-1" dirty="0">
              <a:latin typeface="Times New Roman" panose="02020603050405020304" pitchFamily="18" charset="0"/>
              <a:cs typeface="Times New Roman" panose="02020603050405020304" pitchFamily="18" charset="0"/>
            </a:endParaRPr>
          </a:p>
          <a:p>
            <a:pPr marL="257310" indent="-255960">
              <a:spcBef>
                <a:spcPts val="751"/>
              </a:spcBef>
              <a:buClr>
                <a:srgbClr val="E78712"/>
              </a:buClr>
              <a:buFont typeface="Wingdings 3" charset="2"/>
              <a:buChar char=""/>
            </a:pPr>
            <a:r>
              <a:rPr lang="en-IN" sz="2000" b="1" spc="-1" dirty="0" smtClean="0">
                <a:solidFill>
                  <a:srgbClr val="404040"/>
                </a:solidFill>
                <a:latin typeface="Times New Roman" panose="02020603050405020304" pitchFamily="18" charset="0"/>
                <a:ea typeface="DejaVu Sans"/>
                <a:cs typeface="Times New Roman" panose="02020603050405020304" pitchFamily="18" charset="0"/>
              </a:rPr>
              <a:t>Create </a:t>
            </a:r>
            <a:r>
              <a:rPr lang="en-IN" sz="2000" b="1" spc="-1" dirty="0">
                <a:solidFill>
                  <a:srgbClr val="404040"/>
                </a:solidFill>
                <a:latin typeface="Times New Roman" panose="02020603050405020304" pitchFamily="18" charset="0"/>
                <a:ea typeface="DejaVu Sans"/>
                <a:cs typeface="Times New Roman" panose="02020603050405020304" pitchFamily="18" charset="0"/>
              </a:rPr>
              <a:t>Value- </a:t>
            </a:r>
            <a:r>
              <a:rPr lang="en-IN" sz="2000" spc="-1" dirty="0">
                <a:solidFill>
                  <a:srgbClr val="404040"/>
                </a:solidFill>
                <a:latin typeface="Times New Roman" panose="02020603050405020304" pitchFamily="18" charset="0"/>
                <a:ea typeface="DejaVu Sans"/>
                <a:cs typeface="Times New Roman" panose="02020603050405020304" pitchFamily="18" charset="0"/>
              </a:rPr>
              <a:t>BCCI, Fans, Viewers, IPL franchise, </a:t>
            </a:r>
            <a:r>
              <a:rPr lang="en-IN" sz="2000" spc="-1" dirty="0" smtClean="0">
                <a:solidFill>
                  <a:srgbClr val="404040"/>
                </a:solidFill>
                <a:latin typeface="Times New Roman" panose="02020603050405020304" pitchFamily="18" charset="0"/>
                <a:ea typeface="DejaVu Sans"/>
                <a:cs typeface="Times New Roman" panose="02020603050405020304" pitchFamily="18" charset="0"/>
              </a:rPr>
              <a:t>Endorsements</a:t>
            </a:r>
            <a:endParaRPr lang="en-IN" sz="2000" spc="-1" dirty="0">
              <a:latin typeface="Arial"/>
            </a:endParaRPr>
          </a:p>
        </p:txBody>
      </p:sp>
    </p:spTree>
    <p:extLst>
      <p:ext uri="{BB962C8B-B14F-4D97-AF65-F5344CB8AC3E}">
        <p14:creationId xmlns:p14="http://schemas.microsoft.com/office/powerpoint/2010/main" val="3635405177"/>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5736" y="2064912"/>
            <a:ext cx="3819379" cy="247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953" y="228349"/>
            <a:ext cx="3240360" cy="2235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4532278"/>
            <a:ext cx="3438525"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6037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CustomShape 1"/>
          <p:cNvSpPr/>
          <p:nvPr/>
        </p:nvSpPr>
        <p:spPr>
          <a:xfrm>
            <a:off x="467544" y="605842"/>
            <a:ext cx="8201060" cy="414045"/>
          </a:xfrm>
          <a:prstGeom prst="rect">
            <a:avLst/>
          </a:prstGeom>
          <a:solidFill>
            <a:srgbClr val="FFC000"/>
          </a:solidFill>
          <a:ln>
            <a:noFill/>
          </a:ln>
        </p:spPr>
        <p:style>
          <a:lnRef idx="0">
            <a:scrgbClr r="0" g="0" b="0"/>
          </a:lnRef>
          <a:fillRef idx="0">
            <a:scrgbClr r="0" g="0" b="0"/>
          </a:fillRef>
          <a:effectRef idx="0">
            <a:scrgbClr r="0" g="0" b="0"/>
          </a:effectRef>
          <a:fontRef idx="minor"/>
        </p:style>
        <p:txBody>
          <a:bodyPr lIns="67500" tIns="33750" rIns="67500" bIns="33750">
            <a:noAutofit/>
          </a:bodyPr>
          <a:lstStyle/>
          <a:p>
            <a:pPr algn="ctr">
              <a:lnSpc>
                <a:spcPct val="100000"/>
              </a:lnSpc>
            </a:pPr>
            <a:r>
              <a:rPr lang="en-IN" sz="2400" b="1" spc="-1" dirty="0" err="1" smtClean="0">
                <a:solidFill>
                  <a:srgbClr val="262626"/>
                </a:solidFill>
                <a:latin typeface="Century Gothic"/>
                <a:ea typeface="DejaVu Sans"/>
              </a:rPr>
              <a:t>Rs</a:t>
            </a:r>
            <a:r>
              <a:rPr lang="en-IN" sz="2400" b="1" spc="-1" dirty="0" smtClean="0">
                <a:solidFill>
                  <a:srgbClr val="262626"/>
                </a:solidFill>
                <a:latin typeface="Century Gothic"/>
                <a:ea typeface="DejaVu Sans"/>
              </a:rPr>
              <a:t> </a:t>
            </a:r>
            <a:r>
              <a:rPr lang="en-IN" sz="2400" b="1" spc="-1" dirty="0">
                <a:solidFill>
                  <a:srgbClr val="262626"/>
                </a:solidFill>
                <a:latin typeface="Century Gothic"/>
                <a:ea typeface="DejaVu Sans"/>
              </a:rPr>
              <a:t>100-crore mark in a short span</a:t>
            </a:r>
            <a:endParaRPr lang="en-IN" sz="2400" spc="-1" dirty="0">
              <a:latin typeface="Arial"/>
            </a:endParaRPr>
          </a:p>
        </p:txBody>
      </p:sp>
      <p:pic>
        <p:nvPicPr>
          <p:cNvPr id="485" name="Picture 2"/>
          <p:cNvPicPr/>
          <p:nvPr/>
        </p:nvPicPr>
        <p:blipFill>
          <a:blip r:embed="rId3"/>
          <a:stretch/>
        </p:blipFill>
        <p:spPr>
          <a:xfrm>
            <a:off x="971600" y="1592090"/>
            <a:ext cx="2856060" cy="3206520"/>
          </a:xfrm>
          <a:prstGeom prst="rect">
            <a:avLst/>
          </a:prstGeom>
          <a:ln>
            <a:noFill/>
          </a:ln>
        </p:spPr>
      </p:pic>
      <p:pic>
        <p:nvPicPr>
          <p:cNvPr id="486" name="Picture 4"/>
          <p:cNvPicPr/>
          <p:nvPr/>
        </p:nvPicPr>
        <p:blipFill>
          <a:blip r:embed="rId4"/>
          <a:stretch/>
        </p:blipFill>
        <p:spPr>
          <a:xfrm>
            <a:off x="4427984" y="1712645"/>
            <a:ext cx="4240620" cy="2965410"/>
          </a:xfrm>
          <a:prstGeom prst="rect">
            <a:avLst/>
          </a:prstGeom>
          <a:ln>
            <a:noFill/>
          </a:ln>
        </p:spPr>
      </p:pic>
      <p:sp>
        <p:nvSpPr>
          <p:cNvPr id="2" name="Rectangle 1"/>
          <p:cNvSpPr/>
          <p:nvPr/>
        </p:nvSpPr>
        <p:spPr>
          <a:xfrm>
            <a:off x="179512" y="5085184"/>
            <a:ext cx="8784976" cy="1015663"/>
          </a:xfrm>
          <a:prstGeom prst="rect">
            <a:avLst/>
          </a:prstGeom>
          <a:solidFill>
            <a:srgbClr val="FFC000"/>
          </a:solidFill>
        </p:spPr>
        <p:txBody>
          <a:bodyPr wrap="square">
            <a:spAutoFit/>
          </a:bodyPr>
          <a:lstStyle/>
          <a:p>
            <a:r>
              <a:rPr lang="en-US" sz="2000" b="1" dirty="0">
                <a:solidFill>
                  <a:srgbClr val="FF0000"/>
                </a:solidFill>
                <a:latin typeface="Times New Roman" panose="02020603050405020304" pitchFamily="18" charset="0"/>
                <a:cs typeface="Times New Roman" panose="02020603050405020304" pitchFamily="18" charset="0"/>
              </a:rPr>
              <a:t>Surf Excel </a:t>
            </a:r>
            <a:r>
              <a:rPr lang="en-US" sz="2000" b="1" dirty="0">
                <a:solidFill>
                  <a:srgbClr val="000000"/>
                </a:solidFill>
                <a:latin typeface="Times New Roman" panose="02020603050405020304" pitchFamily="18" charset="0"/>
                <a:cs typeface="Times New Roman" panose="02020603050405020304" pitchFamily="18" charset="0"/>
              </a:rPr>
              <a:t>becomes first Indian home care brand to top $1 </a:t>
            </a:r>
            <a:r>
              <a:rPr lang="en-US" sz="2000" b="1" dirty="0" err="1">
                <a:solidFill>
                  <a:srgbClr val="000000"/>
                </a:solidFill>
                <a:latin typeface="Times New Roman" panose="02020603050405020304" pitchFamily="18" charset="0"/>
                <a:cs typeface="Times New Roman" panose="02020603050405020304" pitchFamily="18" charset="0"/>
              </a:rPr>
              <a:t>bn</a:t>
            </a:r>
            <a:r>
              <a:rPr lang="en-US" sz="2000" b="1" dirty="0">
                <a:solidFill>
                  <a:srgbClr val="000000"/>
                </a:solidFill>
                <a:latin typeface="Times New Roman" panose="02020603050405020304" pitchFamily="18" charset="0"/>
                <a:cs typeface="Times New Roman" panose="02020603050405020304" pitchFamily="18" charset="0"/>
              </a:rPr>
              <a:t> annual </a:t>
            </a:r>
            <a:r>
              <a:rPr lang="en-US" sz="2000" b="1" dirty="0" smtClean="0">
                <a:solidFill>
                  <a:srgbClr val="000000"/>
                </a:solidFill>
                <a:latin typeface="Times New Roman" panose="02020603050405020304" pitchFamily="18" charset="0"/>
                <a:cs typeface="Times New Roman" panose="02020603050405020304" pitchFamily="18" charset="0"/>
              </a:rPr>
              <a:t>Sales</a:t>
            </a:r>
            <a:r>
              <a:rPr lang="en-US" sz="2000" b="1" dirty="0" smtClean="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a </a:t>
            </a:r>
            <a:r>
              <a:rPr lang="en-US" sz="2000" b="1" dirty="0">
                <a:solidFill>
                  <a:srgbClr val="FF0000"/>
                </a:solidFill>
                <a:latin typeface="Times New Roman" panose="02020603050405020304" pitchFamily="18" charset="0"/>
                <a:cs typeface="Times New Roman" panose="02020603050405020304" pitchFamily="18" charset="0"/>
              </a:rPr>
              <a:t>total sales of </a:t>
            </a:r>
            <a:r>
              <a:rPr lang="en-US" sz="2000" b="1" dirty="0" err="1">
                <a:solidFill>
                  <a:srgbClr val="FF0000"/>
                </a:solidFill>
                <a:latin typeface="Times New Roman" panose="02020603050405020304" pitchFamily="18" charset="0"/>
                <a:cs typeface="Times New Roman" panose="02020603050405020304" pitchFamily="18" charset="0"/>
              </a:rPr>
              <a:t>Rs</a:t>
            </a:r>
            <a:r>
              <a:rPr lang="en-US" sz="2000" b="1" dirty="0">
                <a:solidFill>
                  <a:srgbClr val="FF0000"/>
                </a:solidFill>
                <a:latin typeface="Times New Roman" panose="02020603050405020304" pitchFamily="18" charset="0"/>
                <a:cs typeface="Times New Roman" panose="02020603050405020304" pitchFamily="18" charset="0"/>
              </a:rPr>
              <a:t> 8,200 </a:t>
            </a:r>
            <a:r>
              <a:rPr lang="en-US" sz="2000" b="1" dirty="0" err="1">
                <a:solidFill>
                  <a:srgbClr val="FF0000"/>
                </a:solidFill>
                <a:latin typeface="Times New Roman" panose="02020603050405020304" pitchFamily="18" charset="0"/>
                <a:cs typeface="Times New Roman" panose="02020603050405020304" pitchFamily="18" charset="0"/>
              </a:rPr>
              <a:t>crore</a:t>
            </a:r>
            <a:r>
              <a:rPr lang="en-US" sz="2000" b="1" dirty="0">
                <a:latin typeface="Times New Roman" panose="02020603050405020304" pitchFamily="18" charset="0"/>
                <a:cs typeface="Times New Roman" panose="02020603050405020304" pitchFamily="18" charset="0"/>
              </a:rPr>
              <a:t>, it also became </a:t>
            </a:r>
            <a:r>
              <a:rPr lang="en-US" sz="2000" b="1" dirty="0">
                <a:solidFill>
                  <a:srgbClr val="FF0000"/>
                </a:solidFill>
                <a:latin typeface="Times New Roman" panose="02020603050405020304" pitchFamily="18" charset="0"/>
                <a:cs typeface="Times New Roman" panose="02020603050405020304" pitchFamily="18" charset="0"/>
              </a:rPr>
              <a:t>HUL's</a:t>
            </a:r>
            <a:r>
              <a:rPr lang="en-US" sz="2000" b="1" dirty="0">
                <a:latin typeface="Times New Roman" panose="02020603050405020304" pitchFamily="18" charset="0"/>
                <a:cs typeface="Times New Roman" panose="02020603050405020304" pitchFamily="18" charset="0"/>
              </a:rPr>
              <a:t> first brand to reach the milestone</a:t>
            </a:r>
            <a:endParaRPr lang="en-US" sz="2000" b="1"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7842229"/>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7" name="Group 1"/>
          <p:cNvGrpSpPr/>
          <p:nvPr/>
        </p:nvGrpSpPr>
        <p:grpSpPr>
          <a:xfrm>
            <a:off x="2573778" y="1100507"/>
            <a:ext cx="4590510" cy="4550310"/>
            <a:chOff x="1930320" y="412560"/>
            <a:chExt cx="8392680" cy="6067080"/>
          </a:xfrm>
        </p:grpSpPr>
        <p:sp>
          <p:nvSpPr>
            <p:cNvPr id="518" name="CustomShape 2"/>
            <p:cNvSpPr/>
            <p:nvPr/>
          </p:nvSpPr>
          <p:spPr>
            <a:xfrm>
              <a:off x="1930320" y="1062720"/>
              <a:ext cx="7316280" cy="5416920"/>
            </a:xfrm>
            <a:prstGeom prst="ellipse">
              <a:avLst/>
            </a:prstGeom>
            <a:solidFill>
              <a:srgbClr val="00B050"/>
            </a:solidFill>
            <a:ln>
              <a:solidFill>
                <a:schemeClr val="tx1"/>
              </a:solidFill>
              <a:round/>
            </a:ln>
          </p:spPr>
          <p:style>
            <a:lnRef idx="2">
              <a:scrgbClr r="0" g="0" b="0"/>
            </a:lnRef>
            <a:fillRef idx="0">
              <a:scrgbClr r="0" g="0" b="0"/>
            </a:fillRef>
            <a:effectRef idx="0">
              <a:scrgbClr r="0" g="0" b="0"/>
            </a:effectRef>
            <a:fontRef idx="minor"/>
          </p:style>
        </p:sp>
        <p:sp>
          <p:nvSpPr>
            <p:cNvPr id="519" name="CustomShape 3"/>
            <p:cNvSpPr/>
            <p:nvPr/>
          </p:nvSpPr>
          <p:spPr>
            <a:xfrm>
              <a:off x="4119480" y="2822040"/>
              <a:ext cx="2911320" cy="1898280"/>
            </a:xfrm>
            <a:prstGeom prst="ellipse">
              <a:avLst/>
            </a:prstGeom>
            <a:solidFill>
              <a:srgbClr val="92D050"/>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sp>
        <p:sp>
          <p:nvSpPr>
            <p:cNvPr id="520" name="CustomShape 4"/>
            <p:cNvSpPr/>
            <p:nvPr/>
          </p:nvSpPr>
          <p:spPr>
            <a:xfrm>
              <a:off x="8278920" y="412560"/>
              <a:ext cx="2044080" cy="1636920"/>
            </a:xfrm>
            <a:prstGeom prst="rect">
              <a:avLst/>
            </a:prstGeom>
            <a:noFill/>
            <a:ln>
              <a:noFill/>
            </a:ln>
          </p:spPr>
          <p:style>
            <a:lnRef idx="0">
              <a:scrgbClr r="0" g="0" b="0"/>
            </a:lnRef>
            <a:fillRef idx="0">
              <a:scrgbClr r="0" g="0" b="0"/>
            </a:fillRef>
            <a:effectRef idx="0">
              <a:scrgbClr r="0" g="0" b="0"/>
            </a:effectRef>
            <a:fontRef idx="minor"/>
          </p:style>
        </p:sp>
        <p:sp>
          <p:nvSpPr>
            <p:cNvPr id="521" name="Line 5"/>
            <p:cNvSpPr/>
            <p:nvPr/>
          </p:nvSpPr>
          <p:spPr>
            <a:xfrm flipV="1">
              <a:off x="7030800" y="636896"/>
              <a:ext cx="2831063" cy="676979"/>
            </a:xfrm>
            <a:prstGeom prst="line">
              <a:avLst/>
            </a:prstGeom>
            <a:ln>
              <a:solidFill>
                <a:schemeClr val="accent1">
                  <a:tint val="50000"/>
                  <a:hueOff val="0"/>
                  <a:satOff val="0"/>
                  <a:lumOff val="0"/>
                  <a:alphaOff val="0"/>
                </a:schemeClr>
              </a:solidFill>
              <a:round/>
            </a:ln>
          </p:spPr>
          <p:style>
            <a:lnRef idx="2">
              <a:scrgbClr r="0" g="0" b="0"/>
            </a:lnRef>
            <a:fillRef idx="0">
              <a:scrgbClr r="0" g="0" b="0"/>
            </a:fillRef>
            <a:effectRef idx="0">
              <a:scrgbClr r="0" g="0" b="0"/>
            </a:effectRef>
            <a:fontRef idx="minor"/>
          </p:style>
        </p:sp>
        <p:sp>
          <p:nvSpPr>
            <p:cNvPr id="523" name="CustomShape 7"/>
            <p:cNvSpPr/>
            <p:nvPr/>
          </p:nvSpPr>
          <p:spPr>
            <a:xfrm>
              <a:off x="8285760" y="2078640"/>
              <a:ext cx="2030040" cy="1691640"/>
            </a:xfrm>
            <a:prstGeom prst="rect">
              <a:avLst/>
            </a:prstGeom>
            <a:noFill/>
            <a:ln>
              <a:noFill/>
            </a:ln>
          </p:spPr>
          <p:style>
            <a:lnRef idx="0">
              <a:scrgbClr r="0" g="0" b="0"/>
            </a:lnRef>
            <a:fillRef idx="0">
              <a:scrgbClr r="0" g="0" b="0"/>
            </a:fillRef>
            <a:effectRef idx="0">
              <a:scrgbClr r="0" g="0" b="0"/>
            </a:effectRef>
            <a:fontRef idx="minor"/>
          </p:style>
          <p:txBody>
            <a:bodyPr lIns="48060" tIns="8640" rIns="8640" bIns="8640" anchor="ctr">
              <a:noAutofit/>
            </a:bodyPr>
            <a:lstStyle/>
            <a:p>
              <a:pPr>
                <a:lnSpc>
                  <a:spcPct val="90000"/>
                </a:lnSpc>
                <a:spcAft>
                  <a:spcPts val="236"/>
                </a:spcAft>
              </a:pPr>
              <a:endParaRPr lang="en-IN" sz="1350" spc="-1">
                <a:latin typeface="Arial"/>
              </a:endParaRPr>
            </a:p>
            <a:p>
              <a:pPr>
                <a:lnSpc>
                  <a:spcPct val="90000"/>
                </a:lnSpc>
                <a:spcAft>
                  <a:spcPts val="236"/>
                </a:spcAft>
              </a:pPr>
              <a:endParaRPr lang="en-IN" sz="1350" spc="-1">
                <a:latin typeface="Arial"/>
              </a:endParaRPr>
            </a:p>
          </p:txBody>
        </p:sp>
        <p:sp>
          <p:nvSpPr>
            <p:cNvPr id="524" name="Line 8"/>
            <p:cNvSpPr/>
            <p:nvPr/>
          </p:nvSpPr>
          <p:spPr>
            <a:xfrm>
              <a:off x="6960030" y="3508903"/>
              <a:ext cx="3178515" cy="0"/>
            </a:xfrm>
            <a:prstGeom prst="line">
              <a:avLst/>
            </a:prstGeom>
            <a:ln>
              <a:solidFill>
                <a:schemeClr val="accent1">
                  <a:tint val="50000"/>
                  <a:hueOff val="0"/>
                  <a:satOff val="0"/>
                  <a:lumOff val="0"/>
                  <a:alphaOff val="0"/>
                </a:schemeClr>
              </a:solidFill>
              <a:round/>
            </a:ln>
          </p:spPr>
          <p:style>
            <a:lnRef idx="2">
              <a:scrgbClr r="0" g="0" b="0"/>
            </a:lnRef>
            <a:fillRef idx="0">
              <a:scrgbClr r="0" g="0" b="0"/>
            </a:fillRef>
            <a:effectRef idx="0">
              <a:scrgbClr r="0" g="0" b="0"/>
            </a:effectRef>
            <a:fontRef idx="minor"/>
          </p:style>
        </p:sp>
      </p:grpSp>
      <p:grpSp>
        <p:nvGrpSpPr>
          <p:cNvPr id="526" name="Group 10"/>
          <p:cNvGrpSpPr/>
          <p:nvPr/>
        </p:nvGrpSpPr>
        <p:grpSpPr>
          <a:xfrm>
            <a:off x="0" y="857250"/>
            <a:ext cx="27000" cy="27000"/>
            <a:chOff x="0" y="0"/>
            <a:chExt cx="36000" cy="36000"/>
          </a:xfrm>
        </p:grpSpPr>
      </p:grpSp>
      <p:sp>
        <p:nvSpPr>
          <p:cNvPr id="527" name="CustomShape 11"/>
          <p:cNvSpPr/>
          <p:nvPr/>
        </p:nvSpPr>
        <p:spPr>
          <a:xfrm>
            <a:off x="6974397" y="3125251"/>
            <a:ext cx="1810071" cy="1522403"/>
          </a:xfrm>
          <a:prstGeom prst="rect">
            <a:avLst/>
          </a:prstGeom>
          <a:noFill/>
          <a:ln>
            <a:noFill/>
          </a:ln>
        </p:spPr>
        <p:style>
          <a:lnRef idx="0">
            <a:scrgbClr r="0" g="0" b="0"/>
          </a:lnRef>
          <a:fillRef idx="0">
            <a:scrgbClr r="0" g="0" b="0"/>
          </a:fillRef>
          <a:effectRef idx="0">
            <a:scrgbClr r="0" g="0" b="0"/>
          </a:effectRef>
          <a:fontRef idx="minor"/>
        </p:style>
        <p:txBody>
          <a:bodyPr wrap="square" lIns="67500" tIns="33750" rIns="67500" bIns="33750">
            <a:spAutoFit/>
          </a:bodyPr>
          <a:lstStyle/>
          <a:p>
            <a:pPr>
              <a:lnSpc>
                <a:spcPct val="100000"/>
              </a:lnSpc>
            </a:pPr>
            <a:r>
              <a:rPr lang="en-IN" sz="2700" b="1" spc="-1" dirty="0">
                <a:solidFill>
                  <a:srgbClr val="FF0000"/>
                </a:solidFill>
                <a:latin typeface="Century Gothic"/>
                <a:ea typeface="DejaVu Sans"/>
              </a:rPr>
              <a:t>Product</a:t>
            </a:r>
            <a:endParaRPr lang="en-IN" sz="2700" spc="-1" dirty="0">
              <a:latin typeface="Arial"/>
            </a:endParaRPr>
          </a:p>
          <a:p>
            <a:pPr>
              <a:lnSpc>
                <a:spcPct val="100000"/>
              </a:lnSpc>
            </a:pPr>
            <a:r>
              <a:rPr lang="en-IN" sz="1350" b="1" spc="-1" dirty="0">
                <a:solidFill>
                  <a:srgbClr val="92D050"/>
                </a:solidFill>
                <a:latin typeface="Century Gothic"/>
                <a:ea typeface="DejaVu Sans"/>
              </a:rPr>
              <a:t>Scope</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Uses</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Attributes</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Quality</a:t>
            </a:r>
            <a:endParaRPr lang="en-IN" sz="1350" spc="-1" dirty="0">
              <a:solidFill>
                <a:srgbClr val="92D050"/>
              </a:solidFill>
              <a:latin typeface="Arial"/>
            </a:endParaRPr>
          </a:p>
          <a:p>
            <a:pPr>
              <a:lnSpc>
                <a:spcPct val="100000"/>
              </a:lnSpc>
            </a:pPr>
            <a:endParaRPr lang="en-IN" sz="1350" spc="-1" dirty="0">
              <a:latin typeface="Arial"/>
            </a:endParaRPr>
          </a:p>
        </p:txBody>
      </p:sp>
      <p:sp>
        <p:nvSpPr>
          <p:cNvPr id="528" name="CustomShape 12"/>
          <p:cNvSpPr/>
          <p:nvPr/>
        </p:nvSpPr>
        <p:spPr>
          <a:xfrm flipH="1">
            <a:off x="6786246" y="866160"/>
            <a:ext cx="2052228" cy="2353400"/>
          </a:xfrm>
          <a:prstGeom prst="rect">
            <a:avLst/>
          </a:prstGeom>
          <a:noFill/>
          <a:ln>
            <a:noFill/>
          </a:ln>
        </p:spPr>
        <p:style>
          <a:lnRef idx="0">
            <a:scrgbClr r="0" g="0" b="0"/>
          </a:lnRef>
          <a:fillRef idx="0">
            <a:scrgbClr r="0" g="0" b="0"/>
          </a:fillRef>
          <a:effectRef idx="0">
            <a:scrgbClr r="0" g="0" b="0"/>
          </a:effectRef>
          <a:fontRef idx="minor"/>
        </p:style>
        <p:txBody>
          <a:bodyPr wrap="square" lIns="67500" tIns="33750" rIns="67500" bIns="33750">
            <a:spAutoFit/>
          </a:bodyPr>
          <a:lstStyle/>
          <a:p>
            <a:pPr>
              <a:lnSpc>
                <a:spcPct val="100000"/>
              </a:lnSpc>
            </a:pPr>
            <a:r>
              <a:rPr lang="en-IN" sz="4050" b="1" spc="-1" dirty="0">
                <a:solidFill>
                  <a:srgbClr val="FF0000"/>
                </a:solidFill>
                <a:latin typeface="Century Gothic"/>
                <a:ea typeface="DejaVu Sans"/>
              </a:rPr>
              <a:t>Brand </a:t>
            </a:r>
            <a:endParaRPr lang="en-IN" sz="4050" spc="-1" dirty="0">
              <a:latin typeface="Arial"/>
            </a:endParaRPr>
          </a:p>
          <a:p>
            <a:pPr>
              <a:lnSpc>
                <a:spcPct val="100000"/>
              </a:lnSpc>
            </a:pPr>
            <a:r>
              <a:rPr lang="en-IN" sz="1350" b="1" spc="-1" dirty="0">
                <a:solidFill>
                  <a:srgbClr val="92D050"/>
                </a:solidFill>
                <a:latin typeface="Century Gothic"/>
                <a:ea typeface="DejaVu Sans"/>
              </a:rPr>
              <a:t>Personality</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Symbols</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Relationships</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Emotional benefits</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Self expressive benefits</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User Imagery</a:t>
            </a:r>
            <a:endParaRPr lang="en-IN" sz="1350" spc="-1" dirty="0">
              <a:solidFill>
                <a:srgbClr val="92D050"/>
              </a:solidFill>
              <a:latin typeface="Arial"/>
            </a:endParaRPr>
          </a:p>
          <a:p>
            <a:pPr>
              <a:lnSpc>
                <a:spcPct val="100000"/>
              </a:lnSpc>
            </a:pPr>
            <a:r>
              <a:rPr lang="en-IN" sz="1350" b="1" spc="-1" dirty="0">
                <a:solidFill>
                  <a:srgbClr val="92D050"/>
                </a:solidFill>
                <a:latin typeface="Century Gothic"/>
                <a:ea typeface="DejaVu Sans"/>
              </a:rPr>
              <a:t>Country of Origin</a:t>
            </a:r>
            <a:endParaRPr lang="en-IN" sz="1350" spc="-1" dirty="0">
              <a:solidFill>
                <a:srgbClr val="92D050"/>
              </a:solidFill>
              <a:latin typeface="Arial"/>
            </a:endParaRPr>
          </a:p>
          <a:p>
            <a:pPr>
              <a:lnSpc>
                <a:spcPct val="100000"/>
              </a:lnSpc>
            </a:pPr>
            <a:endParaRPr lang="en-IN" sz="1350" spc="-1" dirty="0">
              <a:latin typeface="Arial"/>
            </a:endParaRPr>
          </a:p>
        </p:txBody>
      </p:sp>
      <p:pic>
        <p:nvPicPr>
          <p:cNvPr id="12" name="Picture 2"/>
          <p:cNvPicPr/>
          <p:nvPr/>
        </p:nvPicPr>
        <p:blipFill>
          <a:blip r:embed="rId2"/>
          <a:stretch/>
        </p:blipFill>
        <p:spPr>
          <a:xfrm>
            <a:off x="664632" y="866160"/>
            <a:ext cx="4007086" cy="3040427"/>
          </a:xfrm>
          <a:prstGeom prst="rect">
            <a:avLst/>
          </a:prstGeom>
          <a:ln>
            <a:noFill/>
          </a:ln>
        </p:spPr>
      </p:pic>
      <p:sp>
        <p:nvSpPr>
          <p:cNvPr id="2" name="TextBox 1"/>
          <p:cNvSpPr txBox="1"/>
          <p:nvPr/>
        </p:nvSpPr>
        <p:spPr>
          <a:xfrm>
            <a:off x="6847132" y="5537919"/>
            <a:ext cx="2016224" cy="646331"/>
          </a:xfrm>
          <a:prstGeom prst="rect">
            <a:avLst/>
          </a:prstGeom>
          <a:solidFill>
            <a:schemeClr val="bg1">
              <a:lumMod val="75000"/>
            </a:schemeClr>
          </a:solidFill>
        </p:spPr>
        <p:txBody>
          <a:bodyPr wrap="square" rtlCol="0">
            <a:spAutoFit/>
          </a:bodyPr>
          <a:lstStyle/>
          <a:p>
            <a:r>
              <a:rPr lang="en-IN" b="1" dirty="0" smtClean="0">
                <a:solidFill>
                  <a:srgbClr val="FF0000"/>
                </a:solidFill>
              </a:rPr>
              <a:t>Titan</a:t>
            </a:r>
          </a:p>
          <a:p>
            <a:r>
              <a:rPr lang="en-IN" b="1" dirty="0" smtClean="0"/>
              <a:t>Citizen</a:t>
            </a:r>
            <a:endParaRPr lang="en-IN" b="1" dirty="0"/>
          </a:p>
        </p:txBody>
      </p:sp>
    </p:spTree>
    <p:extLst>
      <p:ext uri="{BB962C8B-B14F-4D97-AF65-F5344CB8AC3E}">
        <p14:creationId xmlns:p14="http://schemas.microsoft.com/office/powerpoint/2010/main" val="3759783178"/>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 name="CustomShape 1"/>
          <p:cNvSpPr/>
          <p:nvPr/>
        </p:nvSpPr>
        <p:spPr>
          <a:xfrm>
            <a:off x="2094885" y="378702"/>
            <a:ext cx="6682500" cy="95931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noAutofit/>
          </a:bodyPr>
          <a:lstStyle/>
          <a:p>
            <a:pPr>
              <a:lnSpc>
                <a:spcPct val="100000"/>
              </a:lnSpc>
            </a:pPr>
            <a:r>
              <a:rPr lang="en-IN" sz="3300" b="1" spc="-1" dirty="0">
                <a:solidFill>
                  <a:srgbClr val="262626"/>
                </a:solidFill>
                <a:latin typeface="Century Gothic"/>
                <a:ea typeface="DejaVu Sans"/>
              </a:rPr>
              <a:t>Endow power- brand</a:t>
            </a:r>
            <a:endParaRPr lang="en-IN" sz="3300" spc="-1" dirty="0">
              <a:latin typeface="Arial"/>
            </a:endParaRPr>
          </a:p>
        </p:txBody>
      </p:sp>
      <p:pic>
        <p:nvPicPr>
          <p:cNvPr id="537" name="Picture 2"/>
          <p:cNvPicPr/>
          <p:nvPr/>
        </p:nvPicPr>
        <p:blipFill>
          <a:blip r:embed="rId2"/>
          <a:stretch/>
        </p:blipFill>
        <p:spPr>
          <a:xfrm>
            <a:off x="2595645" y="1269486"/>
            <a:ext cx="3305610" cy="1126710"/>
          </a:xfrm>
          <a:prstGeom prst="rect">
            <a:avLst/>
          </a:prstGeom>
          <a:ln>
            <a:noFill/>
          </a:ln>
        </p:spPr>
      </p:pic>
      <p:pic>
        <p:nvPicPr>
          <p:cNvPr id="538" name="Picture 2"/>
          <p:cNvPicPr/>
          <p:nvPr/>
        </p:nvPicPr>
        <p:blipFill>
          <a:blip r:embed="rId3"/>
          <a:stretch/>
        </p:blipFill>
        <p:spPr>
          <a:xfrm>
            <a:off x="1420470" y="2653006"/>
            <a:ext cx="2827980" cy="1884870"/>
          </a:xfrm>
          <a:prstGeom prst="rect">
            <a:avLst/>
          </a:prstGeom>
          <a:ln>
            <a:noFill/>
          </a:ln>
        </p:spPr>
      </p:pic>
      <p:pic>
        <p:nvPicPr>
          <p:cNvPr id="539" name="Picture 4"/>
          <p:cNvPicPr/>
          <p:nvPr/>
        </p:nvPicPr>
        <p:blipFill>
          <a:blip r:embed="rId4"/>
          <a:stretch/>
        </p:blipFill>
        <p:spPr>
          <a:xfrm>
            <a:off x="4467825" y="2653006"/>
            <a:ext cx="2866860" cy="1844910"/>
          </a:xfrm>
          <a:prstGeom prst="rect">
            <a:avLst/>
          </a:prstGeom>
          <a:ln>
            <a:noFill/>
          </a:ln>
        </p:spPr>
      </p:pic>
      <p:sp>
        <p:nvSpPr>
          <p:cNvPr id="2" name="Rectangle 1"/>
          <p:cNvSpPr/>
          <p:nvPr/>
        </p:nvSpPr>
        <p:spPr>
          <a:xfrm>
            <a:off x="755576" y="4754727"/>
            <a:ext cx="7272807" cy="923330"/>
          </a:xfrm>
          <a:prstGeom prst="rect">
            <a:avLst/>
          </a:prstGeom>
        </p:spPr>
        <p:txBody>
          <a:bodyPr wrap="square">
            <a:spAutoFit/>
          </a:bodyPr>
          <a:lstStyle/>
          <a:p>
            <a:r>
              <a:rPr lang="en-IN" b="1" spc="-1" dirty="0">
                <a:solidFill>
                  <a:srgbClr val="FF0000"/>
                </a:solidFill>
                <a:latin typeface="Century Gothic"/>
                <a:ea typeface="DejaVu Sans"/>
              </a:rPr>
              <a:t>A name, term, sign, symbol or design or a combination of them intended to identify the goods or services of one seller or group of sellers and to differentiate them from those of competitors.</a:t>
            </a:r>
            <a:endParaRPr lang="en-IN" dirty="0"/>
          </a:p>
        </p:txBody>
      </p:sp>
    </p:spTree>
    <p:extLst>
      <p:ext uri="{BB962C8B-B14F-4D97-AF65-F5344CB8AC3E}">
        <p14:creationId xmlns:p14="http://schemas.microsoft.com/office/powerpoint/2010/main" val="3620587214"/>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2924944"/>
            <a:ext cx="5760640" cy="584775"/>
          </a:xfrm>
          <a:prstGeom prst="rect">
            <a:avLst/>
          </a:prstGeom>
          <a:solidFill>
            <a:schemeClr val="bg1">
              <a:lumMod val="75000"/>
            </a:schemeClr>
          </a:solidFill>
        </p:spPr>
        <p:txBody>
          <a:bodyPr wrap="square" rtlCol="0">
            <a:spAutoFit/>
          </a:bodyPr>
          <a:lstStyle/>
          <a:p>
            <a:pPr algn="ctr"/>
            <a:r>
              <a:rPr lang="en-IN" sz="3200" b="1" dirty="0" smtClean="0">
                <a:latin typeface="Times New Roman" panose="02020603050405020304" pitchFamily="18" charset="0"/>
                <a:cs typeface="Times New Roman" panose="02020603050405020304" pitchFamily="18" charset="0"/>
              </a:rPr>
              <a:t>Brand Ranking</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2743939"/>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2173263"/>
            <a:ext cx="8229600" cy="3575703"/>
          </a:xfrm>
        </p:spPr>
        <p:txBody>
          <a:bodyPr>
            <a:noAutofit/>
          </a:bodyPr>
          <a:lstStyle/>
          <a:p>
            <a:pPr algn="just"/>
            <a:r>
              <a:rPr lang="en-US" sz="1800" dirty="0">
                <a:solidFill>
                  <a:srgbClr val="FF0000"/>
                </a:solidFill>
                <a:latin typeface="Times New Roman" pitchFamily="18" charset="0"/>
                <a:cs typeface="Times New Roman" pitchFamily="18" charset="0"/>
              </a:rPr>
              <a:t>The previous Jazz had a price tag of </a:t>
            </a:r>
            <a:r>
              <a:rPr lang="en-US" sz="1800" dirty="0" err="1">
                <a:solidFill>
                  <a:srgbClr val="00B0F0"/>
                </a:solidFill>
                <a:latin typeface="Times New Roman" pitchFamily="18" charset="0"/>
                <a:cs typeface="Times New Roman" pitchFamily="18" charset="0"/>
              </a:rPr>
              <a:t>Rs</a:t>
            </a:r>
            <a:r>
              <a:rPr lang="en-US" sz="1800" dirty="0">
                <a:solidFill>
                  <a:srgbClr val="00B0F0"/>
                </a:solidFill>
                <a:latin typeface="Times New Roman" pitchFamily="18" charset="0"/>
                <a:cs typeface="Times New Roman" pitchFamily="18" charset="0"/>
              </a:rPr>
              <a:t> 6.98 lakh.</a:t>
            </a:r>
          </a:p>
          <a:p>
            <a:pPr algn="just"/>
            <a:endParaRPr lang="en-US"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After an encouraging start in </a:t>
            </a:r>
            <a:r>
              <a:rPr lang="en-US" sz="1800" dirty="0">
                <a:solidFill>
                  <a:srgbClr val="00B0F0"/>
                </a:solidFill>
                <a:latin typeface="Times New Roman" pitchFamily="18" charset="0"/>
                <a:cs typeface="Times New Roman" pitchFamily="18" charset="0"/>
              </a:rPr>
              <a:t>2009</a:t>
            </a:r>
            <a:r>
              <a:rPr lang="en-US" sz="1800" dirty="0">
                <a:latin typeface="Times New Roman" pitchFamily="18" charset="0"/>
                <a:cs typeface="Times New Roman" pitchFamily="18" charset="0"/>
              </a:rPr>
              <a:t>, volumes started dipping from the second year. In the second year, volumes dipped 36 per cent and again 15 per cent in the following year. Saddled with excess stock, </a:t>
            </a:r>
            <a:r>
              <a:rPr lang="en-US" sz="1800" dirty="0">
                <a:solidFill>
                  <a:srgbClr val="FF0000"/>
                </a:solidFill>
                <a:latin typeface="Times New Roman" pitchFamily="18" charset="0"/>
                <a:cs typeface="Times New Roman" pitchFamily="18" charset="0"/>
              </a:rPr>
              <a:t>Honda slashed price by </a:t>
            </a:r>
            <a:r>
              <a:rPr lang="en-US" sz="1800" dirty="0" err="1">
                <a:solidFill>
                  <a:srgbClr val="FF0000"/>
                </a:solidFill>
                <a:latin typeface="Times New Roman" pitchFamily="18" charset="0"/>
                <a:cs typeface="Times New Roman" pitchFamily="18" charset="0"/>
              </a:rPr>
              <a:t>Rs</a:t>
            </a:r>
            <a:r>
              <a:rPr lang="en-US" sz="1800" dirty="0">
                <a:solidFill>
                  <a:srgbClr val="FF0000"/>
                </a:solidFill>
                <a:latin typeface="Times New Roman" pitchFamily="18" charset="0"/>
                <a:cs typeface="Times New Roman" pitchFamily="18" charset="0"/>
              </a:rPr>
              <a:t> 1.62 lakh and eventually pulled out the car.</a:t>
            </a:r>
            <a:endParaRPr lang="en-IN" sz="1800" dirty="0">
              <a:latin typeface="Times New Roman" pitchFamily="18" charset="0"/>
              <a:cs typeface="Times New Roman" pitchFamily="18" charset="0"/>
            </a:endParaRPr>
          </a:p>
          <a:p>
            <a:pPr algn="just"/>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Honda </a:t>
            </a:r>
            <a:r>
              <a:rPr lang="en-US" sz="1800" dirty="0" smtClean="0">
                <a:solidFill>
                  <a:srgbClr val="FF0000"/>
                </a:solidFill>
                <a:latin typeface="Times New Roman" pitchFamily="18" charset="0"/>
                <a:cs typeface="Times New Roman" pitchFamily="18" charset="0"/>
              </a:rPr>
              <a:t>re-launched </a:t>
            </a:r>
            <a:r>
              <a:rPr lang="en-US" sz="1800" dirty="0">
                <a:solidFill>
                  <a:srgbClr val="FF0000"/>
                </a:solidFill>
                <a:latin typeface="Times New Roman" pitchFamily="18" charset="0"/>
                <a:cs typeface="Times New Roman" pitchFamily="18" charset="0"/>
              </a:rPr>
              <a:t>the Jazz </a:t>
            </a:r>
            <a:r>
              <a:rPr lang="en-US" sz="1800" dirty="0" smtClean="0">
                <a:latin typeface="Times New Roman" pitchFamily="18" charset="0"/>
                <a:cs typeface="Times New Roman" pitchFamily="18" charset="0"/>
              </a:rPr>
              <a:t>- </a:t>
            </a:r>
            <a:r>
              <a:rPr lang="en-US" sz="1800" dirty="0" err="1" smtClean="0">
                <a:solidFill>
                  <a:srgbClr val="00B0F0"/>
                </a:solidFill>
                <a:latin typeface="Times New Roman" pitchFamily="18" charset="0"/>
                <a:cs typeface="Times New Roman" pitchFamily="18" charset="0"/>
              </a:rPr>
              <a:t>Rs</a:t>
            </a:r>
            <a:r>
              <a:rPr lang="en-US" sz="1800" dirty="0" smtClean="0">
                <a:solidFill>
                  <a:srgbClr val="00B0F0"/>
                </a:solidFill>
                <a:latin typeface="Times New Roman" pitchFamily="18" charset="0"/>
                <a:cs typeface="Times New Roman" pitchFamily="18" charset="0"/>
              </a:rPr>
              <a:t> </a:t>
            </a:r>
            <a:r>
              <a:rPr lang="en-US" sz="1800" dirty="0">
                <a:solidFill>
                  <a:srgbClr val="00B0F0"/>
                </a:solidFill>
                <a:latin typeface="Times New Roman" pitchFamily="18" charset="0"/>
                <a:cs typeface="Times New Roman" pitchFamily="18" charset="0"/>
              </a:rPr>
              <a:t>5.31 </a:t>
            </a:r>
            <a:r>
              <a:rPr lang="en-US" sz="1800" dirty="0" smtClean="0">
                <a:solidFill>
                  <a:srgbClr val="00B0F0"/>
                </a:solidFill>
                <a:latin typeface="Times New Roman" pitchFamily="18" charset="0"/>
                <a:cs typeface="Times New Roman" pitchFamily="18" charset="0"/>
              </a:rPr>
              <a:t>lakh.</a:t>
            </a:r>
          </a:p>
          <a:p>
            <a:pPr algn="just"/>
            <a:r>
              <a:rPr lang="en-US" sz="1800" dirty="0" smtClean="0">
                <a:latin typeface="Times New Roman" pitchFamily="18" charset="0"/>
                <a:cs typeface="Times New Roman" pitchFamily="18" charset="0"/>
              </a:rPr>
              <a:t>Jazz </a:t>
            </a:r>
            <a:r>
              <a:rPr lang="en-US" sz="1800" dirty="0">
                <a:latin typeface="Times New Roman" pitchFamily="18" charset="0"/>
                <a:cs typeface="Times New Roman" pitchFamily="18" charset="0"/>
              </a:rPr>
              <a:t>competes with the likes of </a:t>
            </a:r>
            <a:r>
              <a:rPr lang="en-US" sz="1800" dirty="0" err="1">
                <a:latin typeface="Times New Roman" pitchFamily="18" charset="0"/>
                <a:cs typeface="Times New Roman" pitchFamily="18" charset="0"/>
              </a:rPr>
              <a:t>Maruti</a:t>
            </a:r>
            <a:r>
              <a:rPr lang="en-US" sz="1800" dirty="0">
                <a:latin typeface="Times New Roman" pitchFamily="18" charset="0"/>
                <a:cs typeface="Times New Roman" pitchFamily="18" charset="0"/>
              </a:rPr>
              <a:t> Suzuki Swift and Elitei20 of Hyundai.</a:t>
            </a:r>
          </a:p>
          <a:p>
            <a:pPr algn="just"/>
            <a:r>
              <a:rPr lang="en-US" sz="1800" dirty="0" smtClean="0">
                <a:solidFill>
                  <a:srgbClr val="FF0000"/>
                </a:solidFill>
                <a:latin typeface="Times New Roman" pitchFamily="18" charset="0"/>
                <a:cs typeface="Times New Roman" pitchFamily="18" charset="0"/>
              </a:rPr>
              <a:t>The </a:t>
            </a:r>
            <a:r>
              <a:rPr lang="en-US" sz="1800" dirty="0">
                <a:solidFill>
                  <a:srgbClr val="FF0000"/>
                </a:solidFill>
                <a:latin typeface="Times New Roman" pitchFamily="18" charset="0"/>
                <a:cs typeface="Times New Roman" pitchFamily="18" charset="0"/>
              </a:rPr>
              <a:t>launch takes place more than two years after the company stopped production of the car in March </a:t>
            </a:r>
            <a:r>
              <a:rPr lang="en-US" sz="1800" dirty="0">
                <a:latin typeface="Times New Roman" pitchFamily="18" charset="0"/>
                <a:cs typeface="Times New Roman" pitchFamily="18" charset="0"/>
              </a:rPr>
              <a:t>2013</a:t>
            </a:r>
            <a:r>
              <a:rPr lang="en-US" sz="1800" dirty="0">
                <a:solidFill>
                  <a:srgbClr val="FF0000"/>
                </a:solidFill>
                <a:latin typeface="Times New Roman" pitchFamily="18" charset="0"/>
                <a:cs typeface="Times New Roman" pitchFamily="18" charset="0"/>
              </a:rPr>
              <a:t>. </a:t>
            </a:r>
            <a:endParaRPr lang="en-US" sz="1800" dirty="0" smtClean="0">
              <a:solidFill>
                <a:srgbClr val="FF0000"/>
              </a:solidFill>
              <a:latin typeface="Times New Roman" pitchFamily="18" charset="0"/>
              <a:cs typeface="Times New Roman" pitchFamily="18" charset="0"/>
            </a:endParaRPr>
          </a:p>
          <a:p>
            <a:pPr algn="just"/>
            <a:endParaRPr lang="en-US" sz="1800" dirty="0">
              <a:solidFill>
                <a:srgbClr val="FF0000"/>
              </a:solidFill>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Greater </a:t>
            </a:r>
            <a:r>
              <a:rPr lang="en-US" sz="1800" dirty="0" err="1">
                <a:latin typeface="Times New Roman" pitchFamily="18" charset="0"/>
                <a:cs typeface="Times New Roman" pitchFamily="18" charset="0"/>
              </a:rPr>
              <a:t>localisation</a:t>
            </a:r>
            <a:r>
              <a:rPr lang="en-US" sz="1800" dirty="0">
                <a:latin typeface="Times New Roman" pitchFamily="18" charset="0"/>
                <a:cs typeface="Times New Roman" pitchFamily="18" charset="0"/>
              </a:rPr>
              <a:t> enables the company to </a:t>
            </a:r>
            <a:r>
              <a:rPr lang="en-US" sz="1800" dirty="0">
                <a:solidFill>
                  <a:srgbClr val="FF0000"/>
                </a:solidFill>
                <a:latin typeface="Times New Roman" pitchFamily="18" charset="0"/>
                <a:cs typeface="Times New Roman" pitchFamily="18" charset="0"/>
              </a:rPr>
              <a:t>price the vehicle more aggressively</a:t>
            </a:r>
            <a:r>
              <a:rPr lang="en-US" sz="1800" dirty="0">
                <a:latin typeface="Times New Roman" pitchFamily="18" charset="0"/>
                <a:cs typeface="Times New Roman" pitchFamily="18" charset="0"/>
              </a:rPr>
              <a: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1993" y="404664"/>
            <a:ext cx="29527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8835471"/>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690685"/>
            <a:ext cx="4392488" cy="3165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148064" y="260648"/>
            <a:ext cx="3263694" cy="6463308"/>
          </a:xfrm>
          <a:prstGeom prst="rect">
            <a:avLst/>
          </a:prstGeom>
        </p:spPr>
        <p:txBody>
          <a:bodyPr wrap="square">
            <a:spAutoFit/>
          </a:bodyPr>
          <a:lstStyle/>
          <a:p>
            <a:r>
              <a:rPr lang="en-US" dirty="0" smtClean="0">
                <a:solidFill>
                  <a:srgbClr val="FF0000"/>
                </a:solidFill>
                <a:latin typeface="Times New Roman" pitchFamily="18" charset="0"/>
                <a:cs typeface="Times New Roman" pitchFamily="18" charset="0"/>
              </a:rPr>
              <a:t>Tata </a:t>
            </a:r>
            <a:r>
              <a:rPr lang="en-US" dirty="0">
                <a:solidFill>
                  <a:srgbClr val="FF0000"/>
                </a:solidFill>
                <a:latin typeface="Times New Roman" pitchFamily="18" charset="0"/>
                <a:cs typeface="Times New Roman" pitchFamily="18" charset="0"/>
              </a:rPr>
              <a:t>Motors has decided to significantly slash the prices of its popular </a:t>
            </a:r>
            <a:r>
              <a:rPr lang="en-US" dirty="0" err="1">
                <a:latin typeface="Times New Roman" pitchFamily="18" charset="0"/>
                <a:cs typeface="Times New Roman" pitchFamily="18" charset="0"/>
              </a:rPr>
              <a:t>Nexon</a:t>
            </a:r>
            <a:r>
              <a:rPr lang="en-US" dirty="0">
                <a:latin typeface="Times New Roman" pitchFamily="18" charset="0"/>
                <a:cs typeface="Times New Roman" pitchFamily="18" charset="0"/>
              </a:rPr>
              <a:t> EV </a:t>
            </a:r>
            <a:r>
              <a:rPr lang="en-US" dirty="0">
                <a:solidFill>
                  <a:srgbClr val="FF0000"/>
                </a:solidFill>
                <a:latin typeface="Times New Roman" pitchFamily="18" charset="0"/>
                <a:cs typeface="Times New Roman" pitchFamily="18" charset="0"/>
              </a:rPr>
              <a:t>by </a:t>
            </a:r>
            <a:r>
              <a:rPr lang="en-US" dirty="0" err="1">
                <a:solidFill>
                  <a:srgbClr val="FF0000"/>
                </a:solidFill>
                <a:latin typeface="Times New Roman" pitchFamily="18" charset="0"/>
                <a:cs typeface="Times New Roman" pitchFamily="18" charset="0"/>
              </a:rPr>
              <a:t>Rs</a:t>
            </a:r>
            <a:r>
              <a:rPr lang="en-US" dirty="0">
                <a:solidFill>
                  <a:srgbClr val="FF0000"/>
                </a:solidFill>
                <a:latin typeface="Times New Roman" pitchFamily="18" charset="0"/>
                <a:cs typeface="Times New Roman" pitchFamily="18" charset="0"/>
              </a:rPr>
              <a:t> 31,000-85,000 amid intensifying competition. </a:t>
            </a:r>
            <a:endParaRPr lang="en-US" dirty="0" smtClean="0">
              <a:solidFill>
                <a:srgbClr val="FF0000"/>
              </a:solidFill>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Mahindra</a:t>
            </a:r>
            <a:r>
              <a:rPr lang="en-US" dirty="0">
                <a:solidFill>
                  <a:srgbClr val="FF0000"/>
                </a:solidFill>
                <a:latin typeface="Times New Roman" pitchFamily="18" charset="0"/>
                <a:cs typeface="Times New Roman" pitchFamily="18" charset="0"/>
              </a:rPr>
              <a:t> &amp; Mahindra (M&amp;M) launched its much-awaited compact electric sport utility vehicle — the </a:t>
            </a:r>
            <a:r>
              <a:rPr lang="en-US" dirty="0">
                <a:latin typeface="Times New Roman" pitchFamily="18" charset="0"/>
                <a:cs typeface="Times New Roman" pitchFamily="18" charset="0"/>
              </a:rPr>
              <a:t>XUV400 </a:t>
            </a:r>
            <a:r>
              <a:rPr lang="en-US" dirty="0">
                <a:solidFill>
                  <a:srgbClr val="FF0000"/>
                </a:solidFill>
                <a:latin typeface="Times New Roman" pitchFamily="18" charset="0"/>
                <a:cs typeface="Times New Roman" pitchFamily="18" charset="0"/>
              </a:rPr>
              <a:t>— at a competitive price point.</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At </a:t>
            </a:r>
            <a:r>
              <a:rPr lang="en-US" dirty="0" err="1">
                <a:latin typeface="Times New Roman" pitchFamily="18" charset="0"/>
                <a:cs typeface="Times New Roman" pitchFamily="18" charset="0"/>
              </a:rPr>
              <a:t>Rs</a:t>
            </a:r>
            <a:r>
              <a:rPr lang="en-US" dirty="0">
                <a:latin typeface="Times New Roman" pitchFamily="18" charset="0"/>
                <a:cs typeface="Times New Roman" pitchFamily="18" charset="0"/>
              </a:rPr>
              <a:t> 18.99 lakh, the </a:t>
            </a:r>
            <a:r>
              <a:rPr lang="en-US" dirty="0" err="1">
                <a:latin typeface="Times New Roman" pitchFamily="18" charset="0"/>
                <a:cs typeface="Times New Roman" pitchFamily="18" charset="0"/>
              </a:rPr>
              <a:t>Nexon’s</a:t>
            </a:r>
            <a:r>
              <a:rPr lang="en-US" dirty="0">
                <a:latin typeface="Times New Roman" pitchFamily="18" charset="0"/>
                <a:cs typeface="Times New Roman" pitchFamily="18" charset="0"/>
              </a:rPr>
              <a:t> top variant is equivalent to M&amp;M’s XUV400’s top trim. Tata Motors has also reduced the price of its low-end variant by </a:t>
            </a:r>
            <a:r>
              <a:rPr lang="en-US" dirty="0" err="1">
                <a:latin typeface="Times New Roman" pitchFamily="18" charset="0"/>
                <a:cs typeface="Times New Roman" pitchFamily="18" charset="0"/>
              </a:rPr>
              <a:t>Rs</a:t>
            </a:r>
            <a:r>
              <a:rPr lang="en-US" dirty="0">
                <a:latin typeface="Times New Roman" pitchFamily="18" charset="0"/>
                <a:cs typeface="Times New Roman" pitchFamily="18" charset="0"/>
              </a:rPr>
              <a:t> 50,000 to </a:t>
            </a:r>
            <a:r>
              <a:rPr lang="en-US" dirty="0" err="1">
                <a:latin typeface="Times New Roman" pitchFamily="18" charset="0"/>
                <a:cs typeface="Times New Roman" pitchFamily="18" charset="0"/>
              </a:rPr>
              <a:t>Rs</a:t>
            </a:r>
            <a:r>
              <a:rPr lang="en-US" dirty="0">
                <a:latin typeface="Times New Roman" pitchFamily="18" charset="0"/>
                <a:cs typeface="Times New Roman" pitchFamily="18" charset="0"/>
              </a:rPr>
              <a:t> 14.49 lakh (ex-showroom), </a:t>
            </a:r>
            <a:r>
              <a:rPr lang="en-US" dirty="0">
                <a:solidFill>
                  <a:srgbClr val="FF0000"/>
                </a:solidFill>
                <a:latin typeface="Times New Roman" pitchFamily="18" charset="0"/>
                <a:cs typeface="Times New Roman" pitchFamily="18" charset="0"/>
              </a:rPr>
              <a:t>making it cheaper by </a:t>
            </a:r>
            <a:r>
              <a:rPr lang="en-US" dirty="0" err="1">
                <a:solidFill>
                  <a:srgbClr val="FF0000"/>
                </a:solidFill>
                <a:latin typeface="Times New Roman" pitchFamily="18" charset="0"/>
                <a:cs typeface="Times New Roman" pitchFamily="18" charset="0"/>
              </a:rPr>
              <a:t>Rs</a:t>
            </a:r>
            <a:r>
              <a:rPr lang="en-US" dirty="0">
                <a:solidFill>
                  <a:srgbClr val="FF0000"/>
                </a:solidFill>
                <a:latin typeface="Times New Roman" pitchFamily="18" charset="0"/>
                <a:cs typeface="Times New Roman" pitchFamily="18" charset="0"/>
              </a:rPr>
              <a:t> 1.5 lakh than the XUV400’s low-end variant</a:t>
            </a:r>
            <a:r>
              <a:rPr lang="en-US" dirty="0" smtClean="0">
                <a:solidFill>
                  <a:srgbClr val="FF0000"/>
                </a:solidFill>
                <a:latin typeface="Times New Roman" pitchFamily="18" charset="0"/>
                <a:cs typeface="Times New Roman" pitchFamily="18" charset="0"/>
              </a:rPr>
              <a:t>.</a:t>
            </a:r>
            <a:endParaRPr lang="en-US"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098433600"/>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08920"/>
            <a:ext cx="8229600" cy="1143000"/>
          </a:xfrm>
        </p:spPr>
        <p:txBody>
          <a:bodyPr>
            <a:noAutofit/>
          </a:bodyPr>
          <a:lstStyle/>
          <a:p>
            <a:r>
              <a:rPr lang="en-US" sz="6000" dirty="0" smtClean="0">
                <a:solidFill>
                  <a:srgbClr val="FF0000"/>
                </a:solidFill>
                <a:latin typeface="Times New Roman" panose="02020603050405020304" pitchFamily="18" charset="0"/>
                <a:cs typeface="Times New Roman" panose="02020603050405020304" pitchFamily="18" charset="0"/>
              </a:rPr>
              <a:t>Skimming</a:t>
            </a:r>
            <a:r>
              <a:rPr lang="en-US" sz="6000" dirty="0" smtClean="0">
                <a:solidFill>
                  <a:srgbClr val="00B050"/>
                </a:solidFill>
                <a:latin typeface="Times New Roman" panose="02020603050405020304" pitchFamily="18" charset="0"/>
                <a:cs typeface="Times New Roman" panose="02020603050405020304" pitchFamily="18" charset="0"/>
              </a:rPr>
              <a:t> </a:t>
            </a:r>
            <a:br>
              <a:rPr lang="en-US" sz="6000" dirty="0" smtClean="0">
                <a:solidFill>
                  <a:srgbClr val="00B050"/>
                </a:solidFill>
                <a:latin typeface="Times New Roman" panose="02020603050405020304" pitchFamily="18" charset="0"/>
                <a:cs typeface="Times New Roman" panose="02020603050405020304" pitchFamily="18" charset="0"/>
              </a:rPr>
            </a:br>
            <a:r>
              <a:rPr lang="en-US" sz="6000" dirty="0" smtClean="0">
                <a:solidFill>
                  <a:srgbClr val="00B050"/>
                </a:solidFill>
                <a:latin typeface="Times New Roman" panose="02020603050405020304" pitchFamily="18" charset="0"/>
                <a:cs typeface="Times New Roman" panose="02020603050405020304" pitchFamily="18" charset="0"/>
              </a:rPr>
              <a:t>Penetration</a:t>
            </a:r>
            <a:br>
              <a:rPr lang="en-US" sz="6000" dirty="0" smtClean="0">
                <a:solidFill>
                  <a:srgbClr val="00B050"/>
                </a:solidFill>
                <a:latin typeface="Times New Roman" panose="02020603050405020304" pitchFamily="18" charset="0"/>
                <a:cs typeface="Times New Roman" panose="02020603050405020304" pitchFamily="18" charset="0"/>
              </a:rPr>
            </a:br>
            <a:r>
              <a:rPr lang="en-US" sz="6000" dirty="0">
                <a:solidFill>
                  <a:srgbClr val="00B050"/>
                </a:solidFill>
                <a:latin typeface="Times New Roman" panose="02020603050405020304" pitchFamily="18" charset="0"/>
                <a:cs typeface="Times New Roman" panose="02020603050405020304" pitchFamily="18" charset="0"/>
              </a:rPr>
              <a:t/>
            </a:r>
            <a:br>
              <a:rPr lang="en-US" sz="6000" dirty="0">
                <a:solidFill>
                  <a:srgbClr val="00B050"/>
                </a:solidFill>
                <a:latin typeface="Times New Roman" panose="02020603050405020304" pitchFamily="18" charset="0"/>
                <a:cs typeface="Times New Roman" panose="02020603050405020304" pitchFamily="18" charset="0"/>
              </a:rPr>
            </a:br>
            <a:r>
              <a:rPr lang="en-IN" sz="6000" b="1" dirty="0">
                <a:solidFill>
                  <a:srgbClr val="FF0000"/>
                </a:solidFill>
                <a:latin typeface="Times New Roman" pitchFamily="18" charset="0"/>
                <a:cs typeface="Times New Roman" pitchFamily="18" charset="0"/>
              </a:rPr>
              <a:t>Price</a:t>
            </a:r>
            <a:r>
              <a:rPr lang="en-IN" sz="6000" b="1" dirty="0">
                <a:latin typeface="Times New Roman" pitchFamily="18" charset="0"/>
                <a:cs typeface="Times New Roman" pitchFamily="18" charset="0"/>
              </a:rPr>
              <a:t> </a:t>
            </a:r>
            <a:r>
              <a:rPr lang="en-IN" sz="6000" b="1" dirty="0">
                <a:solidFill>
                  <a:srgbClr val="00B050"/>
                </a:solidFill>
                <a:latin typeface="Times New Roman" pitchFamily="18" charset="0"/>
                <a:cs typeface="Times New Roman" pitchFamily="18" charset="0"/>
              </a:rPr>
              <a:t>Non</a:t>
            </a:r>
            <a:r>
              <a:rPr lang="en-IN" sz="6000" b="1" dirty="0">
                <a:latin typeface="Times New Roman" pitchFamily="18" charset="0"/>
                <a:cs typeface="Times New Roman" pitchFamily="18" charset="0"/>
              </a:rPr>
              <a:t> Price </a:t>
            </a:r>
            <a:r>
              <a:rPr lang="en-US" sz="6000" dirty="0" smtClean="0">
                <a:solidFill>
                  <a:srgbClr val="00B050"/>
                </a:solidFill>
                <a:latin typeface="Times New Roman" panose="02020603050405020304" pitchFamily="18" charset="0"/>
                <a:cs typeface="Times New Roman" panose="02020603050405020304" pitchFamily="18" charset="0"/>
              </a:rPr>
              <a:t/>
            </a:r>
            <a:br>
              <a:rPr lang="en-US" sz="6000" dirty="0" smtClean="0">
                <a:solidFill>
                  <a:srgbClr val="00B050"/>
                </a:solidFill>
                <a:latin typeface="Times New Roman" panose="02020603050405020304" pitchFamily="18" charset="0"/>
                <a:cs typeface="Times New Roman" panose="02020603050405020304" pitchFamily="18" charset="0"/>
              </a:rPr>
            </a:br>
            <a:endParaRPr lang="en-IN" sz="60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60735"/>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797" y="2718180"/>
            <a:ext cx="5715000" cy="2753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2"/>
          <p:cNvSpPr txBox="1">
            <a:spLocks noChangeArrowheads="1"/>
          </p:cNvSpPr>
          <p:nvPr/>
        </p:nvSpPr>
        <p:spPr>
          <a:xfrm>
            <a:off x="1465527" y="2294671"/>
            <a:ext cx="5293162" cy="37804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400" dirty="0">
                <a:solidFill>
                  <a:srgbClr val="FF0000"/>
                </a:solidFill>
                <a:latin typeface="Times New Roman" pitchFamily="18" charset="0"/>
                <a:cs typeface="Times New Roman" pitchFamily="18" charset="0"/>
              </a:rPr>
              <a:t>Consumer Marketing Channels</a:t>
            </a:r>
          </a:p>
        </p:txBody>
      </p:sp>
      <p:sp>
        <p:nvSpPr>
          <p:cNvPr id="9" name="TextBox 8"/>
          <p:cNvSpPr txBox="1"/>
          <p:nvPr/>
        </p:nvSpPr>
        <p:spPr>
          <a:xfrm>
            <a:off x="1817694" y="4779150"/>
            <a:ext cx="1188132" cy="300082"/>
          </a:xfrm>
          <a:prstGeom prst="rect">
            <a:avLst/>
          </a:prstGeom>
          <a:noFill/>
        </p:spPr>
        <p:txBody>
          <a:bodyPr wrap="square" rtlCol="0">
            <a:spAutoFit/>
          </a:bodyPr>
          <a:lstStyle/>
          <a:p>
            <a:endParaRPr lang="en-IN" sz="1350" dirty="0"/>
          </a:p>
        </p:txBody>
      </p:sp>
      <p:sp>
        <p:nvSpPr>
          <p:cNvPr id="2" name="Rectangle 1"/>
          <p:cNvSpPr/>
          <p:nvPr/>
        </p:nvSpPr>
        <p:spPr>
          <a:xfrm>
            <a:off x="673443" y="1140509"/>
            <a:ext cx="7994822" cy="1061829"/>
          </a:xfrm>
          <a:prstGeom prst="rect">
            <a:avLst/>
          </a:prstGeom>
        </p:spPr>
        <p:txBody>
          <a:bodyPr wrap="square">
            <a:spAutoFit/>
          </a:bodyPr>
          <a:lstStyle/>
          <a:p>
            <a:pPr algn="ctr"/>
            <a:r>
              <a:rPr lang="en-IN" sz="2100" dirty="0">
                <a:solidFill>
                  <a:srgbClr val="FF0000"/>
                </a:solidFill>
                <a:latin typeface="Times New Roman" panose="02020603050405020304" pitchFamily="18" charset="0"/>
                <a:cs typeface="Times New Roman" panose="02020603050405020304" pitchFamily="18" charset="0"/>
              </a:rPr>
              <a:t>Distribution channel </a:t>
            </a:r>
            <a:r>
              <a:rPr lang="en-IN" sz="1500" dirty="0">
                <a:latin typeface="Times New Roman" panose="02020603050405020304" pitchFamily="18" charset="0"/>
                <a:cs typeface="Times New Roman" panose="02020603050405020304" pitchFamily="18" charset="0"/>
              </a:rPr>
              <a:t/>
            </a:r>
            <a:br>
              <a:rPr lang="en-IN" sz="1500" dirty="0">
                <a:latin typeface="Times New Roman" panose="02020603050405020304" pitchFamily="18" charset="0"/>
                <a:cs typeface="Times New Roman" panose="02020603050405020304" pitchFamily="18" charset="0"/>
              </a:rPr>
            </a:br>
            <a:r>
              <a:rPr lang="en-IN" sz="1500" dirty="0">
                <a:latin typeface="Times New Roman" panose="02020603050405020304" pitchFamily="18" charset="0"/>
                <a:cs typeface="Times New Roman" panose="02020603050405020304" pitchFamily="18" charset="0"/>
              </a:rPr>
              <a:t/>
            </a:r>
            <a:br>
              <a:rPr lang="en-IN" sz="1500" dirty="0">
                <a:latin typeface="Times New Roman" panose="02020603050405020304" pitchFamily="18" charset="0"/>
                <a:cs typeface="Times New Roman" panose="02020603050405020304" pitchFamily="18" charset="0"/>
              </a:rPr>
            </a:br>
            <a:r>
              <a:rPr lang="en-IN" sz="1350" dirty="0">
                <a:latin typeface="Times New Roman" panose="02020603050405020304" pitchFamily="18" charset="0"/>
                <a:cs typeface="Times New Roman" panose="02020603050405020304" pitchFamily="18" charset="0"/>
              </a:rPr>
              <a:t>A distribution channel is a set of interdependent organizations that </a:t>
            </a:r>
            <a:r>
              <a:rPr lang="en-IN" sz="1350" dirty="0">
                <a:solidFill>
                  <a:srgbClr val="FF0000"/>
                </a:solidFill>
                <a:latin typeface="Times New Roman" panose="02020603050405020304" pitchFamily="18" charset="0"/>
                <a:cs typeface="Times New Roman" panose="02020603050405020304" pitchFamily="18" charset="0"/>
              </a:rPr>
              <a:t>help make a product or service available </a:t>
            </a:r>
            <a:r>
              <a:rPr lang="en-IN" sz="1350" dirty="0">
                <a:latin typeface="Times New Roman" panose="02020603050405020304" pitchFamily="18" charset="0"/>
                <a:cs typeface="Times New Roman" panose="02020603050405020304" pitchFamily="18" charset="0"/>
              </a:rPr>
              <a:t>for use or consumption by the consumer or business user.</a:t>
            </a:r>
            <a:endParaRPr lang="en-IN" sz="1350" dirty="0"/>
          </a:p>
        </p:txBody>
      </p:sp>
      <p:pic>
        <p:nvPicPr>
          <p:cNvPr id="12" name="Picture 11"/>
          <p:cNvPicPr>
            <a:picLocks noChangeAspect="1"/>
          </p:cNvPicPr>
          <p:nvPr/>
        </p:nvPicPr>
        <p:blipFill>
          <a:blip r:embed="rId3"/>
          <a:stretch>
            <a:fillRect/>
          </a:stretch>
        </p:blipFill>
        <p:spPr>
          <a:xfrm>
            <a:off x="6130122" y="2624266"/>
            <a:ext cx="2805145" cy="2847197"/>
          </a:xfrm>
          <a:prstGeom prst="rect">
            <a:avLst/>
          </a:prstGeom>
        </p:spPr>
      </p:pic>
    </p:spTree>
    <p:extLst>
      <p:ext uri="{BB962C8B-B14F-4D97-AF65-F5344CB8AC3E}">
        <p14:creationId xmlns:p14="http://schemas.microsoft.com/office/powerpoint/2010/main" val="1375372597"/>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45292" y="1063228"/>
            <a:ext cx="7741508" cy="4651772"/>
          </a:xfrm>
        </p:spPr>
        <p:txBody>
          <a:bodyPr>
            <a:noAutofit/>
          </a:bodyPr>
          <a:lstStyle/>
          <a:p>
            <a:pPr algn="ctr"/>
            <a:r>
              <a:rPr lang="en-IN" sz="4000" dirty="0">
                <a:solidFill>
                  <a:srgbClr val="FF0000"/>
                </a:solidFill>
                <a:latin typeface="Times New Roman" panose="02020603050405020304" pitchFamily="18" charset="0"/>
                <a:cs typeface="Times New Roman" panose="02020603050405020304" pitchFamily="18" charset="0"/>
              </a:rPr>
              <a:t>Three </a:t>
            </a:r>
            <a:r>
              <a:rPr lang="en-IN" sz="4000" dirty="0" smtClean="0">
                <a:solidFill>
                  <a:srgbClr val="FF0000"/>
                </a:solidFill>
                <a:latin typeface="Times New Roman" panose="02020603050405020304" pitchFamily="18" charset="0"/>
                <a:cs typeface="Times New Roman" panose="02020603050405020304" pitchFamily="18" charset="0"/>
              </a:rPr>
              <a:t>strategies</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1" dirty="0">
                <a:solidFill>
                  <a:srgbClr val="FF0000"/>
                </a:solidFill>
                <a:latin typeface="Times New Roman" panose="02020603050405020304" pitchFamily="18" charset="0"/>
                <a:cs typeface="Times New Roman" panose="02020603050405020304" pitchFamily="18" charset="0"/>
              </a:rPr>
              <a:t>Intensive-</a:t>
            </a:r>
            <a:r>
              <a:rPr lang="en-IN" sz="2400" dirty="0">
                <a:latin typeface="Times New Roman" panose="02020603050405020304" pitchFamily="18" charset="0"/>
                <a:cs typeface="Times New Roman" panose="02020603050405020304" pitchFamily="18" charset="0"/>
              </a:rPr>
              <a:t>Convenience products- as many outlets as possible</a:t>
            </a:r>
            <a:r>
              <a:rPr lang="en-IN" sz="2400" b="1" dirty="0">
                <a:latin typeface="Times New Roman" panose="02020603050405020304" pitchFamily="18" charset="0"/>
                <a:cs typeface="Times New Roman" panose="02020603050405020304" pitchFamily="18" charset="0"/>
              </a:rPr>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a:r>
            <a:br>
              <a:rPr lang="en-IN" sz="2400" b="1" dirty="0">
                <a:latin typeface="Times New Roman" panose="02020603050405020304" pitchFamily="18" charset="0"/>
                <a:cs typeface="Times New Roman" panose="02020603050405020304" pitchFamily="18" charset="0"/>
              </a:rPr>
            </a:br>
            <a:r>
              <a:rPr lang="en-IN" sz="2400" b="1" dirty="0">
                <a:solidFill>
                  <a:srgbClr val="FF0000"/>
                </a:solidFill>
                <a:latin typeface="Times New Roman" panose="02020603050405020304" pitchFamily="18" charset="0"/>
                <a:cs typeface="Times New Roman" panose="02020603050405020304" pitchFamily="18" charset="0"/>
              </a:rPr>
              <a:t>Selective -</a:t>
            </a:r>
            <a:r>
              <a:rPr lang="en-IN" sz="2400" dirty="0">
                <a:latin typeface="Times New Roman" panose="02020603050405020304" pitchFamily="18" charset="0"/>
                <a:cs typeface="Times New Roman" panose="02020603050405020304" pitchFamily="18" charset="0"/>
              </a:rPr>
              <a:t>Durables,  more than one but fewer than all</a:t>
            </a:r>
            <a:r>
              <a:rPr lang="en-IN" sz="2400" b="1" dirty="0">
                <a:solidFill>
                  <a:srgbClr val="FF0000"/>
                </a:solidFill>
                <a:latin typeface="Times New Roman" panose="02020603050405020304" pitchFamily="18" charset="0"/>
                <a:cs typeface="Times New Roman" panose="02020603050405020304" pitchFamily="18" charset="0"/>
              </a:rPr>
              <a:t/>
            </a:r>
            <a:br>
              <a:rPr lang="en-IN" sz="2400" b="1" dirty="0">
                <a:solidFill>
                  <a:srgbClr val="FF0000"/>
                </a:solidFill>
                <a:latin typeface="Times New Roman" panose="02020603050405020304" pitchFamily="18" charset="0"/>
                <a:cs typeface="Times New Roman" panose="02020603050405020304" pitchFamily="18" charset="0"/>
              </a:rPr>
            </a:br>
            <a:r>
              <a:rPr lang="en-IN" sz="2400" b="1" dirty="0">
                <a:solidFill>
                  <a:srgbClr val="FF0000"/>
                </a:solidFill>
                <a:latin typeface="Times New Roman" panose="02020603050405020304" pitchFamily="18" charset="0"/>
                <a:cs typeface="Times New Roman" panose="02020603050405020304" pitchFamily="18" charset="0"/>
              </a:rPr>
              <a:t/>
            </a:r>
            <a:br>
              <a:rPr lang="en-IN" sz="2400" b="1" dirty="0">
                <a:solidFill>
                  <a:srgbClr val="FF0000"/>
                </a:solidFill>
                <a:latin typeface="Times New Roman" panose="02020603050405020304" pitchFamily="18" charset="0"/>
                <a:cs typeface="Times New Roman" panose="02020603050405020304" pitchFamily="18" charset="0"/>
              </a:rPr>
            </a:br>
            <a:r>
              <a:rPr lang="en-IN" sz="2400" b="1" dirty="0">
                <a:solidFill>
                  <a:srgbClr val="FF0000"/>
                </a:solidFill>
                <a:latin typeface="Times New Roman" panose="02020603050405020304" pitchFamily="18" charset="0"/>
                <a:cs typeface="Times New Roman" panose="02020603050405020304" pitchFamily="18" charset="0"/>
              </a:rPr>
              <a:t>Exclusive-</a:t>
            </a:r>
            <a:r>
              <a:rPr lang="en-IN" sz="2400" dirty="0">
                <a:latin typeface="Times New Roman" panose="02020603050405020304" pitchFamily="18" charset="0"/>
                <a:cs typeface="Times New Roman" panose="02020603050405020304" pitchFamily="18" charset="0"/>
              </a:rPr>
              <a:t>Luxury Limited number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055535"/>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143000"/>
            <a:ext cx="4572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6347228"/>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916832"/>
            <a:ext cx="8496944"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9126331"/>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87824" y="2564904"/>
            <a:ext cx="2952328" cy="1200329"/>
          </a:xfrm>
          <a:prstGeom prst="rect">
            <a:avLst/>
          </a:prstGeom>
          <a:solidFill>
            <a:schemeClr val="bg1">
              <a:lumMod val="75000"/>
            </a:schemeClr>
          </a:solidFill>
        </p:spPr>
        <p:txBody>
          <a:bodyPr wrap="square" rtlCol="0">
            <a:spAutoFit/>
          </a:bodyPr>
          <a:lstStyle/>
          <a:p>
            <a:r>
              <a:rPr lang="en-IN" sz="2400" b="1" dirty="0" smtClean="0">
                <a:solidFill>
                  <a:srgbClr val="FF0000"/>
                </a:solidFill>
                <a:latin typeface="Times New Roman" pitchFamily="18" charset="0"/>
                <a:cs typeface="Times New Roman" pitchFamily="18" charset="0"/>
              </a:rPr>
              <a:t>    </a:t>
            </a:r>
          </a:p>
          <a:p>
            <a:r>
              <a:rPr lang="en-IN" sz="2400" b="1" dirty="0" smtClean="0">
                <a:solidFill>
                  <a:srgbClr val="FF0000"/>
                </a:solidFill>
                <a:latin typeface="Times New Roman" pitchFamily="18" charset="0"/>
                <a:cs typeface="Times New Roman" pitchFamily="18" charset="0"/>
              </a:rPr>
              <a:t> Brave and Beautiful</a:t>
            </a:r>
            <a:endParaRPr lang="en-IN" sz="2400" b="1" dirty="0">
              <a:solidFill>
                <a:srgbClr val="FF0000"/>
              </a:solidFill>
              <a:latin typeface="Times New Roman" pitchFamily="18" charset="0"/>
              <a:cs typeface="Times New Roman" pitchFamily="18" charset="0"/>
            </a:endParaRPr>
          </a:p>
          <a:p>
            <a:endParaRPr lang="en-IN" sz="24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578985545"/>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780928"/>
            <a:ext cx="8229600" cy="1143000"/>
          </a:xfrm>
          <a:solidFill>
            <a:srgbClr val="FFC000"/>
          </a:solidFill>
        </p:spPr>
        <p:txBody>
          <a:bodyPr/>
          <a:lstStyle/>
          <a:p>
            <a:r>
              <a:rPr lang="en-IN" b="1" dirty="0" smtClean="0">
                <a:solidFill>
                  <a:srgbClr val="FF0000"/>
                </a:solidFill>
                <a:latin typeface="Times New Roman" pitchFamily="18" charset="0"/>
                <a:cs typeface="Times New Roman" pitchFamily="18" charset="0"/>
              </a:rPr>
              <a:t>Thank You</a:t>
            </a:r>
            <a:endParaRPr lang="en-IN"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96971535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575</TotalTime>
  <Words>813</Words>
  <Application>Microsoft Office PowerPoint</Application>
  <PresentationFormat>On-screen Show (4:3)</PresentationFormat>
  <Paragraphs>311</Paragraphs>
  <Slides>52</Slides>
  <Notes>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Arial</vt:lpstr>
      <vt:lpstr>Calibri</vt:lpstr>
      <vt:lpstr>Century Gothic</vt:lpstr>
      <vt:lpstr>DejaVu Sans</vt:lpstr>
      <vt:lpstr>Times New Roman</vt:lpstr>
      <vt:lpstr>Tw Cen MT</vt:lpstr>
      <vt:lpstr>Wingdings</vt:lpstr>
      <vt:lpstr>Wingdings 3</vt:lpstr>
      <vt:lpstr>Office Theme</vt:lpstr>
      <vt:lpstr>Marketing  Mix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Marketing Mix</vt:lpstr>
      <vt:lpstr>PowerPoint Presentation</vt:lpstr>
      <vt:lpstr>PowerPoint Presentation</vt:lpstr>
      <vt:lpstr>Coined Marketing Mix- James Culliton,  Marketing Manager – Mixer of ingredients  Popularized Marketing Mix- Neil H. Bordon  4Ps- Jerome Paul McCarthy 4Cs- Robert Lauterborn </vt:lpstr>
      <vt:lpstr>PowerPoint Presentation</vt:lpstr>
      <vt:lpstr>PowerPoint Presentation</vt:lpstr>
      <vt:lpstr>PowerPoint Presentation</vt:lpstr>
      <vt:lpstr>Classification </vt:lpstr>
      <vt:lpstr>A product is any offering that can satisfy a need or want</vt:lpstr>
      <vt:lpstr>PowerPoint Presentation</vt:lpstr>
      <vt:lpstr>PowerPoint Presentation</vt:lpstr>
      <vt:lpstr>DEO  Sweating Fragrance Fragrance variety Underarm Whitening Sensitive skin </vt:lpstr>
      <vt:lpstr>Product Levels</vt:lpstr>
      <vt:lpstr>PowerPoint Presentation</vt:lpstr>
      <vt:lpstr>Three core ingredients to make ice cream: fruits, milk, and sugar. Selected difficult flavours like custard apple, to get famous in the fruit ice cream business. “Natural has fruit flavours no one has picked. They have got melon, jack fruit, gooseberry, mulberry, raspberry.  Probably highest range of fruits ice cream in the world.  Introduced ‘Prasadam’ category so that people know there’s no egg in this ice cream.   This is perhaps the only ice cream brand in the world that invents one flavour every week.   ‘Taste the Original' solved the problem of fake Natural parlours. Unlike any other ice cream, Natural is made of boiled milk which takes three times as long to get ready to be scooped up. </vt:lpstr>
      <vt:lpstr>Coca-Cola fusion </vt:lpstr>
      <vt:lpstr>PowerPoint Presentation</vt:lpstr>
      <vt:lpstr>PowerPoint Presentation</vt:lpstr>
      <vt:lpstr>HUL Product Mix-Width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Skimming  Penetration  Price Non Price  </vt:lpstr>
      <vt:lpstr>PowerPoint Presentation</vt:lpstr>
      <vt:lpstr>Three strategies  Intensive-Convenience products- as many outlets as possible  Selective -Durables,  more than one but fewer than all  Exclusive-Luxury Limited number   </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180</cp:revision>
  <dcterms:created xsi:type="dcterms:W3CDTF">2023-02-14T09:12:46Z</dcterms:created>
  <dcterms:modified xsi:type="dcterms:W3CDTF">2024-10-24T16:59:09Z</dcterms:modified>
</cp:coreProperties>
</file>