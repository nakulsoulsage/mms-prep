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</p:sldIdLst>
  <p:sldSz cy="6858000" cx="12192000"/>
  <p:notesSz cx="6858000" cy="9144000"/>
  <p:embeddedFontLst>
    <p:embeddedFont>
      <p:font typeface="Overlock"/>
      <p:regular r:id="rId68"/>
      <p:bold r:id="rId69"/>
      <p:italic r:id="rId70"/>
      <p:boldItalic r:id="rId71"/>
    </p:embeddedFont>
    <p:embeddedFont>
      <p:font typeface="Teko"/>
      <p:regular r:id="rId72"/>
      <p:bold r:id="rId73"/>
    </p:embeddedFont>
    <p:embeddedFont>
      <p:font typeface="Century Gothic"/>
      <p:regular r:id="rId74"/>
      <p:bold r:id="rId75"/>
      <p:italic r:id="rId76"/>
      <p:boldItalic r:id="rId7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78" roundtripDataSignature="AMtx7mgVZHuuIu8huBotNMSht88z9/bbQ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0BFF117-0A52-4F52-8A2E-42B5CC520D84}">
  <a:tblStyle styleId="{D0BFF117-0A52-4F52-8A2E-42B5CC520D84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9EFF7"/>
          </a:solidFill>
        </a:fill>
      </a:tcStyle>
    </a:wholeTbl>
    <a:band1H>
      <a:tcTxStyle b="off" i="off"/>
      <a:tcStyle>
        <a:fill>
          <a:solidFill>
            <a:srgbClr val="D0DEEF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D0DEEF"/>
          </a:solidFill>
        </a:fill>
      </a:tcStyle>
    </a:band1V>
    <a:band2V>
      <a:tcTxStyle b="off" i="off"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73" Type="http://schemas.openxmlformats.org/officeDocument/2006/relationships/font" Target="fonts/Teko-bold.fntdata"/><Relationship Id="rId72" Type="http://schemas.openxmlformats.org/officeDocument/2006/relationships/font" Target="fonts/Teko-regular.fntdata"/><Relationship Id="rId31" Type="http://schemas.openxmlformats.org/officeDocument/2006/relationships/slide" Target="slides/slide25.xml"/><Relationship Id="rId75" Type="http://schemas.openxmlformats.org/officeDocument/2006/relationships/font" Target="fonts/CenturyGothic-bold.fntdata"/><Relationship Id="rId30" Type="http://schemas.openxmlformats.org/officeDocument/2006/relationships/slide" Target="slides/slide24.xml"/><Relationship Id="rId74" Type="http://schemas.openxmlformats.org/officeDocument/2006/relationships/font" Target="fonts/CenturyGothic-regular.fntdata"/><Relationship Id="rId33" Type="http://schemas.openxmlformats.org/officeDocument/2006/relationships/slide" Target="slides/slide27.xml"/><Relationship Id="rId77" Type="http://schemas.openxmlformats.org/officeDocument/2006/relationships/font" Target="fonts/CenturyGothic-boldItalic.fntdata"/><Relationship Id="rId32" Type="http://schemas.openxmlformats.org/officeDocument/2006/relationships/slide" Target="slides/slide26.xml"/><Relationship Id="rId76" Type="http://schemas.openxmlformats.org/officeDocument/2006/relationships/font" Target="fonts/CenturyGothic-italic.fntdata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78" Type="http://customschemas.google.com/relationships/presentationmetadata" Target="metadata"/><Relationship Id="rId71" Type="http://schemas.openxmlformats.org/officeDocument/2006/relationships/font" Target="fonts/Overlock-boldItalic.fntdata"/><Relationship Id="rId70" Type="http://schemas.openxmlformats.org/officeDocument/2006/relationships/font" Target="fonts/Overlock-italic.fntdata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20" Type="http://schemas.openxmlformats.org/officeDocument/2006/relationships/slide" Target="slides/slide14.xml"/><Relationship Id="rId64" Type="http://schemas.openxmlformats.org/officeDocument/2006/relationships/slide" Target="slides/slide58.xml"/><Relationship Id="rId63" Type="http://schemas.openxmlformats.org/officeDocument/2006/relationships/slide" Target="slides/slide57.xml"/><Relationship Id="rId22" Type="http://schemas.openxmlformats.org/officeDocument/2006/relationships/slide" Target="slides/slide16.xml"/><Relationship Id="rId66" Type="http://schemas.openxmlformats.org/officeDocument/2006/relationships/slide" Target="slides/slide60.xml"/><Relationship Id="rId21" Type="http://schemas.openxmlformats.org/officeDocument/2006/relationships/slide" Target="slides/slide15.xml"/><Relationship Id="rId65" Type="http://schemas.openxmlformats.org/officeDocument/2006/relationships/slide" Target="slides/slide59.xml"/><Relationship Id="rId24" Type="http://schemas.openxmlformats.org/officeDocument/2006/relationships/slide" Target="slides/slide18.xml"/><Relationship Id="rId68" Type="http://schemas.openxmlformats.org/officeDocument/2006/relationships/font" Target="fonts/Overlock-regular.fntdata"/><Relationship Id="rId23" Type="http://schemas.openxmlformats.org/officeDocument/2006/relationships/slide" Target="slides/slide17.xml"/><Relationship Id="rId67" Type="http://schemas.openxmlformats.org/officeDocument/2006/relationships/slide" Target="slides/slide61.xml"/><Relationship Id="rId60" Type="http://schemas.openxmlformats.org/officeDocument/2006/relationships/slide" Target="slides/slide54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69" Type="http://schemas.openxmlformats.org/officeDocument/2006/relationships/font" Target="fonts/Overlock-bold.fntdata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slide" Target="slides/slide51.xml"/><Relationship Id="rId12" Type="http://schemas.openxmlformats.org/officeDocument/2006/relationships/slide" Target="slides/slide6.xml"/><Relationship Id="rId56" Type="http://schemas.openxmlformats.org/officeDocument/2006/relationships/slide" Target="slides/slide50.xml"/><Relationship Id="rId15" Type="http://schemas.openxmlformats.org/officeDocument/2006/relationships/slide" Target="slides/slide9.xml"/><Relationship Id="rId59" Type="http://schemas.openxmlformats.org/officeDocument/2006/relationships/slide" Target="slides/slide53.xml"/><Relationship Id="rId14" Type="http://schemas.openxmlformats.org/officeDocument/2006/relationships/slide" Target="slides/slide8.xml"/><Relationship Id="rId58" Type="http://schemas.openxmlformats.org/officeDocument/2006/relationships/slide" Target="slides/slide5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7" name="Google Shape;8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2" name="Google Shape;9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7" name="Google Shape;9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4" name="Google Shape;10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9" name="Google Shape;10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4" name="Google Shape;11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9" name="Google Shape;11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4" name="Google Shape;12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2" name="Google Shape;132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9" name="Google Shape;139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6" name="Google Shape;146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4" name="Google Shape;154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9" name="Google Shape;159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3" name="Google Shape;183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4" name="Google Shape;194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9" name="Google Shape;199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3" name="Google Shape;253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8" name="Google Shape;258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4" name="Google Shape;264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9" name="Google Shape;269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1" name="Google Shape;281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8" name="Google Shape;298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3" name="Google Shape;303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9" name="Google Shape;309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9" name="Google Shape;319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24" name="Google Shape;324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29" name="Google Shape;329;p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36" name="Google Shape;336;p2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43" name="Google Shape;343;p3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48" name="Google Shape;348;p3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54" name="Google Shape;354;p3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61" name="Google Shape;361;p3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66" name="Google Shape;366;p3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72" name="Google Shape;372;p3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77" name="Google Shape;377;p3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83" name="Google Shape;383;p3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89" name="Google Shape;389;p3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95" name="Google Shape;395;p3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00" name="Google Shape;400;p4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06" name="Google Shape;406;p4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20" name="Google Shape;420;p4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36" name="Google Shape;436;p4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42" name="Google Shape;442;p4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59" name="Google Shape;459;p4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64" name="Google Shape;464;p4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83" name="Google Shape;483;p4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88" name="Google Shape;488;p4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93" name="Google Shape;493;p4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98" name="Google Shape;498;p5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06" name="Google Shape;506;p5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12" name="Google Shape;512;p5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17" name="Google Shape;517;p5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22" name="Google Shape;522;p5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27" name="Google Shape;527;p5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32" name="Google Shape;532;p5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37" name="Google Shape;537;p5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42" name="Google Shape;542;p5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47" name="Google Shape;547;p5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56" name="Google Shape;556;p6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61" name="Google Shape;561;p6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6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6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6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64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64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6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6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6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6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6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6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6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6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6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7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67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5" name="Google Shape;35;p6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6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6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68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68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6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9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9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8" name="Google Shape;48;p69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69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0" name="Google Shape;50;p69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6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6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70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70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7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7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7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7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71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71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7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7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7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7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72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7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7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7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73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73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7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7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7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6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6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6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6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6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Relationship Id="rId4" Type="http://schemas.openxmlformats.org/officeDocument/2006/relationships/image" Target="../media/image22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Relationship Id="rId4" Type="http://schemas.openxmlformats.org/officeDocument/2006/relationships/image" Target="../media/image2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Relationship Id="rId4" Type="http://schemas.openxmlformats.org/officeDocument/2006/relationships/image" Target="../media/image2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20" Type="http://schemas.openxmlformats.org/officeDocument/2006/relationships/image" Target="../media/image18.png"/><Relationship Id="rId11" Type="http://schemas.openxmlformats.org/officeDocument/2006/relationships/image" Target="../media/image16.png"/><Relationship Id="rId22" Type="http://schemas.openxmlformats.org/officeDocument/2006/relationships/image" Target="../media/image34.png"/><Relationship Id="rId10" Type="http://schemas.openxmlformats.org/officeDocument/2006/relationships/image" Target="../media/image17.png"/><Relationship Id="rId21" Type="http://schemas.openxmlformats.org/officeDocument/2006/relationships/image" Target="../media/image37.png"/><Relationship Id="rId13" Type="http://schemas.openxmlformats.org/officeDocument/2006/relationships/image" Target="../media/image13.png"/><Relationship Id="rId1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jpg"/><Relationship Id="rId4" Type="http://schemas.openxmlformats.org/officeDocument/2006/relationships/image" Target="../media/image21.png"/><Relationship Id="rId9" Type="http://schemas.openxmlformats.org/officeDocument/2006/relationships/image" Target="../media/image4.png"/><Relationship Id="rId15" Type="http://schemas.openxmlformats.org/officeDocument/2006/relationships/image" Target="../media/image38.png"/><Relationship Id="rId14" Type="http://schemas.openxmlformats.org/officeDocument/2006/relationships/image" Target="../media/image27.png"/><Relationship Id="rId17" Type="http://schemas.openxmlformats.org/officeDocument/2006/relationships/image" Target="../media/image23.png"/><Relationship Id="rId16" Type="http://schemas.openxmlformats.org/officeDocument/2006/relationships/image" Target="../media/image19.png"/><Relationship Id="rId5" Type="http://schemas.openxmlformats.org/officeDocument/2006/relationships/image" Target="../media/image3.png"/><Relationship Id="rId19" Type="http://schemas.openxmlformats.org/officeDocument/2006/relationships/image" Target="../media/image20.png"/><Relationship Id="rId6" Type="http://schemas.openxmlformats.org/officeDocument/2006/relationships/image" Target="../media/image15.png"/><Relationship Id="rId18" Type="http://schemas.openxmlformats.org/officeDocument/2006/relationships/image" Target="../media/image30.png"/><Relationship Id="rId7" Type="http://schemas.openxmlformats.org/officeDocument/2006/relationships/image" Target="../media/image9.png"/><Relationship Id="rId8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4.png"/><Relationship Id="rId4" Type="http://schemas.openxmlformats.org/officeDocument/2006/relationships/image" Target="../media/image33.png"/><Relationship Id="rId9" Type="http://schemas.openxmlformats.org/officeDocument/2006/relationships/image" Target="../media/image40.png"/><Relationship Id="rId5" Type="http://schemas.openxmlformats.org/officeDocument/2006/relationships/image" Target="../media/image29.png"/><Relationship Id="rId6" Type="http://schemas.openxmlformats.org/officeDocument/2006/relationships/image" Target="../media/image46.png"/><Relationship Id="rId7" Type="http://schemas.openxmlformats.org/officeDocument/2006/relationships/image" Target="../media/image48.png"/><Relationship Id="rId8" Type="http://schemas.openxmlformats.org/officeDocument/2006/relationships/image" Target="../media/image4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2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0" Type="http://schemas.openxmlformats.org/officeDocument/2006/relationships/image" Target="../media/image41.jp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6.jpg"/><Relationship Id="rId4" Type="http://schemas.openxmlformats.org/officeDocument/2006/relationships/image" Target="../media/image31.jpg"/><Relationship Id="rId9" Type="http://schemas.openxmlformats.org/officeDocument/2006/relationships/image" Target="../media/image71.jpg"/><Relationship Id="rId5" Type="http://schemas.openxmlformats.org/officeDocument/2006/relationships/image" Target="../media/image43.jpg"/><Relationship Id="rId6" Type="http://schemas.openxmlformats.org/officeDocument/2006/relationships/image" Target="../media/image35.png"/><Relationship Id="rId7" Type="http://schemas.openxmlformats.org/officeDocument/2006/relationships/image" Target="../media/image32.jpg"/><Relationship Id="rId8" Type="http://schemas.openxmlformats.org/officeDocument/2006/relationships/image" Target="../media/image45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9.jpg"/><Relationship Id="rId4" Type="http://schemas.openxmlformats.org/officeDocument/2006/relationships/image" Target="../media/image55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54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47.jp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56.jpg"/><Relationship Id="rId4" Type="http://schemas.openxmlformats.org/officeDocument/2006/relationships/image" Target="../media/image72.jpg"/><Relationship Id="rId5" Type="http://schemas.openxmlformats.org/officeDocument/2006/relationships/image" Target="../media/image49.jp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61.jpg"/><Relationship Id="rId4" Type="http://schemas.openxmlformats.org/officeDocument/2006/relationships/image" Target="../media/image52.jp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51.jp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69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58.jp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57.jpg"/><Relationship Id="rId4" Type="http://schemas.openxmlformats.org/officeDocument/2006/relationships/image" Target="../media/image62.jpg"/><Relationship Id="rId5" Type="http://schemas.openxmlformats.org/officeDocument/2006/relationships/image" Target="../media/image53.jpg"/><Relationship Id="rId6" Type="http://schemas.openxmlformats.org/officeDocument/2006/relationships/image" Target="../media/image73.jp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67.jpg"/><Relationship Id="rId4" Type="http://schemas.openxmlformats.org/officeDocument/2006/relationships/image" Target="../media/image66.jp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59.jp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60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70.jp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65.jp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68.jp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63.jp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64.jpg"/><Relationship Id="rId4" Type="http://schemas.openxmlformats.org/officeDocument/2006/relationships/image" Target="../media/image75.jpg"/><Relationship Id="rId5" Type="http://schemas.openxmlformats.org/officeDocument/2006/relationships/image" Target="../media/image76.jpg"/><Relationship Id="rId6" Type="http://schemas.openxmlformats.org/officeDocument/2006/relationships/image" Target="../media/image74.jpg"/><Relationship Id="rId7" Type="http://schemas.openxmlformats.org/officeDocument/2006/relationships/image" Target="../media/image78.jp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77.jp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3889420" y="1571223"/>
            <a:ext cx="4301543" cy="31547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900"/>
              <a:buFont typeface="Arial"/>
              <a:buNone/>
            </a:pPr>
            <a:r>
              <a:rPr b="1" i="0" lang="en-US" sz="19900" u="none" cap="none" strike="noStrike">
                <a:solidFill>
                  <a:srgbClr val="00B0F0"/>
                </a:solidFill>
                <a:latin typeface="Overlock"/>
                <a:ea typeface="Overlock"/>
                <a:cs typeface="Overlock"/>
                <a:sym typeface="Overlock"/>
              </a:rPr>
              <a:t>STP</a:t>
            </a:r>
            <a:endParaRPr b="1" i="0" sz="19900" u="none" cap="none" strike="noStrike">
              <a:solidFill>
                <a:srgbClr val="00B0F0"/>
              </a:solidFill>
              <a:latin typeface="Overlock"/>
              <a:ea typeface="Overlock"/>
              <a:cs typeface="Overlock"/>
              <a:sym typeface="Overlock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"/>
          <p:cNvSpPr txBox="1"/>
          <p:nvPr>
            <p:ph type="ctrTitle"/>
          </p:nvPr>
        </p:nvSpPr>
        <p:spPr>
          <a:xfrm>
            <a:off x="914400" y="1066801"/>
            <a:ext cx="10363200" cy="36575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Times New Roman"/>
              <a:buNone/>
            </a:pPr>
            <a:r>
              <a:rPr b="1" lang="en-US" sz="6000"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b="1" lang="en-US" sz="60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egmentation</a:t>
            </a:r>
            <a:br>
              <a:rPr b="1" lang="en-US" sz="60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6000"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b="1" lang="en-US" sz="60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argeting</a:t>
            </a:r>
            <a:br>
              <a:rPr b="1" lang="en-US" sz="60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60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-US" sz="6000"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b="1" lang="en-US" sz="60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ositioning</a:t>
            </a:r>
            <a:endParaRPr b="1" sz="600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"/>
          <p:cNvSpPr txBox="1"/>
          <p:nvPr>
            <p:ph type="title"/>
          </p:nvPr>
        </p:nvSpPr>
        <p:spPr>
          <a:xfrm>
            <a:off x="1506828" y="1725768"/>
            <a:ext cx="10075572" cy="27700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Dividing </a:t>
            </a:r>
            <a:r>
              <a:rPr b="1" lang="en-US" sz="80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Hetero</a:t>
            </a:r>
            <a:r>
              <a:rPr lang="en-US" sz="67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geneous</a:t>
            </a:r>
            <a:r>
              <a:rPr lang="en-US" sz="67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market into </a:t>
            </a:r>
            <a:r>
              <a:rPr b="1" lang="en-US" sz="73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homo</a:t>
            </a:r>
            <a:r>
              <a:rPr lang="en-US" sz="66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genous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market </a:t>
            </a:r>
            <a:b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</a:b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17_06_2015_303_005_013" id="99" name="Google Shape;9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56466" y="1917077"/>
            <a:ext cx="7256611" cy="3097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4"/>
          <p:cNvSpPr/>
          <p:nvPr/>
        </p:nvSpPr>
        <p:spPr>
          <a:xfrm>
            <a:off x="1396699" y="397786"/>
            <a:ext cx="971637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Segment: </a:t>
            </a:r>
            <a:r>
              <a:rPr b="1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group of customer having similar needs and wants</a:t>
            </a:r>
            <a:endParaRPr b="1" i="0" sz="28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4"/>
          <p:cNvSpPr txBox="1"/>
          <p:nvPr/>
        </p:nvSpPr>
        <p:spPr>
          <a:xfrm>
            <a:off x="728571" y="1574734"/>
            <a:ext cx="3998551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Times New Roman"/>
              <a:buNone/>
            </a:pPr>
            <a:r>
              <a:rPr b="1" i="0" lang="en-US" sz="28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Nano</a:t>
            </a:r>
            <a:br>
              <a:rPr b="1" i="0" lang="en-US" sz="28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i="0" lang="en-US" sz="28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Hatchback/Budget</a:t>
            </a:r>
            <a:br>
              <a:rPr b="1" i="0" lang="en-US" sz="28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i="0" lang="en-US" sz="28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Cross </a:t>
            </a:r>
            <a:br>
              <a:rPr b="1" i="0" lang="en-US" sz="28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i="0" lang="en-US" sz="28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Sedan</a:t>
            </a:r>
            <a:br>
              <a:rPr b="1" i="0" lang="en-US" sz="28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i="0" lang="en-US" sz="28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SUV</a:t>
            </a:r>
            <a:br>
              <a:rPr b="1" i="0" lang="en-US" sz="28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i="0" lang="en-US" sz="28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Traveller</a:t>
            </a:r>
            <a:br>
              <a:rPr b="1" i="0" lang="en-US" sz="28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i="0" lang="en-US" sz="28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Sprinter Van</a:t>
            </a:r>
            <a:br>
              <a:rPr b="1" i="0" lang="en-US" sz="28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i="0" lang="en-US" sz="28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Bus</a:t>
            </a:r>
            <a:br>
              <a:rPr b="1" i="0" lang="en-US" sz="28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i="0" lang="en-US" sz="28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Luxury </a:t>
            </a:r>
            <a:r>
              <a:rPr b="1" i="0" lang="en-US" sz="24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car</a:t>
            </a:r>
            <a:endParaRPr b="1" i="0" sz="2800" u="none" cap="none" strike="noStrik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5"/>
          <p:cNvSpPr txBox="1"/>
          <p:nvPr>
            <p:ph type="title"/>
          </p:nvPr>
        </p:nvSpPr>
        <p:spPr>
          <a:xfrm>
            <a:off x="907308" y="2854084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Times New Roman"/>
              <a:buNone/>
            </a:pPr>
            <a:r>
              <a:rPr b="1" lang="en-US" sz="3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Company Cant serve all the customers- </a:t>
            </a:r>
            <a:r>
              <a:rPr b="1" lang="en-US" sz="3200">
                <a:latin typeface="Times New Roman"/>
                <a:ea typeface="Times New Roman"/>
                <a:cs typeface="Times New Roman"/>
                <a:sym typeface="Times New Roman"/>
              </a:rPr>
              <a:t>Resources</a:t>
            </a:r>
            <a:r>
              <a:rPr b="1" lang="en-US" sz="3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br>
              <a:rPr b="1" lang="en-US" sz="36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b="1" lang="en-US" sz="36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36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Customer </a:t>
            </a:r>
            <a:r>
              <a:rPr b="1" lang="en-US" sz="3600">
                <a:latin typeface="Times New Roman"/>
                <a:ea typeface="Times New Roman"/>
                <a:cs typeface="Times New Roman"/>
                <a:sym typeface="Times New Roman"/>
              </a:rPr>
              <a:t>Diverse </a:t>
            </a:r>
            <a:r>
              <a:rPr b="1" lang="en-US" sz="36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needs</a:t>
            </a:r>
            <a:br>
              <a:rPr b="1" lang="en-US" sz="36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b="1" lang="en-US" sz="36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36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 look for </a:t>
            </a:r>
            <a:r>
              <a:rPr b="1" lang="en-US" sz="3600">
                <a:latin typeface="Times New Roman"/>
                <a:ea typeface="Times New Roman"/>
                <a:cs typeface="Times New Roman"/>
                <a:sym typeface="Times New Roman"/>
              </a:rPr>
              <a:t>specific segment </a:t>
            </a:r>
            <a:r>
              <a:rPr b="1" lang="en-US" sz="36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 serve effectively</a:t>
            </a:r>
            <a:br>
              <a:rPr b="1" lang="en-US" sz="36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b="1" lang="en-US" sz="36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3600">
                <a:latin typeface="Times New Roman"/>
                <a:ea typeface="Times New Roman"/>
                <a:cs typeface="Times New Roman"/>
                <a:sym typeface="Times New Roman"/>
              </a:rPr>
              <a:t>SHOTGUN-</a:t>
            </a:r>
            <a:r>
              <a:rPr b="1" lang="en-US" sz="36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Rifle</a:t>
            </a:r>
            <a:br>
              <a:rPr b="1" lang="en-US" sz="36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b="1" lang="en-US" sz="36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b="1" sz="540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6"/>
          <p:cNvSpPr txBox="1"/>
          <p:nvPr>
            <p:ph type="title"/>
          </p:nvPr>
        </p:nvSpPr>
        <p:spPr>
          <a:xfrm>
            <a:off x="783772" y="751115"/>
            <a:ext cx="11144250" cy="5698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b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Mass market Mass Potential</a:t>
            </a:r>
            <a:b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One size fits all approach</a:t>
            </a:r>
            <a:b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24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Thali </a:t>
            </a: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– Multicusine</a:t>
            </a:r>
            <a:b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Focus or Scattered</a:t>
            </a:r>
            <a:b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Complexities</a:t>
            </a:r>
            <a:br>
              <a:rPr b="1" lang="en-US" sz="2800"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b="1" lang="en-US" sz="28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2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Mass-----------</a:t>
            </a:r>
            <a:r>
              <a:rPr b="1" lang="en-US" sz="2800">
                <a:latin typeface="Times New Roman"/>
                <a:ea typeface="Times New Roman"/>
                <a:cs typeface="Times New Roman"/>
                <a:sym typeface="Times New Roman"/>
              </a:rPr>
              <a:t>-Segment------------</a:t>
            </a:r>
            <a:r>
              <a:rPr b="1" lang="en-US" sz="2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Individual</a:t>
            </a:r>
            <a:br>
              <a:rPr b="1" lang="en-US" sz="2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2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28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-US" sz="4800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LEGO </a:t>
            </a:r>
            <a:br>
              <a:rPr lang="en-US" sz="2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24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Mass customization 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is the ability to prepare individually designed products and communications on a mass basis to meet each  customer’s requirements. </a:t>
            </a:r>
            <a:br>
              <a:rPr b="1" lang="en-US" sz="2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b="1" lang="en-US" sz="24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24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Mattel’s Barbie.com 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site invites girls to log on and design their own Barbie doll by specifying skin tone, eye color, hair color, clothes, accessories, and name.</a:t>
            </a:r>
            <a:br>
              <a:rPr lang="en-US" sz="3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b="1" sz="320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olls-Royce | Black Badge Ghost Ékleipsis Private Collection - YouTube" id="116" name="Google Shape;11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89391" y="1504864"/>
            <a:ext cx="6096000" cy="457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3201" y="381000"/>
            <a:ext cx="11336647" cy="6019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13519" y="721840"/>
            <a:ext cx="4104982" cy="2080784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9"/>
          <p:cNvSpPr txBox="1"/>
          <p:nvPr/>
        </p:nvSpPr>
        <p:spPr>
          <a:xfrm>
            <a:off x="2864092" y="3078890"/>
            <a:ext cx="6807200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Taj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8" name="Google Shape;128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45509" y="721840"/>
            <a:ext cx="4149438" cy="1969362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9"/>
          <p:cNvSpPr/>
          <p:nvPr/>
        </p:nvSpPr>
        <p:spPr>
          <a:xfrm>
            <a:off x="974758" y="4042989"/>
            <a:ext cx="10965176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Taj’s brand architecture - a sun-and-planets model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At the center, the </a:t>
            </a:r>
            <a:r>
              <a:rPr b="1" i="0" lang="en-US" sz="4000" u="none" cap="none" strike="noStrike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“sun”  </a:t>
            </a:r>
            <a:r>
              <a:rPr b="0" i="0" lang="en-US" sz="28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Taj, a top-tier luxury brand.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0375" y="811369"/>
            <a:ext cx="5098675" cy="22817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58653" y="811369"/>
            <a:ext cx="4675233" cy="2328485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0"/>
          <p:cNvSpPr/>
          <p:nvPr/>
        </p:nvSpPr>
        <p:spPr>
          <a:xfrm>
            <a:off x="752699" y="3527461"/>
            <a:ext cx="10716039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Vivanta by Taj for the </a:t>
            </a:r>
            <a:r>
              <a:rPr b="0" i="0" lang="en-US" sz="24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upper upscale guest -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one a full-service, </a:t>
            </a:r>
            <a:r>
              <a:rPr b="0" i="0" lang="en-US" sz="24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Taj-endorsed brand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Vivanta by Taj was designed to capture an emerging </a:t>
            </a:r>
            <a:r>
              <a:rPr b="0" i="0" lang="en-US" sz="24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high-end segment.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</a:t>
            </a:r>
            <a:r>
              <a:rPr b="0" i="0" lang="en-US" sz="24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younger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more cosmopolitan group of travelers wanted something new, contemporary, and </a:t>
            </a:r>
            <a:r>
              <a:rPr b="0" i="0" lang="en-US" sz="24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technologically savvy.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41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99537" y="1362777"/>
            <a:ext cx="4994264" cy="24983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1977" y="556181"/>
            <a:ext cx="5834358" cy="2875871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1"/>
          <p:cNvSpPr/>
          <p:nvPr/>
        </p:nvSpPr>
        <p:spPr>
          <a:xfrm>
            <a:off x="661977" y="3687901"/>
            <a:ext cx="11031824" cy="30469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other a </a:t>
            </a:r>
            <a:r>
              <a:rPr b="1" i="0" lang="en-US" sz="20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mid</a:t>
            </a:r>
            <a:r>
              <a:rPr b="0" i="0" lang="en-US" sz="20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-market </a:t>
            </a:r>
            <a:r>
              <a:rPr b="1" i="0" lang="en-US" sz="20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business</a:t>
            </a:r>
            <a:r>
              <a:rPr b="0" i="0" lang="en-US" sz="20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i="0" lang="en-US" sz="20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travel </a:t>
            </a:r>
            <a:r>
              <a:rPr b="0" i="0" lang="en-US" sz="20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brand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(The Gateway Hotel).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India’s booming market had given rise to a</a:t>
            </a:r>
            <a:r>
              <a:rPr b="0" i="0" lang="en-US" sz="20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large number of domestic business travelers.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Taj Group created the Gateway Hotel, a</a:t>
            </a: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32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three-star</a:t>
            </a:r>
            <a: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national brand, to cater to this segment and fill the gap in its portfolio.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Although it falls under the corporate umbrella, </a:t>
            </a:r>
            <a:r>
              <a:rPr b="0" i="0" lang="en-US" sz="20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Gateway is not endorsed by Taj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keeping its identity separate from the Taj’s luxury positioning.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94064" y="771503"/>
            <a:ext cx="4237568" cy="192272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21810" y="810999"/>
            <a:ext cx="4380291" cy="1883226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2"/>
          <p:cNvSpPr/>
          <p:nvPr/>
        </p:nvSpPr>
        <p:spPr>
          <a:xfrm>
            <a:off x="1033171" y="3511004"/>
            <a:ext cx="10200067" cy="24929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Ginger, a </a:t>
            </a:r>
            <a:r>
              <a:rPr b="0" i="0" lang="en-US" sz="36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two-star</a:t>
            </a:r>
            <a:r>
              <a:rPr b="0" i="0" lang="en-US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economy 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brand, </a:t>
            </a:r>
            <a:r>
              <a:rPr b="0" i="0" lang="en-US" sz="20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focuses on secondary and tertiary cities in India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where the </a:t>
            </a:r>
            <a:r>
              <a:rPr b="0" i="0" lang="en-US" sz="20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hospitality sector - disorganized 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 unpredictable.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</a:t>
            </a:r>
            <a:r>
              <a:rPr b="0" i="0" lang="en-US" sz="20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avoid having Taj 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associated with a budget chain, Ginger functions as a </a:t>
            </a:r>
            <a:r>
              <a:rPr b="0" i="0" lang="en-US" sz="20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separate</a:t>
            </a: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subsidiary outside the purview of the Taj Group.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Its name and visual identity evoke a </a:t>
            </a:r>
            <a:r>
              <a:rPr b="0" i="0" lang="en-US" sz="20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simple, practical hotel experience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" name="Google Shape;151;p12"/>
          <p:cNvSpPr txBox="1"/>
          <p:nvPr>
            <p:ph type="title"/>
          </p:nvPr>
        </p:nvSpPr>
        <p:spPr>
          <a:xfrm>
            <a:off x="1033171" y="26686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b="1" lang="en-US" sz="2800">
                <a:latin typeface="Times New Roman"/>
                <a:ea typeface="Times New Roman"/>
                <a:cs typeface="Times New Roman"/>
                <a:sym typeface="Times New Roman"/>
              </a:rPr>
              <a:t>Ginger for the </a:t>
            </a:r>
            <a:r>
              <a:rPr b="1" lang="en-US" sz="2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budget traveler</a:t>
            </a:r>
            <a:br>
              <a:rPr b="1" lang="en-US" sz="28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3"/>
          <p:cNvSpPr txBox="1"/>
          <p:nvPr>
            <p:ph idx="1" type="body"/>
          </p:nvPr>
        </p:nvSpPr>
        <p:spPr>
          <a:xfrm>
            <a:off x="1167492" y="588136"/>
            <a:ext cx="10352315" cy="55626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Taj’s brand architecture - a </a:t>
            </a:r>
            <a:r>
              <a:rPr lang="en-US" sz="40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sun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-and-planets model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At the center, the “sun”  </a:t>
            </a:r>
            <a:r>
              <a:rPr lang="en-US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Taj, a top-tier luxury brand.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A full-service, </a:t>
            </a:r>
            <a:r>
              <a:rPr lang="en-US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Taj-endorsed upscale brand (Vivanta by Taj) </a:t>
            </a:r>
            <a:endParaRPr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The other a </a:t>
            </a:r>
            <a:r>
              <a:rPr lang="en-US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mid-market business travel brand (The Gateway Hotel).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A third </a:t>
            </a:r>
            <a:r>
              <a:rPr lang="en-US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new brand, Ginger, would offer two-star economy stays as a separate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subsidiary not connected with the Taj name.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ownload (15)" id="161" name="Google Shape;16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0472" y="4137391"/>
            <a:ext cx="3111247" cy="11128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34358" y="2424680"/>
            <a:ext cx="1382183" cy="13477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08896" y="1876199"/>
            <a:ext cx="3454400" cy="10969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86704" y="429166"/>
            <a:ext cx="2137833" cy="121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615782" y="5312753"/>
            <a:ext cx="2341033" cy="1304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725449" y="3805604"/>
            <a:ext cx="1153583" cy="1444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026401" y="1815861"/>
            <a:ext cx="3560233" cy="14938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412479" y="529973"/>
            <a:ext cx="1674284" cy="10175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607508" y="724442"/>
            <a:ext cx="1121833" cy="628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4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0264686" y="5532516"/>
            <a:ext cx="1651000" cy="98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4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3876133" y="3208271"/>
            <a:ext cx="1820333" cy="1279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14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7116233" y="5361066"/>
            <a:ext cx="2438400" cy="1158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14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9763337" y="3772467"/>
            <a:ext cx="1894417" cy="1060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14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320546" y="3030536"/>
            <a:ext cx="2470151" cy="98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14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10049087" y="529973"/>
            <a:ext cx="1608667" cy="7921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14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3720860" y="1994788"/>
            <a:ext cx="2130878" cy="9783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14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6759956" y="919582"/>
            <a:ext cx="2137833" cy="1060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14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399888" y="5427599"/>
            <a:ext cx="1596344" cy="119725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14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7973565" y="3494453"/>
            <a:ext cx="1755776" cy="1755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14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2975977" y="646385"/>
            <a:ext cx="1926167" cy="1079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" name="Google Shape;18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84133" y="2655674"/>
            <a:ext cx="4267200" cy="1298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5"/>
          <p:cNvPicPr preferRelativeResize="0"/>
          <p:nvPr/>
        </p:nvPicPr>
        <p:blipFill rotWithShape="1">
          <a:blip r:embed="rId4">
            <a:alphaModFix/>
          </a:blip>
          <a:srcRect b="6310" l="0" r="0" t="0"/>
          <a:stretch/>
        </p:blipFill>
        <p:spPr>
          <a:xfrm>
            <a:off x="1641341" y="4411912"/>
            <a:ext cx="3894667" cy="184427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84121" y="4418417"/>
            <a:ext cx="4386803" cy="18377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017025" y="747481"/>
            <a:ext cx="1390649" cy="16335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777522" y="2655674"/>
            <a:ext cx="2122937" cy="15922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246149" y="1058186"/>
            <a:ext cx="2032000" cy="1139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643986" y="1058186"/>
            <a:ext cx="2245626" cy="29000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14451" y="442265"/>
            <a:ext cx="9560379" cy="61402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7"/>
          <p:cNvSpPr txBox="1"/>
          <p:nvPr>
            <p:ph type="title"/>
          </p:nvPr>
        </p:nvSpPr>
        <p:spPr>
          <a:xfrm>
            <a:off x="587829" y="768463"/>
            <a:ext cx="11487149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Times New Roman"/>
              <a:buNone/>
            </a:pPr>
            <a:r>
              <a:rPr lang="en-US" sz="20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Patterns</a:t>
            </a: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-US" sz="2000">
                <a:latin typeface="Times New Roman"/>
                <a:ea typeface="Times New Roman"/>
                <a:cs typeface="Times New Roman"/>
                <a:sym typeface="Times New Roman"/>
              </a:rPr>
              <a:t>Market Segmentation-</a:t>
            </a: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 Market segments can be built up in many ways- </a:t>
            </a: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One common method is to </a:t>
            </a:r>
            <a:r>
              <a:rPr lang="en-US" sz="20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identify preference segments</a:t>
            </a: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b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Suppose ice cream buyers are asked </a:t>
            </a:r>
            <a:r>
              <a:rPr lang="en-US" sz="20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how much they value sweetness and creaminess as two product attributes</a:t>
            </a:r>
            <a:br>
              <a:rPr b="1" lang="en-US" sz="2000"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                          </a:t>
            </a:r>
            <a:r>
              <a:rPr b="1" lang="en-US" sz="1800">
                <a:latin typeface="Times New Roman"/>
                <a:ea typeface="Times New Roman"/>
                <a:cs typeface="Times New Roman"/>
                <a:sym typeface="Times New Roman"/>
              </a:rPr>
              <a:t>Homogenous</a:t>
            </a: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       </a:t>
            </a:r>
            <a:r>
              <a:rPr lang="en-US" sz="20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Diffused</a:t>
            </a: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           Clustered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202" name="Google Shape;202;p17"/>
          <p:cNvGrpSpPr/>
          <p:nvPr/>
        </p:nvGrpSpPr>
        <p:grpSpPr>
          <a:xfrm>
            <a:off x="8998377" y="2191053"/>
            <a:ext cx="2336800" cy="1371600"/>
            <a:chOff x="8940800" y="3581400"/>
            <a:chExt cx="2336800" cy="1371600"/>
          </a:xfrm>
        </p:grpSpPr>
        <p:sp>
          <p:nvSpPr>
            <p:cNvPr id="203" name="Google Shape;203;p17"/>
            <p:cNvSpPr/>
            <p:nvPr/>
          </p:nvSpPr>
          <p:spPr>
            <a:xfrm>
              <a:off x="10566400" y="4648200"/>
              <a:ext cx="406400" cy="228600"/>
            </a:xfrm>
            <a:prstGeom prst="star5">
              <a:avLst>
                <a:gd fmla="val 19098" name="adj"/>
                <a:gd fmla="val 105146" name="hf"/>
                <a:gd fmla="val 110557" name="vf"/>
              </a:avLst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4" name="Google Shape;204;p17"/>
            <p:cNvSpPr/>
            <p:nvPr/>
          </p:nvSpPr>
          <p:spPr>
            <a:xfrm>
              <a:off x="10464800" y="4495800"/>
              <a:ext cx="406400" cy="228600"/>
            </a:xfrm>
            <a:prstGeom prst="star5">
              <a:avLst>
                <a:gd fmla="val 19098" name="adj"/>
                <a:gd fmla="val 105146" name="hf"/>
                <a:gd fmla="val 110557" name="vf"/>
              </a:avLst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5" name="Google Shape;205;p17"/>
            <p:cNvSpPr/>
            <p:nvPr/>
          </p:nvSpPr>
          <p:spPr>
            <a:xfrm>
              <a:off x="10871200" y="4419600"/>
              <a:ext cx="406400" cy="228600"/>
            </a:xfrm>
            <a:prstGeom prst="star5">
              <a:avLst>
                <a:gd fmla="val 19098" name="adj"/>
                <a:gd fmla="val 105146" name="hf"/>
                <a:gd fmla="val 110557" name="vf"/>
              </a:avLst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6" name="Google Shape;206;p17"/>
            <p:cNvSpPr/>
            <p:nvPr/>
          </p:nvSpPr>
          <p:spPr>
            <a:xfrm>
              <a:off x="10871200" y="4724400"/>
              <a:ext cx="406400" cy="228600"/>
            </a:xfrm>
            <a:prstGeom prst="star5">
              <a:avLst>
                <a:gd fmla="val 19098" name="adj"/>
                <a:gd fmla="val 105146" name="hf"/>
                <a:gd fmla="val 110557" name="vf"/>
              </a:avLst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07" name="Google Shape;207;p17"/>
            <p:cNvGrpSpPr/>
            <p:nvPr/>
          </p:nvGrpSpPr>
          <p:grpSpPr>
            <a:xfrm>
              <a:off x="8940800" y="3581400"/>
              <a:ext cx="2336800" cy="1295400"/>
              <a:chOff x="8940800" y="3581400"/>
              <a:chExt cx="2336800" cy="1295400"/>
            </a:xfrm>
          </p:grpSpPr>
          <p:sp>
            <p:nvSpPr>
              <p:cNvPr id="208" name="Google Shape;208;p17"/>
              <p:cNvSpPr/>
              <p:nvPr/>
            </p:nvSpPr>
            <p:spPr>
              <a:xfrm>
                <a:off x="10566400" y="3962400"/>
                <a:ext cx="406400" cy="228600"/>
              </a:xfrm>
              <a:prstGeom prst="star5">
                <a:avLst>
                  <a:gd fmla="val 19098" name="adj"/>
                  <a:gd fmla="val 105146" name="hf"/>
                  <a:gd fmla="val 110557" name="vf"/>
                </a:avLst>
              </a:prstGeom>
              <a:solidFill>
                <a:schemeClr val="accent1"/>
              </a:solidFill>
              <a:ln cap="flat" cmpd="sng" w="12700">
                <a:solidFill>
                  <a:srgbClr val="42719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9" name="Google Shape;209;p17"/>
              <p:cNvSpPr/>
              <p:nvPr/>
            </p:nvSpPr>
            <p:spPr>
              <a:xfrm>
                <a:off x="10566400" y="3657600"/>
                <a:ext cx="406400" cy="228600"/>
              </a:xfrm>
              <a:prstGeom prst="star5">
                <a:avLst>
                  <a:gd fmla="val 19098" name="adj"/>
                  <a:gd fmla="val 105146" name="hf"/>
                  <a:gd fmla="val 110557" name="vf"/>
                </a:avLst>
              </a:prstGeom>
              <a:solidFill>
                <a:schemeClr val="accent1"/>
              </a:solidFill>
              <a:ln cap="flat" cmpd="sng" w="12700">
                <a:solidFill>
                  <a:srgbClr val="42719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10" name="Google Shape;210;p17"/>
              <p:cNvGrpSpPr/>
              <p:nvPr/>
            </p:nvGrpSpPr>
            <p:grpSpPr>
              <a:xfrm>
                <a:off x="8940800" y="3581400"/>
                <a:ext cx="1016000" cy="1295400"/>
                <a:chOff x="8940800" y="3581400"/>
                <a:chExt cx="1016000" cy="1295400"/>
              </a:xfrm>
            </p:grpSpPr>
            <p:sp>
              <p:nvSpPr>
                <p:cNvPr id="211" name="Google Shape;211;p17"/>
                <p:cNvSpPr/>
                <p:nvPr/>
              </p:nvSpPr>
              <p:spPr>
                <a:xfrm>
                  <a:off x="9550400" y="4648200"/>
                  <a:ext cx="406400" cy="228600"/>
                </a:xfrm>
                <a:prstGeom prst="star5">
                  <a:avLst>
                    <a:gd fmla="val 19098" name="adj"/>
                    <a:gd fmla="val 105146" name="hf"/>
                    <a:gd fmla="val 110557" name="vf"/>
                  </a:avLst>
                </a:prstGeom>
                <a:solidFill>
                  <a:schemeClr val="accent1"/>
                </a:solidFill>
                <a:ln cap="flat" cmpd="sng" w="12700">
                  <a:solidFill>
                    <a:srgbClr val="42719B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2" name="Google Shape;212;p17"/>
                <p:cNvSpPr/>
                <p:nvPr/>
              </p:nvSpPr>
              <p:spPr>
                <a:xfrm>
                  <a:off x="9245600" y="4419600"/>
                  <a:ext cx="406400" cy="228600"/>
                </a:xfrm>
                <a:prstGeom prst="star5">
                  <a:avLst>
                    <a:gd fmla="val 19098" name="adj"/>
                    <a:gd fmla="val 105146" name="hf"/>
                    <a:gd fmla="val 110557" name="vf"/>
                  </a:avLst>
                </a:prstGeom>
                <a:solidFill>
                  <a:schemeClr val="accent1"/>
                </a:solidFill>
                <a:ln cap="flat" cmpd="sng" w="12700">
                  <a:solidFill>
                    <a:srgbClr val="42719B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3" name="Google Shape;213;p17"/>
                <p:cNvSpPr/>
                <p:nvPr/>
              </p:nvSpPr>
              <p:spPr>
                <a:xfrm>
                  <a:off x="8940800" y="4495800"/>
                  <a:ext cx="406400" cy="228600"/>
                </a:xfrm>
                <a:prstGeom prst="star5">
                  <a:avLst>
                    <a:gd fmla="val 19098" name="adj"/>
                    <a:gd fmla="val 105146" name="hf"/>
                    <a:gd fmla="val 110557" name="vf"/>
                  </a:avLst>
                </a:prstGeom>
                <a:solidFill>
                  <a:schemeClr val="accent1"/>
                </a:solidFill>
                <a:ln cap="flat" cmpd="sng" w="12700">
                  <a:solidFill>
                    <a:srgbClr val="42719B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214" name="Google Shape;214;p17"/>
                <p:cNvGrpSpPr/>
                <p:nvPr/>
              </p:nvGrpSpPr>
              <p:grpSpPr>
                <a:xfrm>
                  <a:off x="9042400" y="3581400"/>
                  <a:ext cx="812800" cy="609600"/>
                  <a:chOff x="9042400" y="3581400"/>
                  <a:chExt cx="812800" cy="609600"/>
                </a:xfrm>
              </p:grpSpPr>
              <p:sp>
                <p:nvSpPr>
                  <p:cNvPr id="215" name="Google Shape;215;p17"/>
                  <p:cNvSpPr/>
                  <p:nvPr/>
                </p:nvSpPr>
                <p:spPr>
                  <a:xfrm>
                    <a:off x="9042400" y="3962400"/>
                    <a:ext cx="406400" cy="228600"/>
                  </a:xfrm>
                  <a:prstGeom prst="star5">
                    <a:avLst>
                      <a:gd fmla="val 19098" name="adj"/>
                      <a:gd fmla="val 105146" name="hf"/>
                      <a:gd fmla="val 110557" name="vf"/>
                    </a:avLst>
                  </a:prstGeom>
                  <a:solidFill>
                    <a:schemeClr val="accent1"/>
                  </a:solidFill>
                  <a:ln cap="flat" cmpd="sng" w="12700">
                    <a:solidFill>
                      <a:srgbClr val="42719B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16" name="Google Shape;216;p17"/>
                  <p:cNvSpPr/>
                  <p:nvPr/>
                </p:nvSpPr>
                <p:spPr>
                  <a:xfrm>
                    <a:off x="9448800" y="3581400"/>
                    <a:ext cx="406400" cy="228600"/>
                  </a:xfrm>
                  <a:prstGeom prst="star5">
                    <a:avLst>
                      <a:gd fmla="val 19098" name="adj"/>
                      <a:gd fmla="val 105146" name="hf"/>
                      <a:gd fmla="val 110557" name="vf"/>
                    </a:avLst>
                  </a:prstGeom>
                  <a:solidFill>
                    <a:schemeClr val="accent1"/>
                  </a:solidFill>
                  <a:ln cap="flat" cmpd="sng" w="12700">
                    <a:solidFill>
                      <a:srgbClr val="42719B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17" name="Google Shape;217;p17"/>
                  <p:cNvSpPr/>
                  <p:nvPr/>
                </p:nvSpPr>
                <p:spPr>
                  <a:xfrm>
                    <a:off x="9347200" y="3810000"/>
                    <a:ext cx="406400" cy="228600"/>
                  </a:xfrm>
                  <a:prstGeom prst="star5">
                    <a:avLst>
                      <a:gd fmla="val 19098" name="adj"/>
                      <a:gd fmla="val 105146" name="hf"/>
                      <a:gd fmla="val 110557" name="vf"/>
                    </a:avLst>
                  </a:prstGeom>
                  <a:solidFill>
                    <a:schemeClr val="accent1"/>
                  </a:solidFill>
                  <a:ln cap="flat" cmpd="sng" w="12700">
                    <a:solidFill>
                      <a:srgbClr val="42719B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18" name="Google Shape;218;p17"/>
                  <p:cNvSpPr/>
                  <p:nvPr/>
                </p:nvSpPr>
                <p:spPr>
                  <a:xfrm>
                    <a:off x="9042400" y="3657600"/>
                    <a:ext cx="406400" cy="228600"/>
                  </a:xfrm>
                  <a:prstGeom prst="star5">
                    <a:avLst>
                      <a:gd fmla="val 19098" name="adj"/>
                      <a:gd fmla="val 105146" name="hf"/>
                      <a:gd fmla="val 110557" name="vf"/>
                    </a:avLst>
                  </a:prstGeom>
                  <a:solidFill>
                    <a:schemeClr val="accent1"/>
                  </a:solidFill>
                  <a:ln cap="flat" cmpd="sng" w="12700">
                    <a:solidFill>
                      <a:srgbClr val="42719B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219" name="Google Shape;219;p17"/>
                <p:cNvSpPr/>
                <p:nvPr/>
              </p:nvSpPr>
              <p:spPr>
                <a:xfrm>
                  <a:off x="9144000" y="4648200"/>
                  <a:ext cx="406400" cy="228600"/>
                </a:xfrm>
                <a:prstGeom prst="star5">
                  <a:avLst>
                    <a:gd fmla="val 19098" name="adj"/>
                    <a:gd fmla="val 105146" name="hf"/>
                    <a:gd fmla="val 110557" name="vf"/>
                  </a:avLst>
                </a:prstGeom>
                <a:solidFill>
                  <a:schemeClr val="accent1"/>
                </a:solidFill>
                <a:ln cap="flat" cmpd="sng" w="12700">
                  <a:solidFill>
                    <a:srgbClr val="42719B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220" name="Google Shape;220;p17"/>
              <p:cNvSpPr/>
              <p:nvPr/>
            </p:nvSpPr>
            <p:spPr>
              <a:xfrm>
                <a:off x="10363200" y="3810000"/>
                <a:ext cx="406400" cy="228600"/>
              </a:xfrm>
              <a:prstGeom prst="star5">
                <a:avLst>
                  <a:gd fmla="val 19098" name="adj"/>
                  <a:gd fmla="val 105146" name="hf"/>
                  <a:gd fmla="val 110557" name="vf"/>
                </a:avLst>
              </a:prstGeom>
              <a:solidFill>
                <a:schemeClr val="accent1"/>
              </a:solidFill>
              <a:ln cap="flat" cmpd="sng" w="12700">
                <a:solidFill>
                  <a:srgbClr val="42719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1" name="Google Shape;221;p17"/>
              <p:cNvSpPr/>
              <p:nvPr/>
            </p:nvSpPr>
            <p:spPr>
              <a:xfrm>
                <a:off x="10871200" y="3810000"/>
                <a:ext cx="406400" cy="228600"/>
              </a:xfrm>
              <a:prstGeom prst="star5">
                <a:avLst>
                  <a:gd fmla="val 19098" name="adj"/>
                  <a:gd fmla="val 105146" name="hf"/>
                  <a:gd fmla="val 110557" name="vf"/>
                </a:avLst>
              </a:prstGeom>
              <a:solidFill>
                <a:schemeClr val="accent1"/>
              </a:solidFill>
              <a:ln cap="flat" cmpd="sng" w="12700">
                <a:solidFill>
                  <a:srgbClr val="42719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22" name="Google Shape;222;p17"/>
          <p:cNvSpPr/>
          <p:nvPr/>
        </p:nvSpPr>
        <p:spPr>
          <a:xfrm>
            <a:off x="2844800" y="3023507"/>
            <a:ext cx="406400" cy="228600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12700">
            <a:solidFill>
              <a:srgbClr val="42719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23" name="Google Shape;223;p17"/>
          <p:cNvGrpSpPr/>
          <p:nvPr/>
        </p:nvGrpSpPr>
        <p:grpSpPr>
          <a:xfrm>
            <a:off x="2733093" y="2295073"/>
            <a:ext cx="4775200" cy="1066800"/>
            <a:chOff x="2641600" y="3657600"/>
            <a:chExt cx="4775200" cy="1066800"/>
          </a:xfrm>
        </p:grpSpPr>
        <p:sp>
          <p:nvSpPr>
            <p:cNvPr id="224" name="Google Shape;224;p17"/>
            <p:cNvSpPr/>
            <p:nvPr/>
          </p:nvSpPr>
          <p:spPr>
            <a:xfrm>
              <a:off x="7010400" y="4495800"/>
              <a:ext cx="406400" cy="228600"/>
            </a:xfrm>
            <a:prstGeom prst="star5">
              <a:avLst>
                <a:gd fmla="val 19098" name="adj"/>
                <a:gd fmla="val 105146" name="hf"/>
                <a:gd fmla="val 110557" name="vf"/>
              </a:avLst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5" name="Google Shape;225;p17"/>
            <p:cNvSpPr/>
            <p:nvPr/>
          </p:nvSpPr>
          <p:spPr>
            <a:xfrm>
              <a:off x="6299200" y="4495800"/>
              <a:ext cx="406400" cy="228600"/>
            </a:xfrm>
            <a:prstGeom prst="star5">
              <a:avLst>
                <a:gd fmla="val 19098" name="adj"/>
                <a:gd fmla="val 105146" name="hf"/>
                <a:gd fmla="val 110557" name="vf"/>
              </a:avLst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6" name="Google Shape;226;p17"/>
            <p:cNvSpPr/>
            <p:nvPr/>
          </p:nvSpPr>
          <p:spPr>
            <a:xfrm>
              <a:off x="5588000" y="4495800"/>
              <a:ext cx="406400" cy="228600"/>
            </a:xfrm>
            <a:prstGeom prst="star5">
              <a:avLst>
                <a:gd fmla="val 19098" name="adj"/>
                <a:gd fmla="val 105146" name="hf"/>
                <a:gd fmla="val 110557" name="vf"/>
              </a:avLst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7" name="Google Shape;227;p17"/>
            <p:cNvSpPr/>
            <p:nvPr/>
          </p:nvSpPr>
          <p:spPr>
            <a:xfrm>
              <a:off x="7010400" y="4038600"/>
              <a:ext cx="406400" cy="228600"/>
            </a:xfrm>
            <a:prstGeom prst="star5">
              <a:avLst>
                <a:gd fmla="val 19098" name="adj"/>
                <a:gd fmla="val 105146" name="hf"/>
                <a:gd fmla="val 110557" name="vf"/>
              </a:avLst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8" name="Google Shape;228;p17"/>
            <p:cNvSpPr/>
            <p:nvPr/>
          </p:nvSpPr>
          <p:spPr>
            <a:xfrm>
              <a:off x="6400800" y="4114800"/>
              <a:ext cx="406400" cy="228600"/>
            </a:xfrm>
            <a:prstGeom prst="star5">
              <a:avLst>
                <a:gd fmla="val 19098" name="adj"/>
                <a:gd fmla="val 105146" name="hf"/>
                <a:gd fmla="val 110557" name="vf"/>
              </a:avLst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9" name="Google Shape;229;p17"/>
            <p:cNvSpPr/>
            <p:nvPr/>
          </p:nvSpPr>
          <p:spPr>
            <a:xfrm>
              <a:off x="5588000" y="4038600"/>
              <a:ext cx="406400" cy="228600"/>
            </a:xfrm>
            <a:prstGeom prst="star5">
              <a:avLst>
                <a:gd fmla="val 19098" name="adj"/>
                <a:gd fmla="val 105146" name="hf"/>
                <a:gd fmla="val 110557" name="vf"/>
              </a:avLst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0" name="Google Shape;230;p17"/>
            <p:cNvSpPr/>
            <p:nvPr/>
          </p:nvSpPr>
          <p:spPr>
            <a:xfrm>
              <a:off x="6908800" y="3657600"/>
              <a:ext cx="406400" cy="228600"/>
            </a:xfrm>
            <a:prstGeom prst="star5">
              <a:avLst>
                <a:gd fmla="val 19098" name="adj"/>
                <a:gd fmla="val 105146" name="hf"/>
                <a:gd fmla="val 110557" name="vf"/>
              </a:avLst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1" name="Google Shape;231;p17"/>
            <p:cNvSpPr/>
            <p:nvPr/>
          </p:nvSpPr>
          <p:spPr>
            <a:xfrm>
              <a:off x="5588000" y="3657600"/>
              <a:ext cx="406400" cy="228600"/>
            </a:xfrm>
            <a:prstGeom prst="star5">
              <a:avLst>
                <a:gd fmla="val 19098" name="adj"/>
                <a:gd fmla="val 105146" name="hf"/>
                <a:gd fmla="val 110557" name="vf"/>
              </a:avLst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2" name="Google Shape;232;p17"/>
            <p:cNvSpPr/>
            <p:nvPr/>
          </p:nvSpPr>
          <p:spPr>
            <a:xfrm>
              <a:off x="6400800" y="3657600"/>
              <a:ext cx="406400" cy="228600"/>
            </a:xfrm>
            <a:prstGeom prst="star5">
              <a:avLst>
                <a:gd fmla="val 19098" name="adj"/>
                <a:gd fmla="val 105146" name="hf"/>
                <a:gd fmla="val 110557" name="vf"/>
              </a:avLst>
            </a:prstGeom>
            <a:solidFill>
              <a:schemeClr val="accent1"/>
            </a:solidFill>
            <a:ln cap="flat" cmpd="sng" w="12700">
              <a:solidFill>
                <a:srgbClr val="42719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33" name="Google Shape;233;p17"/>
            <p:cNvGrpSpPr/>
            <p:nvPr/>
          </p:nvGrpSpPr>
          <p:grpSpPr>
            <a:xfrm>
              <a:off x="2641600" y="4114800"/>
              <a:ext cx="711200" cy="533400"/>
              <a:chOff x="2641600" y="4114800"/>
              <a:chExt cx="711200" cy="533400"/>
            </a:xfrm>
          </p:grpSpPr>
          <p:sp>
            <p:nvSpPr>
              <p:cNvPr id="234" name="Google Shape;234;p17"/>
              <p:cNvSpPr/>
              <p:nvPr/>
            </p:nvSpPr>
            <p:spPr>
              <a:xfrm>
                <a:off x="2946400" y="4419600"/>
                <a:ext cx="406400" cy="228600"/>
              </a:xfrm>
              <a:prstGeom prst="star5">
                <a:avLst>
                  <a:gd fmla="val 19098" name="adj"/>
                  <a:gd fmla="val 105146" name="hf"/>
                  <a:gd fmla="val 110557" name="vf"/>
                </a:avLst>
              </a:prstGeom>
              <a:solidFill>
                <a:schemeClr val="accent1"/>
              </a:solidFill>
              <a:ln cap="flat" cmpd="sng" w="12700">
                <a:solidFill>
                  <a:srgbClr val="42719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5" name="Google Shape;235;p17"/>
              <p:cNvSpPr/>
              <p:nvPr/>
            </p:nvSpPr>
            <p:spPr>
              <a:xfrm>
                <a:off x="2641600" y="4343400"/>
                <a:ext cx="406400" cy="228600"/>
              </a:xfrm>
              <a:prstGeom prst="star5">
                <a:avLst>
                  <a:gd fmla="val 19098" name="adj"/>
                  <a:gd fmla="val 105146" name="hf"/>
                  <a:gd fmla="val 110557" name="vf"/>
                </a:avLst>
              </a:prstGeom>
              <a:solidFill>
                <a:schemeClr val="accent1"/>
              </a:solidFill>
              <a:ln cap="flat" cmpd="sng" w="12700">
                <a:solidFill>
                  <a:srgbClr val="42719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6" name="Google Shape;236;p17"/>
              <p:cNvSpPr/>
              <p:nvPr/>
            </p:nvSpPr>
            <p:spPr>
              <a:xfrm>
                <a:off x="2946400" y="4114800"/>
                <a:ext cx="406400" cy="228600"/>
              </a:xfrm>
              <a:prstGeom prst="star5">
                <a:avLst>
                  <a:gd fmla="val 19098" name="adj"/>
                  <a:gd fmla="val 105146" name="hf"/>
                  <a:gd fmla="val 110557" name="vf"/>
                </a:avLst>
              </a:prstGeom>
              <a:solidFill>
                <a:schemeClr val="accent1"/>
              </a:solidFill>
              <a:ln cap="flat" cmpd="sng" w="12700">
                <a:solidFill>
                  <a:srgbClr val="42719B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37" name="Google Shape;237;p17"/>
          <p:cNvGrpSpPr/>
          <p:nvPr/>
        </p:nvGrpSpPr>
        <p:grpSpPr>
          <a:xfrm>
            <a:off x="1456554" y="2251228"/>
            <a:ext cx="10043251" cy="3216904"/>
            <a:chOff x="1060124" y="3657600"/>
            <a:chExt cx="10043251" cy="3216904"/>
          </a:xfrm>
        </p:grpSpPr>
        <p:cxnSp>
          <p:nvCxnSpPr>
            <p:cNvPr id="238" name="Google Shape;238;p17"/>
            <p:cNvCxnSpPr/>
            <p:nvPr/>
          </p:nvCxnSpPr>
          <p:spPr>
            <a:xfrm rot="-5400000">
              <a:off x="1004359" y="4380442"/>
              <a:ext cx="1447800" cy="2117"/>
            </a:xfrm>
            <a:prstGeom prst="straightConnector1">
              <a:avLst/>
            </a:prstGeom>
            <a:noFill/>
            <a:ln cap="flat" cmpd="sng" w="9525">
              <a:solidFill>
                <a:srgbClr val="0C0C0C"/>
              </a:solidFill>
              <a:prstDash val="solid"/>
              <a:miter lim="800000"/>
              <a:headEnd len="sm" w="sm" type="none"/>
              <a:tailEnd len="med" w="med" type="stealth"/>
            </a:ln>
          </p:spPr>
        </p:cxnSp>
        <p:cxnSp>
          <p:nvCxnSpPr>
            <p:cNvPr id="239" name="Google Shape;239;p17"/>
            <p:cNvCxnSpPr/>
            <p:nvPr/>
          </p:nvCxnSpPr>
          <p:spPr>
            <a:xfrm>
              <a:off x="1727200" y="5097374"/>
              <a:ext cx="2032000" cy="1588"/>
            </a:xfrm>
            <a:prstGeom prst="straightConnector1">
              <a:avLst/>
            </a:prstGeom>
            <a:noFill/>
            <a:ln cap="flat" cmpd="sng" w="9525">
              <a:solidFill>
                <a:srgbClr val="0C0C0C"/>
              </a:solidFill>
              <a:prstDash val="solid"/>
              <a:miter lim="800000"/>
              <a:headEnd len="sm" w="sm" type="none"/>
              <a:tailEnd len="med" w="med" type="stealth"/>
            </a:ln>
          </p:spPr>
        </p:cxnSp>
        <p:grpSp>
          <p:nvGrpSpPr>
            <p:cNvPr id="240" name="Google Shape;240;p17"/>
            <p:cNvGrpSpPr/>
            <p:nvPr/>
          </p:nvGrpSpPr>
          <p:grpSpPr>
            <a:xfrm>
              <a:off x="5283200" y="3795583"/>
              <a:ext cx="5820175" cy="1233618"/>
              <a:chOff x="5283200" y="3581400"/>
              <a:chExt cx="6015328" cy="1447800"/>
            </a:xfrm>
          </p:grpSpPr>
          <p:grpSp>
            <p:nvGrpSpPr>
              <p:cNvPr id="241" name="Google Shape;241;p17"/>
              <p:cNvGrpSpPr/>
              <p:nvPr/>
            </p:nvGrpSpPr>
            <p:grpSpPr>
              <a:xfrm>
                <a:off x="5283200" y="3657600"/>
                <a:ext cx="2032000" cy="1371600"/>
                <a:chOff x="5283200" y="3657600"/>
                <a:chExt cx="2032000" cy="1371600"/>
              </a:xfrm>
            </p:grpSpPr>
            <p:cxnSp>
              <p:nvCxnSpPr>
                <p:cNvPr id="242" name="Google Shape;242;p17"/>
                <p:cNvCxnSpPr/>
                <p:nvPr/>
              </p:nvCxnSpPr>
              <p:spPr>
                <a:xfrm>
                  <a:off x="5283200" y="5027613"/>
                  <a:ext cx="2032000" cy="1588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med" w="med" type="stealth"/>
                </a:ln>
              </p:spPr>
            </p:cxnSp>
            <p:cxnSp>
              <p:nvCxnSpPr>
                <p:cNvPr id="243" name="Google Shape;243;p17"/>
                <p:cNvCxnSpPr/>
                <p:nvPr/>
              </p:nvCxnSpPr>
              <p:spPr>
                <a:xfrm rot="-5400000">
                  <a:off x="4598460" y="4342342"/>
                  <a:ext cx="1371600" cy="2117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med" w="med" type="stealth"/>
                </a:ln>
              </p:spPr>
            </p:cxnSp>
          </p:grpSp>
          <p:cxnSp>
            <p:nvCxnSpPr>
              <p:cNvPr id="244" name="Google Shape;244;p17"/>
              <p:cNvCxnSpPr/>
              <p:nvPr/>
            </p:nvCxnSpPr>
            <p:spPr>
              <a:xfrm rot="-5400000">
                <a:off x="8014759" y="4304242"/>
                <a:ext cx="1447800" cy="2117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med" w="med" type="stealth"/>
              </a:ln>
            </p:spPr>
          </p:cxnSp>
          <p:cxnSp>
            <p:nvCxnSpPr>
              <p:cNvPr id="245" name="Google Shape;245;p17"/>
              <p:cNvCxnSpPr/>
              <p:nvPr/>
            </p:nvCxnSpPr>
            <p:spPr>
              <a:xfrm>
                <a:off x="8737600" y="5027613"/>
                <a:ext cx="2560928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med" w="med" type="stealth"/>
              </a:ln>
            </p:spPr>
          </p:cxnSp>
        </p:grpSp>
        <p:sp>
          <p:nvSpPr>
            <p:cNvPr id="246" name="Google Shape;246;p17"/>
            <p:cNvSpPr txBox="1"/>
            <p:nvPr/>
          </p:nvSpPr>
          <p:spPr>
            <a:xfrm>
              <a:off x="1060124" y="5397176"/>
              <a:ext cx="2776491" cy="1477328"/>
            </a:xfrm>
            <a:prstGeom prst="rect">
              <a:avLst/>
            </a:prstGeom>
            <a:solidFill>
              <a:srgbClr val="D0CEC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Shows a market in which all of the consumers have roughly the same preference, so there are no natural segments. </a:t>
              </a:r>
              <a:endPara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247" name="Google Shape;247;p17"/>
          <p:cNvSpPr txBox="1"/>
          <p:nvPr/>
        </p:nvSpPr>
        <p:spPr>
          <a:xfrm>
            <a:off x="4882243" y="3925488"/>
            <a:ext cx="3233057" cy="1477328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At the other extreme, consumer preferences may be scattered throughout the space, indicating great variance in consumer preferences.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17"/>
          <p:cNvSpPr txBox="1"/>
          <p:nvPr/>
        </p:nvSpPr>
        <p:spPr>
          <a:xfrm>
            <a:off x="8735786" y="3903133"/>
            <a:ext cx="2764019" cy="132343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market might reveal distinct preference clusters, called </a:t>
            </a:r>
            <a:r>
              <a:rPr b="0" i="1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natural market segments. 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9" name="Google Shape;249;p17"/>
          <p:cNvSpPr txBox="1"/>
          <p:nvPr/>
        </p:nvSpPr>
        <p:spPr>
          <a:xfrm>
            <a:off x="1934935" y="2802041"/>
            <a:ext cx="10613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endParaRPr b="1" i="0" sz="18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7"/>
          <p:cNvSpPr txBox="1"/>
          <p:nvPr/>
        </p:nvSpPr>
        <p:spPr>
          <a:xfrm>
            <a:off x="2984043" y="3562653"/>
            <a:ext cx="28725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endParaRPr b="1" i="0" sz="1800" u="none" cap="none" strike="noStrik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8"/>
          <p:cNvSpPr txBox="1"/>
          <p:nvPr>
            <p:ph type="title"/>
          </p:nvPr>
        </p:nvSpPr>
        <p:spPr>
          <a:xfrm>
            <a:off x="609600" y="274638"/>
            <a:ext cx="10972800" cy="582136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ct val="100000"/>
              <a:buFont typeface="Times New Roman"/>
              <a:buNone/>
            </a:pPr>
            <a:r>
              <a:rPr b="1" lang="en-US" sz="6700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Bases For Segmenting </a:t>
            </a:r>
            <a:br>
              <a:rPr b="1" lang="en-US" sz="6700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4000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Consumer Markets</a:t>
            </a:r>
            <a:br>
              <a:rPr lang="en-US" sz="4000"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40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40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Geographic-</a:t>
            </a:r>
            <a:r>
              <a:rPr b="1" lang="en-US" sz="4000">
                <a:latin typeface="Times New Roman"/>
                <a:ea typeface="Times New Roman"/>
                <a:cs typeface="Times New Roman"/>
                <a:sym typeface="Times New Roman"/>
              </a:rPr>
              <a:t> Urban, Rural, Region</a:t>
            </a:r>
            <a:br>
              <a:rPr b="1" lang="en-US" sz="4000"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b="1" lang="en-US" sz="40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40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Demographic-</a:t>
            </a:r>
            <a:r>
              <a:rPr b="1" lang="en-US" sz="4000">
                <a:latin typeface="Times New Roman"/>
                <a:ea typeface="Times New Roman"/>
                <a:cs typeface="Times New Roman"/>
                <a:sym typeface="Times New Roman"/>
              </a:rPr>
              <a:t> Age group, Gender, Income</a:t>
            </a:r>
            <a:br>
              <a:rPr b="1" lang="en-US" sz="4000"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b="1" lang="en-US" sz="40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40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Psychographic- </a:t>
            </a:r>
            <a:r>
              <a:rPr b="1" lang="en-US" sz="4000">
                <a:latin typeface="Times New Roman"/>
                <a:ea typeface="Times New Roman"/>
                <a:cs typeface="Times New Roman"/>
                <a:sym typeface="Times New Roman"/>
              </a:rPr>
              <a:t>Lifestyle, Personality</a:t>
            </a:r>
            <a:br>
              <a:rPr b="1" lang="en-US" sz="4000"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b="1" lang="en-US" sz="40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40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Behavioral-</a:t>
            </a:r>
            <a:r>
              <a:rPr b="1" lang="en-US" sz="4000">
                <a:latin typeface="Times New Roman"/>
                <a:ea typeface="Times New Roman"/>
                <a:cs typeface="Times New Roman"/>
                <a:sym typeface="Times New Roman"/>
              </a:rPr>
              <a:t>Occasions, Usage rates, User Type</a:t>
            </a:r>
            <a:br>
              <a:rPr b="1" lang="en-US" sz="40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4000">
                <a:latin typeface="Times New Roman"/>
                <a:ea typeface="Times New Roman"/>
                <a:cs typeface="Times New Roman"/>
                <a:sym typeface="Times New Roman"/>
              </a:rPr>
              <a:t>etc.</a:t>
            </a:r>
            <a:endParaRPr b="1" sz="4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9"/>
          <p:cNvSpPr txBox="1"/>
          <p:nvPr>
            <p:ph type="title"/>
          </p:nvPr>
        </p:nvSpPr>
        <p:spPr>
          <a:xfrm>
            <a:off x="551800" y="227825"/>
            <a:ext cx="11414100" cy="633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b="1" lang="en-US" sz="4000"/>
              <a:t>ITC Foods </a:t>
            </a:r>
            <a:r>
              <a:rPr lang="en-US" sz="2400"/>
              <a:t>is making a strategic shift by launching a new range </a:t>
            </a:r>
            <a:br>
              <a:rPr lang="en-US" sz="2400"/>
            </a:br>
            <a:r>
              <a:rPr lang="en-US" sz="2400"/>
              <a:t>of health-oriented products specifically designed for </a:t>
            </a:r>
            <a:br>
              <a:rPr lang="en-US" sz="2400"/>
            </a:br>
            <a:r>
              <a:rPr lang="en-US" sz="2400">
                <a:solidFill>
                  <a:srgbClr val="FF0000"/>
                </a:solidFill>
              </a:rPr>
              <a:t>consumers aged 45 and above</a:t>
            </a:r>
            <a:r>
              <a:rPr lang="en-US" sz="2400"/>
              <a:t>. </a:t>
            </a:r>
            <a:br>
              <a:rPr lang="en-US" sz="2400"/>
            </a:br>
            <a:br>
              <a:rPr lang="en-US" sz="2400"/>
            </a:br>
            <a:r>
              <a:rPr lang="en-US" sz="2400"/>
              <a:t>ITC is now introducing a line that includes upma, oats, cookies, and enriched atta under the </a:t>
            </a:r>
            <a:r>
              <a:rPr lang="en-US" sz="2400">
                <a:solidFill>
                  <a:srgbClr val="FF0000"/>
                </a:solidFill>
              </a:rPr>
              <a:t>“Right Shift” brand</a:t>
            </a:r>
            <a:r>
              <a:rPr lang="en-US" sz="2400"/>
              <a:t>, aiming to cater to </a:t>
            </a:r>
            <a:r>
              <a:rPr lang="en-US" sz="2400">
                <a:solidFill>
                  <a:srgbClr val="FF0000"/>
                </a:solidFill>
              </a:rPr>
              <a:t>the dietary needs </a:t>
            </a:r>
            <a:r>
              <a:rPr lang="en-US" sz="2400"/>
              <a:t>of an often-overlooked age group.</a:t>
            </a:r>
            <a:br>
              <a:rPr lang="en-US" sz="2400"/>
            </a:br>
            <a:br>
              <a:rPr lang="en-US" sz="2400"/>
            </a:br>
            <a:r>
              <a:rPr lang="en-US" sz="2400"/>
              <a:t>This move targets a significant market segment, with nearly </a:t>
            </a:r>
            <a:r>
              <a:rPr lang="en-US" sz="2400">
                <a:solidFill>
                  <a:srgbClr val="FF0000"/>
                </a:solidFill>
              </a:rPr>
              <a:t>10 million households </a:t>
            </a:r>
            <a:r>
              <a:rPr lang="en-US" sz="2400"/>
              <a:t>falling within this demographic. </a:t>
            </a:r>
            <a:br>
              <a:rPr lang="en-US" sz="2400"/>
            </a:br>
            <a:br>
              <a:rPr lang="en-US" sz="2400"/>
            </a:br>
            <a:r>
              <a:rPr lang="en-US" sz="2400"/>
              <a:t>“</a:t>
            </a:r>
            <a:r>
              <a:rPr lang="en-US" sz="2400">
                <a:solidFill>
                  <a:srgbClr val="FF0000"/>
                </a:solidFill>
              </a:rPr>
              <a:t>By 2050, 40% of India’s population will be over 45</a:t>
            </a:r>
            <a:r>
              <a:rPr lang="en-US" sz="2400"/>
              <a:t>, and this group is increasingly looking to make healthier food choices as they age”</a:t>
            </a:r>
            <a:br>
              <a:rPr lang="en-US" sz="2400"/>
            </a:br>
            <a:br>
              <a:rPr lang="en-US" sz="2400"/>
            </a:br>
            <a:r>
              <a:rPr lang="en-US" sz="2400"/>
              <a:t> “This demographic has a strong propensity to spend, with food making up a substantial part of their discretionary </a:t>
            </a:r>
            <a:r>
              <a:rPr lang="en-US" sz="2400">
                <a:solidFill>
                  <a:srgbClr val="FF0000"/>
                </a:solidFill>
              </a:rPr>
              <a:t>spending- stay healthy and active</a:t>
            </a:r>
            <a:r>
              <a:rPr lang="en-US" sz="2400"/>
              <a:t>.”</a:t>
            </a:r>
            <a:br>
              <a:rPr lang="en-US" sz="2400"/>
            </a:br>
            <a:br>
              <a:rPr lang="en-US" sz="2400"/>
            </a:br>
            <a:r>
              <a:rPr lang="en-US" sz="2400"/>
              <a:t>By targeting the 45+ age group, ITC Foods is addressing a market gap and aligning with broader industry trends of health consciousness and </a:t>
            </a:r>
            <a:r>
              <a:rPr lang="en-US" sz="2400">
                <a:solidFill>
                  <a:srgbClr val="FF0000"/>
                </a:solidFill>
              </a:rPr>
              <a:t>premium product offerings. </a:t>
            </a:r>
            <a:endParaRPr sz="2400">
              <a:solidFill>
                <a:srgbClr val="FF0000"/>
              </a:solidFill>
            </a:endParaRPr>
          </a:p>
        </p:txBody>
      </p:sp>
      <p:pic>
        <p:nvPicPr>
          <p:cNvPr descr="https://images.maariv.co.il/image/upload/f_auto,fl_lossy/c_fill,g_faces:center,h_380,w_500/816024" id="261" name="Google Shape;26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73451" y="227834"/>
            <a:ext cx="2351142" cy="17868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0"/>
          <p:cNvSpPr txBox="1"/>
          <p:nvPr>
            <p:ph type="title"/>
          </p:nvPr>
        </p:nvSpPr>
        <p:spPr>
          <a:xfrm>
            <a:off x="650543" y="779606"/>
            <a:ext cx="10972800" cy="52879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100000"/>
              <a:buFont typeface="Times New Roman"/>
              <a:buNone/>
            </a:pPr>
            <a:r>
              <a:rPr b="1" lang="en-US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TARGETING</a:t>
            </a:r>
            <a:br>
              <a:rPr b="1" lang="en-US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b="1" lang="en-US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Decide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how many and which segments it can serve best</a:t>
            </a:r>
            <a:b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Mass </a:t>
            </a:r>
            <a:r>
              <a:rPr lang="en-US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Undifferentiated</a:t>
            </a:r>
            <a:b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Segment </a:t>
            </a:r>
            <a:r>
              <a:rPr lang="en-US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Differentiated</a:t>
            </a:r>
            <a:b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Concentrated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Niche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ttps://i.ytimg.com/vi/hSY2xBF7KF8/maxresdefault.jpg" id="271" name="Google Shape;271;p21"/>
          <p:cNvPicPr preferRelativeResize="0"/>
          <p:nvPr/>
        </p:nvPicPr>
        <p:blipFill rotWithShape="1">
          <a:blip r:embed="rId3">
            <a:alphaModFix/>
          </a:blip>
          <a:srcRect b="9769" l="16866" r="3310" t="3506"/>
          <a:stretch/>
        </p:blipFill>
        <p:spPr>
          <a:xfrm>
            <a:off x="31985" y="4430110"/>
            <a:ext cx="3972911" cy="242789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i.pinimg.com/originals/cb/c6/ef/cbc6ef684b5f162c8dec8c0dbfbd763a.jpg" id="272" name="Google Shape;272;p21"/>
          <p:cNvPicPr preferRelativeResize="0"/>
          <p:nvPr/>
        </p:nvPicPr>
        <p:blipFill rotWithShape="1">
          <a:blip r:embed="rId4">
            <a:alphaModFix/>
          </a:blip>
          <a:srcRect b="3581" l="3502" r="2332" t="2713"/>
          <a:stretch/>
        </p:blipFill>
        <p:spPr>
          <a:xfrm>
            <a:off x="7999853" y="4375696"/>
            <a:ext cx="4188646" cy="24748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image.slidesharecdn.com/brandeco-hulgroup2-140130063754-phpapp01/95/hul-india-shampoos-product-portfolio-5-1024.jpg?cb=1647629404" id="273" name="Google Shape;273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4302" y="0"/>
            <a:ext cx="3520417" cy="2427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" name="Google Shape;274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066052" y="2350735"/>
            <a:ext cx="2933801" cy="234704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tse1.mm.bing.net/th?id=OIP.1OsdNHkq5tWKgur_R0eo3gHaCk&amp;pid=Api&amp;P=0&amp;h=180" id="275" name="Google Shape;275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399274" y="5109198"/>
            <a:ext cx="3228498" cy="111703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tse4.mm.bing.net/th?id=OIP.k1lqO9iZbnRxxWfJ7VwP7gAAAA&amp;pid=Api&amp;P=0&amp;h=180" id="276" name="Google Shape;276;p2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214554" y="382804"/>
            <a:ext cx="1597937" cy="15299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://www.signnews.in/wp-content/uploads/2020/03/batacorporate-profile-7-728.jpg" id="277" name="Google Shape;277;p21"/>
          <p:cNvPicPr preferRelativeResize="0"/>
          <p:nvPr/>
        </p:nvPicPr>
        <p:blipFill rotWithShape="1">
          <a:blip r:embed="rId9">
            <a:alphaModFix/>
          </a:blip>
          <a:srcRect b="6216" l="0" r="0" t="9446"/>
          <a:stretch/>
        </p:blipFill>
        <p:spPr>
          <a:xfrm>
            <a:off x="2018395" y="2439302"/>
            <a:ext cx="2965997" cy="187609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tse4.mm.bing.net/th?id=OIP.OzzmEizYXdevH6d9hO7Z6QHaEK&amp;pid=Api&amp;P=0&amp;h=180" id="278" name="Google Shape;278;p2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868728" y="-55188"/>
            <a:ext cx="4361603" cy="25382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2"/>
          <p:cNvSpPr txBox="1"/>
          <p:nvPr>
            <p:ph type="title"/>
          </p:nvPr>
        </p:nvSpPr>
        <p:spPr>
          <a:xfrm>
            <a:off x="1500739" y="368263"/>
            <a:ext cx="4047699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lang="en-US" sz="2000">
                <a:latin typeface="Times New Roman"/>
                <a:ea typeface="Times New Roman"/>
                <a:cs typeface="Times New Roman"/>
                <a:sym typeface="Times New Roman"/>
              </a:rPr>
              <a:t>Market</a:t>
            </a: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-US" sz="2000">
                <a:latin typeface="Times New Roman"/>
                <a:ea typeface="Times New Roman"/>
                <a:cs typeface="Times New Roman"/>
                <a:sym typeface="Times New Roman"/>
              </a:rPr>
              <a:t>Specialization</a:t>
            </a:r>
            <a:endParaRPr b="1"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284" name="Google Shape;284;p22"/>
          <p:cNvGraphicFramePr/>
          <p:nvPr/>
        </p:nvGraphicFramePr>
        <p:xfrm>
          <a:off x="814939" y="134526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{D0BFF117-0A52-4F52-8A2E-42B5CC520D84}</a:tableStyleId>
              </a:tblPr>
              <a:tblGrid>
                <a:gridCol w="1269250"/>
                <a:gridCol w="1269250"/>
                <a:gridCol w="1269250"/>
              </a:tblGrid>
              <a:tr h="723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121925" marL="121925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sz="1600" u="none" cap="none" strike="noStrike"/>
                    </a:p>
                  </a:txBody>
                  <a:tcPr marT="45725" marB="45725" marR="121925" marL="121925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121925" marL="121925">
                    <a:solidFill>
                      <a:srgbClr val="92D050"/>
                    </a:solidFill>
                  </a:tcPr>
                </a:tc>
              </a:tr>
              <a:tr h="723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121925" marL="121925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sz="1600" u="none" cap="none" strike="noStrike"/>
                    </a:p>
                  </a:txBody>
                  <a:tcPr marT="45725" marB="45725" marR="121925" marL="121925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121925" marL="121925">
                    <a:solidFill>
                      <a:srgbClr val="92D050"/>
                    </a:solidFill>
                  </a:tcPr>
                </a:tc>
              </a:tr>
              <a:tr h="723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121925" marL="121925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sz="1600" u="none" cap="none" strike="noStrike"/>
                    </a:p>
                  </a:txBody>
                  <a:tcPr marT="45725" marB="45725" marR="121925" marL="121925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121925" marL="121925">
                    <a:solidFill>
                      <a:srgbClr val="92D05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85" name="Google Shape;285;p22"/>
          <p:cNvGraphicFramePr/>
          <p:nvPr/>
        </p:nvGraphicFramePr>
        <p:xfrm>
          <a:off x="8233512" y="134444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{D0BFF117-0A52-4F52-8A2E-42B5CC520D84}</a:tableStyleId>
              </a:tblPr>
              <a:tblGrid>
                <a:gridCol w="1155500"/>
                <a:gridCol w="1155500"/>
                <a:gridCol w="1155500"/>
              </a:tblGrid>
              <a:tr h="723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121925" marL="121925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121925" marL="121925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121925" marL="121925">
                    <a:solidFill>
                      <a:srgbClr val="92D050"/>
                    </a:solidFill>
                  </a:tcPr>
                </a:tc>
              </a:tr>
              <a:tr h="723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121925" marL="121925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121925" marL="121925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121925" marL="121925">
                    <a:solidFill>
                      <a:srgbClr val="00B050"/>
                    </a:solidFill>
                  </a:tcPr>
                </a:tc>
              </a:tr>
              <a:tr h="7238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121925" marL="121925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121925" marL="121925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121925" marL="121925">
                    <a:solidFill>
                      <a:srgbClr val="92D050"/>
                    </a:solidFill>
                  </a:tcPr>
                </a:tc>
              </a:tr>
            </a:tbl>
          </a:graphicData>
        </a:graphic>
      </p:graphicFrame>
      <p:sp>
        <p:nvSpPr>
          <p:cNvPr id="286" name="Google Shape;286;p22"/>
          <p:cNvSpPr txBox="1"/>
          <p:nvPr/>
        </p:nvSpPr>
        <p:spPr>
          <a:xfrm>
            <a:off x="8514428" y="457295"/>
            <a:ext cx="3248168" cy="133584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Times New Roman"/>
              <a:buNone/>
            </a:pPr>
            <a:r>
              <a:rPr b="1" i="0" lang="en-US" sz="20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Product</a:t>
            </a:r>
            <a:r>
              <a:rPr b="1" i="0" lang="en-US" sz="24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i="0" lang="en-US" sz="20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Specialization</a:t>
            </a:r>
            <a:endParaRPr b="1" i="0" sz="2400" u="none" cap="none" strike="noStrik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287" name="Google Shape;287;p22"/>
          <p:cNvGraphicFramePr/>
          <p:nvPr/>
        </p:nvGraphicFramePr>
        <p:xfrm>
          <a:off x="814939" y="408356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{D0BFF117-0A52-4F52-8A2E-42B5CC520D84}</a:tableStyleId>
              </a:tblPr>
              <a:tblGrid>
                <a:gridCol w="1280875"/>
                <a:gridCol w="1280875"/>
                <a:gridCol w="1280875"/>
              </a:tblGrid>
              <a:tr h="747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121925" marL="121925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121925" marL="121925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121925" marL="121925">
                    <a:solidFill>
                      <a:srgbClr val="92D050"/>
                    </a:solidFill>
                  </a:tcPr>
                </a:tc>
              </a:tr>
              <a:tr h="747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121925" marL="121925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121925" marL="121925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121925" marL="121925">
                    <a:solidFill>
                      <a:srgbClr val="92D050"/>
                    </a:solidFill>
                  </a:tcPr>
                </a:tc>
              </a:tr>
              <a:tr h="747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121925" marL="121925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121925" marL="121925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121925" marL="121925">
                    <a:solidFill>
                      <a:srgbClr val="92D050"/>
                    </a:solidFill>
                  </a:tcPr>
                </a:tc>
              </a:tr>
            </a:tbl>
          </a:graphicData>
        </a:graphic>
      </p:graphicFrame>
      <p:sp>
        <p:nvSpPr>
          <p:cNvPr id="288" name="Google Shape;288;p22"/>
          <p:cNvSpPr txBox="1"/>
          <p:nvPr/>
        </p:nvSpPr>
        <p:spPr>
          <a:xfrm>
            <a:off x="814939" y="3067380"/>
            <a:ext cx="3766783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Times New Roman"/>
              <a:buNone/>
            </a:pPr>
            <a:r>
              <a:rPr b="1" i="0" lang="en-US" sz="20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Single Segment Concentration</a:t>
            </a:r>
            <a:endParaRPr b="1" i="0" sz="2000" u="none" cap="none" strike="noStrik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289" name="Google Shape;289;p22"/>
          <p:cNvGraphicFramePr/>
          <p:nvPr/>
        </p:nvGraphicFramePr>
        <p:xfrm>
          <a:off x="8340308" y="420101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{D0BFF117-0A52-4F52-8A2E-42B5CC520D84}</a:tableStyleId>
              </a:tblPr>
              <a:tblGrid>
                <a:gridCol w="1120625"/>
                <a:gridCol w="1120625"/>
                <a:gridCol w="1120625"/>
              </a:tblGrid>
              <a:tr h="7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121925" marL="121925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121925" marL="121925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121925" marL="121925">
                    <a:solidFill>
                      <a:srgbClr val="00B050"/>
                    </a:solidFill>
                  </a:tcPr>
                </a:tc>
              </a:tr>
              <a:tr h="7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121925" marL="121925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121925" marL="121925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121925" marL="121925">
                    <a:solidFill>
                      <a:srgbClr val="92D050"/>
                    </a:solidFill>
                  </a:tcPr>
                </a:tc>
              </a:tr>
              <a:tr h="727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121925" marL="121925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121925" marL="121925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121925" marL="121925">
                    <a:solidFill>
                      <a:srgbClr val="92D050"/>
                    </a:solidFill>
                  </a:tcPr>
                </a:tc>
              </a:tr>
            </a:tbl>
          </a:graphicData>
        </a:graphic>
      </p:graphicFrame>
      <p:sp>
        <p:nvSpPr>
          <p:cNvPr id="290" name="Google Shape;290;p22"/>
          <p:cNvSpPr txBox="1"/>
          <p:nvPr/>
        </p:nvSpPr>
        <p:spPr>
          <a:xfrm>
            <a:off x="8371267" y="3108225"/>
            <a:ext cx="3299978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Selective</a:t>
            </a: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i="0" lang="en-US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Specialization</a:t>
            </a:r>
            <a:endParaRPr b="1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291" name="Google Shape;291;p22"/>
          <p:cNvGraphicFramePr/>
          <p:nvPr/>
        </p:nvGraphicFramePr>
        <p:xfrm>
          <a:off x="4862638" y="285911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{D0BFF117-0A52-4F52-8A2E-42B5CC520D84}</a:tableStyleId>
              </a:tblPr>
              <a:tblGrid>
                <a:gridCol w="1044150"/>
                <a:gridCol w="1044150"/>
                <a:gridCol w="1044150"/>
              </a:tblGrid>
              <a:tr h="674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121925" marL="121925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121925" marL="121925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121925" marL="121925">
                    <a:solidFill>
                      <a:srgbClr val="00B050"/>
                    </a:solidFill>
                  </a:tcPr>
                </a:tc>
              </a:tr>
              <a:tr h="674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121925" marL="121925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121925" marL="121925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121925" marL="121925">
                    <a:solidFill>
                      <a:srgbClr val="00B050"/>
                    </a:solidFill>
                  </a:tcPr>
                </a:tc>
              </a:tr>
              <a:tr h="674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121925" marL="121925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121925" marL="121925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45725" marB="45725" marR="121925" marL="121925">
                    <a:solidFill>
                      <a:srgbClr val="00B050"/>
                    </a:solidFill>
                  </a:tcPr>
                </a:tc>
              </a:tr>
            </a:tbl>
          </a:graphicData>
        </a:graphic>
      </p:graphicFrame>
      <p:sp>
        <p:nvSpPr>
          <p:cNvPr id="292" name="Google Shape;292;p22"/>
          <p:cNvSpPr txBox="1"/>
          <p:nvPr/>
        </p:nvSpPr>
        <p:spPr>
          <a:xfrm>
            <a:off x="4862638" y="1549981"/>
            <a:ext cx="3135142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Times New Roman"/>
              <a:buNone/>
            </a:pPr>
            <a:r>
              <a:rPr b="0" i="0" lang="en-US" sz="24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Full Market 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Coverage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3" name="Google Shape;293;p22"/>
          <p:cNvSpPr txBox="1"/>
          <p:nvPr/>
        </p:nvSpPr>
        <p:spPr>
          <a:xfrm>
            <a:off x="302079" y="1549981"/>
            <a:ext cx="63681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P1</a:t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4" name="Google Shape;294;p22"/>
          <p:cNvSpPr txBox="1"/>
          <p:nvPr/>
        </p:nvSpPr>
        <p:spPr>
          <a:xfrm>
            <a:off x="1009651" y="940552"/>
            <a:ext cx="63681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M1</a:t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5" name="Google Shape;295;p22"/>
          <p:cNvSpPr txBox="1"/>
          <p:nvPr/>
        </p:nvSpPr>
        <p:spPr>
          <a:xfrm>
            <a:off x="2930979" y="264663"/>
            <a:ext cx="6906985" cy="52322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Five patterns of target market selection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23"/>
          <p:cNvSpPr txBox="1"/>
          <p:nvPr>
            <p:ph type="title"/>
          </p:nvPr>
        </p:nvSpPr>
        <p:spPr>
          <a:xfrm>
            <a:off x="571500" y="2838904"/>
            <a:ext cx="1147898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Times New Roman"/>
              <a:buNone/>
            </a:pPr>
            <a:r>
              <a:rPr b="1" lang="en-US" sz="20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Target market selection (</a:t>
            </a:r>
            <a:r>
              <a:rPr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Attractiveness</a:t>
            </a: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 of Segment and Objectives and </a:t>
            </a:r>
            <a:r>
              <a:rPr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Resources)</a:t>
            </a:r>
            <a:br>
              <a:rPr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Having evaluated different segments, company can consider</a:t>
            </a:r>
            <a:r>
              <a:rPr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-US" sz="20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five patterns of target market selection.</a:t>
            </a:r>
            <a:br>
              <a:rPr b="1"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b="1"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Single-Segment Concentration-</a:t>
            </a: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Many companies concentrate on a single segment, Through concentrated marketing, the firm gains a thorough understanding of the segment’s needs and achieves a strong market presence.</a:t>
            </a:r>
            <a:b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b="1"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Selective Specialization </a:t>
            </a: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-Many companies prefer to operate in more than one segment. Selective Specialization Here the firm selects a number of segments, each objectively attractive and appropriate. There may be little or no synergy among the segments. This multisegment coverage strategy has the advantage of diversifying the firm’s risk. </a:t>
            </a:r>
            <a:b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Product Specialization- </a:t>
            </a: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Another approach is to specialize in making a certain product for several segments. Through a product specialization strategy, the firm builds a strong reputation in the </a:t>
            </a:r>
            <a:r>
              <a:rPr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specific product area</a:t>
            </a: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b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Market Specialization </a:t>
            </a:r>
            <a:r>
              <a:rPr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</a:t>
            </a: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With market specialization, the firm concentrates on serving many needs of a particular </a:t>
            </a:r>
            <a:r>
              <a:rPr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customer group. </a:t>
            </a: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The firm gains a strong reputation in serving this customer group and becomes a channel for further products that the customer group could use. </a:t>
            </a:r>
            <a:b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Full Market Coverage </a:t>
            </a:r>
            <a:r>
              <a:rPr lang="en-US" sz="1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</a:t>
            </a: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Here a firm attempts to serve all customer groups with all of the products they might need. Only very large firms can undertake a full market coverage strategy.</a:t>
            </a:r>
            <a:br>
              <a:rPr lang="en-US" sz="1800"/>
            </a:br>
            <a:endParaRPr sz="18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ttps://i5.walmartimages.com/asr/67bff5a9-9692-4ccd-bcca-fd60d504f84c.ae18174f7a5b06f69226e2c9d1085c42.jpeg" id="305" name="Google Shape;305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32070" y="978535"/>
            <a:ext cx="5879465" cy="587946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tse2.mm.bing.net/th?id=OIP.eClqk--WK5KE5b3Cj7SxdQHaD3&amp;pid=Api&amp;P=0&amp;h=180" id="306" name="Google Shape;306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7369" y="426742"/>
            <a:ext cx="6464434" cy="33727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1" name="Google Shape;311;p25"/>
          <p:cNvGrpSpPr/>
          <p:nvPr/>
        </p:nvGrpSpPr>
        <p:grpSpPr>
          <a:xfrm>
            <a:off x="2400306" y="990600"/>
            <a:ext cx="7162800" cy="4775200"/>
            <a:chOff x="774706" y="0"/>
            <a:chExt cx="7162800" cy="4775200"/>
          </a:xfrm>
        </p:grpSpPr>
        <p:sp>
          <p:nvSpPr>
            <p:cNvPr id="312" name="Google Shape;312;p25"/>
            <p:cNvSpPr/>
            <p:nvPr/>
          </p:nvSpPr>
          <p:spPr>
            <a:xfrm>
              <a:off x="774706" y="0"/>
              <a:ext cx="7162800" cy="4775200"/>
            </a:xfrm>
            <a:prstGeom prst="ellipse">
              <a:avLst/>
            </a:prstGeom>
            <a:solidFill>
              <a:srgbClr val="FFC000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3" name="Google Shape;313;p25"/>
            <p:cNvSpPr txBox="1"/>
            <p:nvPr/>
          </p:nvSpPr>
          <p:spPr>
            <a:xfrm>
              <a:off x="2475871" y="358140"/>
              <a:ext cx="3760470" cy="8117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12925" lIns="312925" spcFirstLastPara="1" rIns="312925" wrap="square" tIns="3129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400"/>
                <a:buFont typeface="Arial"/>
                <a:buNone/>
              </a:pPr>
              <a:r>
                <a:rPr b="1" i="0" lang="en-US" sz="4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Large market</a:t>
              </a:r>
              <a:endParaRPr b="1" i="0" sz="4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14" name="Google Shape;314;p25"/>
            <p:cNvSpPr/>
            <p:nvPr/>
          </p:nvSpPr>
          <p:spPr>
            <a:xfrm flipH="1">
              <a:off x="5026311" y="3022606"/>
              <a:ext cx="1006194" cy="787406"/>
            </a:xfrm>
            <a:prstGeom prst="ellipse">
              <a:avLst/>
            </a:prstGeom>
            <a:solidFill>
              <a:srgbClr val="FF0000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5" name="Google Shape;315;p25"/>
            <p:cNvSpPr txBox="1"/>
            <p:nvPr/>
          </p:nvSpPr>
          <p:spPr>
            <a:xfrm>
              <a:off x="5173665" y="3219457"/>
              <a:ext cx="711486" cy="3937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9550" lIns="99550" spcFirstLastPara="1" rIns="99550" wrap="square" tIns="995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Niche</a:t>
              </a:r>
              <a:endParaRPr b="1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pic>
        <p:nvPicPr>
          <p:cNvPr descr="https://tse4.mm.bing.net/th?id=OIP.8inAKFrQPG_734IFUlFlOAHaLH&amp;pid=Api&amp;P=0&amp;h=180" id="316" name="Google Shape;316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5125" y="697382"/>
            <a:ext cx="1143000" cy="1714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26"/>
          <p:cNvSpPr txBox="1"/>
          <p:nvPr>
            <p:ph type="title"/>
          </p:nvPr>
        </p:nvSpPr>
        <p:spPr>
          <a:xfrm>
            <a:off x="609600" y="274638"/>
            <a:ext cx="10972800" cy="5516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Market Segmentation- </a:t>
            </a:r>
            <a:r>
              <a:rPr lang="en-US" sz="2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Divide</a:t>
            </a:r>
            <a:b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Target Marketing- </a:t>
            </a:r>
            <a:r>
              <a:rPr lang="en-US" sz="2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Select</a:t>
            </a:r>
            <a:b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 Positioning-</a:t>
            </a:r>
            <a:r>
              <a:rPr lang="en-US" sz="2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Mind</a:t>
            </a:r>
            <a:b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Differentiation- </a:t>
            </a:r>
            <a:r>
              <a:rPr lang="en-US" sz="2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Differentiate</a:t>
            </a:r>
            <a:endParaRPr sz="280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27"/>
          <p:cNvSpPr txBox="1"/>
          <p:nvPr>
            <p:ph type="title"/>
          </p:nvPr>
        </p:nvSpPr>
        <p:spPr>
          <a:xfrm>
            <a:off x="2639616" y="2564904"/>
            <a:ext cx="8911440" cy="1280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6600"/>
              <a:buFont typeface="Century Gothic"/>
              <a:buNone/>
            </a:pPr>
            <a:r>
              <a:rPr b="1" lang="en-US" sz="6600" strike="noStrik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Brand </a:t>
            </a:r>
            <a:r>
              <a:rPr b="1" lang="en-US" sz="6600" strike="noStrike">
                <a:solidFill>
                  <a:srgbClr val="FF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Position</a:t>
            </a:r>
            <a:r>
              <a:rPr b="1" lang="en-US" sz="6600" strike="noStrik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ing</a:t>
            </a:r>
            <a:endParaRPr b="0" sz="6600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28"/>
          <p:cNvSpPr txBox="1"/>
          <p:nvPr/>
        </p:nvSpPr>
        <p:spPr>
          <a:xfrm>
            <a:off x="2593080" y="624240"/>
            <a:ext cx="8911440" cy="1280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Brand Positioning</a:t>
            </a:r>
            <a:endParaRPr b="0" i="0" sz="36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32" name="Google Shape;332;p28"/>
          <p:cNvSpPr txBox="1"/>
          <p:nvPr/>
        </p:nvSpPr>
        <p:spPr>
          <a:xfrm>
            <a:off x="4303986" y="2133720"/>
            <a:ext cx="7200174" cy="3777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-342720" lvl="0" marL="3430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8712"/>
              </a:buClr>
              <a:buSzPct val="100000"/>
              <a:buFont typeface="Noto Sans Symbols"/>
              <a:buChar char="🠶"/>
            </a:pPr>
            <a:r>
              <a:rPr b="0" i="0" lang="en-US" sz="18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Early 80’s –Prior Image-Al Ries and Jack Trout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720" lvl="0" marL="343080" marR="0" rtl="0" algn="l">
              <a:lnSpc>
                <a:spcPct val="100000"/>
              </a:lnSpc>
              <a:spcBef>
                <a:spcPts val="1001"/>
              </a:spcBef>
              <a:spcAft>
                <a:spcPts val="0"/>
              </a:spcAft>
              <a:buClr>
                <a:srgbClr val="E78712"/>
              </a:buClr>
              <a:buSzPct val="100000"/>
              <a:buFont typeface="Noto Sans Symbols"/>
              <a:buChar char="🠶"/>
            </a:pPr>
            <a:r>
              <a:rPr b="1" i="0" lang="en-US" sz="3300" u="none" cap="none" strike="noStrike">
                <a:solidFill>
                  <a:srgbClr val="FF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Unique, clear and desirable slot that brand occupies in the mind of consumers, relative to competing brands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6035" lvl="0" marL="343080" marR="0" rtl="0" algn="l">
              <a:lnSpc>
                <a:spcPct val="100000"/>
              </a:lnSpc>
              <a:spcBef>
                <a:spcPts val="1001"/>
              </a:spcBef>
              <a:spcAft>
                <a:spcPts val="0"/>
              </a:spcAft>
              <a:buClr>
                <a:srgbClr val="E78712"/>
              </a:buClr>
              <a:buSzPct val="100000"/>
              <a:buFont typeface="Noto Sans Symbols"/>
              <a:buNone/>
            </a:pPr>
            <a:r>
              <a:t/>
            </a:r>
            <a:endParaRPr b="0" i="0" sz="3300" u="none" cap="none" strike="noStrike">
              <a:solidFill>
                <a:srgbClr val="40404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42720" lvl="0" marL="343080" marR="0" rtl="0" algn="l">
              <a:lnSpc>
                <a:spcPct val="100000"/>
              </a:lnSpc>
              <a:spcBef>
                <a:spcPts val="1001"/>
              </a:spcBef>
              <a:spcAft>
                <a:spcPts val="0"/>
              </a:spcAft>
              <a:buClr>
                <a:srgbClr val="E78712"/>
              </a:buClr>
              <a:buSzPct val="100000"/>
              <a:buFont typeface="Noto Sans Symbols"/>
              <a:buChar char="🠶"/>
            </a:pPr>
            <a:r>
              <a:rPr b="1" i="0" lang="en-US" sz="3300" u="none" cap="none" strike="noStrike">
                <a:solidFill>
                  <a:srgbClr val="FF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Positioning is the act of designing the company’s offering and image to occupy a distinctive place in the mind of target market.</a:t>
            </a:r>
            <a:endParaRPr b="0" i="0" sz="3300" u="none" cap="none" strike="noStrike">
              <a:solidFill>
                <a:srgbClr val="40404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t/>
            </a:r>
            <a:endParaRPr b="0" i="0" sz="3300" u="none" cap="none" strike="noStrike">
              <a:solidFill>
                <a:srgbClr val="40404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42720" lvl="0" marL="343080" marR="0" rtl="0" algn="l">
              <a:lnSpc>
                <a:spcPct val="100000"/>
              </a:lnSpc>
              <a:spcBef>
                <a:spcPts val="1001"/>
              </a:spcBef>
              <a:spcAft>
                <a:spcPts val="0"/>
              </a:spcAft>
              <a:buClr>
                <a:srgbClr val="E78712"/>
              </a:buClr>
              <a:buSzPct val="100000"/>
              <a:buFont typeface="Noto Sans Symbols"/>
              <a:buChar char="🠶"/>
            </a:pPr>
            <a:r>
              <a:rPr b="0" i="0" lang="en-US" sz="18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Costliest real estate, plot yours, slot in mind, no one can take it</a:t>
            </a:r>
            <a:endParaRPr b="0" i="0" sz="1800" u="none" cap="none" strike="noStrike">
              <a:solidFill>
                <a:srgbClr val="40404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descr="https://tse2.mm.bing.net/th?id=OIP.SM77xqE0ycCfw5juADqJ7QHaEK&amp;pid=Api&amp;P=0&amp;h=180" id="333" name="Google Shape;333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6387" y="2882572"/>
            <a:ext cx="3048000" cy="1714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ttps://tse3.mm.bing.net/th?id=OIP.taKpAbffBT0wG3dQ2G6FHQHaDt&amp;pid=Api&amp;P=0&amp;h=180" id="338" name="Google Shape;338;p29"/>
          <p:cNvPicPr preferRelativeResize="0"/>
          <p:nvPr/>
        </p:nvPicPr>
        <p:blipFill rotWithShape="1">
          <a:blip r:embed="rId3">
            <a:alphaModFix/>
          </a:blip>
          <a:srcRect b="0" l="9871" r="12047" t="0"/>
          <a:stretch/>
        </p:blipFill>
        <p:spPr>
          <a:xfrm>
            <a:off x="2365017" y="3485727"/>
            <a:ext cx="3469031" cy="22214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tse2.mm.bing.net/th?id=OIP.wxyZ6fpSQYk410yo00RnxAHaEg&amp;pid=Api&amp;P=0&amp;h=180" id="339" name="Google Shape;339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62850" y="992865"/>
            <a:ext cx="3673366" cy="22338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tse3.mm.bing.net/th?id=OIP.sswxW6xy7Rebu5-qVEH_3QHaJF&amp;pid=Api&amp;P=0&amp;h=180" id="340" name="Google Shape;340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65477" y="992865"/>
            <a:ext cx="3845171" cy="4714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30"/>
          <p:cNvSpPr txBox="1"/>
          <p:nvPr/>
        </p:nvSpPr>
        <p:spPr>
          <a:xfrm>
            <a:off x="1564392" y="2375176"/>
            <a:ext cx="9717340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Positioning is not what you do to the product.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Positioning is what you do to the </a:t>
            </a:r>
            <a:r>
              <a:rPr b="1" i="0" lang="en-US" sz="36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mind </a:t>
            </a: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of prospect.</a:t>
            </a:r>
            <a:endParaRPr b="0" i="0" sz="3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31"/>
          <p:cNvSpPr txBox="1"/>
          <p:nvPr/>
        </p:nvSpPr>
        <p:spPr>
          <a:xfrm>
            <a:off x="2279576" y="692696"/>
            <a:ext cx="8911440" cy="1280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Brand</a:t>
            </a:r>
            <a:r>
              <a:rPr b="0" i="0" lang="en-US" sz="3600" u="none" cap="none" strike="noStrik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b="1" i="0" lang="en-US" sz="3600" u="none" cap="none" strike="noStrike">
                <a:solidFill>
                  <a:srgbClr val="FF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Position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31"/>
          <p:cNvSpPr txBox="1"/>
          <p:nvPr/>
        </p:nvSpPr>
        <p:spPr>
          <a:xfrm>
            <a:off x="2589120" y="2133720"/>
            <a:ext cx="8915040" cy="3777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720" lvl="0" marL="3430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8712"/>
              </a:buClr>
              <a:buSzPts val="1800"/>
              <a:buFont typeface="Noto Sans Symbols"/>
              <a:buChar char="🠶"/>
            </a:pPr>
            <a:r>
              <a:rPr b="0" i="0" lang="en-US" sz="18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Brand position is the part of the brand identity and value proposition that is to be </a:t>
            </a:r>
            <a:r>
              <a:rPr b="1" i="0" lang="en-US" sz="2400" u="none" cap="none" strike="noStrike">
                <a:solidFill>
                  <a:srgbClr val="FF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actively communicated </a:t>
            </a:r>
            <a:r>
              <a:rPr b="0" i="0" lang="en-US" sz="18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to the target audience and that demonstrates an advantage over competing brands.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40404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42720" lvl="0" marL="343080" marR="0" rtl="0" algn="l">
              <a:lnSpc>
                <a:spcPct val="100000"/>
              </a:lnSpc>
              <a:spcBef>
                <a:spcPts val="1001"/>
              </a:spcBef>
              <a:spcAft>
                <a:spcPts val="0"/>
              </a:spcAft>
              <a:buClr>
                <a:srgbClr val="E78712"/>
              </a:buClr>
              <a:buSzPts val="2400"/>
              <a:buFont typeface="Noto Sans Symbols"/>
              <a:buChar char="🠶"/>
            </a:pPr>
            <a:r>
              <a:rPr b="1" i="0" lang="en-US" sz="2400" u="none" cap="none" strike="noStrike">
                <a:solidFill>
                  <a:srgbClr val="FF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McDonalds cleanliness </a:t>
            </a:r>
            <a:r>
              <a:rPr b="0" i="0" lang="en-US" sz="18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is certainly one of the important parts of the culture and identity. It would be unlikely to be a part of the brand position, however, because </a:t>
            </a:r>
            <a:r>
              <a:rPr b="0" i="0" lang="en-US" sz="1800" u="none" cap="none" strike="noStrike">
                <a:solidFill>
                  <a:srgbClr val="FF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it would not differentiate McDonalds from its major competitors.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32"/>
          <p:cNvSpPr txBox="1"/>
          <p:nvPr/>
        </p:nvSpPr>
        <p:spPr>
          <a:xfrm>
            <a:off x="2477160" y="1036080"/>
            <a:ext cx="8911440" cy="4836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Liril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400" u="none" cap="none" strike="noStrike">
                <a:solidFill>
                  <a:srgbClr val="FF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WHAT</a:t>
            </a:r>
            <a:r>
              <a:rPr b="0" i="0" lang="en-US" sz="2400" u="none" cap="none" strike="noStrik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- Key Benefit- Freshness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400" u="none" cap="none" strike="noStrike">
                <a:solidFill>
                  <a:srgbClr val="FF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WHOM</a:t>
            </a:r>
            <a:r>
              <a:rPr b="0" i="0" lang="en-US" sz="2400" u="none" cap="none" strike="noStrik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- Target Group- Young Active life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400" u="none" cap="none" strike="noStrike">
                <a:solidFill>
                  <a:srgbClr val="FF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WHY</a:t>
            </a:r>
            <a:r>
              <a:rPr b="0" i="0" lang="en-US" sz="2400" u="none" cap="none" strike="noStrik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- Reason To believe- Lime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2400" u="none" cap="none" strike="noStrik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Dove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400" u="none" cap="none" strike="noStrik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WHAT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400" u="none" cap="none" strike="noStrik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WHOM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400" u="none" cap="none" strike="noStrik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WHY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24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descr="https://tse2.mm.bing.net/th?id=OIP.Tw_-Wq4waw1YAIes0QxymgHaFr&amp;pid=Api&amp;P=0&amp;h=180" id="357" name="Google Shape;357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66687" y="3308240"/>
            <a:ext cx="2238375" cy="1714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cdn01.pharmeasy.in/dam/products_otc/P44152/liril-lemon-tea-tree-soap-125-g-2-1671741758.jpg?dim=700x0&amp;dpr=1&amp;q=100" id="358" name="Google Shape;358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00519" y="1493759"/>
            <a:ext cx="2288081" cy="14986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33"/>
          <p:cNvSpPr txBox="1"/>
          <p:nvPr/>
        </p:nvSpPr>
        <p:spPr>
          <a:xfrm>
            <a:off x="2245320" y="2298240"/>
            <a:ext cx="8911440" cy="4243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Moist skin- 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3600" u="none" cap="none" strike="noStrik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Dry skin problem- 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3600" u="none" cap="none" strike="noStrik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1/4</a:t>
            </a:r>
            <a:r>
              <a:rPr b="0" baseline="30000" i="0" lang="en-US" sz="3600" u="none" cap="none" strike="noStrik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</a:t>
            </a:r>
            <a:r>
              <a:rPr b="0" i="0" lang="en-US" sz="3600" u="none" cap="none" strike="noStrik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moisturizer</a:t>
            </a:r>
            <a:endParaRPr b="0" i="0" sz="36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34"/>
          <p:cNvSpPr txBox="1"/>
          <p:nvPr/>
        </p:nvSpPr>
        <p:spPr>
          <a:xfrm>
            <a:off x="2593080" y="624240"/>
            <a:ext cx="8911440" cy="1280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Who am i? Why buy me?</a:t>
            </a:r>
            <a:endParaRPr b="0" i="0" sz="36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69" name="Google Shape;369;p34"/>
          <p:cNvSpPr txBox="1"/>
          <p:nvPr/>
        </p:nvSpPr>
        <p:spPr>
          <a:xfrm>
            <a:off x="2589120" y="2133720"/>
            <a:ext cx="8915040" cy="3777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1000" lnSpcReduction="20000"/>
          </a:bodyPr>
          <a:lstStyle/>
          <a:p>
            <a:pPr indent="-342720" lvl="0" marL="3430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8712"/>
              </a:buClr>
              <a:buSzPct val="100000"/>
              <a:buFont typeface="Noto Sans Symbols"/>
              <a:buChar char="🠶"/>
            </a:pPr>
            <a:r>
              <a:rPr b="0" i="0" lang="en-US" sz="18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Who am i? ANSWER- SOAP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720" lvl="0" marL="343080" marR="0" rtl="0" algn="l">
              <a:lnSpc>
                <a:spcPct val="100000"/>
              </a:lnSpc>
              <a:spcBef>
                <a:spcPts val="1001"/>
              </a:spcBef>
              <a:spcAft>
                <a:spcPts val="0"/>
              </a:spcAft>
              <a:buClr>
                <a:srgbClr val="E78712"/>
              </a:buClr>
              <a:buSzPct val="100000"/>
              <a:buFont typeface="Noto Sans Symbols"/>
              <a:buChar char="🠶"/>
            </a:pPr>
            <a:r>
              <a:rPr b="0" i="0" lang="en-US" sz="18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Why buy me? ANSWER- I clean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720" lvl="0" marL="343080" marR="0" rtl="0" algn="l">
              <a:lnSpc>
                <a:spcPct val="100000"/>
              </a:lnSpc>
              <a:spcBef>
                <a:spcPts val="1001"/>
              </a:spcBef>
              <a:spcAft>
                <a:spcPts val="0"/>
              </a:spcAft>
              <a:buClr>
                <a:srgbClr val="E78712"/>
              </a:buClr>
              <a:buSzPct val="100000"/>
              <a:buFont typeface="Noto Sans Symbols"/>
              <a:buChar char="🠶"/>
            </a:pPr>
            <a:r>
              <a:rPr b="0" i="0" lang="en-US" sz="18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NO -Then no spot occupied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40404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42720" lvl="0" marL="343080" marR="0" rtl="0" algn="l">
              <a:lnSpc>
                <a:spcPct val="100000"/>
              </a:lnSpc>
              <a:spcBef>
                <a:spcPts val="1001"/>
              </a:spcBef>
              <a:spcAft>
                <a:spcPts val="0"/>
              </a:spcAft>
              <a:buClr>
                <a:srgbClr val="E78712"/>
              </a:buClr>
              <a:buSzPct val="100000"/>
              <a:buFont typeface="Noto Sans Symbols"/>
              <a:buChar char="🠶"/>
            </a:pPr>
            <a:r>
              <a:rPr b="0" i="0" lang="en-US" sz="1800" u="none" cap="none" strike="noStrike">
                <a:solidFill>
                  <a:srgbClr val="FF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What role my brand play in the life of customers?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720" lvl="0" marL="343080" marR="0" rtl="0" algn="l">
              <a:lnSpc>
                <a:spcPct val="100000"/>
              </a:lnSpc>
              <a:spcBef>
                <a:spcPts val="1001"/>
              </a:spcBef>
              <a:spcAft>
                <a:spcPts val="0"/>
              </a:spcAft>
              <a:buClr>
                <a:srgbClr val="E78712"/>
              </a:buClr>
              <a:buSzPct val="100000"/>
              <a:buFont typeface="Noto Sans Symbols"/>
              <a:buChar char="🠶"/>
            </a:pPr>
            <a:r>
              <a:rPr b="0" i="0" lang="en-US" sz="1800" u="none" cap="none" strike="noStrike">
                <a:solidFill>
                  <a:srgbClr val="FF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What do I do that others don’t?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720" lvl="0" marL="343080" marR="0" rtl="0" algn="l">
              <a:lnSpc>
                <a:spcPct val="100000"/>
              </a:lnSpc>
              <a:spcBef>
                <a:spcPts val="1001"/>
              </a:spcBef>
              <a:spcAft>
                <a:spcPts val="0"/>
              </a:spcAft>
              <a:buClr>
                <a:srgbClr val="E78712"/>
              </a:buClr>
              <a:buSzPct val="100000"/>
              <a:buFont typeface="Noto Sans Symbols"/>
              <a:buChar char="🠶"/>
            </a:pPr>
            <a:r>
              <a:rPr b="0" i="0" lang="en-US" sz="1800" u="none" cap="none" strike="noStrike">
                <a:solidFill>
                  <a:srgbClr val="FF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Why should you believe my brand?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40404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42720" lvl="0" marL="343080" marR="0" rtl="0" algn="l">
              <a:lnSpc>
                <a:spcPct val="100000"/>
              </a:lnSpc>
              <a:spcBef>
                <a:spcPts val="1001"/>
              </a:spcBef>
              <a:spcAft>
                <a:spcPts val="0"/>
              </a:spcAft>
              <a:buClr>
                <a:srgbClr val="E78712"/>
              </a:buClr>
              <a:buSzPct val="100000"/>
              <a:buFont typeface="Noto Sans Symbols"/>
              <a:buChar char="🠶"/>
            </a:pPr>
            <a:r>
              <a:rPr b="0" i="0" lang="en-US" sz="18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DOVE-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720" lvl="0" marL="343080" marR="0" rtl="0" algn="l">
              <a:lnSpc>
                <a:spcPct val="100000"/>
              </a:lnSpc>
              <a:spcBef>
                <a:spcPts val="1001"/>
              </a:spcBef>
              <a:spcAft>
                <a:spcPts val="0"/>
              </a:spcAft>
              <a:buClr>
                <a:srgbClr val="E78712"/>
              </a:buClr>
              <a:buSzPct val="100000"/>
              <a:buFont typeface="Noto Sans Symbols"/>
              <a:buChar char="🠶"/>
            </a:pPr>
            <a:r>
              <a:rPr b="0" i="0" lang="en-US" sz="18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Role –Empowerment, Self esteem booster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720" lvl="0" marL="343080" marR="0" rtl="0" algn="l">
              <a:lnSpc>
                <a:spcPct val="100000"/>
              </a:lnSpc>
              <a:spcBef>
                <a:spcPts val="1001"/>
              </a:spcBef>
              <a:spcAft>
                <a:spcPts val="0"/>
              </a:spcAft>
              <a:buClr>
                <a:srgbClr val="E78712"/>
              </a:buClr>
              <a:buSzPct val="100000"/>
              <a:buFont typeface="Noto Sans Symbols"/>
              <a:buChar char="🠶"/>
            </a:pPr>
            <a:r>
              <a:rPr b="0" i="0" lang="en-US" sz="18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Why buy/ others don’t-/ Unique- I make soft skin and don’t make skin dry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720" lvl="0" marL="343080" marR="0" rtl="0" algn="l">
              <a:lnSpc>
                <a:spcPct val="100000"/>
              </a:lnSpc>
              <a:spcBef>
                <a:spcPts val="1001"/>
              </a:spcBef>
              <a:spcAft>
                <a:spcPts val="0"/>
              </a:spcAft>
              <a:buClr>
                <a:srgbClr val="E78712"/>
              </a:buClr>
              <a:buSzPct val="100000"/>
              <a:buFont typeface="Noto Sans Symbols"/>
              <a:buChar char="🠶"/>
            </a:pPr>
            <a:r>
              <a:rPr b="0" i="0" lang="en-US" sz="18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Believe- Because it has 1/4</a:t>
            </a:r>
            <a:r>
              <a:rPr b="0" baseline="30000" i="0" lang="en-US" sz="18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</a:t>
            </a:r>
            <a:r>
              <a:rPr b="0" i="0" lang="en-US" sz="18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moisturizer</a:t>
            </a:r>
            <a:endParaRPr b="0" i="0" sz="1800" u="none" cap="none" strike="noStrike">
              <a:solidFill>
                <a:srgbClr val="40404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40404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40404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35"/>
          <p:cNvSpPr txBox="1"/>
          <p:nvPr/>
        </p:nvSpPr>
        <p:spPr>
          <a:xfrm>
            <a:off x="1847528" y="908720"/>
            <a:ext cx="8915040" cy="5070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8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What comes to your mind- one word</a:t>
            </a:r>
            <a:endParaRPr b="0" i="0" sz="2800" u="none" cap="none" strike="noStrike">
              <a:solidFill>
                <a:srgbClr val="40404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40404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600" u="none" cap="none" strike="noStrike">
                <a:solidFill>
                  <a:srgbClr val="FF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Volvo, Chings, Rayban, Raymonds, Kitkat</a:t>
            </a:r>
            <a:endParaRPr b="1" i="0" sz="2600" u="none" cap="none" strike="noStrike">
              <a:solidFill>
                <a:srgbClr val="FF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40404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40404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42720" lvl="0" marL="343080" marR="0" rtl="0" algn="l">
              <a:lnSpc>
                <a:spcPct val="100000"/>
              </a:lnSpc>
              <a:spcBef>
                <a:spcPts val="1001"/>
              </a:spcBef>
              <a:spcAft>
                <a:spcPts val="0"/>
              </a:spcAft>
              <a:buClr>
                <a:srgbClr val="E78712"/>
              </a:buClr>
              <a:buSzPct val="100000"/>
              <a:buFont typeface="Noto Sans Symbols"/>
              <a:buChar char="🠶"/>
            </a:pPr>
            <a:r>
              <a:rPr b="0" i="0" lang="en-US" sz="18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Sharply positioned brand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720" lvl="0" marL="343080" marR="0" rtl="0" algn="l">
              <a:lnSpc>
                <a:spcPct val="100000"/>
              </a:lnSpc>
              <a:spcBef>
                <a:spcPts val="1001"/>
              </a:spcBef>
              <a:spcAft>
                <a:spcPts val="0"/>
              </a:spcAft>
              <a:buClr>
                <a:srgbClr val="E78712"/>
              </a:buClr>
              <a:buSzPct val="100000"/>
              <a:buFont typeface="Noto Sans Symbols"/>
              <a:buChar char="🠶"/>
            </a:pPr>
            <a:r>
              <a:rPr b="0" i="0" lang="en-US" sz="18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 single word encapsulates the essence of the brand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720" lvl="0" marL="343080" marR="0" rtl="0" algn="l">
              <a:lnSpc>
                <a:spcPct val="100000"/>
              </a:lnSpc>
              <a:spcBef>
                <a:spcPts val="1001"/>
              </a:spcBef>
              <a:spcAft>
                <a:spcPts val="0"/>
              </a:spcAft>
              <a:buClr>
                <a:srgbClr val="E78712"/>
              </a:buClr>
              <a:buSzPct val="100000"/>
              <a:buFont typeface="Noto Sans Symbols"/>
              <a:buChar char="🠶"/>
            </a:pPr>
            <a:r>
              <a:rPr b="0" i="0" lang="en-US" sz="18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Consumer cant remember everything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720" lvl="0" marL="343080" marR="0" rtl="0" algn="l">
              <a:lnSpc>
                <a:spcPct val="100000"/>
              </a:lnSpc>
              <a:spcBef>
                <a:spcPts val="1001"/>
              </a:spcBef>
              <a:spcAft>
                <a:spcPts val="0"/>
              </a:spcAft>
              <a:buClr>
                <a:srgbClr val="E78712"/>
              </a:buClr>
              <a:buSzPct val="100000"/>
              <a:buFont typeface="Noto Sans Symbols"/>
              <a:buChar char="🠶"/>
            </a:pPr>
            <a:r>
              <a:rPr b="0" i="0" lang="en-US" sz="18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One word- Essay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720" lvl="0" marL="343080" marR="0" rtl="0" algn="l">
              <a:lnSpc>
                <a:spcPct val="100000"/>
              </a:lnSpc>
              <a:spcBef>
                <a:spcPts val="1001"/>
              </a:spcBef>
              <a:spcAft>
                <a:spcPts val="0"/>
              </a:spcAft>
              <a:buClr>
                <a:srgbClr val="E78712"/>
              </a:buClr>
              <a:buSzPct val="100000"/>
              <a:buFont typeface="Noto Sans Symbols"/>
              <a:buChar char="🠶"/>
            </a:pPr>
            <a:r>
              <a:rPr b="0" i="0" lang="en-US" sz="18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What lies at the heart of the brand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40404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40404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2900" u="none" cap="none" strike="noStrike">
                <a:solidFill>
                  <a:srgbClr val="FF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Harley Davidson</a:t>
            </a:r>
            <a:endParaRPr b="0" i="0" sz="2900" u="none" cap="none" strike="noStrike">
              <a:solidFill>
                <a:srgbClr val="FF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40404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40404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40404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40404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36"/>
          <p:cNvSpPr txBox="1"/>
          <p:nvPr/>
        </p:nvSpPr>
        <p:spPr>
          <a:xfrm>
            <a:off x="2593080" y="624240"/>
            <a:ext cx="8911440" cy="1280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Harley </a:t>
            </a:r>
            <a:r>
              <a:rPr b="1" i="0" lang="en-US" sz="3600" u="none" cap="none" strike="noStrike">
                <a:solidFill>
                  <a:srgbClr val="FF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Davidson</a:t>
            </a:r>
            <a:endParaRPr b="0" i="0" sz="3600" u="none" cap="none" strike="noStrike">
              <a:solidFill>
                <a:srgbClr val="FF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80" name="Google Shape;380;p36"/>
          <p:cNvSpPr txBox="1"/>
          <p:nvPr/>
        </p:nvSpPr>
        <p:spPr>
          <a:xfrm>
            <a:off x="2589120" y="2133720"/>
            <a:ext cx="8915040" cy="3777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720" lvl="0" marL="3430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8712"/>
              </a:buClr>
              <a:buSzPts val="1800"/>
              <a:buFont typeface="Noto Sans Symbols"/>
              <a:buChar char="🠶"/>
            </a:pPr>
            <a:r>
              <a:rPr b="0" i="0" lang="en-US" sz="18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Different answers/Why so?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720" lvl="0" marL="343080" marR="0" rtl="0" algn="l">
              <a:lnSpc>
                <a:spcPct val="100000"/>
              </a:lnSpc>
              <a:spcBef>
                <a:spcPts val="1001"/>
              </a:spcBef>
              <a:spcAft>
                <a:spcPts val="0"/>
              </a:spcAft>
              <a:buClr>
                <a:srgbClr val="E78712"/>
              </a:buClr>
              <a:buSzPts val="1800"/>
              <a:buFont typeface="Noto Sans Symbols"/>
              <a:buChar char="🠶"/>
            </a:pPr>
            <a:r>
              <a:rPr b="0" i="0" lang="en-US" sz="18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Some brands- single word- ideal positioning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720" lvl="0" marL="343080" marR="0" rtl="0" algn="l">
              <a:lnSpc>
                <a:spcPct val="100000"/>
              </a:lnSpc>
              <a:spcBef>
                <a:spcPts val="1001"/>
              </a:spcBef>
              <a:spcAft>
                <a:spcPts val="0"/>
              </a:spcAft>
              <a:buClr>
                <a:srgbClr val="E78712"/>
              </a:buClr>
              <a:buSzPts val="1800"/>
              <a:buFont typeface="Noto Sans Symbols"/>
              <a:buChar char="🠶"/>
            </a:pPr>
            <a:r>
              <a:rPr b="0" i="0" lang="en-US" sz="18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Other brands- 3 to 4 words to describe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720" lvl="0" marL="343080" marR="0" rtl="0" algn="l">
              <a:lnSpc>
                <a:spcPct val="100000"/>
              </a:lnSpc>
              <a:spcBef>
                <a:spcPts val="1001"/>
              </a:spcBef>
              <a:spcAft>
                <a:spcPts val="0"/>
              </a:spcAft>
              <a:buClr>
                <a:srgbClr val="E78712"/>
              </a:buClr>
              <a:buSzPts val="1800"/>
              <a:buFont typeface="Noto Sans Symbols"/>
              <a:buChar char="🠶"/>
            </a:pPr>
            <a:r>
              <a:rPr b="0" i="0" lang="en-US" sz="18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Adventure/Freedom/Lifestyle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40404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42720" lvl="0" marL="343080" marR="0" rtl="0" algn="l">
              <a:lnSpc>
                <a:spcPct val="100000"/>
              </a:lnSpc>
              <a:spcBef>
                <a:spcPts val="1001"/>
              </a:spcBef>
              <a:spcAft>
                <a:spcPts val="0"/>
              </a:spcAft>
              <a:buClr>
                <a:srgbClr val="E78712"/>
              </a:buClr>
              <a:buSzPts val="1800"/>
              <a:buFont typeface="Noto Sans Symbols"/>
              <a:buChar char="🠶"/>
            </a:pPr>
            <a:r>
              <a:rPr b="0" i="0" lang="en-US" sz="1800" u="none" cap="none" strike="noStrike">
                <a:solidFill>
                  <a:srgbClr val="FF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Snickers- Hungry Kya?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37"/>
          <p:cNvSpPr txBox="1"/>
          <p:nvPr/>
        </p:nvSpPr>
        <p:spPr>
          <a:xfrm>
            <a:off x="2593080" y="624240"/>
            <a:ext cx="8911440" cy="1280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Can you explain your brand in 7 seconds</a:t>
            </a:r>
            <a:endParaRPr b="0" i="0" sz="36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86" name="Google Shape;386;p37"/>
          <p:cNvSpPr txBox="1"/>
          <p:nvPr/>
        </p:nvSpPr>
        <p:spPr>
          <a:xfrm>
            <a:off x="2589120" y="2133720"/>
            <a:ext cx="8915040" cy="3777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720" lvl="0" marL="3430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8712"/>
              </a:buClr>
              <a:buSzPts val="1800"/>
              <a:buFont typeface="Noto Sans Symbols"/>
              <a:buChar char="🠶"/>
            </a:pPr>
            <a:r>
              <a:rPr b="0" i="0" lang="en-US" sz="1800" u="none" cap="none" strike="noStrike">
                <a:solidFill>
                  <a:srgbClr val="FF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Apple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720" lvl="0" marL="343080" marR="0" rtl="0" algn="l">
              <a:lnSpc>
                <a:spcPct val="100000"/>
              </a:lnSpc>
              <a:spcBef>
                <a:spcPts val="1001"/>
              </a:spcBef>
              <a:spcAft>
                <a:spcPts val="0"/>
              </a:spcAft>
              <a:buClr>
                <a:srgbClr val="E78712"/>
              </a:buClr>
              <a:buSzPts val="1800"/>
              <a:buFont typeface="Noto Sans Symbols"/>
              <a:buChar char="🠶"/>
            </a:pPr>
            <a:r>
              <a:rPr b="0" i="0" lang="en-US" sz="1800" u="none" cap="none" strike="noStrike">
                <a:solidFill>
                  <a:srgbClr val="FF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Dove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720" lvl="0" marL="343080" marR="0" rtl="0" algn="l">
              <a:lnSpc>
                <a:spcPct val="100000"/>
              </a:lnSpc>
              <a:spcBef>
                <a:spcPts val="1001"/>
              </a:spcBef>
              <a:spcAft>
                <a:spcPts val="0"/>
              </a:spcAft>
              <a:buClr>
                <a:srgbClr val="E78712"/>
              </a:buClr>
              <a:buSzPts val="1800"/>
              <a:buFont typeface="Noto Sans Symbols"/>
              <a:buChar char="🠶"/>
            </a:pPr>
            <a:r>
              <a:rPr b="0" i="0" lang="en-US" sz="1800" u="none" cap="none" strike="noStrike">
                <a:solidFill>
                  <a:srgbClr val="FF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Starbucks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40404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42720" lvl="0" marL="343080" marR="0" rtl="0" algn="l">
              <a:lnSpc>
                <a:spcPct val="100000"/>
              </a:lnSpc>
              <a:spcBef>
                <a:spcPts val="1001"/>
              </a:spcBef>
              <a:spcAft>
                <a:spcPts val="0"/>
              </a:spcAft>
              <a:buClr>
                <a:srgbClr val="E78712"/>
              </a:buClr>
              <a:buSzPts val="1800"/>
              <a:buFont typeface="Noto Sans Symbols"/>
              <a:buChar char="🠶"/>
            </a:pPr>
            <a:r>
              <a:rPr b="0" i="0" lang="en-US" sz="18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Simplicity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720" lvl="0" marL="343080" marR="0" rtl="0" algn="l">
              <a:lnSpc>
                <a:spcPct val="100000"/>
              </a:lnSpc>
              <a:spcBef>
                <a:spcPts val="1001"/>
              </a:spcBef>
              <a:spcAft>
                <a:spcPts val="0"/>
              </a:spcAft>
              <a:buClr>
                <a:srgbClr val="E78712"/>
              </a:buClr>
              <a:buSzPts val="1800"/>
              <a:buFont typeface="Noto Sans Symbols"/>
              <a:buChar char="🠶"/>
            </a:pPr>
            <a:r>
              <a:rPr b="0" i="0" lang="en-US" sz="18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Real beauty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720" lvl="0" marL="343080" marR="0" rtl="0" algn="l">
              <a:lnSpc>
                <a:spcPct val="100000"/>
              </a:lnSpc>
              <a:spcBef>
                <a:spcPts val="1001"/>
              </a:spcBef>
              <a:spcAft>
                <a:spcPts val="0"/>
              </a:spcAft>
              <a:buClr>
                <a:srgbClr val="E78712"/>
              </a:buClr>
              <a:buSzPts val="1800"/>
              <a:buFont typeface="Noto Sans Symbols"/>
              <a:buChar char="🠶"/>
            </a:pPr>
            <a:r>
              <a:rPr b="0" i="0" lang="en-US" sz="18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Moments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38"/>
          <p:cNvSpPr txBox="1"/>
          <p:nvPr/>
        </p:nvSpPr>
        <p:spPr>
          <a:xfrm>
            <a:off x="2593080" y="624240"/>
            <a:ext cx="8911440" cy="1280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Can the same brand have different positioning in different markets</a:t>
            </a:r>
            <a:endParaRPr b="0" i="0" sz="36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92" name="Google Shape;392;p38"/>
          <p:cNvSpPr txBox="1"/>
          <p:nvPr/>
        </p:nvSpPr>
        <p:spPr>
          <a:xfrm>
            <a:off x="2579524" y="2133720"/>
            <a:ext cx="8915040" cy="3777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720" lvl="0" marL="3430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8712"/>
              </a:buClr>
              <a:buSzPts val="1800"/>
              <a:buFont typeface="Noto Sans Symbols"/>
              <a:buChar char="🠶"/>
            </a:pPr>
            <a:r>
              <a:rPr b="0" i="0" lang="en-US" sz="18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MTR-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420" lvl="0" marL="343080" marR="0" rtl="0" algn="l">
              <a:lnSpc>
                <a:spcPct val="100000"/>
              </a:lnSpc>
              <a:spcBef>
                <a:spcPts val="1001"/>
              </a:spcBef>
              <a:spcAft>
                <a:spcPts val="0"/>
              </a:spcAft>
              <a:buClr>
                <a:srgbClr val="E78712"/>
              </a:buClr>
              <a:buSzPts val="1800"/>
              <a:buFont typeface="Noto Sans Symbols"/>
              <a:buNone/>
            </a:pPr>
            <a:r>
              <a:t/>
            </a:r>
            <a:endParaRPr b="1" i="0" sz="1800" u="none" cap="none" strike="noStrike">
              <a:solidFill>
                <a:srgbClr val="40404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360" marR="0" rtl="0" algn="l">
              <a:lnSpc>
                <a:spcPct val="10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South</a:t>
            </a:r>
            <a:r>
              <a:rPr b="1" i="0" lang="en-US" sz="18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b="0" i="0" lang="en-US" sz="18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- Convenience, avoid labor, Time saved, all process gone, have knowledge want to save time, everyday same process boredom, Instant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800" u="none" cap="none" strike="noStrike">
                <a:solidFill>
                  <a:srgbClr val="FF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North</a:t>
            </a:r>
            <a:r>
              <a:rPr b="1" i="0" lang="en-US" sz="18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b="0" i="0" lang="en-US" sz="18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- Confidence- what's this- Family reaction, 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ttps://cdn.dnaindia.com/sites/default/files/styles/full/public/2018/06/03/689278-tanishq-mia.jpg" id="397" name="Google Shape;397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14673" y="841394"/>
            <a:ext cx="9310397" cy="52370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40"/>
          <p:cNvSpPr txBox="1"/>
          <p:nvPr/>
        </p:nvSpPr>
        <p:spPr>
          <a:xfrm>
            <a:off x="2589120" y="2133720"/>
            <a:ext cx="8915040" cy="3777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720" lvl="0" marL="3430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8712"/>
              </a:buClr>
              <a:buSzPts val="1800"/>
              <a:buFont typeface="Noto Sans Symbols"/>
              <a:buChar char="🠶"/>
            </a:pPr>
            <a:r>
              <a:rPr b="1" i="0" lang="en-US" sz="1800" u="none" cap="none" strike="noStrike">
                <a:solidFill>
                  <a:srgbClr val="FF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Graphical representation </a:t>
            </a:r>
            <a:r>
              <a:rPr b="1" i="0" lang="en-US" sz="18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on how customers see different brands in the category</a:t>
            </a:r>
            <a:endParaRPr b="0" i="0" sz="1800" u="none" cap="none" strike="noStrike">
              <a:solidFill>
                <a:srgbClr val="40404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42720" lvl="0" marL="343080" marR="0" rtl="0" algn="l">
              <a:lnSpc>
                <a:spcPct val="100000"/>
              </a:lnSpc>
              <a:spcBef>
                <a:spcPts val="1001"/>
              </a:spcBef>
              <a:spcAft>
                <a:spcPts val="0"/>
              </a:spcAft>
              <a:buClr>
                <a:srgbClr val="E78712"/>
              </a:buClr>
              <a:buSzPts val="1800"/>
              <a:buFont typeface="Noto Sans Symbols"/>
              <a:buChar char="🠶"/>
            </a:pPr>
            <a:r>
              <a:rPr b="0" i="0" lang="en-US" sz="1800" u="none" cap="none" strike="noStrike">
                <a:solidFill>
                  <a:srgbClr val="FF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Which slot </a:t>
            </a:r>
            <a:r>
              <a:rPr b="0" i="0" lang="en-US" sz="18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is occupied by brand</a:t>
            </a:r>
            <a:endParaRPr b="0" i="0" sz="1800" u="none" cap="none" strike="noStrike">
              <a:solidFill>
                <a:srgbClr val="40404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42720" lvl="0" marL="343080" marR="0" rtl="0" algn="l">
              <a:lnSpc>
                <a:spcPct val="100000"/>
              </a:lnSpc>
              <a:spcBef>
                <a:spcPts val="1001"/>
              </a:spcBef>
              <a:spcAft>
                <a:spcPts val="0"/>
              </a:spcAft>
              <a:buClr>
                <a:srgbClr val="E78712"/>
              </a:buClr>
              <a:buSzPts val="1800"/>
              <a:buFont typeface="Noto Sans Symbols"/>
              <a:buChar char="🠶"/>
            </a:pPr>
            <a:r>
              <a:rPr b="0" i="0" lang="en-US" sz="1800" u="none" cap="none" strike="noStrike">
                <a:solidFill>
                  <a:srgbClr val="FF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Capturing it on paper </a:t>
            </a:r>
            <a:r>
              <a:rPr b="0" i="0" lang="en-US" sz="18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is perceptual map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720" lvl="0" marL="343080" marR="0" rtl="0" algn="l">
              <a:lnSpc>
                <a:spcPct val="100000"/>
              </a:lnSpc>
              <a:spcBef>
                <a:spcPts val="1001"/>
              </a:spcBef>
              <a:spcAft>
                <a:spcPts val="0"/>
              </a:spcAft>
              <a:buClr>
                <a:srgbClr val="E78712"/>
              </a:buClr>
              <a:buSzPts val="1800"/>
              <a:buFont typeface="Noto Sans Symbols"/>
              <a:buChar char="🠶"/>
            </a:pPr>
            <a:r>
              <a:rPr b="0" i="0" lang="en-US" sz="18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Capture dimension then map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720" lvl="0" marL="343080" marR="0" rtl="0" algn="l">
              <a:lnSpc>
                <a:spcPct val="100000"/>
              </a:lnSpc>
              <a:spcBef>
                <a:spcPts val="1001"/>
              </a:spcBef>
              <a:spcAft>
                <a:spcPts val="0"/>
              </a:spcAft>
              <a:buClr>
                <a:srgbClr val="E78712"/>
              </a:buClr>
              <a:buSzPts val="1800"/>
              <a:buFont typeface="Noto Sans Symbols"/>
              <a:buChar char="🠶"/>
            </a:pPr>
            <a:r>
              <a:rPr b="0" i="0" lang="en-US" sz="18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Factor analysis- factors that customer considers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720" lvl="0" marL="343080" marR="0" rtl="0" algn="l">
              <a:lnSpc>
                <a:spcPct val="100000"/>
              </a:lnSpc>
              <a:spcBef>
                <a:spcPts val="1001"/>
              </a:spcBef>
              <a:spcAft>
                <a:spcPts val="0"/>
              </a:spcAft>
              <a:buClr>
                <a:srgbClr val="E78712"/>
              </a:buClr>
              <a:buSzPts val="1800"/>
              <a:buFont typeface="Noto Sans Symbols"/>
              <a:buChar char="🠶"/>
            </a:pPr>
            <a:r>
              <a:rPr b="0" i="0" lang="en-US" sz="18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Rate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40404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03" name="Google Shape;403;p40"/>
          <p:cNvSpPr txBox="1"/>
          <p:nvPr/>
        </p:nvSpPr>
        <p:spPr>
          <a:xfrm>
            <a:off x="2593080" y="624240"/>
            <a:ext cx="8911440" cy="1280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Perceptual Mapping or Positioning Map</a:t>
            </a:r>
            <a:endParaRPr b="0" i="0" sz="36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8" name="Google Shape;408;p41"/>
          <p:cNvGrpSpPr/>
          <p:nvPr/>
        </p:nvGrpSpPr>
        <p:grpSpPr>
          <a:xfrm>
            <a:off x="3935760" y="1092960"/>
            <a:ext cx="5433480" cy="4227120"/>
            <a:chOff x="3045600" y="1103400"/>
            <a:chExt cx="5433480" cy="4227120"/>
          </a:xfrm>
        </p:grpSpPr>
        <p:sp>
          <p:nvSpPr>
            <p:cNvPr id="409" name="Google Shape;409;p41"/>
            <p:cNvSpPr/>
            <p:nvPr/>
          </p:nvSpPr>
          <p:spPr>
            <a:xfrm>
              <a:off x="3045600" y="1103400"/>
              <a:ext cx="5433480" cy="4227120"/>
            </a:xfrm>
            <a:prstGeom prst="quadArrow">
              <a:avLst>
                <a:gd fmla="val 2000" name="adj1"/>
                <a:gd fmla="val 4000" name="adj2"/>
                <a:gd fmla="val 5000" name="adj3"/>
              </a:avLst>
            </a:prstGeom>
            <a:solidFill>
              <a:srgbClr val="CFDE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0" name="Google Shape;410;p41"/>
            <p:cNvSpPr/>
            <p:nvPr/>
          </p:nvSpPr>
          <p:spPr>
            <a:xfrm>
              <a:off x="3480480" y="1383480"/>
              <a:ext cx="2040480" cy="1690560"/>
            </a:xfrm>
            <a:prstGeom prst="roundRect">
              <a:avLst>
                <a:gd fmla="val 16667" name="adj"/>
              </a:avLst>
            </a:prstGeom>
            <a:solidFill>
              <a:srgbClr val="FFC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1" name="Google Shape;411;p41"/>
            <p:cNvSpPr/>
            <p:nvPr/>
          </p:nvSpPr>
          <p:spPr>
            <a:xfrm>
              <a:off x="5992560" y="1383480"/>
              <a:ext cx="2037600" cy="1690560"/>
            </a:xfrm>
            <a:prstGeom prst="roundRect">
              <a:avLst>
                <a:gd fmla="val 16667" name="adj"/>
              </a:avLst>
            </a:prstGeom>
            <a:solidFill>
              <a:srgbClr val="00B0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2" name="Google Shape;412;p41"/>
            <p:cNvSpPr/>
            <p:nvPr/>
          </p:nvSpPr>
          <p:spPr>
            <a:xfrm>
              <a:off x="3474360" y="3404160"/>
              <a:ext cx="2030040" cy="1690560"/>
            </a:xfrm>
            <a:prstGeom prst="roundRect">
              <a:avLst>
                <a:gd fmla="val 16667" name="adj"/>
              </a:avLst>
            </a:prstGeom>
            <a:solidFill>
              <a:srgbClr val="00B0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3" name="Google Shape;413;p41"/>
            <p:cNvSpPr/>
            <p:nvPr/>
          </p:nvSpPr>
          <p:spPr>
            <a:xfrm>
              <a:off x="5970240" y="3376440"/>
              <a:ext cx="2059920" cy="1690560"/>
            </a:xfrm>
            <a:prstGeom prst="roundRect">
              <a:avLst>
                <a:gd fmla="val 16667" name="adj"/>
              </a:avLst>
            </a:prstGeom>
            <a:solidFill>
              <a:srgbClr val="92D0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14" name="Google Shape;414;p41"/>
          <p:cNvSpPr/>
          <p:nvPr/>
        </p:nvSpPr>
        <p:spPr>
          <a:xfrm>
            <a:off x="5944380" y="675741"/>
            <a:ext cx="14162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4B76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Medicinal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" name="Google Shape;415;p41"/>
          <p:cNvSpPr/>
          <p:nvPr/>
        </p:nvSpPr>
        <p:spPr>
          <a:xfrm>
            <a:off x="6266040" y="5510160"/>
            <a:ext cx="21891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4B76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Natural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" name="Google Shape;416;p41"/>
          <p:cNvSpPr/>
          <p:nvPr/>
        </p:nvSpPr>
        <p:spPr>
          <a:xfrm>
            <a:off x="9700029" y="3008880"/>
            <a:ext cx="2229840" cy="395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0B0F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Low efficiency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" name="Google Shape;417;p41"/>
          <p:cNvSpPr/>
          <p:nvPr/>
        </p:nvSpPr>
        <p:spPr>
          <a:xfrm>
            <a:off x="1888440" y="2709234"/>
            <a:ext cx="2047320" cy="821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0B0F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High Efficiency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2" name="Google Shape;422;p42"/>
          <p:cNvGrpSpPr/>
          <p:nvPr/>
        </p:nvGrpSpPr>
        <p:grpSpPr>
          <a:xfrm>
            <a:off x="3334680" y="2132280"/>
            <a:ext cx="5433480" cy="4227120"/>
            <a:chOff x="3334680" y="2132280"/>
            <a:chExt cx="5433480" cy="4227120"/>
          </a:xfrm>
        </p:grpSpPr>
        <p:sp>
          <p:nvSpPr>
            <p:cNvPr id="423" name="Google Shape;423;p42"/>
            <p:cNvSpPr/>
            <p:nvPr/>
          </p:nvSpPr>
          <p:spPr>
            <a:xfrm>
              <a:off x="3334680" y="2132280"/>
              <a:ext cx="5433480" cy="4227120"/>
            </a:xfrm>
            <a:prstGeom prst="quadArrow">
              <a:avLst>
                <a:gd fmla="val 2000" name="adj1"/>
                <a:gd fmla="val 4000" name="adj2"/>
                <a:gd fmla="val 5000" name="adj3"/>
              </a:avLst>
            </a:prstGeom>
            <a:solidFill>
              <a:srgbClr val="CFDE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4" name="Google Shape;424;p42"/>
            <p:cNvSpPr/>
            <p:nvPr/>
          </p:nvSpPr>
          <p:spPr>
            <a:xfrm>
              <a:off x="3782160" y="2399760"/>
              <a:ext cx="2040480" cy="1690560"/>
            </a:xfrm>
            <a:prstGeom prst="roundRect">
              <a:avLst>
                <a:gd fmla="val 16667" name="adj"/>
              </a:avLst>
            </a:prstGeom>
            <a:solidFill>
              <a:srgbClr val="FFC000"/>
            </a:solidFill>
            <a:ln>
              <a:noFill/>
            </a:ln>
          </p:spPr>
          <p:txBody>
            <a:bodyPr anchorCtr="0" anchor="ctr" bIns="151550" lIns="151200" spcFirstLastPara="1" rIns="68750" wrap="square" tIns="1512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rgbClr val="FFFFFF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Gelusil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90000"/>
                </a:lnSpc>
                <a:spcBef>
                  <a:spcPts val="629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rgbClr val="FFFFFF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Digene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5" name="Google Shape;425;p42"/>
            <p:cNvSpPr/>
            <p:nvPr/>
          </p:nvSpPr>
          <p:spPr>
            <a:xfrm>
              <a:off x="6281640" y="2412720"/>
              <a:ext cx="2037600" cy="1690560"/>
            </a:xfrm>
            <a:prstGeom prst="roundRect">
              <a:avLst>
                <a:gd fmla="val 16667" name="adj"/>
              </a:avLst>
            </a:prstGeom>
            <a:solidFill>
              <a:srgbClr val="00B0F0"/>
            </a:solidFill>
            <a:ln>
              <a:noFill/>
            </a:ln>
          </p:spPr>
          <p:txBody>
            <a:bodyPr anchorCtr="0" anchor="ctr" bIns="151550" lIns="151200" spcFirstLastPara="1" rIns="68750" wrap="square" tIns="1512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rgbClr val="000000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ENO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6" name="Google Shape;426;p42"/>
            <p:cNvSpPr/>
            <p:nvPr/>
          </p:nvSpPr>
          <p:spPr>
            <a:xfrm>
              <a:off x="3801960" y="4448160"/>
              <a:ext cx="2030040" cy="1690560"/>
            </a:xfrm>
            <a:prstGeom prst="roundRect">
              <a:avLst>
                <a:gd fmla="val 16667" name="adj"/>
              </a:avLst>
            </a:prstGeom>
            <a:solidFill>
              <a:srgbClr val="00B05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7" name="Google Shape;427;p42"/>
            <p:cNvSpPr/>
            <p:nvPr/>
          </p:nvSpPr>
          <p:spPr>
            <a:xfrm>
              <a:off x="6259320" y="4405320"/>
              <a:ext cx="2059920" cy="1690560"/>
            </a:xfrm>
            <a:prstGeom prst="roundRect">
              <a:avLst>
                <a:gd fmla="val 16667" name="adj"/>
              </a:avLst>
            </a:prstGeom>
            <a:solidFill>
              <a:srgbClr val="92D050"/>
            </a:solidFill>
            <a:ln>
              <a:noFill/>
            </a:ln>
          </p:spPr>
          <p:txBody>
            <a:bodyPr anchorCtr="0" anchor="ctr" bIns="151550" lIns="151200" spcFirstLastPara="1" rIns="68750" wrap="square" tIns="1512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rgbClr val="000000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Pudin Hara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28" name="Google Shape;428;p42"/>
          <p:cNvSpPr/>
          <p:nvPr/>
        </p:nvSpPr>
        <p:spPr>
          <a:xfrm>
            <a:off x="5344560" y="1613880"/>
            <a:ext cx="14162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4B76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Medicinal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" name="Google Shape;429;p42"/>
          <p:cNvSpPr/>
          <p:nvPr/>
        </p:nvSpPr>
        <p:spPr>
          <a:xfrm>
            <a:off x="5666760" y="6360120"/>
            <a:ext cx="21891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4B76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Natural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" name="Google Shape;430;p42"/>
          <p:cNvSpPr/>
          <p:nvPr/>
        </p:nvSpPr>
        <p:spPr>
          <a:xfrm>
            <a:off x="8755560" y="3918240"/>
            <a:ext cx="2229840" cy="395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0B0F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Low efficiency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1" name="Google Shape;431;p42"/>
          <p:cNvSpPr/>
          <p:nvPr/>
        </p:nvSpPr>
        <p:spPr>
          <a:xfrm>
            <a:off x="1328760" y="3502440"/>
            <a:ext cx="2047320" cy="821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0B0F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High Efficiency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2" name="Google Shape;432;p42"/>
          <p:cNvSpPr txBox="1"/>
          <p:nvPr/>
        </p:nvSpPr>
        <p:spPr>
          <a:xfrm>
            <a:off x="642240" y="213120"/>
            <a:ext cx="9404280" cy="7909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Perceptual Mapping or Positioning Map</a:t>
            </a:r>
            <a:endParaRPr b="0" i="0" sz="36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33" name="Google Shape;433;p42"/>
          <p:cNvSpPr txBox="1"/>
          <p:nvPr/>
        </p:nvSpPr>
        <p:spPr>
          <a:xfrm>
            <a:off x="10128448" y="332656"/>
            <a:ext cx="1584176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Pfizer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Abbott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Gsk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43"/>
          <p:cNvSpPr txBox="1"/>
          <p:nvPr/>
        </p:nvSpPr>
        <p:spPr>
          <a:xfrm>
            <a:off x="2593080" y="624240"/>
            <a:ext cx="8911440" cy="1280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Use - Analysis</a:t>
            </a:r>
            <a:endParaRPr b="0" i="0" sz="36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39" name="Google Shape;439;p43"/>
          <p:cNvSpPr txBox="1"/>
          <p:nvPr/>
        </p:nvSpPr>
        <p:spPr>
          <a:xfrm>
            <a:off x="2351584" y="2780928"/>
            <a:ext cx="8915040" cy="3777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5684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8712"/>
              </a:buClr>
              <a:buSzPts val="2800"/>
              <a:buFont typeface="Century Gothic"/>
              <a:buAutoNum type="arabicPeriod"/>
            </a:pPr>
            <a:r>
              <a:rPr b="0" i="0" lang="en-US" sz="28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Whether </a:t>
            </a:r>
            <a:r>
              <a:rPr b="0" i="0" lang="en-US" sz="2800" u="none" cap="none" strike="noStrike">
                <a:solidFill>
                  <a:srgbClr val="FF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intended position achieved </a:t>
            </a:r>
            <a:r>
              <a:rPr b="0" i="0" lang="en-US" sz="2800" u="none" cap="none" strike="noStrike">
                <a:solidFill>
                  <a:srgbClr val="40404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or GAP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6840" lvl="0" marL="457200" marR="0" rtl="0" algn="l">
              <a:lnSpc>
                <a:spcPct val="100000"/>
              </a:lnSpc>
              <a:spcBef>
                <a:spcPts val="1001"/>
              </a:spcBef>
              <a:spcAft>
                <a:spcPts val="0"/>
              </a:spcAft>
              <a:buClr>
                <a:srgbClr val="E78712"/>
              </a:buClr>
              <a:buSzPts val="2800"/>
              <a:buFont typeface="Century Gothic"/>
              <a:buAutoNum type="arabicPeriod"/>
            </a:pPr>
            <a:r>
              <a:rPr b="0" i="0" lang="en-US" sz="2800" u="none" cap="none" strike="noStrike">
                <a:solidFill>
                  <a:srgbClr val="FF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Opportunities for repositioning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4" name="Google Shape;444;p44"/>
          <p:cNvGrpSpPr/>
          <p:nvPr/>
        </p:nvGrpSpPr>
        <p:grpSpPr>
          <a:xfrm>
            <a:off x="3340644" y="2017800"/>
            <a:ext cx="5433480" cy="4227120"/>
            <a:chOff x="3317040" y="2017800"/>
            <a:chExt cx="5433480" cy="4227120"/>
          </a:xfrm>
        </p:grpSpPr>
        <p:sp>
          <p:nvSpPr>
            <p:cNvPr id="445" name="Google Shape;445;p44"/>
            <p:cNvSpPr/>
            <p:nvPr/>
          </p:nvSpPr>
          <p:spPr>
            <a:xfrm>
              <a:off x="3317040" y="2017800"/>
              <a:ext cx="5433480" cy="4227120"/>
            </a:xfrm>
            <a:prstGeom prst="quadArrow">
              <a:avLst>
                <a:gd fmla="val 2000" name="adj1"/>
                <a:gd fmla="val 4000" name="adj2"/>
                <a:gd fmla="val 5000" name="adj3"/>
              </a:avLst>
            </a:prstGeom>
            <a:solidFill>
              <a:srgbClr val="CFDE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6" name="Google Shape;446;p44"/>
            <p:cNvSpPr/>
            <p:nvPr/>
          </p:nvSpPr>
          <p:spPr>
            <a:xfrm>
              <a:off x="3751920" y="2297880"/>
              <a:ext cx="2040480" cy="1690560"/>
            </a:xfrm>
            <a:prstGeom prst="roundRect">
              <a:avLst>
                <a:gd fmla="val 16667" name="adj"/>
              </a:avLst>
            </a:prstGeom>
            <a:solidFill>
              <a:srgbClr val="FFC000"/>
            </a:solidFill>
            <a:ln>
              <a:noFill/>
            </a:ln>
          </p:spPr>
          <p:txBody>
            <a:bodyPr anchorCtr="0" anchor="ctr" bIns="151550" lIns="151200" spcFirstLastPara="1" rIns="68750" wrap="square" tIns="1512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rgbClr val="FFFFFF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Gelusil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90000"/>
                </a:lnSpc>
                <a:spcBef>
                  <a:spcPts val="629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rgbClr val="FFFFFF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Digene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7" name="Google Shape;447;p44"/>
            <p:cNvSpPr/>
            <p:nvPr/>
          </p:nvSpPr>
          <p:spPr>
            <a:xfrm>
              <a:off x="6264000" y="2297880"/>
              <a:ext cx="2037600" cy="1690560"/>
            </a:xfrm>
            <a:prstGeom prst="roundRect">
              <a:avLst>
                <a:gd fmla="val 16667" name="adj"/>
              </a:avLst>
            </a:prstGeom>
            <a:solidFill>
              <a:srgbClr val="00B0F0"/>
            </a:solidFill>
            <a:ln>
              <a:noFill/>
            </a:ln>
          </p:spPr>
          <p:txBody>
            <a:bodyPr anchorCtr="0" anchor="ctr" bIns="151550" lIns="151200" spcFirstLastPara="1" rIns="68750" wrap="square" tIns="1512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rgbClr val="000000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ENO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8" name="Google Shape;448;p44"/>
            <p:cNvSpPr/>
            <p:nvPr/>
          </p:nvSpPr>
          <p:spPr>
            <a:xfrm>
              <a:off x="3745800" y="4318560"/>
              <a:ext cx="2030040" cy="1690560"/>
            </a:xfrm>
            <a:prstGeom prst="roundRect">
              <a:avLst>
                <a:gd fmla="val 16667" name="adj"/>
              </a:avLst>
            </a:prstGeom>
            <a:solidFill>
              <a:srgbClr val="00B050"/>
            </a:solidFill>
            <a:ln>
              <a:noFill/>
            </a:ln>
          </p:spPr>
          <p:txBody>
            <a:bodyPr anchorCtr="0" anchor="ctr" bIns="174225" lIns="173875" spcFirstLastPara="1" rIns="91425" wrap="square" tIns="1738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0" lang="en-US" sz="2400" u="none" cap="none" strike="noStrike">
                  <a:solidFill>
                    <a:srgbClr val="7030A0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GAP</a:t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9" name="Google Shape;449;p44"/>
            <p:cNvSpPr/>
            <p:nvPr/>
          </p:nvSpPr>
          <p:spPr>
            <a:xfrm>
              <a:off x="6241680" y="4290840"/>
              <a:ext cx="2059920" cy="1690560"/>
            </a:xfrm>
            <a:prstGeom prst="roundRect">
              <a:avLst>
                <a:gd fmla="val 16667" name="adj"/>
              </a:avLst>
            </a:prstGeom>
            <a:solidFill>
              <a:srgbClr val="92D050"/>
            </a:solidFill>
            <a:ln>
              <a:noFill/>
            </a:ln>
          </p:spPr>
          <p:txBody>
            <a:bodyPr anchorCtr="0" anchor="ctr" bIns="151550" lIns="151200" spcFirstLastPara="1" rIns="68750" wrap="square" tIns="1512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rgbClr val="000000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Pudin Hara</a:t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50" name="Google Shape;450;p44"/>
          <p:cNvSpPr/>
          <p:nvPr/>
        </p:nvSpPr>
        <p:spPr>
          <a:xfrm>
            <a:off x="5344560" y="1613880"/>
            <a:ext cx="14162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4B76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Medicinal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" name="Google Shape;451;p44"/>
          <p:cNvSpPr/>
          <p:nvPr/>
        </p:nvSpPr>
        <p:spPr>
          <a:xfrm>
            <a:off x="5666760" y="6360120"/>
            <a:ext cx="21891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4B76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Natural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2" name="Google Shape;452;p44"/>
          <p:cNvSpPr/>
          <p:nvPr/>
        </p:nvSpPr>
        <p:spPr>
          <a:xfrm>
            <a:off x="8796137" y="3896382"/>
            <a:ext cx="2229840" cy="395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0B0F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Low efficiency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3" name="Google Shape;453;p44"/>
          <p:cNvSpPr/>
          <p:nvPr/>
        </p:nvSpPr>
        <p:spPr>
          <a:xfrm>
            <a:off x="1328760" y="3502440"/>
            <a:ext cx="2047320" cy="821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0B0F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High Efficiency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4" name="Google Shape;454;p44"/>
          <p:cNvSpPr txBox="1"/>
          <p:nvPr/>
        </p:nvSpPr>
        <p:spPr>
          <a:xfrm>
            <a:off x="642240" y="213120"/>
            <a:ext cx="9404280" cy="932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Perceptual Mapping or Positioning Map</a:t>
            </a:r>
            <a:endParaRPr b="0" i="0" sz="36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55" name="Google Shape;455;p44"/>
          <p:cNvSpPr/>
          <p:nvPr/>
        </p:nvSpPr>
        <p:spPr>
          <a:xfrm flipH="1">
            <a:off x="5125680" y="3142440"/>
            <a:ext cx="1892880" cy="12600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sp>
      <p:sp>
        <p:nvSpPr>
          <p:cNvPr id="456" name="Google Shape;456;p44"/>
          <p:cNvSpPr/>
          <p:nvPr/>
        </p:nvSpPr>
        <p:spPr>
          <a:xfrm flipH="1">
            <a:off x="5344558" y="5037639"/>
            <a:ext cx="1327505" cy="45719"/>
          </a:xfrm>
          <a:custGeom>
            <a:rect b="b" l="l" r="r" t="t"/>
            <a:pathLst>
              <a:path extrusionOk="0" h="21600" w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45"/>
          <p:cNvSpPr txBox="1"/>
          <p:nvPr/>
        </p:nvSpPr>
        <p:spPr>
          <a:xfrm>
            <a:off x="2855640" y="1404866"/>
            <a:ext cx="8915040" cy="2262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1" i="0" lang="en-US" sz="5400" u="none" cap="none" strike="noStrik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POP </a:t>
            </a:r>
            <a:r>
              <a:rPr b="1" i="0" lang="en-US" sz="5400" u="none" cap="none" strike="noStrike">
                <a:solidFill>
                  <a:srgbClr val="FF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and POD</a:t>
            </a:r>
            <a:endParaRPr b="0" i="0" sz="54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6" name="Google Shape;466;p46"/>
          <p:cNvGrpSpPr/>
          <p:nvPr/>
        </p:nvGrpSpPr>
        <p:grpSpPr>
          <a:xfrm>
            <a:off x="3317040" y="2017800"/>
            <a:ext cx="5433480" cy="4227120"/>
            <a:chOff x="3317040" y="2017800"/>
            <a:chExt cx="5433480" cy="4227120"/>
          </a:xfrm>
        </p:grpSpPr>
        <p:sp>
          <p:nvSpPr>
            <p:cNvPr id="467" name="Google Shape;467;p46"/>
            <p:cNvSpPr/>
            <p:nvPr/>
          </p:nvSpPr>
          <p:spPr>
            <a:xfrm>
              <a:off x="3317040" y="2017800"/>
              <a:ext cx="5433480" cy="4227120"/>
            </a:xfrm>
            <a:prstGeom prst="quadArrow">
              <a:avLst>
                <a:gd fmla="val 2000" name="adj1"/>
                <a:gd fmla="val 4000" name="adj2"/>
                <a:gd fmla="val 5000" name="adj3"/>
              </a:avLst>
            </a:prstGeom>
            <a:solidFill>
              <a:srgbClr val="CFDE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8" name="Google Shape;468;p46"/>
            <p:cNvSpPr/>
            <p:nvPr/>
          </p:nvSpPr>
          <p:spPr>
            <a:xfrm>
              <a:off x="3751920" y="2297880"/>
              <a:ext cx="2040480" cy="1690560"/>
            </a:xfrm>
            <a:prstGeom prst="roundRect">
              <a:avLst>
                <a:gd fmla="val 16667" name="adj"/>
              </a:avLst>
            </a:prstGeom>
            <a:solidFill>
              <a:srgbClr val="FFC000"/>
            </a:solidFill>
            <a:ln>
              <a:noFill/>
            </a:ln>
          </p:spPr>
          <p:txBody>
            <a:bodyPr anchorCtr="0" anchor="ctr" bIns="140025" lIns="139675" spcFirstLastPara="1" rIns="57225" wrap="square" tIns="1396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b="1" i="0" lang="en-US" sz="1500" u="none" cap="none" strike="noStrike">
                  <a:solidFill>
                    <a:srgbClr val="000000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1/4</a:t>
              </a:r>
              <a:r>
                <a:rPr b="1" baseline="30000" i="0" lang="en-US" sz="1500" u="none" cap="none" strike="noStrike">
                  <a:solidFill>
                    <a:srgbClr val="000000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th</a:t>
              </a:r>
              <a:r>
                <a:rPr b="1" i="0" lang="en-US" sz="1500" u="none" cap="none" strike="noStrike">
                  <a:solidFill>
                    <a:srgbClr val="000000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 Moisturizer</a:t>
              </a:r>
              <a:endPara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90000"/>
                </a:lnSpc>
                <a:spcBef>
                  <a:spcPts val="524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b="1" i="0" lang="en-US" sz="1500" u="none" cap="none" strike="noStrike">
                  <a:solidFill>
                    <a:srgbClr val="000000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Does not dry skin</a:t>
              </a:r>
              <a:endPara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9" name="Google Shape;469;p46"/>
            <p:cNvSpPr/>
            <p:nvPr/>
          </p:nvSpPr>
          <p:spPr>
            <a:xfrm>
              <a:off x="6264000" y="2297880"/>
              <a:ext cx="2037600" cy="1690560"/>
            </a:xfrm>
            <a:prstGeom prst="roundRect">
              <a:avLst>
                <a:gd fmla="val 16667" name="adj"/>
              </a:avLst>
            </a:prstGeom>
            <a:solidFill>
              <a:srgbClr val="00B0F0"/>
            </a:solidFill>
            <a:ln>
              <a:noFill/>
            </a:ln>
          </p:spPr>
          <p:txBody>
            <a:bodyPr anchorCtr="0" anchor="ctr" bIns="140025" lIns="139675" spcFirstLastPara="1" rIns="57225" wrap="square" tIns="1396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b="1" i="0" lang="en-US" sz="15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Beauty Bar Cleansing Lather  </a:t>
              </a:r>
              <a:endParaRPr b="0" i="0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90000"/>
                </a:lnSpc>
                <a:spcBef>
                  <a:spcPts val="524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b="1" i="0" lang="en-US" sz="15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Premium Price</a:t>
              </a:r>
              <a:endParaRPr b="0" i="0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90000"/>
                </a:lnSpc>
                <a:spcBef>
                  <a:spcPts val="524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b="1" i="0" lang="en-US" sz="15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 Range of variants</a:t>
              </a:r>
              <a:endParaRPr b="0" i="0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0" name="Google Shape;470;p46"/>
            <p:cNvSpPr/>
            <p:nvPr/>
          </p:nvSpPr>
          <p:spPr>
            <a:xfrm>
              <a:off x="3745800" y="4318560"/>
              <a:ext cx="2030040" cy="1690560"/>
            </a:xfrm>
            <a:prstGeom prst="roundRect">
              <a:avLst>
                <a:gd fmla="val 16667" name="adj"/>
              </a:avLst>
            </a:prstGeom>
            <a:solidFill>
              <a:srgbClr val="00B050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40025" lIns="139675" spcFirstLastPara="1" rIns="57225" wrap="square" tIns="1396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b="1" i="0" lang="en-US" sz="15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Genuine </a:t>
              </a:r>
              <a:endPara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90000"/>
                </a:lnSpc>
                <a:spcBef>
                  <a:spcPts val="524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b="1" i="0" lang="en-US" sz="15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Enhances Self esteem</a:t>
              </a:r>
              <a:endPara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90000"/>
                </a:lnSpc>
                <a:spcBef>
                  <a:spcPts val="524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b="1" i="0" lang="en-US" sz="1500" u="none" cap="none" strike="noStrike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Empower woman</a:t>
              </a:r>
              <a:endPara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1" name="Google Shape;471;p46"/>
            <p:cNvSpPr/>
            <p:nvPr/>
          </p:nvSpPr>
          <p:spPr>
            <a:xfrm>
              <a:off x="6241680" y="4290840"/>
              <a:ext cx="2059920" cy="1690560"/>
            </a:xfrm>
            <a:prstGeom prst="roundRect">
              <a:avLst>
                <a:gd fmla="val 16667" name="adj"/>
              </a:avLst>
            </a:prstGeom>
            <a:solidFill>
              <a:srgbClr val="92D050"/>
            </a:solidFill>
            <a:ln>
              <a:noFill/>
            </a:ln>
          </p:spPr>
          <p:txBody>
            <a:bodyPr anchorCtr="0" anchor="ctr" bIns="136075" lIns="135700" spcFirstLastPara="1" rIns="53275" wrap="square" tIns="1357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Reputed Maker</a:t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90000"/>
                </a:lnSpc>
                <a:spcBef>
                  <a:spcPts val="49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Bathing Experience</a:t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90000"/>
                </a:lnSpc>
                <a:spcBef>
                  <a:spcPts val="49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 Trusted Brand</a:t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90000"/>
                </a:lnSpc>
                <a:spcBef>
                  <a:spcPts val="49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72" name="Google Shape;472;p46"/>
          <p:cNvSpPr/>
          <p:nvPr/>
        </p:nvSpPr>
        <p:spPr>
          <a:xfrm>
            <a:off x="5344560" y="1613880"/>
            <a:ext cx="14162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20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Functional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3" name="Google Shape;473;p46"/>
          <p:cNvSpPr/>
          <p:nvPr/>
        </p:nvSpPr>
        <p:spPr>
          <a:xfrm>
            <a:off x="5113080" y="6308640"/>
            <a:ext cx="21891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20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Non Functional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4" name="Google Shape;474;p46"/>
          <p:cNvSpPr/>
          <p:nvPr/>
        </p:nvSpPr>
        <p:spPr>
          <a:xfrm>
            <a:off x="8768520" y="3517920"/>
            <a:ext cx="2229840" cy="10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POP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Non </a:t>
            </a:r>
            <a:r>
              <a:rPr b="1" i="0" lang="en-US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discriminating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5" name="Google Shape;475;p46"/>
          <p:cNvSpPr/>
          <p:nvPr/>
        </p:nvSpPr>
        <p:spPr>
          <a:xfrm>
            <a:off x="1545480" y="3687120"/>
            <a:ext cx="2047320" cy="730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POD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Discriminating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6" name="Google Shape;476;p46"/>
          <p:cNvSpPr/>
          <p:nvPr/>
        </p:nvSpPr>
        <p:spPr>
          <a:xfrm>
            <a:off x="824400" y="755640"/>
            <a:ext cx="10702080" cy="516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Benefit Map: </a:t>
            </a:r>
            <a:r>
              <a:rPr b="1" i="0" lang="en-US" sz="1800" u="none" cap="none" strike="noStrike">
                <a:solidFill>
                  <a:srgbClr val="0020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Vs Competitor, Vs Benefits                            DOVE CAMAY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7" name="Google Shape;477;p46"/>
          <p:cNvSpPr/>
          <p:nvPr/>
        </p:nvSpPr>
        <p:spPr>
          <a:xfrm>
            <a:off x="8976320" y="1916832"/>
            <a:ext cx="1596600" cy="1461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What is the similarity functionally Both same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8" name="Google Shape;478;p46"/>
          <p:cNvSpPr/>
          <p:nvPr/>
        </p:nvSpPr>
        <p:spPr>
          <a:xfrm>
            <a:off x="9085140" y="4782960"/>
            <a:ext cx="1596600" cy="1461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What is the similarity non-functionally 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Both same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9" name="Google Shape;479;p46"/>
          <p:cNvSpPr/>
          <p:nvPr/>
        </p:nvSpPr>
        <p:spPr>
          <a:xfrm>
            <a:off x="1422585" y="2017019"/>
            <a:ext cx="1596600" cy="1736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How does it differ functionally Both different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0" name="Google Shape;480;p46"/>
          <p:cNvSpPr/>
          <p:nvPr/>
        </p:nvSpPr>
        <p:spPr>
          <a:xfrm>
            <a:off x="1415480" y="4595040"/>
            <a:ext cx="1596600" cy="1736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How does it differ non- functionally Both different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47"/>
          <p:cNvSpPr txBox="1"/>
          <p:nvPr/>
        </p:nvSpPr>
        <p:spPr>
          <a:xfrm>
            <a:off x="1631504" y="332656"/>
            <a:ext cx="9254240" cy="5530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Significance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2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</a:t>
            </a:r>
            <a:r>
              <a:rPr b="1" i="0" lang="en-US" sz="2000" u="none" cap="none" strike="noStrike">
                <a:solidFill>
                  <a:srgbClr val="FF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POP’S – why are they needed?</a:t>
            </a:r>
            <a:br>
              <a:rPr b="0" i="0" lang="en-US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2000" u="none" cap="none" strike="noStrike">
                <a:solidFill>
                  <a:srgbClr val="FF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Why are they important?</a:t>
            </a:r>
            <a:br>
              <a:rPr b="0" i="0" lang="en-US" sz="1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	</a:t>
            </a:r>
            <a:r>
              <a:rPr b="1" i="0" lang="en-US" sz="2000" u="none" cap="none" strike="noStrik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must have- basic </a:t>
            </a:r>
            <a:r>
              <a:rPr b="1" i="0" lang="en-US" sz="2000" u="none" cap="none" strike="noStrike">
                <a:solidFill>
                  <a:srgbClr val="FF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hygiene</a:t>
            </a:r>
            <a:r>
              <a:rPr b="1" i="0" lang="en-US" sz="2000" u="none" cap="none" strike="noStrik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factor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	</a:t>
            </a:r>
            <a:r>
              <a:rPr b="1" i="0" lang="en-US" sz="2000" u="none" cap="none" strike="noStrik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customers want it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	</a:t>
            </a:r>
            <a:r>
              <a:rPr b="1" i="0" lang="en-US" sz="2000" u="none" cap="none" strike="noStrik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cant drop camera from smartphone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</a:t>
            </a:r>
            <a:r>
              <a:rPr b="1" i="0" lang="en-US" sz="2000" u="none" cap="none" strike="noStrik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is the brand satisfying customer need?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</a:t>
            </a:r>
            <a:r>
              <a:rPr b="1" i="0" lang="en-US" sz="2000" u="none" cap="none" strike="noStrik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Are pop’s delivering must haves of category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0020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20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 </a:t>
            </a:r>
            <a:r>
              <a:rPr b="1" i="0" lang="en-US" sz="1800" u="none" cap="none" strike="noStrike">
                <a:solidFill>
                  <a:srgbClr val="FF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POD’s – Does brand have strong and sufficient Pod’s?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</a:t>
            </a:r>
            <a:r>
              <a:rPr b="0" i="0" lang="en-US" sz="1800" u="none" cap="none" strike="noStrik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thinly populated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</a:t>
            </a:r>
            <a:r>
              <a:rPr b="0" i="0" lang="en-US" sz="1800" u="none" cap="none" strike="noStrik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Are there strong pod’s to create differences?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</a:t>
            </a:r>
            <a:r>
              <a:rPr b="0" i="0" lang="en-US" sz="1800" u="none" cap="none" strike="noStrik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Dove fragrance- h2s?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1" i="0" sz="1800" u="none" cap="none" strike="noStrike">
              <a:solidFill>
                <a:srgbClr val="FF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3</a:t>
            </a:r>
            <a:r>
              <a:rPr b="1" i="0" lang="en-US" sz="1800" u="none" cap="none" strike="noStrike">
                <a:solidFill>
                  <a:srgbClr val="FF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is there an opportunity to convert pop’s into pod’s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</a:t>
            </a:r>
            <a:r>
              <a:rPr b="0" i="0" lang="en-US" sz="1800" u="none" cap="none" strike="noStrike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Beauty bar-bathing gel-shower gel-liquid soap</a:t>
            </a:r>
            <a:endParaRPr b="0" i="0" sz="18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20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0" name="Google Shape;490;p48"/>
          <p:cNvPicPr preferRelativeResize="0"/>
          <p:nvPr/>
        </p:nvPicPr>
        <p:blipFill rotWithShape="1">
          <a:blip r:embed="rId3">
            <a:alphaModFix/>
          </a:blip>
          <a:srcRect b="8496" l="25913" r="33603" t="41680"/>
          <a:stretch/>
        </p:blipFill>
        <p:spPr>
          <a:xfrm>
            <a:off x="1674252" y="561033"/>
            <a:ext cx="8718999" cy="60329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ttps://www.bigbasket.com/media/uploads/p/l/100006161-8_4-colgate-strong-teeth-anticavity-toothpaste-with-amino-shakti-formula-provides-fresher-breath.jpg" id="495" name="Google Shape;495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07113" y="1139780"/>
            <a:ext cx="4762500" cy="4762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ttps://tse4.mm.bing.net/th?id=OIP.cAffeEkIg17gpVSIxY44vQHaDt&amp;pid=Api&amp;P=0&amp;h=180" id="500" name="Google Shape;500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44862" y="3753090"/>
            <a:ext cx="3429000" cy="203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tse3.mm.bing.net/th?id=OIP.u4LdDsCofKl0ed9cxw98bAHaFj&amp;pid=Api&amp;P=0&amp;h=180" id="501" name="Google Shape;501;p5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44862" y="1323398"/>
            <a:ext cx="3429000" cy="185616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tse2.mm.bing.net/th?id=OIP.zaFmKtQyQqERw4vc3__DBQHaEK&amp;pid=Api&amp;P=0&amp;h=180" id="502" name="Google Shape;502;p5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513384" y="1323398"/>
            <a:ext cx="3299854" cy="185616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tse3.mm.bing.net/th?id=OIP.hfUcdaorh9VexlLIb9ihDwHaE8&amp;pid=Api&amp;P=0&amp;h=180" id="503" name="Google Shape;503;p5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513384" y="3753090"/>
            <a:ext cx="3299854" cy="203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ttp://www.vintagepaperads.com/assets/images/DL0617.jpg" id="508" name="Google Shape;508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30193" y="715914"/>
            <a:ext cx="4222461" cy="56299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i.pinimg.com/originals/19/0b/93/190b936bc63955c6ae81dc44883cdf02.jpg" id="509" name="Google Shape;509;p5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75030" y="963510"/>
            <a:ext cx="3349625" cy="51347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52"/>
          <p:cNvSpPr txBox="1"/>
          <p:nvPr>
            <p:ph idx="1" type="body"/>
          </p:nvPr>
        </p:nvSpPr>
        <p:spPr>
          <a:xfrm>
            <a:off x="2036380" y="1418897"/>
            <a:ext cx="7864365" cy="3941379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</a:pPr>
            <a:r>
              <a:t/>
            </a:r>
            <a:endParaRPr b="1" sz="8000">
              <a:solidFill>
                <a:srgbClr val="FF0000"/>
              </a:solidFill>
              <a:latin typeface="Teko"/>
              <a:ea typeface="Teko"/>
              <a:cs typeface="Teko"/>
              <a:sym typeface="Teko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8000"/>
              <a:buNone/>
            </a:pPr>
            <a:r>
              <a:rPr b="1" lang="en-US" sz="8000">
                <a:solidFill>
                  <a:srgbClr val="FF0000"/>
                </a:solidFill>
                <a:latin typeface="Teko"/>
                <a:ea typeface="Teko"/>
                <a:cs typeface="Teko"/>
                <a:sym typeface="Teko"/>
              </a:rPr>
              <a:t>Positioning</a:t>
            </a:r>
            <a:r>
              <a:rPr b="1" lang="en-US" sz="8000">
                <a:latin typeface="Teko"/>
                <a:ea typeface="Teko"/>
                <a:cs typeface="Teko"/>
                <a:sym typeface="Teko"/>
              </a:rPr>
              <a:t> </a:t>
            </a:r>
            <a:r>
              <a:rPr b="1" lang="en-US" sz="8000">
                <a:solidFill>
                  <a:srgbClr val="00B050"/>
                </a:solidFill>
                <a:latin typeface="Teko"/>
                <a:ea typeface="Teko"/>
                <a:cs typeface="Teko"/>
                <a:sym typeface="Teko"/>
              </a:rPr>
              <a:t>Statement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</a:pPr>
            <a:r>
              <a:t/>
            </a:r>
            <a:endParaRPr b="1" sz="8000">
              <a:latin typeface="Teko"/>
              <a:ea typeface="Teko"/>
              <a:cs typeface="Teko"/>
              <a:sym typeface="Teko"/>
            </a:endParaRPr>
          </a:p>
          <a:p>
            <a:pPr indent="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</a:pPr>
            <a:r>
              <a:t/>
            </a:r>
            <a:endParaRPr b="1" sz="8000">
              <a:latin typeface="Teko"/>
              <a:ea typeface="Teko"/>
              <a:cs typeface="Teko"/>
              <a:sym typeface="Teko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ttps://tse3.mm.bing.net/th?id=OIP.tZcLLQM6htsUo07fVHPNyAHaCi&amp;pid=Api&amp;P=0&amp;h=180" id="519" name="Google Shape;519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26484" y="1787237"/>
            <a:ext cx="7016764" cy="23981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ttps://i0.wp.com/mad-over-marketing.com/wp-content/uploads/2022/01/Screenshot-2022-01-06-at-5.11.28-PM.png?resize=808%2C1024&amp;ssl=1" id="524" name="Google Shape;524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71509" y="559882"/>
            <a:ext cx="4609607" cy="58418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ttps://onlykutts.com/wp-content/uploads/2021/07/JaagoRe.jpeg" id="529" name="Google Shape;529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88927" y="1063154"/>
            <a:ext cx="5305067" cy="53050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ttps://tse3.mm.bing.net/th?id=OIP.IoUjP-C970E4XOn9To8kuwHaHa&amp;pid=Api&amp;P=0&amp;h=180" id="534" name="Google Shape;534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10704" y="1652081"/>
            <a:ext cx="5009048" cy="50090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ttps://tse4.mm.bing.net/th?id=OIP.-VSiMFCLDz5qhXAH0t463gHaEK&amp;pid=Api&amp;P=0&amp;h=180" id="539" name="Google Shape;539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13163" y="1534508"/>
            <a:ext cx="8032999" cy="45185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ttps://tse3.mm.bing.net/th?id=OIP.Glk5z3cMi5HLRYqYhDMojwAAAA&amp;pid=Api&amp;P=0&amp;h=180" id="544" name="Google Shape;544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15906" y="736610"/>
            <a:ext cx="7459170" cy="58376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ttps://tse1.mm.bing.net/th?id=OIP.-n-zCYLhxW99ur_qlhhQewHaE3&amp;pid=Api&amp;P=0&amp;h=180" id="549" name="Google Shape;549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20988" y="4062335"/>
            <a:ext cx="3047999" cy="1714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tse3.mm.bing.net/th?id=OIP.tX8iYDlcDT6qFAkA4JwjQQAAAA&amp;pid=Api&amp;P=0&amp;h=180" id="550" name="Google Shape;550;p5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89884" y="1374954"/>
            <a:ext cx="3048000" cy="1714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tse1.mm.bing.net/th?id=OIP.TKyWw5AsKYgp8t86H_ATBwHaEK&amp;pid=Api&amp;P=0&amp;h=180" id="551" name="Google Shape;551;p5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20988" y="1374954"/>
            <a:ext cx="3048000" cy="1714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tse1.mm.bing.net/th?id=OIP._IkNT37elXC4AL7yKdMvqQHaEN&amp;pid=Api&amp;P=0&amp;h=180" id="552" name="Google Shape;552;p5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89884" y="4062335"/>
            <a:ext cx="3019425" cy="1714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www.travelgeekery.com/wp-content/uploads/2014/06/Airbnb_Pinterest-1-667x986.jpg" id="553" name="Google Shape;553;p5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481934" y="1374954"/>
            <a:ext cx="2885818" cy="42659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ttps://i.ytimg.com/vi/qB9XzgeRRZw/maxresdefault.jpg" id="558" name="Google Shape;558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05592" y="1915976"/>
            <a:ext cx="6232346" cy="35056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61"/>
          <p:cNvSpPr txBox="1"/>
          <p:nvPr>
            <p:ph type="title"/>
          </p:nvPr>
        </p:nvSpPr>
        <p:spPr>
          <a:xfrm>
            <a:off x="374560" y="294090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800"/>
              <a:buFont typeface="Teko"/>
              <a:buNone/>
            </a:pPr>
            <a:r>
              <a:rPr b="1" lang="en-US" sz="8800">
                <a:latin typeface="Teko"/>
                <a:ea typeface="Teko"/>
                <a:cs typeface="Teko"/>
                <a:sym typeface="Teko"/>
              </a:rPr>
              <a:t>Thank</a:t>
            </a:r>
            <a:r>
              <a:rPr b="1" lang="en-US" sz="8800">
                <a:solidFill>
                  <a:srgbClr val="FF0000"/>
                </a:solidFill>
                <a:latin typeface="Teko"/>
                <a:ea typeface="Teko"/>
                <a:cs typeface="Teko"/>
                <a:sym typeface="Teko"/>
              </a:rPr>
              <a:t> Yo</a:t>
            </a:r>
            <a:r>
              <a:rPr b="1" lang="en-US" sz="8800">
                <a:latin typeface="Teko"/>
                <a:ea typeface="Teko"/>
                <a:cs typeface="Teko"/>
                <a:sym typeface="Teko"/>
              </a:rPr>
              <a:t>u</a:t>
            </a:r>
            <a:endParaRPr b="1" sz="8800">
              <a:latin typeface="Teko"/>
              <a:ea typeface="Teko"/>
              <a:cs typeface="Teko"/>
              <a:sym typeface="Tek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2023-04-11T06:11:09Z</dcterms:created>
  <dc:creator>Microsoft account</dc:creator>
</cp:coreProperties>
</file>