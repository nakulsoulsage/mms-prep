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94" r:id="rId2"/>
    <p:sldId id="256" r:id="rId3"/>
    <p:sldId id="257" r:id="rId4"/>
    <p:sldId id="258" r:id="rId5"/>
    <p:sldId id="261" r:id="rId6"/>
    <p:sldId id="307" r:id="rId7"/>
    <p:sldId id="309" r:id="rId8"/>
    <p:sldId id="266" r:id="rId9"/>
    <p:sldId id="298" r:id="rId10"/>
    <p:sldId id="308" r:id="rId11"/>
    <p:sldId id="291" r:id="rId12"/>
    <p:sldId id="305" r:id="rId13"/>
    <p:sldId id="268" r:id="rId14"/>
    <p:sldId id="302" r:id="rId15"/>
    <p:sldId id="292" r:id="rId16"/>
    <p:sldId id="304" r:id="rId17"/>
    <p:sldId id="285" r:id="rId18"/>
    <p:sldId id="306" r:id="rId19"/>
    <p:sldId id="288" r:id="rId20"/>
    <p:sldId id="283" r:id="rId2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57"/>
    <p:restoredTop sz="93153"/>
  </p:normalViewPr>
  <p:slideViewPr>
    <p:cSldViewPr snapToGrid="0" snapToObjects="1">
      <p:cViewPr>
        <p:scale>
          <a:sx n="100" d="100"/>
          <a:sy n="100" d="100"/>
        </p:scale>
        <p:origin x="176" y="-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2:59:36.8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 7362,'0'11'-1221,"0"-2"1221,0 1 0,0-8 0,0 7 0,0-9 0,0 0 0,0 9 0,0-7 0,0 7 0,0-9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5T06:52:50.4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8T12:59:36.8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 7362,'0'11'-1221,"0"-2"1221,0 1 0,0-8 0,0 7 0,0-9 0,0 0 0,0 9 0,0-7 0,0 7 0,0-9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5T06:52:50.4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4D4B8-628A-9ACC-E932-0426E583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0E500-1817-B837-CBD2-809B9801F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92020-31B4-CD38-05AD-F4ED5FB3C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16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482D-5740-EC33-F2FD-A8557655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92A0E-5B08-9E0D-36AD-87A5CC88F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EE46E-172C-950F-E403-501320301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687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23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868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BAF9E-3386-DBF5-89D2-0CBF4023C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7189E-6BB9-1176-D44F-6ABC723E3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07CFB-B4EE-0E82-5A9A-50EF9589A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62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451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0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586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23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1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10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21.png"/><Relationship Id="rId7" Type="http://schemas.openxmlformats.org/officeDocument/2006/relationships/image" Target="../media/image19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23.png"/><Relationship Id="rId5" Type="http://schemas.openxmlformats.org/officeDocument/2006/relationships/image" Target="../media/image170.png"/><Relationship Id="rId10" Type="http://schemas.openxmlformats.org/officeDocument/2006/relationships/image" Target="../media/image22.png"/><Relationship Id="rId4" Type="http://schemas.openxmlformats.org/officeDocument/2006/relationships/image" Target="../media/image161.png"/><Relationship Id="rId9" Type="http://schemas.openxmlformats.org/officeDocument/2006/relationships/image" Target="../media/image2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39.png"/><Relationship Id="rId7" Type="http://schemas.openxmlformats.org/officeDocument/2006/relationships/image" Target="../media/image2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1.png"/><Relationship Id="rId7" Type="http://schemas.openxmlformats.org/officeDocument/2006/relationships/image" Target="../media/image5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42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2.png"/><Relationship Id="rId7" Type="http://schemas.openxmlformats.org/officeDocument/2006/relationships/image" Target="../media/image561.png"/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1.png"/><Relationship Id="rId5" Type="http://schemas.openxmlformats.org/officeDocument/2006/relationships/image" Target="../media/image541.png"/><Relationship Id="rId4" Type="http://schemas.openxmlformats.org/officeDocument/2006/relationships/image" Target="../media/image531.png"/><Relationship Id="rId9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1.png"/><Relationship Id="rId13" Type="http://schemas.openxmlformats.org/officeDocument/2006/relationships/image" Target="../media/image62.png"/><Relationship Id="rId18" Type="http://schemas.openxmlformats.org/officeDocument/2006/relationships/customXml" Target="../ink/ink2.xml"/><Relationship Id="rId3" Type="http://schemas.openxmlformats.org/officeDocument/2006/relationships/image" Target="../media/image560.png"/><Relationship Id="rId7" Type="http://schemas.openxmlformats.org/officeDocument/2006/relationships/image" Target="../media/image59.png"/><Relationship Id="rId12" Type="http://schemas.openxmlformats.org/officeDocument/2006/relationships/image" Target="../media/image61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0.png"/><Relationship Id="rId11" Type="http://schemas.openxmlformats.org/officeDocument/2006/relationships/image" Target="../media/image60.png"/><Relationship Id="rId5" Type="http://schemas.openxmlformats.org/officeDocument/2006/relationships/image" Target="../media/image490.png"/><Relationship Id="rId15" Type="http://schemas.openxmlformats.org/officeDocument/2006/relationships/image" Target="../media/image530.png"/><Relationship Id="rId10" Type="http://schemas.openxmlformats.org/officeDocument/2006/relationships/image" Target="../media/image3400.png"/><Relationship Id="rId19" Type="http://schemas.openxmlformats.org/officeDocument/2006/relationships/image" Target="../media/image64.png"/><Relationship Id="rId4" Type="http://schemas.openxmlformats.org/officeDocument/2006/relationships/image" Target="../media/image570.png"/><Relationship Id="rId9" Type="http://schemas.openxmlformats.org/officeDocument/2006/relationships/image" Target="../media/image480.png"/><Relationship Id="rId14" Type="http://schemas.openxmlformats.org/officeDocument/2006/relationships/image" Target="../media/image5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420.png"/><Relationship Id="rId18" Type="http://schemas.openxmlformats.org/officeDocument/2006/relationships/customXml" Target="../ink/ink4.xml"/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12" Type="http://schemas.openxmlformats.org/officeDocument/2006/relationships/image" Target="../media/image411.png"/><Relationship Id="rId17" Type="http://schemas.openxmlformats.org/officeDocument/2006/relationships/image" Target="../media/image532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0.png"/><Relationship Id="rId11" Type="http://schemas.openxmlformats.org/officeDocument/2006/relationships/image" Target="../media/image400.png"/><Relationship Id="rId5" Type="http://schemas.openxmlformats.org/officeDocument/2006/relationships/image" Target="../media/image250.png"/><Relationship Id="rId15" Type="http://schemas.openxmlformats.org/officeDocument/2006/relationships/image" Target="../media/image520.png"/><Relationship Id="rId10" Type="http://schemas.openxmlformats.org/officeDocument/2006/relationships/image" Target="../media/image390.png"/><Relationship Id="rId19" Type="http://schemas.openxmlformats.org/officeDocument/2006/relationships/image" Target="../media/image540.png"/><Relationship Id="rId4" Type="http://schemas.openxmlformats.org/officeDocument/2006/relationships/image" Target="../media/image240.png"/><Relationship Id="rId9" Type="http://schemas.openxmlformats.org/officeDocument/2006/relationships/image" Target="../media/image380.png"/><Relationship Id="rId14" Type="http://schemas.openxmlformats.org/officeDocument/2006/relationships/image" Target="../media/image5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gression"/>
          <p:cNvSpPr txBox="1">
            <a:spLocks noGrp="1"/>
          </p:cNvSpPr>
          <p:nvPr>
            <p:ph type="ctrTitle"/>
          </p:nvPr>
        </p:nvSpPr>
        <p:spPr>
          <a:xfrm>
            <a:off x="964826" y="5713590"/>
            <a:ext cx="11075147" cy="71717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54990">
              <a:defRPr sz="7600"/>
            </a:lvl1pPr>
          </a:lstStyle>
          <a:p>
            <a:r>
              <a:rPr lang="en-IN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agnelo.menezes@xaviers.edu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gression">
            <a:extLst>
              <a:ext uri="{FF2B5EF4-FFF2-40B4-BE49-F238E27FC236}">
                <a16:creationId xmlns:a16="http://schemas.microsoft.com/office/drawing/2014/main" id="{67DB1E8F-F36E-4D4A-BB54-5C97DD1AD289}"/>
              </a:ext>
            </a:extLst>
          </p:cNvPr>
          <p:cNvSpPr txBox="1">
            <a:spLocks/>
          </p:cNvSpPr>
          <p:nvPr/>
        </p:nvSpPr>
        <p:spPr>
          <a:xfrm>
            <a:off x="1117226" y="4017311"/>
            <a:ext cx="11075147" cy="71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90000" lnSpcReduction="10000"/>
          </a:bodyPr>
          <a:lstStyle>
            <a:lvl1pPr marL="0" marR="0" indent="0" algn="ctr" defTabSz="5549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IN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gression">
            <a:extLst>
              <a:ext uri="{FF2B5EF4-FFF2-40B4-BE49-F238E27FC236}">
                <a16:creationId xmlns:a16="http://schemas.microsoft.com/office/drawing/2014/main" id="{92EE45E9-1D11-7746-A030-7CF7E7C8EF4E}"/>
              </a:ext>
            </a:extLst>
          </p:cNvPr>
          <p:cNvSpPr txBox="1">
            <a:spLocks/>
          </p:cNvSpPr>
          <p:nvPr/>
        </p:nvSpPr>
        <p:spPr>
          <a:xfrm>
            <a:off x="964826" y="7051281"/>
            <a:ext cx="11075147" cy="71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90000" lnSpcReduction="10000"/>
          </a:bodyPr>
          <a:lstStyle>
            <a:lvl1pPr marL="0" marR="0" indent="0" algn="ctr" defTabSz="5549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9220439704</a:t>
            </a:r>
          </a:p>
        </p:txBody>
      </p:sp>
    </p:spTree>
    <p:extLst>
      <p:ext uri="{BB962C8B-B14F-4D97-AF65-F5344CB8AC3E}">
        <p14:creationId xmlns:p14="http://schemas.microsoft.com/office/powerpoint/2010/main" val="40791913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onverting clumps of data into comprehensible information"/>
          <p:cNvSpPr txBox="1">
            <a:spLocks noGrp="1"/>
          </p:cNvSpPr>
          <p:nvPr>
            <p:ph type="subTitle" sz="quarter" idx="1"/>
          </p:nvPr>
        </p:nvSpPr>
        <p:spPr>
          <a:xfrm>
            <a:off x="810185" y="890601"/>
            <a:ext cx="11824822" cy="791402"/>
          </a:xfrm>
          <a:prstGeom prst="rect">
            <a:avLst/>
          </a:prstGeom>
        </p:spPr>
        <p:txBody>
          <a:bodyPr>
            <a:noAutofit/>
          </a:bodyPr>
          <a:lstStyle>
            <a:lvl1pPr algn="just" defTabSz="525779">
              <a:defRPr sz="3330" b="1"/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c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onvert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clumps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comprehensible information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6BF438-3787-5578-DD5B-C588E4637773}"/>
              </a:ext>
            </a:extLst>
          </p:cNvPr>
          <p:cNvGrpSpPr/>
          <p:nvPr/>
        </p:nvGrpSpPr>
        <p:grpSpPr>
          <a:xfrm>
            <a:off x="2559779" y="1781891"/>
            <a:ext cx="8757605" cy="979080"/>
            <a:chOff x="298175" y="2020153"/>
            <a:chExt cx="12543182" cy="979080"/>
          </a:xfrm>
        </p:grpSpPr>
        <p:sp>
          <p:nvSpPr>
            <p:cNvPr id="121" name="The comprehension refers to understanding the impact of a causal variable on the concerned dependent variable"/>
            <p:cNvSpPr txBox="1"/>
            <p:nvPr/>
          </p:nvSpPr>
          <p:spPr>
            <a:xfrm>
              <a:off x="298175" y="2020153"/>
              <a:ext cx="12543182" cy="97908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noAutofit/>
            </a:bodyPr>
            <a:lstStyle/>
            <a:p>
              <a:pPr algn="just" defTabSz="490727">
                <a:lnSpc>
                  <a:spcPct val="150000"/>
                </a:lnSpc>
                <a:defRPr sz="3108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u</a:t>
              </a:r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nderstand the imp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lications</a:t>
              </a:r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Y = f (X)">
              <a:extLst>
                <a:ext uri="{FF2B5EF4-FFF2-40B4-BE49-F238E27FC236}">
                  <a16:creationId xmlns:a16="http://schemas.microsoft.com/office/drawing/2014/main" id="{F474AF58-93A0-B74A-AFBB-B8C34BB653CD}"/>
                </a:ext>
              </a:extLst>
            </p:cNvPr>
            <p:cNvSpPr txBox="1"/>
            <p:nvPr/>
          </p:nvSpPr>
          <p:spPr>
            <a:xfrm>
              <a:off x="9105671" y="2219761"/>
              <a:ext cx="2342836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/>
            <a:p>
              <a:pPr algn="l" defTabSz="457200">
                <a:defRPr sz="5000">
                  <a:solidFill>
                    <a:srgbClr val="2D2D2D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sz="2800" dirty="0">
                  <a:solidFill>
                    <a:srgbClr val="FF0000"/>
                  </a:solidFill>
                </a:rPr>
                <a:t>Y = </a:t>
              </a:r>
              <a:r>
                <a:rPr sz="2800" i="1" dirty="0">
                  <a:solidFill>
                    <a:srgbClr val="FF0000"/>
                  </a:solidFill>
                </a:rPr>
                <a:t>f</a:t>
              </a:r>
              <a:r>
                <a:rPr lang="en-US" sz="2800" i="1" dirty="0">
                  <a:solidFill>
                    <a:srgbClr val="FF0000"/>
                  </a:solidFill>
                </a:rPr>
                <a:t> </a:t>
              </a:r>
              <a:r>
                <a:rPr sz="2800" dirty="0">
                  <a:solidFill>
                    <a:srgbClr val="FF0000"/>
                  </a:solidFill>
                </a:rPr>
                <a:t>(X)</a:t>
              </a:r>
            </a:p>
          </p:txBody>
        </p:sp>
      </p:grpSp>
      <p:sp>
        <p:nvSpPr>
          <p:cNvPr id="122" name="All Economic phenomenon has to be understood in terms of causal variables impacting a dependent variable"/>
          <p:cNvSpPr txBox="1"/>
          <p:nvPr/>
        </p:nvSpPr>
        <p:spPr>
          <a:xfrm>
            <a:off x="4947920" y="4964828"/>
            <a:ext cx="3108960" cy="555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algn="just" defTabSz="525779">
              <a:lnSpc>
                <a:spcPct val="150000"/>
              </a:lnSpc>
              <a:defRPr sz="333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concerned</a:t>
            </a:r>
            <a:endParaRPr sz="32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Y = f (X)">
            <a:extLst>
              <a:ext uri="{FF2B5EF4-FFF2-40B4-BE49-F238E27FC236}">
                <a16:creationId xmlns:a16="http://schemas.microsoft.com/office/drawing/2014/main" id="{17964727-87BF-7844-A1E4-4C8DA8E26D09}"/>
              </a:ext>
            </a:extLst>
          </p:cNvPr>
          <p:cNvSpPr txBox="1"/>
          <p:nvPr/>
        </p:nvSpPr>
        <p:spPr>
          <a:xfrm>
            <a:off x="4965208" y="7377305"/>
            <a:ext cx="3506928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5000">
                <a:solidFill>
                  <a:srgbClr val="2D2D2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>
                <a:solidFill>
                  <a:srgbClr val="FF0000"/>
                </a:solidFill>
              </a:rPr>
              <a:t>Y = </a:t>
            </a:r>
            <a:r>
              <a:rPr sz="2800" i="1" dirty="0">
                <a:solidFill>
                  <a:srgbClr val="FF0000"/>
                </a:solidFill>
              </a:rPr>
              <a:t>f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(X</a:t>
            </a:r>
            <a:r>
              <a:rPr lang="en-US" sz="2800" baseline="-25000" dirty="0">
                <a:solidFill>
                  <a:srgbClr val="FF0000"/>
                </a:solidFill>
              </a:rPr>
              <a:t>1</a:t>
            </a:r>
            <a:r>
              <a:rPr lang="en-US" sz="2800" dirty="0">
                <a:solidFill>
                  <a:srgbClr val="FF0000"/>
                </a:solidFill>
              </a:rPr>
              <a:t>, X</a:t>
            </a:r>
            <a:r>
              <a:rPr lang="en-US" sz="2800" baseline="-250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, … X</a:t>
            </a:r>
            <a:r>
              <a:rPr lang="en-US" sz="2800" baseline="-25000" dirty="0">
                <a:solidFill>
                  <a:srgbClr val="FF0000"/>
                </a:solidFill>
              </a:rPr>
              <a:t>N</a:t>
            </a:r>
            <a:r>
              <a:rPr sz="28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The comprehension refers to understanding the impact of a causal variable on the concerned dependent variable">
            <a:extLst>
              <a:ext uri="{FF2B5EF4-FFF2-40B4-BE49-F238E27FC236}">
                <a16:creationId xmlns:a16="http://schemas.microsoft.com/office/drawing/2014/main" id="{5E1080E8-5452-AAD5-5090-BA09690AD1D6}"/>
              </a:ext>
            </a:extLst>
          </p:cNvPr>
          <p:cNvSpPr txBox="1"/>
          <p:nvPr/>
        </p:nvSpPr>
        <p:spPr>
          <a:xfrm>
            <a:off x="3018741" y="2963581"/>
            <a:ext cx="7399862" cy="79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must investigate into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he comprehension refers to understanding the impact of a causal variable on the concerned dependent variable">
            <a:extLst>
              <a:ext uri="{FF2B5EF4-FFF2-40B4-BE49-F238E27FC236}">
                <a16:creationId xmlns:a16="http://schemas.microsoft.com/office/drawing/2014/main" id="{CC1AE252-014F-9F6F-B64A-4AC518D0CB51}"/>
              </a:ext>
            </a:extLst>
          </p:cNvPr>
          <p:cNvSpPr txBox="1"/>
          <p:nvPr/>
        </p:nvSpPr>
        <p:spPr>
          <a:xfrm>
            <a:off x="1643807" y="5931615"/>
            <a:ext cx="10642383" cy="940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3200" cap="sm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REGRESSAND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</a:t>
            </a:r>
            <a:r>
              <a:rPr lang="en-US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200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affected) </a:t>
            </a:r>
            <a:r>
              <a:rPr sz="3200" cap="sm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3200" cap="sm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(Y)</a:t>
            </a:r>
          </a:p>
          <a:p>
            <a:pPr algn="just" defTabSz="490727">
              <a:lnSpc>
                <a:spcPct val="150000"/>
              </a:lnSpc>
              <a:defRPr sz="3108"/>
            </a:pPr>
            <a:r>
              <a:rPr lang="en-US" sz="32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he comprehension refers to understanding the impact of a causal variable on the concerned dependent variable">
            <a:extLst>
              <a:ext uri="{FF2B5EF4-FFF2-40B4-BE49-F238E27FC236}">
                <a16:creationId xmlns:a16="http://schemas.microsoft.com/office/drawing/2014/main" id="{FB3ABB49-123D-BF05-D67E-A35EF1AFF1CB}"/>
              </a:ext>
            </a:extLst>
          </p:cNvPr>
          <p:cNvSpPr txBox="1"/>
          <p:nvPr/>
        </p:nvSpPr>
        <p:spPr>
          <a:xfrm>
            <a:off x="1617391" y="3873566"/>
            <a:ext cx="10642383" cy="979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cap="sm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</a:t>
            </a:r>
            <a:r>
              <a:rPr lang="en-US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200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sz="3200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ausal</a:t>
            </a:r>
            <a:r>
              <a:rPr lang="en-US" sz="3200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cap="small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variable</a:t>
            </a:r>
            <a:r>
              <a:rPr lang="en-US" sz="3200" cap="small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(X)</a:t>
            </a:r>
            <a:endParaRPr lang="en-US" sz="32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90727">
              <a:lnSpc>
                <a:spcPct val="150000"/>
              </a:lnSpc>
              <a:defRPr sz="3108"/>
            </a:pPr>
            <a:r>
              <a:rPr lang="en-US" sz="32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ll Economic phenomenon has to be understood in terms of causal variables impacting a dependent variable">
            <a:extLst>
              <a:ext uri="{FF2B5EF4-FFF2-40B4-BE49-F238E27FC236}">
                <a16:creationId xmlns:a16="http://schemas.microsoft.com/office/drawing/2014/main" id="{7E8D37E9-C5C4-76AC-3FCB-E29D6DD0868B}"/>
              </a:ext>
            </a:extLst>
          </p:cNvPr>
          <p:cNvSpPr txBox="1"/>
          <p:nvPr/>
        </p:nvSpPr>
        <p:spPr>
          <a:xfrm>
            <a:off x="8847055" y="2376654"/>
            <a:ext cx="3787952" cy="63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algn="just" defTabSz="525779">
              <a:lnSpc>
                <a:spcPct val="150000"/>
              </a:lnSpc>
              <a:defRPr sz="3330"/>
            </a:pPr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Bi-Variate Function</a:t>
            </a:r>
            <a:endParaRPr sz="3200" cap="small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ll Economic phenomenon has to be understood in terms of causal variables impacting a dependent variable">
            <a:extLst>
              <a:ext uri="{FF2B5EF4-FFF2-40B4-BE49-F238E27FC236}">
                <a16:creationId xmlns:a16="http://schemas.microsoft.com/office/drawing/2014/main" id="{215BC966-99BC-4DFE-6893-308D9E616456}"/>
              </a:ext>
            </a:extLst>
          </p:cNvPr>
          <p:cNvSpPr txBox="1"/>
          <p:nvPr/>
        </p:nvSpPr>
        <p:spPr>
          <a:xfrm>
            <a:off x="7415093" y="7860045"/>
            <a:ext cx="4223856" cy="555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algn="just" defTabSz="525779">
              <a:lnSpc>
                <a:spcPct val="150000"/>
              </a:lnSpc>
              <a:defRPr sz="3330"/>
            </a:pPr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Multi-Variate Function</a:t>
            </a:r>
            <a:endParaRPr sz="3200" cap="small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0" grpId="0" animBg="1"/>
      <p:bldP spid="2" grpId="0" animBg="1"/>
      <p:bldP spid="6" grpId="0" animBg="1"/>
      <p:bldP spid="7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he independent variable serves as the cause or the stimulant…"/>
          <p:cNvSpPr txBox="1">
            <a:spLocks noGrp="1"/>
          </p:cNvSpPr>
          <p:nvPr>
            <p:ph type="subTitle" sz="half" idx="1"/>
          </p:nvPr>
        </p:nvSpPr>
        <p:spPr>
          <a:xfrm>
            <a:off x="723900" y="1159133"/>
            <a:ext cx="5778498" cy="77599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150813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b="1"/>
            </a:pPr>
            <a:r>
              <a:rPr sz="2800" cap="all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sz="2800" cap="small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variable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</a:t>
            </a:r>
          </a:p>
        </p:txBody>
      </p:sp>
      <p:sp>
        <p:nvSpPr>
          <p:cNvPr id="7" name="The dependent variable serves as the effect or the consequence…">
            <a:extLst>
              <a:ext uri="{FF2B5EF4-FFF2-40B4-BE49-F238E27FC236}">
                <a16:creationId xmlns:a16="http://schemas.microsoft.com/office/drawing/2014/main" id="{4C381C89-FAFD-614C-8C55-61D8DB0266D3}"/>
              </a:ext>
            </a:extLst>
          </p:cNvPr>
          <p:cNvSpPr txBox="1"/>
          <p:nvPr/>
        </p:nvSpPr>
        <p:spPr>
          <a:xfrm>
            <a:off x="7345829" y="1159133"/>
            <a:ext cx="5215061" cy="775993"/>
          </a:xfrm>
          <a:prstGeom prst="rect">
            <a:avLst/>
          </a:prstGeom>
          <a:ln w="381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fontScale="92500" lnSpcReduction="20000"/>
          </a:bodyPr>
          <a:lstStyle/>
          <a:p>
            <a:pPr marL="188913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sz="3700"/>
            </a:pPr>
            <a:r>
              <a:rPr sz="2800" cap="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sz="28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variable</a:t>
            </a:r>
            <a:r>
              <a:rPr lang="en-US" sz="28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sm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 sz="3700"/>
            </a:pPr>
            <a:endParaRPr sz="280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he dependent variable serves as the effect or the consequence…">
            <a:extLst>
              <a:ext uri="{FF2B5EF4-FFF2-40B4-BE49-F238E27FC236}">
                <a16:creationId xmlns:a16="http://schemas.microsoft.com/office/drawing/2014/main" id="{ADF2B702-7C31-6142-B164-2ABAA8F8BB00}"/>
              </a:ext>
            </a:extLst>
          </p:cNvPr>
          <p:cNvSpPr txBox="1"/>
          <p:nvPr/>
        </p:nvSpPr>
        <p:spPr>
          <a:xfrm>
            <a:off x="2330450" y="6603664"/>
            <a:ext cx="9513420" cy="896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just">
              <a:defRPr sz="37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is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called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..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he dependent variable serves as the effect or the consequence…">
            <a:extLst>
              <a:ext uri="{FF2B5EF4-FFF2-40B4-BE49-F238E27FC236}">
                <a16:creationId xmlns:a16="http://schemas.microsoft.com/office/drawing/2014/main" id="{CDB6CB02-12CF-6445-B831-9A6CB1132EAE}"/>
              </a:ext>
            </a:extLst>
          </p:cNvPr>
          <p:cNvSpPr txBox="1"/>
          <p:nvPr/>
        </p:nvSpPr>
        <p:spPr>
          <a:xfrm>
            <a:off x="7345829" y="2467301"/>
            <a:ext cx="5215061" cy="809436"/>
          </a:xfrm>
          <a:prstGeom prst="rect">
            <a:avLst/>
          </a:prstGeom>
          <a:ln w="381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188913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sz="3700"/>
            </a:pPr>
            <a:r>
              <a:rPr lang="en-IN" sz="2800" dirty="0">
                <a:solidFill>
                  <a:schemeClr val="accent6">
                    <a:hueOff val="-146070"/>
                    <a:satOff val="-10048"/>
                    <a:lumOff val="-3062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DETERMINED Variable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he independent variable serves as the cause or the stimulant…">
            <a:extLst>
              <a:ext uri="{FF2B5EF4-FFF2-40B4-BE49-F238E27FC236}">
                <a16:creationId xmlns:a16="http://schemas.microsoft.com/office/drawing/2014/main" id="{9D25E4E4-3BBA-FAF8-440A-62EE98EF12EF}"/>
              </a:ext>
            </a:extLst>
          </p:cNvPr>
          <p:cNvSpPr txBox="1">
            <a:spLocks/>
          </p:cNvSpPr>
          <p:nvPr/>
        </p:nvSpPr>
        <p:spPr>
          <a:xfrm>
            <a:off x="723901" y="2434103"/>
            <a:ext cx="5778499" cy="896468"/>
          </a:xfrm>
          <a:prstGeom prst="rect">
            <a:avLst/>
          </a:prstGeom>
          <a:ln w="381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50813" algn="just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b="1"/>
            </a:pPr>
            <a:r>
              <a:rPr lang="en-IN" sz="2800" b="1" dirty="0">
                <a:solidFill>
                  <a:schemeClr val="accent6">
                    <a:hueOff val="-146070"/>
                    <a:satOff val="-10048"/>
                    <a:lumOff val="-3062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PREDETERMINED Variable </a:t>
            </a:r>
          </a:p>
        </p:txBody>
      </p:sp>
      <p:sp>
        <p:nvSpPr>
          <p:cNvPr id="6" name="The dependent variable serves as the effect or the consequence…">
            <a:extLst>
              <a:ext uri="{FF2B5EF4-FFF2-40B4-BE49-F238E27FC236}">
                <a16:creationId xmlns:a16="http://schemas.microsoft.com/office/drawing/2014/main" id="{1EC67BD2-D9E0-5A12-505F-F5C94E1BBFF4}"/>
              </a:ext>
            </a:extLst>
          </p:cNvPr>
          <p:cNvSpPr txBox="1"/>
          <p:nvPr/>
        </p:nvSpPr>
        <p:spPr>
          <a:xfrm>
            <a:off x="7345829" y="3583712"/>
            <a:ext cx="5215061" cy="1612578"/>
          </a:xfrm>
          <a:prstGeom prst="rect">
            <a:avLst/>
          </a:prstGeom>
          <a:ln w="381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marL="188913" algn="just">
              <a:spcBef>
                <a:spcPts val="600"/>
              </a:spcBef>
              <a:defRPr sz="37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erves 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88913" algn="just">
              <a:spcBef>
                <a:spcPts val="600"/>
              </a:spcBef>
              <a:defRPr sz="3700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</a:t>
            </a:r>
            <a:endParaRPr lang="en-US" sz="320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913" algn="just">
              <a:spcBef>
                <a:spcPts val="600"/>
              </a:spcBef>
              <a:defRPr sz="3700"/>
            </a:pPr>
            <a:r>
              <a:rPr lang="en-IN" sz="32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the </a:t>
            </a:r>
            <a:r>
              <a:rPr sz="32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</a:t>
            </a:r>
            <a:endParaRPr lang="en-US" sz="320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 sz="3700"/>
            </a:pPr>
            <a:endParaRPr lang="en-IN" sz="320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 sz="3700"/>
            </a:pPr>
            <a:endParaRPr sz="320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he independent variable serves as the cause or the stimulant…">
            <a:extLst>
              <a:ext uri="{FF2B5EF4-FFF2-40B4-BE49-F238E27FC236}">
                <a16:creationId xmlns:a16="http://schemas.microsoft.com/office/drawing/2014/main" id="{71EF06DF-A823-7CF8-9A50-244E4A4B70CC}"/>
              </a:ext>
            </a:extLst>
          </p:cNvPr>
          <p:cNvSpPr txBox="1">
            <a:spLocks/>
          </p:cNvSpPr>
          <p:nvPr/>
        </p:nvSpPr>
        <p:spPr>
          <a:xfrm>
            <a:off x="723900" y="3574207"/>
            <a:ext cx="5778498" cy="1691910"/>
          </a:xfrm>
          <a:prstGeom prst="rect">
            <a:avLst/>
          </a:prstGeom>
          <a:ln w="381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50813" algn="just" hangingPunct="1">
              <a:spcBef>
                <a:spcPts val="600"/>
              </a:spcBef>
              <a:defRPr b="1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as:</a:t>
            </a:r>
          </a:p>
          <a:p>
            <a:pPr marL="150813" algn="just" hangingPunct="1">
              <a:spcBef>
                <a:spcPts val="600"/>
              </a:spcBef>
              <a:defRPr b="1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</a:t>
            </a:r>
            <a:r>
              <a:rPr lang="en-IN" sz="32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</a:t>
            </a:r>
          </a:p>
          <a:p>
            <a:pPr marL="150813" algn="just" hangingPunct="1">
              <a:spcBef>
                <a:spcPts val="600"/>
              </a:spcBef>
              <a:defRPr b="1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or the </a:t>
            </a:r>
            <a:r>
              <a:rPr lang="en-IN" sz="32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stimulant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  <p:bldP spid="6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his functional relationship could either be:…">
            <a:extLst>
              <a:ext uri="{FF2B5EF4-FFF2-40B4-BE49-F238E27FC236}">
                <a16:creationId xmlns:a16="http://schemas.microsoft.com/office/drawing/2014/main" id="{674353FF-BFD5-DB43-8767-11241219B8A7}"/>
              </a:ext>
            </a:extLst>
          </p:cNvPr>
          <p:cNvSpPr txBox="1"/>
          <p:nvPr/>
        </p:nvSpPr>
        <p:spPr>
          <a:xfrm>
            <a:off x="1301006" y="765603"/>
            <a:ext cx="10018429" cy="93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just" defTabSz="543305">
              <a:defRPr sz="344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 relationship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IN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either be:</a:t>
            </a:r>
          </a:p>
        </p:txBody>
      </p:sp>
      <p:sp>
        <p:nvSpPr>
          <p:cNvPr id="130" name="This functional relationship could either be:…"/>
          <p:cNvSpPr txBox="1"/>
          <p:nvPr/>
        </p:nvSpPr>
        <p:spPr>
          <a:xfrm>
            <a:off x="1301006" y="1595292"/>
            <a:ext cx="4030494" cy="571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just" defTabSz="543305">
              <a:defRPr sz="3441"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Direct: </a:t>
            </a:r>
          </a:p>
          <a:p>
            <a:pPr algn="just" defTabSz="543305">
              <a:defRPr sz="3441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543305">
              <a:defRPr sz="3441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DB0BF9-E3A2-734D-B7E2-717534E649BA}"/>
              </a:ext>
            </a:extLst>
          </p:cNvPr>
          <p:cNvGrpSpPr/>
          <p:nvPr/>
        </p:nvGrpSpPr>
        <p:grpSpPr>
          <a:xfrm>
            <a:off x="1208960" y="2382852"/>
            <a:ext cx="3666568" cy="1449849"/>
            <a:chOff x="601453" y="5001705"/>
            <a:chExt cx="3666568" cy="135742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436ABE9-C2D2-E340-8023-4A47E7F90BBB}"/>
                </a:ext>
              </a:extLst>
            </p:cNvPr>
            <p:cNvGrpSpPr/>
            <p:nvPr/>
          </p:nvGrpSpPr>
          <p:grpSpPr>
            <a:xfrm>
              <a:off x="1717563" y="5001705"/>
              <a:ext cx="1434347" cy="1357421"/>
              <a:chOff x="5633811" y="4837109"/>
              <a:chExt cx="1290547" cy="1357421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5D88EFC9-FBEB-114E-B8F2-398BD76282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33811" y="4837109"/>
                <a:ext cx="14944" cy="1189945"/>
              </a:xfrm>
              <a:prstGeom prst="straightConnector1">
                <a:avLst/>
              </a:prstGeom>
              <a:noFill/>
              <a:ln w="57150" cap="flat">
                <a:solidFill>
                  <a:schemeClr val="accent6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78FA41F-63FE-F94D-A24E-5FF7B0729C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4357" y="4920222"/>
                <a:ext cx="1" cy="1274308"/>
              </a:xfrm>
              <a:prstGeom prst="straightConnector1">
                <a:avLst/>
              </a:prstGeom>
              <a:noFill/>
              <a:ln w="57150" cap="flat">
                <a:solidFill>
                  <a:schemeClr val="accent1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2C24E55-C670-3044-A6EC-62E6C81B4B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3616" y="5569928"/>
                <a:ext cx="770964" cy="0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70678DE-E74C-AF4A-AE23-064F64BFA281}"/>
                </a:ext>
              </a:extLst>
            </p:cNvPr>
            <p:cNvSpPr/>
            <p:nvPr/>
          </p:nvSpPr>
          <p:spPr>
            <a:xfrm>
              <a:off x="601453" y="5402216"/>
              <a:ext cx="3666568" cy="5474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                    Y </a:t>
              </a:r>
            </a:p>
          </p:txBody>
        </p:sp>
      </p:grpSp>
      <p:sp>
        <p:nvSpPr>
          <p:cNvPr id="132" name="Inverse or Indirect or Negative:…"/>
          <p:cNvSpPr txBox="1"/>
          <p:nvPr/>
        </p:nvSpPr>
        <p:spPr>
          <a:xfrm>
            <a:off x="6854903" y="1564105"/>
            <a:ext cx="4468525" cy="879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>
              <a:defRPr sz="3700"/>
            </a:pPr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/ Indirect / </a:t>
            </a:r>
            <a:r>
              <a:rPr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Inverse: </a:t>
            </a:r>
          </a:p>
          <a:p>
            <a:pPr algn="just">
              <a:defRPr sz="37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55E7608-93DB-9943-9FD2-9CB9397462F2}"/>
              </a:ext>
            </a:extLst>
          </p:cNvPr>
          <p:cNvGrpSpPr/>
          <p:nvPr/>
        </p:nvGrpSpPr>
        <p:grpSpPr>
          <a:xfrm>
            <a:off x="7305895" y="2321582"/>
            <a:ext cx="2948975" cy="1302575"/>
            <a:chOff x="614081" y="4894996"/>
            <a:chExt cx="3666568" cy="130257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6A6EA50-2523-CB41-9D76-0183F1197A08}"/>
                </a:ext>
              </a:extLst>
            </p:cNvPr>
            <p:cNvGrpSpPr/>
            <p:nvPr/>
          </p:nvGrpSpPr>
          <p:grpSpPr>
            <a:xfrm>
              <a:off x="1730190" y="4894996"/>
              <a:ext cx="1607906" cy="1302575"/>
              <a:chOff x="5645173" y="4730400"/>
              <a:chExt cx="1446706" cy="1302575"/>
            </a:xfrm>
          </p:grpSpPr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60F4F6CA-F48C-FB45-A77C-6770848A55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45173" y="4730400"/>
                <a:ext cx="14945" cy="1189945"/>
              </a:xfrm>
              <a:prstGeom prst="straightConnector1">
                <a:avLst/>
              </a:prstGeom>
              <a:noFill/>
              <a:ln w="57150" cap="flat">
                <a:solidFill>
                  <a:schemeClr val="accent6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67516850-024C-1E47-83EF-A994BF543A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91879" y="4730400"/>
                <a:ext cx="0" cy="1302575"/>
              </a:xfrm>
              <a:prstGeom prst="straightConnector1">
                <a:avLst/>
              </a:prstGeom>
              <a:noFill/>
              <a:ln w="57150" cap="flat">
                <a:solidFill>
                  <a:schemeClr val="accent1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866641B4-C781-F547-9A4C-72448A1354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20910" y="5468471"/>
                <a:ext cx="770964" cy="0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96E2CA8-EABB-BD45-8715-979172677EF4}"/>
                </a:ext>
              </a:extLst>
            </p:cNvPr>
            <p:cNvSpPr/>
            <p:nvPr/>
          </p:nvSpPr>
          <p:spPr>
            <a:xfrm>
              <a:off x="614081" y="5295506"/>
              <a:ext cx="366656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                    Y </a:t>
              </a:r>
            </a:p>
          </p:txBody>
        </p:sp>
      </p:grpSp>
      <p:sp>
        <p:nvSpPr>
          <p:cNvPr id="32" name="In the case of Positive or Direct relationship:…">
            <a:extLst>
              <a:ext uri="{FF2B5EF4-FFF2-40B4-BE49-F238E27FC236}">
                <a16:creationId xmlns:a16="http://schemas.microsoft.com/office/drawing/2014/main" id="{30BC07E0-9921-A545-A1CE-4E0A67332C14}"/>
              </a:ext>
            </a:extLst>
          </p:cNvPr>
          <p:cNvSpPr txBox="1"/>
          <p:nvPr/>
        </p:nvSpPr>
        <p:spPr>
          <a:xfrm>
            <a:off x="816350" y="5327121"/>
            <a:ext cx="4898637" cy="11442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2500"/>
          </a:bodyPr>
          <a:lstStyle/>
          <a:p>
            <a:pPr algn="just">
              <a:spcAft>
                <a:spcPts val="1200"/>
              </a:spcAft>
              <a:defRPr sz="37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ositive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defRPr sz="37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Trajectory: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SLOPING</a:t>
            </a:r>
            <a:endParaRPr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In the case of Positive or Direct relationship:…">
            <a:extLst>
              <a:ext uri="{FF2B5EF4-FFF2-40B4-BE49-F238E27FC236}">
                <a16:creationId xmlns:a16="http://schemas.microsoft.com/office/drawing/2014/main" id="{9718A255-248D-174F-BB7B-471F0572AC15}"/>
              </a:ext>
            </a:extLst>
          </p:cNvPr>
          <p:cNvSpPr txBox="1"/>
          <p:nvPr/>
        </p:nvSpPr>
        <p:spPr>
          <a:xfrm>
            <a:off x="7124701" y="5293034"/>
            <a:ext cx="5578716" cy="1220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2500"/>
          </a:bodyPr>
          <a:lstStyle/>
          <a:p>
            <a:pPr algn="just">
              <a:spcAft>
                <a:spcPts val="1200"/>
              </a:spcAft>
              <a:defRPr sz="37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  <a:p>
            <a:pPr algn="just">
              <a:spcAft>
                <a:spcPts val="1200"/>
              </a:spcAft>
              <a:defRPr sz="37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Trajectory: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 SLOPING</a:t>
            </a:r>
            <a:endParaRPr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0C2D40-4635-9940-869D-3EC53C5DFEAA}"/>
              </a:ext>
            </a:extLst>
          </p:cNvPr>
          <p:cNvGrpSpPr/>
          <p:nvPr/>
        </p:nvGrpSpPr>
        <p:grpSpPr>
          <a:xfrm>
            <a:off x="8577081" y="6924331"/>
            <a:ext cx="3006554" cy="2573764"/>
            <a:chOff x="2450110" y="3802831"/>
            <a:chExt cx="8739802" cy="4048647"/>
          </a:xfrm>
        </p:grpSpPr>
        <p:sp>
          <p:nvSpPr>
            <p:cNvPr id="36" name="Line">
              <a:extLst>
                <a:ext uri="{FF2B5EF4-FFF2-40B4-BE49-F238E27FC236}">
                  <a16:creationId xmlns:a16="http://schemas.microsoft.com/office/drawing/2014/main" id="{4446226D-0544-634D-A4C8-6A923E6C1511}"/>
                </a:ext>
              </a:extLst>
            </p:cNvPr>
            <p:cNvSpPr/>
            <p:nvPr/>
          </p:nvSpPr>
          <p:spPr>
            <a:xfrm flipV="1">
              <a:off x="3682999" y="3853301"/>
              <a:ext cx="50761" cy="3361679"/>
            </a:xfrm>
            <a:prstGeom prst="line">
              <a:avLst/>
            </a:prstGeom>
            <a:ln w="28575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">
              <a:extLst>
                <a:ext uri="{FF2B5EF4-FFF2-40B4-BE49-F238E27FC236}">
                  <a16:creationId xmlns:a16="http://schemas.microsoft.com/office/drawing/2014/main" id="{28D8A642-E959-3A41-96C6-3D004F113822}"/>
                </a:ext>
              </a:extLst>
            </p:cNvPr>
            <p:cNvSpPr/>
            <p:nvPr/>
          </p:nvSpPr>
          <p:spPr>
            <a:xfrm>
              <a:off x="3627623" y="7182187"/>
              <a:ext cx="7562289" cy="2"/>
            </a:xfrm>
            <a:prstGeom prst="line">
              <a:avLst/>
            </a:prstGeom>
            <a:ln w="28575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825631F-7DB0-A840-B287-71309EA9727A}"/>
                </a:ext>
              </a:extLst>
            </p:cNvPr>
            <p:cNvGrpSpPr/>
            <p:nvPr/>
          </p:nvGrpSpPr>
          <p:grpSpPr>
            <a:xfrm>
              <a:off x="5817243" y="7109121"/>
              <a:ext cx="4841129" cy="742357"/>
              <a:chOff x="5817243" y="7109121"/>
              <a:chExt cx="4841129" cy="742357"/>
            </a:xfrm>
          </p:grpSpPr>
          <p:sp>
            <p:nvSpPr>
              <p:cNvPr id="61" name="X">
                <a:extLst>
                  <a:ext uri="{FF2B5EF4-FFF2-40B4-BE49-F238E27FC236}">
                    <a16:creationId xmlns:a16="http://schemas.microsoft.com/office/drawing/2014/main" id="{71E2BD07-1BE7-1545-B229-51DE4D5210E0}"/>
                  </a:ext>
                </a:extLst>
              </p:cNvPr>
              <p:cNvSpPr txBox="1"/>
              <p:nvPr/>
            </p:nvSpPr>
            <p:spPr>
              <a:xfrm>
                <a:off x="9712432" y="7109121"/>
                <a:ext cx="945940" cy="74235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62" name="= CAUSE">
                <a:extLst>
                  <a:ext uri="{FF2B5EF4-FFF2-40B4-BE49-F238E27FC236}">
                    <a16:creationId xmlns:a16="http://schemas.microsoft.com/office/drawing/2014/main" id="{02790788-55C7-9D4E-BFC5-2434FCE29BC9}"/>
                  </a:ext>
                </a:extLst>
              </p:cNvPr>
              <p:cNvSpPr txBox="1"/>
              <p:nvPr/>
            </p:nvSpPr>
            <p:spPr>
              <a:xfrm>
                <a:off x="5817243" y="7157535"/>
                <a:ext cx="3054149" cy="64552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r>
                  <a:rPr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CAUSE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B017A07-15D5-CF47-B6CB-D5EC3D007481}"/>
                </a:ext>
              </a:extLst>
            </p:cNvPr>
            <p:cNvGrpSpPr/>
            <p:nvPr/>
          </p:nvGrpSpPr>
          <p:grpSpPr>
            <a:xfrm>
              <a:off x="2450110" y="3802831"/>
              <a:ext cx="1192908" cy="2605386"/>
              <a:chOff x="2450110" y="3802831"/>
              <a:chExt cx="1192908" cy="2605386"/>
            </a:xfrm>
          </p:grpSpPr>
          <p:sp>
            <p:nvSpPr>
              <p:cNvPr id="59" name="Y">
                <a:extLst>
                  <a:ext uri="{FF2B5EF4-FFF2-40B4-BE49-F238E27FC236}">
                    <a16:creationId xmlns:a16="http://schemas.microsoft.com/office/drawing/2014/main" id="{84B4B6A0-9123-F547-A2E8-3B406828B290}"/>
                  </a:ext>
                </a:extLst>
              </p:cNvPr>
              <p:cNvSpPr txBox="1"/>
              <p:nvPr/>
            </p:nvSpPr>
            <p:spPr>
              <a:xfrm>
                <a:off x="2681680" y="3802831"/>
                <a:ext cx="945939" cy="7423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60" name="= EFFECT">
                <a:extLst>
                  <a:ext uri="{FF2B5EF4-FFF2-40B4-BE49-F238E27FC236}">
                    <a16:creationId xmlns:a16="http://schemas.microsoft.com/office/drawing/2014/main" id="{ED1C0044-648D-D046-B61F-2E6F4AEA52E7}"/>
                  </a:ext>
                </a:extLst>
              </p:cNvPr>
              <p:cNvSpPr txBox="1"/>
              <p:nvPr/>
            </p:nvSpPr>
            <p:spPr>
              <a:xfrm rot="16200000">
                <a:off x="2167787" y="4932986"/>
                <a:ext cx="1757554" cy="119290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rPr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</a:t>
                </a:r>
              </a:p>
            </p:txBody>
          </p:sp>
        </p:grpSp>
        <p:sp>
          <p:nvSpPr>
            <p:cNvPr id="53" name="Line">
              <a:extLst>
                <a:ext uri="{FF2B5EF4-FFF2-40B4-BE49-F238E27FC236}">
                  <a16:creationId xmlns:a16="http://schemas.microsoft.com/office/drawing/2014/main" id="{7C1EAFAA-51AE-C541-A618-636D4D2A1079}"/>
                </a:ext>
              </a:extLst>
            </p:cNvPr>
            <p:cNvSpPr/>
            <p:nvPr/>
          </p:nvSpPr>
          <p:spPr>
            <a:xfrm>
              <a:off x="3682999" y="4902198"/>
              <a:ext cx="5086875" cy="1033851"/>
            </a:xfrm>
            <a:prstGeom prst="line">
              <a:avLst/>
            </a:prstGeom>
            <a:ln w="57150">
              <a:solidFill>
                <a:srgbClr val="9452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9C5B787-481D-F940-AB3F-2C9178D54831}"/>
              </a:ext>
            </a:extLst>
          </p:cNvPr>
          <p:cNvGrpSpPr/>
          <p:nvPr/>
        </p:nvGrpSpPr>
        <p:grpSpPr>
          <a:xfrm>
            <a:off x="1394206" y="6832731"/>
            <a:ext cx="3011849" cy="2551828"/>
            <a:chOff x="2452322" y="1864021"/>
            <a:chExt cx="8755197" cy="4014142"/>
          </a:xfrm>
        </p:grpSpPr>
        <p:sp>
          <p:nvSpPr>
            <p:cNvPr id="77" name="Line">
              <a:extLst>
                <a:ext uri="{FF2B5EF4-FFF2-40B4-BE49-F238E27FC236}">
                  <a16:creationId xmlns:a16="http://schemas.microsoft.com/office/drawing/2014/main" id="{431BE574-FDC3-604D-ABFE-366FF185182C}"/>
                </a:ext>
              </a:extLst>
            </p:cNvPr>
            <p:cNvSpPr/>
            <p:nvPr/>
          </p:nvSpPr>
          <p:spPr>
            <a:xfrm flipH="1" flipV="1">
              <a:off x="3689495" y="1945132"/>
              <a:ext cx="44261" cy="3151444"/>
            </a:xfrm>
            <a:prstGeom prst="line">
              <a:avLst/>
            </a:prstGeom>
            <a:ln w="28575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">
              <a:extLst>
                <a:ext uri="{FF2B5EF4-FFF2-40B4-BE49-F238E27FC236}">
                  <a16:creationId xmlns:a16="http://schemas.microsoft.com/office/drawing/2014/main" id="{B142812E-9F6E-C942-997B-E66C045EFEDC}"/>
                </a:ext>
              </a:extLst>
            </p:cNvPr>
            <p:cNvSpPr/>
            <p:nvPr/>
          </p:nvSpPr>
          <p:spPr>
            <a:xfrm>
              <a:off x="3645229" y="5096578"/>
              <a:ext cx="7562290" cy="2"/>
            </a:xfrm>
            <a:prstGeom prst="line">
              <a:avLst/>
            </a:prstGeom>
            <a:ln w="28575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0A1DA3E-FC36-874E-B632-129E7E11A22B}"/>
                </a:ext>
              </a:extLst>
            </p:cNvPr>
            <p:cNvGrpSpPr/>
            <p:nvPr/>
          </p:nvGrpSpPr>
          <p:grpSpPr>
            <a:xfrm>
              <a:off x="5758686" y="5097498"/>
              <a:ext cx="5349619" cy="780665"/>
              <a:chOff x="5758686" y="5097498"/>
              <a:chExt cx="5349619" cy="780665"/>
            </a:xfrm>
          </p:grpSpPr>
          <p:sp>
            <p:nvSpPr>
              <p:cNvPr id="89" name="X">
                <a:extLst>
                  <a:ext uri="{FF2B5EF4-FFF2-40B4-BE49-F238E27FC236}">
                    <a16:creationId xmlns:a16="http://schemas.microsoft.com/office/drawing/2014/main" id="{19717063-C073-C54A-89AA-EDEB908EDF8E}"/>
                  </a:ext>
                </a:extLst>
              </p:cNvPr>
              <p:cNvSpPr txBox="1"/>
              <p:nvPr/>
            </p:nvSpPr>
            <p:spPr>
              <a:xfrm>
                <a:off x="10162365" y="5135805"/>
                <a:ext cx="945940" cy="7423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90" name="= CAUSE">
                <a:extLst>
                  <a:ext uri="{FF2B5EF4-FFF2-40B4-BE49-F238E27FC236}">
                    <a16:creationId xmlns:a16="http://schemas.microsoft.com/office/drawing/2014/main" id="{BFE01577-EF26-244D-BE14-EE1378E86653}"/>
                  </a:ext>
                </a:extLst>
              </p:cNvPr>
              <p:cNvSpPr txBox="1"/>
              <p:nvPr/>
            </p:nvSpPr>
            <p:spPr>
              <a:xfrm>
                <a:off x="5758686" y="5097498"/>
                <a:ext cx="3054149" cy="6455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r>
                  <a:rPr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CAUSE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47EDE0C-B3D5-4A46-A98C-CD1409BA6326}"/>
                </a:ext>
              </a:extLst>
            </p:cNvPr>
            <p:cNvGrpSpPr/>
            <p:nvPr/>
          </p:nvGrpSpPr>
          <p:grpSpPr>
            <a:xfrm>
              <a:off x="2452322" y="1864021"/>
              <a:ext cx="1195650" cy="2614763"/>
              <a:chOff x="2452322" y="1864021"/>
              <a:chExt cx="1195650" cy="2614763"/>
            </a:xfrm>
          </p:grpSpPr>
          <p:sp>
            <p:nvSpPr>
              <p:cNvPr id="87" name="Y">
                <a:extLst>
                  <a:ext uri="{FF2B5EF4-FFF2-40B4-BE49-F238E27FC236}">
                    <a16:creationId xmlns:a16="http://schemas.microsoft.com/office/drawing/2014/main" id="{B8CFF962-CA2C-5145-ABA7-E332D2EAE88B}"/>
                  </a:ext>
                </a:extLst>
              </p:cNvPr>
              <p:cNvSpPr txBox="1"/>
              <p:nvPr/>
            </p:nvSpPr>
            <p:spPr>
              <a:xfrm>
                <a:off x="2702033" y="1864021"/>
                <a:ext cx="945939" cy="7423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88" name="= EFFECT">
                <a:extLst>
                  <a:ext uri="{FF2B5EF4-FFF2-40B4-BE49-F238E27FC236}">
                    <a16:creationId xmlns:a16="http://schemas.microsoft.com/office/drawing/2014/main" id="{49759DFA-2909-A346-9729-1AA1F36C2926}"/>
                  </a:ext>
                </a:extLst>
              </p:cNvPr>
              <p:cNvSpPr txBox="1"/>
              <p:nvPr/>
            </p:nvSpPr>
            <p:spPr>
              <a:xfrm rot="16200000">
                <a:off x="2169998" y="3003553"/>
                <a:ext cx="1757555" cy="119290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rPr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</a:t>
                </a:r>
              </a:p>
            </p:txBody>
          </p:sp>
        </p:grpSp>
        <p:sp>
          <p:nvSpPr>
            <p:cNvPr id="85" name="Line">
              <a:extLst>
                <a:ext uri="{FF2B5EF4-FFF2-40B4-BE49-F238E27FC236}">
                  <a16:creationId xmlns:a16="http://schemas.microsoft.com/office/drawing/2014/main" id="{54943FE5-F6BD-4F45-9ED9-E1EF7DE42D24}"/>
                </a:ext>
              </a:extLst>
            </p:cNvPr>
            <p:cNvSpPr/>
            <p:nvPr/>
          </p:nvSpPr>
          <p:spPr>
            <a:xfrm flipV="1">
              <a:off x="3683001" y="2555907"/>
              <a:ext cx="4774510" cy="1749393"/>
            </a:xfrm>
            <a:prstGeom prst="line">
              <a:avLst/>
            </a:prstGeom>
            <a:ln w="57150">
              <a:solidFill>
                <a:srgbClr val="0000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gression (contd.)">
                <a:extLst>
                  <a:ext uri="{FF2B5EF4-FFF2-40B4-BE49-F238E27FC236}">
                    <a16:creationId xmlns:a16="http://schemas.microsoft.com/office/drawing/2014/main" id="{4949802E-8E6B-C24B-0A66-F150DF5F5E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3957" y="1562164"/>
                <a:ext cx="1583138" cy="63951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257047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52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∝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gression (contd.)">
                <a:extLst>
                  <a:ext uri="{FF2B5EF4-FFF2-40B4-BE49-F238E27FC236}">
                    <a16:creationId xmlns:a16="http://schemas.microsoft.com/office/drawing/2014/main" id="{4949802E-8E6B-C24B-0A66-F150DF5F5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957" y="1562164"/>
                <a:ext cx="1583138" cy="639515"/>
              </a:xfrm>
              <a:prstGeom prst="rect">
                <a:avLst/>
              </a:prstGeom>
              <a:blipFill>
                <a:blip r:embed="rId2"/>
                <a:stretch>
                  <a:fillRect b="-1923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gression (contd.)">
                <a:extLst>
                  <a:ext uri="{FF2B5EF4-FFF2-40B4-BE49-F238E27FC236}">
                    <a16:creationId xmlns:a16="http://schemas.microsoft.com/office/drawing/2014/main" id="{2A2083D0-2696-82E6-6F53-E9173F9A69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65311" y="1540610"/>
                <a:ext cx="1583114" cy="9260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257047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52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∝</m:t>
                      </m:r>
                      <m:f>
                        <m:fPr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gression (contd.)">
                <a:extLst>
                  <a:ext uri="{FF2B5EF4-FFF2-40B4-BE49-F238E27FC236}">
                    <a16:creationId xmlns:a16="http://schemas.microsoft.com/office/drawing/2014/main" id="{2A2083D0-2696-82E6-6F53-E9173F9A6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5311" y="1540610"/>
                <a:ext cx="1583114" cy="926010"/>
              </a:xfrm>
              <a:prstGeom prst="rect">
                <a:avLst/>
              </a:prstGeom>
              <a:blipFill>
                <a:blip r:embed="rId3"/>
                <a:stretch>
                  <a:fillRect b="-675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DAC464D-C043-8821-50BA-E91BA2B8FA7D}"/>
              </a:ext>
            </a:extLst>
          </p:cNvPr>
          <p:cNvGrpSpPr/>
          <p:nvPr/>
        </p:nvGrpSpPr>
        <p:grpSpPr>
          <a:xfrm>
            <a:off x="1108108" y="3993270"/>
            <a:ext cx="3868272" cy="1082339"/>
            <a:chOff x="515299" y="6575315"/>
            <a:chExt cx="3868272" cy="10133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190C0CE-29BF-DE4B-B6BD-24199029BCD4}"/>
                </a:ext>
              </a:extLst>
            </p:cNvPr>
            <p:cNvGrpSpPr/>
            <p:nvPr/>
          </p:nvGrpSpPr>
          <p:grpSpPr>
            <a:xfrm>
              <a:off x="1717318" y="6575315"/>
              <a:ext cx="1434349" cy="1013340"/>
              <a:chOff x="5638630" y="4711273"/>
              <a:chExt cx="1434349" cy="101334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09C87A4-15B6-AF73-2AA5-7FC06D04E6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8630" y="4711273"/>
                <a:ext cx="0" cy="938526"/>
              </a:xfrm>
              <a:prstGeom prst="straightConnector1">
                <a:avLst/>
              </a:prstGeom>
              <a:noFill/>
              <a:ln w="57150" cap="flat">
                <a:solidFill>
                  <a:schemeClr val="accent6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DD919D2-CE49-0DC1-59C9-8FE6FB5F4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72978" y="4780861"/>
                <a:ext cx="1" cy="943752"/>
              </a:xfrm>
              <a:prstGeom prst="straightConnector1">
                <a:avLst/>
              </a:prstGeom>
              <a:noFill/>
              <a:ln w="57150" cap="flat">
                <a:solidFill>
                  <a:schemeClr val="accent1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6CCCDAA-D254-FA0E-7AFF-DAB2202A3E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3200" y="5233619"/>
                <a:ext cx="770964" cy="0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426AA2-87B6-D775-841B-A01FBF4D0338}"/>
                </a:ext>
              </a:extLst>
            </p:cNvPr>
            <p:cNvSpPr/>
            <p:nvPr/>
          </p:nvSpPr>
          <p:spPr>
            <a:xfrm>
              <a:off x="515299" y="6867510"/>
              <a:ext cx="3868272" cy="5474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                    Y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0863DB5-61B0-27EF-A0F9-858A9B767B4D}"/>
              </a:ext>
            </a:extLst>
          </p:cNvPr>
          <p:cNvGrpSpPr/>
          <p:nvPr/>
        </p:nvGrpSpPr>
        <p:grpSpPr>
          <a:xfrm>
            <a:off x="7263846" y="3783356"/>
            <a:ext cx="3111203" cy="1143986"/>
            <a:chOff x="547303" y="6369577"/>
            <a:chExt cx="3868272" cy="114398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C851E65-9521-0CBB-D3B7-C82F2FEB2464}"/>
                </a:ext>
              </a:extLst>
            </p:cNvPr>
            <p:cNvGrpSpPr/>
            <p:nvPr/>
          </p:nvGrpSpPr>
          <p:grpSpPr>
            <a:xfrm>
              <a:off x="1689322" y="6369577"/>
              <a:ext cx="1571817" cy="1143986"/>
              <a:chOff x="5610634" y="4505535"/>
              <a:chExt cx="1571817" cy="1143986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C4D77C4F-5A7D-1F79-BB65-DD437D546C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0634" y="4505535"/>
                <a:ext cx="0" cy="1143985"/>
              </a:xfrm>
              <a:prstGeom prst="straightConnector1">
                <a:avLst/>
              </a:prstGeom>
              <a:noFill/>
              <a:ln w="57150" cap="flat">
                <a:solidFill>
                  <a:schemeClr val="accent6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203F2E0C-E777-76CD-1446-E96E53641F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82447" y="4505536"/>
                <a:ext cx="4" cy="1143985"/>
              </a:xfrm>
              <a:prstGeom prst="straightConnector1">
                <a:avLst/>
              </a:prstGeom>
              <a:noFill/>
              <a:ln w="57150" cap="flat">
                <a:solidFill>
                  <a:schemeClr val="accent1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46B4F262-21D9-1291-DBE2-BEA2F2F348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23644" y="4972016"/>
                <a:ext cx="770964" cy="0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84F1AE-7A42-3D4F-747F-DFFBA9CE982A}"/>
                </a:ext>
              </a:extLst>
            </p:cNvPr>
            <p:cNvSpPr/>
            <p:nvPr/>
          </p:nvSpPr>
          <p:spPr>
            <a:xfrm>
              <a:off x="547303" y="6523328"/>
              <a:ext cx="386827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                    Y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gression (contd.)">
                <a:extLst>
                  <a:ext uri="{FF2B5EF4-FFF2-40B4-BE49-F238E27FC236}">
                    <a16:creationId xmlns:a16="http://schemas.microsoft.com/office/drawing/2014/main" id="{F7E0A415-4A45-8F29-42B6-738F28EB0F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18657" y="3479425"/>
                <a:ext cx="1032656" cy="559939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257047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52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𝐎𝐑</m:t>
                      </m:r>
                    </m:oMath>
                  </m:oMathPara>
                </a14:m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Regression (contd.)">
                <a:extLst>
                  <a:ext uri="{FF2B5EF4-FFF2-40B4-BE49-F238E27FC236}">
                    <a16:creationId xmlns:a16="http://schemas.microsoft.com/office/drawing/2014/main" id="{F7E0A415-4A45-8F29-42B6-738F28EB0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657" y="3479425"/>
                <a:ext cx="1032656" cy="5599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gression (contd.)">
                <a:extLst>
                  <a:ext uri="{FF2B5EF4-FFF2-40B4-BE49-F238E27FC236}">
                    <a16:creationId xmlns:a16="http://schemas.microsoft.com/office/drawing/2014/main" id="{EB4EB567-B9FA-ACF2-8204-DD7F215D0E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2716" y="3339847"/>
                <a:ext cx="1032656" cy="559939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257047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52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 Medium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𝐎𝐑</m:t>
                      </m:r>
                    </m:oMath>
                  </m:oMathPara>
                </a14:m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Regression (contd.)">
                <a:extLst>
                  <a:ext uri="{FF2B5EF4-FFF2-40B4-BE49-F238E27FC236}">
                    <a16:creationId xmlns:a16="http://schemas.microsoft.com/office/drawing/2014/main" id="{EB4EB567-B9FA-ACF2-8204-DD7F215D0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2716" y="3339847"/>
                <a:ext cx="1032656" cy="5599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2" grpId="0" animBg="1"/>
      <p:bldP spid="32" grpId="0" animBg="1"/>
      <p:bldP spid="33" grpId="0" animBg="1"/>
      <p:bldP spid="2" grpId="0" animBg="1"/>
      <p:bldP spid="3" grpId="0" animBg="1"/>
      <p:bldP spid="65" grpId="0" animBg="1"/>
      <p:bldP spid="6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gression (contd.)"/>
          <p:cNvSpPr txBox="1">
            <a:spLocks noGrp="1"/>
          </p:cNvSpPr>
          <p:nvPr>
            <p:ph type="ctrTitle"/>
          </p:nvPr>
        </p:nvSpPr>
        <p:spPr>
          <a:xfrm>
            <a:off x="1690594" y="407826"/>
            <a:ext cx="10464800" cy="639515"/>
          </a:xfrm>
          <a:prstGeom prst="rect">
            <a:avLst/>
          </a:prstGeom>
        </p:spPr>
        <p:txBody>
          <a:bodyPr/>
          <a:lstStyle>
            <a:lvl1pPr defTabSz="257047">
              <a:defRPr sz="3520"/>
            </a:lvl1pPr>
          </a:lstStyle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(contd.)</a:t>
            </a:r>
          </a:p>
        </p:txBody>
      </p:sp>
      <p:sp>
        <p:nvSpPr>
          <p:cNvPr id="152" name="The unorganised or even the organised data can be converted into an equation, which will indicate the trajectory as well as the value of the slope of the curve"/>
          <p:cNvSpPr txBox="1"/>
          <p:nvPr/>
        </p:nvSpPr>
        <p:spPr>
          <a:xfrm>
            <a:off x="706185" y="1466441"/>
            <a:ext cx="11847017" cy="1540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algn="just">
              <a:defRPr sz="3700"/>
            </a:lvl1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 can be converted into an equation, which will indicate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curve’s: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THE SLOPE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hrough Regression we convert the data into a LINEAR equation:…"/>
          <p:cNvSpPr txBox="1"/>
          <p:nvPr/>
        </p:nvSpPr>
        <p:spPr>
          <a:xfrm>
            <a:off x="706184" y="3343020"/>
            <a:ext cx="11847017" cy="1285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just">
              <a:spcAft>
                <a:spcPts val="1200"/>
              </a:spcAft>
              <a:defRPr sz="37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data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converted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defRPr sz="3700"/>
            </a:pPr>
            <a:r>
              <a:rPr lang="en-US" sz="32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sz="32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32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3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             </a:t>
            </a:r>
            <a:r>
              <a:rPr lang="en-IN" sz="32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3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 +  </a:t>
            </a:r>
            <a:r>
              <a:rPr lang="en-IN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32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Significance of ‘h’ ???"/>
          <p:cNvSpPr txBox="1"/>
          <p:nvPr/>
        </p:nvSpPr>
        <p:spPr>
          <a:xfrm>
            <a:off x="915890" y="7326575"/>
            <a:ext cx="7732809" cy="7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algn="just">
              <a:defRPr sz="3700"/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ignificance of ‘</a:t>
            </a:r>
            <a:r>
              <a:rPr lang="en-IN" sz="3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5B11EE-FF39-E240-ADE2-787DF236A1FF}"/>
              </a:ext>
            </a:extLst>
          </p:cNvPr>
          <p:cNvGrpSpPr/>
          <p:nvPr/>
        </p:nvGrpSpPr>
        <p:grpSpPr>
          <a:xfrm>
            <a:off x="7079502" y="4632759"/>
            <a:ext cx="4286818" cy="1090936"/>
            <a:chOff x="7246688" y="6516744"/>
            <a:chExt cx="4286818" cy="10909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2A946B74-F819-3347-A39F-6811B2C4F285}"/>
                    </a:ext>
                  </a:extLst>
                </p:cNvPr>
                <p:cNvSpPr txBox="1"/>
                <p:nvPr/>
              </p:nvSpPr>
              <p:spPr>
                <a:xfrm>
                  <a:off x="7246688" y="6516744"/>
                  <a:ext cx="3084762" cy="94594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rmAutofit/>
                </a:bodyPr>
                <a:lstStyle/>
                <a:p>
                  <a:pPr algn="just">
                    <a:lnSpc>
                      <a:spcPct val="150000"/>
                    </a:lnSpc>
                    <a:defRPr sz="37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ar-AE" sz="32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32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ar-AE" sz="32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ar-AE" sz="32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  <m:r>
                          <a:rPr lang="en-US" sz="32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acc>
                          <m:accPr>
                            <m:chr m:val="̂"/>
                            <m:ctrlPr>
                              <a:rPr lang="en-US" sz="3200" b="1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 dirty="0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acc>
                        <m:r>
                          <a:rPr lang="ar-AE" sz="3200" b="1" i="1" dirty="0" err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ar-AE" sz="320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2A946B74-F819-3347-A39F-6811B2C4F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6688" y="6516744"/>
                  <a:ext cx="3084762" cy="94594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hrough Regression we convert the data into a LINEAR equation:…">
              <a:extLst>
                <a:ext uri="{FF2B5EF4-FFF2-40B4-BE49-F238E27FC236}">
                  <a16:creationId xmlns:a16="http://schemas.microsoft.com/office/drawing/2014/main" id="{961E577D-82A7-E641-8A29-35CF95F01A60}"/>
                </a:ext>
              </a:extLst>
            </p:cNvPr>
            <p:cNvSpPr txBox="1"/>
            <p:nvPr/>
          </p:nvSpPr>
          <p:spPr>
            <a:xfrm>
              <a:off x="10490129" y="6516744"/>
              <a:ext cx="1043377" cy="10909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normAutofit/>
            </a:bodyPr>
            <a:lstStyle/>
            <a:p>
              <a:pPr algn="just">
                <a:lnSpc>
                  <a:spcPct val="150000"/>
                </a:lnSpc>
                <a:defRPr sz="3700"/>
              </a:pPr>
              <a:r>
                <a: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SRF</a:t>
              </a:r>
              <a:endPara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hrough Regression we convert the data into a LINEAR equation:…">
            <a:extLst>
              <a:ext uri="{FF2B5EF4-FFF2-40B4-BE49-F238E27FC236}">
                <a16:creationId xmlns:a16="http://schemas.microsoft.com/office/drawing/2014/main" id="{446D71DB-CC2F-0644-8DE9-CE95D7057391}"/>
              </a:ext>
            </a:extLst>
          </p:cNvPr>
          <p:cNvSpPr txBox="1"/>
          <p:nvPr/>
        </p:nvSpPr>
        <p:spPr>
          <a:xfrm>
            <a:off x="10199677" y="3789865"/>
            <a:ext cx="1166643" cy="78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just">
              <a:lnSpc>
                <a:spcPct val="150000"/>
              </a:lnSpc>
              <a:defRPr sz="3700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PRF</a:t>
            </a:r>
            <a:endParaRPr lang="en-US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54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866E-18C1-F2DA-F9A5-E36DF985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1DF115-2894-8ACD-073A-3C65D96B0723}"/>
              </a:ext>
            </a:extLst>
          </p:cNvPr>
          <p:cNvGraphicFramePr>
            <a:graphicFrameLocks noGrp="1"/>
          </p:cNvGraphicFramePr>
          <p:nvPr/>
        </p:nvGraphicFramePr>
        <p:xfrm>
          <a:off x="427981" y="1014160"/>
          <a:ext cx="1919195" cy="61527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9290">
                  <a:extLst>
                    <a:ext uri="{9D8B030D-6E8A-4147-A177-3AD203B41FA5}">
                      <a16:colId xmlns:a16="http://schemas.microsoft.com/office/drawing/2014/main" val="4132923727"/>
                    </a:ext>
                  </a:extLst>
                </a:gridCol>
                <a:gridCol w="1039905">
                  <a:extLst>
                    <a:ext uri="{9D8B030D-6E8A-4147-A177-3AD203B41FA5}">
                      <a16:colId xmlns:a16="http://schemas.microsoft.com/office/drawing/2014/main" val="165285815"/>
                    </a:ext>
                  </a:extLst>
                </a:gridCol>
              </a:tblGrid>
              <a:tr h="1290517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298911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580336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363372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56165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515806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729601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8436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17E584-A4D0-ECF0-DBC1-82835A6E8063}"/>
                  </a:ext>
                </a:extLst>
              </p:cNvPr>
              <p:cNvSpPr txBox="1"/>
              <p:nvPr/>
            </p:nvSpPr>
            <p:spPr>
              <a:xfrm>
                <a:off x="427981" y="7442508"/>
                <a:ext cx="1437505" cy="59503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accPr>
                      <m:e>
                        <m:r>
                          <a:rPr kumimoji="0" lang="en-US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𝑿</m:t>
                        </m:r>
                      </m:e>
                    </m:acc>
                  </m:oMath>
                </a14:m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3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17E584-A4D0-ECF0-DBC1-82835A6E8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81" y="7442508"/>
                <a:ext cx="1437505" cy="595035"/>
              </a:xfrm>
              <a:prstGeom prst="rect">
                <a:avLst/>
              </a:prstGeom>
              <a:blipFill>
                <a:blip r:embed="rId3"/>
                <a:stretch>
                  <a:fillRect t="-12766" b="-3191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A05F34-9911-7D1E-378A-077D22F348FE}"/>
                  </a:ext>
                </a:extLst>
              </p:cNvPr>
              <p:cNvSpPr txBox="1"/>
              <p:nvPr/>
            </p:nvSpPr>
            <p:spPr>
              <a:xfrm>
                <a:off x="427981" y="8276842"/>
                <a:ext cx="1437505" cy="5950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accPr>
                      <m:e>
                        <m:r>
                          <a:rPr kumimoji="0" lang="en-US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𝒀</m:t>
                        </m:r>
                      </m:e>
                    </m:acc>
                  </m:oMath>
                </a14:m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20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A05F34-9911-7D1E-378A-077D22F34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81" y="8276842"/>
                <a:ext cx="1437505" cy="595035"/>
              </a:xfrm>
              <a:prstGeom prst="rect">
                <a:avLst/>
              </a:prstGeom>
              <a:blipFill>
                <a:blip r:embed="rId4"/>
                <a:stretch>
                  <a:fillRect t="-10417" r="-5263" b="-3125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3F95C2-F075-FC74-E763-92A33BA4829B}"/>
                  </a:ext>
                </a:extLst>
              </p:cNvPr>
              <p:cNvSpPr txBox="1"/>
              <p:nvPr/>
            </p:nvSpPr>
            <p:spPr>
              <a:xfrm>
                <a:off x="2558593" y="7413904"/>
                <a:ext cx="4613171" cy="89229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en-US" sz="3200" b="1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𝒎</m:t>
                    </m:r>
                  </m:oMath>
                </a14:m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3200" b="1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en-US" sz="3200" b="1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0" lang="en-US" sz="3200" b="1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𝒙𝒚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en-US" sz="3200" b="1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3200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-0.5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3F95C2-F075-FC74-E763-92A33BA48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593" y="7413904"/>
                <a:ext cx="4613171" cy="892296"/>
              </a:xfrm>
              <a:prstGeom prst="rect">
                <a:avLst/>
              </a:prstGeom>
              <a:blipFill>
                <a:blip r:embed="rId5"/>
                <a:stretch>
                  <a:fillRect t="-59722" b="-958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E885CF-9A96-8128-E69E-C761C9C85DAF}"/>
                  </a:ext>
                </a:extLst>
              </p:cNvPr>
              <p:cNvSpPr txBox="1"/>
              <p:nvPr/>
            </p:nvSpPr>
            <p:spPr>
              <a:xfrm>
                <a:off x="2558592" y="8612021"/>
                <a:ext cx="5061407" cy="59503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en-US" sz="3200" b="1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𝒉</m:t>
                    </m:r>
                  </m:oMath>
                </a14:m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3200" b="1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accPr>
                      <m:e>
                        <m:r>
                          <a:rPr kumimoji="0" lang="en-US" sz="3200" b="1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𝒀</m:t>
                        </m:r>
                      </m:e>
                    </m:acc>
                  </m:oMath>
                </a14:m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-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0" lang="en-US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accPr>
                          <m:e>
                            <m:r>
                              <a:rPr kumimoji="0" lang="en-US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𝑿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:r>
                  <a:rPr kumimoji="0" 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21.5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E885CF-9A96-8128-E69E-C761C9C85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592" y="8612021"/>
                <a:ext cx="5061407" cy="595035"/>
              </a:xfrm>
              <a:prstGeom prst="rect">
                <a:avLst/>
              </a:prstGeom>
              <a:blipFill>
                <a:blip r:embed="rId6"/>
                <a:stretch>
                  <a:fillRect t="-12766" b="-3191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8E08A088-9148-37A3-E320-5DCCC1B9B8EC}"/>
                  </a:ext>
                </a:extLst>
              </p:cNvPr>
              <p:cNvSpPr txBox="1"/>
              <p:nvPr/>
            </p:nvSpPr>
            <p:spPr>
              <a:xfrm>
                <a:off x="7864871" y="7784551"/>
                <a:ext cx="4984377" cy="11439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/>
              <a:p>
                <a:pPr algn="just">
                  <a:lnSpc>
                    <a:spcPct val="150000"/>
                  </a:lnSpc>
                  <a:defRPr sz="37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320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3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ar-AE" sz="3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  <m:r>
                        <a:rPr lang="en-US" sz="32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32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32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32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3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8E08A088-9148-37A3-E320-5DCCC1B9B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871" y="7784551"/>
                <a:ext cx="4984377" cy="11439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FF9E231B-6CCA-98E7-2574-56D321FF6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692819"/>
                  </p:ext>
                </p:extLst>
              </p:nvPr>
            </p:nvGraphicFramePr>
            <p:xfrm>
              <a:off x="2347176" y="937130"/>
              <a:ext cx="2045234" cy="622762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5234">
                      <a:extLst>
                        <a:ext uri="{9D8B030D-6E8A-4147-A177-3AD203B41FA5}">
                          <a16:colId xmlns:a16="http://schemas.microsoft.com/office/drawing/2014/main" val="13157246"/>
                        </a:ext>
                      </a:extLst>
                    </a:gridCol>
                  </a:tblGrid>
                  <a:tr h="11832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40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40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</a:t>
                          </a:r>
                        </a:p>
                        <a:p>
                          <a:pPr algn="ctr"/>
                          <a:r>
                            <a:rPr lang="en-US" sz="4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(X 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kumimoji="0" lang="en-US" sz="44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"/>
                                      <a:cs typeface="Helvetica Neue"/>
                                      <a:sym typeface="Helvetica Neue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44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"/>
                                      <a:cs typeface="Helvetica Neue"/>
                                      <a:sym typeface="Helvetica Neue"/>
                                    </a:rPr>
                                    <m:t>𝑿</m:t>
                                  </m:r>
                                </m:e>
                              </m:acc>
                            </m:oMath>
                          </a14:m>
                          <a:r>
                            <a:rPr kumimoji="0" lang="en-US" sz="4000" b="1" i="0" u="none" strike="noStrike" cap="none" spc="0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Times New Roman" panose="02020603050405020304" pitchFamily="18" charset="0"/>
                              <a:ea typeface="Helvetica Neue"/>
                              <a:cs typeface="Times New Roman" panose="02020603050405020304" pitchFamily="18" charset="0"/>
                              <a:sym typeface="Helvetica Neue"/>
                            </a:rPr>
                            <a:t>)</a:t>
                          </a:r>
                          <a:endParaRPr lang="en-US" sz="4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753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201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24753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FF9E231B-6CCA-98E7-2574-56D321FF6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692819"/>
                  </p:ext>
                </p:extLst>
              </p:nvPr>
            </p:nvGraphicFramePr>
            <p:xfrm>
              <a:off x="2347176" y="937130"/>
              <a:ext cx="2045234" cy="622762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5234">
                      <a:extLst>
                        <a:ext uri="{9D8B030D-6E8A-4147-A177-3AD203B41FA5}">
                          <a16:colId xmlns:a16="http://schemas.microsoft.com/office/drawing/2014/main" val="13157246"/>
                        </a:ext>
                      </a:extLst>
                    </a:gridCol>
                  </a:tblGrid>
                  <a:tr h="1368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17" t="-7407" r="-1235" b="-35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753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201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24753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5884083F-5F71-A679-2E1D-94FB68313F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284251"/>
                  </p:ext>
                </p:extLst>
              </p:nvPr>
            </p:nvGraphicFramePr>
            <p:xfrm>
              <a:off x="4390341" y="1023124"/>
              <a:ext cx="932330" cy="61347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2330">
                      <a:extLst>
                        <a:ext uri="{9D8B030D-6E8A-4147-A177-3AD203B41FA5}">
                          <a16:colId xmlns:a16="http://schemas.microsoft.com/office/drawing/2014/main" val="2363324196"/>
                        </a:ext>
                      </a:extLst>
                    </a:gridCol>
                  </a:tblGrid>
                  <a:tr h="127258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40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5884083F-5F71-A679-2E1D-94FB68313F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284251"/>
                  </p:ext>
                </p:extLst>
              </p:nvPr>
            </p:nvGraphicFramePr>
            <p:xfrm>
              <a:off x="4390341" y="1023124"/>
              <a:ext cx="932330" cy="61347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2330">
                      <a:extLst>
                        <a:ext uri="{9D8B030D-6E8A-4147-A177-3AD203B41FA5}">
                          <a16:colId xmlns:a16="http://schemas.microsoft.com/office/drawing/2014/main" val="2363324196"/>
                        </a:ext>
                      </a:extLst>
                    </a:gridCol>
                  </a:tblGrid>
                  <a:tr h="12725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t="-1000" r="-1333" b="-38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222E63E-4BDD-67CF-4A4B-7C3CA32E00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00577" y="1101512"/>
              <a:ext cx="1039906" cy="60373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9906">
                      <a:extLst>
                        <a:ext uri="{9D8B030D-6E8A-4147-A177-3AD203B41FA5}">
                          <a16:colId xmlns:a16="http://schemas.microsoft.com/office/drawing/2014/main" val="1494264374"/>
                        </a:ext>
                      </a:extLst>
                    </a:gridCol>
                  </a:tblGrid>
                  <a:tr h="11751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4000" b="1" i="1" baseline="3000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4000" b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222E63E-4BDD-67CF-4A4B-7C3CA32E00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00577" y="1101512"/>
              <a:ext cx="1039906" cy="60373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9906">
                      <a:extLst>
                        <a:ext uri="{9D8B030D-6E8A-4147-A177-3AD203B41FA5}">
                          <a16:colId xmlns:a16="http://schemas.microsoft.com/office/drawing/2014/main" val="1494264374"/>
                        </a:ext>
                      </a:extLst>
                    </a:gridCol>
                  </a:tblGrid>
                  <a:tr h="11751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t="-1075" r="-2410" b="-4193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78A931DC-6DF7-D906-1936-AB8CA29CE9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17236" y="1027014"/>
              <a:ext cx="1183341" cy="61269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83341">
                      <a:extLst>
                        <a:ext uri="{9D8B030D-6E8A-4147-A177-3AD203B41FA5}">
                          <a16:colId xmlns:a16="http://schemas.microsoft.com/office/drawing/2014/main" val="3741335083"/>
                        </a:ext>
                      </a:extLst>
                    </a:gridCol>
                  </a:tblGrid>
                  <a:tr h="126480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𝒙𝒚</m:t>
                                </m:r>
                              </m:oMath>
                            </m:oMathPara>
                          </a14:m>
                          <a:endParaRPr lang="en-US" sz="40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78A931DC-6DF7-D906-1936-AB8CA29CE9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17236" y="1027014"/>
              <a:ext cx="1183341" cy="61269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83341">
                      <a:extLst>
                        <a:ext uri="{9D8B030D-6E8A-4147-A177-3AD203B41FA5}">
                          <a16:colId xmlns:a16="http://schemas.microsoft.com/office/drawing/2014/main" val="3741335083"/>
                        </a:ext>
                      </a:extLst>
                    </a:gridCol>
                  </a:tblGrid>
                  <a:tr h="12648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r="-2128" b="-3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60A04AD-2994-A5B1-9B1D-93C673C73A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9155229"/>
                  </p:ext>
                </p:extLst>
              </p:nvPr>
            </p:nvGraphicFramePr>
            <p:xfrm>
              <a:off x="7540483" y="984015"/>
              <a:ext cx="1417171" cy="62129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7171">
                      <a:extLst>
                        <a:ext uri="{9D8B030D-6E8A-4147-A177-3AD203B41FA5}">
                          <a16:colId xmlns:a16="http://schemas.microsoft.com/office/drawing/2014/main" val="2832374480"/>
                        </a:ext>
                      </a:extLst>
                    </a:gridCol>
                  </a:tblGrid>
                  <a:tr h="12825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3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b="1" i="1" dirty="0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36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60A04AD-2994-A5B1-9B1D-93C673C73A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9155229"/>
                  </p:ext>
                </p:extLst>
              </p:nvPr>
            </p:nvGraphicFramePr>
            <p:xfrm>
              <a:off x="7540483" y="984015"/>
              <a:ext cx="1417171" cy="62129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7171">
                      <a:extLst>
                        <a:ext uri="{9D8B030D-6E8A-4147-A177-3AD203B41FA5}">
                          <a16:colId xmlns:a16="http://schemas.microsoft.com/office/drawing/2014/main" val="2832374480"/>
                        </a:ext>
                      </a:extLst>
                    </a:gridCol>
                  </a:tblGrid>
                  <a:tr h="1282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885" t="-990" r="-885" b="-385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21739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B6616F7B-3E8A-E52F-CA5A-652891020D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525252"/>
                  </p:ext>
                </p:extLst>
              </p:nvPr>
            </p:nvGraphicFramePr>
            <p:xfrm>
              <a:off x="8957654" y="1128218"/>
              <a:ext cx="2563906" cy="60219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90918">
                      <a:extLst>
                        <a:ext uri="{9D8B030D-6E8A-4147-A177-3AD203B41FA5}">
                          <a16:colId xmlns:a16="http://schemas.microsoft.com/office/drawing/2014/main" val="3302249963"/>
                        </a:ext>
                      </a:extLst>
                    </a:gridCol>
                    <a:gridCol w="1272988">
                      <a:extLst>
                        <a:ext uri="{9D8B030D-6E8A-4147-A177-3AD203B41FA5}">
                          <a16:colId xmlns:a16="http://schemas.microsoft.com/office/drawing/2014/main" val="201810678"/>
                        </a:ext>
                      </a:extLst>
                    </a:gridCol>
                  </a:tblGrid>
                  <a:tr h="11597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sz="40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40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oMath>
                          </a14:m>
                          <a:r>
                            <a:rPr lang="en-US" sz="4000" b="1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12.25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113.5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B6616F7B-3E8A-E52F-CA5A-652891020D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525252"/>
                  </p:ext>
                </p:extLst>
              </p:nvPr>
            </p:nvGraphicFramePr>
            <p:xfrm>
              <a:off x="8957654" y="1128218"/>
              <a:ext cx="2563906" cy="60219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90918">
                      <a:extLst>
                        <a:ext uri="{9D8B030D-6E8A-4147-A177-3AD203B41FA5}">
                          <a16:colId xmlns:a16="http://schemas.microsoft.com/office/drawing/2014/main" val="3302249963"/>
                        </a:ext>
                      </a:extLst>
                    </a:gridCol>
                    <a:gridCol w="1272988">
                      <a:extLst>
                        <a:ext uri="{9D8B030D-6E8A-4147-A177-3AD203B41FA5}">
                          <a16:colId xmlns:a16="http://schemas.microsoft.com/office/drawing/2014/main" val="201810678"/>
                        </a:ext>
                      </a:extLst>
                    </a:gridCol>
                  </a:tblGrid>
                  <a:tr h="11597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980" r="-100000" b="-42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01980" r="-990" b="-423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12.25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113.5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FB263CA6-DDBE-019F-1B3C-476896DD52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20812" y="1040413"/>
              <a:ext cx="1039906" cy="61097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9906">
                      <a:extLst>
                        <a:ext uri="{9D8B030D-6E8A-4147-A177-3AD203B41FA5}">
                          <a16:colId xmlns:a16="http://schemas.microsoft.com/office/drawing/2014/main" val="1494264374"/>
                        </a:ext>
                      </a:extLst>
                    </a:gridCol>
                  </a:tblGrid>
                  <a:tr h="12475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4000" b="1" i="1" baseline="3000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4000" b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FB263CA6-DDBE-019F-1B3C-476896DD52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20812" y="1040413"/>
              <a:ext cx="1039906" cy="61097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9906">
                      <a:extLst>
                        <a:ext uri="{9D8B030D-6E8A-4147-A177-3AD203B41FA5}">
                          <a16:colId xmlns:a16="http://schemas.microsoft.com/office/drawing/2014/main" val="1494264374"/>
                        </a:ext>
                      </a:extLst>
                    </a:gridCol>
                  </a:tblGrid>
                  <a:tr h="12475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205" r="-1205" b="-393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A974EF8-90B2-3B01-2B4E-8DEB56EF214C}"/>
                  </a:ext>
                </a:extLst>
              </p:cNvPr>
              <p:cNvSpPr txBox="1"/>
              <p:nvPr/>
            </p:nvSpPr>
            <p:spPr>
              <a:xfrm>
                <a:off x="2330930" y="486470"/>
                <a:ext cx="2045233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(X –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A974EF8-90B2-3B01-2B4E-8DEB56EF2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930" y="486470"/>
                <a:ext cx="2045233" cy="461665"/>
              </a:xfrm>
              <a:prstGeom prst="rect">
                <a:avLst/>
              </a:prstGeom>
              <a:blipFill>
                <a:blip r:embed="rId15"/>
                <a:stretch>
                  <a:fillRect t="-10811" b="-2973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8DAD77-CDB3-7A13-0CAF-742028105E44}"/>
                  </a:ext>
                </a:extLst>
              </p:cNvPr>
              <p:cNvSpPr txBox="1"/>
              <p:nvPr/>
            </p:nvSpPr>
            <p:spPr>
              <a:xfrm>
                <a:off x="4066678" y="450294"/>
                <a:ext cx="2045233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(Y –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8DAD77-CDB3-7A13-0CAF-742028105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678" y="450294"/>
                <a:ext cx="2045233" cy="461665"/>
              </a:xfrm>
              <a:prstGeom prst="rect">
                <a:avLst/>
              </a:prstGeom>
              <a:blipFill>
                <a:blip r:embed="rId16"/>
                <a:stretch>
                  <a:fillRect t="-10811" b="-2973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5231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  <p:bldP spid="14" grpId="0" animBg="1"/>
      <p:bldP spid="24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5CED2-3B23-4F76-6010-A5F5DC8E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Line">
            <a:extLst>
              <a:ext uri="{FF2B5EF4-FFF2-40B4-BE49-F238E27FC236}">
                <a16:creationId xmlns:a16="http://schemas.microsoft.com/office/drawing/2014/main" id="{95795DE6-109A-A07D-BD4E-A3F1FDF1B716}"/>
              </a:ext>
            </a:extLst>
          </p:cNvPr>
          <p:cNvSpPr/>
          <p:nvPr/>
        </p:nvSpPr>
        <p:spPr>
          <a:xfrm flipH="1" flipV="1">
            <a:off x="826061" y="1341202"/>
            <a:ext cx="20329" cy="509781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41" name="Line">
            <a:extLst>
              <a:ext uri="{FF2B5EF4-FFF2-40B4-BE49-F238E27FC236}">
                <a16:creationId xmlns:a16="http://schemas.microsoft.com/office/drawing/2014/main" id="{77AB3716-31A8-4B12-B268-571BF872EE6A}"/>
              </a:ext>
            </a:extLst>
          </p:cNvPr>
          <p:cNvSpPr/>
          <p:nvPr/>
        </p:nvSpPr>
        <p:spPr>
          <a:xfrm flipV="1">
            <a:off x="794498" y="6439015"/>
            <a:ext cx="6079300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2" name="X">
            <a:extLst>
              <a:ext uri="{FF2B5EF4-FFF2-40B4-BE49-F238E27FC236}">
                <a16:creationId xmlns:a16="http://schemas.microsoft.com/office/drawing/2014/main" id="{012CC857-7509-D250-A25D-788FA93DC412}"/>
              </a:ext>
            </a:extLst>
          </p:cNvPr>
          <p:cNvSpPr txBox="1"/>
          <p:nvPr/>
        </p:nvSpPr>
        <p:spPr>
          <a:xfrm>
            <a:off x="6552029" y="6476504"/>
            <a:ext cx="436018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44" name="Y">
            <a:extLst>
              <a:ext uri="{FF2B5EF4-FFF2-40B4-BE49-F238E27FC236}">
                <a16:creationId xmlns:a16="http://schemas.microsoft.com/office/drawing/2014/main" id="{3E3C6E6E-1A19-2F90-634E-4C03098C8A0C}"/>
              </a:ext>
            </a:extLst>
          </p:cNvPr>
          <p:cNvSpPr txBox="1"/>
          <p:nvPr/>
        </p:nvSpPr>
        <p:spPr>
          <a:xfrm>
            <a:off x="335616" y="1103924"/>
            <a:ext cx="436018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8F05D6-EE32-DF1D-1A50-700D836E7CA1}"/>
              </a:ext>
            </a:extLst>
          </p:cNvPr>
          <p:cNvCxnSpPr/>
          <p:nvPr/>
        </p:nvCxnSpPr>
        <p:spPr>
          <a:xfrm>
            <a:off x="1847981" y="6324104"/>
            <a:ext cx="0" cy="304800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C93A67A-C1F5-EBBE-060B-2CD9D465B12D}"/>
              </a:ext>
            </a:extLst>
          </p:cNvPr>
          <p:cNvSpPr/>
          <p:nvPr/>
        </p:nvSpPr>
        <p:spPr>
          <a:xfrm>
            <a:off x="1678703" y="678130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9DFFD1-499A-FF99-55DB-B4EF116A23CE}"/>
              </a:ext>
            </a:extLst>
          </p:cNvPr>
          <p:cNvCxnSpPr/>
          <p:nvPr/>
        </p:nvCxnSpPr>
        <p:spPr>
          <a:xfrm>
            <a:off x="2950639" y="6300362"/>
            <a:ext cx="0" cy="304800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A494FA-105D-16D8-0BE8-DD1FFF4C8944}"/>
              </a:ext>
            </a:extLst>
          </p:cNvPr>
          <p:cNvCxnSpPr/>
          <p:nvPr/>
        </p:nvCxnSpPr>
        <p:spPr>
          <a:xfrm>
            <a:off x="3891933" y="6300362"/>
            <a:ext cx="0" cy="304800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6BA48C-62E9-C5E0-9F64-029A70311B71}"/>
              </a:ext>
            </a:extLst>
          </p:cNvPr>
          <p:cNvCxnSpPr/>
          <p:nvPr/>
        </p:nvCxnSpPr>
        <p:spPr>
          <a:xfrm>
            <a:off x="4806333" y="6294549"/>
            <a:ext cx="0" cy="304800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F22A19-10D4-D0AC-2F4E-AF21AAAEAE9E}"/>
              </a:ext>
            </a:extLst>
          </p:cNvPr>
          <p:cNvCxnSpPr/>
          <p:nvPr/>
        </p:nvCxnSpPr>
        <p:spPr>
          <a:xfrm>
            <a:off x="5792450" y="6294549"/>
            <a:ext cx="0" cy="304800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ACC984F-BC10-B1F2-0079-2B6BCA22C910}"/>
              </a:ext>
            </a:extLst>
          </p:cNvPr>
          <p:cNvSpPr/>
          <p:nvPr/>
        </p:nvSpPr>
        <p:spPr>
          <a:xfrm>
            <a:off x="2759803" y="6769677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572133-3633-9C2E-37A1-555D71828689}"/>
              </a:ext>
            </a:extLst>
          </p:cNvPr>
          <p:cNvSpPr/>
          <p:nvPr/>
        </p:nvSpPr>
        <p:spPr>
          <a:xfrm>
            <a:off x="3714947" y="6737079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DF5C51-BB7B-7306-D5DF-5FC90FA3273C}"/>
              </a:ext>
            </a:extLst>
          </p:cNvPr>
          <p:cNvSpPr/>
          <p:nvPr/>
        </p:nvSpPr>
        <p:spPr>
          <a:xfrm>
            <a:off x="4637055" y="678130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A3CB1B-48AE-70BF-7C96-FAC9AFC94D73}"/>
              </a:ext>
            </a:extLst>
          </p:cNvPr>
          <p:cNvSpPr/>
          <p:nvPr/>
        </p:nvSpPr>
        <p:spPr>
          <a:xfrm>
            <a:off x="5644925" y="6769677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12FCB-74EA-64D6-EA94-DD8A72DC1B51}"/>
              </a:ext>
            </a:extLst>
          </p:cNvPr>
          <p:cNvSpPr/>
          <p:nvPr/>
        </p:nvSpPr>
        <p:spPr>
          <a:xfrm>
            <a:off x="1631625" y="3891517"/>
            <a:ext cx="394449" cy="268942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C1863B-E5B9-233C-3C4E-BFBB9A0F253C}"/>
              </a:ext>
            </a:extLst>
          </p:cNvPr>
          <p:cNvSpPr/>
          <p:nvPr/>
        </p:nvSpPr>
        <p:spPr>
          <a:xfrm>
            <a:off x="2759196" y="2884677"/>
            <a:ext cx="394449" cy="268942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0918B33-9582-9EB7-6436-AC187DF897E2}"/>
              </a:ext>
            </a:extLst>
          </p:cNvPr>
          <p:cNvSpPr/>
          <p:nvPr/>
        </p:nvSpPr>
        <p:spPr>
          <a:xfrm>
            <a:off x="3455116" y="1341203"/>
            <a:ext cx="394449" cy="268942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0B398E-9FC3-51C3-5651-098607522502}"/>
              </a:ext>
            </a:extLst>
          </p:cNvPr>
          <p:cNvSpPr/>
          <p:nvPr/>
        </p:nvSpPr>
        <p:spPr>
          <a:xfrm>
            <a:off x="4502730" y="1928429"/>
            <a:ext cx="394449" cy="268942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73C7CD-415F-E270-51DF-1C9DE3ED94E6}"/>
              </a:ext>
            </a:extLst>
          </p:cNvPr>
          <p:cNvSpPr/>
          <p:nvPr/>
        </p:nvSpPr>
        <p:spPr>
          <a:xfrm>
            <a:off x="5595225" y="4736810"/>
            <a:ext cx="394449" cy="268942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5-Point Star 9">
            <a:extLst>
              <a:ext uri="{FF2B5EF4-FFF2-40B4-BE49-F238E27FC236}">
                <a16:creationId xmlns:a16="http://schemas.microsoft.com/office/drawing/2014/main" id="{CED11460-441F-95AE-1B6C-BA8BC4740BF2}"/>
              </a:ext>
            </a:extLst>
          </p:cNvPr>
          <p:cNvSpPr/>
          <p:nvPr/>
        </p:nvSpPr>
        <p:spPr>
          <a:xfrm>
            <a:off x="1653283" y="1909190"/>
            <a:ext cx="412378" cy="421342"/>
          </a:xfrm>
          <a:prstGeom prst="star5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982668C2-7D49-B6EC-9E57-E37FED578C4E}"/>
              </a:ext>
            </a:extLst>
          </p:cNvPr>
          <p:cNvSpPr/>
          <p:nvPr/>
        </p:nvSpPr>
        <p:spPr>
          <a:xfrm>
            <a:off x="2813763" y="2436417"/>
            <a:ext cx="412378" cy="421342"/>
          </a:xfrm>
          <a:prstGeom prst="star5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5" name="5-Point Star 34">
            <a:extLst>
              <a:ext uri="{FF2B5EF4-FFF2-40B4-BE49-F238E27FC236}">
                <a16:creationId xmlns:a16="http://schemas.microsoft.com/office/drawing/2014/main" id="{B39A89D5-36E9-6B4E-2225-18C1C3694454}"/>
              </a:ext>
            </a:extLst>
          </p:cNvPr>
          <p:cNvSpPr/>
          <p:nvPr/>
        </p:nvSpPr>
        <p:spPr>
          <a:xfrm>
            <a:off x="3482012" y="2738043"/>
            <a:ext cx="412378" cy="421342"/>
          </a:xfrm>
          <a:prstGeom prst="star5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6" name="5-Point Star 35">
            <a:extLst>
              <a:ext uri="{FF2B5EF4-FFF2-40B4-BE49-F238E27FC236}">
                <a16:creationId xmlns:a16="http://schemas.microsoft.com/office/drawing/2014/main" id="{9A4269F5-F5CA-F799-A3F0-99E3A1D684D5}"/>
              </a:ext>
            </a:extLst>
          </p:cNvPr>
          <p:cNvSpPr/>
          <p:nvPr/>
        </p:nvSpPr>
        <p:spPr>
          <a:xfrm>
            <a:off x="4502730" y="3194292"/>
            <a:ext cx="412378" cy="421342"/>
          </a:xfrm>
          <a:prstGeom prst="star5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7" name="5-Point Star 36">
            <a:extLst>
              <a:ext uri="{FF2B5EF4-FFF2-40B4-BE49-F238E27FC236}">
                <a16:creationId xmlns:a16="http://schemas.microsoft.com/office/drawing/2014/main" id="{CAFEDF52-0C1C-CDA8-7A65-716C7B376389}"/>
              </a:ext>
            </a:extLst>
          </p:cNvPr>
          <p:cNvSpPr/>
          <p:nvPr/>
        </p:nvSpPr>
        <p:spPr>
          <a:xfrm>
            <a:off x="5577296" y="3665526"/>
            <a:ext cx="412378" cy="421342"/>
          </a:xfrm>
          <a:prstGeom prst="star5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CC0E72-39D2-609C-E3BE-735DE07C085E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1828850" y="2238535"/>
            <a:ext cx="19132" cy="1652982"/>
          </a:xfrm>
          <a:prstGeom prst="line">
            <a:avLst/>
          </a:prstGeom>
          <a:noFill/>
          <a:ln w="50800" cap="flat">
            <a:solidFill>
              <a:srgbClr val="FF0000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31C5A7F-04B5-DF5A-DFD7-49EA3CE73121}"/>
              </a:ext>
            </a:extLst>
          </p:cNvPr>
          <p:cNvCxnSpPr>
            <a:cxnSpLocks/>
          </p:cNvCxnSpPr>
          <p:nvPr/>
        </p:nvCxnSpPr>
        <p:spPr>
          <a:xfrm>
            <a:off x="3678033" y="1662749"/>
            <a:ext cx="19134" cy="1290001"/>
          </a:xfrm>
          <a:prstGeom prst="line">
            <a:avLst/>
          </a:prstGeom>
          <a:noFill/>
          <a:ln w="50800" cap="flat">
            <a:solidFill>
              <a:srgbClr val="FF0000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6FE7ABF-5991-AE45-559E-2A950AC2EB3D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4679624" y="2179983"/>
            <a:ext cx="29295" cy="1014309"/>
          </a:xfrm>
          <a:prstGeom prst="line">
            <a:avLst/>
          </a:prstGeom>
          <a:noFill/>
          <a:ln w="50800" cap="flat">
            <a:solidFill>
              <a:srgbClr val="FF0000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1787DF-3DA5-0748-977C-86215C2886E0}"/>
              </a:ext>
            </a:extLst>
          </p:cNvPr>
          <p:cNvCxnSpPr>
            <a:cxnSpLocks/>
          </p:cNvCxnSpPr>
          <p:nvPr/>
        </p:nvCxnSpPr>
        <p:spPr>
          <a:xfrm>
            <a:off x="5792450" y="3891517"/>
            <a:ext cx="0" cy="845293"/>
          </a:xfrm>
          <a:prstGeom prst="line">
            <a:avLst/>
          </a:prstGeom>
          <a:noFill/>
          <a:ln w="50800" cap="flat">
            <a:solidFill>
              <a:srgbClr val="FF0000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9E4C995-3826-2C05-7BBD-A9AF731FA12C}"/>
              </a:ext>
            </a:extLst>
          </p:cNvPr>
          <p:cNvCxnSpPr>
            <a:cxnSpLocks/>
          </p:cNvCxnSpPr>
          <p:nvPr/>
        </p:nvCxnSpPr>
        <p:spPr>
          <a:xfrm>
            <a:off x="3019953" y="2768137"/>
            <a:ext cx="0" cy="385482"/>
          </a:xfrm>
          <a:prstGeom prst="line">
            <a:avLst/>
          </a:prstGeom>
          <a:noFill/>
          <a:ln w="50800" cap="flat">
            <a:solidFill>
              <a:srgbClr val="FF0000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Y">
                <a:extLst>
                  <a:ext uri="{FF2B5EF4-FFF2-40B4-BE49-F238E27FC236}">
                    <a16:creationId xmlns:a16="http://schemas.microsoft.com/office/drawing/2014/main" id="{4B28758F-41B0-8219-F221-BA618ACCD89D}"/>
                  </a:ext>
                </a:extLst>
              </p:cNvPr>
              <p:cNvSpPr txBox="1"/>
              <p:nvPr/>
            </p:nvSpPr>
            <p:spPr>
              <a:xfrm>
                <a:off x="343671" y="1761423"/>
                <a:ext cx="541779" cy="67165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36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ar-AE" sz="3600" i="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</m:oMath>
                  </m:oMathPara>
                </a14:m>
                <a:endParaRPr lang="ar-AE" sz="3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Y">
                <a:extLst>
                  <a:ext uri="{FF2B5EF4-FFF2-40B4-BE49-F238E27FC236}">
                    <a16:creationId xmlns:a16="http://schemas.microsoft.com/office/drawing/2014/main" id="{4B28758F-41B0-8219-F221-BA618ACC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71" y="1761423"/>
                <a:ext cx="541779" cy="671659"/>
              </a:xfrm>
              <a:prstGeom prst="rect">
                <a:avLst/>
              </a:prstGeom>
              <a:blipFill>
                <a:blip r:embed="rId3"/>
                <a:stretch>
                  <a:fillRect l="-11364" t="-11111" r="-34091" b="-3148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E9C3B8D-126F-856D-93E3-01D0AF817F00}"/>
              </a:ext>
            </a:extLst>
          </p:cNvPr>
          <p:cNvGrpSpPr/>
          <p:nvPr/>
        </p:nvGrpSpPr>
        <p:grpSpPr>
          <a:xfrm>
            <a:off x="1669886" y="2046084"/>
            <a:ext cx="5090753" cy="3911116"/>
            <a:chOff x="1669886" y="2046084"/>
            <a:chExt cx="5090753" cy="39111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DFD3569-E6FB-7839-ECE0-3684C7F2EC42}"/>
                </a:ext>
              </a:extLst>
            </p:cNvPr>
            <p:cNvGrpSpPr/>
            <p:nvPr/>
          </p:nvGrpSpPr>
          <p:grpSpPr>
            <a:xfrm>
              <a:off x="1669886" y="2046084"/>
              <a:ext cx="5090753" cy="3911116"/>
              <a:chOff x="4519411" y="2769097"/>
              <a:chExt cx="5090753" cy="3911116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8FA4286-21CF-BAF1-0359-D4DF3B1BA5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9411" y="2769097"/>
                <a:ext cx="5090753" cy="2296318"/>
              </a:xfrm>
              <a:prstGeom prst="line">
                <a:avLst/>
              </a:prstGeom>
              <a:noFill/>
              <a:ln w="60325" cap="flat">
                <a:solidFill>
                  <a:srgbClr val="7030A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hrough Regression we convert the data into a LINEAR equation:…">
                    <a:extLst>
                      <a:ext uri="{FF2B5EF4-FFF2-40B4-BE49-F238E27FC236}">
                        <a16:creationId xmlns:a16="http://schemas.microsoft.com/office/drawing/2014/main" id="{F3566590-487F-A8A9-FF46-43A16BA9235B}"/>
                      </a:ext>
                    </a:extLst>
                  </p:cNvPr>
                  <p:cNvSpPr txBox="1"/>
                  <p:nvPr/>
                </p:nvSpPr>
                <p:spPr>
                  <a:xfrm>
                    <a:off x="5901619" y="5860682"/>
                    <a:ext cx="3450306" cy="819531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lIns="50800" tIns="50800" rIns="50800" bIns="50800">
                    <a:noAutofit/>
                  </a:bodyPr>
                  <a:lstStyle/>
                  <a:p>
                    <a:pPr algn="just">
                      <a:lnSpc>
                        <a:spcPct val="150000"/>
                      </a:lnSpc>
                      <a:defRPr sz="37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ar-AE" sz="280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  <m:r>
                            <a:rPr lang="ar-AE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  <m:r>
                            <a:rPr lang="en-US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8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ar-AE" sz="2800" b="1" i="1" dirty="0" err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ar-AE" sz="28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hrough Regression we convert the data into a LINEAR equation:…">
                    <a:extLst>
                      <a:ext uri="{FF2B5EF4-FFF2-40B4-BE49-F238E27FC236}">
                        <a16:creationId xmlns:a16="http://schemas.microsoft.com/office/drawing/2014/main" id="{F3566590-487F-A8A9-FF46-43A16BA923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01619" y="5860682"/>
                    <a:ext cx="3450306" cy="8195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38100">
                    <a:solidFill>
                      <a:schemeClr val="tx1"/>
                    </a:solidFill>
                    <a:miter lim="400000"/>
                  </a:ln>
                  <a:extLst>
                    <a:ext uri="{C572A759-6A51-4108-AA02-DFA0A04FC94B}">
                      <ma14:wrappingTextBoxFlag xmlns:a14="http://schemas.microsoft.com/office/drawing/2010/main"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5B9C008-F610-B035-CB58-3506D091BE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7005" y="4186573"/>
              <a:ext cx="0" cy="918550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6CA09D-166A-A7EB-883C-15ADE080E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388385"/>
              </p:ext>
            </p:extLst>
          </p:nvPr>
        </p:nvGraphicFramePr>
        <p:xfrm>
          <a:off x="7578879" y="755345"/>
          <a:ext cx="879290" cy="4785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9290">
                  <a:extLst>
                    <a:ext uri="{9D8B030D-6E8A-4147-A177-3AD203B41FA5}">
                      <a16:colId xmlns:a16="http://schemas.microsoft.com/office/drawing/2014/main" val="4132923727"/>
                    </a:ext>
                  </a:extLst>
                </a:gridCol>
              </a:tblGrid>
              <a:tr h="115589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298911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580336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363372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56165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515806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7296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494440C-F236-75A8-7F05-7A74159FDE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2335070"/>
                  </p:ext>
                </p:extLst>
              </p:nvPr>
            </p:nvGraphicFramePr>
            <p:xfrm>
              <a:off x="9498074" y="739182"/>
              <a:ext cx="1417171" cy="48288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7171">
                      <a:extLst>
                        <a:ext uri="{9D8B030D-6E8A-4147-A177-3AD203B41FA5}">
                          <a16:colId xmlns:a16="http://schemas.microsoft.com/office/drawing/2014/main" val="2832374480"/>
                        </a:ext>
                      </a:extLst>
                    </a:gridCol>
                  </a:tblGrid>
                  <a:tr h="11487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494440C-F236-75A8-7F05-7A74159FDE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2335070"/>
                  </p:ext>
                </p:extLst>
              </p:nvPr>
            </p:nvGraphicFramePr>
            <p:xfrm>
              <a:off x="9498074" y="739182"/>
              <a:ext cx="1417171" cy="48288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17171">
                      <a:extLst>
                        <a:ext uri="{9D8B030D-6E8A-4147-A177-3AD203B41FA5}">
                          <a16:colId xmlns:a16="http://schemas.microsoft.com/office/drawing/2014/main" val="2832374480"/>
                        </a:ext>
                      </a:extLst>
                    </a:gridCol>
                  </a:tblGrid>
                  <a:tr h="11487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99" r="-885" b="-3252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7360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853D11F-6EC7-1FCD-F975-8DA537CF4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702022"/>
              </p:ext>
            </p:extLst>
          </p:nvPr>
        </p:nvGraphicFramePr>
        <p:xfrm>
          <a:off x="8481860" y="755345"/>
          <a:ext cx="1039905" cy="4785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905">
                  <a:extLst>
                    <a:ext uri="{9D8B030D-6E8A-4147-A177-3AD203B41FA5}">
                      <a16:colId xmlns:a16="http://schemas.microsoft.com/office/drawing/2014/main" val="165285815"/>
                    </a:ext>
                  </a:extLst>
                </a:gridCol>
              </a:tblGrid>
              <a:tr h="115589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298911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580336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363372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56165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515806"/>
                  </a:ext>
                </a:extLst>
              </a:tr>
              <a:tr h="72583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7296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728C62C-0F4F-9920-FCA5-A32014065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7314533"/>
                  </p:ext>
                </p:extLst>
              </p:nvPr>
            </p:nvGraphicFramePr>
            <p:xfrm>
              <a:off x="10966045" y="739182"/>
              <a:ext cx="1290918" cy="48717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90918">
                      <a:extLst>
                        <a:ext uri="{9D8B030D-6E8A-4147-A177-3AD203B41FA5}">
                          <a16:colId xmlns:a16="http://schemas.microsoft.com/office/drawing/2014/main" val="934673829"/>
                        </a:ext>
                      </a:extLst>
                    </a:gridCol>
                  </a:tblGrid>
                  <a:tr h="11597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sz="28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3595768"/>
                      </a:ext>
                    </a:extLst>
                  </a:tr>
                  <a:tr h="7681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6345968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0695684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352240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1296238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5431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728C62C-0F4F-9920-FCA5-A32014065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7314533"/>
                  </p:ext>
                </p:extLst>
              </p:nvPr>
            </p:nvGraphicFramePr>
            <p:xfrm>
              <a:off x="10966045" y="739182"/>
              <a:ext cx="1290918" cy="48717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90918">
                      <a:extLst>
                        <a:ext uri="{9D8B030D-6E8A-4147-A177-3AD203B41FA5}">
                          <a16:colId xmlns:a16="http://schemas.microsoft.com/office/drawing/2014/main" val="934673829"/>
                        </a:ext>
                      </a:extLst>
                    </a:gridCol>
                  </a:tblGrid>
                  <a:tr h="11597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71" t="-1099" r="-971" b="-3252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3595768"/>
                      </a:ext>
                    </a:extLst>
                  </a:tr>
                  <a:tr h="7681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6345968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0695684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352240"/>
                      </a:ext>
                    </a:extLst>
                  </a:tr>
                  <a:tr h="711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1296238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54312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36108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9" grpId="0" animBg="1"/>
      <p:bldP spid="30" grpId="0" animBg="1"/>
      <p:bldP spid="31" grpId="0" animBg="1"/>
      <p:bldP spid="32" grpId="0" animBg="1"/>
      <p:bldP spid="10" grpId="0" animBg="1"/>
      <p:bldP spid="34" grpId="0" animBg="1"/>
      <p:bldP spid="35" grpId="0" animBg="1"/>
      <p:bldP spid="36" grpId="0" animBg="1"/>
      <p:bldP spid="37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hrough Regression we convert the data into a LINEAR equation:…"/>
          <p:cNvSpPr txBox="1"/>
          <p:nvPr/>
        </p:nvSpPr>
        <p:spPr>
          <a:xfrm>
            <a:off x="829365" y="125560"/>
            <a:ext cx="11847017" cy="1608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>
              <a:lnSpc>
                <a:spcPct val="150000"/>
              </a:lnSpc>
              <a:defRPr sz="3700"/>
            </a:pP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sz="3200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Coefficient of Determination of Goodness of Fit</a:t>
            </a:r>
            <a:endPara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4C93CF1A-9584-224E-87E9-3459D3D761DD}"/>
                  </a:ext>
                </a:extLst>
              </p:cNvPr>
              <p:cNvSpPr txBox="1"/>
              <p:nvPr/>
            </p:nvSpPr>
            <p:spPr>
              <a:xfrm>
                <a:off x="3533413" y="877070"/>
                <a:ext cx="5366574" cy="12977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algn="just">
                  <a:lnSpc>
                    <a:spcPct val="150000"/>
                  </a:lnSpc>
                  <a:defRPr sz="37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ar-AE" sz="3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ar-AE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ar-AE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3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ar-AE" sz="32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ar-AE" sz="3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4C93CF1A-9584-224E-87E9-3459D3D76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413" y="877070"/>
                <a:ext cx="5366574" cy="1297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3EC9A53-2B6A-0D4E-9F83-63C178AA6F74}"/>
              </a:ext>
            </a:extLst>
          </p:cNvPr>
          <p:cNvGrpSpPr/>
          <p:nvPr/>
        </p:nvGrpSpPr>
        <p:grpSpPr>
          <a:xfrm>
            <a:off x="1366502" y="1897358"/>
            <a:ext cx="11479479" cy="2773495"/>
            <a:chOff x="1257741" y="2206266"/>
            <a:chExt cx="11479479" cy="27734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FD99241A-B996-1247-A6A4-BE9B008E1257}"/>
                    </a:ext>
                  </a:extLst>
                </p:cNvPr>
                <p:cNvSpPr txBox="1"/>
                <p:nvPr/>
              </p:nvSpPr>
              <p:spPr>
                <a:xfrm>
                  <a:off x="5000902" y="3106901"/>
                  <a:ext cx="3286423" cy="1872860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>
                    <a:defRPr sz="3700"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n-US" sz="32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%</m:t>
                        </m:r>
                      </m:oMath>
                    </m:oMathPara>
                  </a14:m>
                  <a:endParaRPr lang="en-US" sz="3200" b="1" i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defRPr sz="3700"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𝒃𝒆𝒏𝒄𝒉𝒎𝒂𝒓𝒌</m:t>
                        </m:r>
                      </m:oMath>
                    </m:oMathPara>
                  </a14:m>
                  <a:endParaRPr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FD99241A-B996-1247-A6A4-BE9B008E1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0902" y="3106901"/>
                  <a:ext cx="3286423" cy="18728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8C7572F0-BF36-E34B-A127-D7B90089BD80}"/>
                    </a:ext>
                  </a:extLst>
                </p:cNvPr>
                <p:cNvSpPr txBox="1"/>
                <p:nvPr/>
              </p:nvSpPr>
              <p:spPr>
                <a:xfrm>
                  <a:off x="8316193" y="2948229"/>
                  <a:ext cx="2786491" cy="201107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>
                    <a:defRPr sz="37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𝒂𝒃𝒐𝒗𝒆</m:t>
                        </m:r>
                        <m: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%</m:t>
                        </m:r>
                      </m:oMath>
                    </m:oMathPara>
                  </a14:m>
                  <a:endParaRPr lang="en-US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defRPr sz="37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𝒈𝒐𝒐𝒅</m:t>
                        </m:r>
                        <m: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𝒇𝒊𝒕</m:t>
                        </m:r>
                      </m:oMath>
                    </m:oMathPara>
                  </a14:m>
                  <a:endParaRPr lang="en-US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8C7572F0-BF36-E34B-A127-D7B90089B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6193" y="2948229"/>
                  <a:ext cx="2786491" cy="201107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0F85E8CC-3651-B848-8642-BC6FF7B10F64}"/>
                    </a:ext>
                  </a:extLst>
                </p:cNvPr>
                <p:cNvSpPr txBox="1"/>
                <p:nvPr/>
              </p:nvSpPr>
              <p:spPr>
                <a:xfrm>
                  <a:off x="1972370" y="2909600"/>
                  <a:ext cx="2904564" cy="170550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>
                    <a:defRPr sz="37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𝒃𝒆𝒍𝒐𝒘</m:t>
                        </m:r>
                        <m:r>
                          <a:rPr lang="en-US" sz="32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n-US" sz="32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%</m:t>
                        </m:r>
                      </m:oMath>
                    </m:oMathPara>
                  </a14:m>
                  <a:endParaRPr lang="en-US" sz="3200" b="1" i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defRPr sz="37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𝒑𝒐𝒐𝒓</m:t>
                        </m:r>
                        <m:r>
                          <a:rPr lang="en-US" sz="32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𝒇𝒊𝒕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0F85E8CC-3651-B848-8642-BC6FF7B10F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2370" y="2909600"/>
                  <a:ext cx="2904564" cy="170550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B9386CF-C120-964A-99FD-A71A59C57024}"/>
                </a:ext>
              </a:extLst>
            </p:cNvPr>
            <p:cNvCxnSpPr/>
            <p:nvPr/>
          </p:nvCxnSpPr>
          <p:spPr>
            <a:xfrm>
              <a:off x="1524000" y="2925880"/>
              <a:ext cx="9772650" cy="0"/>
            </a:xfrm>
            <a:prstGeom prst="line">
              <a:avLst/>
            </a:prstGeom>
            <a:noFill/>
            <a:ln w="5715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3CB653B-E9F6-BD46-94A9-980D83BE36EF}"/>
                </a:ext>
              </a:extLst>
            </p:cNvPr>
            <p:cNvCxnSpPr>
              <a:cxnSpLocks/>
            </p:cNvCxnSpPr>
            <p:nvPr/>
          </p:nvCxnSpPr>
          <p:spPr>
            <a:xfrm>
              <a:off x="11296650" y="2737448"/>
              <a:ext cx="0" cy="395106"/>
            </a:xfrm>
            <a:prstGeom prst="line">
              <a:avLst/>
            </a:prstGeom>
            <a:noFill/>
            <a:ln w="5715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EA4734-B412-BB49-9EE3-73B805145A8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0" y="2728349"/>
              <a:ext cx="0" cy="395106"/>
            </a:xfrm>
            <a:prstGeom prst="line">
              <a:avLst/>
            </a:prstGeom>
            <a:noFill/>
            <a:ln w="5715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9D02FC9-1C3C-5D4F-9728-A962BB601E86}"/>
                </a:ext>
              </a:extLst>
            </p:cNvPr>
            <p:cNvCxnSpPr>
              <a:cxnSpLocks/>
            </p:cNvCxnSpPr>
            <p:nvPr/>
          </p:nvCxnSpPr>
          <p:spPr>
            <a:xfrm>
              <a:off x="6343650" y="2771132"/>
              <a:ext cx="0" cy="395106"/>
            </a:xfrm>
            <a:prstGeom prst="line">
              <a:avLst/>
            </a:prstGeom>
            <a:noFill/>
            <a:ln w="5715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B839F92-3502-3341-9078-30A138813D45}"/>
                    </a:ext>
                  </a:extLst>
                </p:cNvPr>
                <p:cNvSpPr/>
                <p:nvPr/>
              </p:nvSpPr>
              <p:spPr>
                <a:xfrm>
                  <a:off x="1257741" y="2300505"/>
                  <a:ext cx="53251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ar-AE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B839F92-3502-3341-9078-30A138813D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741" y="2300505"/>
                  <a:ext cx="53251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930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7DA3D4E-EAEA-BD44-BE01-3017B2C003D6}"/>
                    </a:ext>
                  </a:extLst>
                </p:cNvPr>
                <p:cNvSpPr/>
                <p:nvPr/>
              </p:nvSpPr>
              <p:spPr>
                <a:xfrm>
                  <a:off x="5275864" y="2206266"/>
                  <a:ext cx="232134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ar-AE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7DA3D4E-EAEA-BD44-BE01-3017B2C003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5864" y="2206266"/>
                  <a:ext cx="2321341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630" b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AE507F8D-0D54-3740-86FB-A366385D93A4}"/>
                    </a:ext>
                  </a:extLst>
                </p:cNvPr>
                <p:cNvSpPr/>
                <p:nvPr/>
              </p:nvSpPr>
              <p:spPr>
                <a:xfrm>
                  <a:off x="10569254" y="2269451"/>
                  <a:ext cx="2167966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AE507F8D-0D54-3740-86FB-A366385D93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9254" y="2269451"/>
                  <a:ext cx="2167966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1744" b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8EF0D6E9-E6F6-774D-B361-FE7F828E82FF}"/>
                  </a:ext>
                </a:extLst>
              </p:cNvPr>
              <p:cNvSpPr txBox="1"/>
              <p:nvPr/>
            </p:nvSpPr>
            <p:spPr>
              <a:xfrm>
                <a:off x="468216" y="3935866"/>
                <a:ext cx="4016937" cy="152772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Autofit/>
              </a:bodyPr>
              <a:lstStyle/>
              <a:p>
                <a:pPr>
                  <a:lnSpc>
                    <a:spcPct val="150000"/>
                  </a:lnSpc>
                  <a:defRPr sz="37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8EF0D6E9-E6F6-774D-B361-FE7F828E8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16" y="3935866"/>
                <a:ext cx="4016937" cy="1527723"/>
              </a:xfrm>
              <a:prstGeom prst="rect">
                <a:avLst/>
              </a:prstGeom>
              <a:blipFill>
                <a:blip r:embed="rId10"/>
                <a:stretch>
                  <a:fillRect t="-15702" b="-5702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hrough Regression we convert the data into a LINEAR equation:…">
            <a:extLst>
              <a:ext uri="{FF2B5EF4-FFF2-40B4-BE49-F238E27FC236}">
                <a16:creationId xmlns:a16="http://schemas.microsoft.com/office/drawing/2014/main" id="{AE27699D-C6B3-BC4E-B68F-3D0A325A0715}"/>
              </a:ext>
            </a:extLst>
          </p:cNvPr>
          <p:cNvSpPr txBox="1"/>
          <p:nvPr/>
        </p:nvSpPr>
        <p:spPr>
          <a:xfrm>
            <a:off x="454366" y="7446007"/>
            <a:ext cx="6707750" cy="8917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just">
              <a:lnSpc>
                <a:spcPct val="150000"/>
              </a:lnSpc>
              <a:defRPr sz="3700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given data R</a:t>
            </a:r>
            <a:r>
              <a:rPr lang="en-US" sz="32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0.02   or   2%</a:t>
            </a:r>
          </a:p>
        </p:txBody>
      </p:sp>
      <p:sp>
        <p:nvSpPr>
          <p:cNvPr id="14" name="Through Regression we convert the data into a LINEAR equation:…">
            <a:extLst>
              <a:ext uri="{FF2B5EF4-FFF2-40B4-BE49-F238E27FC236}">
                <a16:creationId xmlns:a16="http://schemas.microsoft.com/office/drawing/2014/main" id="{7E84859C-881F-D940-9D66-92416EE7867F}"/>
              </a:ext>
            </a:extLst>
          </p:cNvPr>
          <p:cNvSpPr txBox="1"/>
          <p:nvPr/>
        </p:nvSpPr>
        <p:spPr>
          <a:xfrm>
            <a:off x="454366" y="8464896"/>
            <a:ext cx="8564860" cy="1093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just">
              <a:lnSpc>
                <a:spcPct val="150000"/>
              </a:lnSpc>
              <a:defRPr sz="3700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Hence, X cannot explain 98 % of Y’s behaviour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39B45BC1-14A7-E349-8461-41B874BAA508}"/>
                  </a:ext>
                </a:extLst>
              </p:cNvPr>
              <p:cNvSpPr txBox="1"/>
              <p:nvPr/>
            </p:nvSpPr>
            <p:spPr>
              <a:xfrm>
                <a:off x="439186" y="5713135"/>
                <a:ext cx="4969200" cy="1608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/>
              <a:p>
                <a:pPr algn="just">
                  <a:lnSpc>
                    <a:spcPct val="150000"/>
                  </a:lnSpc>
                  <a:defRPr sz="37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𝟏𝟏𝟔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0.02</a:t>
                </a:r>
              </a:p>
            </p:txBody>
          </p:sp>
        </mc:Choice>
        <mc:Fallback xmlns="">
          <p:sp>
            <p:nvSpPr>
              <p:cNvPr id="21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39B45BC1-14A7-E349-8461-41B874BAA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86" y="5713135"/>
                <a:ext cx="4969200" cy="1608124"/>
              </a:xfrm>
              <a:prstGeom prst="rect">
                <a:avLst/>
              </a:prstGeom>
              <a:blipFill>
                <a:blip r:embed="rId11"/>
                <a:stretch>
                  <a:fillRect l="-178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CD3ABBD-03B6-EE24-64DA-B2DD97A4CD5A}"/>
              </a:ext>
            </a:extLst>
          </p:cNvPr>
          <p:cNvGrpSpPr/>
          <p:nvPr/>
        </p:nvGrpSpPr>
        <p:grpSpPr>
          <a:xfrm>
            <a:off x="7617889" y="4300246"/>
            <a:ext cx="4969198" cy="4029789"/>
            <a:chOff x="3130698" y="1907517"/>
            <a:chExt cx="7903457" cy="5954380"/>
          </a:xfrm>
        </p:grpSpPr>
        <p:sp>
          <p:nvSpPr>
            <p:cNvPr id="22" name="Line">
              <a:extLst>
                <a:ext uri="{FF2B5EF4-FFF2-40B4-BE49-F238E27FC236}">
                  <a16:creationId xmlns:a16="http://schemas.microsoft.com/office/drawing/2014/main" id="{DE1F8A71-7F5D-0DEC-0E47-A15168621873}"/>
                </a:ext>
              </a:extLst>
            </p:cNvPr>
            <p:cNvSpPr/>
            <p:nvPr/>
          </p:nvSpPr>
          <p:spPr>
            <a:xfrm flipV="1">
              <a:off x="3689498" y="1945133"/>
              <a:ext cx="1" cy="5669055"/>
            </a:xfrm>
            <a:prstGeom prst="line">
              <a:avLst/>
            </a:prstGeom>
            <a:ln w="19050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Line">
              <a:extLst>
                <a:ext uri="{FF2B5EF4-FFF2-40B4-BE49-F238E27FC236}">
                  <a16:creationId xmlns:a16="http://schemas.microsoft.com/office/drawing/2014/main" id="{B7500777-8B91-EBB4-46CB-92C6AB2DB9E3}"/>
                </a:ext>
              </a:extLst>
            </p:cNvPr>
            <p:cNvSpPr/>
            <p:nvPr/>
          </p:nvSpPr>
          <p:spPr>
            <a:xfrm>
              <a:off x="3130698" y="7156987"/>
              <a:ext cx="7562290" cy="1"/>
            </a:xfrm>
            <a:prstGeom prst="line">
              <a:avLst/>
            </a:prstGeom>
            <a:ln w="19050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X">
              <a:extLst>
                <a:ext uri="{FF2B5EF4-FFF2-40B4-BE49-F238E27FC236}">
                  <a16:creationId xmlns:a16="http://schemas.microsoft.com/office/drawing/2014/main" id="{01EB273E-1130-80AE-6C47-53CF9FEBB579}"/>
                </a:ext>
              </a:extLst>
            </p:cNvPr>
            <p:cNvSpPr txBox="1"/>
            <p:nvPr/>
          </p:nvSpPr>
          <p:spPr>
            <a:xfrm>
              <a:off x="10745614" y="7182332"/>
              <a:ext cx="288541" cy="41036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5" name="Y">
              <a:extLst>
                <a:ext uri="{FF2B5EF4-FFF2-40B4-BE49-F238E27FC236}">
                  <a16:creationId xmlns:a16="http://schemas.microsoft.com/office/drawing/2014/main" id="{E0D58E94-A89C-BDEF-2909-77860C925A06}"/>
                </a:ext>
              </a:extLst>
            </p:cNvPr>
            <p:cNvSpPr txBox="1"/>
            <p:nvPr/>
          </p:nvSpPr>
          <p:spPr>
            <a:xfrm>
              <a:off x="3258879" y="1907517"/>
              <a:ext cx="288541" cy="41036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5AF7ED6-6038-0D98-03DF-8EDB74281122}"/>
                </a:ext>
              </a:extLst>
            </p:cNvPr>
            <p:cNvCxnSpPr/>
            <p:nvPr/>
          </p:nvCxnSpPr>
          <p:spPr>
            <a:xfrm>
              <a:off x="4697506" y="7004587"/>
              <a:ext cx="0" cy="30480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DE1FD71-263A-8349-F6BC-6B76568D0035}"/>
                </a:ext>
              </a:extLst>
            </p:cNvPr>
            <p:cNvSpPr/>
            <p:nvPr/>
          </p:nvSpPr>
          <p:spPr>
            <a:xfrm>
              <a:off x="4541052" y="7461787"/>
              <a:ext cx="3129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5408283-1B43-6A8B-5CBF-F7E4666955AA}"/>
                </a:ext>
              </a:extLst>
            </p:cNvPr>
            <p:cNvCxnSpPr/>
            <p:nvPr/>
          </p:nvCxnSpPr>
          <p:spPr>
            <a:xfrm>
              <a:off x="5800164" y="6980845"/>
              <a:ext cx="0" cy="30480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6AB673A-11DF-B778-8E23-B1D2C4DE0681}"/>
                </a:ext>
              </a:extLst>
            </p:cNvPr>
            <p:cNvCxnSpPr/>
            <p:nvPr/>
          </p:nvCxnSpPr>
          <p:spPr>
            <a:xfrm>
              <a:off x="6741458" y="6980845"/>
              <a:ext cx="0" cy="30480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8589F65-725A-98BF-B27B-8A2399486B1B}"/>
                </a:ext>
              </a:extLst>
            </p:cNvPr>
            <p:cNvCxnSpPr/>
            <p:nvPr/>
          </p:nvCxnSpPr>
          <p:spPr>
            <a:xfrm>
              <a:off x="7655858" y="6975032"/>
              <a:ext cx="0" cy="30480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2E6BE58-2EBD-CFF7-E99E-D8CE21B648C3}"/>
                </a:ext>
              </a:extLst>
            </p:cNvPr>
            <p:cNvCxnSpPr/>
            <p:nvPr/>
          </p:nvCxnSpPr>
          <p:spPr>
            <a:xfrm>
              <a:off x="8641975" y="6975032"/>
              <a:ext cx="0" cy="30480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AA369A3-716A-CB52-5CD7-AB200B3C344F}"/>
                </a:ext>
              </a:extLst>
            </p:cNvPr>
            <p:cNvSpPr/>
            <p:nvPr/>
          </p:nvSpPr>
          <p:spPr>
            <a:xfrm>
              <a:off x="5622152" y="7450160"/>
              <a:ext cx="3129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6AC4B79-3249-F57A-BCF1-356A7B7E1C38}"/>
                </a:ext>
              </a:extLst>
            </p:cNvPr>
            <p:cNvSpPr/>
            <p:nvPr/>
          </p:nvSpPr>
          <p:spPr>
            <a:xfrm>
              <a:off x="6577296" y="7417562"/>
              <a:ext cx="3129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F83C7B-2ACE-60DD-CE0D-9A147861D4BA}"/>
                </a:ext>
              </a:extLst>
            </p:cNvPr>
            <p:cNvSpPr/>
            <p:nvPr/>
          </p:nvSpPr>
          <p:spPr>
            <a:xfrm>
              <a:off x="7499404" y="7461787"/>
              <a:ext cx="3129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2DD5A3E-6911-5FA9-F732-54D1C250D330}"/>
                </a:ext>
              </a:extLst>
            </p:cNvPr>
            <p:cNvSpPr/>
            <p:nvPr/>
          </p:nvSpPr>
          <p:spPr>
            <a:xfrm>
              <a:off x="8507274" y="7450160"/>
              <a:ext cx="3129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0F54B2D-DEB9-B53C-5BC7-0250B987415A}"/>
                </a:ext>
              </a:extLst>
            </p:cNvPr>
            <p:cNvSpPr/>
            <p:nvPr/>
          </p:nvSpPr>
          <p:spPr>
            <a:xfrm>
              <a:off x="4481150" y="4520731"/>
              <a:ext cx="394449" cy="3714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5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5248169-F936-D455-75FF-7929E4AD4EDB}"/>
                </a:ext>
              </a:extLst>
            </p:cNvPr>
            <p:cNvSpPr/>
            <p:nvPr/>
          </p:nvSpPr>
          <p:spPr>
            <a:xfrm>
              <a:off x="5608721" y="3513891"/>
              <a:ext cx="394449" cy="3714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5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C96D5DF-E411-89F3-472B-B825BDBC06F0}"/>
                </a:ext>
              </a:extLst>
            </p:cNvPr>
            <p:cNvSpPr/>
            <p:nvPr/>
          </p:nvSpPr>
          <p:spPr>
            <a:xfrm>
              <a:off x="6304641" y="1970417"/>
              <a:ext cx="394449" cy="3714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5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4B3612A-36BF-6FE9-AFFD-26127FA7AD11}"/>
                </a:ext>
              </a:extLst>
            </p:cNvPr>
            <p:cNvSpPr/>
            <p:nvPr/>
          </p:nvSpPr>
          <p:spPr>
            <a:xfrm>
              <a:off x="7352255" y="2589171"/>
              <a:ext cx="394449" cy="3714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5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25BEAA6-1061-1829-CDC1-4F4E21D6E93E}"/>
                </a:ext>
              </a:extLst>
            </p:cNvPr>
            <p:cNvSpPr/>
            <p:nvPr/>
          </p:nvSpPr>
          <p:spPr>
            <a:xfrm>
              <a:off x="8444750" y="5366024"/>
              <a:ext cx="394449" cy="3714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5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41" name="5-Point Star 9">
              <a:extLst>
                <a:ext uri="{FF2B5EF4-FFF2-40B4-BE49-F238E27FC236}">
                  <a16:creationId xmlns:a16="http://schemas.microsoft.com/office/drawing/2014/main" id="{3B457B60-F644-1E91-F12C-7D5910F4860C}"/>
                </a:ext>
              </a:extLst>
            </p:cNvPr>
            <p:cNvSpPr/>
            <p:nvPr/>
          </p:nvSpPr>
          <p:spPr>
            <a:xfrm>
              <a:off x="4502808" y="2494489"/>
              <a:ext cx="412378" cy="665758"/>
            </a:xfrm>
            <a:prstGeom prst="star5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42" name="5-Point Star 33">
              <a:extLst>
                <a:ext uri="{FF2B5EF4-FFF2-40B4-BE49-F238E27FC236}">
                  <a16:creationId xmlns:a16="http://schemas.microsoft.com/office/drawing/2014/main" id="{CD60D473-67A0-A910-FD73-59E5802026EE}"/>
                </a:ext>
              </a:extLst>
            </p:cNvPr>
            <p:cNvSpPr/>
            <p:nvPr/>
          </p:nvSpPr>
          <p:spPr>
            <a:xfrm>
              <a:off x="5663288" y="3098284"/>
              <a:ext cx="412378" cy="665758"/>
            </a:xfrm>
            <a:prstGeom prst="star5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43" name="5-Point Star 34">
              <a:extLst>
                <a:ext uri="{FF2B5EF4-FFF2-40B4-BE49-F238E27FC236}">
                  <a16:creationId xmlns:a16="http://schemas.microsoft.com/office/drawing/2014/main" id="{F7305E43-38C1-3B3C-F8E2-4C5DDB5CDEEB}"/>
                </a:ext>
              </a:extLst>
            </p:cNvPr>
            <p:cNvSpPr/>
            <p:nvPr/>
          </p:nvSpPr>
          <p:spPr>
            <a:xfrm>
              <a:off x="6331537" y="3404414"/>
              <a:ext cx="412378" cy="665758"/>
            </a:xfrm>
            <a:prstGeom prst="star5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44" name="5-Point Star 35">
              <a:extLst>
                <a:ext uri="{FF2B5EF4-FFF2-40B4-BE49-F238E27FC236}">
                  <a16:creationId xmlns:a16="http://schemas.microsoft.com/office/drawing/2014/main" id="{3650AD11-07E3-A0D7-1AE1-441797EFC917}"/>
                </a:ext>
              </a:extLst>
            </p:cNvPr>
            <p:cNvSpPr/>
            <p:nvPr/>
          </p:nvSpPr>
          <p:spPr>
            <a:xfrm>
              <a:off x="7352255" y="3811119"/>
              <a:ext cx="412378" cy="665758"/>
            </a:xfrm>
            <a:prstGeom prst="star5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sp>
          <p:nvSpPr>
            <p:cNvPr id="45" name="5-Point Star 36">
              <a:extLst>
                <a:ext uri="{FF2B5EF4-FFF2-40B4-BE49-F238E27FC236}">
                  <a16:creationId xmlns:a16="http://schemas.microsoft.com/office/drawing/2014/main" id="{A8542B92-3E1E-3E0D-37EF-0F4E625CC1CD}"/>
                </a:ext>
              </a:extLst>
            </p:cNvPr>
            <p:cNvSpPr/>
            <p:nvPr/>
          </p:nvSpPr>
          <p:spPr>
            <a:xfrm>
              <a:off x="8426821" y="4223801"/>
              <a:ext cx="412378" cy="665758"/>
            </a:xfrm>
            <a:prstGeom prst="star5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 Medium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A213AE1-4828-84DF-D9B0-1602B40E697E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 flipH="1">
              <a:off x="4678375" y="2919018"/>
              <a:ext cx="19132" cy="1601713"/>
            </a:xfrm>
            <a:prstGeom prst="line">
              <a:avLst/>
            </a:prstGeom>
            <a:noFill/>
            <a:ln w="50800" cap="flat">
              <a:solidFill>
                <a:srgbClr val="FF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212DEC8-DF17-B95D-CC31-97CBE712774C}"/>
                </a:ext>
              </a:extLst>
            </p:cNvPr>
            <p:cNvCxnSpPr>
              <a:cxnSpLocks/>
            </p:cNvCxnSpPr>
            <p:nvPr/>
          </p:nvCxnSpPr>
          <p:spPr>
            <a:xfrm>
              <a:off x="6527558" y="2343232"/>
              <a:ext cx="19134" cy="1290001"/>
            </a:xfrm>
            <a:prstGeom prst="line">
              <a:avLst/>
            </a:prstGeom>
            <a:noFill/>
            <a:ln w="50800" cap="flat">
              <a:solidFill>
                <a:srgbClr val="FF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CC83567-3771-5AED-7D3A-56C7631B4969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>
              <a:off x="7529149" y="2919018"/>
              <a:ext cx="29295" cy="892101"/>
            </a:xfrm>
            <a:prstGeom prst="line">
              <a:avLst/>
            </a:prstGeom>
            <a:noFill/>
            <a:ln w="50800" cap="flat">
              <a:solidFill>
                <a:srgbClr val="FF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DD8D00F-9293-A60A-FD2C-601B063AE3FD}"/>
                </a:ext>
              </a:extLst>
            </p:cNvPr>
            <p:cNvCxnSpPr>
              <a:cxnSpLocks/>
            </p:cNvCxnSpPr>
            <p:nvPr/>
          </p:nvCxnSpPr>
          <p:spPr>
            <a:xfrm>
              <a:off x="8641975" y="4572000"/>
              <a:ext cx="0" cy="845293"/>
            </a:xfrm>
            <a:prstGeom prst="line">
              <a:avLst/>
            </a:prstGeom>
            <a:noFill/>
            <a:ln w="50800" cap="flat">
              <a:solidFill>
                <a:srgbClr val="FF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843709-1064-4A38-5DF8-DC855B65FA12}"/>
                </a:ext>
              </a:extLst>
            </p:cNvPr>
            <p:cNvCxnSpPr>
              <a:cxnSpLocks/>
            </p:cNvCxnSpPr>
            <p:nvPr/>
          </p:nvCxnSpPr>
          <p:spPr>
            <a:xfrm>
              <a:off x="5869478" y="3448620"/>
              <a:ext cx="0" cy="385482"/>
            </a:xfrm>
            <a:prstGeom prst="line">
              <a:avLst/>
            </a:prstGeom>
            <a:noFill/>
            <a:ln w="50800" cap="flat">
              <a:solidFill>
                <a:srgbClr val="FF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Y">
                  <a:extLst>
                    <a:ext uri="{FF2B5EF4-FFF2-40B4-BE49-F238E27FC236}">
                      <a16:creationId xmlns:a16="http://schemas.microsoft.com/office/drawing/2014/main" id="{7780C84B-DE30-5C7A-4949-513452A1A6AD}"/>
                    </a:ext>
                  </a:extLst>
                </p:cNvPr>
                <p:cNvSpPr txBox="1"/>
                <p:nvPr/>
              </p:nvSpPr>
              <p:spPr>
                <a:xfrm>
                  <a:off x="3193196" y="2568383"/>
                  <a:ext cx="541779" cy="418704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ar-AE" sz="200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ar-AE" sz="2000" i="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oMath>
                    </m:oMathPara>
                  </a14:m>
                  <a:endParaRPr lang="ar-AE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Y">
                  <a:extLst>
                    <a:ext uri="{FF2B5EF4-FFF2-40B4-BE49-F238E27FC236}">
                      <a16:creationId xmlns:a16="http://schemas.microsoft.com/office/drawing/2014/main" id="{7780C84B-DE30-5C7A-4949-513452A1A6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3196" y="2568383"/>
                  <a:ext cx="541779" cy="418704"/>
                </a:xfrm>
                <a:prstGeom prst="rect">
                  <a:avLst/>
                </a:prstGeom>
                <a:blipFill>
                  <a:blip r:embed="rId12"/>
                  <a:stretch>
                    <a:fillRect l="-7143" t="-30435" r="-25000" b="-56522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a14="http://schemas.microsoft.com/office/drawing/2010/main"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9DAA6FE-50AF-EA8D-EE19-CC181B2CB4B7}"/>
                </a:ext>
              </a:extLst>
            </p:cNvPr>
            <p:cNvCxnSpPr>
              <a:cxnSpLocks/>
            </p:cNvCxnSpPr>
            <p:nvPr/>
          </p:nvCxnSpPr>
          <p:spPr>
            <a:xfrm>
              <a:off x="4519411" y="2769097"/>
              <a:ext cx="5090754" cy="2296319"/>
            </a:xfrm>
            <a:prstGeom prst="line">
              <a:avLst/>
            </a:prstGeom>
            <a:noFill/>
            <a:ln w="60325" cap="flat">
              <a:solidFill>
                <a:srgbClr val="7030A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5964772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4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E49646-E00A-7F4A-9074-47DB7A20D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432325"/>
              </p:ext>
            </p:extLst>
          </p:nvPr>
        </p:nvGraphicFramePr>
        <p:xfrm>
          <a:off x="2472661" y="2703176"/>
          <a:ext cx="8059478" cy="2549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433">
                  <a:extLst>
                    <a:ext uri="{9D8B030D-6E8A-4147-A177-3AD203B41FA5}">
                      <a16:colId xmlns:a16="http://schemas.microsoft.com/office/drawing/2014/main" val="530569327"/>
                    </a:ext>
                  </a:extLst>
                </a:gridCol>
                <a:gridCol w="1197433">
                  <a:extLst>
                    <a:ext uri="{9D8B030D-6E8A-4147-A177-3AD203B41FA5}">
                      <a16:colId xmlns:a16="http://schemas.microsoft.com/office/drawing/2014/main" val="4132923727"/>
                    </a:ext>
                  </a:extLst>
                </a:gridCol>
                <a:gridCol w="1416153">
                  <a:extLst>
                    <a:ext uri="{9D8B030D-6E8A-4147-A177-3AD203B41FA5}">
                      <a16:colId xmlns:a16="http://schemas.microsoft.com/office/drawing/2014/main" val="165285815"/>
                    </a:ext>
                  </a:extLst>
                </a:gridCol>
                <a:gridCol w="1416153">
                  <a:extLst>
                    <a:ext uri="{9D8B030D-6E8A-4147-A177-3AD203B41FA5}">
                      <a16:colId xmlns:a16="http://schemas.microsoft.com/office/drawing/2014/main" val="1889984765"/>
                    </a:ext>
                  </a:extLst>
                </a:gridCol>
                <a:gridCol w="1416153">
                  <a:extLst>
                    <a:ext uri="{9D8B030D-6E8A-4147-A177-3AD203B41FA5}">
                      <a16:colId xmlns:a16="http://schemas.microsoft.com/office/drawing/2014/main" val="3078015069"/>
                    </a:ext>
                  </a:extLst>
                </a:gridCol>
                <a:gridCol w="1416153">
                  <a:extLst>
                    <a:ext uri="{9D8B030D-6E8A-4147-A177-3AD203B41FA5}">
                      <a16:colId xmlns:a16="http://schemas.microsoft.com/office/drawing/2014/main" val="3303929987"/>
                    </a:ext>
                  </a:extLst>
                </a:gridCol>
              </a:tblGrid>
              <a:tr h="1274653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580336"/>
                  </a:ext>
                </a:extLst>
              </a:tr>
              <a:tr h="1274653">
                <a:tc>
                  <a:txBody>
                    <a:bodyPr/>
                    <a:lstStyle/>
                    <a:p>
                      <a:pPr marL="0" marR="0" lvl="0" indent="0" algn="ctr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363372"/>
                  </a:ext>
                </a:extLst>
              </a:tr>
            </a:tbl>
          </a:graphicData>
        </a:graphic>
      </p:graphicFrame>
      <p:sp>
        <p:nvSpPr>
          <p:cNvPr id="8" name="Through Regression we convert the data into a LINEAR equation:…">
            <a:extLst>
              <a:ext uri="{FF2B5EF4-FFF2-40B4-BE49-F238E27FC236}">
                <a16:creationId xmlns:a16="http://schemas.microsoft.com/office/drawing/2014/main" id="{5E838C49-EB8E-31A3-C051-C3B1788F9A91}"/>
              </a:ext>
            </a:extLst>
          </p:cNvPr>
          <p:cNvSpPr txBox="1"/>
          <p:nvPr/>
        </p:nvSpPr>
        <p:spPr>
          <a:xfrm>
            <a:off x="1467676" y="5679607"/>
            <a:ext cx="10844826" cy="955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/>
          <a:p>
            <a:pPr>
              <a:lnSpc>
                <a:spcPct val="150000"/>
              </a:lnSpc>
              <a:defRPr sz="3700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Kudos Points = Brownie Points = 0.25 (max. 3 pts)</a:t>
            </a:r>
          </a:p>
        </p:txBody>
      </p:sp>
    </p:spTree>
    <p:extLst>
      <p:ext uri="{BB962C8B-B14F-4D97-AF65-F5344CB8AC3E}">
        <p14:creationId xmlns:p14="http://schemas.microsoft.com/office/powerpoint/2010/main" val="34262894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0C42E2-EACF-A8B5-CA11-F923F5CC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gression (contd.)">
            <a:extLst>
              <a:ext uri="{FF2B5EF4-FFF2-40B4-BE49-F238E27FC236}">
                <a16:creationId xmlns:a16="http://schemas.microsoft.com/office/drawing/2014/main" id="{C7E56174-EB7F-08A1-A08C-776937368CD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16099" y="215153"/>
            <a:ext cx="10464800" cy="639515"/>
          </a:xfrm>
          <a:prstGeom prst="rect">
            <a:avLst/>
          </a:prstGeom>
        </p:spPr>
        <p:txBody>
          <a:bodyPr/>
          <a:lstStyle>
            <a:lvl1pPr defTabSz="257047">
              <a:defRPr sz="352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(contd.)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F75D9E-33B5-19C4-42CE-FDAD23E15BF9}"/>
              </a:ext>
            </a:extLst>
          </p:cNvPr>
          <p:cNvGraphicFramePr>
            <a:graphicFrameLocks noGrp="1"/>
          </p:cNvGraphicFramePr>
          <p:nvPr/>
        </p:nvGraphicFramePr>
        <p:xfrm>
          <a:off x="427981" y="1014160"/>
          <a:ext cx="1919195" cy="61527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9290">
                  <a:extLst>
                    <a:ext uri="{9D8B030D-6E8A-4147-A177-3AD203B41FA5}">
                      <a16:colId xmlns:a16="http://schemas.microsoft.com/office/drawing/2014/main" val="4132923727"/>
                    </a:ext>
                  </a:extLst>
                </a:gridCol>
                <a:gridCol w="1039905">
                  <a:extLst>
                    <a:ext uri="{9D8B030D-6E8A-4147-A177-3AD203B41FA5}">
                      <a16:colId xmlns:a16="http://schemas.microsoft.com/office/drawing/2014/main" val="165285815"/>
                    </a:ext>
                  </a:extLst>
                </a:gridCol>
              </a:tblGrid>
              <a:tr h="1290517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298911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580336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363372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56165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515806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729601"/>
                  </a:ext>
                </a:extLst>
              </a:tr>
              <a:tr h="81036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8436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01B2CC-9512-1989-43E2-F3A73AF3CFF0}"/>
                  </a:ext>
                </a:extLst>
              </p:cNvPr>
              <p:cNvSpPr txBox="1"/>
              <p:nvPr/>
            </p:nvSpPr>
            <p:spPr>
              <a:xfrm>
                <a:off x="427981" y="7411731"/>
                <a:ext cx="1744548" cy="65659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36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accPr>
                      <m:e>
                        <m:r>
                          <a:rPr kumimoji="0" lang="en-US" sz="36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𝑿</m:t>
                        </m:r>
                      </m:e>
                    </m:acc>
                  </m:oMath>
                </a14:m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32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01B2CC-9512-1989-43E2-F3A73AF3C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81" y="7411731"/>
                <a:ext cx="1744548" cy="656590"/>
              </a:xfrm>
              <a:prstGeom prst="rect">
                <a:avLst/>
              </a:prstGeom>
              <a:blipFill>
                <a:blip r:embed="rId3"/>
                <a:stretch>
                  <a:fillRect t="-13208" r="-2174" b="-3207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6D04AB-190F-2962-3A9F-BA6F78A4F203}"/>
                  </a:ext>
                </a:extLst>
              </p:cNvPr>
              <p:cNvSpPr txBox="1"/>
              <p:nvPr/>
            </p:nvSpPr>
            <p:spPr>
              <a:xfrm>
                <a:off x="427981" y="8246065"/>
                <a:ext cx="1437505" cy="65659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36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accPr>
                      <m:e>
                        <m:r>
                          <a:rPr kumimoji="0" lang="en-US" sz="36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𝒀</m:t>
                        </m:r>
                      </m:e>
                    </m:acc>
                  </m:oMath>
                </a14:m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22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6D04AB-190F-2962-3A9F-BA6F78A4F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81" y="8246065"/>
                <a:ext cx="1437505" cy="656590"/>
              </a:xfrm>
              <a:prstGeom prst="rect">
                <a:avLst/>
              </a:prstGeom>
              <a:blipFill>
                <a:blip r:embed="rId4"/>
                <a:stretch>
                  <a:fillRect l="-3509" t="-13462" r="-12281" b="-3461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2F3522-6467-54CE-C987-12EB4F93FC9A}"/>
                  </a:ext>
                </a:extLst>
              </p:cNvPr>
              <p:cNvSpPr txBox="1"/>
              <p:nvPr/>
            </p:nvSpPr>
            <p:spPr>
              <a:xfrm>
                <a:off x="2558593" y="7363570"/>
                <a:ext cx="4613171" cy="9929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en-US" sz="3600" b="1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𝒎</m:t>
                    </m:r>
                  </m:oMath>
                </a14:m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1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en-US" sz="3600" b="1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0" lang="en-US" sz="3600" b="1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𝒙𝒚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en-US" sz="3600" b="1" i="1" u="none" strike="noStrike" cap="none" spc="0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36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3600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dirty="0" smtClean="0">
                            <a:latin typeface="Cambria Math" panose="02040503050406030204" pitchFamily="18" charset="0"/>
                          </a:rPr>
                          <m:t>𝟒𝟖𝟑</m:t>
                        </m:r>
                      </m:num>
                      <m:den>
                        <m:r>
                          <a:rPr lang="en-US" sz="3600" b="1" i="1" dirty="0" smtClean="0">
                            <a:latin typeface="Cambria Math" panose="02040503050406030204" pitchFamily="18" charset="0"/>
                          </a:rPr>
                          <m:t>𝟏𝟏𝟕𝟒</m:t>
                        </m:r>
                      </m:den>
                    </m:f>
                  </m:oMath>
                </a14:m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0.41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2F3522-6467-54CE-C987-12EB4F93F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593" y="7363570"/>
                <a:ext cx="4613171" cy="992964"/>
              </a:xfrm>
              <a:prstGeom prst="rect">
                <a:avLst/>
              </a:prstGeom>
              <a:blipFill>
                <a:blip r:embed="rId5"/>
                <a:stretch>
                  <a:fillRect t="-62500" r="-1648" b="-9875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B33331-FE67-AE58-33E3-D5B06E9CECFE}"/>
                  </a:ext>
                </a:extLst>
              </p:cNvPr>
              <p:cNvSpPr txBox="1"/>
              <p:nvPr/>
            </p:nvSpPr>
            <p:spPr>
              <a:xfrm>
                <a:off x="2558592" y="8581244"/>
                <a:ext cx="5061407" cy="65659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en-US" sz="3600" b="1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sym typeface="Helvetica Neue"/>
                      </a:rPr>
                      <m:t>𝒉</m:t>
                    </m:r>
                  </m:oMath>
                </a14:m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3600" b="1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accPr>
                      <m:e>
                        <m:r>
                          <a:rPr kumimoji="0" lang="en-US" sz="3600" b="1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  <m:t>𝒀</m:t>
                        </m:r>
                      </m:e>
                    </m:acc>
                  </m:oMath>
                </a14:m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-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36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0" lang="en-US" sz="36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accPr>
                          <m:e>
                            <m:r>
                              <a:rPr kumimoji="0" lang="en-US" sz="36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𝑿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 = </a:t>
                </a:r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"/>
                  </a:rPr>
                  <a:t>8.88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B33331-FE67-AE58-33E3-D5B06E9CE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592" y="8581244"/>
                <a:ext cx="5061407" cy="656590"/>
              </a:xfrm>
              <a:prstGeom prst="rect">
                <a:avLst/>
              </a:prstGeom>
              <a:blipFill>
                <a:blip r:embed="rId6"/>
                <a:stretch>
                  <a:fillRect t="-11321" b="-3207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BCB25C92-5224-9149-902A-606CC92A98FE}"/>
                  </a:ext>
                </a:extLst>
              </p:cNvPr>
              <p:cNvSpPr txBox="1"/>
              <p:nvPr/>
            </p:nvSpPr>
            <p:spPr>
              <a:xfrm>
                <a:off x="7864871" y="7784551"/>
                <a:ext cx="4984377" cy="11439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/>
              <a:p>
                <a:pPr algn="just">
                  <a:lnSpc>
                    <a:spcPct val="150000"/>
                  </a:lnSpc>
                  <a:defRPr sz="37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360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3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ar-AE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36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𝟖𝟖</m:t>
                      </m:r>
                      <m:r>
                        <a:rPr lang="en-US" sz="36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6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𝟒𝟏</m:t>
                      </m:r>
                      <m:r>
                        <a:rPr lang="ar-AE" sz="3600" b="1" i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ar-AE" sz="36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sz="36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BCB25C92-5224-9149-902A-606CC92A9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871" y="7784551"/>
                <a:ext cx="4984377" cy="11439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00DAF2D6-BE85-FAB4-FB87-E59F58BADB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47176" y="937130"/>
              <a:ext cx="2045234" cy="62305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5234">
                      <a:extLst>
                        <a:ext uri="{9D8B030D-6E8A-4147-A177-3AD203B41FA5}">
                          <a16:colId xmlns:a16="http://schemas.microsoft.com/office/drawing/2014/main" val="13157246"/>
                        </a:ext>
                      </a:extLst>
                    </a:gridCol>
                  </a:tblGrid>
                  <a:tr h="11832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40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40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</a:t>
                          </a:r>
                        </a:p>
                        <a:p>
                          <a:pPr algn="ctr"/>
                          <a:r>
                            <a:rPr lang="en-US" sz="4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(X -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kumimoji="0" lang="en-US" sz="44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"/>
                                      <a:cs typeface="Helvetica Neue"/>
                                      <a:sym typeface="Helvetica Neue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44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"/>
                                      <a:cs typeface="Helvetica Neue"/>
                                      <a:sym typeface="Helvetica Neue"/>
                                    </a:rPr>
                                    <m:t>𝑿</m:t>
                                  </m:r>
                                  <m:r>
                                    <a:rPr kumimoji="0" lang="en-US" sz="44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"/>
                                      <a:cs typeface="Helvetica Neue"/>
                                      <a:sym typeface="Helvetica Neue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kumimoji="0" lang="en-US" sz="4400" b="1" i="0" u="none" strike="noStrike" cap="none" spc="0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Times New Roman" panose="02020603050405020304" pitchFamily="18" charset="0"/>
                              <a:ea typeface="Helvetica Neue"/>
                              <a:cs typeface="Times New Roman" panose="02020603050405020304" pitchFamily="18" charset="0"/>
                              <a:sym typeface="Helvetica Neue"/>
                            </a:rPr>
                            <a:t> </a:t>
                          </a:r>
                          <a:r>
                            <a:rPr kumimoji="0" lang="en-US" sz="4000" b="1" i="0" u="none" strike="noStrike" cap="none" spc="0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Times New Roman" panose="02020603050405020304" pitchFamily="18" charset="0"/>
                              <a:ea typeface="Helvetica Neue"/>
                              <a:cs typeface="Times New Roman" panose="02020603050405020304" pitchFamily="18" charset="0"/>
                              <a:sym typeface="Helvetica Neue"/>
                            </a:rPr>
                            <a:t>)</a:t>
                          </a:r>
                          <a:endParaRPr lang="en-US" sz="4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753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201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24753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00DAF2D6-BE85-FAB4-FB87-E59F58BADB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47176" y="937130"/>
              <a:ext cx="2045234" cy="62305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5234">
                      <a:extLst>
                        <a:ext uri="{9D8B030D-6E8A-4147-A177-3AD203B41FA5}">
                          <a16:colId xmlns:a16="http://schemas.microsoft.com/office/drawing/2014/main" val="13157246"/>
                        </a:ext>
                      </a:extLst>
                    </a:gridCol>
                  </a:tblGrid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17" t="-7407" r="-1235" b="-356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753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20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201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24753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415BC826-D57A-7658-2668-5D61AD7E88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90341" y="1023124"/>
              <a:ext cx="932330" cy="61347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2330">
                      <a:extLst>
                        <a:ext uri="{9D8B030D-6E8A-4147-A177-3AD203B41FA5}">
                          <a16:colId xmlns:a16="http://schemas.microsoft.com/office/drawing/2014/main" val="2363324196"/>
                        </a:ext>
                      </a:extLst>
                    </a:gridCol>
                  </a:tblGrid>
                  <a:tr h="127258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40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415BC826-D57A-7658-2668-5D61AD7E88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90341" y="1023124"/>
              <a:ext cx="932330" cy="61347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2330">
                      <a:extLst>
                        <a:ext uri="{9D8B030D-6E8A-4147-A177-3AD203B41FA5}">
                          <a16:colId xmlns:a16="http://schemas.microsoft.com/office/drawing/2014/main" val="2363324196"/>
                        </a:ext>
                      </a:extLst>
                    </a:gridCol>
                  </a:tblGrid>
                  <a:tr h="12725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t="-1000" r="-1333" b="-38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endParaRPr lang="en-US" sz="3200" b="1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1B56B3D2-3DF8-8A56-8A75-FE1B2CB886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00577" y="1101512"/>
              <a:ext cx="1039906" cy="56841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9906">
                      <a:extLst>
                        <a:ext uri="{9D8B030D-6E8A-4147-A177-3AD203B41FA5}">
                          <a16:colId xmlns:a16="http://schemas.microsoft.com/office/drawing/2014/main" val="1494264374"/>
                        </a:ext>
                      </a:extLst>
                    </a:gridCol>
                  </a:tblGrid>
                  <a:tr h="11751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4000" b="1" i="1" baseline="3000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4000" b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1174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1B56B3D2-3DF8-8A56-8A75-FE1B2CB886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00577" y="1101512"/>
              <a:ext cx="1039906" cy="56841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9906">
                      <a:extLst>
                        <a:ext uri="{9D8B030D-6E8A-4147-A177-3AD203B41FA5}">
                          <a16:colId xmlns:a16="http://schemas.microsoft.com/office/drawing/2014/main" val="1494264374"/>
                        </a:ext>
                      </a:extLst>
                    </a:gridCol>
                  </a:tblGrid>
                  <a:tr h="11751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t="-1075" r="-2410" b="-394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1174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E1A12CFC-F862-ADD7-CA77-A770B44829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17236" y="1027014"/>
              <a:ext cx="1183341" cy="61269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83341">
                      <a:extLst>
                        <a:ext uri="{9D8B030D-6E8A-4147-A177-3AD203B41FA5}">
                          <a16:colId xmlns:a16="http://schemas.microsoft.com/office/drawing/2014/main" val="3741335083"/>
                        </a:ext>
                      </a:extLst>
                    </a:gridCol>
                  </a:tblGrid>
                  <a:tr h="126480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𝒙𝒚</m:t>
                                </m:r>
                              </m:oMath>
                            </m:oMathPara>
                          </a14:m>
                          <a:endParaRPr lang="en-US" sz="40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-99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-130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E1A12CFC-F862-ADD7-CA77-A770B44829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17236" y="1027014"/>
              <a:ext cx="1183341" cy="61269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83341">
                      <a:extLst>
                        <a:ext uri="{9D8B030D-6E8A-4147-A177-3AD203B41FA5}">
                          <a16:colId xmlns:a16="http://schemas.microsoft.com/office/drawing/2014/main" val="3741335083"/>
                        </a:ext>
                      </a:extLst>
                    </a:gridCol>
                  </a:tblGrid>
                  <a:tr h="12648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r="-2128" b="-3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-99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-130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249A8565-C797-FFF0-6B96-543833F6DE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40483" y="1042629"/>
              <a:ext cx="1039906" cy="61097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9906">
                      <a:extLst>
                        <a:ext uri="{9D8B030D-6E8A-4147-A177-3AD203B41FA5}">
                          <a16:colId xmlns:a16="http://schemas.microsoft.com/office/drawing/2014/main" val="1494264374"/>
                        </a:ext>
                      </a:extLst>
                    </a:gridCol>
                  </a:tblGrid>
                  <a:tr h="12475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4000" b="1" i="1" baseline="3000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4000" b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249A8565-C797-FFF0-6B96-543833F6DE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40483" y="1042629"/>
              <a:ext cx="1039906" cy="61097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9906">
                      <a:extLst>
                        <a:ext uri="{9D8B030D-6E8A-4147-A177-3AD203B41FA5}">
                          <a16:colId xmlns:a16="http://schemas.microsoft.com/office/drawing/2014/main" val="1494264374"/>
                        </a:ext>
                      </a:extLst>
                    </a:gridCol>
                  </a:tblGrid>
                  <a:tr h="12475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205" t="-1020" r="-1205" b="-3979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29891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58033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363372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956165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2515806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75729601"/>
                      </a:ext>
                    </a:extLst>
                  </a:tr>
                  <a:tr h="810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284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287406DA-BB70-E1D2-97A9-55C8CFB7255A}"/>
                  </a:ext>
                </a:extLst>
              </p:cNvPr>
              <p:cNvSpPr txBox="1"/>
              <p:nvPr/>
            </p:nvSpPr>
            <p:spPr>
              <a:xfrm>
                <a:off x="8592194" y="1101512"/>
                <a:ext cx="4130859" cy="183156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/>
              <a:p>
                <a:pPr algn="just">
                  <a:lnSpc>
                    <a:spcPct val="150000"/>
                  </a:lnSpc>
                  <a:defRPr sz="37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3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3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287406DA-BB70-E1D2-97A9-55C8CFB72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194" y="1101512"/>
                <a:ext cx="4130859" cy="1831569"/>
              </a:xfrm>
              <a:prstGeom prst="rect">
                <a:avLst/>
              </a:prstGeom>
              <a:blipFill>
                <a:blip r:embed="rId13"/>
                <a:stretch>
                  <a:fillRect t="-18621" b="-5379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D816020-6750-5452-0FE5-7A47D8003F86}"/>
              </a:ext>
            </a:extLst>
          </p:cNvPr>
          <p:cNvGrpSpPr/>
          <p:nvPr/>
        </p:nvGrpSpPr>
        <p:grpSpPr>
          <a:xfrm>
            <a:off x="8917091" y="3407099"/>
            <a:ext cx="3506129" cy="1577309"/>
            <a:chOff x="8892660" y="3407100"/>
            <a:chExt cx="3121315" cy="16858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F781030-770D-AD41-01BD-2B92366F6F42}"/>
                    </a:ext>
                  </a:extLst>
                </p:cNvPr>
                <p:cNvSpPr/>
                <p:nvPr/>
              </p:nvSpPr>
              <p:spPr>
                <a:xfrm>
                  <a:off x="8892660" y="3407100"/>
                  <a:ext cx="2928796" cy="95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𝟒𝟏</m:t>
                              </m:r>
                            </m:e>
                          </m:d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𝟒𝟏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𝟏𝟏𝟕𝟒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𝟕𝟔𝟐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lang="en-US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F781030-770D-AD41-01BD-2B92366F6F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660" y="3407100"/>
                  <a:ext cx="2928796" cy="951050"/>
                </a:xfrm>
                <a:prstGeom prst="rect">
                  <a:avLst/>
                </a:prstGeom>
                <a:blipFill>
                  <a:blip r:embed="rId14"/>
                  <a:stretch>
                    <a:fillRect l="-4247" b="-98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A3419E4-E654-FB4A-956E-90AFBB88BD9D}"/>
                    </a:ext>
                  </a:extLst>
                </p:cNvPr>
                <p:cNvSpPr/>
                <p:nvPr/>
              </p:nvSpPr>
              <p:spPr>
                <a:xfrm>
                  <a:off x="9186699" y="4467962"/>
                  <a:ext cx="2827276" cy="6250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𝟐𝟔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𝟐𝟔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a14:m>
                  <a:endPara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A3419E4-E654-FB4A-956E-90AFBB88BD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6699" y="4467962"/>
                  <a:ext cx="2827276" cy="625032"/>
                </a:xfrm>
                <a:prstGeom prst="rect">
                  <a:avLst/>
                </a:prstGeom>
                <a:blipFill>
                  <a:blip r:embed="rId15"/>
                  <a:stretch>
                    <a:fillRect t="-12766" b="-319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9AC1EE6-F0FA-C353-3554-5FE55EE25EDE}"/>
                  </a:ext>
                </a:extLst>
              </p:cNvPr>
              <p:cNvSpPr/>
              <p:nvPr/>
            </p:nvSpPr>
            <p:spPr>
              <a:xfrm>
                <a:off x="9178154" y="5511327"/>
                <a:ext cx="310274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cannot explain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=} </m:t>
                    </m:r>
                  </m:oMath>
                </a14:m>
                <a:endPara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 of Y’s behaviour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9AC1EE6-F0FA-C353-3554-5FE55EE25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154" y="5511327"/>
                <a:ext cx="3102745" cy="1200329"/>
              </a:xfrm>
              <a:prstGeom prst="rect">
                <a:avLst/>
              </a:prstGeom>
              <a:blipFill>
                <a:blip r:embed="rId16"/>
                <a:stretch>
                  <a:fillRect l="-407" t="-3125" r="-2846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7651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  <p:bldP spid="14" grpId="0" animBg="1"/>
      <p:bldP spid="22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gression"/>
          <p:cNvSpPr txBox="1">
            <a:spLocks noGrp="1"/>
          </p:cNvSpPr>
          <p:nvPr>
            <p:ph type="ctrTitle"/>
          </p:nvPr>
        </p:nvSpPr>
        <p:spPr>
          <a:xfrm>
            <a:off x="862580" y="3083861"/>
            <a:ext cx="11075147" cy="717176"/>
          </a:xfrm>
          <a:prstGeom prst="rect">
            <a:avLst/>
          </a:prstGeom>
        </p:spPr>
        <p:txBody>
          <a:bodyPr>
            <a:normAutofit/>
          </a:bodyPr>
          <a:lstStyle>
            <a:lvl1pPr defTabSz="554990">
              <a:defRPr sz="7600"/>
            </a:lvl1pPr>
          </a:lstStyle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and ELASTCITY</a:t>
            </a:r>
          </a:p>
        </p:txBody>
      </p:sp>
    </p:spTree>
    <p:extLst>
      <p:ext uri="{BB962C8B-B14F-4D97-AF65-F5344CB8AC3E}">
        <p14:creationId xmlns:p14="http://schemas.microsoft.com/office/powerpoint/2010/main" val="73595742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gression (contd.)"/>
          <p:cNvSpPr txBox="1">
            <a:spLocks noGrp="1"/>
          </p:cNvSpPr>
          <p:nvPr>
            <p:ph type="ctrTitle"/>
          </p:nvPr>
        </p:nvSpPr>
        <p:spPr>
          <a:xfrm>
            <a:off x="1816100" y="609600"/>
            <a:ext cx="10464800" cy="639515"/>
          </a:xfrm>
          <a:prstGeom prst="rect">
            <a:avLst/>
          </a:prstGeom>
        </p:spPr>
        <p:txBody>
          <a:bodyPr/>
          <a:lstStyle>
            <a:lvl1pPr defTabSz="257047">
              <a:defRPr sz="352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Elasticity of Y on 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he unorganised or even the organised data can be converted into an equation, which will indicate the trajectory as well as the value of the slope of the curve"/>
          <p:cNvSpPr txBox="1"/>
          <p:nvPr/>
        </p:nvSpPr>
        <p:spPr>
          <a:xfrm>
            <a:off x="706189" y="1605328"/>
            <a:ext cx="11847017" cy="329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just">
              <a:defRPr sz="3700"/>
            </a:lvl1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hrough Regression we convert the data into a LINEAR equation:…"/>
              <p:cNvSpPr txBox="1"/>
              <p:nvPr/>
            </p:nvSpPr>
            <p:spPr>
              <a:xfrm>
                <a:off x="433883" y="1711966"/>
                <a:ext cx="11847017" cy="134484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𝒀𝑿</m:t>
                          </m:r>
                        </m:sub>
                      </m:sSub>
                      <m:r>
                        <a:rPr lang="ar-AE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num>
                            <m:den>
                              <m:r>
                                <a:rPr lang="en-US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den>
                          </m:f>
                        </m:e>
                      </m:d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num>
                            <m:den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num>
                            <m:den>
                              <m:r>
                                <a:rPr lang="ar-AE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den>
                          </m:f>
                        </m:e>
                      </m:d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ar-AE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num>
                            <m:den>
                              <m:r>
                                <a:rPr lang="ar-AE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den>
                          </m:f>
                        </m:e>
                      </m:d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𝐭𝐚𝐧</m:t>
                      </m:r>
                      <m:r>
                        <a:rPr lang="en-US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ar-AE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num>
                            <m:den>
                              <m:r>
                                <a:rPr lang="ar-AE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3" name="Through Regression we convert the data into a LINEAR equation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83" y="1711966"/>
                <a:ext cx="11847017" cy="13448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Significance of ‘h’ ???"/>
              <p:cNvSpPr txBox="1"/>
              <p:nvPr/>
            </p:nvSpPr>
            <p:spPr>
              <a:xfrm>
                <a:off x="1482472" y="3826577"/>
                <a:ext cx="9882437" cy="7728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 fontScale="92500"/>
              </a:bodyPr>
              <a:lstStyle>
                <a:lvl1pPr algn="just">
                  <a:defRPr sz="3700"/>
                </a:lvl1pPr>
              </a:lstStyle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Relatively Elastic:       </a:t>
                </a:r>
                <a14:m>
                  <m:oMath xmlns:m="http://schemas.openxmlformats.org/officeDocument/2006/math">
                    <m:r>
                      <a:rPr lang="en-US" sz="3200" b="1" i="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3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𝒊𝒎𝒑𝒍𝒊𝒄𝒂𝒕𝒊𝒐𝒏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endParaRPr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" name="Significance of ‘h’ ???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472" y="3826577"/>
                <a:ext cx="9882437" cy="772816"/>
              </a:xfrm>
              <a:prstGeom prst="rect">
                <a:avLst/>
              </a:prstGeom>
              <a:blipFill>
                <a:blip r:embed="rId4"/>
                <a:stretch>
                  <a:fillRect l="-1797" t="-819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ignificance of ‘h’ ???">
                <a:extLst>
                  <a:ext uri="{FF2B5EF4-FFF2-40B4-BE49-F238E27FC236}">
                    <a16:creationId xmlns:a16="http://schemas.microsoft.com/office/drawing/2014/main" id="{77A940AD-C91E-0748-B632-7F429BB5844E}"/>
                  </a:ext>
                </a:extLst>
              </p:cNvPr>
              <p:cNvSpPr txBox="1"/>
              <p:nvPr/>
            </p:nvSpPr>
            <p:spPr>
              <a:xfrm>
                <a:off x="1425027" y="4602086"/>
                <a:ext cx="10154746" cy="7728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algn="just">
                  <a:defRPr sz="3700"/>
                </a:lvl1pPr>
              </a:lstStyle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Relatively </a:t>
                </a:r>
                <a:r>
                  <a:rPr lang="en-US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Elastic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</a:t>
                </a:r>
                <a14:m>
                  <m:oMath xmlns:m="http://schemas.openxmlformats.org/officeDocument/2006/math">
                    <m:r>
                      <a:rPr lang="en-US" sz="3200" b="1" i="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3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𝒊𝒎𝒑𝒍𝒊𝒄𝒂𝒕𝒊𝒐𝒏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Significance of ‘h’ ???">
                <a:extLst>
                  <a:ext uri="{FF2B5EF4-FFF2-40B4-BE49-F238E27FC236}">
                    <a16:creationId xmlns:a16="http://schemas.microsoft.com/office/drawing/2014/main" id="{77A940AD-C91E-0748-B632-7F429BB58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027" y="4602086"/>
                <a:ext cx="10154746" cy="772816"/>
              </a:xfrm>
              <a:prstGeom prst="rect">
                <a:avLst/>
              </a:prstGeom>
              <a:blipFill>
                <a:blip r:embed="rId5"/>
                <a:stretch>
                  <a:fillRect l="-1998" t="-96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ignificance of ‘h’ ???">
                <a:extLst>
                  <a:ext uri="{FF2B5EF4-FFF2-40B4-BE49-F238E27FC236}">
                    <a16:creationId xmlns:a16="http://schemas.microsoft.com/office/drawing/2014/main" id="{DBEEA433-C187-7D47-A11F-237BE913DFD9}"/>
                  </a:ext>
                </a:extLst>
              </p:cNvPr>
              <p:cNvSpPr txBox="1"/>
              <p:nvPr/>
            </p:nvSpPr>
            <p:spPr>
              <a:xfrm>
                <a:off x="1425026" y="5499432"/>
                <a:ext cx="9882436" cy="7728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 fontScale="92500"/>
              </a:bodyPr>
              <a:lstStyle>
                <a:lvl1pPr algn="just">
                  <a:defRPr sz="3700"/>
                </a:lvl1pPr>
              </a:lstStyle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Unitary Elastic:           </a:t>
                </a:r>
                <a14:m>
                  <m:oMath xmlns:m="http://schemas.openxmlformats.org/officeDocument/2006/math">
                    <m:r>
                      <a:rPr lang="en-US" sz="3200" b="1" i="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𝒊𝒎𝒑𝒍𝒊𝒄𝒂𝒕𝒊𝒐𝒏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Significance of ‘h’ ???">
                <a:extLst>
                  <a:ext uri="{FF2B5EF4-FFF2-40B4-BE49-F238E27FC236}">
                    <a16:creationId xmlns:a16="http://schemas.microsoft.com/office/drawing/2014/main" id="{DBEEA433-C187-7D47-A11F-237BE913D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026" y="5499432"/>
                <a:ext cx="9882436" cy="772816"/>
              </a:xfrm>
              <a:prstGeom prst="rect">
                <a:avLst/>
              </a:prstGeom>
              <a:blipFill>
                <a:blip r:embed="rId6"/>
                <a:stretch>
                  <a:fillRect l="-1926" t="-806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ignificance of ‘h’ ???">
                <a:extLst>
                  <a:ext uri="{FF2B5EF4-FFF2-40B4-BE49-F238E27FC236}">
                    <a16:creationId xmlns:a16="http://schemas.microsoft.com/office/drawing/2014/main" id="{23A0B956-2870-5D44-936A-15E48B5B0BEA}"/>
                  </a:ext>
                </a:extLst>
              </p:cNvPr>
              <p:cNvSpPr txBox="1"/>
              <p:nvPr/>
            </p:nvSpPr>
            <p:spPr>
              <a:xfrm>
                <a:off x="1425026" y="6403969"/>
                <a:ext cx="11400485" cy="7728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 fontScale="92500"/>
              </a:bodyPr>
              <a:lstStyle>
                <a:lvl1pPr algn="just">
                  <a:defRPr sz="3700"/>
                </a:lvl1pPr>
              </a:lstStyle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Perfectly 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INElastic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</a:t>
                </a:r>
                <a14:m>
                  <m:oMath xmlns:m="http://schemas.openxmlformats.org/officeDocument/2006/math">
                    <m:r>
                      <a:rPr lang="en-US" sz="3200" b="1" i="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&amp;   </m:t>
                    </m:r>
                    <m:r>
                      <a:rPr lang="en-US" sz="3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𝒊𝒎𝒑𝒍𝒊𝒄𝒂𝒕𝒊𝒐𝒏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Significance of ‘h’ ???">
                <a:extLst>
                  <a:ext uri="{FF2B5EF4-FFF2-40B4-BE49-F238E27FC236}">
                    <a16:creationId xmlns:a16="http://schemas.microsoft.com/office/drawing/2014/main" id="{23A0B956-2870-5D44-936A-15E48B5B0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026" y="6403969"/>
                <a:ext cx="11400485" cy="772816"/>
              </a:xfrm>
              <a:prstGeom prst="rect">
                <a:avLst/>
              </a:prstGeom>
              <a:blipFill>
                <a:blip r:embed="rId7"/>
                <a:stretch>
                  <a:fillRect l="-1670" t="-819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ignificance of ‘h’ ???">
                <a:extLst>
                  <a:ext uri="{FF2B5EF4-FFF2-40B4-BE49-F238E27FC236}">
                    <a16:creationId xmlns:a16="http://schemas.microsoft.com/office/drawing/2014/main" id="{6349776F-2DBE-CC47-90F2-37FB42394E49}"/>
                  </a:ext>
                </a:extLst>
              </p:cNvPr>
              <p:cNvSpPr txBox="1"/>
              <p:nvPr/>
            </p:nvSpPr>
            <p:spPr>
              <a:xfrm>
                <a:off x="2437282" y="7393960"/>
                <a:ext cx="8130235" cy="7728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algn="just">
                  <a:defRPr sz="3700"/>
                </a:lvl1pPr>
              </a:lstStyle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92 + 2.67X    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3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YX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?   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70,  e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0.682</a:t>
                </a:r>
                <a:endParaRPr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Significance of ‘h’ ???">
                <a:extLst>
                  <a:ext uri="{FF2B5EF4-FFF2-40B4-BE49-F238E27FC236}">
                    <a16:creationId xmlns:a16="http://schemas.microsoft.com/office/drawing/2014/main" id="{6349776F-2DBE-CC47-90F2-37FB42394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282" y="7393960"/>
                <a:ext cx="8130235" cy="772816"/>
              </a:xfrm>
              <a:prstGeom prst="rect">
                <a:avLst/>
              </a:prstGeom>
              <a:blipFill>
                <a:blip r:embed="rId8"/>
                <a:stretch>
                  <a:fillRect l="-1092" t="-8065" b="-161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1963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54" grpId="0" animBg="1"/>
      <p:bldP spid="6" grpId="0" animBg="1"/>
      <p:bldP spid="11" grpId="0" animBg="1"/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Line"/>
          <p:cNvSpPr/>
          <p:nvPr/>
        </p:nvSpPr>
        <p:spPr>
          <a:xfrm flipV="1">
            <a:off x="2698898" y="2573783"/>
            <a:ext cx="1" cy="566905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Line"/>
          <p:cNvSpPr/>
          <p:nvPr/>
        </p:nvSpPr>
        <p:spPr>
          <a:xfrm>
            <a:off x="2140098" y="7785638"/>
            <a:ext cx="9366102" cy="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X"/>
          <p:cNvSpPr txBox="1"/>
          <p:nvPr/>
        </p:nvSpPr>
        <p:spPr>
          <a:xfrm>
            <a:off x="11127595" y="7905053"/>
            <a:ext cx="325410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44" name="Y"/>
          <p:cNvSpPr txBox="1"/>
          <p:nvPr/>
        </p:nvSpPr>
        <p:spPr>
          <a:xfrm>
            <a:off x="2287818" y="2763519"/>
            <a:ext cx="325410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9" name="Regression (contd.)">
            <a:extLst>
              <a:ext uri="{FF2B5EF4-FFF2-40B4-BE49-F238E27FC236}">
                <a16:creationId xmlns:a16="http://schemas.microsoft.com/office/drawing/2014/main" id="{352CA34A-FFFA-0143-B178-07542B729C49}"/>
              </a:ext>
            </a:extLst>
          </p:cNvPr>
          <p:cNvSpPr txBox="1">
            <a:spLocks/>
          </p:cNvSpPr>
          <p:nvPr/>
        </p:nvSpPr>
        <p:spPr>
          <a:xfrm>
            <a:off x="823259" y="285618"/>
            <a:ext cx="10464800" cy="639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ctr" defTabSz="25704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and Elasticity of X on 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7694F9-D000-8645-AC22-AE7FBE62289C}"/>
              </a:ext>
            </a:extLst>
          </p:cNvPr>
          <p:cNvGrpSpPr/>
          <p:nvPr/>
        </p:nvGrpSpPr>
        <p:grpSpPr>
          <a:xfrm>
            <a:off x="2698898" y="3676650"/>
            <a:ext cx="7474395" cy="3107204"/>
            <a:chOff x="3689498" y="3048000"/>
            <a:chExt cx="7474395" cy="3107204"/>
          </a:xfrm>
        </p:grpSpPr>
        <p:sp>
          <p:nvSpPr>
            <p:cNvPr id="148" name="Line"/>
            <p:cNvSpPr/>
            <p:nvPr/>
          </p:nvSpPr>
          <p:spPr>
            <a:xfrm>
              <a:off x="3689498" y="3048000"/>
              <a:ext cx="6962826" cy="2871242"/>
            </a:xfrm>
            <a:prstGeom prst="line">
              <a:avLst/>
            </a:prstGeom>
            <a:ln w="101600">
              <a:solidFill>
                <a:srgbClr val="9452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X">
              <a:extLst>
                <a:ext uri="{FF2B5EF4-FFF2-40B4-BE49-F238E27FC236}">
                  <a16:creationId xmlns:a16="http://schemas.microsoft.com/office/drawing/2014/main" id="{C83145A7-9BFF-E745-8F12-2A460DAD00AB}"/>
                </a:ext>
              </a:extLst>
            </p:cNvPr>
            <p:cNvSpPr txBox="1"/>
            <p:nvPr/>
          </p:nvSpPr>
          <p:spPr>
            <a:xfrm>
              <a:off x="10838483" y="5683280"/>
              <a:ext cx="325410" cy="4719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CEAAE10-CEF8-C94E-A3B9-005DD3E2A6C9}"/>
              </a:ext>
            </a:extLst>
          </p:cNvPr>
          <p:cNvGrpSpPr/>
          <p:nvPr/>
        </p:nvGrpSpPr>
        <p:grpSpPr>
          <a:xfrm>
            <a:off x="2698897" y="3676650"/>
            <a:ext cx="3806429" cy="3523082"/>
            <a:chOff x="3689497" y="3048000"/>
            <a:chExt cx="3806429" cy="3523082"/>
          </a:xfrm>
        </p:grpSpPr>
        <p:sp>
          <p:nvSpPr>
            <p:cNvPr id="20" name="Line">
              <a:extLst>
                <a:ext uri="{FF2B5EF4-FFF2-40B4-BE49-F238E27FC236}">
                  <a16:creationId xmlns:a16="http://schemas.microsoft.com/office/drawing/2014/main" id="{43B76BE0-28E8-5543-A288-10633F66C7B4}"/>
                </a:ext>
              </a:extLst>
            </p:cNvPr>
            <p:cNvSpPr/>
            <p:nvPr/>
          </p:nvSpPr>
          <p:spPr>
            <a:xfrm>
              <a:off x="3689497" y="3048000"/>
              <a:ext cx="3356762" cy="3280445"/>
            </a:xfrm>
            <a:prstGeom prst="line">
              <a:avLst/>
            </a:prstGeom>
            <a:ln w="101600">
              <a:solidFill>
                <a:srgbClr val="0070C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X">
              <a:extLst>
                <a:ext uri="{FF2B5EF4-FFF2-40B4-BE49-F238E27FC236}">
                  <a16:creationId xmlns:a16="http://schemas.microsoft.com/office/drawing/2014/main" id="{0334F41E-792B-0241-B7E7-30BF08D04AE7}"/>
                </a:ext>
              </a:extLst>
            </p:cNvPr>
            <p:cNvSpPr txBox="1"/>
            <p:nvPr/>
          </p:nvSpPr>
          <p:spPr>
            <a:xfrm>
              <a:off x="7176928" y="6099158"/>
              <a:ext cx="318998" cy="4719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A3F694-431D-464B-8086-9813777A72DE}"/>
              </a:ext>
            </a:extLst>
          </p:cNvPr>
          <p:cNvCxnSpPr/>
          <p:nvPr/>
        </p:nvCxnSpPr>
        <p:spPr>
          <a:xfrm>
            <a:off x="3868271" y="4232462"/>
            <a:ext cx="0" cy="3553175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3AE693-5BF0-1A43-A31E-C16FE34BA9FF}"/>
              </a:ext>
            </a:extLst>
          </p:cNvPr>
          <p:cNvCxnSpPr>
            <a:cxnSpLocks/>
          </p:cNvCxnSpPr>
          <p:nvPr/>
        </p:nvCxnSpPr>
        <p:spPr>
          <a:xfrm>
            <a:off x="4773706" y="4535342"/>
            <a:ext cx="0" cy="3250295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320136-10C6-5047-AD7C-7C7B38775004}"/>
              </a:ext>
            </a:extLst>
          </p:cNvPr>
          <p:cNvCxnSpPr>
            <a:cxnSpLocks/>
          </p:cNvCxnSpPr>
          <p:nvPr/>
        </p:nvCxnSpPr>
        <p:spPr>
          <a:xfrm>
            <a:off x="3868271" y="5782704"/>
            <a:ext cx="905435" cy="0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7FA3931-475B-C24E-B355-0C69E7D1463B}"/>
              </a:ext>
            </a:extLst>
          </p:cNvPr>
          <p:cNvGrpSpPr/>
          <p:nvPr/>
        </p:nvGrpSpPr>
        <p:grpSpPr>
          <a:xfrm>
            <a:off x="3016818" y="4817908"/>
            <a:ext cx="851453" cy="964796"/>
            <a:chOff x="4007418" y="4189258"/>
            <a:chExt cx="851453" cy="964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43E0FD-C0CC-3E4D-82E8-498DA2CEB506}"/>
                    </a:ext>
                  </a:extLst>
                </p:cNvPr>
                <p:cNvSpPr/>
                <p:nvPr/>
              </p:nvSpPr>
              <p:spPr>
                <a:xfrm>
                  <a:off x="4007418" y="4358221"/>
                  <a:ext cx="8114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43E0FD-C0CC-3E4D-82E8-498DA2CEB5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7418" y="4358221"/>
                  <a:ext cx="811441" cy="453137"/>
                </a:xfrm>
                <a:prstGeom prst="rect">
                  <a:avLst/>
                </a:prstGeom>
                <a:blipFill>
                  <a:blip r:embed="rId2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046621-E993-0D41-AE3C-276D38017077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71" y="4189258"/>
              <a:ext cx="0" cy="964796"/>
            </a:xfrm>
            <a:prstGeom prst="line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F1010B-ED21-5749-8BFC-8C552228BF77}"/>
              </a:ext>
            </a:extLst>
          </p:cNvPr>
          <p:cNvGrpSpPr/>
          <p:nvPr/>
        </p:nvGrpSpPr>
        <p:grpSpPr>
          <a:xfrm>
            <a:off x="3868271" y="3573654"/>
            <a:ext cx="1477200" cy="979617"/>
            <a:chOff x="4858871" y="2945004"/>
            <a:chExt cx="1477200" cy="97961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C5DC26-5CF7-E146-A0F7-8A990CC8E519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71" y="3536754"/>
              <a:ext cx="0" cy="387867"/>
            </a:xfrm>
            <a:prstGeom prst="line">
              <a:avLst/>
            </a:prstGeom>
            <a:noFill/>
            <a:ln w="6350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004912-8B31-2B4D-959C-BE2A242DECF0}"/>
                </a:ext>
              </a:extLst>
            </p:cNvPr>
            <p:cNvGrpSpPr/>
            <p:nvPr/>
          </p:nvGrpSpPr>
          <p:grpSpPr>
            <a:xfrm>
              <a:off x="4967251" y="2945004"/>
              <a:ext cx="1368820" cy="750829"/>
              <a:chOff x="4359396" y="3830132"/>
              <a:chExt cx="1368820" cy="7508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6595BB1F-1853-A241-A361-FD76C36E322B}"/>
                      </a:ext>
                    </a:extLst>
                  </p:cNvPr>
                  <p:cNvSpPr/>
                  <p:nvPr/>
                </p:nvSpPr>
                <p:spPr>
                  <a:xfrm>
                    <a:off x="4916775" y="3830132"/>
                    <a:ext cx="811441" cy="45313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1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6595BB1F-1853-A241-A361-FD76C36E32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6775" y="3830132"/>
                    <a:ext cx="811441" cy="45313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563" b="-216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1F0492C-CCAC-614C-B1CB-7934BB3696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9396" y="4149139"/>
                <a:ext cx="550252" cy="431822"/>
              </a:xfrm>
              <a:prstGeom prst="straightConnector1">
                <a:avLst/>
              </a:prstGeom>
              <a:noFill/>
              <a:ln w="63500" cap="flat">
                <a:solidFill>
                  <a:schemeClr val="accent6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856533C-D664-5746-BCB8-142633C629DB}"/>
              </a:ext>
            </a:extLst>
          </p:cNvPr>
          <p:cNvGrpSpPr/>
          <p:nvPr/>
        </p:nvGrpSpPr>
        <p:grpSpPr>
          <a:xfrm>
            <a:off x="3868271" y="4535342"/>
            <a:ext cx="905435" cy="469360"/>
            <a:chOff x="4858871" y="3906692"/>
            <a:chExt cx="905435" cy="46936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307598-C6BF-4348-B4D6-B5DA92E414A5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71" y="3906692"/>
              <a:ext cx="905435" cy="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C691044-119D-9148-8241-B4AE53A9C200}"/>
                    </a:ext>
                  </a:extLst>
                </p:cNvPr>
                <p:cNvSpPr/>
                <p:nvPr/>
              </p:nvSpPr>
              <p:spPr>
                <a:xfrm>
                  <a:off x="5015057" y="3922915"/>
                  <a:ext cx="7056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C691044-119D-9148-8241-B4AE53A9C2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057" y="3922915"/>
                  <a:ext cx="705641" cy="453137"/>
                </a:xfrm>
                <a:prstGeom prst="rect">
                  <a:avLst/>
                </a:prstGeom>
                <a:blipFill>
                  <a:blip r:embed="rId4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5F7A1F6-DAA6-DD4D-8037-4269D1CB7358}"/>
              </a:ext>
            </a:extLst>
          </p:cNvPr>
          <p:cNvGrpSpPr/>
          <p:nvPr/>
        </p:nvGrpSpPr>
        <p:grpSpPr>
          <a:xfrm>
            <a:off x="3998978" y="5848147"/>
            <a:ext cx="705641" cy="1804722"/>
            <a:chOff x="4989578" y="5219497"/>
            <a:chExt cx="705641" cy="18047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6404FA2-D983-054C-A8DD-75617FF4410B}"/>
                    </a:ext>
                  </a:extLst>
                </p:cNvPr>
                <p:cNvSpPr/>
                <p:nvPr/>
              </p:nvSpPr>
              <p:spPr>
                <a:xfrm>
                  <a:off x="4989578" y="6571082"/>
                  <a:ext cx="7056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6404FA2-D983-054C-A8DD-75617FF441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578" y="6571082"/>
                  <a:ext cx="705641" cy="453137"/>
                </a:xfrm>
                <a:prstGeom prst="rect">
                  <a:avLst/>
                </a:prstGeom>
                <a:blipFill>
                  <a:blip r:embed="rId5"/>
                  <a:stretch>
                    <a:fillRect b="-243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0A9BB8-1A69-7443-AE16-2AF478B46A55}"/>
                    </a:ext>
                  </a:extLst>
                </p:cNvPr>
                <p:cNvSpPr/>
                <p:nvPr/>
              </p:nvSpPr>
              <p:spPr>
                <a:xfrm>
                  <a:off x="4989578" y="5219497"/>
                  <a:ext cx="7056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0A9BB8-1A69-7443-AE16-2AF478B46A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578" y="5219497"/>
                  <a:ext cx="705641" cy="453137"/>
                </a:xfrm>
                <a:prstGeom prst="rect">
                  <a:avLst/>
                </a:prstGeom>
                <a:blipFill>
                  <a:blip r:embed="rId4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44BAEC-3089-4F41-912A-DE5D50B0D3A2}"/>
              </a:ext>
            </a:extLst>
          </p:cNvPr>
          <p:cNvGrpSpPr/>
          <p:nvPr/>
        </p:nvGrpSpPr>
        <p:grpSpPr>
          <a:xfrm>
            <a:off x="6253140" y="2475379"/>
            <a:ext cx="1720966" cy="1543863"/>
            <a:chOff x="7243740" y="1846729"/>
            <a:chExt cx="1720966" cy="1543863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05F101-0D22-5143-830F-4AD2637BA877}"/>
                </a:ext>
              </a:extLst>
            </p:cNvPr>
            <p:cNvCxnSpPr>
              <a:cxnSpLocks/>
            </p:cNvCxnSpPr>
            <p:nvPr/>
          </p:nvCxnSpPr>
          <p:spPr>
            <a:xfrm>
              <a:off x="8050306" y="1846729"/>
              <a:ext cx="8965" cy="1063200"/>
            </a:xfrm>
            <a:prstGeom prst="line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1CA3F3-2D3F-F747-A1D3-5CE1E6533D30}"/>
                </a:ext>
              </a:extLst>
            </p:cNvPr>
            <p:cNvCxnSpPr>
              <a:cxnSpLocks/>
            </p:cNvCxnSpPr>
            <p:nvPr/>
          </p:nvCxnSpPr>
          <p:spPr>
            <a:xfrm>
              <a:off x="8023412" y="2868054"/>
              <a:ext cx="905435" cy="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7" name="Line">
              <a:extLst>
                <a:ext uri="{FF2B5EF4-FFF2-40B4-BE49-F238E27FC236}">
                  <a16:creationId xmlns:a16="http://schemas.microsoft.com/office/drawing/2014/main" id="{37A7C80F-7FCF-E64A-AD71-28385A73E298}"/>
                </a:ext>
              </a:extLst>
            </p:cNvPr>
            <p:cNvSpPr/>
            <p:nvPr/>
          </p:nvSpPr>
          <p:spPr>
            <a:xfrm>
              <a:off x="8114131" y="1873609"/>
              <a:ext cx="850575" cy="994445"/>
            </a:xfrm>
            <a:prstGeom prst="line">
              <a:avLst/>
            </a:prstGeom>
            <a:ln w="101600">
              <a:solidFill>
                <a:srgbClr val="0070C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23436D0-0436-AC49-8F20-BA93225BEFF6}"/>
                    </a:ext>
                  </a:extLst>
                </p:cNvPr>
                <p:cNvSpPr/>
                <p:nvPr/>
              </p:nvSpPr>
              <p:spPr>
                <a:xfrm>
                  <a:off x="7243740" y="2069972"/>
                  <a:ext cx="8114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23436D0-0436-AC49-8F20-BA93225BEF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3740" y="2069972"/>
                  <a:ext cx="811441" cy="453137"/>
                </a:xfrm>
                <a:prstGeom prst="rect">
                  <a:avLst/>
                </a:prstGeom>
                <a:blipFill>
                  <a:blip r:embed="rId6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7CF8853-ED05-6D41-91DD-9BEA88291D88}"/>
                    </a:ext>
                  </a:extLst>
                </p:cNvPr>
                <p:cNvSpPr/>
                <p:nvPr/>
              </p:nvSpPr>
              <p:spPr>
                <a:xfrm>
                  <a:off x="8117738" y="2937455"/>
                  <a:ext cx="7056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7CF8853-ED05-6D41-91DD-9BEA88291D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7738" y="2937455"/>
                  <a:ext cx="705641" cy="453137"/>
                </a:xfrm>
                <a:prstGeom prst="rect">
                  <a:avLst/>
                </a:prstGeom>
                <a:blipFill>
                  <a:blip r:embed="rId7"/>
                  <a:stretch>
                    <a:fillRect l="-1786"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6243D5-C53E-2944-BC04-388FFD27F615}"/>
              </a:ext>
            </a:extLst>
          </p:cNvPr>
          <p:cNvGrpSpPr/>
          <p:nvPr/>
        </p:nvGrpSpPr>
        <p:grpSpPr>
          <a:xfrm>
            <a:off x="8865610" y="2892171"/>
            <a:ext cx="1701947" cy="1008580"/>
            <a:chOff x="9231126" y="2406634"/>
            <a:chExt cx="1701947" cy="100858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59B549E-42D3-5F40-9439-A2519B3960A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598" y="2439270"/>
              <a:ext cx="0" cy="387867"/>
            </a:xfrm>
            <a:prstGeom prst="line">
              <a:avLst/>
            </a:prstGeom>
            <a:noFill/>
            <a:ln w="6350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388F6EB-7E7A-DA43-90DB-83BEB0083CFF}"/>
                </a:ext>
              </a:extLst>
            </p:cNvPr>
            <p:cNvCxnSpPr>
              <a:cxnSpLocks/>
            </p:cNvCxnSpPr>
            <p:nvPr/>
          </p:nvCxnSpPr>
          <p:spPr>
            <a:xfrm>
              <a:off x="10007998" y="2868054"/>
              <a:ext cx="905435" cy="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4" name="Line">
              <a:extLst>
                <a:ext uri="{FF2B5EF4-FFF2-40B4-BE49-F238E27FC236}">
                  <a16:creationId xmlns:a16="http://schemas.microsoft.com/office/drawing/2014/main" id="{32A87CFB-6B6B-964B-BD1B-593214AF1CEF}"/>
                </a:ext>
              </a:extLst>
            </p:cNvPr>
            <p:cNvSpPr/>
            <p:nvPr/>
          </p:nvSpPr>
          <p:spPr>
            <a:xfrm>
              <a:off x="10042567" y="2414621"/>
              <a:ext cx="890506" cy="367540"/>
            </a:xfrm>
            <a:prstGeom prst="line">
              <a:avLst/>
            </a:prstGeom>
            <a:ln w="101600">
              <a:solidFill>
                <a:srgbClr val="9452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EC4F1F2-284E-8F4F-AE8A-B28467BDA72A}"/>
                    </a:ext>
                  </a:extLst>
                </p:cNvPr>
                <p:cNvSpPr/>
                <p:nvPr/>
              </p:nvSpPr>
              <p:spPr>
                <a:xfrm>
                  <a:off x="9231126" y="2406634"/>
                  <a:ext cx="8114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EC4F1F2-284E-8F4F-AE8A-B28467BDA7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126" y="2406634"/>
                  <a:ext cx="811441" cy="453137"/>
                </a:xfrm>
                <a:prstGeom prst="rect">
                  <a:avLst/>
                </a:prstGeom>
                <a:blipFill>
                  <a:blip r:embed="rId8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51518A6-EE8C-354C-99C3-BD918043C482}"/>
                    </a:ext>
                  </a:extLst>
                </p:cNvPr>
                <p:cNvSpPr/>
                <p:nvPr/>
              </p:nvSpPr>
              <p:spPr>
                <a:xfrm>
                  <a:off x="10042567" y="2962077"/>
                  <a:ext cx="7056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51518A6-EE8C-354C-99C3-BD918043C4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567" y="2962077"/>
                  <a:ext cx="705641" cy="453137"/>
                </a:xfrm>
                <a:prstGeom prst="rect">
                  <a:avLst/>
                </a:prstGeom>
                <a:blipFill>
                  <a:blip r:embed="rId9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48ADE7-4320-D34B-ABA3-7DF1DDD45928}"/>
              </a:ext>
            </a:extLst>
          </p:cNvPr>
          <p:cNvGrpSpPr/>
          <p:nvPr/>
        </p:nvGrpSpPr>
        <p:grpSpPr>
          <a:xfrm>
            <a:off x="5273930" y="5528389"/>
            <a:ext cx="4441983" cy="986831"/>
            <a:chOff x="6264530" y="4899739"/>
            <a:chExt cx="4441983" cy="986831"/>
          </a:xfrm>
        </p:grpSpPr>
        <p:sp>
          <p:nvSpPr>
            <p:cNvPr id="46" name="Regression (contd.)">
              <a:extLst>
                <a:ext uri="{FF2B5EF4-FFF2-40B4-BE49-F238E27FC236}">
                  <a16:creationId xmlns:a16="http://schemas.microsoft.com/office/drawing/2014/main" id="{CC50EE87-D7C4-6043-96A7-F6CFA6BE5DD5}"/>
                </a:ext>
              </a:extLst>
            </p:cNvPr>
            <p:cNvSpPr txBox="1">
              <a:spLocks/>
            </p:cNvSpPr>
            <p:nvPr/>
          </p:nvSpPr>
          <p:spPr>
            <a:xfrm>
              <a:off x="9319972" y="4899739"/>
              <a:ext cx="1386541" cy="6395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257047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52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9pPr>
            </a:lstStyle>
            <a:p>
              <a:pPr hangingPunct="1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RIE</a:t>
              </a:r>
            </a:p>
          </p:txBody>
        </p:sp>
        <p:sp>
          <p:nvSpPr>
            <p:cNvPr id="47" name="Regression (contd.)">
              <a:extLst>
                <a:ext uri="{FF2B5EF4-FFF2-40B4-BE49-F238E27FC236}">
                  <a16:creationId xmlns:a16="http://schemas.microsoft.com/office/drawing/2014/main" id="{58CA947D-B5C2-744A-9C8B-38A40482E64B}"/>
                </a:ext>
              </a:extLst>
            </p:cNvPr>
            <p:cNvSpPr txBox="1">
              <a:spLocks/>
            </p:cNvSpPr>
            <p:nvPr/>
          </p:nvSpPr>
          <p:spPr>
            <a:xfrm>
              <a:off x="6264530" y="5247055"/>
              <a:ext cx="1386541" cy="6395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257047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52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9pPr>
            </a:lstStyle>
            <a:p>
              <a:pPr hangingPunct="1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7100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Line"/>
          <p:cNvSpPr/>
          <p:nvPr/>
        </p:nvSpPr>
        <p:spPr>
          <a:xfrm flipH="1" flipV="1">
            <a:off x="3537097" y="1962970"/>
            <a:ext cx="1" cy="6718017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Line"/>
          <p:cNvSpPr/>
          <p:nvPr/>
        </p:nvSpPr>
        <p:spPr>
          <a:xfrm>
            <a:off x="2978298" y="8223787"/>
            <a:ext cx="7562290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X"/>
          <p:cNvSpPr txBox="1"/>
          <p:nvPr/>
        </p:nvSpPr>
        <p:spPr>
          <a:xfrm>
            <a:off x="9870295" y="8311138"/>
            <a:ext cx="325410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44" name="Y"/>
          <p:cNvSpPr txBox="1"/>
          <p:nvPr/>
        </p:nvSpPr>
        <p:spPr>
          <a:xfrm>
            <a:off x="3074432" y="2099390"/>
            <a:ext cx="325410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9" name="Regression (contd.)">
            <a:extLst>
              <a:ext uri="{FF2B5EF4-FFF2-40B4-BE49-F238E27FC236}">
                <a16:creationId xmlns:a16="http://schemas.microsoft.com/office/drawing/2014/main" id="{352CA34A-FFFA-0143-B178-07542B729C49}"/>
              </a:ext>
            </a:extLst>
          </p:cNvPr>
          <p:cNvSpPr txBox="1">
            <a:spLocks/>
          </p:cNvSpPr>
          <p:nvPr/>
        </p:nvSpPr>
        <p:spPr>
          <a:xfrm>
            <a:off x="1096625" y="385887"/>
            <a:ext cx="10464800" cy="639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ctr" defTabSz="25704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and Elasticity of X on Y</a:t>
            </a:r>
          </a:p>
        </p:txBody>
      </p:sp>
      <p:sp>
        <p:nvSpPr>
          <p:cNvPr id="148" name="Line"/>
          <p:cNvSpPr/>
          <p:nvPr/>
        </p:nvSpPr>
        <p:spPr>
          <a:xfrm rot="19610237">
            <a:off x="3119246" y="4935839"/>
            <a:ext cx="7210178" cy="677739"/>
          </a:xfrm>
          <a:prstGeom prst="line">
            <a:avLst/>
          </a:prstGeom>
          <a:ln w="101600">
            <a:solidFill>
              <a:srgbClr val="9452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EAAE10-CEF8-C94E-A3B9-005DD3E2A6C9}"/>
              </a:ext>
            </a:extLst>
          </p:cNvPr>
          <p:cNvGrpSpPr/>
          <p:nvPr/>
        </p:nvGrpSpPr>
        <p:grpSpPr>
          <a:xfrm rot="17847586">
            <a:off x="3702246" y="3610955"/>
            <a:ext cx="5054979" cy="3517285"/>
            <a:chOff x="3379586" y="3053797"/>
            <a:chExt cx="5054979" cy="3517285"/>
          </a:xfrm>
        </p:grpSpPr>
        <p:sp>
          <p:nvSpPr>
            <p:cNvPr id="20" name="Line">
              <a:extLst>
                <a:ext uri="{FF2B5EF4-FFF2-40B4-BE49-F238E27FC236}">
                  <a16:creationId xmlns:a16="http://schemas.microsoft.com/office/drawing/2014/main" id="{43B76BE0-28E8-5543-A288-10633F66C7B4}"/>
                </a:ext>
              </a:extLst>
            </p:cNvPr>
            <p:cNvSpPr/>
            <p:nvPr/>
          </p:nvSpPr>
          <p:spPr>
            <a:xfrm flipV="1">
              <a:off x="3379586" y="3053797"/>
              <a:ext cx="5054979" cy="69522"/>
            </a:xfrm>
            <a:prstGeom prst="line">
              <a:avLst/>
            </a:prstGeom>
            <a:ln w="101600">
              <a:solidFill>
                <a:srgbClr val="0070C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X">
              <a:extLst>
                <a:ext uri="{FF2B5EF4-FFF2-40B4-BE49-F238E27FC236}">
                  <a16:creationId xmlns:a16="http://schemas.microsoft.com/office/drawing/2014/main" id="{0334F41E-792B-0241-B7E7-30BF08D04AE7}"/>
                </a:ext>
              </a:extLst>
            </p:cNvPr>
            <p:cNvSpPr txBox="1"/>
            <p:nvPr/>
          </p:nvSpPr>
          <p:spPr>
            <a:xfrm>
              <a:off x="7285099" y="6099158"/>
              <a:ext cx="102657" cy="4719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A3F694-431D-464B-8086-9813777A72DE}"/>
              </a:ext>
            </a:extLst>
          </p:cNvPr>
          <p:cNvCxnSpPr/>
          <p:nvPr/>
        </p:nvCxnSpPr>
        <p:spPr>
          <a:xfrm>
            <a:off x="4658912" y="4620075"/>
            <a:ext cx="0" cy="3553175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3AE693-5BF0-1A43-A31E-C16FE34BA9FF}"/>
              </a:ext>
            </a:extLst>
          </p:cNvPr>
          <p:cNvCxnSpPr>
            <a:cxnSpLocks/>
          </p:cNvCxnSpPr>
          <p:nvPr/>
        </p:nvCxnSpPr>
        <p:spPr>
          <a:xfrm>
            <a:off x="5528825" y="2940409"/>
            <a:ext cx="83081" cy="5283378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320136-10C6-5047-AD7C-7C7B38775004}"/>
              </a:ext>
            </a:extLst>
          </p:cNvPr>
          <p:cNvCxnSpPr>
            <a:cxnSpLocks/>
          </p:cNvCxnSpPr>
          <p:nvPr/>
        </p:nvCxnSpPr>
        <p:spPr>
          <a:xfrm>
            <a:off x="4676354" y="6396662"/>
            <a:ext cx="905435" cy="0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7FA3931-475B-C24E-B355-0C69E7D1463B}"/>
              </a:ext>
            </a:extLst>
          </p:cNvPr>
          <p:cNvGrpSpPr/>
          <p:nvPr/>
        </p:nvGrpSpPr>
        <p:grpSpPr>
          <a:xfrm>
            <a:off x="5625397" y="5878158"/>
            <a:ext cx="926847" cy="518504"/>
            <a:chOff x="5777797" y="4811358"/>
            <a:chExt cx="926847" cy="5185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43E0FD-C0CC-3E4D-82E8-498DA2CEB506}"/>
                    </a:ext>
                  </a:extLst>
                </p:cNvPr>
                <p:cNvSpPr/>
                <p:nvPr/>
              </p:nvSpPr>
              <p:spPr>
                <a:xfrm>
                  <a:off x="5893203" y="4853050"/>
                  <a:ext cx="8114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43E0FD-C0CC-3E4D-82E8-498DA2CEB5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203" y="4853050"/>
                  <a:ext cx="811441" cy="453137"/>
                </a:xfrm>
                <a:prstGeom prst="rect">
                  <a:avLst/>
                </a:prstGeom>
                <a:blipFill>
                  <a:blip r:embed="rId2"/>
                  <a:stretch>
                    <a:fillRect l="-15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046621-E993-0D41-AE3C-276D38017077}"/>
                </a:ext>
              </a:extLst>
            </p:cNvPr>
            <p:cNvCxnSpPr>
              <a:cxnSpLocks/>
            </p:cNvCxnSpPr>
            <p:nvPr/>
          </p:nvCxnSpPr>
          <p:spPr>
            <a:xfrm>
              <a:off x="5777797" y="4811358"/>
              <a:ext cx="0" cy="518504"/>
            </a:xfrm>
            <a:prstGeom prst="line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F1010B-ED21-5749-8BFC-8C552228BF77}"/>
              </a:ext>
            </a:extLst>
          </p:cNvPr>
          <p:cNvGrpSpPr/>
          <p:nvPr/>
        </p:nvGrpSpPr>
        <p:grpSpPr>
          <a:xfrm>
            <a:off x="5517584" y="2950441"/>
            <a:ext cx="811441" cy="1602652"/>
            <a:chOff x="5669984" y="1883641"/>
            <a:chExt cx="811441" cy="1602652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C5DC26-5CF7-E146-A0F7-8A990CC8E519}"/>
                </a:ext>
              </a:extLst>
            </p:cNvPr>
            <p:cNvCxnSpPr>
              <a:cxnSpLocks/>
            </p:cNvCxnSpPr>
            <p:nvPr/>
          </p:nvCxnSpPr>
          <p:spPr>
            <a:xfrm>
              <a:off x="5695219" y="1883641"/>
              <a:ext cx="38970" cy="1602652"/>
            </a:xfrm>
            <a:prstGeom prst="line">
              <a:avLst/>
            </a:prstGeom>
            <a:noFill/>
            <a:ln w="6350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595BB1F-1853-A241-A361-FD76C36E322B}"/>
                    </a:ext>
                  </a:extLst>
                </p:cNvPr>
                <p:cNvSpPr/>
                <p:nvPr/>
              </p:nvSpPr>
              <p:spPr>
                <a:xfrm>
                  <a:off x="5669984" y="2445298"/>
                  <a:ext cx="8114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595BB1F-1853-A241-A361-FD76C36E32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9984" y="2445298"/>
                  <a:ext cx="811441" cy="453137"/>
                </a:xfrm>
                <a:prstGeom prst="rect">
                  <a:avLst/>
                </a:prstGeom>
                <a:blipFill>
                  <a:blip r:embed="rId3"/>
                  <a:stretch>
                    <a:fillRect l="-153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856533C-D664-5746-BCB8-142633C629DB}"/>
              </a:ext>
            </a:extLst>
          </p:cNvPr>
          <p:cNvGrpSpPr/>
          <p:nvPr/>
        </p:nvGrpSpPr>
        <p:grpSpPr>
          <a:xfrm>
            <a:off x="4719962" y="4620075"/>
            <a:ext cx="905435" cy="469360"/>
            <a:chOff x="4858871" y="3906692"/>
            <a:chExt cx="905435" cy="46936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307598-C6BF-4348-B4D6-B5DA92E414A5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71" y="3906692"/>
              <a:ext cx="905435" cy="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C691044-119D-9148-8241-B4AE53A9C200}"/>
                    </a:ext>
                  </a:extLst>
                </p:cNvPr>
                <p:cNvSpPr/>
                <p:nvPr/>
              </p:nvSpPr>
              <p:spPr>
                <a:xfrm>
                  <a:off x="5015057" y="3922915"/>
                  <a:ext cx="7056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C691044-119D-9148-8241-B4AE53A9C2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057" y="3922915"/>
                  <a:ext cx="705641" cy="453137"/>
                </a:xfrm>
                <a:prstGeom prst="rect">
                  <a:avLst/>
                </a:prstGeom>
                <a:blipFill>
                  <a:blip r:embed="rId4"/>
                  <a:stretch>
                    <a:fillRect l="-178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5F7A1F6-DAA6-DD4D-8037-4269D1CB7358}"/>
              </a:ext>
            </a:extLst>
          </p:cNvPr>
          <p:cNvGrpSpPr/>
          <p:nvPr/>
        </p:nvGrpSpPr>
        <p:grpSpPr>
          <a:xfrm>
            <a:off x="4817155" y="6380294"/>
            <a:ext cx="725664" cy="1710725"/>
            <a:chOff x="4969555" y="5313494"/>
            <a:chExt cx="725664" cy="17107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6404FA2-D983-054C-A8DD-75617FF4410B}"/>
                    </a:ext>
                  </a:extLst>
                </p:cNvPr>
                <p:cNvSpPr/>
                <p:nvPr/>
              </p:nvSpPr>
              <p:spPr>
                <a:xfrm>
                  <a:off x="4989578" y="6571082"/>
                  <a:ext cx="7056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6404FA2-D983-054C-A8DD-75617FF441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578" y="6571082"/>
                  <a:ext cx="705641" cy="453137"/>
                </a:xfrm>
                <a:prstGeom prst="rect">
                  <a:avLst/>
                </a:prstGeom>
                <a:blipFill>
                  <a:blip r:embed="rId5"/>
                  <a:stretch>
                    <a:fillRect l="-178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0A9BB8-1A69-7443-AE16-2AF478B46A55}"/>
                    </a:ext>
                  </a:extLst>
                </p:cNvPr>
                <p:cNvSpPr/>
                <p:nvPr/>
              </p:nvSpPr>
              <p:spPr>
                <a:xfrm>
                  <a:off x="4969555" y="5313494"/>
                  <a:ext cx="705641" cy="4531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0A9BB8-1A69-7443-AE16-2AF478B46A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555" y="5313494"/>
                  <a:ext cx="705641" cy="453137"/>
                </a:xfrm>
                <a:prstGeom prst="rect">
                  <a:avLst/>
                </a:prstGeom>
                <a:blipFill>
                  <a:blip r:embed="rId6"/>
                  <a:stretch>
                    <a:fillRect l="-1786"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48ADE7-4320-D34B-ABA3-7DF1DDD45928}"/>
              </a:ext>
            </a:extLst>
          </p:cNvPr>
          <p:cNvGrpSpPr/>
          <p:nvPr/>
        </p:nvGrpSpPr>
        <p:grpSpPr>
          <a:xfrm>
            <a:off x="5570365" y="1970738"/>
            <a:ext cx="5576687" cy="1994497"/>
            <a:chOff x="5722765" y="903938"/>
            <a:chExt cx="5576687" cy="1994497"/>
          </a:xfrm>
        </p:grpSpPr>
        <p:sp>
          <p:nvSpPr>
            <p:cNvPr id="46" name="Regression (contd.)">
              <a:extLst>
                <a:ext uri="{FF2B5EF4-FFF2-40B4-BE49-F238E27FC236}">
                  <a16:creationId xmlns:a16="http://schemas.microsoft.com/office/drawing/2014/main" id="{CC50EE87-D7C4-6043-96A7-F6CFA6BE5DD5}"/>
                </a:ext>
              </a:extLst>
            </p:cNvPr>
            <p:cNvSpPr txBox="1">
              <a:spLocks/>
            </p:cNvSpPr>
            <p:nvPr/>
          </p:nvSpPr>
          <p:spPr>
            <a:xfrm>
              <a:off x="9912911" y="2258920"/>
              <a:ext cx="1386541" cy="6395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257047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52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9pPr>
            </a:lstStyle>
            <a:p>
              <a:pPr hangingPunct="1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RIE</a:t>
              </a:r>
            </a:p>
          </p:txBody>
        </p:sp>
        <p:sp>
          <p:nvSpPr>
            <p:cNvPr id="47" name="Regression (contd.)">
              <a:extLst>
                <a:ext uri="{FF2B5EF4-FFF2-40B4-BE49-F238E27FC236}">
                  <a16:creationId xmlns:a16="http://schemas.microsoft.com/office/drawing/2014/main" id="{58CA947D-B5C2-744A-9C8B-38A40482E64B}"/>
                </a:ext>
              </a:extLst>
            </p:cNvPr>
            <p:cNvSpPr txBox="1">
              <a:spLocks/>
            </p:cNvSpPr>
            <p:nvPr/>
          </p:nvSpPr>
          <p:spPr>
            <a:xfrm>
              <a:off x="5722765" y="903938"/>
              <a:ext cx="1386541" cy="6395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257047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52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9pPr>
            </a:lstStyle>
            <a:p>
              <a:pPr hangingPunct="1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7ED924-0F80-3C47-A463-50051D4C3FCA}"/>
              </a:ext>
            </a:extLst>
          </p:cNvPr>
          <p:cNvGrpSpPr/>
          <p:nvPr/>
        </p:nvGrpSpPr>
        <p:grpSpPr>
          <a:xfrm>
            <a:off x="7785268" y="6245039"/>
            <a:ext cx="1777808" cy="940900"/>
            <a:chOff x="7937668" y="5178239"/>
            <a:chExt cx="1777808" cy="9409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7EDCDD9-A3FA-AC40-8253-8B6D91D0F380}"/>
                </a:ext>
              </a:extLst>
            </p:cNvPr>
            <p:cNvGrpSpPr/>
            <p:nvPr/>
          </p:nvGrpSpPr>
          <p:grpSpPr>
            <a:xfrm>
              <a:off x="7998600" y="5178239"/>
              <a:ext cx="1716876" cy="940900"/>
              <a:chOff x="7257729" y="2467038"/>
              <a:chExt cx="1716876" cy="94090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FB122AC-0062-EC40-A899-7D8C9FBC86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1786" y="2467038"/>
                <a:ext cx="4483" cy="386128"/>
              </a:xfrm>
              <a:prstGeom prst="line">
                <a:avLst/>
              </a:prstGeom>
              <a:noFill/>
              <a:ln w="63500" cap="flat">
                <a:solidFill>
                  <a:srgbClr val="FF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FBF1D67-D04D-2847-9026-B24CA9A14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29" y="2907349"/>
                <a:ext cx="905435" cy="0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1B7A26DF-2416-E84B-930C-FF3E7FA7F22B}"/>
                      </a:ext>
                    </a:extLst>
                  </p:cNvPr>
                  <p:cNvSpPr/>
                  <p:nvPr/>
                </p:nvSpPr>
                <p:spPr>
                  <a:xfrm>
                    <a:off x="8163164" y="2467038"/>
                    <a:ext cx="811441" cy="45313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1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1B7A26DF-2416-E84B-930C-FF3E7FA7F2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3164" y="2467038"/>
                    <a:ext cx="811441" cy="4531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538" b="-216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38F26E31-14D5-0443-9CA9-8F245863D823}"/>
                      </a:ext>
                    </a:extLst>
                  </p:cNvPr>
                  <p:cNvSpPr/>
                  <p:nvPr/>
                </p:nvSpPr>
                <p:spPr>
                  <a:xfrm>
                    <a:off x="7426145" y="2954801"/>
                    <a:ext cx="705641" cy="45313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oMath>
                      </m:oMathPara>
                    </a14:m>
                    <a:endParaRPr 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38F26E31-14D5-0443-9CA9-8F245863D8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6145" y="2954801"/>
                    <a:ext cx="705641" cy="4531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786" b="-243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0" name="Line">
              <a:extLst>
                <a:ext uri="{FF2B5EF4-FFF2-40B4-BE49-F238E27FC236}">
                  <a16:creationId xmlns:a16="http://schemas.microsoft.com/office/drawing/2014/main" id="{33253F0D-F772-3246-82C9-AAEB9F831F71}"/>
                </a:ext>
              </a:extLst>
            </p:cNvPr>
            <p:cNvSpPr/>
            <p:nvPr/>
          </p:nvSpPr>
          <p:spPr>
            <a:xfrm rot="19610237">
              <a:off x="7937668" y="5342622"/>
              <a:ext cx="998958" cy="74676"/>
            </a:xfrm>
            <a:prstGeom prst="line">
              <a:avLst/>
            </a:prstGeom>
            <a:ln w="101600">
              <a:solidFill>
                <a:srgbClr val="9452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DF4607-761C-CD44-9CB3-1704517AD4CB}"/>
              </a:ext>
            </a:extLst>
          </p:cNvPr>
          <p:cNvGrpSpPr/>
          <p:nvPr/>
        </p:nvGrpSpPr>
        <p:grpSpPr>
          <a:xfrm>
            <a:off x="10453781" y="5093353"/>
            <a:ext cx="1709689" cy="2024559"/>
            <a:chOff x="10606181" y="4026553"/>
            <a:chExt cx="1709689" cy="202455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C453977-68DE-AF45-A142-AC2366E36CA9}"/>
                </a:ext>
              </a:extLst>
            </p:cNvPr>
            <p:cNvGrpSpPr/>
            <p:nvPr/>
          </p:nvGrpSpPr>
          <p:grpSpPr>
            <a:xfrm>
              <a:off x="10606181" y="4155623"/>
              <a:ext cx="1709689" cy="1895489"/>
              <a:chOff x="9240226" y="1587535"/>
              <a:chExt cx="1709689" cy="1895489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D830AE1-9297-FC4A-9A98-59CC7D898F10}"/>
                  </a:ext>
                </a:extLst>
              </p:cNvPr>
              <p:cNvCxnSpPr>
                <a:cxnSpLocks/>
                <a:stCxn id="51" idx="1"/>
              </p:cNvCxnSpPr>
              <p:nvPr/>
            </p:nvCxnSpPr>
            <p:spPr>
              <a:xfrm>
                <a:off x="10138474" y="1587535"/>
                <a:ext cx="0" cy="1438343"/>
              </a:xfrm>
              <a:prstGeom prst="line">
                <a:avLst/>
              </a:prstGeom>
              <a:noFill/>
              <a:ln w="63500" cap="flat">
                <a:solidFill>
                  <a:schemeClr val="accent3">
                    <a:lumMod val="50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FFEB43E-6A27-874E-A19C-6F4D9D1F14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40226" y="2961457"/>
                <a:ext cx="898248" cy="620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14D53B9F-23BE-E548-96FE-381F7899321E}"/>
                      </a:ext>
                    </a:extLst>
                  </p:cNvPr>
                  <p:cNvSpPr/>
                  <p:nvPr/>
                </p:nvSpPr>
                <p:spPr>
                  <a:xfrm>
                    <a:off x="10138474" y="2010171"/>
                    <a:ext cx="811441" cy="45313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1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14D53B9F-23BE-E548-96FE-381F7899321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8474" y="2010171"/>
                    <a:ext cx="811441" cy="4531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16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DD5F2259-A6A5-5A46-A0C5-05AD5A90FFD1}"/>
                      </a:ext>
                    </a:extLst>
                  </p:cNvPr>
                  <p:cNvSpPr/>
                  <p:nvPr/>
                </p:nvSpPr>
                <p:spPr>
                  <a:xfrm>
                    <a:off x="9284026" y="3029887"/>
                    <a:ext cx="705641" cy="45313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oMath>
                      </m:oMathPara>
                    </a14:m>
                    <a:endParaRPr 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DD5F2259-A6A5-5A46-A0C5-05AD5A90FFD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84026" y="3029887"/>
                    <a:ext cx="705641" cy="4531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16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1" name="Line">
              <a:extLst>
                <a:ext uri="{FF2B5EF4-FFF2-40B4-BE49-F238E27FC236}">
                  <a16:creationId xmlns:a16="http://schemas.microsoft.com/office/drawing/2014/main" id="{67D06015-C108-8040-B408-68973254B5A6}"/>
                </a:ext>
              </a:extLst>
            </p:cNvPr>
            <p:cNvSpPr/>
            <p:nvPr/>
          </p:nvSpPr>
          <p:spPr>
            <a:xfrm rot="17847586">
              <a:off x="10247555" y="4755158"/>
              <a:ext cx="1620969" cy="163759"/>
            </a:xfrm>
            <a:prstGeom prst="line">
              <a:avLst/>
            </a:prstGeom>
            <a:ln w="101600">
              <a:solidFill>
                <a:srgbClr val="0070C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51863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gression"/>
          <p:cNvSpPr txBox="1">
            <a:spLocks noGrp="1"/>
          </p:cNvSpPr>
          <p:nvPr>
            <p:ph type="ctrTitle"/>
          </p:nvPr>
        </p:nvSpPr>
        <p:spPr>
          <a:xfrm>
            <a:off x="964826" y="1881978"/>
            <a:ext cx="11075147" cy="5118031"/>
          </a:xfrm>
          <a:prstGeom prst="rect">
            <a:avLst/>
          </a:prstGeom>
        </p:spPr>
        <p:txBody>
          <a:bodyPr>
            <a:noAutofit/>
          </a:bodyPr>
          <a:lstStyle>
            <a:lvl1pPr defTabSz="554990">
              <a:defRPr sz="7600"/>
            </a:lvl1pPr>
          </a:lstStyle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CONCAVITY and CONVEXITY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INFLEXION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lvn5kw2</a:t>
            </a:r>
          </a:p>
        </p:txBody>
      </p:sp>
    </p:spTree>
    <p:extLst>
      <p:ext uri="{BB962C8B-B14F-4D97-AF65-F5344CB8AC3E}">
        <p14:creationId xmlns:p14="http://schemas.microsoft.com/office/powerpoint/2010/main" val="256548144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7B8306-0A48-064A-89BD-F1BCAA29E85C}"/>
              </a:ext>
            </a:extLst>
          </p:cNvPr>
          <p:cNvCxnSpPr>
            <a:cxnSpLocks/>
          </p:cNvCxnSpPr>
          <p:nvPr/>
        </p:nvCxnSpPr>
        <p:spPr>
          <a:xfrm flipV="1">
            <a:off x="1072890" y="1900552"/>
            <a:ext cx="0" cy="63625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D5D676-96FF-2547-BA90-46E7B52B2D50}"/>
              </a:ext>
            </a:extLst>
          </p:cNvPr>
          <p:cNvCxnSpPr>
            <a:cxnSpLocks/>
          </p:cNvCxnSpPr>
          <p:nvPr/>
        </p:nvCxnSpPr>
        <p:spPr>
          <a:xfrm>
            <a:off x="765249" y="8018398"/>
            <a:ext cx="5432650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7E8A97-0F6D-5149-9E3C-B18603314B0C}"/>
              </a:ext>
            </a:extLst>
          </p:cNvPr>
          <p:cNvCxnSpPr>
            <a:cxnSpLocks/>
          </p:cNvCxnSpPr>
          <p:nvPr/>
        </p:nvCxnSpPr>
        <p:spPr>
          <a:xfrm flipH="1" flipV="1">
            <a:off x="7232691" y="1900551"/>
            <a:ext cx="118861" cy="6600283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045B5B-51EC-6240-B6B6-4650138655C6}"/>
              </a:ext>
            </a:extLst>
          </p:cNvPr>
          <p:cNvCxnSpPr>
            <a:cxnSpLocks/>
          </p:cNvCxnSpPr>
          <p:nvPr/>
        </p:nvCxnSpPr>
        <p:spPr>
          <a:xfrm>
            <a:off x="7075376" y="7983440"/>
            <a:ext cx="5453625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9704BE20-620F-324A-8A88-3DA331D8A19F}"/>
              </a:ext>
            </a:extLst>
          </p:cNvPr>
          <p:cNvSpPr/>
          <p:nvPr/>
        </p:nvSpPr>
        <p:spPr>
          <a:xfrm>
            <a:off x="1100859" y="2683633"/>
            <a:ext cx="4600623" cy="5334766"/>
          </a:xfrm>
          <a:custGeom>
            <a:avLst/>
            <a:gdLst>
              <a:gd name="connsiteX0" fmla="*/ 0 w 2939845"/>
              <a:gd name="connsiteY0" fmla="*/ 0 h 2389239"/>
              <a:gd name="connsiteX1" fmla="*/ 1858296 w 2939845"/>
              <a:gd name="connsiteY1" fmla="*/ 550607 h 2389239"/>
              <a:gd name="connsiteX2" fmla="*/ 2939845 w 2939845"/>
              <a:gd name="connsiteY2" fmla="*/ 2389239 h 2389239"/>
              <a:gd name="connsiteX0" fmla="*/ 0 w 2939845"/>
              <a:gd name="connsiteY0" fmla="*/ 0 h 2389239"/>
              <a:gd name="connsiteX1" fmla="*/ 1828799 w 2939845"/>
              <a:gd name="connsiteY1" fmla="*/ 629265 h 2389239"/>
              <a:gd name="connsiteX2" fmla="*/ 2939845 w 2939845"/>
              <a:gd name="connsiteY2" fmla="*/ 2389239 h 238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9845" h="2389239">
                <a:moveTo>
                  <a:pt x="0" y="0"/>
                </a:moveTo>
                <a:cubicBezTo>
                  <a:pt x="684161" y="76200"/>
                  <a:pt x="1338825" y="231059"/>
                  <a:pt x="1828799" y="629265"/>
                </a:cubicBezTo>
                <a:cubicBezTo>
                  <a:pt x="2318773" y="1027471"/>
                  <a:pt x="2644057" y="1669026"/>
                  <a:pt x="2939845" y="2389239"/>
                </a:cubicBezTo>
              </a:path>
            </a:pathLst>
          </a:custGeom>
          <a:noFill/>
          <a:ln w="57150" cap="flat">
            <a:solidFill>
              <a:schemeClr val="accent6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0047" tIns="65023" rIns="130047" bIns="65023" numCol="1" spcCol="38100" rtlCol="0" anchor="t">
            <a:noAutofit/>
          </a:bodyPr>
          <a:lstStyle/>
          <a:p>
            <a:pPr algn="l" defTabSz="1300460" latinLnBrk="1"/>
            <a:endParaRPr lang="en-US" sz="256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92DC51D-6856-AF48-B66B-8DF41B2A9D4A}"/>
              </a:ext>
            </a:extLst>
          </p:cNvPr>
          <p:cNvSpPr/>
          <p:nvPr/>
        </p:nvSpPr>
        <p:spPr>
          <a:xfrm>
            <a:off x="7568300" y="2497072"/>
            <a:ext cx="4960701" cy="4773201"/>
          </a:xfrm>
          <a:custGeom>
            <a:avLst/>
            <a:gdLst>
              <a:gd name="connsiteX0" fmla="*/ 0 w 2959509"/>
              <a:gd name="connsiteY0" fmla="*/ 0 h 2271251"/>
              <a:gd name="connsiteX1" fmla="*/ 619432 w 2959509"/>
              <a:gd name="connsiteY1" fmla="*/ 835742 h 2271251"/>
              <a:gd name="connsiteX2" fmla="*/ 2959509 w 2959509"/>
              <a:gd name="connsiteY2" fmla="*/ 2271251 h 2271251"/>
              <a:gd name="connsiteX0" fmla="*/ 0 w 2959509"/>
              <a:gd name="connsiteY0" fmla="*/ 0 h 2271251"/>
              <a:gd name="connsiteX1" fmla="*/ 619432 w 2959509"/>
              <a:gd name="connsiteY1" fmla="*/ 1396181 h 2271251"/>
              <a:gd name="connsiteX2" fmla="*/ 2959509 w 2959509"/>
              <a:gd name="connsiteY2" fmla="*/ 2271251 h 2271251"/>
              <a:gd name="connsiteX0" fmla="*/ 0 w 2959509"/>
              <a:gd name="connsiteY0" fmla="*/ 0 h 2271251"/>
              <a:gd name="connsiteX1" fmla="*/ 619432 w 2959509"/>
              <a:gd name="connsiteY1" fmla="*/ 1396181 h 2271251"/>
              <a:gd name="connsiteX2" fmla="*/ 1986116 w 2959509"/>
              <a:gd name="connsiteY2" fmla="*/ 2015613 h 2271251"/>
              <a:gd name="connsiteX3" fmla="*/ 2959509 w 2959509"/>
              <a:gd name="connsiteY3" fmla="*/ 2271251 h 2271251"/>
              <a:gd name="connsiteX0" fmla="*/ 0 w 2959509"/>
              <a:gd name="connsiteY0" fmla="*/ 0 h 2304107"/>
              <a:gd name="connsiteX1" fmla="*/ 619432 w 2959509"/>
              <a:gd name="connsiteY1" fmla="*/ 1396181 h 2304107"/>
              <a:gd name="connsiteX2" fmla="*/ 1986116 w 2959509"/>
              <a:gd name="connsiteY2" fmla="*/ 2015613 h 2304107"/>
              <a:gd name="connsiteX3" fmla="*/ 2674373 w 2959509"/>
              <a:gd name="connsiteY3" fmla="*/ 2290916 h 2304107"/>
              <a:gd name="connsiteX4" fmla="*/ 2959509 w 2959509"/>
              <a:gd name="connsiteY4" fmla="*/ 2271251 h 2304107"/>
              <a:gd name="connsiteX0" fmla="*/ 0 w 2959509"/>
              <a:gd name="connsiteY0" fmla="*/ 0 h 2304107"/>
              <a:gd name="connsiteX1" fmla="*/ 619432 w 2959509"/>
              <a:gd name="connsiteY1" fmla="*/ 1396181 h 2304107"/>
              <a:gd name="connsiteX2" fmla="*/ 1966451 w 2959509"/>
              <a:gd name="connsiteY2" fmla="*/ 2094272 h 2304107"/>
              <a:gd name="connsiteX3" fmla="*/ 2674373 w 2959509"/>
              <a:gd name="connsiteY3" fmla="*/ 2290916 h 2304107"/>
              <a:gd name="connsiteX4" fmla="*/ 2959509 w 2959509"/>
              <a:gd name="connsiteY4" fmla="*/ 2271251 h 2304107"/>
              <a:gd name="connsiteX0" fmla="*/ 0 w 3018502"/>
              <a:gd name="connsiteY0" fmla="*/ 0 h 2340077"/>
              <a:gd name="connsiteX1" fmla="*/ 619432 w 3018502"/>
              <a:gd name="connsiteY1" fmla="*/ 1396181 h 2340077"/>
              <a:gd name="connsiteX2" fmla="*/ 1966451 w 3018502"/>
              <a:gd name="connsiteY2" fmla="*/ 2094272 h 2340077"/>
              <a:gd name="connsiteX3" fmla="*/ 2674373 w 3018502"/>
              <a:gd name="connsiteY3" fmla="*/ 2290916 h 2340077"/>
              <a:gd name="connsiteX4" fmla="*/ 3018502 w 3018502"/>
              <a:gd name="connsiteY4" fmla="*/ 2340077 h 234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8502" h="2340077">
                <a:moveTo>
                  <a:pt x="0" y="0"/>
                </a:moveTo>
                <a:cubicBezTo>
                  <a:pt x="63090" y="228600"/>
                  <a:pt x="291690" y="1047136"/>
                  <a:pt x="619432" y="1396181"/>
                </a:cubicBezTo>
                <a:cubicBezTo>
                  <a:pt x="947174" y="1745226"/>
                  <a:pt x="1625600" y="1961537"/>
                  <a:pt x="1966451" y="2094272"/>
                </a:cubicBezTo>
                <a:cubicBezTo>
                  <a:pt x="2307302" y="2227007"/>
                  <a:pt x="2512141" y="2248310"/>
                  <a:pt x="2674373" y="2290916"/>
                </a:cubicBezTo>
                <a:cubicBezTo>
                  <a:pt x="2836605" y="2333522"/>
                  <a:pt x="2969341" y="2326968"/>
                  <a:pt x="3018502" y="2340077"/>
                </a:cubicBezTo>
              </a:path>
            </a:pathLst>
          </a:custGeom>
          <a:noFill/>
          <a:ln w="57150" cap="flat">
            <a:solidFill>
              <a:srgbClr val="7030A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0047" tIns="65023" rIns="130047" bIns="65023" numCol="1" spcCol="38100" rtlCol="0" anchor="t">
            <a:noAutofit/>
          </a:bodyPr>
          <a:lstStyle/>
          <a:p>
            <a:pPr algn="l" defTabSz="1300460" latinLnBrk="1"/>
            <a:endParaRPr lang="en-US" sz="256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993CC33-D5BA-E944-AB4A-06BAEE272EF3}"/>
              </a:ext>
            </a:extLst>
          </p:cNvPr>
          <p:cNvCxnSpPr>
            <a:cxnSpLocks/>
          </p:cNvCxnSpPr>
          <p:nvPr/>
        </p:nvCxnSpPr>
        <p:spPr>
          <a:xfrm flipH="1" flipV="1">
            <a:off x="1674188" y="2851437"/>
            <a:ext cx="1" cy="513200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D1C82D-2B7D-B943-A068-C8B7C3DF14BC}"/>
              </a:ext>
            </a:extLst>
          </p:cNvPr>
          <p:cNvCxnSpPr>
            <a:cxnSpLocks/>
          </p:cNvCxnSpPr>
          <p:nvPr/>
        </p:nvCxnSpPr>
        <p:spPr>
          <a:xfrm flipV="1">
            <a:off x="2350650" y="2991273"/>
            <a:ext cx="10486" cy="502712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6FAE63-4C4A-EC4D-9863-CE5EB04DD8FB}"/>
              </a:ext>
            </a:extLst>
          </p:cNvPr>
          <p:cNvCxnSpPr>
            <a:cxnSpLocks/>
          </p:cNvCxnSpPr>
          <p:nvPr/>
        </p:nvCxnSpPr>
        <p:spPr>
          <a:xfrm flipH="1" flipV="1">
            <a:off x="3003506" y="3298913"/>
            <a:ext cx="31467" cy="470200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0A3471-395F-7A4D-8A39-E8700864930E}"/>
              </a:ext>
            </a:extLst>
          </p:cNvPr>
          <p:cNvCxnSpPr>
            <a:cxnSpLocks/>
          </p:cNvCxnSpPr>
          <p:nvPr/>
        </p:nvCxnSpPr>
        <p:spPr>
          <a:xfrm flipH="1" flipV="1">
            <a:off x="3620529" y="3802326"/>
            <a:ext cx="41089" cy="4163637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DE8D02-40EB-714B-A11A-8ABF2D38BB64}"/>
              </a:ext>
            </a:extLst>
          </p:cNvPr>
          <p:cNvCxnSpPr>
            <a:cxnSpLocks/>
          </p:cNvCxnSpPr>
          <p:nvPr/>
        </p:nvCxnSpPr>
        <p:spPr>
          <a:xfrm flipH="1" flipV="1">
            <a:off x="4216590" y="4554499"/>
            <a:ext cx="20109" cy="344642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CA3AF7F-EBE0-4448-B887-A8D933E7BA63}"/>
              </a:ext>
            </a:extLst>
          </p:cNvPr>
          <p:cNvCxnSpPr>
            <a:cxnSpLocks/>
          </p:cNvCxnSpPr>
          <p:nvPr/>
        </p:nvCxnSpPr>
        <p:spPr>
          <a:xfrm flipV="1">
            <a:off x="4798645" y="5529861"/>
            <a:ext cx="0" cy="2471058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D95D08-317B-FA4B-A3E6-346E0A4F9B68}"/>
              </a:ext>
            </a:extLst>
          </p:cNvPr>
          <p:cNvCxnSpPr>
            <a:cxnSpLocks/>
          </p:cNvCxnSpPr>
          <p:nvPr/>
        </p:nvCxnSpPr>
        <p:spPr>
          <a:xfrm flipH="1" flipV="1">
            <a:off x="7833988" y="3822751"/>
            <a:ext cx="122328" cy="416069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5D44FE-8A60-A744-B39E-3E1CFD0B7C61}"/>
              </a:ext>
            </a:extLst>
          </p:cNvPr>
          <p:cNvCxnSpPr>
            <a:cxnSpLocks/>
          </p:cNvCxnSpPr>
          <p:nvPr/>
        </p:nvCxnSpPr>
        <p:spPr>
          <a:xfrm flipH="1" flipV="1">
            <a:off x="8538397" y="5295361"/>
            <a:ext cx="57701" cy="270206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256981-0D4C-2B44-81D6-BFE5D2F043E8}"/>
              </a:ext>
            </a:extLst>
          </p:cNvPr>
          <p:cNvCxnSpPr>
            <a:cxnSpLocks/>
          </p:cNvCxnSpPr>
          <p:nvPr/>
        </p:nvCxnSpPr>
        <p:spPr>
          <a:xfrm flipH="1" flipV="1">
            <a:off x="9171130" y="5903096"/>
            <a:ext cx="32384" cy="211530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313B00-E5E3-F644-A5A1-9AD06799AC73}"/>
              </a:ext>
            </a:extLst>
          </p:cNvPr>
          <p:cNvCxnSpPr>
            <a:cxnSpLocks/>
          </p:cNvCxnSpPr>
          <p:nvPr/>
        </p:nvCxnSpPr>
        <p:spPr>
          <a:xfrm flipH="1" flipV="1">
            <a:off x="9813114" y="6333644"/>
            <a:ext cx="21439" cy="164979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A4FD9D-DBEA-8641-B23A-B8301C919B59}"/>
              </a:ext>
            </a:extLst>
          </p:cNvPr>
          <p:cNvCxnSpPr>
            <a:cxnSpLocks/>
          </p:cNvCxnSpPr>
          <p:nvPr/>
        </p:nvCxnSpPr>
        <p:spPr>
          <a:xfrm flipV="1">
            <a:off x="10415676" y="6578077"/>
            <a:ext cx="0" cy="140536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0196C9-5207-B240-B086-506082088728}"/>
              </a:ext>
            </a:extLst>
          </p:cNvPr>
          <p:cNvCxnSpPr>
            <a:cxnSpLocks/>
          </p:cNvCxnSpPr>
          <p:nvPr/>
        </p:nvCxnSpPr>
        <p:spPr>
          <a:xfrm flipV="1">
            <a:off x="10966316" y="6765389"/>
            <a:ext cx="0" cy="123203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8956EE3-352A-BE4A-83EC-0D73BCEC841D}"/>
              </a:ext>
            </a:extLst>
          </p:cNvPr>
          <p:cNvCxnSpPr>
            <a:cxnSpLocks/>
          </p:cNvCxnSpPr>
          <p:nvPr/>
        </p:nvCxnSpPr>
        <p:spPr>
          <a:xfrm flipV="1">
            <a:off x="5386808" y="7022064"/>
            <a:ext cx="0" cy="99633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05739B7-B129-3E45-B283-675F1589B7CE}"/>
              </a:ext>
            </a:extLst>
          </p:cNvPr>
          <p:cNvGrpSpPr/>
          <p:nvPr/>
        </p:nvGrpSpPr>
        <p:grpSpPr>
          <a:xfrm>
            <a:off x="1072891" y="2864870"/>
            <a:ext cx="4286839" cy="4167132"/>
            <a:chOff x="727587" y="1130322"/>
            <a:chExt cx="3014184" cy="2930015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A4409A1-2693-B64C-983B-B71660DBFE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0374" y="123217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E423672-1E01-B34C-BB29-37AA412535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3384" y="1435509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7A553CA-5BF5-A841-9E43-9D753592F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85051" y="180383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8DF46FA-73F5-4741-B26E-29742E3943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9231" y="226103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9DA9DA8-18CC-E94D-8BBE-2A152DE8A1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3411" y="2981246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AEF9640-1190-CC4D-BFF1-4C682B99B3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7591" y="4060337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9F5C5FA-900C-CF48-A859-AE92FC062D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587" y="113032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0B4D6D6-B7A2-E246-97F2-48F2DB1574D2}"/>
              </a:ext>
            </a:extLst>
          </p:cNvPr>
          <p:cNvGrpSpPr/>
          <p:nvPr/>
        </p:nvGrpSpPr>
        <p:grpSpPr>
          <a:xfrm>
            <a:off x="7232692" y="3773808"/>
            <a:ext cx="3733625" cy="3057040"/>
            <a:chOff x="5058697" y="1769419"/>
            <a:chExt cx="2625205" cy="2149481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A9A1BF5-00D1-C14D-A6C9-305839C51F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58697" y="1769419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3EFF8B6-1E0D-614F-B8EB-F2107B49F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490" y="2853424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238F975-8DDB-5645-95F2-7A0927D2D1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9722" y="3918900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9AA6EFA-96F7-5945-A446-001237542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6771" y="3266574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CD4A1AA-E899-5644-9714-683A2AB93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1662" y="3569304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8906F35-BDF3-F24E-8B6D-3E09600CB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5375" y="3754985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0440DE43-6D82-B24A-B8EA-12EAC609E89D}"/>
              </a:ext>
            </a:extLst>
          </p:cNvPr>
          <p:cNvSpPr txBox="1"/>
          <p:nvPr/>
        </p:nvSpPr>
        <p:spPr>
          <a:xfrm>
            <a:off x="6041206" y="7964217"/>
            <a:ext cx="368560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X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0A144C-77FE-5842-AD82-07DEF18C1DAD}"/>
              </a:ext>
            </a:extLst>
          </p:cNvPr>
          <p:cNvSpPr txBox="1"/>
          <p:nvPr/>
        </p:nvSpPr>
        <p:spPr>
          <a:xfrm>
            <a:off x="614098" y="1750570"/>
            <a:ext cx="447108" cy="6565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34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56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1A4FA0C-0FE7-CA4F-B88C-44A39B671FC1}"/>
              </a:ext>
            </a:extLst>
          </p:cNvPr>
          <p:cNvSpPr txBox="1"/>
          <p:nvPr/>
        </p:nvSpPr>
        <p:spPr>
          <a:xfrm>
            <a:off x="12357232" y="7944806"/>
            <a:ext cx="368560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X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C2FB2A8-B6DF-8449-8777-BFDB33E3BA55}"/>
              </a:ext>
            </a:extLst>
          </p:cNvPr>
          <p:cNvSpPr txBox="1"/>
          <p:nvPr/>
        </p:nvSpPr>
        <p:spPr>
          <a:xfrm>
            <a:off x="6756287" y="1750570"/>
            <a:ext cx="447108" cy="6565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34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56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089343C-F255-0A45-B8F8-1E8FC5DCF224}"/>
              </a:ext>
            </a:extLst>
          </p:cNvPr>
          <p:cNvGrpSpPr/>
          <p:nvPr/>
        </p:nvGrpSpPr>
        <p:grpSpPr>
          <a:xfrm>
            <a:off x="1170355" y="2833125"/>
            <a:ext cx="496418" cy="465788"/>
            <a:chOff x="801330" y="1094522"/>
            <a:chExt cx="349044" cy="327507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F9FAF41-239E-264F-B491-7CA1290671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1767" y="1094522"/>
              <a:ext cx="8607" cy="13312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127FBF-65EC-F14D-B6DF-F3A9AD6B3467}"/>
                    </a:ext>
                  </a:extLst>
                </p:cNvPr>
                <p:cNvSpPr txBox="1"/>
                <p:nvPr/>
              </p:nvSpPr>
              <p:spPr>
                <a:xfrm>
                  <a:off x="801330" y="1145030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127FBF-65EC-F14D-B6DF-F3A9AD6B3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330" y="1145030"/>
                  <a:ext cx="304320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5A16448-9567-7840-A267-A4E7CA3DA5A7}"/>
              </a:ext>
            </a:extLst>
          </p:cNvPr>
          <p:cNvGrpSpPr/>
          <p:nvPr/>
        </p:nvGrpSpPr>
        <p:grpSpPr>
          <a:xfrm>
            <a:off x="1870846" y="3003283"/>
            <a:ext cx="464864" cy="473435"/>
            <a:chOff x="1288651" y="1227644"/>
            <a:chExt cx="326858" cy="332884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FD463EF-ECAC-924E-A0BC-FB9499D3F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5509" y="1227644"/>
              <a:ext cx="0" cy="207865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38F9855-07A5-9D42-9C76-6304F3B9DD24}"/>
                    </a:ext>
                  </a:extLst>
                </p:cNvPr>
                <p:cNvSpPr txBox="1"/>
                <p:nvPr/>
              </p:nvSpPr>
              <p:spPr>
                <a:xfrm>
                  <a:off x="1288651" y="1283529"/>
                  <a:ext cx="304321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38F9855-07A5-9D42-9C76-6304F3B9DD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651" y="1283529"/>
                  <a:ext cx="30432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1C042A0-9625-8F46-A8D1-40FACC5394AB}"/>
              </a:ext>
            </a:extLst>
          </p:cNvPr>
          <p:cNvGrpSpPr/>
          <p:nvPr/>
        </p:nvGrpSpPr>
        <p:grpSpPr>
          <a:xfrm>
            <a:off x="2518450" y="3298915"/>
            <a:ext cx="482847" cy="503411"/>
            <a:chOff x="1743996" y="1435510"/>
            <a:chExt cx="339502" cy="353961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8EAE5DC-2078-4B46-9484-F47A705A7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5508" y="1435510"/>
              <a:ext cx="7990" cy="35396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4884667-E879-1644-90A6-7BE90E6B64A6}"/>
                    </a:ext>
                  </a:extLst>
                </p:cNvPr>
                <p:cNvSpPr txBox="1"/>
                <p:nvPr/>
              </p:nvSpPr>
              <p:spPr>
                <a:xfrm>
                  <a:off x="1743996" y="1498603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4884667-E879-1644-90A6-7BE90E6B6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3996" y="1498603"/>
                  <a:ext cx="30432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5714" t="-24242" r="-42857" b="-4545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0E7F7AC-5FD0-1047-8A5B-7F982C5101A6}"/>
              </a:ext>
            </a:extLst>
          </p:cNvPr>
          <p:cNvGrpSpPr/>
          <p:nvPr/>
        </p:nvGrpSpPr>
        <p:grpSpPr>
          <a:xfrm>
            <a:off x="3200097" y="3802325"/>
            <a:ext cx="447448" cy="670663"/>
            <a:chOff x="2223278" y="1789472"/>
            <a:chExt cx="314612" cy="47156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3D8B389-9D2C-B844-9B5B-A380ADB8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7890" y="1789472"/>
              <a:ext cx="0" cy="4715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13E1835-DC87-E640-ABCA-079D1E76C564}"/>
                    </a:ext>
                  </a:extLst>
                </p:cNvPr>
                <p:cNvSpPr txBox="1"/>
                <p:nvPr/>
              </p:nvSpPr>
              <p:spPr>
                <a:xfrm>
                  <a:off x="2223278" y="189515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13E1835-DC87-E640-ABCA-079D1E76C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3278" y="1895157"/>
                  <a:ext cx="30432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AE4D8AD-3372-BF4C-A4C4-7450A383C3BF}"/>
              </a:ext>
            </a:extLst>
          </p:cNvPr>
          <p:cNvGrpSpPr/>
          <p:nvPr/>
        </p:nvGrpSpPr>
        <p:grpSpPr>
          <a:xfrm>
            <a:off x="3778782" y="4500029"/>
            <a:ext cx="444404" cy="1024303"/>
            <a:chOff x="2630169" y="2280043"/>
            <a:chExt cx="312472" cy="720213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8A0B482-311E-BA48-B9F9-EFA789BAE0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8502" y="2280043"/>
              <a:ext cx="14139" cy="720213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3D46A7E-45B5-284F-9198-F94D7242D6DE}"/>
                    </a:ext>
                  </a:extLst>
                </p:cNvPr>
                <p:cNvSpPr txBox="1"/>
                <p:nvPr/>
              </p:nvSpPr>
              <p:spPr>
                <a:xfrm>
                  <a:off x="2630169" y="2549579"/>
                  <a:ext cx="304321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3D46A7E-45B5-284F-9198-F94D7242D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0169" y="2549579"/>
                  <a:ext cx="30432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714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8020C1C-53AF-0541-8B84-7B6367BDADFC}"/>
              </a:ext>
            </a:extLst>
          </p:cNvPr>
          <p:cNvGrpSpPr/>
          <p:nvPr/>
        </p:nvGrpSpPr>
        <p:grpSpPr>
          <a:xfrm>
            <a:off x="4330361" y="5497296"/>
            <a:ext cx="468285" cy="1524767"/>
            <a:chOff x="3017995" y="2981247"/>
            <a:chExt cx="329263" cy="1072102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9C729D3-AAC9-1C4C-B3AC-DEC35423D4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7591" y="2981247"/>
              <a:ext cx="19667" cy="10721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7BE8DAC-8D34-0F46-9AEC-60937D68ED8F}"/>
                    </a:ext>
                  </a:extLst>
                </p:cNvPr>
                <p:cNvSpPr txBox="1"/>
                <p:nvPr/>
              </p:nvSpPr>
              <p:spPr>
                <a:xfrm>
                  <a:off x="3017995" y="3292305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7BE8DAC-8D34-0F46-9AEC-60937D68E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7995" y="3292305"/>
                  <a:ext cx="30432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9FA758E-2EDA-D04B-AD1B-D8B7F4AB0BD4}"/>
              </a:ext>
            </a:extLst>
          </p:cNvPr>
          <p:cNvGrpSpPr/>
          <p:nvPr/>
        </p:nvGrpSpPr>
        <p:grpSpPr>
          <a:xfrm>
            <a:off x="7430210" y="3791283"/>
            <a:ext cx="476319" cy="1513176"/>
            <a:chOff x="5197577" y="1781707"/>
            <a:chExt cx="334912" cy="1063952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00F1E89-35B2-F44A-9FFE-42637C72BC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9483" y="1781707"/>
              <a:ext cx="43006" cy="106395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EC3EF8-BCEB-0048-854F-756275132BDB}"/>
                    </a:ext>
                  </a:extLst>
                </p:cNvPr>
                <p:cNvSpPr txBox="1"/>
                <p:nvPr/>
              </p:nvSpPr>
              <p:spPr>
                <a:xfrm>
                  <a:off x="5197577" y="225261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EC3EF8-BCEB-0048-854F-756275132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7577" y="2252617"/>
                  <a:ext cx="30432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714" t="-25000" r="-42857" b="-46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74B2544-0EF2-7147-947A-9BB45D5CA404}"/>
              </a:ext>
            </a:extLst>
          </p:cNvPr>
          <p:cNvGrpSpPr/>
          <p:nvPr/>
        </p:nvGrpSpPr>
        <p:grpSpPr>
          <a:xfrm>
            <a:off x="9990911" y="6560158"/>
            <a:ext cx="432811" cy="393954"/>
            <a:chOff x="7010991" y="3720947"/>
            <a:chExt cx="304320" cy="27699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A53721F-FCF8-4D4E-AF76-56FBE33F3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6733" y="3741172"/>
              <a:ext cx="0" cy="177728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B3E2424-A14F-FC48-AE10-EDFC8EFB0E3F}"/>
                    </a:ext>
                  </a:extLst>
                </p:cNvPr>
                <p:cNvSpPr txBox="1"/>
                <p:nvPr/>
              </p:nvSpPr>
              <p:spPr>
                <a:xfrm>
                  <a:off x="7010991" y="372094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B3E2424-A14F-FC48-AE10-EDFC8EFB0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991" y="3720947"/>
                  <a:ext cx="3043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0A3005D-094F-9A4B-8D9E-662552A50AE3}"/>
              </a:ext>
            </a:extLst>
          </p:cNvPr>
          <p:cNvGrpSpPr/>
          <p:nvPr/>
        </p:nvGrpSpPr>
        <p:grpSpPr>
          <a:xfrm>
            <a:off x="8117588" y="5255075"/>
            <a:ext cx="449664" cy="648020"/>
            <a:chOff x="5680886" y="2810935"/>
            <a:chExt cx="316170" cy="455639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6FA9D08-55BE-DD4C-8C7D-F445347233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76771" y="2810935"/>
              <a:ext cx="20285" cy="455639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178EEEF-33AA-F347-AA00-C7B7C4203DCA}"/>
                    </a:ext>
                  </a:extLst>
                </p:cNvPr>
                <p:cNvSpPr txBox="1"/>
                <p:nvPr/>
              </p:nvSpPr>
              <p:spPr>
                <a:xfrm>
                  <a:off x="5680886" y="2950058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178EEEF-33AA-F347-AA00-C7B7C4203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0886" y="2950058"/>
                  <a:ext cx="304320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E184DAA-2A21-2545-B749-D3A3FF22BF8D}"/>
              </a:ext>
            </a:extLst>
          </p:cNvPr>
          <p:cNvGrpSpPr/>
          <p:nvPr/>
        </p:nvGrpSpPr>
        <p:grpSpPr>
          <a:xfrm>
            <a:off x="8771708" y="5884144"/>
            <a:ext cx="432811" cy="498524"/>
            <a:chOff x="6140809" y="3253250"/>
            <a:chExt cx="304320" cy="350525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29A6FDC-CB2B-5249-B5A0-46E735D01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1662" y="3253250"/>
              <a:ext cx="0" cy="316054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1FB8566-E13E-7647-BAA0-F9820115BF9B}"/>
                    </a:ext>
                  </a:extLst>
                </p:cNvPr>
                <p:cNvSpPr txBox="1"/>
                <p:nvPr/>
              </p:nvSpPr>
              <p:spPr>
                <a:xfrm>
                  <a:off x="6140809" y="3326776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1FB8566-E13E-7647-BAA0-F9820115B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809" y="3326776"/>
                  <a:ext cx="3043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A8355E-AFED-674A-8252-1F6B5252DEF8}"/>
              </a:ext>
            </a:extLst>
          </p:cNvPr>
          <p:cNvGrpSpPr/>
          <p:nvPr/>
        </p:nvGrpSpPr>
        <p:grpSpPr>
          <a:xfrm>
            <a:off x="9413683" y="6302092"/>
            <a:ext cx="432812" cy="393954"/>
            <a:chOff x="6592204" y="3547120"/>
            <a:chExt cx="304321" cy="2769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BDB9D29-4228-0746-80F0-29E57E18A3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9757" y="3547120"/>
              <a:ext cx="0" cy="207865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71242EA-4DC5-214F-9E5A-249DC4A21C3D}"/>
                    </a:ext>
                  </a:extLst>
                </p:cNvPr>
                <p:cNvSpPr txBox="1"/>
                <p:nvPr/>
              </p:nvSpPr>
              <p:spPr>
                <a:xfrm>
                  <a:off x="6592204" y="3547120"/>
                  <a:ext cx="304321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71242EA-4DC5-214F-9E5A-249DC4A21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2204" y="3547120"/>
                  <a:ext cx="304321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5714" t="-25000" r="-42857" b="-46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49D996AD-97C0-F24A-AB46-580493426716}"/>
              </a:ext>
            </a:extLst>
          </p:cNvPr>
          <p:cNvSpPr txBox="1"/>
          <p:nvPr/>
        </p:nvSpPr>
        <p:spPr>
          <a:xfrm>
            <a:off x="1125029" y="706898"/>
            <a:ext cx="4861482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Concave to X-Axis Downwards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F2244B0-F02F-2549-8067-812A3573474F}"/>
              </a:ext>
            </a:extLst>
          </p:cNvPr>
          <p:cNvSpPr txBox="1"/>
          <p:nvPr/>
        </p:nvSpPr>
        <p:spPr>
          <a:xfrm>
            <a:off x="7541218" y="671517"/>
            <a:ext cx="4610554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Convex to X-Axis Downwards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23BB72F-DBC4-ED48-AF6A-1FAFDDD574BE}"/>
              </a:ext>
            </a:extLst>
          </p:cNvPr>
          <p:cNvSpPr txBox="1"/>
          <p:nvPr/>
        </p:nvSpPr>
        <p:spPr>
          <a:xfrm>
            <a:off x="1886595" y="2263271"/>
            <a:ext cx="4967693" cy="9192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For more of X we give up </a:t>
            </a:r>
          </a:p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more &amp; more of Y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EC5A5D8-1681-014A-9793-1F5E27DF1FA4}"/>
              </a:ext>
            </a:extLst>
          </p:cNvPr>
          <p:cNvSpPr txBox="1"/>
          <p:nvPr/>
        </p:nvSpPr>
        <p:spPr>
          <a:xfrm>
            <a:off x="8350575" y="2216271"/>
            <a:ext cx="4789430" cy="9192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For more of X we give up </a:t>
            </a:r>
          </a:p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Less &amp; less of Y</a:t>
            </a:r>
          </a:p>
        </p:txBody>
      </p:sp>
    </p:spTree>
    <p:extLst>
      <p:ext uri="{BB962C8B-B14F-4D97-AF65-F5344CB8AC3E}">
        <p14:creationId xmlns:p14="http://schemas.microsoft.com/office/powerpoint/2010/main" val="30097577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7B8306-0A48-064A-89BD-F1BCAA29E85C}"/>
              </a:ext>
            </a:extLst>
          </p:cNvPr>
          <p:cNvCxnSpPr>
            <a:cxnSpLocks/>
          </p:cNvCxnSpPr>
          <p:nvPr/>
        </p:nvCxnSpPr>
        <p:spPr>
          <a:xfrm flipV="1">
            <a:off x="1072890" y="1881502"/>
            <a:ext cx="0" cy="63625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D5D676-96FF-2547-BA90-46E7B52B2D50}"/>
              </a:ext>
            </a:extLst>
          </p:cNvPr>
          <p:cNvCxnSpPr>
            <a:cxnSpLocks/>
          </p:cNvCxnSpPr>
          <p:nvPr/>
        </p:nvCxnSpPr>
        <p:spPr>
          <a:xfrm>
            <a:off x="765249" y="7999348"/>
            <a:ext cx="5432650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7E8A97-0F6D-5149-9E3C-B18603314B0C}"/>
              </a:ext>
            </a:extLst>
          </p:cNvPr>
          <p:cNvCxnSpPr>
            <a:cxnSpLocks/>
          </p:cNvCxnSpPr>
          <p:nvPr/>
        </p:nvCxnSpPr>
        <p:spPr>
          <a:xfrm flipH="1" flipV="1">
            <a:off x="7232691" y="1881501"/>
            <a:ext cx="118861" cy="6600283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045B5B-51EC-6240-B6B6-4650138655C6}"/>
              </a:ext>
            </a:extLst>
          </p:cNvPr>
          <p:cNvCxnSpPr>
            <a:cxnSpLocks/>
          </p:cNvCxnSpPr>
          <p:nvPr/>
        </p:nvCxnSpPr>
        <p:spPr>
          <a:xfrm>
            <a:off x="7075376" y="7964390"/>
            <a:ext cx="5453625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9704BE20-620F-324A-8A88-3DA331D8A19F}"/>
              </a:ext>
            </a:extLst>
          </p:cNvPr>
          <p:cNvSpPr/>
          <p:nvPr/>
        </p:nvSpPr>
        <p:spPr>
          <a:xfrm rot="15962755">
            <a:off x="1207166" y="2782463"/>
            <a:ext cx="4773493" cy="5319127"/>
          </a:xfrm>
          <a:custGeom>
            <a:avLst/>
            <a:gdLst>
              <a:gd name="connsiteX0" fmla="*/ 0 w 2939845"/>
              <a:gd name="connsiteY0" fmla="*/ 0 h 2389239"/>
              <a:gd name="connsiteX1" fmla="*/ 1858296 w 2939845"/>
              <a:gd name="connsiteY1" fmla="*/ 550607 h 2389239"/>
              <a:gd name="connsiteX2" fmla="*/ 2939845 w 2939845"/>
              <a:gd name="connsiteY2" fmla="*/ 2389239 h 2389239"/>
              <a:gd name="connsiteX0" fmla="*/ 0 w 2939845"/>
              <a:gd name="connsiteY0" fmla="*/ 0 h 2389239"/>
              <a:gd name="connsiteX1" fmla="*/ 1828799 w 2939845"/>
              <a:gd name="connsiteY1" fmla="*/ 629265 h 2389239"/>
              <a:gd name="connsiteX2" fmla="*/ 2939845 w 2939845"/>
              <a:gd name="connsiteY2" fmla="*/ 2389239 h 238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9845" h="2389239">
                <a:moveTo>
                  <a:pt x="0" y="0"/>
                </a:moveTo>
                <a:cubicBezTo>
                  <a:pt x="684161" y="76200"/>
                  <a:pt x="1338825" y="231059"/>
                  <a:pt x="1828799" y="629265"/>
                </a:cubicBezTo>
                <a:cubicBezTo>
                  <a:pt x="2318773" y="1027471"/>
                  <a:pt x="2644057" y="1669026"/>
                  <a:pt x="2939845" y="2389239"/>
                </a:cubicBezTo>
              </a:path>
            </a:pathLst>
          </a:custGeom>
          <a:noFill/>
          <a:ln w="57150" cap="flat">
            <a:solidFill>
              <a:schemeClr val="accent6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0047" tIns="65023" rIns="130047" bIns="65023" numCol="1" spcCol="38100" rtlCol="0" anchor="t">
            <a:noAutofit/>
          </a:bodyPr>
          <a:lstStyle/>
          <a:p>
            <a:pPr algn="l" defTabSz="1300460" latinLnBrk="1"/>
            <a:endParaRPr lang="en-US" sz="256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92DC51D-6856-AF48-B66B-8DF41B2A9D4A}"/>
              </a:ext>
            </a:extLst>
          </p:cNvPr>
          <p:cNvSpPr/>
          <p:nvPr/>
        </p:nvSpPr>
        <p:spPr>
          <a:xfrm rot="16200000">
            <a:off x="7393865" y="2413892"/>
            <a:ext cx="4802674" cy="4900851"/>
          </a:xfrm>
          <a:custGeom>
            <a:avLst/>
            <a:gdLst>
              <a:gd name="connsiteX0" fmla="*/ 0 w 2959509"/>
              <a:gd name="connsiteY0" fmla="*/ 0 h 2271251"/>
              <a:gd name="connsiteX1" fmla="*/ 619432 w 2959509"/>
              <a:gd name="connsiteY1" fmla="*/ 835742 h 2271251"/>
              <a:gd name="connsiteX2" fmla="*/ 2959509 w 2959509"/>
              <a:gd name="connsiteY2" fmla="*/ 2271251 h 2271251"/>
              <a:gd name="connsiteX0" fmla="*/ 0 w 2959509"/>
              <a:gd name="connsiteY0" fmla="*/ 0 h 2271251"/>
              <a:gd name="connsiteX1" fmla="*/ 619432 w 2959509"/>
              <a:gd name="connsiteY1" fmla="*/ 1396181 h 2271251"/>
              <a:gd name="connsiteX2" fmla="*/ 2959509 w 2959509"/>
              <a:gd name="connsiteY2" fmla="*/ 2271251 h 2271251"/>
              <a:gd name="connsiteX0" fmla="*/ 0 w 2959509"/>
              <a:gd name="connsiteY0" fmla="*/ 0 h 2271251"/>
              <a:gd name="connsiteX1" fmla="*/ 619432 w 2959509"/>
              <a:gd name="connsiteY1" fmla="*/ 1396181 h 2271251"/>
              <a:gd name="connsiteX2" fmla="*/ 1986116 w 2959509"/>
              <a:gd name="connsiteY2" fmla="*/ 2015613 h 2271251"/>
              <a:gd name="connsiteX3" fmla="*/ 2959509 w 2959509"/>
              <a:gd name="connsiteY3" fmla="*/ 2271251 h 2271251"/>
              <a:gd name="connsiteX0" fmla="*/ 0 w 2959509"/>
              <a:gd name="connsiteY0" fmla="*/ 0 h 2304107"/>
              <a:gd name="connsiteX1" fmla="*/ 619432 w 2959509"/>
              <a:gd name="connsiteY1" fmla="*/ 1396181 h 2304107"/>
              <a:gd name="connsiteX2" fmla="*/ 1986116 w 2959509"/>
              <a:gd name="connsiteY2" fmla="*/ 2015613 h 2304107"/>
              <a:gd name="connsiteX3" fmla="*/ 2674373 w 2959509"/>
              <a:gd name="connsiteY3" fmla="*/ 2290916 h 2304107"/>
              <a:gd name="connsiteX4" fmla="*/ 2959509 w 2959509"/>
              <a:gd name="connsiteY4" fmla="*/ 2271251 h 2304107"/>
              <a:gd name="connsiteX0" fmla="*/ 0 w 2959509"/>
              <a:gd name="connsiteY0" fmla="*/ 0 h 2304107"/>
              <a:gd name="connsiteX1" fmla="*/ 619432 w 2959509"/>
              <a:gd name="connsiteY1" fmla="*/ 1396181 h 2304107"/>
              <a:gd name="connsiteX2" fmla="*/ 1966451 w 2959509"/>
              <a:gd name="connsiteY2" fmla="*/ 2094272 h 2304107"/>
              <a:gd name="connsiteX3" fmla="*/ 2674373 w 2959509"/>
              <a:gd name="connsiteY3" fmla="*/ 2290916 h 2304107"/>
              <a:gd name="connsiteX4" fmla="*/ 2959509 w 2959509"/>
              <a:gd name="connsiteY4" fmla="*/ 2271251 h 2304107"/>
              <a:gd name="connsiteX0" fmla="*/ 0 w 3018502"/>
              <a:gd name="connsiteY0" fmla="*/ 0 h 2340077"/>
              <a:gd name="connsiteX1" fmla="*/ 619432 w 3018502"/>
              <a:gd name="connsiteY1" fmla="*/ 1396181 h 2340077"/>
              <a:gd name="connsiteX2" fmla="*/ 1966451 w 3018502"/>
              <a:gd name="connsiteY2" fmla="*/ 2094272 h 2340077"/>
              <a:gd name="connsiteX3" fmla="*/ 2674373 w 3018502"/>
              <a:gd name="connsiteY3" fmla="*/ 2290916 h 2340077"/>
              <a:gd name="connsiteX4" fmla="*/ 3018502 w 3018502"/>
              <a:gd name="connsiteY4" fmla="*/ 2340077 h 234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8502" h="2340077">
                <a:moveTo>
                  <a:pt x="0" y="0"/>
                </a:moveTo>
                <a:cubicBezTo>
                  <a:pt x="63090" y="228600"/>
                  <a:pt x="291690" y="1047136"/>
                  <a:pt x="619432" y="1396181"/>
                </a:cubicBezTo>
                <a:cubicBezTo>
                  <a:pt x="947174" y="1745226"/>
                  <a:pt x="1625600" y="1961537"/>
                  <a:pt x="1966451" y="2094272"/>
                </a:cubicBezTo>
                <a:cubicBezTo>
                  <a:pt x="2307302" y="2227007"/>
                  <a:pt x="2512141" y="2248310"/>
                  <a:pt x="2674373" y="2290916"/>
                </a:cubicBezTo>
                <a:cubicBezTo>
                  <a:pt x="2836605" y="2333522"/>
                  <a:pt x="2969341" y="2326968"/>
                  <a:pt x="3018502" y="2340077"/>
                </a:cubicBezTo>
              </a:path>
            </a:pathLst>
          </a:custGeom>
          <a:noFill/>
          <a:ln w="57150" cap="flat">
            <a:solidFill>
              <a:srgbClr val="7030A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0047" tIns="65023" rIns="130047" bIns="65023" numCol="1" spcCol="38100" rtlCol="0" anchor="t">
            <a:noAutofit/>
          </a:bodyPr>
          <a:lstStyle/>
          <a:p>
            <a:pPr algn="l" defTabSz="1300460" latinLnBrk="1"/>
            <a:endParaRPr lang="en-US" sz="256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993CC33-D5BA-E944-AB4A-06BAEE272EF3}"/>
              </a:ext>
            </a:extLst>
          </p:cNvPr>
          <p:cNvCxnSpPr>
            <a:cxnSpLocks/>
          </p:cNvCxnSpPr>
          <p:nvPr/>
        </p:nvCxnSpPr>
        <p:spPr>
          <a:xfrm flipH="1" flipV="1">
            <a:off x="1674190" y="5744480"/>
            <a:ext cx="1" cy="221991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D1C82D-2B7D-B943-A068-C8B7C3DF14BC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2298087" y="4947488"/>
            <a:ext cx="52562" cy="305186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6FAE63-4C4A-EC4D-9863-CE5EB04DD8FB}"/>
              </a:ext>
            </a:extLst>
          </p:cNvPr>
          <p:cNvCxnSpPr>
            <a:cxnSpLocks/>
          </p:cNvCxnSpPr>
          <p:nvPr/>
        </p:nvCxnSpPr>
        <p:spPr>
          <a:xfrm flipH="1" flipV="1">
            <a:off x="2999990" y="4327539"/>
            <a:ext cx="34984" cy="365433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0A3471-395F-7A4D-8A39-E8700864930E}"/>
              </a:ext>
            </a:extLst>
          </p:cNvPr>
          <p:cNvCxnSpPr>
            <a:cxnSpLocks/>
          </p:cNvCxnSpPr>
          <p:nvPr/>
        </p:nvCxnSpPr>
        <p:spPr>
          <a:xfrm flipH="1" flipV="1">
            <a:off x="3628048" y="3933584"/>
            <a:ext cx="33572" cy="4013329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DE8D02-40EB-714B-A11A-8ABF2D38BB64}"/>
              </a:ext>
            </a:extLst>
          </p:cNvPr>
          <p:cNvCxnSpPr>
            <a:cxnSpLocks/>
          </p:cNvCxnSpPr>
          <p:nvPr/>
        </p:nvCxnSpPr>
        <p:spPr>
          <a:xfrm flipH="1" flipV="1">
            <a:off x="4201971" y="3715247"/>
            <a:ext cx="34728" cy="426662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CA3AF7F-EBE0-4448-B887-A8D933E7BA63}"/>
              </a:ext>
            </a:extLst>
          </p:cNvPr>
          <p:cNvCxnSpPr>
            <a:cxnSpLocks/>
          </p:cNvCxnSpPr>
          <p:nvPr/>
        </p:nvCxnSpPr>
        <p:spPr>
          <a:xfrm flipV="1">
            <a:off x="4798645" y="3457667"/>
            <a:ext cx="0" cy="452420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D95D08-317B-FA4B-A3E6-346E0A4F9B68}"/>
              </a:ext>
            </a:extLst>
          </p:cNvPr>
          <p:cNvCxnSpPr>
            <a:cxnSpLocks/>
          </p:cNvCxnSpPr>
          <p:nvPr/>
        </p:nvCxnSpPr>
        <p:spPr>
          <a:xfrm flipH="1" flipV="1">
            <a:off x="7926585" y="7100359"/>
            <a:ext cx="29732" cy="86403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5D44FE-8A60-A744-B39E-3E1CFD0B7C61}"/>
              </a:ext>
            </a:extLst>
          </p:cNvPr>
          <p:cNvCxnSpPr>
            <a:cxnSpLocks/>
          </p:cNvCxnSpPr>
          <p:nvPr/>
        </p:nvCxnSpPr>
        <p:spPr>
          <a:xfrm flipH="1" flipV="1">
            <a:off x="8567122" y="6935064"/>
            <a:ext cx="28978" cy="104331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256981-0D4C-2B44-81D6-BFE5D2F043E8}"/>
              </a:ext>
            </a:extLst>
          </p:cNvPr>
          <p:cNvCxnSpPr>
            <a:cxnSpLocks/>
          </p:cNvCxnSpPr>
          <p:nvPr/>
        </p:nvCxnSpPr>
        <p:spPr>
          <a:xfrm flipH="1" flipV="1">
            <a:off x="9187782" y="6785680"/>
            <a:ext cx="15733" cy="1213668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313B00-E5E3-F644-A5A1-9AD06799AC73}"/>
              </a:ext>
            </a:extLst>
          </p:cNvPr>
          <p:cNvCxnSpPr>
            <a:cxnSpLocks/>
          </p:cNvCxnSpPr>
          <p:nvPr/>
        </p:nvCxnSpPr>
        <p:spPr>
          <a:xfrm flipH="1" flipV="1">
            <a:off x="9811669" y="6559027"/>
            <a:ext cx="22885" cy="140536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A4FD9D-DBEA-8641-B23A-B8301C919B59}"/>
              </a:ext>
            </a:extLst>
          </p:cNvPr>
          <p:cNvCxnSpPr>
            <a:cxnSpLocks/>
          </p:cNvCxnSpPr>
          <p:nvPr/>
        </p:nvCxnSpPr>
        <p:spPr>
          <a:xfrm flipH="1" flipV="1">
            <a:off x="10391245" y="6314594"/>
            <a:ext cx="24431" cy="164979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0196C9-5207-B240-B086-506082088728}"/>
              </a:ext>
            </a:extLst>
          </p:cNvPr>
          <p:cNvCxnSpPr>
            <a:cxnSpLocks/>
          </p:cNvCxnSpPr>
          <p:nvPr/>
        </p:nvCxnSpPr>
        <p:spPr>
          <a:xfrm flipH="1" flipV="1">
            <a:off x="10958326" y="5560033"/>
            <a:ext cx="7990" cy="241834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8956EE3-352A-BE4A-83EC-0D73BCEC841D}"/>
              </a:ext>
            </a:extLst>
          </p:cNvPr>
          <p:cNvCxnSpPr>
            <a:cxnSpLocks/>
          </p:cNvCxnSpPr>
          <p:nvPr/>
        </p:nvCxnSpPr>
        <p:spPr>
          <a:xfrm flipH="1" flipV="1">
            <a:off x="5383691" y="3132047"/>
            <a:ext cx="3119" cy="486730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440DE43-6D82-B24A-B8EA-12EAC609E89D}"/>
              </a:ext>
            </a:extLst>
          </p:cNvPr>
          <p:cNvSpPr txBox="1"/>
          <p:nvPr/>
        </p:nvSpPr>
        <p:spPr>
          <a:xfrm>
            <a:off x="6042188" y="8219150"/>
            <a:ext cx="368560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256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X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0A144C-77FE-5842-AD82-07DEF18C1DAD}"/>
              </a:ext>
            </a:extLst>
          </p:cNvPr>
          <p:cNvSpPr txBox="1"/>
          <p:nvPr/>
        </p:nvSpPr>
        <p:spPr>
          <a:xfrm>
            <a:off x="614098" y="1731520"/>
            <a:ext cx="447108" cy="6565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34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56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1A4FA0C-0FE7-CA4F-B88C-44A39B671FC1}"/>
              </a:ext>
            </a:extLst>
          </p:cNvPr>
          <p:cNvSpPr txBox="1"/>
          <p:nvPr/>
        </p:nvSpPr>
        <p:spPr>
          <a:xfrm>
            <a:off x="12357698" y="8014119"/>
            <a:ext cx="368560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X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C2FB2A8-B6DF-8449-8777-BFDB33E3BA55}"/>
              </a:ext>
            </a:extLst>
          </p:cNvPr>
          <p:cNvSpPr txBox="1"/>
          <p:nvPr/>
        </p:nvSpPr>
        <p:spPr>
          <a:xfrm>
            <a:off x="6851731" y="1731520"/>
            <a:ext cx="447108" cy="6565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34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56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089343C-F255-0A45-B8F8-1E8FC5DCF224}"/>
              </a:ext>
            </a:extLst>
          </p:cNvPr>
          <p:cNvGrpSpPr/>
          <p:nvPr/>
        </p:nvGrpSpPr>
        <p:grpSpPr>
          <a:xfrm>
            <a:off x="5397490" y="3058753"/>
            <a:ext cx="553244" cy="393954"/>
            <a:chOff x="1138223" y="1029917"/>
            <a:chExt cx="388999" cy="276999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F9FAF41-239E-264F-B491-7CA1290671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8223" y="1094522"/>
              <a:ext cx="3545" cy="167166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127FBF-65EC-F14D-B6DF-F3A9AD6B3467}"/>
                    </a:ext>
                  </a:extLst>
                </p:cNvPr>
                <p:cNvSpPr txBox="1"/>
                <p:nvPr/>
              </p:nvSpPr>
              <p:spPr>
                <a:xfrm>
                  <a:off x="1222902" y="102991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127FBF-65EC-F14D-B6DF-F3A9AD6B3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2902" y="1029917"/>
                  <a:ext cx="30432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5A16448-9567-7840-A267-A4E7CA3DA5A7}"/>
              </a:ext>
            </a:extLst>
          </p:cNvPr>
          <p:cNvGrpSpPr/>
          <p:nvPr/>
        </p:nvGrpSpPr>
        <p:grpSpPr>
          <a:xfrm>
            <a:off x="4784657" y="3388385"/>
            <a:ext cx="501194" cy="433217"/>
            <a:chOff x="1605034" y="1227645"/>
            <a:chExt cx="352402" cy="304606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FD463EF-ECAC-924E-A0BC-FB9499D3F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5034" y="1227645"/>
              <a:ext cx="10475" cy="194383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38F9855-07A5-9D42-9C76-6304F3B9DD24}"/>
                    </a:ext>
                  </a:extLst>
                </p:cNvPr>
                <p:cNvSpPr txBox="1"/>
                <p:nvPr/>
              </p:nvSpPr>
              <p:spPr>
                <a:xfrm>
                  <a:off x="1653116" y="1255252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38F9855-07A5-9D42-9C76-6304F3B9DD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3116" y="1255252"/>
                  <a:ext cx="30432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714" t="-21875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1C042A0-9625-8F46-A8D1-40FACC5394AB}"/>
              </a:ext>
            </a:extLst>
          </p:cNvPr>
          <p:cNvGrpSpPr/>
          <p:nvPr/>
        </p:nvGrpSpPr>
        <p:grpSpPr>
          <a:xfrm>
            <a:off x="4219340" y="3664840"/>
            <a:ext cx="535870" cy="393954"/>
            <a:chOff x="2064283" y="1400337"/>
            <a:chExt cx="376783" cy="276999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8EAE5DC-2078-4B46-9484-F47A705A7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4283" y="1400337"/>
              <a:ext cx="11225" cy="2133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4884667-E879-1644-90A6-7BE90E6B64A6}"/>
                    </a:ext>
                  </a:extLst>
                </p:cNvPr>
                <p:cNvSpPr txBox="1"/>
                <p:nvPr/>
              </p:nvSpPr>
              <p:spPr>
                <a:xfrm>
                  <a:off x="2136746" y="140033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4884667-E879-1644-90A6-7BE90E6B6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46" y="1400337"/>
                  <a:ext cx="30432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0E7F7AC-5FD0-1047-8A5B-7F982C5101A6}"/>
              </a:ext>
            </a:extLst>
          </p:cNvPr>
          <p:cNvGrpSpPr/>
          <p:nvPr/>
        </p:nvGrpSpPr>
        <p:grpSpPr>
          <a:xfrm>
            <a:off x="3629714" y="3968284"/>
            <a:ext cx="508151" cy="428656"/>
            <a:chOff x="2525349" y="1919556"/>
            <a:chExt cx="357293" cy="301399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3D8B389-9D2C-B844-9B5B-A380ADB8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5349" y="1919556"/>
              <a:ext cx="0" cy="28081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13E1835-DC87-E640-ABCA-079D1E76C564}"/>
                    </a:ext>
                  </a:extLst>
                </p:cNvPr>
                <p:cNvSpPr txBox="1"/>
                <p:nvPr/>
              </p:nvSpPr>
              <p:spPr>
                <a:xfrm>
                  <a:off x="2578322" y="1943956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13E1835-DC87-E640-ABCA-079D1E76C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8322" y="1943956"/>
                  <a:ext cx="30432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2857" t="-25000" r="-45714" b="-46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AE4D8AD-3372-BF4C-A4C4-7450A383C3BF}"/>
              </a:ext>
            </a:extLst>
          </p:cNvPr>
          <p:cNvGrpSpPr/>
          <p:nvPr/>
        </p:nvGrpSpPr>
        <p:grpSpPr>
          <a:xfrm>
            <a:off x="3016624" y="4367661"/>
            <a:ext cx="497707" cy="618209"/>
            <a:chOff x="2928112" y="2280044"/>
            <a:chExt cx="349950" cy="434678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8A0B482-311E-BA48-B9F9-EFA789BAE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8112" y="2280044"/>
              <a:ext cx="391" cy="434678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3D46A7E-45B5-284F-9198-F94D7242D6DE}"/>
                    </a:ext>
                  </a:extLst>
                </p:cNvPr>
                <p:cNvSpPr txBox="1"/>
                <p:nvPr/>
              </p:nvSpPr>
              <p:spPr>
                <a:xfrm>
                  <a:off x="2973742" y="2315966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3D46A7E-45B5-284F-9198-F94D7242D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3742" y="2315966"/>
                  <a:ext cx="30432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714" t="-29032" r="-45714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8020C1C-53AF-0541-8B84-7B6367BDADFC}"/>
              </a:ext>
            </a:extLst>
          </p:cNvPr>
          <p:cNvGrpSpPr/>
          <p:nvPr/>
        </p:nvGrpSpPr>
        <p:grpSpPr>
          <a:xfrm>
            <a:off x="2323913" y="4975130"/>
            <a:ext cx="481728" cy="744640"/>
            <a:chOff x="3327593" y="2981248"/>
            <a:chExt cx="338715" cy="523575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9C729D3-AAC9-1C4C-B3AC-DEC35423D4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7593" y="2981248"/>
              <a:ext cx="6138" cy="523575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7BE8DAC-8D34-0F46-9AEC-60937D68ED8F}"/>
                    </a:ext>
                  </a:extLst>
                </p:cNvPr>
                <p:cNvSpPr txBox="1"/>
                <p:nvPr/>
              </p:nvSpPr>
              <p:spPr>
                <a:xfrm>
                  <a:off x="3361988" y="3095470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7BE8DAC-8D34-0F46-9AEC-60937D68E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1988" y="3095470"/>
                  <a:ext cx="3043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9FA758E-2EDA-D04B-AD1B-D8B7F4AB0BD4}"/>
              </a:ext>
            </a:extLst>
          </p:cNvPr>
          <p:cNvGrpSpPr/>
          <p:nvPr/>
        </p:nvGrpSpPr>
        <p:grpSpPr>
          <a:xfrm>
            <a:off x="12154708" y="3063714"/>
            <a:ext cx="535770" cy="1513176"/>
            <a:chOff x="5489483" y="1781707"/>
            <a:chExt cx="376713" cy="1063952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00F1E89-35B2-F44A-9FFE-42637C72BC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9483" y="1781707"/>
              <a:ext cx="43006" cy="106395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EC3EF8-BCEB-0048-854F-756275132BDB}"/>
                    </a:ext>
                  </a:extLst>
                </p:cNvPr>
                <p:cNvSpPr txBox="1"/>
                <p:nvPr/>
              </p:nvSpPr>
              <p:spPr>
                <a:xfrm>
                  <a:off x="5561876" y="2215535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EC3EF8-BCEB-0048-854F-756275132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876" y="2215535"/>
                  <a:ext cx="3043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74B2544-0EF2-7147-947A-9BB45D5CA404}"/>
              </a:ext>
            </a:extLst>
          </p:cNvPr>
          <p:cNvGrpSpPr/>
          <p:nvPr/>
        </p:nvGrpSpPr>
        <p:grpSpPr>
          <a:xfrm>
            <a:off x="10397285" y="6262621"/>
            <a:ext cx="622748" cy="393954"/>
            <a:chOff x="7296733" y="3525135"/>
            <a:chExt cx="437870" cy="27699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A53721F-FCF8-4D4E-AF76-56FBE33F35DB}"/>
                </a:ext>
              </a:extLst>
            </p:cNvPr>
            <p:cNvCxnSpPr>
              <a:cxnSpLocks/>
            </p:cNvCxnSpPr>
            <p:nvPr/>
          </p:nvCxnSpPr>
          <p:spPr>
            <a:xfrm>
              <a:off x="7296733" y="3561678"/>
              <a:ext cx="0" cy="179494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B3E2424-A14F-FC48-AE10-EDFC8EFB0E3F}"/>
                    </a:ext>
                  </a:extLst>
                </p:cNvPr>
                <p:cNvSpPr txBox="1"/>
                <p:nvPr/>
              </p:nvSpPr>
              <p:spPr>
                <a:xfrm>
                  <a:off x="7356680" y="3525135"/>
                  <a:ext cx="377923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B3E2424-A14F-FC48-AE10-EDFC8EFB0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6680" y="3525135"/>
                  <a:ext cx="37792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8182" t="-29032" r="-11364" b="-4838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0A3005D-094F-9A4B-8D9E-662552A50AE3}"/>
              </a:ext>
            </a:extLst>
          </p:cNvPr>
          <p:cNvGrpSpPr/>
          <p:nvPr/>
        </p:nvGrpSpPr>
        <p:grpSpPr>
          <a:xfrm>
            <a:off x="11546620" y="4627650"/>
            <a:ext cx="555115" cy="945374"/>
            <a:chOff x="6504551" y="3452469"/>
            <a:chExt cx="390315" cy="664716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6FA9D08-55BE-DD4C-8C7D-F445347233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4551" y="3452469"/>
              <a:ext cx="31901" cy="664716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178EEEF-33AA-F347-AA00-C7B7C4203DCA}"/>
                    </a:ext>
                  </a:extLst>
                </p:cNvPr>
                <p:cNvSpPr txBox="1"/>
                <p:nvPr/>
              </p:nvSpPr>
              <p:spPr>
                <a:xfrm>
                  <a:off x="6590546" y="3618048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178EEEF-33AA-F347-AA00-C7B7C4203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0546" y="3618048"/>
                  <a:ext cx="30432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2857" t="-29032" r="-45714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E184DAA-2A21-2545-B749-D3A3FF22BF8D}"/>
              </a:ext>
            </a:extLst>
          </p:cNvPr>
          <p:cNvGrpSpPr/>
          <p:nvPr/>
        </p:nvGrpSpPr>
        <p:grpSpPr>
          <a:xfrm>
            <a:off x="9811379" y="6489830"/>
            <a:ext cx="512703" cy="393954"/>
            <a:chOff x="6871828" y="3692518"/>
            <a:chExt cx="360494" cy="276999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29A6FDC-CB2B-5249-B5A0-46E735D016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828" y="3745793"/>
              <a:ext cx="14135" cy="17045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1FB8566-E13E-7647-BAA0-F9820115BF9B}"/>
                    </a:ext>
                  </a:extLst>
                </p:cNvPr>
                <p:cNvSpPr txBox="1"/>
                <p:nvPr/>
              </p:nvSpPr>
              <p:spPr>
                <a:xfrm>
                  <a:off x="6928002" y="3692518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1FB8566-E13E-7647-BAA0-F9820115B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8002" y="3692518"/>
                  <a:ext cx="30432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8571" t="-25806" r="-42857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A8355E-AFED-674A-8252-1F6B5252DEF8}"/>
              </a:ext>
            </a:extLst>
          </p:cNvPr>
          <p:cNvGrpSpPr/>
          <p:nvPr/>
        </p:nvGrpSpPr>
        <p:grpSpPr>
          <a:xfrm>
            <a:off x="10958324" y="5573023"/>
            <a:ext cx="517096" cy="699164"/>
            <a:chOff x="7299028" y="3645075"/>
            <a:chExt cx="363583" cy="491600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BDB9D29-4228-0746-80F0-29E57E18A3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9028" y="3645075"/>
              <a:ext cx="2335" cy="49160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71242EA-4DC5-214F-9E5A-249DC4A21C3D}"/>
                    </a:ext>
                  </a:extLst>
                </p:cNvPr>
                <p:cNvSpPr txBox="1"/>
                <p:nvPr/>
              </p:nvSpPr>
              <p:spPr>
                <a:xfrm>
                  <a:off x="7358291" y="3764780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71242EA-4DC5-214F-9E5A-249DC4A21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8291" y="3764780"/>
                  <a:ext cx="30432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714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926C438-2358-B34A-9D63-752A39D9C59D}"/>
              </a:ext>
            </a:extLst>
          </p:cNvPr>
          <p:cNvGrpSpPr/>
          <p:nvPr/>
        </p:nvGrpSpPr>
        <p:grpSpPr>
          <a:xfrm>
            <a:off x="1689826" y="3388383"/>
            <a:ext cx="3697783" cy="2343235"/>
            <a:chOff x="1161370" y="1511812"/>
            <a:chExt cx="2600004" cy="1647587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905739B7-B129-3E45-B283-675F1589B7CE}"/>
                </a:ext>
              </a:extLst>
            </p:cNvPr>
            <p:cNvGrpSpPr/>
            <p:nvPr/>
          </p:nvGrpSpPr>
          <p:grpSpPr>
            <a:xfrm>
              <a:off x="1161370" y="1717357"/>
              <a:ext cx="2176054" cy="1442042"/>
              <a:chOff x="727587" y="-311720"/>
              <a:chExt cx="2176054" cy="144204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A4409A1-2693-B64C-983B-B71660DBFE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54117" y="585753"/>
                <a:ext cx="479267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423672-1E01-B34C-BB29-37AA412535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52218" y="146710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7A553CA-5BF5-A841-9E43-9D753592F6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75281" y="-109521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8DF46FA-73F5-4741-B26E-29742E3943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9461" y="-311720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49F5C5FA-900C-CF48-A859-AE92FC062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7587" y="1130322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8BA6A6A-086D-9749-90B0-A7E7D9599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7194" y="151181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029BF6F-8BA5-1E4A-8DE7-6C8FC372F8C0}"/>
              </a:ext>
            </a:extLst>
          </p:cNvPr>
          <p:cNvCxnSpPr>
            <a:cxnSpLocks/>
          </p:cNvCxnSpPr>
          <p:nvPr/>
        </p:nvCxnSpPr>
        <p:spPr>
          <a:xfrm flipH="1" flipV="1">
            <a:off x="11562212" y="4638948"/>
            <a:ext cx="59536" cy="326648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52E148C-B6D8-0948-A98A-C92B98CA104A}"/>
              </a:ext>
            </a:extLst>
          </p:cNvPr>
          <p:cNvGrpSpPr/>
          <p:nvPr/>
        </p:nvGrpSpPr>
        <p:grpSpPr>
          <a:xfrm>
            <a:off x="7302067" y="4560202"/>
            <a:ext cx="4811654" cy="2718508"/>
            <a:chOff x="5107477" y="2335747"/>
            <a:chExt cx="3383194" cy="191145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1BE1B61-04A8-8F44-913A-EB0FA98D4DE5}"/>
                </a:ext>
              </a:extLst>
            </p:cNvPr>
            <p:cNvGrpSpPr/>
            <p:nvPr/>
          </p:nvGrpSpPr>
          <p:grpSpPr>
            <a:xfrm>
              <a:off x="5107477" y="3038754"/>
              <a:ext cx="2984987" cy="1208444"/>
              <a:chOff x="5107477" y="3038754"/>
              <a:chExt cx="2984987" cy="1208444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70B4D6D6-B7A2-E246-97F2-48F2DB1574D2}"/>
                  </a:ext>
                </a:extLst>
              </p:cNvPr>
              <p:cNvGrpSpPr/>
              <p:nvPr/>
            </p:nvGrpSpPr>
            <p:grpSpPr>
              <a:xfrm>
                <a:off x="5107477" y="3544494"/>
                <a:ext cx="2536247" cy="702704"/>
                <a:chOff x="5118309" y="3565133"/>
                <a:chExt cx="2536247" cy="702704"/>
              </a:xfrm>
            </p:grpSpPr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7A9A1BF5-00D1-C14D-A6C9-305839C51F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18309" y="4267837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D3EFF8B6-1E0D-614F-B8EB-F2107B49F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34322" y="4190611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D238F975-8DDB-5645-95F2-7A0927D2D1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40376" y="3565133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99AA6EFA-96F7-5945-A446-0012375420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76771" y="4062987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DCD4A1AA-E899-5644-9714-683A2AB935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44202" y="3916428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48906F35-BDF3-F24E-8B6D-3E09600CB2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65375" y="3754985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1CDB2156-538B-7349-91BC-CA0A5E5856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78284" y="3038754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C4CA68F-9B0E-B84F-8051-B1F8876550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6491" y="2335747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6E76627-2007-5743-87DF-09A6682770FC}"/>
              </a:ext>
            </a:extLst>
          </p:cNvPr>
          <p:cNvCxnSpPr>
            <a:cxnSpLocks/>
            <a:endCxn id="20" idx="3"/>
          </p:cNvCxnSpPr>
          <p:nvPr/>
        </p:nvCxnSpPr>
        <p:spPr>
          <a:xfrm flipH="1" flipV="1">
            <a:off x="12142669" y="3010515"/>
            <a:ext cx="73193" cy="485794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EBC6ACD-E462-4C41-95A5-7B5F32C6C0DC}"/>
              </a:ext>
            </a:extLst>
          </p:cNvPr>
          <p:cNvGrpSpPr/>
          <p:nvPr/>
        </p:nvGrpSpPr>
        <p:grpSpPr>
          <a:xfrm>
            <a:off x="9194786" y="6738103"/>
            <a:ext cx="512251" cy="416678"/>
            <a:chOff x="6421662" y="3253250"/>
            <a:chExt cx="360176" cy="292977"/>
          </a:xfrm>
        </p:grpSpPr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2C8D324-8202-A848-80DA-D41FAB8361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662" y="3253250"/>
              <a:ext cx="6146" cy="175263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24CAEC92-0133-B74C-8A93-E5FA447359E4}"/>
                    </a:ext>
                  </a:extLst>
                </p:cNvPr>
                <p:cNvSpPr txBox="1"/>
                <p:nvPr/>
              </p:nvSpPr>
              <p:spPr>
                <a:xfrm>
                  <a:off x="6477518" y="3269228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24CAEC92-0133-B74C-8A93-E5FA44735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518" y="3269228"/>
                  <a:ext cx="30432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5714" t="-25000" r="-42857" b="-46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24BCF46-179F-0C4A-9413-F2C16DC0D880}"/>
              </a:ext>
            </a:extLst>
          </p:cNvPr>
          <p:cNvGrpSpPr/>
          <p:nvPr/>
        </p:nvGrpSpPr>
        <p:grpSpPr>
          <a:xfrm>
            <a:off x="8581606" y="6935063"/>
            <a:ext cx="499045" cy="393954"/>
            <a:chOff x="6595441" y="4516863"/>
            <a:chExt cx="350891" cy="276999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ED4BF0F-E25A-E549-916B-E5B7837493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5441" y="4532853"/>
              <a:ext cx="10188" cy="127748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6C658B2C-5F50-954B-BC7C-C1F512233D90}"/>
                    </a:ext>
                  </a:extLst>
                </p:cNvPr>
                <p:cNvSpPr txBox="1"/>
                <p:nvPr/>
              </p:nvSpPr>
              <p:spPr>
                <a:xfrm>
                  <a:off x="6642012" y="4516863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6C658B2C-5F50-954B-BC7C-C1F512233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2012" y="4516863"/>
                  <a:ext cx="3043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714" t="-25806" r="-42857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A0C128F-53B7-D044-8B25-4909BC1E26DD}"/>
              </a:ext>
            </a:extLst>
          </p:cNvPr>
          <p:cNvGrpSpPr/>
          <p:nvPr/>
        </p:nvGrpSpPr>
        <p:grpSpPr>
          <a:xfrm>
            <a:off x="7910171" y="7146138"/>
            <a:ext cx="522706" cy="393954"/>
            <a:chOff x="6421662" y="3239604"/>
            <a:chExt cx="367527" cy="276999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8E9196-8289-284F-838A-15A493D8B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1662" y="3253250"/>
              <a:ext cx="0" cy="73526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E5DC91B3-51F4-1C40-90F8-544E241DC766}"/>
                    </a:ext>
                  </a:extLst>
                </p:cNvPr>
                <p:cNvSpPr txBox="1"/>
                <p:nvPr/>
              </p:nvSpPr>
              <p:spPr>
                <a:xfrm>
                  <a:off x="6484869" y="3239604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E5DC91B3-51F4-1C40-90F8-544E241DC7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4869" y="3239604"/>
                  <a:ext cx="3043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12BE49-FC4D-F448-9FF8-942C6C183E83}"/>
              </a:ext>
            </a:extLst>
          </p:cNvPr>
          <p:cNvSpPr txBox="1"/>
          <p:nvPr/>
        </p:nvSpPr>
        <p:spPr>
          <a:xfrm>
            <a:off x="7563449" y="413154"/>
            <a:ext cx="4209233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Convex to X-Axis Upwards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BE2C651-35CC-314A-A12B-2BB1A769AED6}"/>
              </a:ext>
            </a:extLst>
          </p:cNvPr>
          <p:cNvSpPr txBox="1"/>
          <p:nvPr/>
        </p:nvSpPr>
        <p:spPr>
          <a:xfrm>
            <a:off x="949359" y="478262"/>
            <a:ext cx="4624674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Concave to X-Axis Upwards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2A35043-7832-C047-9899-F6EEFDD56F78}"/>
              </a:ext>
            </a:extLst>
          </p:cNvPr>
          <p:cNvSpPr txBox="1"/>
          <p:nvPr/>
        </p:nvSpPr>
        <p:spPr>
          <a:xfrm>
            <a:off x="1153963" y="2085629"/>
            <a:ext cx="3806721" cy="9192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For more of X we get </a:t>
            </a:r>
          </a:p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less &amp; less addition of Y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B11D40C-B0AB-9541-A7F6-0052B0E863E6}"/>
              </a:ext>
            </a:extLst>
          </p:cNvPr>
          <p:cNvSpPr txBox="1"/>
          <p:nvPr/>
        </p:nvSpPr>
        <p:spPr>
          <a:xfrm>
            <a:off x="7655754" y="2019115"/>
            <a:ext cx="4116928" cy="9192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For more of X we get </a:t>
            </a:r>
          </a:p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more &amp; more addition of 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4CE8FA-D09F-1D4B-B3FC-B5EFB892F340}"/>
                  </a:ext>
                </a:extLst>
              </p14:cNvPr>
              <p14:cNvContentPartPr/>
              <p14:nvPr/>
            </p14:nvContentPartPr>
            <p14:xfrm>
              <a:off x="11140292" y="7880469"/>
              <a:ext cx="360" cy="22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4CE8FA-D09F-1D4B-B3FC-B5EFB892F3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124812" y="7864739"/>
                <a:ext cx="30960" cy="53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A7B541-0941-E14D-9C94-A79927AAB3B8}"/>
                  </a:ext>
                </a:extLst>
              </p14:cNvPr>
              <p14:cNvContentPartPr/>
              <p14:nvPr/>
            </p14:nvContentPartPr>
            <p14:xfrm>
              <a:off x="7869897" y="31590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A7B541-0941-E14D-9C94-A79927AAB3B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52257" y="314100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16592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7B8306-0A48-064A-89BD-F1BCAA29E85C}"/>
              </a:ext>
            </a:extLst>
          </p:cNvPr>
          <p:cNvCxnSpPr>
            <a:cxnSpLocks/>
          </p:cNvCxnSpPr>
          <p:nvPr/>
        </p:nvCxnSpPr>
        <p:spPr>
          <a:xfrm flipV="1">
            <a:off x="1072890" y="1881502"/>
            <a:ext cx="0" cy="63625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D5D676-96FF-2547-BA90-46E7B52B2D50}"/>
              </a:ext>
            </a:extLst>
          </p:cNvPr>
          <p:cNvCxnSpPr>
            <a:cxnSpLocks/>
          </p:cNvCxnSpPr>
          <p:nvPr/>
        </p:nvCxnSpPr>
        <p:spPr>
          <a:xfrm>
            <a:off x="765249" y="7999348"/>
            <a:ext cx="5432650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7E8A97-0F6D-5149-9E3C-B18603314B0C}"/>
              </a:ext>
            </a:extLst>
          </p:cNvPr>
          <p:cNvCxnSpPr>
            <a:cxnSpLocks/>
          </p:cNvCxnSpPr>
          <p:nvPr/>
        </p:nvCxnSpPr>
        <p:spPr>
          <a:xfrm flipH="1" flipV="1">
            <a:off x="7232691" y="1881501"/>
            <a:ext cx="118861" cy="6600283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045B5B-51EC-6240-B6B6-4650138655C6}"/>
              </a:ext>
            </a:extLst>
          </p:cNvPr>
          <p:cNvCxnSpPr>
            <a:cxnSpLocks/>
          </p:cNvCxnSpPr>
          <p:nvPr/>
        </p:nvCxnSpPr>
        <p:spPr>
          <a:xfrm>
            <a:off x="7075376" y="7964390"/>
            <a:ext cx="5453625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9704BE20-620F-324A-8A88-3DA331D8A19F}"/>
              </a:ext>
            </a:extLst>
          </p:cNvPr>
          <p:cNvSpPr/>
          <p:nvPr/>
        </p:nvSpPr>
        <p:spPr>
          <a:xfrm rot="15962755">
            <a:off x="1207166" y="2782463"/>
            <a:ext cx="4773493" cy="5319127"/>
          </a:xfrm>
          <a:custGeom>
            <a:avLst/>
            <a:gdLst>
              <a:gd name="connsiteX0" fmla="*/ 0 w 2939845"/>
              <a:gd name="connsiteY0" fmla="*/ 0 h 2389239"/>
              <a:gd name="connsiteX1" fmla="*/ 1858296 w 2939845"/>
              <a:gd name="connsiteY1" fmla="*/ 550607 h 2389239"/>
              <a:gd name="connsiteX2" fmla="*/ 2939845 w 2939845"/>
              <a:gd name="connsiteY2" fmla="*/ 2389239 h 2389239"/>
              <a:gd name="connsiteX0" fmla="*/ 0 w 2939845"/>
              <a:gd name="connsiteY0" fmla="*/ 0 h 2389239"/>
              <a:gd name="connsiteX1" fmla="*/ 1828799 w 2939845"/>
              <a:gd name="connsiteY1" fmla="*/ 629265 h 2389239"/>
              <a:gd name="connsiteX2" fmla="*/ 2939845 w 2939845"/>
              <a:gd name="connsiteY2" fmla="*/ 2389239 h 238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9845" h="2389239">
                <a:moveTo>
                  <a:pt x="0" y="0"/>
                </a:moveTo>
                <a:cubicBezTo>
                  <a:pt x="684161" y="76200"/>
                  <a:pt x="1338825" y="231059"/>
                  <a:pt x="1828799" y="629265"/>
                </a:cubicBezTo>
                <a:cubicBezTo>
                  <a:pt x="2318773" y="1027471"/>
                  <a:pt x="2644057" y="1669026"/>
                  <a:pt x="2939845" y="2389239"/>
                </a:cubicBezTo>
              </a:path>
            </a:pathLst>
          </a:custGeom>
          <a:noFill/>
          <a:ln w="57150" cap="flat">
            <a:solidFill>
              <a:schemeClr val="accent6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0047" tIns="65023" rIns="130047" bIns="65023" numCol="1" spcCol="38100" rtlCol="0" anchor="t">
            <a:noAutofit/>
          </a:bodyPr>
          <a:lstStyle/>
          <a:p>
            <a:pPr algn="l" defTabSz="1300460" latinLnBrk="1"/>
            <a:endParaRPr lang="en-US" sz="256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92DC51D-6856-AF48-B66B-8DF41B2A9D4A}"/>
              </a:ext>
            </a:extLst>
          </p:cNvPr>
          <p:cNvSpPr/>
          <p:nvPr/>
        </p:nvSpPr>
        <p:spPr>
          <a:xfrm rot="16200000">
            <a:off x="7393865" y="2413892"/>
            <a:ext cx="4802674" cy="4900851"/>
          </a:xfrm>
          <a:custGeom>
            <a:avLst/>
            <a:gdLst>
              <a:gd name="connsiteX0" fmla="*/ 0 w 2959509"/>
              <a:gd name="connsiteY0" fmla="*/ 0 h 2271251"/>
              <a:gd name="connsiteX1" fmla="*/ 619432 w 2959509"/>
              <a:gd name="connsiteY1" fmla="*/ 835742 h 2271251"/>
              <a:gd name="connsiteX2" fmla="*/ 2959509 w 2959509"/>
              <a:gd name="connsiteY2" fmla="*/ 2271251 h 2271251"/>
              <a:gd name="connsiteX0" fmla="*/ 0 w 2959509"/>
              <a:gd name="connsiteY0" fmla="*/ 0 h 2271251"/>
              <a:gd name="connsiteX1" fmla="*/ 619432 w 2959509"/>
              <a:gd name="connsiteY1" fmla="*/ 1396181 h 2271251"/>
              <a:gd name="connsiteX2" fmla="*/ 2959509 w 2959509"/>
              <a:gd name="connsiteY2" fmla="*/ 2271251 h 2271251"/>
              <a:gd name="connsiteX0" fmla="*/ 0 w 2959509"/>
              <a:gd name="connsiteY0" fmla="*/ 0 h 2271251"/>
              <a:gd name="connsiteX1" fmla="*/ 619432 w 2959509"/>
              <a:gd name="connsiteY1" fmla="*/ 1396181 h 2271251"/>
              <a:gd name="connsiteX2" fmla="*/ 1986116 w 2959509"/>
              <a:gd name="connsiteY2" fmla="*/ 2015613 h 2271251"/>
              <a:gd name="connsiteX3" fmla="*/ 2959509 w 2959509"/>
              <a:gd name="connsiteY3" fmla="*/ 2271251 h 2271251"/>
              <a:gd name="connsiteX0" fmla="*/ 0 w 2959509"/>
              <a:gd name="connsiteY0" fmla="*/ 0 h 2304107"/>
              <a:gd name="connsiteX1" fmla="*/ 619432 w 2959509"/>
              <a:gd name="connsiteY1" fmla="*/ 1396181 h 2304107"/>
              <a:gd name="connsiteX2" fmla="*/ 1986116 w 2959509"/>
              <a:gd name="connsiteY2" fmla="*/ 2015613 h 2304107"/>
              <a:gd name="connsiteX3" fmla="*/ 2674373 w 2959509"/>
              <a:gd name="connsiteY3" fmla="*/ 2290916 h 2304107"/>
              <a:gd name="connsiteX4" fmla="*/ 2959509 w 2959509"/>
              <a:gd name="connsiteY4" fmla="*/ 2271251 h 2304107"/>
              <a:gd name="connsiteX0" fmla="*/ 0 w 2959509"/>
              <a:gd name="connsiteY0" fmla="*/ 0 h 2304107"/>
              <a:gd name="connsiteX1" fmla="*/ 619432 w 2959509"/>
              <a:gd name="connsiteY1" fmla="*/ 1396181 h 2304107"/>
              <a:gd name="connsiteX2" fmla="*/ 1966451 w 2959509"/>
              <a:gd name="connsiteY2" fmla="*/ 2094272 h 2304107"/>
              <a:gd name="connsiteX3" fmla="*/ 2674373 w 2959509"/>
              <a:gd name="connsiteY3" fmla="*/ 2290916 h 2304107"/>
              <a:gd name="connsiteX4" fmla="*/ 2959509 w 2959509"/>
              <a:gd name="connsiteY4" fmla="*/ 2271251 h 2304107"/>
              <a:gd name="connsiteX0" fmla="*/ 0 w 3018502"/>
              <a:gd name="connsiteY0" fmla="*/ 0 h 2340077"/>
              <a:gd name="connsiteX1" fmla="*/ 619432 w 3018502"/>
              <a:gd name="connsiteY1" fmla="*/ 1396181 h 2340077"/>
              <a:gd name="connsiteX2" fmla="*/ 1966451 w 3018502"/>
              <a:gd name="connsiteY2" fmla="*/ 2094272 h 2340077"/>
              <a:gd name="connsiteX3" fmla="*/ 2674373 w 3018502"/>
              <a:gd name="connsiteY3" fmla="*/ 2290916 h 2340077"/>
              <a:gd name="connsiteX4" fmla="*/ 3018502 w 3018502"/>
              <a:gd name="connsiteY4" fmla="*/ 2340077 h 234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8502" h="2340077">
                <a:moveTo>
                  <a:pt x="0" y="0"/>
                </a:moveTo>
                <a:cubicBezTo>
                  <a:pt x="63090" y="228600"/>
                  <a:pt x="291690" y="1047136"/>
                  <a:pt x="619432" y="1396181"/>
                </a:cubicBezTo>
                <a:cubicBezTo>
                  <a:pt x="947174" y="1745226"/>
                  <a:pt x="1625600" y="1961537"/>
                  <a:pt x="1966451" y="2094272"/>
                </a:cubicBezTo>
                <a:cubicBezTo>
                  <a:pt x="2307302" y="2227007"/>
                  <a:pt x="2512141" y="2248310"/>
                  <a:pt x="2674373" y="2290916"/>
                </a:cubicBezTo>
                <a:cubicBezTo>
                  <a:pt x="2836605" y="2333522"/>
                  <a:pt x="2969341" y="2326968"/>
                  <a:pt x="3018502" y="2340077"/>
                </a:cubicBezTo>
              </a:path>
            </a:pathLst>
          </a:custGeom>
          <a:noFill/>
          <a:ln w="57150" cap="flat">
            <a:solidFill>
              <a:srgbClr val="7030A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0047" tIns="65023" rIns="130047" bIns="65023" numCol="1" spcCol="38100" rtlCol="0" anchor="t">
            <a:noAutofit/>
          </a:bodyPr>
          <a:lstStyle/>
          <a:p>
            <a:pPr algn="l" defTabSz="1300460" latinLnBrk="1"/>
            <a:endParaRPr lang="en-US" sz="256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993CC33-D5BA-E944-AB4A-06BAEE272EF3}"/>
              </a:ext>
            </a:extLst>
          </p:cNvPr>
          <p:cNvCxnSpPr>
            <a:cxnSpLocks/>
          </p:cNvCxnSpPr>
          <p:nvPr/>
        </p:nvCxnSpPr>
        <p:spPr>
          <a:xfrm flipH="1" flipV="1">
            <a:off x="1674190" y="5744480"/>
            <a:ext cx="1" cy="221991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D1C82D-2B7D-B943-A068-C8B7C3DF14BC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2298087" y="4947488"/>
            <a:ext cx="52562" cy="305186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6FAE63-4C4A-EC4D-9863-CE5EB04DD8FB}"/>
              </a:ext>
            </a:extLst>
          </p:cNvPr>
          <p:cNvCxnSpPr>
            <a:cxnSpLocks/>
          </p:cNvCxnSpPr>
          <p:nvPr/>
        </p:nvCxnSpPr>
        <p:spPr>
          <a:xfrm flipH="1" flipV="1">
            <a:off x="2999990" y="4327539"/>
            <a:ext cx="34984" cy="365433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0A3471-395F-7A4D-8A39-E8700864930E}"/>
              </a:ext>
            </a:extLst>
          </p:cNvPr>
          <p:cNvCxnSpPr>
            <a:cxnSpLocks/>
          </p:cNvCxnSpPr>
          <p:nvPr/>
        </p:nvCxnSpPr>
        <p:spPr>
          <a:xfrm flipH="1" flipV="1">
            <a:off x="3628048" y="3933584"/>
            <a:ext cx="33572" cy="4013329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DE8D02-40EB-714B-A11A-8ABF2D38BB64}"/>
              </a:ext>
            </a:extLst>
          </p:cNvPr>
          <p:cNvCxnSpPr>
            <a:cxnSpLocks/>
          </p:cNvCxnSpPr>
          <p:nvPr/>
        </p:nvCxnSpPr>
        <p:spPr>
          <a:xfrm flipH="1" flipV="1">
            <a:off x="4201971" y="3715247"/>
            <a:ext cx="34728" cy="426662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CA3AF7F-EBE0-4448-B887-A8D933E7BA63}"/>
              </a:ext>
            </a:extLst>
          </p:cNvPr>
          <p:cNvCxnSpPr>
            <a:cxnSpLocks/>
          </p:cNvCxnSpPr>
          <p:nvPr/>
        </p:nvCxnSpPr>
        <p:spPr>
          <a:xfrm flipV="1">
            <a:off x="4798645" y="3457667"/>
            <a:ext cx="0" cy="452420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D95D08-317B-FA4B-A3E6-346E0A4F9B68}"/>
              </a:ext>
            </a:extLst>
          </p:cNvPr>
          <p:cNvCxnSpPr>
            <a:cxnSpLocks/>
          </p:cNvCxnSpPr>
          <p:nvPr/>
        </p:nvCxnSpPr>
        <p:spPr>
          <a:xfrm flipH="1" flipV="1">
            <a:off x="7926585" y="7100359"/>
            <a:ext cx="29732" cy="86403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5D44FE-8A60-A744-B39E-3E1CFD0B7C61}"/>
              </a:ext>
            </a:extLst>
          </p:cNvPr>
          <p:cNvCxnSpPr>
            <a:cxnSpLocks/>
          </p:cNvCxnSpPr>
          <p:nvPr/>
        </p:nvCxnSpPr>
        <p:spPr>
          <a:xfrm flipH="1" flipV="1">
            <a:off x="8567122" y="6935064"/>
            <a:ext cx="28978" cy="104331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256981-0D4C-2B44-81D6-BFE5D2F043E8}"/>
              </a:ext>
            </a:extLst>
          </p:cNvPr>
          <p:cNvCxnSpPr>
            <a:cxnSpLocks/>
          </p:cNvCxnSpPr>
          <p:nvPr/>
        </p:nvCxnSpPr>
        <p:spPr>
          <a:xfrm flipH="1" flipV="1">
            <a:off x="9187782" y="6785680"/>
            <a:ext cx="15733" cy="1213668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313B00-E5E3-F644-A5A1-9AD06799AC73}"/>
              </a:ext>
            </a:extLst>
          </p:cNvPr>
          <p:cNvCxnSpPr>
            <a:cxnSpLocks/>
          </p:cNvCxnSpPr>
          <p:nvPr/>
        </p:nvCxnSpPr>
        <p:spPr>
          <a:xfrm flipH="1" flipV="1">
            <a:off x="9811669" y="6559027"/>
            <a:ext cx="22885" cy="140536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A4FD9D-DBEA-8641-B23A-B8301C919B59}"/>
              </a:ext>
            </a:extLst>
          </p:cNvPr>
          <p:cNvCxnSpPr>
            <a:cxnSpLocks/>
          </p:cNvCxnSpPr>
          <p:nvPr/>
        </p:nvCxnSpPr>
        <p:spPr>
          <a:xfrm flipH="1" flipV="1">
            <a:off x="10391245" y="6314594"/>
            <a:ext cx="24431" cy="164979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0196C9-5207-B240-B086-506082088728}"/>
              </a:ext>
            </a:extLst>
          </p:cNvPr>
          <p:cNvCxnSpPr>
            <a:cxnSpLocks/>
          </p:cNvCxnSpPr>
          <p:nvPr/>
        </p:nvCxnSpPr>
        <p:spPr>
          <a:xfrm flipH="1" flipV="1">
            <a:off x="10958326" y="5560033"/>
            <a:ext cx="7990" cy="241834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8956EE3-352A-BE4A-83EC-0D73BCEC841D}"/>
              </a:ext>
            </a:extLst>
          </p:cNvPr>
          <p:cNvCxnSpPr>
            <a:cxnSpLocks/>
          </p:cNvCxnSpPr>
          <p:nvPr/>
        </p:nvCxnSpPr>
        <p:spPr>
          <a:xfrm flipH="1" flipV="1">
            <a:off x="5383691" y="3132047"/>
            <a:ext cx="3119" cy="486730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440DE43-6D82-B24A-B8EA-12EAC609E89D}"/>
              </a:ext>
            </a:extLst>
          </p:cNvPr>
          <p:cNvSpPr txBox="1"/>
          <p:nvPr/>
        </p:nvSpPr>
        <p:spPr>
          <a:xfrm>
            <a:off x="6042188" y="8219150"/>
            <a:ext cx="368560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256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X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0A144C-77FE-5842-AD82-07DEF18C1DAD}"/>
              </a:ext>
            </a:extLst>
          </p:cNvPr>
          <p:cNvSpPr txBox="1"/>
          <p:nvPr/>
        </p:nvSpPr>
        <p:spPr>
          <a:xfrm>
            <a:off x="614098" y="1731520"/>
            <a:ext cx="447108" cy="6565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34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56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1A4FA0C-0FE7-CA4F-B88C-44A39B671FC1}"/>
              </a:ext>
            </a:extLst>
          </p:cNvPr>
          <p:cNvSpPr txBox="1"/>
          <p:nvPr/>
        </p:nvSpPr>
        <p:spPr>
          <a:xfrm>
            <a:off x="12357698" y="8014119"/>
            <a:ext cx="368560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X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C2FB2A8-B6DF-8449-8777-BFDB33E3BA55}"/>
              </a:ext>
            </a:extLst>
          </p:cNvPr>
          <p:cNvSpPr txBox="1"/>
          <p:nvPr/>
        </p:nvSpPr>
        <p:spPr>
          <a:xfrm>
            <a:off x="6851731" y="1731520"/>
            <a:ext cx="447108" cy="6565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34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56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089343C-F255-0A45-B8F8-1E8FC5DCF224}"/>
              </a:ext>
            </a:extLst>
          </p:cNvPr>
          <p:cNvGrpSpPr/>
          <p:nvPr/>
        </p:nvGrpSpPr>
        <p:grpSpPr>
          <a:xfrm>
            <a:off x="5397490" y="3058753"/>
            <a:ext cx="553244" cy="393954"/>
            <a:chOff x="1138223" y="1029917"/>
            <a:chExt cx="388999" cy="276999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F9FAF41-239E-264F-B491-7CA1290671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8223" y="1094522"/>
              <a:ext cx="3545" cy="167166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127FBF-65EC-F14D-B6DF-F3A9AD6B3467}"/>
                    </a:ext>
                  </a:extLst>
                </p:cNvPr>
                <p:cNvSpPr txBox="1"/>
                <p:nvPr/>
              </p:nvSpPr>
              <p:spPr>
                <a:xfrm>
                  <a:off x="1222902" y="102991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127FBF-65EC-F14D-B6DF-F3A9AD6B3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2902" y="1029917"/>
                  <a:ext cx="30432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5A16448-9567-7840-A267-A4E7CA3DA5A7}"/>
              </a:ext>
            </a:extLst>
          </p:cNvPr>
          <p:cNvGrpSpPr/>
          <p:nvPr/>
        </p:nvGrpSpPr>
        <p:grpSpPr>
          <a:xfrm>
            <a:off x="4784657" y="3388385"/>
            <a:ext cx="501194" cy="433217"/>
            <a:chOff x="1605034" y="1227645"/>
            <a:chExt cx="352402" cy="304606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FD463EF-ECAC-924E-A0BC-FB9499D3F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5034" y="1227645"/>
              <a:ext cx="10475" cy="194383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38F9855-07A5-9D42-9C76-6304F3B9DD24}"/>
                    </a:ext>
                  </a:extLst>
                </p:cNvPr>
                <p:cNvSpPr txBox="1"/>
                <p:nvPr/>
              </p:nvSpPr>
              <p:spPr>
                <a:xfrm>
                  <a:off x="1653116" y="1255252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38F9855-07A5-9D42-9C76-6304F3B9DD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3116" y="1255252"/>
                  <a:ext cx="30432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714" t="-21875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1C042A0-9625-8F46-A8D1-40FACC5394AB}"/>
              </a:ext>
            </a:extLst>
          </p:cNvPr>
          <p:cNvGrpSpPr/>
          <p:nvPr/>
        </p:nvGrpSpPr>
        <p:grpSpPr>
          <a:xfrm>
            <a:off x="4219340" y="3664840"/>
            <a:ext cx="535870" cy="393954"/>
            <a:chOff x="2064283" y="1400337"/>
            <a:chExt cx="376783" cy="276999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8EAE5DC-2078-4B46-9484-F47A705A7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4283" y="1400337"/>
              <a:ext cx="11225" cy="2133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4884667-E879-1644-90A6-7BE90E6B64A6}"/>
                    </a:ext>
                  </a:extLst>
                </p:cNvPr>
                <p:cNvSpPr txBox="1"/>
                <p:nvPr/>
              </p:nvSpPr>
              <p:spPr>
                <a:xfrm>
                  <a:off x="2136746" y="140033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4884667-E879-1644-90A6-7BE90E6B6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46" y="1400337"/>
                  <a:ext cx="30432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0E7F7AC-5FD0-1047-8A5B-7F982C5101A6}"/>
              </a:ext>
            </a:extLst>
          </p:cNvPr>
          <p:cNvGrpSpPr/>
          <p:nvPr/>
        </p:nvGrpSpPr>
        <p:grpSpPr>
          <a:xfrm>
            <a:off x="3629714" y="3968284"/>
            <a:ext cx="508151" cy="428656"/>
            <a:chOff x="2525349" y="1919556"/>
            <a:chExt cx="357293" cy="301399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3D8B389-9D2C-B844-9B5B-A380ADB8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5349" y="1919556"/>
              <a:ext cx="0" cy="28081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13E1835-DC87-E640-ABCA-079D1E76C564}"/>
                    </a:ext>
                  </a:extLst>
                </p:cNvPr>
                <p:cNvSpPr txBox="1"/>
                <p:nvPr/>
              </p:nvSpPr>
              <p:spPr>
                <a:xfrm>
                  <a:off x="2578322" y="1943956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13E1835-DC87-E640-ABCA-079D1E76C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8322" y="1943956"/>
                  <a:ext cx="30432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2857" t="-25000" r="-45714" b="-46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AE4D8AD-3372-BF4C-A4C4-7450A383C3BF}"/>
              </a:ext>
            </a:extLst>
          </p:cNvPr>
          <p:cNvGrpSpPr/>
          <p:nvPr/>
        </p:nvGrpSpPr>
        <p:grpSpPr>
          <a:xfrm>
            <a:off x="3016624" y="4367661"/>
            <a:ext cx="497707" cy="618209"/>
            <a:chOff x="2928112" y="2280044"/>
            <a:chExt cx="349950" cy="434678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8A0B482-311E-BA48-B9F9-EFA789BAE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8112" y="2280044"/>
              <a:ext cx="391" cy="434678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3D46A7E-45B5-284F-9198-F94D7242D6DE}"/>
                    </a:ext>
                  </a:extLst>
                </p:cNvPr>
                <p:cNvSpPr txBox="1"/>
                <p:nvPr/>
              </p:nvSpPr>
              <p:spPr>
                <a:xfrm>
                  <a:off x="2973742" y="2315966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3D46A7E-45B5-284F-9198-F94D7242D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3742" y="2315966"/>
                  <a:ext cx="30432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714" t="-29032" r="-45714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8020C1C-53AF-0541-8B84-7B6367BDADFC}"/>
              </a:ext>
            </a:extLst>
          </p:cNvPr>
          <p:cNvGrpSpPr/>
          <p:nvPr/>
        </p:nvGrpSpPr>
        <p:grpSpPr>
          <a:xfrm>
            <a:off x="2323913" y="4975130"/>
            <a:ext cx="481728" cy="744640"/>
            <a:chOff x="3327593" y="2981248"/>
            <a:chExt cx="338715" cy="523575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9C729D3-AAC9-1C4C-B3AC-DEC35423D4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7593" y="2981248"/>
              <a:ext cx="6138" cy="523575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7BE8DAC-8D34-0F46-9AEC-60937D68ED8F}"/>
                    </a:ext>
                  </a:extLst>
                </p:cNvPr>
                <p:cNvSpPr txBox="1"/>
                <p:nvPr/>
              </p:nvSpPr>
              <p:spPr>
                <a:xfrm>
                  <a:off x="3361988" y="3095470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7BE8DAC-8D34-0F46-9AEC-60937D68E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1988" y="3095470"/>
                  <a:ext cx="3043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9FA758E-2EDA-D04B-AD1B-D8B7F4AB0BD4}"/>
              </a:ext>
            </a:extLst>
          </p:cNvPr>
          <p:cNvGrpSpPr/>
          <p:nvPr/>
        </p:nvGrpSpPr>
        <p:grpSpPr>
          <a:xfrm>
            <a:off x="12154708" y="3063714"/>
            <a:ext cx="535770" cy="1513176"/>
            <a:chOff x="5489483" y="1781707"/>
            <a:chExt cx="376713" cy="1063952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00F1E89-35B2-F44A-9FFE-42637C72BC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9483" y="1781707"/>
              <a:ext cx="43006" cy="106395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EC3EF8-BCEB-0048-854F-756275132BDB}"/>
                    </a:ext>
                  </a:extLst>
                </p:cNvPr>
                <p:cNvSpPr txBox="1"/>
                <p:nvPr/>
              </p:nvSpPr>
              <p:spPr>
                <a:xfrm>
                  <a:off x="5561876" y="2215535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EC3EF8-BCEB-0048-854F-756275132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876" y="2215535"/>
                  <a:ext cx="3043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74B2544-0EF2-7147-947A-9BB45D5CA404}"/>
              </a:ext>
            </a:extLst>
          </p:cNvPr>
          <p:cNvGrpSpPr/>
          <p:nvPr/>
        </p:nvGrpSpPr>
        <p:grpSpPr>
          <a:xfrm>
            <a:off x="10397285" y="6262621"/>
            <a:ext cx="622748" cy="393954"/>
            <a:chOff x="7296733" y="3525135"/>
            <a:chExt cx="437870" cy="27699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A53721F-FCF8-4D4E-AF76-56FBE33F35DB}"/>
                </a:ext>
              </a:extLst>
            </p:cNvPr>
            <p:cNvCxnSpPr>
              <a:cxnSpLocks/>
            </p:cNvCxnSpPr>
            <p:nvPr/>
          </p:nvCxnSpPr>
          <p:spPr>
            <a:xfrm>
              <a:off x="7296733" y="3561678"/>
              <a:ext cx="0" cy="179494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B3E2424-A14F-FC48-AE10-EDFC8EFB0E3F}"/>
                    </a:ext>
                  </a:extLst>
                </p:cNvPr>
                <p:cNvSpPr txBox="1"/>
                <p:nvPr/>
              </p:nvSpPr>
              <p:spPr>
                <a:xfrm>
                  <a:off x="7356680" y="3525135"/>
                  <a:ext cx="377923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B3E2424-A14F-FC48-AE10-EDFC8EFB0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6680" y="3525135"/>
                  <a:ext cx="37792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0930" t="-21212" r="-18605" b="-4545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0A3005D-094F-9A4B-8D9E-662552A50AE3}"/>
              </a:ext>
            </a:extLst>
          </p:cNvPr>
          <p:cNvGrpSpPr/>
          <p:nvPr/>
        </p:nvGrpSpPr>
        <p:grpSpPr>
          <a:xfrm>
            <a:off x="11546620" y="4627650"/>
            <a:ext cx="555115" cy="945374"/>
            <a:chOff x="6504551" y="3452469"/>
            <a:chExt cx="390315" cy="664716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6FA9D08-55BE-DD4C-8C7D-F445347233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4551" y="3452469"/>
              <a:ext cx="31901" cy="664716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178EEEF-33AA-F347-AA00-C7B7C4203DCA}"/>
                    </a:ext>
                  </a:extLst>
                </p:cNvPr>
                <p:cNvSpPr txBox="1"/>
                <p:nvPr/>
              </p:nvSpPr>
              <p:spPr>
                <a:xfrm>
                  <a:off x="6590546" y="3618048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178EEEF-33AA-F347-AA00-C7B7C4203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0546" y="3618048"/>
                  <a:ext cx="30432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2857" t="-29032" r="-45714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E184DAA-2A21-2545-B749-D3A3FF22BF8D}"/>
              </a:ext>
            </a:extLst>
          </p:cNvPr>
          <p:cNvGrpSpPr/>
          <p:nvPr/>
        </p:nvGrpSpPr>
        <p:grpSpPr>
          <a:xfrm>
            <a:off x="9811379" y="6489830"/>
            <a:ext cx="512703" cy="393954"/>
            <a:chOff x="6871828" y="3692518"/>
            <a:chExt cx="360494" cy="276999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29A6FDC-CB2B-5249-B5A0-46E735D016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828" y="3745793"/>
              <a:ext cx="14135" cy="17045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1FB8566-E13E-7647-BAA0-F9820115BF9B}"/>
                    </a:ext>
                  </a:extLst>
                </p:cNvPr>
                <p:cNvSpPr txBox="1"/>
                <p:nvPr/>
              </p:nvSpPr>
              <p:spPr>
                <a:xfrm>
                  <a:off x="6928002" y="3692518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1FB8566-E13E-7647-BAA0-F9820115B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8002" y="3692518"/>
                  <a:ext cx="30432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8571" t="-25806" r="-42857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A8355E-AFED-674A-8252-1F6B5252DEF8}"/>
              </a:ext>
            </a:extLst>
          </p:cNvPr>
          <p:cNvGrpSpPr/>
          <p:nvPr/>
        </p:nvGrpSpPr>
        <p:grpSpPr>
          <a:xfrm>
            <a:off x="10958324" y="5573023"/>
            <a:ext cx="517096" cy="699164"/>
            <a:chOff x="7299028" y="3645075"/>
            <a:chExt cx="363583" cy="491600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BDB9D29-4228-0746-80F0-29E57E18A3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9028" y="3645075"/>
              <a:ext cx="2335" cy="49160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71242EA-4DC5-214F-9E5A-249DC4A21C3D}"/>
                    </a:ext>
                  </a:extLst>
                </p:cNvPr>
                <p:cNvSpPr txBox="1"/>
                <p:nvPr/>
              </p:nvSpPr>
              <p:spPr>
                <a:xfrm>
                  <a:off x="7358291" y="3764780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71242EA-4DC5-214F-9E5A-249DC4A21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8291" y="3764780"/>
                  <a:ext cx="30432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714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926C438-2358-B34A-9D63-752A39D9C59D}"/>
              </a:ext>
            </a:extLst>
          </p:cNvPr>
          <p:cNvGrpSpPr/>
          <p:nvPr/>
        </p:nvGrpSpPr>
        <p:grpSpPr>
          <a:xfrm>
            <a:off x="1689826" y="3388383"/>
            <a:ext cx="3697783" cy="2343235"/>
            <a:chOff x="1161370" y="1511812"/>
            <a:chExt cx="2600004" cy="1647587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905739B7-B129-3E45-B283-675F1589B7CE}"/>
                </a:ext>
              </a:extLst>
            </p:cNvPr>
            <p:cNvGrpSpPr/>
            <p:nvPr/>
          </p:nvGrpSpPr>
          <p:grpSpPr>
            <a:xfrm>
              <a:off x="1161370" y="1717357"/>
              <a:ext cx="2176054" cy="1442042"/>
              <a:chOff x="727587" y="-311720"/>
              <a:chExt cx="2176054" cy="144204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A4409A1-2693-B64C-983B-B71660DBFE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54117" y="585753"/>
                <a:ext cx="479267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423672-1E01-B34C-BB29-37AA412535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52218" y="146710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7A553CA-5BF5-A841-9E43-9D753592F6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75281" y="-109521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8DF46FA-73F5-4741-B26E-29742E3943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9461" y="-311720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49F5C5FA-900C-CF48-A859-AE92FC062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7587" y="1130322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8BA6A6A-086D-9749-90B0-A7E7D9599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7194" y="151181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029BF6F-8BA5-1E4A-8DE7-6C8FC372F8C0}"/>
              </a:ext>
            </a:extLst>
          </p:cNvPr>
          <p:cNvCxnSpPr>
            <a:cxnSpLocks/>
          </p:cNvCxnSpPr>
          <p:nvPr/>
        </p:nvCxnSpPr>
        <p:spPr>
          <a:xfrm flipH="1" flipV="1">
            <a:off x="11562212" y="4638948"/>
            <a:ext cx="59536" cy="326648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52E148C-B6D8-0948-A98A-C92B98CA104A}"/>
              </a:ext>
            </a:extLst>
          </p:cNvPr>
          <p:cNvGrpSpPr/>
          <p:nvPr/>
        </p:nvGrpSpPr>
        <p:grpSpPr>
          <a:xfrm>
            <a:off x="7302067" y="4560202"/>
            <a:ext cx="4811654" cy="2718508"/>
            <a:chOff x="5107477" y="2335747"/>
            <a:chExt cx="3383194" cy="191145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1BE1B61-04A8-8F44-913A-EB0FA98D4DE5}"/>
                </a:ext>
              </a:extLst>
            </p:cNvPr>
            <p:cNvGrpSpPr/>
            <p:nvPr/>
          </p:nvGrpSpPr>
          <p:grpSpPr>
            <a:xfrm>
              <a:off x="5107477" y="3038754"/>
              <a:ext cx="2984987" cy="1208444"/>
              <a:chOff x="5107477" y="3038754"/>
              <a:chExt cx="2984987" cy="1208444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70B4D6D6-B7A2-E246-97F2-48F2DB1574D2}"/>
                  </a:ext>
                </a:extLst>
              </p:cNvPr>
              <p:cNvGrpSpPr/>
              <p:nvPr/>
            </p:nvGrpSpPr>
            <p:grpSpPr>
              <a:xfrm>
                <a:off x="5107477" y="3544494"/>
                <a:ext cx="2536247" cy="702704"/>
                <a:chOff x="5118309" y="3565133"/>
                <a:chExt cx="2536247" cy="702704"/>
              </a:xfrm>
            </p:grpSpPr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7A9A1BF5-00D1-C14D-A6C9-305839C51F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18309" y="4267837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D3EFF8B6-1E0D-614F-B8EB-F2107B49F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34322" y="4190611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D238F975-8DDB-5645-95F2-7A0927D2D1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40376" y="3565133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99AA6EFA-96F7-5945-A446-0012375420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76771" y="4062987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DCD4A1AA-E899-5644-9714-683A2AB935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44202" y="3916428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48906F35-BDF3-F24E-8B6D-3E09600CB2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65375" y="3754985"/>
                  <a:ext cx="414180" cy="0"/>
                </a:xfrm>
                <a:prstGeom prst="line">
                  <a:avLst/>
                </a:prstGeom>
                <a:noFill/>
                <a:ln w="25400" cap="flat">
                  <a:solidFill>
                    <a:srgbClr val="00B050"/>
                  </a:solidFill>
                  <a:prstDash val="sysDot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1CDB2156-538B-7349-91BC-CA0A5E5856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78284" y="3038754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C4CA68F-9B0E-B84F-8051-B1F8876550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6491" y="2335747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6E76627-2007-5743-87DF-09A6682770FC}"/>
              </a:ext>
            </a:extLst>
          </p:cNvPr>
          <p:cNvCxnSpPr>
            <a:cxnSpLocks/>
            <a:endCxn id="20" idx="3"/>
          </p:cNvCxnSpPr>
          <p:nvPr/>
        </p:nvCxnSpPr>
        <p:spPr>
          <a:xfrm flipH="1" flipV="1">
            <a:off x="12142669" y="3010515"/>
            <a:ext cx="73193" cy="485794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EBC6ACD-E462-4C41-95A5-7B5F32C6C0DC}"/>
              </a:ext>
            </a:extLst>
          </p:cNvPr>
          <p:cNvGrpSpPr/>
          <p:nvPr/>
        </p:nvGrpSpPr>
        <p:grpSpPr>
          <a:xfrm>
            <a:off x="9194786" y="6738103"/>
            <a:ext cx="512251" cy="416678"/>
            <a:chOff x="6421662" y="3253250"/>
            <a:chExt cx="360176" cy="292977"/>
          </a:xfrm>
        </p:grpSpPr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2C8D324-8202-A848-80DA-D41FAB8361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662" y="3253250"/>
              <a:ext cx="6146" cy="175263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24CAEC92-0133-B74C-8A93-E5FA447359E4}"/>
                    </a:ext>
                  </a:extLst>
                </p:cNvPr>
                <p:cNvSpPr txBox="1"/>
                <p:nvPr/>
              </p:nvSpPr>
              <p:spPr>
                <a:xfrm>
                  <a:off x="6477518" y="3269228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24CAEC92-0133-B74C-8A93-E5FA44735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518" y="3269228"/>
                  <a:ext cx="30432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5714" t="-25000" r="-42857" b="-46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24BCF46-179F-0C4A-9413-F2C16DC0D880}"/>
              </a:ext>
            </a:extLst>
          </p:cNvPr>
          <p:cNvGrpSpPr/>
          <p:nvPr/>
        </p:nvGrpSpPr>
        <p:grpSpPr>
          <a:xfrm>
            <a:off x="8581606" y="6935063"/>
            <a:ext cx="499045" cy="393954"/>
            <a:chOff x="6595441" y="4516863"/>
            <a:chExt cx="350891" cy="276999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ED4BF0F-E25A-E549-916B-E5B7837493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5441" y="4532853"/>
              <a:ext cx="10188" cy="127748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6C658B2C-5F50-954B-BC7C-C1F512233D90}"/>
                    </a:ext>
                  </a:extLst>
                </p:cNvPr>
                <p:cNvSpPr txBox="1"/>
                <p:nvPr/>
              </p:nvSpPr>
              <p:spPr>
                <a:xfrm>
                  <a:off x="6642012" y="4516863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6C658B2C-5F50-954B-BC7C-C1F512233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2012" y="4516863"/>
                  <a:ext cx="3043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714" t="-25806" r="-42857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A0C128F-53B7-D044-8B25-4909BC1E26DD}"/>
              </a:ext>
            </a:extLst>
          </p:cNvPr>
          <p:cNvGrpSpPr/>
          <p:nvPr/>
        </p:nvGrpSpPr>
        <p:grpSpPr>
          <a:xfrm>
            <a:off x="7910171" y="7146138"/>
            <a:ext cx="522706" cy="393954"/>
            <a:chOff x="6421662" y="3239604"/>
            <a:chExt cx="367527" cy="276999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8E9196-8289-284F-838A-15A493D8B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1662" y="3253250"/>
              <a:ext cx="0" cy="73526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E5DC91B3-51F4-1C40-90F8-544E241DC766}"/>
                    </a:ext>
                  </a:extLst>
                </p:cNvPr>
                <p:cNvSpPr txBox="1"/>
                <p:nvPr/>
              </p:nvSpPr>
              <p:spPr>
                <a:xfrm>
                  <a:off x="6484869" y="3239604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E5DC91B3-51F4-1C40-90F8-544E241DC7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4869" y="3239604"/>
                  <a:ext cx="3043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12BE49-FC4D-F448-9FF8-942C6C183E83}"/>
              </a:ext>
            </a:extLst>
          </p:cNvPr>
          <p:cNvSpPr txBox="1"/>
          <p:nvPr/>
        </p:nvSpPr>
        <p:spPr>
          <a:xfrm>
            <a:off x="7563449" y="413154"/>
            <a:ext cx="4209233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Convex to X-Axis Upwards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BE2C651-35CC-314A-A12B-2BB1A769AED6}"/>
              </a:ext>
            </a:extLst>
          </p:cNvPr>
          <p:cNvSpPr txBox="1"/>
          <p:nvPr/>
        </p:nvSpPr>
        <p:spPr>
          <a:xfrm>
            <a:off x="949359" y="478262"/>
            <a:ext cx="4624674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Concave to X-Axis Upwards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2A35043-7832-C047-9899-F6EEFDD56F78}"/>
              </a:ext>
            </a:extLst>
          </p:cNvPr>
          <p:cNvSpPr txBox="1"/>
          <p:nvPr/>
        </p:nvSpPr>
        <p:spPr>
          <a:xfrm>
            <a:off x="1153963" y="2085629"/>
            <a:ext cx="3806721" cy="9192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For more of X we get </a:t>
            </a:r>
          </a:p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less &amp; less addition of Y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B11D40C-B0AB-9541-A7F6-0052B0E863E6}"/>
              </a:ext>
            </a:extLst>
          </p:cNvPr>
          <p:cNvSpPr txBox="1"/>
          <p:nvPr/>
        </p:nvSpPr>
        <p:spPr>
          <a:xfrm>
            <a:off x="7655754" y="2019115"/>
            <a:ext cx="4116928" cy="9192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For more of X we get </a:t>
            </a:r>
          </a:p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more &amp; more addition of 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4CE8FA-D09F-1D4B-B3FC-B5EFB892F340}"/>
                  </a:ext>
                </a:extLst>
              </p14:cNvPr>
              <p14:cNvContentPartPr/>
              <p14:nvPr/>
            </p14:nvContentPartPr>
            <p14:xfrm>
              <a:off x="11140292" y="7880469"/>
              <a:ext cx="360" cy="22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4CE8FA-D09F-1D4B-B3FC-B5EFB892F3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124812" y="7864739"/>
                <a:ext cx="30960" cy="53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A7B541-0941-E14D-9C94-A79927AAB3B8}"/>
                  </a:ext>
                </a:extLst>
              </p14:cNvPr>
              <p14:cNvContentPartPr/>
              <p14:nvPr/>
            </p14:nvContentPartPr>
            <p14:xfrm>
              <a:off x="7869897" y="31590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A7B541-0941-E14D-9C94-A79927AAB3B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51897" y="314100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58475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7B8306-0A48-064A-89BD-F1BCAA29E85C}"/>
              </a:ext>
            </a:extLst>
          </p:cNvPr>
          <p:cNvCxnSpPr>
            <a:cxnSpLocks/>
          </p:cNvCxnSpPr>
          <p:nvPr/>
        </p:nvCxnSpPr>
        <p:spPr>
          <a:xfrm flipV="1">
            <a:off x="710047" y="2330461"/>
            <a:ext cx="0" cy="63625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D5D676-96FF-2547-BA90-46E7B52B2D50}"/>
              </a:ext>
            </a:extLst>
          </p:cNvPr>
          <p:cNvCxnSpPr>
            <a:cxnSpLocks/>
          </p:cNvCxnSpPr>
          <p:nvPr/>
        </p:nvCxnSpPr>
        <p:spPr>
          <a:xfrm>
            <a:off x="402406" y="8448307"/>
            <a:ext cx="5432650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9704BE20-620F-324A-8A88-3DA331D8A19F}"/>
              </a:ext>
            </a:extLst>
          </p:cNvPr>
          <p:cNvSpPr/>
          <p:nvPr/>
        </p:nvSpPr>
        <p:spPr>
          <a:xfrm rot="15962755">
            <a:off x="844323" y="3231422"/>
            <a:ext cx="4773493" cy="5319127"/>
          </a:xfrm>
          <a:custGeom>
            <a:avLst/>
            <a:gdLst>
              <a:gd name="connsiteX0" fmla="*/ 0 w 2939845"/>
              <a:gd name="connsiteY0" fmla="*/ 0 h 2389239"/>
              <a:gd name="connsiteX1" fmla="*/ 1858296 w 2939845"/>
              <a:gd name="connsiteY1" fmla="*/ 550607 h 2389239"/>
              <a:gd name="connsiteX2" fmla="*/ 2939845 w 2939845"/>
              <a:gd name="connsiteY2" fmla="*/ 2389239 h 2389239"/>
              <a:gd name="connsiteX0" fmla="*/ 0 w 2939845"/>
              <a:gd name="connsiteY0" fmla="*/ 0 h 2389239"/>
              <a:gd name="connsiteX1" fmla="*/ 1828799 w 2939845"/>
              <a:gd name="connsiteY1" fmla="*/ 629265 h 2389239"/>
              <a:gd name="connsiteX2" fmla="*/ 2939845 w 2939845"/>
              <a:gd name="connsiteY2" fmla="*/ 2389239 h 238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9845" h="2389239">
                <a:moveTo>
                  <a:pt x="0" y="0"/>
                </a:moveTo>
                <a:cubicBezTo>
                  <a:pt x="684161" y="76200"/>
                  <a:pt x="1338825" y="231059"/>
                  <a:pt x="1828799" y="629265"/>
                </a:cubicBezTo>
                <a:cubicBezTo>
                  <a:pt x="2318773" y="1027471"/>
                  <a:pt x="2644057" y="1669026"/>
                  <a:pt x="2939845" y="2389239"/>
                </a:cubicBezTo>
              </a:path>
            </a:pathLst>
          </a:custGeom>
          <a:noFill/>
          <a:ln w="57150" cap="flat">
            <a:solidFill>
              <a:schemeClr val="accent6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0047" tIns="65023" rIns="130047" bIns="65023" numCol="1" spcCol="38100" rtlCol="0" anchor="t">
            <a:noAutofit/>
          </a:bodyPr>
          <a:lstStyle/>
          <a:p>
            <a:pPr algn="l" defTabSz="1300460" latinLnBrk="1"/>
            <a:endParaRPr lang="en-US" sz="256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993CC33-D5BA-E944-AB4A-06BAEE272EF3}"/>
              </a:ext>
            </a:extLst>
          </p:cNvPr>
          <p:cNvCxnSpPr>
            <a:cxnSpLocks/>
          </p:cNvCxnSpPr>
          <p:nvPr/>
        </p:nvCxnSpPr>
        <p:spPr>
          <a:xfrm flipH="1" flipV="1">
            <a:off x="1311347" y="6193439"/>
            <a:ext cx="1" cy="221991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D1C82D-2B7D-B943-A068-C8B7C3DF14BC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935244" y="5396447"/>
            <a:ext cx="52562" cy="305186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6FAE63-4C4A-EC4D-9863-CE5EB04DD8FB}"/>
              </a:ext>
            </a:extLst>
          </p:cNvPr>
          <p:cNvCxnSpPr>
            <a:cxnSpLocks/>
          </p:cNvCxnSpPr>
          <p:nvPr/>
        </p:nvCxnSpPr>
        <p:spPr>
          <a:xfrm flipH="1" flipV="1">
            <a:off x="2637147" y="4776498"/>
            <a:ext cx="34984" cy="365433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0A3471-395F-7A4D-8A39-E8700864930E}"/>
              </a:ext>
            </a:extLst>
          </p:cNvPr>
          <p:cNvCxnSpPr>
            <a:cxnSpLocks/>
          </p:cNvCxnSpPr>
          <p:nvPr/>
        </p:nvCxnSpPr>
        <p:spPr>
          <a:xfrm flipH="1" flipV="1">
            <a:off x="3265205" y="4382543"/>
            <a:ext cx="33572" cy="4013329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DE8D02-40EB-714B-A11A-8ABF2D38BB64}"/>
              </a:ext>
            </a:extLst>
          </p:cNvPr>
          <p:cNvCxnSpPr>
            <a:cxnSpLocks/>
          </p:cNvCxnSpPr>
          <p:nvPr/>
        </p:nvCxnSpPr>
        <p:spPr>
          <a:xfrm flipH="1" flipV="1">
            <a:off x="3839128" y="4164206"/>
            <a:ext cx="34728" cy="426662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CA3AF7F-EBE0-4448-B887-A8D933E7BA63}"/>
              </a:ext>
            </a:extLst>
          </p:cNvPr>
          <p:cNvCxnSpPr>
            <a:cxnSpLocks/>
          </p:cNvCxnSpPr>
          <p:nvPr/>
        </p:nvCxnSpPr>
        <p:spPr>
          <a:xfrm flipV="1">
            <a:off x="4435802" y="3906626"/>
            <a:ext cx="0" cy="452420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8956EE3-352A-BE4A-83EC-0D73BCEC841D}"/>
              </a:ext>
            </a:extLst>
          </p:cNvPr>
          <p:cNvCxnSpPr>
            <a:cxnSpLocks/>
          </p:cNvCxnSpPr>
          <p:nvPr/>
        </p:nvCxnSpPr>
        <p:spPr>
          <a:xfrm flipH="1" flipV="1">
            <a:off x="5020848" y="3581006"/>
            <a:ext cx="3119" cy="486730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440DE43-6D82-B24A-B8EA-12EAC609E89D}"/>
              </a:ext>
            </a:extLst>
          </p:cNvPr>
          <p:cNvSpPr txBox="1"/>
          <p:nvPr/>
        </p:nvSpPr>
        <p:spPr>
          <a:xfrm>
            <a:off x="5604728" y="8458448"/>
            <a:ext cx="368560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X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0A144C-77FE-5842-AD82-07DEF18C1DAD}"/>
              </a:ext>
            </a:extLst>
          </p:cNvPr>
          <p:cNvSpPr txBox="1"/>
          <p:nvPr/>
        </p:nvSpPr>
        <p:spPr>
          <a:xfrm>
            <a:off x="251255" y="2180479"/>
            <a:ext cx="447108" cy="6565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34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56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089343C-F255-0A45-B8F8-1E8FC5DCF224}"/>
              </a:ext>
            </a:extLst>
          </p:cNvPr>
          <p:cNvGrpSpPr/>
          <p:nvPr/>
        </p:nvGrpSpPr>
        <p:grpSpPr>
          <a:xfrm>
            <a:off x="5034647" y="3507712"/>
            <a:ext cx="553244" cy="393954"/>
            <a:chOff x="1138223" y="1029917"/>
            <a:chExt cx="388999" cy="276999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F9FAF41-239E-264F-B491-7CA1290671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8223" y="1094522"/>
              <a:ext cx="3545" cy="167166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127FBF-65EC-F14D-B6DF-F3A9AD6B3467}"/>
                    </a:ext>
                  </a:extLst>
                </p:cNvPr>
                <p:cNvSpPr txBox="1"/>
                <p:nvPr/>
              </p:nvSpPr>
              <p:spPr>
                <a:xfrm>
                  <a:off x="1222902" y="102991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6D127FBF-65EC-F14D-B6DF-F3A9AD6B3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2902" y="1029917"/>
                  <a:ext cx="30432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8571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5A16448-9567-7840-A267-A4E7CA3DA5A7}"/>
              </a:ext>
            </a:extLst>
          </p:cNvPr>
          <p:cNvGrpSpPr/>
          <p:nvPr/>
        </p:nvGrpSpPr>
        <p:grpSpPr>
          <a:xfrm>
            <a:off x="4421814" y="3837344"/>
            <a:ext cx="501194" cy="433217"/>
            <a:chOff x="1605034" y="1227645"/>
            <a:chExt cx="352402" cy="304606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FD463EF-ECAC-924E-A0BC-FB9499D3F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5034" y="1227645"/>
              <a:ext cx="10475" cy="194383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38F9855-07A5-9D42-9C76-6304F3B9DD24}"/>
                    </a:ext>
                  </a:extLst>
                </p:cNvPr>
                <p:cNvSpPr txBox="1"/>
                <p:nvPr/>
              </p:nvSpPr>
              <p:spPr>
                <a:xfrm>
                  <a:off x="1653116" y="1255252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838F9855-07A5-9D42-9C76-6304F3B9DD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3116" y="1255252"/>
                  <a:ext cx="30432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714" t="-25000" r="-45714" b="-46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1C042A0-9625-8F46-A8D1-40FACC5394AB}"/>
              </a:ext>
            </a:extLst>
          </p:cNvPr>
          <p:cNvGrpSpPr/>
          <p:nvPr/>
        </p:nvGrpSpPr>
        <p:grpSpPr>
          <a:xfrm>
            <a:off x="3856497" y="4113799"/>
            <a:ext cx="535870" cy="393954"/>
            <a:chOff x="2064283" y="1400337"/>
            <a:chExt cx="376783" cy="276999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8EAE5DC-2078-4B46-9484-F47A705A7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4283" y="1400337"/>
              <a:ext cx="11225" cy="2133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4884667-E879-1644-90A6-7BE90E6B64A6}"/>
                    </a:ext>
                  </a:extLst>
                </p:cNvPr>
                <p:cNvSpPr txBox="1"/>
                <p:nvPr/>
              </p:nvSpPr>
              <p:spPr>
                <a:xfrm>
                  <a:off x="2136746" y="140033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4884667-E879-1644-90A6-7BE90E6B6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46" y="1400337"/>
                  <a:ext cx="30432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8571" t="-29032" r="-42857" b="-5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0E7F7AC-5FD0-1047-8A5B-7F982C5101A6}"/>
              </a:ext>
            </a:extLst>
          </p:cNvPr>
          <p:cNvGrpSpPr/>
          <p:nvPr/>
        </p:nvGrpSpPr>
        <p:grpSpPr>
          <a:xfrm>
            <a:off x="3266871" y="4417243"/>
            <a:ext cx="508151" cy="428656"/>
            <a:chOff x="2525349" y="1919556"/>
            <a:chExt cx="357293" cy="301399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3D8B389-9D2C-B844-9B5B-A380ADB8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5349" y="1919556"/>
              <a:ext cx="0" cy="28081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13E1835-DC87-E640-ABCA-079D1E76C564}"/>
                    </a:ext>
                  </a:extLst>
                </p:cNvPr>
                <p:cNvSpPr txBox="1"/>
                <p:nvPr/>
              </p:nvSpPr>
              <p:spPr>
                <a:xfrm>
                  <a:off x="2578322" y="1943956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13E1835-DC87-E640-ABCA-079D1E76C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8322" y="1943956"/>
                  <a:ext cx="30432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AE4D8AD-3372-BF4C-A4C4-7450A383C3BF}"/>
              </a:ext>
            </a:extLst>
          </p:cNvPr>
          <p:cNvGrpSpPr/>
          <p:nvPr/>
        </p:nvGrpSpPr>
        <p:grpSpPr>
          <a:xfrm>
            <a:off x="2653781" y="4816620"/>
            <a:ext cx="497707" cy="618209"/>
            <a:chOff x="2928112" y="2280044"/>
            <a:chExt cx="349950" cy="434678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8A0B482-311E-BA48-B9F9-EFA789BAE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8112" y="2280044"/>
              <a:ext cx="391" cy="434678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3D46A7E-45B5-284F-9198-F94D7242D6DE}"/>
                    </a:ext>
                  </a:extLst>
                </p:cNvPr>
                <p:cNvSpPr txBox="1"/>
                <p:nvPr/>
              </p:nvSpPr>
              <p:spPr>
                <a:xfrm>
                  <a:off x="2973742" y="2315966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3D46A7E-45B5-284F-9198-F94D7242D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3742" y="2315966"/>
                  <a:ext cx="30432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8020C1C-53AF-0541-8B84-7B6367BDADFC}"/>
              </a:ext>
            </a:extLst>
          </p:cNvPr>
          <p:cNvGrpSpPr/>
          <p:nvPr/>
        </p:nvGrpSpPr>
        <p:grpSpPr>
          <a:xfrm>
            <a:off x="1961070" y="5424089"/>
            <a:ext cx="481728" cy="744640"/>
            <a:chOff x="3327593" y="2981248"/>
            <a:chExt cx="338715" cy="523575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9C729D3-AAC9-1C4C-B3AC-DEC35423D4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7593" y="2981248"/>
              <a:ext cx="6138" cy="523575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7BE8DAC-8D34-0F46-9AEC-60937D68ED8F}"/>
                    </a:ext>
                  </a:extLst>
                </p:cNvPr>
                <p:cNvSpPr txBox="1"/>
                <p:nvPr/>
              </p:nvSpPr>
              <p:spPr>
                <a:xfrm>
                  <a:off x="3361988" y="3095470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7BE8DAC-8D34-0F46-9AEC-60937D68E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1988" y="3095470"/>
                  <a:ext cx="3043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714" t="-21875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926C438-2358-B34A-9D63-752A39D9C59D}"/>
              </a:ext>
            </a:extLst>
          </p:cNvPr>
          <p:cNvGrpSpPr/>
          <p:nvPr/>
        </p:nvGrpSpPr>
        <p:grpSpPr>
          <a:xfrm>
            <a:off x="1326983" y="3837342"/>
            <a:ext cx="3697783" cy="2343235"/>
            <a:chOff x="1161370" y="1511812"/>
            <a:chExt cx="2600004" cy="1647587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905739B7-B129-3E45-B283-675F1589B7CE}"/>
                </a:ext>
              </a:extLst>
            </p:cNvPr>
            <p:cNvGrpSpPr/>
            <p:nvPr/>
          </p:nvGrpSpPr>
          <p:grpSpPr>
            <a:xfrm>
              <a:off x="1161370" y="1717357"/>
              <a:ext cx="2176054" cy="1442042"/>
              <a:chOff x="727587" y="-311720"/>
              <a:chExt cx="2176054" cy="144204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A4409A1-2693-B64C-983B-B71660DBFE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54117" y="585753"/>
                <a:ext cx="479267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423672-1E01-B34C-BB29-37AA412535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52218" y="146710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7A553CA-5BF5-A841-9E43-9D753592F6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75281" y="-109521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8DF46FA-73F5-4741-B26E-29742E3943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9461" y="-311720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49F5C5FA-900C-CF48-A859-AE92FC062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7587" y="1130322"/>
                <a:ext cx="414180" cy="0"/>
              </a:xfrm>
              <a:prstGeom prst="line">
                <a:avLst/>
              </a:prstGeom>
              <a:noFill/>
              <a:ln w="25400" cap="flat">
                <a:solidFill>
                  <a:srgbClr val="00B050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8BA6A6A-086D-9749-90B0-A7E7D9599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7194" y="151181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9BE2C651-35CC-314A-A12B-2BB1A769AED6}"/>
              </a:ext>
            </a:extLst>
          </p:cNvPr>
          <p:cNvSpPr txBox="1"/>
          <p:nvPr/>
        </p:nvSpPr>
        <p:spPr>
          <a:xfrm>
            <a:off x="1065281" y="299402"/>
            <a:ext cx="4553853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Concave to X-Axis Upwards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317344-B0FD-6A46-A3B9-E7EF5B197E04}"/>
              </a:ext>
            </a:extLst>
          </p:cNvPr>
          <p:cNvCxnSpPr>
            <a:cxnSpLocks/>
          </p:cNvCxnSpPr>
          <p:nvPr/>
        </p:nvCxnSpPr>
        <p:spPr>
          <a:xfrm flipV="1">
            <a:off x="6937934" y="2356712"/>
            <a:ext cx="0" cy="636256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074B466-F3A0-D045-97C3-019541385456}"/>
              </a:ext>
            </a:extLst>
          </p:cNvPr>
          <p:cNvCxnSpPr>
            <a:cxnSpLocks/>
          </p:cNvCxnSpPr>
          <p:nvPr/>
        </p:nvCxnSpPr>
        <p:spPr>
          <a:xfrm>
            <a:off x="6630293" y="8474558"/>
            <a:ext cx="5432650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6" name="Freeform 95">
            <a:extLst>
              <a:ext uri="{FF2B5EF4-FFF2-40B4-BE49-F238E27FC236}">
                <a16:creationId xmlns:a16="http://schemas.microsoft.com/office/drawing/2014/main" id="{BB47FF5F-D5BA-EA46-B58A-C88AA248CA3D}"/>
              </a:ext>
            </a:extLst>
          </p:cNvPr>
          <p:cNvSpPr/>
          <p:nvPr/>
        </p:nvSpPr>
        <p:spPr>
          <a:xfrm>
            <a:off x="6965903" y="3139793"/>
            <a:ext cx="4600623" cy="5334766"/>
          </a:xfrm>
          <a:custGeom>
            <a:avLst/>
            <a:gdLst>
              <a:gd name="connsiteX0" fmla="*/ 0 w 2939845"/>
              <a:gd name="connsiteY0" fmla="*/ 0 h 2389239"/>
              <a:gd name="connsiteX1" fmla="*/ 1858296 w 2939845"/>
              <a:gd name="connsiteY1" fmla="*/ 550607 h 2389239"/>
              <a:gd name="connsiteX2" fmla="*/ 2939845 w 2939845"/>
              <a:gd name="connsiteY2" fmla="*/ 2389239 h 2389239"/>
              <a:gd name="connsiteX0" fmla="*/ 0 w 2939845"/>
              <a:gd name="connsiteY0" fmla="*/ 0 h 2389239"/>
              <a:gd name="connsiteX1" fmla="*/ 1828799 w 2939845"/>
              <a:gd name="connsiteY1" fmla="*/ 629265 h 2389239"/>
              <a:gd name="connsiteX2" fmla="*/ 2939845 w 2939845"/>
              <a:gd name="connsiteY2" fmla="*/ 2389239 h 238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9845" h="2389239">
                <a:moveTo>
                  <a:pt x="0" y="0"/>
                </a:moveTo>
                <a:cubicBezTo>
                  <a:pt x="684161" y="76200"/>
                  <a:pt x="1338825" y="231059"/>
                  <a:pt x="1828799" y="629265"/>
                </a:cubicBezTo>
                <a:cubicBezTo>
                  <a:pt x="2318773" y="1027471"/>
                  <a:pt x="2644057" y="1669026"/>
                  <a:pt x="2939845" y="2389239"/>
                </a:cubicBezTo>
              </a:path>
            </a:pathLst>
          </a:custGeom>
          <a:noFill/>
          <a:ln w="57150" cap="flat">
            <a:solidFill>
              <a:schemeClr val="accent6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0047" tIns="65023" rIns="130047" bIns="65023" numCol="1" spcCol="38100" rtlCol="0" anchor="t">
            <a:noAutofit/>
          </a:bodyPr>
          <a:lstStyle/>
          <a:p>
            <a:pPr algn="l" defTabSz="1300460" latinLnBrk="1"/>
            <a:endParaRPr lang="en-US" sz="256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7875460-F3CC-4F4B-8D58-C0EADAFCA355}"/>
              </a:ext>
            </a:extLst>
          </p:cNvPr>
          <p:cNvCxnSpPr>
            <a:cxnSpLocks/>
          </p:cNvCxnSpPr>
          <p:nvPr/>
        </p:nvCxnSpPr>
        <p:spPr>
          <a:xfrm flipH="1" flipV="1">
            <a:off x="7539232" y="3307597"/>
            <a:ext cx="1" cy="513200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0F96EB1-0164-0C4B-AEAE-15F1ED705AA7}"/>
              </a:ext>
            </a:extLst>
          </p:cNvPr>
          <p:cNvCxnSpPr>
            <a:cxnSpLocks/>
          </p:cNvCxnSpPr>
          <p:nvPr/>
        </p:nvCxnSpPr>
        <p:spPr>
          <a:xfrm flipV="1">
            <a:off x="8215694" y="3447434"/>
            <a:ext cx="10486" cy="502712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A7EDDA0-33A4-334D-85CE-55F70E18414B}"/>
              </a:ext>
            </a:extLst>
          </p:cNvPr>
          <p:cNvCxnSpPr>
            <a:cxnSpLocks/>
          </p:cNvCxnSpPr>
          <p:nvPr/>
        </p:nvCxnSpPr>
        <p:spPr>
          <a:xfrm flipH="1" flipV="1">
            <a:off x="8868550" y="3755073"/>
            <a:ext cx="31467" cy="470200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2C58494-8EAB-C549-9132-11E23BA285D5}"/>
              </a:ext>
            </a:extLst>
          </p:cNvPr>
          <p:cNvCxnSpPr>
            <a:cxnSpLocks/>
          </p:cNvCxnSpPr>
          <p:nvPr/>
        </p:nvCxnSpPr>
        <p:spPr>
          <a:xfrm flipH="1" flipV="1">
            <a:off x="9485573" y="4258486"/>
            <a:ext cx="41089" cy="4163637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9DD61190-BACC-BE49-B996-781161BD0C7A}"/>
              </a:ext>
            </a:extLst>
          </p:cNvPr>
          <p:cNvCxnSpPr>
            <a:cxnSpLocks/>
          </p:cNvCxnSpPr>
          <p:nvPr/>
        </p:nvCxnSpPr>
        <p:spPr>
          <a:xfrm flipH="1" flipV="1">
            <a:off x="10081633" y="5010659"/>
            <a:ext cx="20109" cy="344642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197D5944-D857-0744-8340-AF20C1C19945}"/>
              </a:ext>
            </a:extLst>
          </p:cNvPr>
          <p:cNvCxnSpPr>
            <a:cxnSpLocks/>
          </p:cNvCxnSpPr>
          <p:nvPr/>
        </p:nvCxnSpPr>
        <p:spPr>
          <a:xfrm flipV="1">
            <a:off x="10663689" y="5986022"/>
            <a:ext cx="0" cy="2471058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B625E90-4C49-DA49-B281-EDA53B0D1371}"/>
              </a:ext>
            </a:extLst>
          </p:cNvPr>
          <p:cNvCxnSpPr>
            <a:cxnSpLocks/>
          </p:cNvCxnSpPr>
          <p:nvPr/>
        </p:nvCxnSpPr>
        <p:spPr>
          <a:xfrm flipV="1">
            <a:off x="11251851" y="7478224"/>
            <a:ext cx="0" cy="99633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CCA0BAE-D410-1944-BE79-FEFAF1D4F986}"/>
              </a:ext>
            </a:extLst>
          </p:cNvPr>
          <p:cNvGrpSpPr/>
          <p:nvPr/>
        </p:nvGrpSpPr>
        <p:grpSpPr>
          <a:xfrm>
            <a:off x="6937935" y="3321030"/>
            <a:ext cx="4286839" cy="4167132"/>
            <a:chOff x="727587" y="1130322"/>
            <a:chExt cx="3014184" cy="2930015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BBEED07-8145-584A-8407-E978C9DE4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0374" y="123217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19F5E4BC-6E41-6A4F-906C-8386728A4D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3384" y="1435509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8715F93-9EE1-8D4C-AFF0-D453129FBB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85051" y="180383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148ED57-6024-D94F-B918-B121209E81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9231" y="226103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8185988D-3146-2F41-9069-34CFB0F4EE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3411" y="2981246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8D62399-0D42-CC4E-AE43-97C25D710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7591" y="4060337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0F69B861-08C5-0243-A954-5C110A3C9D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587" y="1130322"/>
              <a:ext cx="414180" cy="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BB35F8E0-5FAF-A64B-8CED-AA46051CBEDC}"/>
              </a:ext>
            </a:extLst>
          </p:cNvPr>
          <p:cNvSpPr txBox="1"/>
          <p:nvPr/>
        </p:nvSpPr>
        <p:spPr>
          <a:xfrm>
            <a:off x="11890685" y="8521570"/>
            <a:ext cx="368560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256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X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6C874B2-4066-D544-9DD5-E2AAC71D469B}"/>
              </a:ext>
            </a:extLst>
          </p:cNvPr>
          <p:cNvSpPr txBox="1"/>
          <p:nvPr/>
        </p:nvSpPr>
        <p:spPr>
          <a:xfrm>
            <a:off x="6479142" y="2206730"/>
            <a:ext cx="447108" cy="6565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5023" tIns="65023" rIns="65023" bIns="65023" numCol="1" spcCol="38100" rtlCol="0" anchor="t">
            <a:spAutoFit/>
          </a:bodyPr>
          <a:lstStyle/>
          <a:p>
            <a:pPr algn="l" defTabSz="1300460"/>
            <a:r>
              <a:rPr lang="en-US" sz="34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56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D5600DFD-7C7B-7843-9CA6-BFC963286A95}"/>
              </a:ext>
            </a:extLst>
          </p:cNvPr>
          <p:cNvGrpSpPr/>
          <p:nvPr/>
        </p:nvGrpSpPr>
        <p:grpSpPr>
          <a:xfrm>
            <a:off x="7035399" y="3289285"/>
            <a:ext cx="496418" cy="465788"/>
            <a:chOff x="801330" y="1094522"/>
            <a:chExt cx="349044" cy="327507"/>
          </a:xfrm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9B5F7FB-67B4-3244-BEFF-D411D33E5B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1767" y="1094522"/>
              <a:ext cx="8607" cy="13312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389A166B-0166-624B-B39C-14B6E458A928}"/>
                    </a:ext>
                  </a:extLst>
                </p:cNvPr>
                <p:cNvSpPr txBox="1"/>
                <p:nvPr/>
              </p:nvSpPr>
              <p:spPr>
                <a:xfrm>
                  <a:off x="801330" y="1145030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389A166B-0166-624B-B39C-14B6E458A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330" y="1145030"/>
                  <a:ext cx="3043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E245D5D-FA75-D24C-ACB6-13FA5FB12E5D}"/>
              </a:ext>
            </a:extLst>
          </p:cNvPr>
          <p:cNvGrpSpPr/>
          <p:nvPr/>
        </p:nvGrpSpPr>
        <p:grpSpPr>
          <a:xfrm>
            <a:off x="7735890" y="3459444"/>
            <a:ext cx="464864" cy="473435"/>
            <a:chOff x="1288651" y="1227644"/>
            <a:chExt cx="326858" cy="332884"/>
          </a:xfrm>
        </p:grpSpPr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AEE2361A-E0F3-E441-8586-E2803D145D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5509" y="1227644"/>
              <a:ext cx="0" cy="207865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99ED382-BCAE-BF4D-89FA-DCA7DAE0A140}"/>
                    </a:ext>
                  </a:extLst>
                </p:cNvPr>
                <p:cNvSpPr txBox="1"/>
                <p:nvPr/>
              </p:nvSpPr>
              <p:spPr>
                <a:xfrm>
                  <a:off x="1288651" y="1283529"/>
                  <a:ext cx="304321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99ED382-BCAE-BF4D-89FA-DCA7DAE0A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651" y="1283529"/>
                  <a:ext cx="30432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D3A45FE2-BAAC-164A-AF27-7C58EA3C7080}"/>
              </a:ext>
            </a:extLst>
          </p:cNvPr>
          <p:cNvGrpSpPr/>
          <p:nvPr/>
        </p:nvGrpSpPr>
        <p:grpSpPr>
          <a:xfrm>
            <a:off x="8383494" y="3755076"/>
            <a:ext cx="482847" cy="503411"/>
            <a:chOff x="1743996" y="1435510"/>
            <a:chExt cx="339502" cy="353961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5D61FF2A-79CC-5E44-8159-CC0E500B2D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5508" y="1435510"/>
              <a:ext cx="7990" cy="35396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6EEBD1BF-95D2-8B41-9A48-44BC7C66DF32}"/>
                    </a:ext>
                  </a:extLst>
                </p:cNvPr>
                <p:cNvSpPr txBox="1"/>
                <p:nvPr/>
              </p:nvSpPr>
              <p:spPr>
                <a:xfrm>
                  <a:off x="1743996" y="1498603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6EEBD1BF-95D2-8B41-9A48-44BC7C66D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3996" y="1498603"/>
                  <a:ext cx="3043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DF2DB5B-FF7C-2F4A-984A-8E6D596199EF}"/>
              </a:ext>
            </a:extLst>
          </p:cNvPr>
          <p:cNvGrpSpPr/>
          <p:nvPr/>
        </p:nvGrpSpPr>
        <p:grpSpPr>
          <a:xfrm>
            <a:off x="9065141" y="4258486"/>
            <a:ext cx="447448" cy="670663"/>
            <a:chOff x="2223278" y="1789472"/>
            <a:chExt cx="314612" cy="471560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A6982A85-9317-AD4E-BFD6-A23044BA7E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7890" y="1789472"/>
              <a:ext cx="0" cy="471560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83B7512D-60E1-274C-B419-FB9542696071}"/>
                    </a:ext>
                  </a:extLst>
                </p:cNvPr>
                <p:cNvSpPr txBox="1"/>
                <p:nvPr/>
              </p:nvSpPr>
              <p:spPr>
                <a:xfrm>
                  <a:off x="2223278" y="1895157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83B7512D-60E1-274C-B419-FB9542696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3278" y="1895157"/>
                  <a:ext cx="30432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2857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65B8CA1-5771-3D46-A84B-35E38405D9FA}"/>
              </a:ext>
            </a:extLst>
          </p:cNvPr>
          <p:cNvGrpSpPr/>
          <p:nvPr/>
        </p:nvGrpSpPr>
        <p:grpSpPr>
          <a:xfrm>
            <a:off x="9643826" y="4956189"/>
            <a:ext cx="444404" cy="1024303"/>
            <a:chOff x="2630169" y="2280043"/>
            <a:chExt cx="312472" cy="720213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D143E33-D426-374D-B55F-CAD49E266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8502" y="2280043"/>
              <a:ext cx="14139" cy="720213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E1A74FCF-3F7F-6A4F-A4DB-381B5EB049EB}"/>
                    </a:ext>
                  </a:extLst>
                </p:cNvPr>
                <p:cNvSpPr txBox="1"/>
                <p:nvPr/>
              </p:nvSpPr>
              <p:spPr>
                <a:xfrm>
                  <a:off x="2630169" y="2549579"/>
                  <a:ext cx="304321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E1A74FCF-3F7F-6A4F-A4DB-381B5EB04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0169" y="2549579"/>
                  <a:ext cx="304321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5714" t="-25000" r="-42857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5CD1220-5629-6C4D-AEC7-28BEA5F6DF78}"/>
              </a:ext>
            </a:extLst>
          </p:cNvPr>
          <p:cNvGrpSpPr/>
          <p:nvPr/>
        </p:nvGrpSpPr>
        <p:grpSpPr>
          <a:xfrm>
            <a:off x="10195405" y="5953456"/>
            <a:ext cx="468285" cy="1524767"/>
            <a:chOff x="3017995" y="2981247"/>
            <a:chExt cx="329263" cy="1072102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FEB3B64-B80E-AE41-A866-F102DE5EFC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7591" y="2981247"/>
              <a:ext cx="19667" cy="10721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7726F428-49C5-3044-A1A9-17F2DD12FBD7}"/>
                    </a:ext>
                  </a:extLst>
                </p:cNvPr>
                <p:cNvSpPr txBox="1"/>
                <p:nvPr/>
              </p:nvSpPr>
              <p:spPr>
                <a:xfrm>
                  <a:off x="3017995" y="3292305"/>
                  <a:ext cx="30432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algn="l" defTabSz="1300460"/>
                  <a14:m>
                    <m:oMath xmlns:m="http://schemas.openxmlformats.org/officeDocument/2006/math">
                      <m:r>
                        <a:rPr lang="en-US" sz="256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</m:oMath>
                  </a14:m>
                  <a:r>
                    <a:rPr lang="en-US" sz="256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Y</a:t>
                  </a:r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7726F428-49C5-3044-A1A9-17F2DD12F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7995" y="3292305"/>
                  <a:ext cx="30432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5714" t="-25000" r="-45714" b="-5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E5AF99F2-E3D3-C64F-BB22-5BC77896D409}"/>
              </a:ext>
            </a:extLst>
          </p:cNvPr>
          <p:cNvSpPr txBox="1"/>
          <p:nvPr/>
        </p:nvSpPr>
        <p:spPr>
          <a:xfrm>
            <a:off x="7305760" y="213376"/>
            <a:ext cx="4967687" cy="525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Concave to X-Axis Downwards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AFB51E0-D4D9-AC42-AF42-2B41A491E2C1}"/>
              </a:ext>
            </a:extLst>
          </p:cNvPr>
          <p:cNvSpPr txBox="1"/>
          <p:nvPr/>
        </p:nvSpPr>
        <p:spPr>
          <a:xfrm>
            <a:off x="7245331" y="1721263"/>
            <a:ext cx="5425968" cy="14007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For more of X we </a:t>
            </a:r>
            <a:r>
              <a:rPr lang="en-US" sz="5689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give up </a:t>
            </a:r>
          </a:p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more &amp; more of Y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116ADDD-F562-EF44-BCFA-22310901C883}"/>
              </a:ext>
            </a:extLst>
          </p:cNvPr>
          <p:cNvSpPr txBox="1"/>
          <p:nvPr/>
        </p:nvSpPr>
        <p:spPr>
          <a:xfrm>
            <a:off x="1080196" y="2056643"/>
            <a:ext cx="3967664" cy="14007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5023" tIns="65023" rIns="65023" bIns="65023" numCol="1" spcCol="38100" rtlCol="0" anchor="t">
            <a:spAutoFit/>
          </a:bodyPr>
          <a:lstStyle/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For more of X we </a:t>
            </a:r>
            <a:r>
              <a:rPr lang="en-US" sz="5689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get</a:t>
            </a:r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</a:p>
          <a:p>
            <a:pPr defTabSz="1300460"/>
            <a:r>
              <a:rPr lang="en-US" sz="256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less &amp; less increment in Y</a:t>
            </a:r>
          </a:p>
        </p:txBody>
      </p:sp>
    </p:spTree>
    <p:extLst>
      <p:ext uri="{BB962C8B-B14F-4D97-AF65-F5344CB8AC3E}">
        <p14:creationId xmlns:p14="http://schemas.microsoft.com/office/powerpoint/2010/main" val="377119597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63AE11F-A81F-594B-862A-33539ED544BE}"/>
              </a:ext>
            </a:extLst>
          </p:cNvPr>
          <p:cNvGrpSpPr/>
          <p:nvPr/>
        </p:nvGrpSpPr>
        <p:grpSpPr>
          <a:xfrm>
            <a:off x="570529" y="577260"/>
            <a:ext cx="1573163" cy="1313178"/>
            <a:chOff x="683341" y="1408620"/>
            <a:chExt cx="1106130" cy="92332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75A43C1-AE17-FE45-BCEB-29B1FEB44870}"/>
                </a:ext>
              </a:extLst>
            </p:cNvPr>
            <p:cNvSpPr/>
            <p:nvPr/>
          </p:nvSpPr>
          <p:spPr>
            <a:xfrm>
              <a:off x="683341" y="1408620"/>
              <a:ext cx="1106130" cy="92332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E665F67-21F1-514C-9D00-AC01DB9FA8AB}"/>
                </a:ext>
              </a:extLst>
            </p:cNvPr>
            <p:cNvSpPr txBox="1"/>
            <p:nvPr/>
          </p:nvSpPr>
          <p:spPr>
            <a:xfrm>
              <a:off x="749123" y="1956116"/>
              <a:ext cx="24580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001143-0FCD-6F46-9DF7-4E8D093E310F}"/>
                </a:ext>
              </a:extLst>
            </p:cNvPr>
            <p:cNvSpPr txBox="1"/>
            <p:nvPr/>
          </p:nvSpPr>
          <p:spPr>
            <a:xfrm>
              <a:off x="1488533" y="1960644"/>
              <a:ext cx="24580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6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50A934D-5B89-8C40-89B0-26340118DABF}"/>
              </a:ext>
            </a:extLst>
          </p:cNvPr>
          <p:cNvGrpSpPr/>
          <p:nvPr/>
        </p:nvGrpSpPr>
        <p:grpSpPr>
          <a:xfrm>
            <a:off x="2483765" y="931992"/>
            <a:ext cx="1398366" cy="952901"/>
            <a:chOff x="683342" y="1061884"/>
            <a:chExt cx="983226" cy="67000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36F5F6-13C6-6D43-BE00-30B216EC6645}"/>
                </a:ext>
              </a:extLst>
            </p:cNvPr>
            <p:cNvSpPr/>
            <p:nvPr/>
          </p:nvSpPr>
          <p:spPr>
            <a:xfrm>
              <a:off x="683342" y="1061884"/>
              <a:ext cx="983226" cy="6463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6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1888C7-05FF-0348-9C62-45AD5E19992D}"/>
                </a:ext>
              </a:extLst>
            </p:cNvPr>
            <p:cNvSpPr txBox="1"/>
            <p:nvPr/>
          </p:nvSpPr>
          <p:spPr>
            <a:xfrm>
              <a:off x="749240" y="1332284"/>
              <a:ext cx="245806" cy="3693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DF3DB1-7407-714D-843A-16EAD1C88B6E}"/>
                </a:ext>
              </a:extLst>
            </p:cNvPr>
            <p:cNvSpPr txBox="1"/>
            <p:nvPr/>
          </p:nvSpPr>
          <p:spPr>
            <a:xfrm>
              <a:off x="1420344" y="1362562"/>
              <a:ext cx="245806" cy="3693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C65CBA-504B-5249-83BD-6F21FA7C8B53}"/>
              </a:ext>
            </a:extLst>
          </p:cNvPr>
          <p:cNvGrpSpPr/>
          <p:nvPr/>
        </p:nvGrpSpPr>
        <p:grpSpPr>
          <a:xfrm>
            <a:off x="4338895" y="1309818"/>
            <a:ext cx="1362662" cy="557290"/>
            <a:chOff x="700516" y="1030992"/>
            <a:chExt cx="983226" cy="53765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08BA05-36D8-A842-8B09-24F3CFF889A5}"/>
                </a:ext>
              </a:extLst>
            </p:cNvPr>
            <p:cNvSpPr/>
            <p:nvPr/>
          </p:nvSpPr>
          <p:spPr>
            <a:xfrm>
              <a:off x="700516" y="1061884"/>
              <a:ext cx="983226" cy="50676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3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8BBE27-6BBD-1E49-8A2C-9BCEC114AA4F}"/>
                </a:ext>
              </a:extLst>
            </p:cNvPr>
            <p:cNvSpPr txBox="1"/>
            <p:nvPr/>
          </p:nvSpPr>
          <p:spPr>
            <a:xfrm>
              <a:off x="707172" y="1034399"/>
              <a:ext cx="245806" cy="5067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6D8F9F-181F-6744-8A67-E7496F2B2432}"/>
                </a:ext>
              </a:extLst>
            </p:cNvPr>
            <p:cNvSpPr txBox="1"/>
            <p:nvPr/>
          </p:nvSpPr>
          <p:spPr>
            <a:xfrm>
              <a:off x="1401471" y="1030992"/>
              <a:ext cx="245806" cy="5067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3A0DA2-CC57-534C-BA3C-B2D38BA0ECFA}"/>
              </a:ext>
            </a:extLst>
          </p:cNvPr>
          <p:cNvGrpSpPr/>
          <p:nvPr/>
        </p:nvGrpSpPr>
        <p:grpSpPr>
          <a:xfrm>
            <a:off x="7935505" y="3945141"/>
            <a:ext cx="1573163" cy="1707133"/>
            <a:chOff x="683342" y="1061883"/>
            <a:chExt cx="1106130" cy="4038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7B06860-B046-C74F-9368-73B03A8758AA}"/>
                </a:ext>
              </a:extLst>
            </p:cNvPr>
            <p:cNvSpPr/>
            <p:nvPr/>
          </p:nvSpPr>
          <p:spPr>
            <a:xfrm>
              <a:off x="683342" y="1061883"/>
              <a:ext cx="1106130" cy="403863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5B7E89-4418-704D-A68D-69626AAF2BAC}"/>
                </a:ext>
              </a:extLst>
            </p:cNvPr>
            <p:cNvSpPr txBox="1"/>
            <p:nvPr/>
          </p:nvSpPr>
          <p:spPr>
            <a:xfrm>
              <a:off x="698873" y="1315655"/>
              <a:ext cx="183567" cy="124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EC7AE3F-E024-F640-A7CA-0CE3940D61DE}"/>
                </a:ext>
              </a:extLst>
            </p:cNvPr>
            <p:cNvSpPr txBox="1"/>
            <p:nvPr/>
          </p:nvSpPr>
          <p:spPr>
            <a:xfrm>
              <a:off x="1504709" y="1309689"/>
              <a:ext cx="240599" cy="124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6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61A72F-7CA2-8A4D-AAC4-8B898077894E}"/>
              </a:ext>
            </a:extLst>
          </p:cNvPr>
          <p:cNvGrpSpPr/>
          <p:nvPr/>
        </p:nvGrpSpPr>
        <p:grpSpPr>
          <a:xfrm>
            <a:off x="7935092" y="2883787"/>
            <a:ext cx="1566170" cy="919224"/>
            <a:chOff x="683342" y="1061884"/>
            <a:chExt cx="983226" cy="62096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10F3DBA-3084-3C4B-9240-EFEB6A9AB45C}"/>
                </a:ext>
              </a:extLst>
            </p:cNvPr>
            <p:cNvSpPr/>
            <p:nvPr/>
          </p:nvSpPr>
          <p:spPr>
            <a:xfrm>
              <a:off x="683342" y="1061884"/>
              <a:ext cx="983226" cy="62096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6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3CD1F9-B297-164F-AB6D-1D911D849E00}"/>
                </a:ext>
              </a:extLst>
            </p:cNvPr>
            <p:cNvSpPr txBox="1"/>
            <p:nvPr/>
          </p:nvSpPr>
          <p:spPr>
            <a:xfrm>
              <a:off x="738083" y="1205842"/>
              <a:ext cx="245806" cy="354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3BFA78E-C79B-FC49-BA0A-D542B71AB1CD}"/>
                </a:ext>
              </a:extLst>
            </p:cNvPr>
            <p:cNvSpPr txBox="1"/>
            <p:nvPr/>
          </p:nvSpPr>
          <p:spPr>
            <a:xfrm>
              <a:off x="1420762" y="1245309"/>
              <a:ext cx="245806" cy="3548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D0B5E9-9EA1-9949-9ACD-44C83C569D0D}"/>
              </a:ext>
            </a:extLst>
          </p:cNvPr>
          <p:cNvGrpSpPr/>
          <p:nvPr/>
        </p:nvGrpSpPr>
        <p:grpSpPr>
          <a:xfrm>
            <a:off x="7897815" y="2263272"/>
            <a:ext cx="1664864" cy="551309"/>
            <a:chOff x="700516" y="1061884"/>
            <a:chExt cx="1027285" cy="51377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C8FB66-20AA-AA43-9170-38596C93EEB1}"/>
                </a:ext>
              </a:extLst>
            </p:cNvPr>
            <p:cNvSpPr/>
            <p:nvPr/>
          </p:nvSpPr>
          <p:spPr>
            <a:xfrm>
              <a:off x="700516" y="1061884"/>
              <a:ext cx="983226" cy="48950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3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C1989E-C90A-F14F-A862-DB45DBDB091C}"/>
                </a:ext>
              </a:extLst>
            </p:cNvPr>
            <p:cNvSpPr txBox="1"/>
            <p:nvPr/>
          </p:nvSpPr>
          <p:spPr>
            <a:xfrm>
              <a:off x="708386" y="1061884"/>
              <a:ext cx="245806" cy="489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449D41-0C04-534F-9C51-0682F74D5C6E}"/>
                </a:ext>
              </a:extLst>
            </p:cNvPr>
            <p:cNvSpPr txBox="1"/>
            <p:nvPr/>
          </p:nvSpPr>
          <p:spPr>
            <a:xfrm>
              <a:off x="1481995" y="1086151"/>
              <a:ext cx="245806" cy="489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2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7205BCB-1267-3049-9B9F-614DCA0E5F1C}"/>
              </a:ext>
            </a:extLst>
          </p:cNvPr>
          <p:cNvGrpSpPr/>
          <p:nvPr/>
        </p:nvGrpSpPr>
        <p:grpSpPr>
          <a:xfrm>
            <a:off x="7413406" y="5648430"/>
            <a:ext cx="5221242" cy="629500"/>
            <a:chOff x="267995" y="5164086"/>
            <a:chExt cx="3671186" cy="442617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46FAF0E-40EE-0B4E-8DFF-F4A7C6DD192E}"/>
                </a:ext>
              </a:extLst>
            </p:cNvPr>
            <p:cNvGrpSpPr/>
            <p:nvPr/>
          </p:nvGrpSpPr>
          <p:grpSpPr>
            <a:xfrm>
              <a:off x="267995" y="5164086"/>
              <a:ext cx="3671186" cy="369330"/>
              <a:chOff x="267995" y="5164086"/>
              <a:chExt cx="3671186" cy="36933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8DEB633-BD6B-AB45-B38B-2E4C948171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995" y="5172232"/>
                <a:ext cx="3671186" cy="5053"/>
              </a:xfrm>
              <a:prstGeom prst="line">
                <a:avLst/>
              </a:prstGeom>
              <a:noFill/>
              <a:ln w="57150" cap="flat">
                <a:solidFill>
                  <a:schemeClr val="tx1"/>
                </a:solidFill>
                <a:prstDash val="solid"/>
                <a:round/>
                <a:headEnd type="arrow" w="med" len="med"/>
                <a:tailEnd type="arrow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79BC94-30F3-0D47-8D2B-40A1D9C6DBDB}"/>
                  </a:ext>
                </a:extLst>
              </p:cNvPr>
              <p:cNvSpPr txBox="1"/>
              <p:nvPr/>
            </p:nvSpPr>
            <p:spPr>
              <a:xfrm>
                <a:off x="622426" y="5164086"/>
                <a:ext cx="1066940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5023" tIns="65023" rIns="65023" bIns="65023" numCol="1" spcCol="38100" rtlCol="0" anchor="t">
                <a:spAutoFit/>
              </a:bodyPr>
              <a:lstStyle/>
              <a:p>
                <a:pPr defTabSz="1300460"/>
                <a:r>
                  <a:rPr lang="en-US" sz="2560" b="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Calibri"/>
                  </a:rPr>
                  <a:t>Model 1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A06F50D-C1FA-644C-8418-269431909414}"/>
                </a:ext>
              </a:extLst>
            </p:cNvPr>
            <p:cNvSpPr txBox="1"/>
            <p:nvPr/>
          </p:nvSpPr>
          <p:spPr>
            <a:xfrm>
              <a:off x="2402680" y="5237373"/>
              <a:ext cx="106694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Model 2</a:t>
              </a: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760794D-B61B-E947-B58C-1D5C682B6EA6}"/>
              </a:ext>
            </a:extLst>
          </p:cNvPr>
          <p:cNvCxnSpPr>
            <a:cxnSpLocks/>
          </p:cNvCxnSpPr>
          <p:nvPr/>
        </p:nvCxnSpPr>
        <p:spPr>
          <a:xfrm>
            <a:off x="7369150" y="2166180"/>
            <a:ext cx="5221242" cy="7186"/>
          </a:xfrm>
          <a:prstGeom prst="line">
            <a:avLst/>
          </a:prstGeom>
          <a:noFill/>
          <a:ln w="28575" cap="flat">
            <a:solidFill>
              <a:schemeClr val="tx1"/>
            </a:solidFill>
            <a:prstDash val="lgDash"/>
            <a:round/>
            <a:headEnd type="arrow" w="med" len="med"/>
            <a:tailEnd type="arrow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44ED37-98C3-A94F-A720-04863F47D2E0}"/>
              </a:ext>
            </a:extLst>
          </p:cNvPr>
          <p:cNvGrpSpPr/>
          <p:nvPr/>
        </p:nvGrpSpPr>
        <p:grpSpPr>
          <a:xfrm>
            <a:off x="7975170" y="777865"/>
            <a:ext cx="1573163" cy="1333184"/>
            <a:chOff x="683342" y="1061883"/>
            <a:chExt cx="1106130" cy="37982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3557050-0819-A943-BBA9-D514E6D483CB}"/>
                </a:ext>
              </a:extLst>
            </p:cNvPr>
            <p:cNvSpPr/>
            <p:nvPr/>
          </p:nvSpPr>
          <p:spPr>
            <a:xfrm>
              <a:off x="683342" y="1061883"/>
              <a:ext cx="1106130" cy="374123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C937025-65A9-FD4B-A52E-1EC3B606C3F8}"/>
                </a:ext>
              </a:extLst>
            </p:cNvPr>
            <p:cNvSpPr txBox="1"/>
            <p:nvPr/>
          </p:nvSpPr>
          <p:spPr>
            <a:xfrm>
              <a:off x="689146" y="1287089"/>
              <a:ext cx="228873" cy="149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A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08D59AD-1363-2C49-98F7-28CCFF4DF959}"/>
                </a:ext>
              </a:extLst>
            </p:cNvPr>
            <p:cNvSpPr txBox="1"/>
            <p:nvPr/>
          </p:nvSpPr>
          <p:spPr>
            <a:xfrm>
              <a:off x="1543271" y="1292057"/>
              <a:ext cx="245806" cy="149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6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E233554-9AD3-964D-B764-AD8CE0EF4BA7}"/>
              </a:ext>
            </a:extLst>
          </p:cNvPr>
          <p:cNvGrpSpPr/>
          <p:nvPr/>
        </p:nvGrpSpPr>
        <p:grpSpPr>
          <a:xfrm>
            <a:off x="10514969" y="1562358"/>
            <a:ext cx="1663584" cy="558946"/>
            <a:chOff x="700516" y="1061884"/>
            <a:chExt cx="1026495" cy="52089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6F63A4D-BC77-4242-A06B-5EA5E6C15D0A}"/>
                </a:ext>
              </a:extLst>
            </p:cNvPr>
            <p:cNvSpPr/>
            <p:nvPr/>
          </p:nvSpPr>
          <p:spPr>
            <a:xfrm>
              <a:off x="700516" y="1061884"/>
              <a:ext cx="983226" cy="48950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3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73CF247-C467-F943-8D38-324F825F87C0}"/>
                </a:ext>
              </a:extLst>
            </p:cNvPr>
            <p:cNvSpPr txBox="1"/>
            <p:nvPr/>
          </p:nvSpPr>
          <p:spPr>
            <a:xfrm>
              <a:off x="728069" y="1093268"/>
              <a:ext cx="245806" cy="489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C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7B3EC8A-E3B2-BE46-ACB0-DECC4C44BDB7}"/>
                </a:ext>
              </a:extLst>
            </p:cNvPr>
            <p:cNvSpPr txBox="1"/>
            <p:nvPr/>
          </p:nvSpPr>
          <p:spPr>
            <a:xfrm>
              <a:off x="1481205" y="1085058"/>
              <a:ext cx="245806" cy="489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2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3CD0064-0107-8441-8CB6-D7847D6FE373}"/>
              </a:ext>
            </a:extLst>
          </p:cNvPr>
          <p:cNvGrpSpPr/>
          <p:nvPr/>
        </p:nvGrpSpPr>
        <p:grpSpPr>
          <a:xfrm>
            <a:off x="376078" y="3038998"/>
            <a:ext cx="1659499" cy="4071739"/>
            <a:chOff x="412054" y="3036732"/>
            <a:chExt cx="1659499" cy="4071739"/>
          </a:xfrm>
        </p:grpSpPr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05A38E8E-4A88-A140-972A-C4FE692D2ACB}"/>
                </a:ext>
              </a:extLst>
            </p:cNvPr>
            <p:cNvSpPr/>
            <p:nvPr/>
          </p:nvSpPr>
          <p:spPr>
            <a:xfrm flipH="1">
              <a:off x="412054" y="4977723"/>
              <a:ext cx="1376515" cy="2130748"/>
            </a:xfrm>
            <a:prstGeom prst="arc">
              <a:avLst>
                <a:gd name="adj1" fmla="val 16200000"/>
                <a:gd name="adj2" fmla="val 200900"/>
              </a:avLst>
            </a:prstGeom>
            <a:noFill/>
            <a:ln w="57150" cap="flat">
              <a:solidFill>
                <a:schemeClr val="accent1"/>
              </a:solidFill>
              <a:prstDash val="solid"/>
              <a:round/>
              <a:headEnd type="arrow" w="med" len="med"/>
              <a:tailEnd type="non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E988B06E-1C65-D94B-9484-1365FF74DA8B}"/>
                </a:ext>
              </a:extLst>
            </p:cNvPr>
            <p:cNvSpPr/>
            <p:nvPr/>
          </p:nvSpPr>
          <p:spPr>
            <a:xfrm flipV="1">
              <a:off x="448325" y="3036732"/>
              <a:ext cx="1245701" cy="1949069"/>
            </a:xfrm>
            <a:prstGeom prst="arc">
              <a:avLst>
                <a:gd name="adj1" fmla="val 16200000"/>
                <a:gd name="adj2" fmla="val 200900"/>
              </a:avLst>
            </a:prstGeom>
            <a:noFill/>
            <a:ln w="57150" cap="flat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F84AB4-F170-5449-A8D6-602C3D593096}"/>
                </a:ext>
              </a:extLst>
            </p:cNvPr>
            <p:cNvSpPr txBox="1"/>
            <p:nvPr/>
          </p:nvSpPr>
          <p:spPr>
            <a:xfrm>
              <a:off x="726178" y="4496900"/>
              <a:ext cx="398364" cy="525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D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F97B894-5669-A747-8522-B5ACF38FA112}"/>
                </a:ext>
              </a:extLst>
            </p:cNvPr>
            <p:cNvSpPr txBox="1"/>
            <p:nvPr/>
          </p:nvSpPr>
          <p:spPr>
            <a:xfrm>
              <a:off x="554127" y="3377926"/>
              <a:ext cx="1517426" cy="525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Model 3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898C8EF-4723-7448-902B-7F6A572F63CD}"/>
              </a:ext>
            </a:extLst>
          </p:cNvPr>
          <p:cNvGrpSpPr/>
          <p:nvPr/>
        </p:nvGrpSpPr>
        <p:grpSpPr>
          <a:xfrm>
            <a:off x="1093028" y="4286139"/>
            <a:ext cx="2467556" cy="2787015"/>
            <a:chOff x="907640" y="4931552"/>
            <a:chExt cx="2467556" cy="2787015"/>
          </a:xfrm>
        </p:grpSpPr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1A23C0A-7868-444C-9B4C-272A18651565}"/>
                </a:ext>
              </a:extLst>
            </p:cNvPr>
            <p:cNvSpPr/>
            <p:nvPr/>
          </p:nvSpPr>
          <p:spPr>
            <a:xfrm flipH="1">
              <a:off x="1998681" y="5556846"/>
              <a:ext cx="1376515" cy="2130748"/>
            </a:xfrm>
            <a:prstGeom prst="arc">
              <a:avLst>
                <a:gd name="adj1" fmla="val 17319086"/>
                <a:gd name="adj2" fmla="val 306059"/>
              </a:avLst>
            </a:prstGeom>
            <a:noFill/>
            <a:ln w="57150" cap="flat">
              <a:solidFill>
                <a:schemeClr val="accent1"/>
              </a:solidFill>
              <a:prstDash val="solid"/>
              <a:round/>
              <a:headEnd type="arrow" w="med" len="med"/>
              <a:tailEnd type="non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7BD4921A-5332-2145-A780-70A871CC68CA}"/>
                </a:ext>
              </a:extLst>
            </p:cNvPr>
            <p:cNvSpPr/>
            <p:nvPr/>
          </p:nvSpPr>
          <p:spPr>
            <a:xfrm flipV="1">
              <a:off x="907640" y="5716976"/>
              <a:ext cx="1091041" cy="2001591"/>
            </a:xfrm>
            <a:prstGeom prst="arc">
              <a:avLst>
                <a:gd name="adj1" fmla="val 16200000"/>
                <a:gd name="adj2" fmla="val 200900"/>
              </a:avLst>
            </a:prstGeom>
            <a:noFill/>
            <a:ln w="57150" cap="flat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439AFCB-1118-6B4E-9CDA-A42BB1102CE2}"/>
                </a:ext>
              </a:extLst>
            </p:cNvPr>
            <p:cNvSpPr txBox="1"/>
            <p:nvPr/>
          </p:nvSpPr>
          <p:spPr>
            <a:xfrm>
              <a:off x="1600317" y="6359587"/>
              <a:ext cx="398364" cy="525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B4AEB5B-A296-6B41-B2F5-5AFD80ABB718}"/>
                </a:ext>
              </a:extLst>
            </p:cNvPr>
            <p:cNvSpPr txBox="1"/>
            <p:nvPr/>
          </p:nvSpPr>
          <p:spPr>
            <a:xfrm>
              <a:off x="1679218" y="4931552"/>
              <a:ext cx="1517426" cy="525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Model 4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F6BDBF1-3955-0E4F-A0C4-75AAD4FA0715}"/>
              </a:ext>
            </a:extLst>
          </p:cNvPr>
          <p:cNvGrpSpPr/>
          <p:nvPr/>
        </p:nvGrpSpPr>
        <p:grpSpPr>
          <a:xfrm>
            <a:off x="356376" y="2195022"/>
            <a:ext cx="6850496" cy="2236313"/>
            <a:chOff x="356376" y="2195022"/>
            <a:chExt cx="6850496" cy="2236313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D925425-0A34-064F-84F3-72DCE9FB185A}"/>
                </a:ext>
              </a:extLst>
            </p:cNvPr>
            <p:cNvCxnSpPr>
              <a:cxnSpLocks/>
            </p:cNvCxnSpPr>
            <p:nvPr/>
          </p:nvCxnSpPr>
          <p:spPr>
            <a:xfrm>
              <a:off x="4584683" y="2728767"/>
              <a:ext cx="1280443" cy="1557372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2353620-14B8-D345-9849-1751C7AEB83B}"/>
                </a:ext>
              </a:extLst>
            </p:cNvPr>
            <p:cNvSpPr txBox="1"/>
            <p:nvPr/>
          </p:nvSpPr>
          <p:spPr>
            <a:xfrm>
              <a:off x="356376" y="2240169"/>
              <a:ext cx="4703558" cy="623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defTabSz="1300460"/>
              <a:r>
                <a:rPr lang="en-US" sz="320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Points of </a:t>
              </a:r>
              <a:r>
                <a: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INFLEXION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88B55208-4C7C-0747-857F-5C4C912EBD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381" y="2723470"/>
              <a:ext cx="770370" cy="734161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717AFA5-6DA4-F24F-9027-E8EA3B2CB9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4852" y="2735161"/>
              <a:ext cx="424014" cy="1696174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F6C06FB-CF43-344E-91B9-611B7929B9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6616" y="2195022"/>
              <a:ext cx="2500256" cy="329213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F770865-9B79-2C42-B346-8BC65AACDC66}"/>
                </a:ext>
              </a:extLst>
            </p:cNvPr>
            <p:cNvCxnSpPr>
              <a:cxnSpLocks/>
              <a:endCxn id="73" idx="0"/>
            </p:cNvCxnSpPr>
            <p:nvPr/>
          </p:nvCxnSpPr>
          <p:spPr>
            <a:xfrm>
              <a:off x="3944498" y="2788541"/>
              <a:ext cx="240404" cy="1544545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6A45EFE-DB16-A149-ABE4-0638CCFDF9B6}"/>
              </a:ext>
            </a:extLst>
          </p:cNvPr>
          <p:cNvGrpSpPr/>
          <p:nvPr/>
        </p:nvGrpSpPr>
        <p:grpSpPr>
          <a:xfrm>
            <a:off x="3178991" y="4333086"/>
            <a:ext cx="2812325" cy="2797552"/>
            <a:chOff x="3350686" y="4937076"/>
            <a:chExt cx="2812325" cy="2797552"/>
          </a:xfrm>
        </p:grpSpPr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F1665D6C-32DC-FD42-AD7F-60232D4581CA}"/>
                </a:ext>
              </a:extLst>
            </p:cNvPr>
            <p:cNvSpPr/>
            <p:nvPr/>
          </p:nvSpPr>
          <p:spPr>
            <a:xfrm>
              <a:off x="3350686" y="5554628"/>
              <a:ext cx="1549760" cy="1838843"/>
            </a:xfrm>
            <a:prstGeom prst="arc">
              <a:avLst>
                <a:gd name="adj1" fmla="val 16200000"/>
                <a:gd name="adj2" fmla="val 200900"/>
              </a:avLst>
            </a:prstGeom>
            <a:noFill/>
            <a:ln w="57150" cap="flat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8B37E61A-F755-A64B-97AE-0A35822F2D8D}"/>
                </a:ext>
              </a:extLst>
            </p:cNvPr>
            <p:cNvSpPr/>
            <p:nvPr/>
          </p:nvSpPr>
          <p:spPr>
            <a:xfrm flipH="1" flipV="1">
              <a:off x="4902417" y="5315615"/>
              <a:ext cx="1260594" cy="2419013"/>
            </a:xfrm>
            <a:prstGeom prst="arc">
              <a:avLst>
                <a:gd name="adj1" fmla="val 16771631"/>
                <a:gd name="adj2" fmla="val 200900"/>
              </a:avLst>
            </a:prstGeom>
            <a:noFill/>
            <a:ln w="57150" cap="flat">
              <a:solidFill>
                <a:schemeClr val="accent6">
                  <a:lumMod val="50000"/>
                </a:schemeClr>
              </a:solidFill>
              <a:prstDash val="solid"/>
              <a:round/>
              <a:headEnd type="arrow" w="med" len="med"/>
              <a:tailEnd type="non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E3BBC46-1DF0-4F4C-AFA9-8FD52B1DC6A0}"/>
                </a:ext>
              </a:extLst>
            </p:cNvPr>
            <p:cNvSpPr txBox="1"/>
            <p:nvPr/>
          </p:nvSpPr>
          <p:spPr>
            <a:xfrm>
              <a:off x="3597884" y="4937076"/>
              <a:ext cx="1517426" cy="525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Model 5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21196F5-AB74-5140-9F4D-057711DFB4A9}"/>
                </a:ext>
              </a:extLst>
            </p:cNvPr>
            <p:cNvSpPr txBox="1"/>
            <p:nvPr/>
          </p:nvSpPr>
          <p:spPr>
            <a:xfrm>
              <a:off x="4452709" y="6387915"/>
              <a:ext cx="398364" cy="525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G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2DED468-C58C-DF48-A0F1-40A10FF32503}"/>
              </a:ext>
            </a:extLst>
          </p:cNvPr>
          <p:cNvGrpSpPr/>
          <p:nvPr/>
        </p:nvGrpSpPr>
        <p:grpSpPr>
          <a:xfrm>
            <a:off x="5278933" y="3904054"/>
            <a:ext cx="1799385" cy="3962769"/>
            <a:chOff x="5555448" y="5605196"/>
            <a:chExt cx="1799385" cy="3962769"/>
          </a:xfrm>
        </p:grpSpPr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5713EA43-44C8-464C-8F1E-39ED24E25B52}"/>
                </a:ext>
              </a:extLst>
            </p:cNvPr>
            <p:cNvSpPr/>
            <p:nvPr/>
          </p:nvSpPr>
          <p:spPr>
            <a:xfrm>
              <a:off x="5781942" y="7658914"/>
              <a:ext cx="1572891" cy="1909051"/>
            </a:xfrm>
            <a:prstGeom prst="arc">
              <a:avLst>
                <a:gd name="adj1" fmla="val 16200000"/>
                <a:gd name="adj2" fmla="val 200900"/>
              </a:avLst>
            </a:prstGeom>
            <a:noFill/>
            <a:ln w="57150" cap="flat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331F801C-AE56-E44C-8B24-5E264844CF7A}"/>
                </a:ext>
              </a:extLst>
            </p:cNvPr>
            <p:cNvSpPr/>
            <p:nvPr/>
          </p:nvSpPr>
          <p:spPr>
            <a:xfrm flipH="1" flipV="1">
              <a:off x="6092838" y="5605196"/>
              <a:ext cx="1136606" cy="2061752"/>
            </a:xfrm>
            <a:prstGeom prst="arc">
              <a:avLst>
                <a:gd name="adj1" fmla="val 16583068"/>
                <a:gd name="adj2" fmla="val 152774"/>
              </a:avLst>
            </a:prstGeom>
            <a:noFill/>
            <a:ln w="57150" cap="flat">
              <a:solidFill>
                <a:schemeClr val="accent6">
                  <a:lumMod val="50000"/>
                </a:schemeClr>
              </a:solidFill>
              <a:prstDash val="solid"/>
              <a:round/>
              <a:headEnd type="arrow" w="med" len="med"/>
              <a:tailEnd type="non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7DAA431-67B2-C441-9EBC-F2C5870511A1}"/>
                </a:ext>
              </a:extLst>
            </p:cNvPr>
            <p:cNvSpPr txBox="1"/>
            <p:nvPr/>
          </p:nvSpPr>
          <p:spPr>
            <a:xfrm>
              <a:off x="5555448" y="6041789"/>
              <a:ext cx="1517426" cy="525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Model 6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809CA02-C337-AA4E-AF10-8BC7BEAB6954}"/>
                </a:ext>
              </a:extLst>
            </p:cNvPr>
            <p:cNvSpPr txBox="1"/>
            <p:nvPr/>
          </p:nvSpPr>
          <p:spPr>
            <a:xfrm>
              <a:off x="6332360" y="7666948"/>
              <a:ext cx="527149" cy="525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H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8B27FC1-1605-214F-8638-EF5051B6085C}"/>
              </a:ext>
            </a:extLst>
          </p:cNvPr>
          <p:cNvGrpSpPr/>
          <p:nvPr/>
        </p:nvGrpSpPr>
        <p:grpSpPr>
          <a:xfrm>
            <a:off x="10457106" y="5021225"/>
            <a:ext cx="1664864" cy="551309"/>
            <a:chOff x="700516" y="1061884"/>
            <a:chExt cx="1027285" cy="513774"/>
          </a:xfrm>
        </p:grpSpPr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3031F96F-6703-A740-8F05-337CF8CE838A}"/>
                </a:ext>
              </a:extLst>
            </p:cNvPr>
            <p:cNvSpPr/>
            <p:nvPr/>
          </p:nvSpPr>
          <p:spPr>
            <a:xfrm>
              <a:off x="700516" y="1061884"/>
              <a:ext cx="983226" cy="48950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3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7E797BE0-86D2-F945-9249-899018D839A6}"/>
                </a:ext>
              </a:extLst>
            </p:cNvPr>
            <p:cNvSpPr txBox="1"/>
            <p:nvPr/>
          </p:nvSpPr>
          <p:spPr>
            <a:xfrm>
              <a:off x="708386" y="1061884"/>
              <a:ext cx="245806" cy="489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C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A644C262-D28D-F048-B32A-4CE6845B4640}"/>
                </a:ext>
              </a:extLst>
            </p:cNvPr>
            <p:cNvSpPr txBox="1"/>
            <p:nvPr/>
          </p:nvSpPr>
          <p:spPr>
            <a:xfrm>
              <a:off x="1481995" y="1086151"/>
              <a:ext cx="245806" cy="4895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2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B71CE00-79F1-CC4C-9055-B1383D93D6D5}"/>
              </a:ext>
            </a:extLst>
          </p:cNvPr>
          <p:cNvGrpSpPr/>
          <p:nvPr/>
        </p:nvGrpSpPr>
        <p:grpSpPr>
          <a:xfrm>
            <a:off x="10470751" y="3955598"/>
            <a:ext cx="1566170" cy="932245"/>
            <a:chOff x="683342" y="1061884"/>
            <a:chExt cx="983226" cy="629763"/>
          </a:xfrm>
        </p:grpSpPr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04B870E0-F5AD-E94C-B9B3-2366381C514F}"/>
                </a:ext>
              </a:extLst>
            </p:cNvPr>
            <p:cNvSpPr/>
            <p:nvPr/>
          </p:nvSpPr>
          <p:spPr>
            <a:xfrm>
              <a:off x="683342" y="1061884"/>
              <a:ext cx="983226" cy="62096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6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D75BBFD-0EBB-364B-9669-258A7119221D}"/>
                </a:ext>
              </a:extLst>
            </p:cNvPr>
            <p:cNvSpPr txBox="1"/>
            <p:nvPr/>
          </p:nvSpPr>
          <p:spPr>
            <a:xfrm>
              <a:off x="719324" y="1316890"/>
              <a:ext cx="245806" cy="354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B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E545FDF0-35CD-B746-A1F8-6BE1B3AD376D}"/>
                </a:ext>
              </a:extLst>
            </p:cNvPr>
            <p:cNvSpPr txBox="1"/>
            <p:nvPr/>
          </p:nvSpPr>
          <p:spPr>
            <a:xfrm>
              <a:off x="1407649" y="1336809"/>
              <a:ext cx="245806" cy="3548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4</a:t>
              </a: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E5DA08C-CDCE-3F43-932B-8887E55FC602}"/>
              </a:ext>
            </a:extLst>
          </p:cNvPr>
          <p:cNvGrpSpPr/>
          <p:nvPr/>
        </p:nvGrpSpPr>
        <p:grpSpPr>
          <a:xfrm>
            <a:off x="10498975" y="2274072"/>
            <a:ext cx="1573163" cy="1707132"/>
            <a:chOff x="683342" y="1061883"/>
            <a:chExt cx="1106130" cy="403863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F3716587-0E94-BB44-A3B6-A3CEC7D5FC83}"/>
                </a:ext>
              </a:extLst>
            </p:cNvPr>
            <p:cNvSpPr/>
            <p:nvPr/>
          </p:nvSpPr>
          <p:spPr>
            <a:xfrm>
              <a:off x="683342" y="1061883"/>
              <a:ext cx="1106130" cy="403863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  <a:p>
              <a:pPr algn="l" defTabSz="1300460"/>
              <a:endParaRPr lang="en-US" sz="256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BEE61AA-0115-6F42-95B4-12E8913FB40A}"/>
                </a:ext>
              </a:extLst>
            </p:cNvPr>
            <p:cNvSpPr txBox="1"/>
            <p:nvPr/>
          </p:nvSpPr>
          <p:spPr>
            <a:xfrm>
              <a:off x="715952" y="1301612"/>
              <a:ext cx="183567" cy="124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A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86A255A7-EB99-5248-B669-577A90644552}"/>
                </a:ext>
              </a:extLst>
            </p:cNvPr>
            <p:cNvSpPr txBox="1"/>
            <p:nvPr/>
          </p:nvSpPr>
          <p:spPr>
            <a:xfrm>
              <a:off x="1519838" y="1303305"/>
              <a:ext cx="230639" cy="124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2560" b="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Calibri"/>
                </a:rPr>
                <a:t>6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0F6EF33-4DC7-D542-AA3A-DE2F15A322BB}"/>
              </a:ext>
            </a:extLst>
          </p:cNvPr>
          <p:cNvGrpSpPr/>
          <p:nvPr/>
        </p:nvGrpSpPr>
        <p:grpSpPr>
          <a:xfrm>
            <a:off x="7263270" y="6658326"/>
            <a:ext cx="4703558" cy="3024480"/>
            <a:chOff x="8065044" y="6761368"/>
            <a:chExt cx="4703558" cy="3513905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C6F10501-BC58-B94F-B19D-44C999D2177C}"/>
                </a:ext>
              </a:extLst>
            </p:cNvPr>
            <p:cNvGrpSpPr/>
            <p:nvPr/>
          </p:nvGrpSpPr>
          <p:grpSpPr>
            <a:xfrm>
              <a:off x="8065044" y="6761368"/>
              <a:ext cx="4703558" cy="3513905"/>
              <a:chOff x="8965519" y="6731757"/>
              <a:chExt cx="4703558" cy="3663140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2456893C-C968-AB43-AF7B-092824DF8F60}"/>
                  </a:ext>
                </a:extLst>
              </p:cNvPr>
              <p:cNvGrpSpPr/>
              <p:nvPr/>
            </p:nvGrpSpPr>
            <p:grpSpPr>
              <a:xfrm>
                <a:off x="9495819" y="7285437"/>
                <a:ext cx="1805329" cy="3109460"/>
                <a:chOff x="8752789" y="6533979"/>
                <a:chExt cx="1805329" cy="3109460"/>
              </a:xfrm>
            </p:grpSpPr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CC31E860-8552-3841-AC00-844E6D2F9471}"/>
                    </a:ext>
                  </a:extLst>
                </p:cNvPr>
                <p:cNvSpPr/>
                <p:nvPr/>
              </p:nvSpPr>
              <p:spPr>
                <a:xfrm flipH="1">
                  <a:off x="8752789" y="7814070"/>
                  <a:ext cx="1691170" cy="1829369"/>
                </a:xfrm>
                <a:prstGeom prst="arc">
                  <a:avLst/>
                </a:prstGeom>
                <a:noFill/>
                <a:ln w="57150" cap="flat">
                  <a:solidFill>
                    <a:srgbClr val="C00000"/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130047" tIns="65023" rIns="130047" bIns="65023" numCol="1" spcCol="38100" rtlCol="0" anchor="t">
                  <a:noAutofit/>
                </a:bodyPr>
                <a:lstStyle/>
                <a:p>
                  <a:pPr algn="l" defTabSz="1300460" latinLnBrk="1"/>
                  <a:endParaRPr lang="en-US" sz="2560" b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8DB2DA-2018-F74C-800A-5F11B7F71735}"/>
                    </a:ext>
                  </a:extLst>
                </p:cNvPr>
                <p:cNvSpPr txBox="1"/>
                <p:nvPr/>
              </p:nvSpPr>
              <p:spPr>
                <a:xfrm>
                  <a:off x="9434912" y="7089086"/>
                  <a:ext cx="398364" cy="6361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65023" tIns="65023" rIns="65023" bIns="65023" numCol="1" spcCol="38100" rtlCol="0" anchor="t">
                  <a:spAutoFit/>
                </a:bodyPr>
                <a:lstStyle/>
                <a:p>
                  <a:pPr algn="l" defTabSz="1300460"/>
                  <a:r>
                    <a:rPr lang="en-US" sz="2560" b="0" dirty="0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  <a:sym typeface="Calibri"/>
                    </a:rPr>
                    <a:t>F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61ADC79-0AD8-564F-9267-594E8F7AE940}"/>
                    </a:ext>
                  </a:extLst>
                </p:cNvPr>
                <p:cNvSpPr txBox="1"/>
                <p:nvPr/>
              </p:nvSpPr>
              <p:spPr>
                <a:xfrm>
                  <a:off x="8817423" y="6533979"/>
                  <a:ext cx="1740695" cy="6361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65023" tIns="65023" rIns="65023" bIns="65023" numCol="1" spcCol="38100" rtlCol="0" anchor="t">
                  <a:spAutoFit/>
                </a:bodyPr>
                <a:lstStyle/>
                <a:p>
                  <a:pPr defTabSz="1300460"/>
                  <a:r>
                    <a:rPr lang="en-US" sz="2560" b="0" dirty="0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  <a:sym typeface="Calibri"/>
                    </a:rPr>
                    <a:t>Model 7</a:t>
                  </a:r>
                </a:p>
              </p:txBody>
            </p:sp>
          </p:grp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45DB7281-72DD-FA4B-A2C8-0C534630E17F}"/>
                  </a:ext>
                </a:extLst>
              </p:cNvPr>
              <p:cNvSpPr txBox="1"/>
              <p:nvPr/>
            </p:nvSpPr>
            <p:spPr>
              <a:xfrm>
                <a:off x="8965519" y="6731757"/>
                <a:ext cx="4703558" cy="606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5023" tIns="65023" rIns="65023" bIns="65023" numCol="1" spcCol="38100" rtlCol="0" anchor="t">
                <a:spAutoFit/>
              </a:bodyPr>
              <a:lstStyle/>
              <a:p>
                <a:pPr defTabSz="1300460"/>
                <a:r>
                  <a:rPr lang="en-US" b="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Calibri"/>
                  </a:rPr>
                  <a:t>No 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Calibri"/>
                  </a:rPr>
                  <a:t>INFLEXION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Points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Calibri"/>
                  </a:rPr>
                  <a:t> </a:t>
                </a:r>
              </a:p>
            </p:txBody>
          </p:sp>
        </p:grp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E65D70E8-5564-E24D-9129-02D30CFEF83B}"/>
                </a:ext>
              </a:extLst>
            </p:cNvPr>
            <p:cNvSpPr/>
            <p:nvPr/>
          </p:nvSpPr>
          <p:spPr>
            <a:xfrm rot="5764384" flipH="1">
              <a:off x="8524108" y="8530749"/>
              <a:ext cx="1691170" cy="1754841"/>
            </a:xfrm>
            <a:prstGeom prst="arc">
              <a:avLst/>
            </a:prstGeom>
            <a:noFill/>
            <a:ln w="57150" cap="flat">
              <a:solidFill>
                <a:srgbClr val="0070C0"/>
              </a:solidFill>
              <a:prstDash val="solid"/>
              <a:round/>
              <a:headEnd type="triangle" w="med" len="med"/>
              <a:tailEnd type="non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30047" tIns="65023" rIns="130047" bIns="65023" numCol="1" spcCol="38100" rtlCol="0" anchor="t">
              <a:noAutofit/>
            </a:bodyPr>
            <a:lstStyle/>
            <a:p>
              <a:pPr algn="l" defTabSz="1300460" latinLnBrk="1"/>
              <a:endParaRPr lang="en-US" sz="2560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C145916-30E6-6844-8DBF-563CB5466DA9}"/>
                </a:ext>
              </a:extLst>
            </p:cNvPr>
            <p:cNvGrpSpPr/>
            <p:nvPr/>
          </p:nvGrpSpPr>
          <p:grpSpPr>
            <a:xfrm rot="10800000">
              <a:off x="10709516" y="7311681"/>
              <a:ext cx="1820203" cy="2283293"/>
              <a:chOff x="8685257" y="7572853"/>
              <a:chExt cx="1820203" cy="2283293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CEF94511-43BB-AA45-A58A-A25F74AF00AE}"/>
                  </a:ext>
                </a:extLst>
              </p:cNvPr>
              <p:cNvGrpSpPr/>
              <p:nvPr/>
            </p:nvGrpSpPr>
            <p:grpSpPr>
              <a:xfrm>
                <a:off x="8764765" y="7572853"/>
                <a:ext cx="1740695" cy="2283293"/>
                <a:chOff x="8723028" y="7033624"/>
                <a:chExt cx="1740695" cy="2380264"/>
              </a:xfrm>
            </p:grpSpPr>
            <p:sp>
              <p:nvSpPr>
                <p:cNvPr id="100" name="Arc 99">
                  <a:extLst>
                    <a:ext uri="{FF2B5EF4-FFF2-40B4-BE49-F238E27FC236}">
                      <a16:creationId xmlns:a16="http://schemas.microsoft.com/office/drawing/2014/main" id="{CDB72D8C-3D50-D04F-913D-5D607AD7C8D4}"/>
                    </a:ext>
                  </a:extLst>
                </p:cNvPr>
                <p:cNvSpPr/>
                <p:nvPr/>
              </p:nvSpPr>
              <p:spPr>
                <a:xfrm flipH="1">
                  <a:off x="8758232" y="7584519"/>
                  <a:ext cx="1691170" cy="1829369"/>
                </a:xfrm>
                <a:prstGeom prst="arc">
                  <a:avLst/>
                </a:prstGeom>
                <a:noFill/>
                <a:ln w="57150" cap="flat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130047" tIns="65023" rIns="130047" bIns="65023" numCol="1" spcCol="38100" rtlCol="0" anchor="t">
                  <a:noAutofit/>
                </a:bodyPr>
                <a:lstStyle/>
                <a:p>
                  <a:pPr algn="l" defTabSz="1300460" latinLnBrk="1"/>
                  <a:endParaRPr lang="en-US" sz="2560" b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2F5FC5A5-D6F2-B046-99F7-2802CAC11A1F}"/>
                    </a:ext>
                  </a:extLst>
                </p:cNvPr>
                <p:cNvSpPr txBox="1"/>
                <p:nvPr/>
              </p:nvSpPr>
              <p:spPr>
                <a:xfrm rot="10800000">
                  <a:off x="9434912" y="7033624"/>
                  <a:ext cx="398364" cy="6361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65023" tIns="65023" rIns="65023" bIns="65023" numCol="1" spcCol="38100" rtlCol="0" anchor="t">
                  <a:spAutoFit/>
                </a:bodyPr>
                <a:lstStyle/>
                <a:p>
                  <a:pPr algn="l" defTabSz="1300460"/>
                  <a:r>
                    <a:rPr lang="en-US" sz="2560" b="0" dirty="0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  <a:sym typeface="Calibri"/>
                    </a:rPr>
                    <a:t>J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B18E545-606F-8344-BDE2-843642370AAB}"/>
                    </a:ext>
                  </a:extLst>
                </p:cNvPr>
                <p:cNvSpPr txBox="1"/>
                <p:nvPr/>
              </p:nvSpPr>
              <p:spPr>
                <a:xfrm rot="10800000">
                  <a:off x="8723028" y="8773677"/>
                  <a:ext cx="1740695" cy="6361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65023" tIns="65023" rIns="65023" bIns="65023" numCol="1" spcCol="38100" rtlCol="0" anchor="t">
                  <a:spAutoFit/>
                </a:bodyPr>
                <a:lstStyle/>
                <a:p>
                  <a:pPr defTabSz="1300460"/>
                  <a:r>
                    <a:rPr lang="en-US" sz="2560" b="0" dirty="0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  <a:sym typeface="Calibri"/>
                    </a:rPr>
                    <a:t>Model 8</a:t>
                  </a:r>
                </a:p>
              </p:txBody>
            </p:sp>
          </p:grp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id="{A4AEC988-C85E-844F-91B0-41D6B8BF6154}"/>
                  </a:ext>
                </a:extLst>
              </p:cNvPr>
              <p:cNvSpPr/>
              <p:nvPr/>
            </p:nvSpPr>
            <p:spPr>
              <a:xfrm rot="5764384" flipH="1">
                <a:off x="8717093" y="8100631"/>
                <a:ext cx="1691170" cy="1754841"/>
              </a:xfrm>
              <a:prstGeom prst="arc">
                <a:avLst/>
              </a:prstGeom>
              <a:noFill/>
              <a:ln w="57150" cap="flat">
                <a:solidFill>
                  <a:srgbClr val="0070C0"/>
                </a:solidFill>
                <a:prstDash val="solid"/>
                <a:round/>
                <a:headEnd type="none" w="med" len="med"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30047" tIns="65023" rIns="130047" bIns="65023" numCol="1" spcCol="38100" rtlCol="0" anchor="t">
                <a:noAutofit/>
              </a:bodyPr>
              <a:lstStyle/>
              <a:p>
                <a:pPr algn="l" defTabSz="1300460" latinLnBrk="1"/>
                <a:endParaRPr lang="en-US" sz="2560" b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975416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5823</TotalTime>
  <Words>1127</Words>
  <Application>Microsoft Macintosh PowerPoint</Application>
  <PresentationFormat>Custom</PresentationFormat>
  <Paragraphs>436</Paragraphs>
  <Slides>20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Cambria Math</vt:lpstr>
      <vt:lpstr>Helvetica Light</vt:lpstr>
      <vt:lpstr>Helvetica Neue</vt:lpstr>
      <vt:lpstr>Helvetica Neue Light</vt:lpstr>
      <vt:lpstr>Helvetica Neue Medium</vt:lpstr>
      <vt:lpstr>Helvetica Neue Thin</vt:lpstr>
      <vt:lpstr>Times New Roman</vt:lpstr>
      <vt:lpstr>White</vt:lpstr>
      <vt:lpstr>agnelo.menezes@xaviers.edu</vt:lpstr>
      <vt:lpstr>PowerPoint Presentation</vt:lpstr>
      <vt:lpstr>PowerPoint Presentation</vt:lpstr>
      <vt:lpstr>PowerPoint Presentation</vt:lpstr>
      <vt:lpstr>Regression (contd.)</vt:lpstr>
      <vt:lpstr>PowerPoint Presentation</vt:lpstr>
      <vt:lpstr>PowerPoint Presentation</vt:lpstr>
      <vt:lpstr>PowerPoint Presentation</vt:lpstr>
      <vt:lpstr>PowerPoint Presentation</vt:lpstr>
      <vt:lpstr>Regression (contd.)</vt:lpstr>
      <vt:lpstr>REGRESSION and ELASTCITY</vt:lpstr>
      <vt:lpstr>Regression and Elasticity of Y on X</vt:lpstr>
      <vt:lpstr>PowerPoint Presentation</vt:lpstr>
      <vt:lpstr>PowerPoint Presentation</vt:lpstr>
      <vt:lpstr>CONCAVITY and CONVEXITY  +  INFLEXION   lvn5kw2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</dc:title>
  <cp:lastModifiedBy>Aggie Menezes</cp:lastModifiedBy>
  <cp:revision>96</cp:revision>
  <dcterms:modified xsi:type="dcterms:W3CDTF">2025-10-13T15:15:06Z</dcterms:modified>
</cp:coreProperties>
</file>