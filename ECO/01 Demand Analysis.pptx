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5"/>
    <p:sldId id="270" r:id="rId6"/>
    <p:sldId id="268" r:id="rId7"/>
    <p:sldId id="275" r:id="rId8"/>
    <p:sldId id="263" r:id="rId9"/>
    <p:sldId id="264" r:id="rId10"/>
    <p:sldId id="265" r:id="rId11"/>
    <p:sldId id="266" r:id="rId1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3312"/>
  </p:normalViewPr>
  <p:slideViewPr>
    <p:cSldViewPr snapToGrid="0" snapToObjects="1">
      <p:cViewPr varScale="1">
        <p:scale>
          <a:sx n="71" d="100"/>
          <a:sy n="71" d="100"/>
        </p:scale>
        <p:origin x="10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977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132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5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hdr="0" ftr="0" dt="0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3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4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5" Type="http://schemas.openxmlformats.org/officeDocument/2006/relationships/image" Target="../media/image37.png"/><Relationship Id="rId15" Type="http://schemas.openxmlformats.org/officeDocument/2006/relationships/image" Target="../media/image43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5.png"/><Relationship Id="rId7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gression"/>
          <p:cNvSpPr txBox="1">
            <a:spLocks noGrp="1"/>
          </p:cNvSpPr>
          <p:nvPr>
            <p:ph type="ctrTitle"/>
          </p:nvPr>
        </p:nvSpPr>
        <p:spPr>
          <a:xfrm>
            <a:off x="973417" y="645461"/>
            <a:ext cx="11075147" cy="717176"/>
          </a:xfrm>
          <a:prstGeom prst="rect">
            <a:avLst/>
          </a:prstGeom>
        </p:spPr>
        <p:txBody>
          <a:bodyPr>
            <a:normAutofit/>
          </a:bodyPr>
          <a:lstStyle>
            <a:lvl1pPr defTabSz="554990">
              <a:defRPr sz="7600"/>
            </a:lvl1pPr>
          </a:lstStyle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121" name="The comprehension refers to understanding the impact of a causal variable on the concerned dependent variable"/>
          <p:cNvSpPr txBox="1"/>
          <p:nvPr/>
        </p:nvSpPr>
        <p:spPr>
          <a:xfrm>
            <a:off x="824378" y="2991702"/>
            <a:ext cx="3048375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3DC82A16-9D32-3D4B-B644-B87463DEC269}"/>
              </a:ext>
            </a:extLst>
          </p:cNvPr>
          <p:cNvSpPr txBox="1"/>
          <p:nvPr/>
        </p:nvSpPr>
        <p:spPr>
          <a:xfrm>
            <a:off x="5495552" y="6151043"/>
            <a:ext cx="4787528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PAY THE PRICE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16C75AEE-6E1B-2D4C-99C7-BE01740FE900}"/>
              </a:ext>
            </a:extLst>
          </p:cNvPr>
          <p:cNvSpPr txBox="1"/>
          <p:nvPr/>
        </p:nvSpPr>
        <p:spPr>
          <a:xfrm>
            <a:off x="3411818" y="4194857"/>
            <a:ext cx="1518771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9950CEF2-EF08-E441-9864-D9CE8EE4D29B}"/>
              </a:ext>
            </a:extLst>
          </p:cNvPr>
          <p:cNvSpPr txBox="1"/>
          <p:nvPr/>
        </p:nvSpPr>
        <p:spPr>
          <a:xfrm>
            <a:off x="764239" y="5683624"/>
            <a:ext cx="4464799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WILLINGNESS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629ECA2D-F6CD-0E4E-A470-4F377EFBD582}"/>
              </a:ext>
            </a:extLst>
          </p:cNvPr>
          <p:cNvSpPr txBox="1"/>
          <p:nvPr/>
        </p:nvSpPr>
        <p:spPr>
          <a:xfrm>
            <a:off x="2996638" y="7185754"/>
            <a:ext cx="9341223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PAY THE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MARKET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he comprehension refers to understanding the impact of a causal variable on the concerned dependent variable">
            <a:extLst>
              <a:ext uri="{FF2B5EF4-FFF2-40B4-BE49-F238E27FC236}">
                <a16:creationId xmlns:a16="http://schemas.microsoft.com/office/drawing/2014/main" id="{27392418-B958-3D4B-BD51-ED74FF3A7F9F}"/>
              </a:ext>
            </a:extLst>
          </p:cNvPr>
          <p:cNvSpPr txBox="1"/>
          <p:nvPr/>
        </p:nvSpPr>
        <p:spPr>
          <a:xfrm>
            <a:off x="869389" y="1563175"/>
            <a:ext cx="6284446" cy="93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/>
          <a:p>
            <a:pPr algn="just" defTabSz="490727">
              <a:lnSpc>
                <a:spcPct val="150000"/>
              </a:lnSpc>
              <a:defRPr sz="3108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backed by: </a:t>
            </a:r>
            <a:r>
              <a:rPr lang="en-US" sz="2800" cap="small" dirty="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800" cap="small" dirty="0">
              <a:solidFill>
                <a:schemeClr val="accent3">
                  <a:hueOff val="914337"/>
                  <a:satOff val="31515"/>
                  <a:lumOff val="-3079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1827E-2779-5142-A4AD-A3EC84739E6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6" grpId="0" animBg="1"/>
      <p:bldP spid="6" grpId="1" animBg="1"/>
      <p:bldP spid="8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gression (contd.)"/>
          <p:cNvSpPr txBox="1">
            <a:spLocks noGrp="1"/>
          </p:cNvSpPr>
          <p:nvPr>
            <p:ph type="ctrTitle"/>
          </p:nvPr>
        </p:nvSpPr>
        <p:spPr>
          <a:xfrm>
            <a:off x="1693770" y="219214"/>
            <a:ext cx="10464800" cy="639515"/>
          </a:xfrm>
          <a:prstGeom prst="rect">
            <a:avLst/>
          </a:prstGeom>
        </p:spPr>
        <p:txBody>
          <a:bodyPr/>
          <a:lstStyle>
            <a:lvl1pPr defTabSz="257047">
              <a:defRPr sz="3520"/>
            </a:lvl1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(contd.)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2CE36-DC8A-DD47-96BB-621B3E00C7B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99590" y="890411"/>
            <a:ext cx="4521200" cy="785158"/>
          </a:xfrm>
        </p:spPr>
        <p:txBody>
          <a:bodyPr/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D =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W)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37C99BD-A5A6-5F43-801F-D0095907CE2A}"/>
              </a:ext>
            </a:extLst>
          </p:cNvPr>
          <p:cNvSpPr txBox="1">
            <a:spLocks/>
          </p:cNvSpPr>
          <p:nvPr/>
        </p:nvSpPr>
        <p:spPr>
          <a:xfrm>
            <a:off x="614564" y="1678397"/>
            <a:ext cx="11529084" cy="78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Venn Diagrams used to depict Ability and Willingness: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4AC22B-0838-254D-B3FE-C3158D25075B}"/>
              </a:ext>
            </a:extLst>
          </p:cNvPr>
          <p:cNvGrpSpPr/>
          <p:nvPr/>
        </p:nvGrpSpPr>
        <p:grpSpPr>
          <a:xfrm>
            <a:off x="499590" y="2494542"/>
            <a:ext cx="5483518" cy="2904802"/>
            <a:chOff x="786278" y="4181193"/>
            <a:chExt cx="5737412" cy="291130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0CA53E-EFF5-6246-AF72-7C84325ADF6B}"/>
                </a:ext>
              </a:extLst>
            </p:cNvPr>
            <p:cNvSpPr/>
            <p:nvPr/>
          </p:nvSpPr>
          <p:spPr>
            <a:xfrm>
              <a:off x="969493" y="4500948"/>
              <a:ext cx="2181223" cy="1810205"/>
            </a:xfrm>
            <a:prstGeom prst="ellipse">
              <a:avLst/>
            </a:prstGeom>
            <a:noFill/>
            <a:ln w="5715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20D8A02-B55B-3C45-9B03-FD6CC2A4E3F2}"/>
                </a:ext>
              </a:extLst>
            </p:cNvPr>
            <p:cNvSpPr/>
            <p:nvPr/>
          </p:nvSpPr>
          <p:spPr>
            <a:xfrm>
              <a:off x="3609038" y="4500950"/>
              <a:ext cx="2401515" cy="1810204"/>
            </a:xfrm>
            <a:prstGeom prst="ellipse">
              <a:avLst/>
            </a:prstGeom>
            <a:noFill/>
            <a:ln w="57150" cap="flat">
              <a:solidFill>
                <a:schemeClr val="accent6">
                  <a:lumMod val="75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4B3CE0-F7A8-1240-823D-08A5A01A08C7}"/>
                </a:ext>
              </a:extLst>
            </p:cNvPr>
            <p:cNvSpPr/>
            <p:nvPr/>
          </p:nvSpPr>
          <p:spPr>
            <a:xfrm>
              <a:off x="786278" y="4181193"/>
              <a:ext cx="5737412" cy="2791045"/>
            </a:xfrm>
            <a:prstGeom prst="rect">
              <a:avLst/>
            </a:prstGeom>
            <a:noFill/>
            <a:ln w="5715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2" name="Text Placeholder 2">
              <a:extLst>
                <a:ext uri="{FF2B5EF4-FFF2-40B4-BE49-F238E27FC236}">
                  <a16:creationId xmlns:a16="http://schemas.microsoft.com/office/drawing/2014/main" id="{1493D32D-FC19-AD4C-BFAD-FB25A689844E}"/>
                </a:ext>
              </a:extLst>
            </p:cNvPr>
            <p:cNvSpPr txBox="1">
              <a:spLocks/>
            </p:cNvSpPr>
            <p:nvPr/>
          </p:nvSpPr>
          <p:spPr>
            <a:xfrm>
              <a:off x="1610393" y="5105345"/>
              <a:ext cx="887327" cy="62015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just"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Ability</a:t>
              </a:r>
            </a:p>
          </p:txBody>
        </p:sp>
        <p:sp>
          <p:nvSpPr>
            <p:cNvPr id="13" name="Text Placeholder 2">
              <a:extLst>
                <a:ext uri="{FF2B5EF4-FFF2-40B4-BE49-F238E27FC236}">
                  <a16:creationId xmlns:a16="http://schemas.microsoft.com/office/drawing/2014/main" id="{BF209180-2EF9-DC49-846D-8E2D746D8851}"/>
                </a:ext>
              </a:extLst>
            </p:cNvPr>
            <p:cNvSpPr txBox="1">
              <a:spLocks/>
            </p:cNvSpPr>
            <p:nvPr/>
          </p:nvSpPr>
          <p:spPr>
            <a:xfrm>
              <a:off x="4067685" y="5133368"/>
              <a:ext cx="1581459" cy="7851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just" hangingPunct="1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Willingness</a:t>
              </a:r>
            </a:p>
          </p:txBody>
        </p:sp>
        <p:sp>
          <p:nvSpPr>
            <p:cNvPr id="14" name="Text Placeholder 2">
              <a:extLst>
                <a:ext uri="{FF2B5EF4-FFF2-40B4-BE49-F238E27FC236}">
                  <a16:creationId xmlns:a16="http://schemas.microsoft.com/office/drawing/2014/main" id="{6B20269D-E007-1F47-BC55-6053CFD9B2F0}"/>
                </a:ext>
              </a:extLst>
            </p:cNvPr>
            <p:cNvSpPr txBox="1">
              <a:spLocks/>
            </p:cNvSpPr>
            <p:nvPr/>
          </p:nvSpPr>
          <p:spPr>
            <a:xfrm>
              <a:off x="2296081" y="6307338"/>
              <a:ext cx="2544611" cy="7851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just" hangingPunct="1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Disjoint sets</a:t>
              </a:r>
            </a:p>
          </p:txBody>
        </p:sp>
      </p:grp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DB332FA-71F6-1446-9529-220C150CE271}"/>
              </a:ext>
            </a:extLst>
          </p:cNvPr>
          <p:cNvSpPr txBox="1">
            <a:spLocks/>
          </p:cNvSpPr>
          <p:nvPr/>
        </p:nvSpPr>
        <p:spPr>
          <a:xfrm>
            <a:off x="323594" y="5721637"/>
            <a:ext cx="3033850" cy="2192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they be Congruent sets?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291F87-74F9-104B-BA0B-EE04399363C2}"/>
              </a:ext>
            </a:extLst>
          </p:cNvPr>
          <p:cNvGrpSpPr/>
          <p:nvPr/>
        </p:nvGrpSpPr>
        <p:grpSpPr>
          <a:xfrm>
            <a:off x="3737134" y="6452436"/>
            <a:ext cx="4625369" cy="3053639"/>
            <a:chOff x="7819508" y="6370478"/>
            <a:chExt cx="4625369" cy="305363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0BDDC9A-FB1A-4B44-9025-FE8521E54577}"/>
                </a:ext>
              </a:extLst>
            </p:cNvPr>
            <p:cNvSpPr/>
            <p:nvPr/>
          </p:nvSpPr>
          <p:spPr>
            <a:xfrm>
              <a:off x="8229136" y="6672247"/>
              <a:ext cx="1529693" cy="1664943"/>
            </a:xfrm>
            <a:prstGeom prst="ellipse">
              <a:avLst/>
            </a:prstGeom>
            <a:noFill/>
            <a:ln w="5715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C305A3C-4FEB-E645-B468-DCA584792324}"/>
                </a:ext>
              </a:extLst>
            </p:cNvPr>
            <p:cNvSpPr/>
            <p:nvPr/>
          </p:nvSpPr>
          <p:spPr>
            <a:xfrm>
              <a:off x="9149466" y="6471563"/>
              <a:ext cx="2649126" cy="2115871"/>
            </a:xfrm>
            <a:prstGeom prst="ellipse">
              <a:avLst/>
            </a:prstGeom>
            <a:noFill/>
            <a:ln w="5715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8994B4-8779-C94D-8A00-7D6D21F96DF3}"/>
                </a:ext>
              </a:extLst>
            </p:cNvPr>
            <p:cNvSpPr/>
            <p:nvPr/>
          </p:nvSpPr>
          <p:spPr>
            <a:xfrm>
              <a:off x="7819508" y="6370478"/>
              <a:ext cx="4625369" cy="2791044"/>
            </a:xfrm>
            <a:prstGeom prst="rect">
              <a:avLst/>
            </a:prstGeom>
            <a:noFill/>
            <a:ln w="5715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0" name="Text Placeholder 2">
              <a:extLst>
                <a:ext uri="{FF2B5EF4-FFF2-40B4-BE49-F238E27FC236}">
                  <a16:creationId xmlns:a16="http://schemas.microsoft.com/office/drawing/2014/main" id="{35F2A74A-8E0F-514F-B16E-01C245970607}"/>
                </a:ext>
              </a:extLst>
            </p:cNvPr>
            <p:cNvSpPr txBox="1">
              <a:spLocks/>
            </p:cNvSpPr>
            <p:nvPr/>
          </p:nvSpPr>
          <p:spPr>
            <a:xfrm>
              <a:off x="8725802" y="8638959"/>
              <a:ext cx="3274873" cy="7851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just" hangingPunct="1"/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UNEQUAL sets ??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FD2D9F1-18A1-E14A-9B19-A507D83DB274}"/>
                </a:ext>
              </a:extLst>
            </p:cNvPr>
            <p:cNvSpPr/>
            <p:nvPr/>
          </p:nvSpPr>
          <p:spPr>
            <a:xfrm>
              <a:off x="9143827" y="6884429"/>
              <a:ext cx="638771" cy="1290339"/>
            </a:xfrm>
            <a:custGeom>
              <a:avLst/>
              <a:gdLst>
                <a:gd name="connsiteX0" fmla="*/ 0 w 609363"/>
                <a:gd name="connsiteY0" fmla="*/ 536571 h 1073142"/>
                <a:gd name="connsiteX1" fmla="*/ 304682 w 609363"/>
                <a:gd name="connsiteY1" fmla="*/ 0 h 1073142"/>
                <a:gd name="connsiteX2" fmla="*/ 609364 w 609363"/>
                <a:gd name="connsiteY2" fmla="*/ 536571 h 1073142"/>
                <a:gd name="connsiteX3" fmla="*/ 304682 w 609363"/>
                <a:gd name="connsiteY3" fmla="*/ 1073142 h 1073142"/>
                <a:gd name="connsiteX4" fmla="*/ 0 w 609363"/>
                <a:gd name="connsiteY4" fmla="*/ 536571 h 1073142"/>
                <a:gd name="connsiteX0" fmla="*/ 53 w 609417"/>
                <a:gd name="connsiteY0" fmla="*/ 536571 h 1288295"/>
                <a:gd name="connsiteX1" fmla="*/ 304735 w 609417"/>
                <a:gd name="connsiteY1" fmla="*/ 0 h 1288295"/>
                <a:gd name="connsiteX2" fmla="*/ 609417 w 609417"/>
                <a:gd name="connsiteY2" fmla="*/ 536571 h 1288295"/>
                <a:gd name="connsiteX3" fmla="*/ 286806 w 609417"/>
                <a:gd name="connsiteY3" fmla="*/ 1288295 h 1288295"/>
                <a:gd name="connsiteX4" fmla="*/ 53 w 609417"/>
                <a:gd name="connsiteY4" fmla="*/ 536571 h 1288295"/>
                <a:gd name="connsiteX0" fmla="*/ 53 w 609417"/>
                <a:gd name="connsiteY0" fmla="*/ 536571 h 1288295"/>
                <a:gd name="connsiteX1" fmla="*/ 304735 w 609417"/>
                <a:gd name="connsiteY1" fmla="*/ 0 h 1288295"/>
                <a:gd name="connsiteX2" fmla="*/ 609417 w 609417"/>
                <a:gd name="connsiteY2" fmla="*/ 536571 h 1288295"/>
                <a:gd name="connsiteX3" fmla="*/ 286806 w 609417"/>
                <a:gd name="connsiteY3" fmla="*/ 1288295 h 1288295"/>
                <a:gd name="connsiteX4" fmla="*/ 53 w 609417"/>
                <a:gd name="connsiteY4" fmla="*/ 536571 h 1288295"/>
                <a:gd name="connsiteX0" fmla="*/ 9974 w 619338"/>
                <a:gd name="connsiteY0" fmla="*/ 536571 h 1299039"/>
                <a:gd name="connsiteX1" fmla="*/ 314656 w 619338"/>
                <a:gd name="connsiteY1" fmla="*/ 0 h 1299039"/>
                <a:gd name="connsiteX2" fmla="*/ 619338 w 619338"/>
                <a:gd name="connsiteY2" fmla="*/ 536571 h 1299039"/>
                <a:gd name="connsiteX3" fmla="*/ 296727 w 619338"/>
                <a:gd name="connsiteY3" fmla="*/ 1288295 h 1299039"/>
                <a:gd name="connsiteX4" fmla="*/ 94155 w 619338"/>
                <a:gd name="connsiteY4" fmla="*/ 950724 h 1299039"/>
                <a:gd name="connsiteX5" fmla="*/ 9974 w 619338"/>
                <a:gd name="connsiteY5" fmla="*/ 536571 h 1299039"/>
                <a:gd name="connsiteX0" fmla="*/ 9974 w 643106"/>
                <a:gd name="connsiteY0" fmla="*/ 536571 h 1288415"/>
                <a:gd name="connsiteX1" fmla="*/ 314656 w 643106"/>
                <a:gd name="connsiteY1" fmla="*/ 0 h 1288415"/>
                <a:gd name="connsiteX2" fmla="*/ 619338 w 643106"/>
                <a:gd name="connsiteY2" fmla="*/ 536571 h 1288415"/>
                <a:gd name="connsiteX3" fmla="*/ 596179 w 643106"/>
                <a:gd name="connsiteY3" fmla="*/ 914865 h 1288415"/>
                <a:gd name="connsiteX4" fmla="*/ 296727 w 643106"/>
                <a:gd name="connsiteY4" fmla="*/ 1288295 h 1288415"/>
                <a:gd name="connsiteX5" fmla="*/ 94155 w 643106"/>
                <a:gd name="connsiteY5" fmla="*/ 950724 h 1288415"/>
                <a:gd name="connsiteX6" fmla="*/ 9974 w 643106"/>
                <a:gd name="connsiteY6" fmla="*/ 536571 h 1288415"/>
                <a:gd name="connsiteX0" fmla="*/ 5639 w 638771"/>
                <a:gd name="connsiteY0" fmla="*/ 536571 h 1290339"/>
                <a:gd name="connsiteX1" fmla="*/ 310321 w 638771"/>
                <a:gd name="connsiteY1" fmla="*/ 0 h 1290339"/>
                <a:gd name="connsiteX2" fmla="*/ 615003 w 638771"/>
                <a:gd name="connsiteY2" fmla="*/ 536571 h 1290339"/>
                <a:gd name="connsiteX3" fmla="*/ 591844 w 638771"/>
                <a:gd name="connsiteY3" fmla="*/ 914865 h 1290339"/>
                <a:gd name="connsiteX4" fmla="*/ 292392 w 638771"/>
                <a:gd name="connsiteY4" fmla="*/ 1288295 h 1290339"/>
                <a:gd name="connsiteX5" fmla="*/ 125679 w 638771"/>
                <a:gd name="connsiteY5" fmla="*/ 1040371 h 1290339"/>
                <a:gd name="connsiteX6" fmla="*/ 5639 w 638771"/>
                <a:gd name="connsiteY6" fmla="*/ 536571 h 129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8771" h="1290339">
                  <a:moveTo>
                    <a:pt x="5639" y="536571"/>
                  </a:moveTo>
                  <a:cubicBezTo>
                    <a:pt x="36413" y="363176"/>
                    <a:pt x="142050" y="0"/>
                    <a:pt x="310321" y="0"/>
                  </a:cubicBezTo>
                  <a:cubicBezTo>
                    <a:pt x="478592" y="0"/>
                    <a:pt x="577047" y="387082"/>
                    <a:pt x="615003" y="536571"/>
                  </a:cubicBezTo>
                  <a:cubicBezTo>
                    <a:pt x="652959" y="686060"/>
                    <a:pt x="645612" y="789578"/>
                    <a:pt x="591844" y="914865"/>
                  </a:cubicBezTo>
                  <a:cubicBezTo>
                    <a:pt x="538076" y="1040152"/>
                    <a:pt x="370086" y="1267377"/>
                    <a:pt x="292392" y="1288295"/>
                  </a:cubicBezTo>
                  <a:cubicBezTo>
                    <a:pt x="214698" y="1309213"/>
                    <a:pt x="173471" y="1165658"/>
                    <a:pt x="125679" y="1040371"/>
                  </a:cubicBezTo>
                  <a:cubicBezTo>
                    <a:pt x="77887" y="915084"/>
                    <a:pt x="-25135" y="709966"/>
                    <a:pt x="5639" y="536571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76200" cap="flat">
              <a:solidFill>
                <a:schemeClr val="bg2">
                  <a:lumMod val="50000"/>
                </a:schemeClr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DF70FDA-AEA5-1A4A-A81D-5F9A2F2416E5}"/>
              </a:ext>
            </a:extLst>
          </p:cNvPr>
          <p:cNvSpPr txBox="1">
            <a:spLocks/>
          </p:cNvSpPr>
          <p:nvPr/>
        </p:nvSpPr>
        <p:spPr>
          <a:xfrm>
            <a:off x="8939736" y="5757763"/>
            <a:ext cx="3608245" cy="250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 hangingPunct="1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one make ‘A’ or ‘W’ </a:t>
            </a: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favourable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 firm?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8E86958-73B0-E04E-A52E-AC12455866E6}"/>
              </a:ext>
            </a:extLst>
          </p:cNvPr>
          <p:cNvGrpSpPr/>
          <p:nvPr/>
        </p:nvGrpSpPr>
        <p:grpSpPr>
          <a:xfrm>
            <a:off x="7145614" y="2372225"/>
            <a:ext cx="4698675" cy="2859591"/>
            <a:chOff x="7145614" y="2372225"/>
            <a:chExt cx="4698675" cy="285959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09F0075-5AB6-F04D-B206-64A5AC3B531B}"/>
                </a:ext>
              </a:extLst>
            </p:cNvPr>
            <p:cNvGrpSpPr/>
            <p:nvPr/>
          </p:nvGrpSpPr>
          <p:grpSpPr>
            <a:xfrm>
              <a:off x="7145614" y="2405732"/>
              <a:ext cx="4630145" cy="2826084"/>
              <a:chOff x="7259812" y="3097252"/>
              <a:chExt cx="4630145" cy="2826084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28F0705-B437-6341-BBD0-BC7792570D09}"/>
                  </a:ext>
                </a:extLst>
              </p:cNvPr>
              <p:cNvGrpSpPr/>
              <p:nvPr/>
            </p:nvGrpSpPr>
            <p:grpSpPr>
              <a:xfrm>
                <a:off x="7259812" y="3097252"/>
                <a:ext cx="4630145" cy="2826084"/>
                <a:chOff x="7418420" y="4146152"/>
                <a:chExt cx="4630145" cy="2826084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DFDE084-0162-044D-8D3A-BC84ECE2D9B0}"/>
                    </a:ext>
                  </a:extLst>
                </p:cNvPr>
                <p:cNvSpPr/>
                <p:nvPr/>
              </p:nvSpPr>
              <p:spPr>
                <a:xfrm>
                  <a:off x="7585872" y="5023833"/>
                  <a:ext cx="2181223" cy="1810205"/>
                </a:xfrm>
                <a:prstGeom prst="ellipse">
                  <a:avLst/>
                </a:prstGeom>
                <a:noFill/>
                <a:ln w="5715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 Medium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1FF72F0E-CDEF-9640-BB16-1812057C244B}"/>
                    </a:ext>
                  </a:extLst>
                </p:cNvPr>
                <p:cNvSpPr/>
                <p:nvPr/>
              </p:nvSpPr>
              <p:spPr>
                <a:xfrm>
                  <a:off x="8915830" y="5023834"/>
                  <a:ext cx="2401515" cy="1810204"/>
                </a:xfrm>
                <a:prstGeom prst="ellipse">
                  <a:avLst/>
                </a:prstGeom>
                <a:noFill/>
                <a:ln w="57150" cap="flat">
                  <a:solidFill>
                    <a:schemeClr val="accent6">
                      <a:lumMod val="75000"/>
                    </a:schemeClr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 Medium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A4307B8-0806-8B4D-BADE-9842C2207D99}"/>
                    </a:ext>
                  </a:extLst>
                </p:cNvPr>
                <p:cNvSpPr/>
                <p:nvPr/>
              </p:nvSpPr>
              <p:spPr>
                <a:xfrm>
                  <a:off x="7423196" y="4181192"/>
                  <a:ext cx="4625369" cy="2791044"/>
                </a:xfrm>
                <a:prstGeom prst="rect">
                  <a:avLst/>
                </a:prstGeom>
                <a:noFill/>
                <a:ln w="57150" cap="flat">
                  <a:solidFill>
                    <a:schemeClr val="tx1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ctr" defTabSz="584200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2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 Medium"/>
                  </a:endParaRPr>
                </a:p>
              </p:txBody>
            </p:sp>
            <p:sp>
              <p:nvSpPr>
                <p:cNvPr id="18" name="Text Placeholder 2">
                  <a:extLst>
                    <a:ext uri="{FF2B5EF4-FFF2-40B4-BE49-F238E27FC236}">
                      <a16:creationId xmlns:a16="http://schemas.microsoft.com/office/drawing/2014/main" id="{70C4458C-5A55-A743-8151-1DE8D16CC8D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992980" y="6073971"/>
                  <a:ext cx="907867" cy="50671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t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1pPr>
                  <a:lvl2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2pPr>
                  <a:lvl3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3pPr>
                  <a:lvl4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4pPr>
                  <a:lvl5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5pPr>
                  <a:lvl6pPr marL="2667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6pPr>
                  <a:lvl7pPr marL="3111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7pPr>
                  <a:lvl8pPr marL="3556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8pPr>
                  <a:lvl9pPr marL="4000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9pPr>
                </a:lstStyle>
                <a:p>
                  <a:pPr algn="just" hangingPunct="1"/>
                  <a:r>
                    <a:rPr lang="en-US" sz="2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Ability</a:t>
                  </a:r>
                </a:p>
              </p:txBody>
            </p:sp>
            <p:sp>
              <p:nvSpPr>
                <p:cNvPr id="19" name="Text Placeholder 2">
                  <a:extLst>
                    <a:ext uri="{FF2B5EF4-FFF2-40B4-BE49-F238E27FC236}">
                      <a16:creationId xmlns:a16="http://schemas.microsoft.com/office/drawing/2014/main" id="{3B3ED34E-62DF-A844-AE3D-DF78D55B55F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797061" y="6149965"/>
                  <a:ext cx="1500293" cy="78515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t">
                  <a:norm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1pPr>
                  <a:lvl2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2pPr>
                  <a:lvl3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3pPr>
                  <a:lvl4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4pPr>
                  <a:lvl5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5pPr>
                  <a:lvl6pPr marL="2667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6pPr>
                  <a:lvl7pPr marL="3111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7pPr>
                  <a:lvl8pPr marL="3556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8pPr>
                  <a:lvl9pPr marL="4000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9pPr>
                </a:lstStyle>
                <a:p>
                  <a:pPr algn="just" hangingPunct="1"/>
                  <a:r>
                    <a:rPr lang="en-US" sz="2000" b="1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Willingness</a:t>
                  </a:r>
                </a:p>
              </p:txBody>
            </p:sp>
            <p:sp>
              <p:nvSpPr>
                <p:cNvPr id="20" name="Text Placeholder 2">
                  <a:extLst>
                    <a:ext uri="{FF2B5EF4-FFF2-40B4-BE49-F238E27FC236}">
                      <a16:creationId xmlns:a16="http://schemas.microsoft.com/office/drawing/2014/main" id="{BDD0E039-6A2D-BB46-9EC8-57715F18105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418420" y="4146152"/>
                  <a:ext cx="2225313" cy="785158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50800" tIns="50800" rIns="50800" bIns="50800" anchor="t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1pPr>
                  <a:lvl2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2pPr>
                  <a:lvl3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3pPr>
                  <a:lvl4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4pPr>
                  <a:lvl5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7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5pPr>
                  <a:lvl6pPr marL="2667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6pPr>
                  <a:lvl7pPr marL="3111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7pPr>
                  <a:lvl8pPr marL="35560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8pPr>
                  <a:lvl9pPr marL="4000500" marR="0" indent="-444500" algn="l" defTabSz="584200" rtl="0" latinLnBrk="0">
                    <a:lnSpc>
                      <a:spcPct val="100000"/>
                    </a:lnSpc>
                    <a:spcBef>
                      <a:spcPts val="4200"/>
                    </a:spcBef>
                    <a:spcAft>
                      <a:spcPts val="0"/>
                    </a:spcAft>
                    <a:buClrTx/>
                    <a:buSzPct val="145000"/>
                    <a:buFontTx/>
                    <a:buChar char="•"/>
                    <a:tabLst/>
                    <a:defRPr sz="32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Neue"/>
                      <a:ea typeface="Helvetica Neue"/>
                      <a:cs typeface="Helvetica Neue"/>
                      <a:sym typeface="Helvetica Neue"/>
                    </a:defRPr>
                  </a:lvl9pPr>
                </a:lstStyle>
                <a:p>
                  <a:pPr hangingPunct="1"/>
                  <a:r>
                    <a:rPr lang="en-U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Intersecting sets</a:t>
                  </a:r>
                </a:p>
              </p:txBody>
            </p:sp>
          </p:grpSp>
          <p:sp>
            <p:nvSpPr>
              <p:cNvPr id="32" name="Oval 20">
                <a:extLst>
                  <a:ext uri="{FF2B5EF4-FFF2-40B4-BE49-F238E27FC236}">
                    <a16:creationId xmlns:a16="http://schemas.microsoft.com/office/drawing/2014/main" id="{8CA3F6D8-E951-284D-AF09-0FE4EA4041B1}"/>
                  </a:ext>
                </a:extLst>
              </p:cNvPr>
              <p:cNvSpPr/>
              <p:nvPr/>
            </p:nvSpPr>
            <p:spPr>
              <a:xfrm>
                <a:off x="8810235" y="4220207"/>
                <a:ext cx="842342" cy="1390479"/>
              </a:xfrm>
              <a:custGeom>
                <a:avLst/>
                <a:gdLst>
                  <a:gd name="connsiteX0" fmla="*/ 0 w 609363"/>
                  <a:gd name="connsiteY0" fmla="*/ 536571 h 1073142"/>
                  <a:gd name="connsiteX1" fmla="*/ 304682 w 609363"/>
                  <a:gd name="connsiteY1" fmla="*/ 0 h 1073142"/>
                  <a:gd name="connsiteX2" fmla="*/ 609364 w 609363"/>
                  <a:gd name="connsiteY2" fmla="*/ 536571 h 1073142"/>
                  <a:gd name="connsiteX3" fmla="*/ 304682 w 609363"/>
                  <a:gd name="connsiteY3" fmla="*/ 1073142 h 1073142"/>
                  <a:gd name="connsiteX4" fmla="*/ 0 w 609363"/>
                  <a:gd name="connsiteY4" fmla="*/ 536571 h 1073142"/>
                  <a:gd name="connsiteX0" fmla="*/ 53 w 609417"/>
                  <a:gd name="connsiteY0" fmla="*/ 536571 h 1288295"/>
                  <a:gd name="connsiteX1" fmla="*/ 304735 w 609417"/>
                  <a:gd name="connsiteY1" fmla="*/ 0 h 1288295"/>
                  <a:gd name="connsiteX2" fmla="*/ 609417 w 609417"/>
                  <a:gd name="connsiteY2" fmla="*/ 536571 h 1288295"/>
                  <a:gd name="connsiteX3" fmla="*/ 286806 w 609417"/>
                  <a:gd name="connsiteY3" fmla="*/ 1288295 h 1288295"/>
                  <a:gd name="connsiteX4" fmla="*/ 53 w 609417"/>
                  <a:gd name="connsiteY4" fmla="*/ 536571 h 1288295"/>
                  <a:gd name="connsiteX0" fmla="*/ 53 w 609417"/>
                  <a:gd name="connsiteY0" fmla="*/ 536571 h 1288295"/>
                  <a:gd name="connsiteX1" fmla="*/ 304735 w 609417"/>
                  <a:gd name="connsiteY1" fmla="*/ 0 h 1288295"/>
                  <a:gd name="connsiteX2" fmla="*/ 609417 w 609417"/>
                  <a:gd name="connsiteY2" fmla="*/ 536571 h 1288295"/>
                  <a:gd name="connsiteX3" fmla="*/ 286806 w 609417"/>
                  <a:gd name="connsiteY3" fmla="*/ 1288295 h 1288295"/>
                  <a:gd name="connsiteX4" fmla="*/ 53 w 609417"/>
                  <a:gd name="connsiteY4" fmla="*/ 536571 h 1288295"/>
                  <a:gd name="connsiteX0" fmla="*/ 9974 w 619338"/>
                  <a:gd name="connsiteY0" fmla="*/ 536571 h 1299039"/>
                  <a:gd name="connsiteX1" fmla="*/ 314656 w 619338"/>
                  <a:gd name="connsiteY1" fmla="*/ 0 h 1299039"/>
                  <a:gd name="connsiteX2" fmla="*/ 619338 w 619338"/>
                  <a:gd name="connsiteY2" fmla="*/ 536571 h 1299039"/>
                  <a:gd name="connsiteX3" fmla="*/ 296727 w 619338"/>
                  <a:gd name="connsiteY3" fmla="*/ 1288295 h 1299039"/>
                  <a:gd name="connsiteX4" fmla="*/ 94155 w 619338"/>
                  <a:gd name="connsiteY4" fmla="*/ 950724 h 1299039"/>
                  <a:gd name="connsiteX5" fmla="*/ 9974 w 619338"/>
                  <a:gd name="connsiteY5" fmla="*/ 536571 h 1299039"/>
                  <a:gd name="connsiteX0" fmla="*/ 9974 w 643106"/>
                  <a:gd name="connsiteY0" fmla="*/ 536571 h 1288415"/>
                  <a:gd name="connsiteX1" fmla="*/ 314656 w 643106"/>
                  <a:gd name="connsiteY1" fmla="*/ 0 h 1288415"/>
                  <a:gd name="connsiteX2" fmla="*/ 619338 w 643106"/>
                  <a:gd name="connsiteY2" fmla="*/ 536571 h 1288415"/>
                  <a:gd name="connsiteX3" fmla="*/ 596179 w 643106"/>
                  <a:gd name="connsiteY3" fmla="*/ 914865 h 1288415"/>
                  <a:gd name="connsiteX4" fmla="*/ 296727 w 643106"/>
                  <a:gd name="connsiteY4" fmla="*/ 1288295 h 1288415"/>
                  <a:gd name="connsiteX5" fmla="*/ 94155 w 643106"/>
                  <a:gd name="connsiteY5" fmla="*/ 950724 h 1288415"/>
                  <a:gd name="connsiteX6" fmla="*/ 9974 w 643106"/>
                  <a:gd name="connsiteY6" fmla="*/ 536571 h 1288415"/>
                  <a:gd name="connsiteX0" fmla="*/ 5639 w 638771"/>
                  <a:gd name="connsiteY0" fmla="*/ 536571 h 1290339"/>
                  <a:gd name="connsiteX1" fmla="*/ 310321 w 638771"/>
                  <a:gd name="connsiteY1" fmla="*/ 0 h 1290339"/>
                  <a:gd name="connsiteX2" fmla="*/ 615003 w 638771"/>
                  <a:gd name="connsiteY2" fmla="*/ 536571 h 1290339"/>
                  <a:gd name="connsiteX3" fmla="*/ 591844 w 638771"/>
                  <a:gd name="connsiteY3" fmla="*/ 914865 h 1290339"/>
                  <a:gd name="connsiteX4" fmla="*/ 292392 w 638771"/>
                  <a:gd name="connsiteY4" fmla="*/ 1288295 h 1290339"/>
                  <a:gd name="connsiteX5" fmla="*/ 125679 w 638771"/>
                  <a:gd name="connsiteY5" fmla="*/ 1040371 h 1290339"/>
                  <a:gd name="connsiteX6" fmla="*/ 5639 w 638771"/>
                  <a:gd name="connsiteY6" fmla="*/ 536571 h 1290339"/>
                  <a:gd name="connsiteX0" fmla="*/ 2838 w 761476"/>
                  <a:gd name="connsiteY0" fmla="*/ 500791 h 1290418"/>
                  <a:gd name="connsiteX1" fmla="*/ 433026 w 761476"/>
                  <a:gd name="connsiteY1" fmla="*/ 79 h 1290418"/>
                  <a:gd name="connsiteX2" fmla="*/ 737708 w 761476"/>
                  <a:gd name="connsiteY2" fmla="*/ 536650 h 1290418"/>
                  <a:gd name="connsiteX3" fmla="*/ 714549 w 761476"/>
                  <a:gd name="connsiteY3" fmla="*/ 914944 h 1290418"/>
                  <a:gd name="connsiteX4" fmla="*/ 415097 w 761476"/>
                  <a:gd name="connsiteY4" fmla="*/ 1288374 h 1290418"/>
                  <a:gd name="connsiteX5" fmla="*/ 248384 w 761476"/>
                  <a:gd name="connsiteY5" fmla="*/ 1040450 h 1290418"/>
                  <a:gd name="connsiteX6" fmla="*/ 2838 w 761476"/>
                  <a:gd name="connsiteY6" fmla="*/ 500791 h 1290418"/>
                  <a:gd name="connsiteX0" fmla="*/ 25362 w 784000"/>
                  <a:gd name="connsiteY0" fmla="*/ 500788 h 1289949"/>
                  <a:gd name="connsiteX1" fmla="*/ 455550 w 784000"/>
                  <a:gd name="connsiteY1" fmla="*/ 76 h 1289949"/>
                  <a:gd name="connsiteX2" fmla="*/ 760232 w 784000"/>
                  <a:gd name="connsiteY2" fmla="*/ 536647 h 1289949"/>
                  <a:gd name="connsiteX3" fmla="*/ 737073 w 784000"/>
                  <a:gd name="connsiteY3" fmla="*/ 914941 h 1289949"/>
                  <a:gd name="connsiteX4" fmla="*/ 437621 w 784000"/>
                  <a:gd name="connsiteY4" fmla="*/ 1288371 h 1289949"/>
                  <a:gd name="connsiteX5" fmla="*/ 270908 w 784000"/>
                  <a:gd name="connsiteY5" fmla="*/ 1040447 h 1289949"/>
                  <a:gd name="connsiteX6" fmla="*/ 73866 w 784000"/>
                  <a:gd name="connsiteY6" fmla="*/ 938459 h 1289949"/>
                  <a:gd name="connsiteX7" fmla="*/ 25362 w 784000"/>
                  <a:gd name="connsiteY7" fmla="*/ 500788 h 1289949"/>
                  <a:gd name="connsiteX0" fmla="*/ 25362 w 784000"/>
                  <a:gd name="connsiteY0" fmla="*/ 500788 h 1302076"/>
                  <a:gd name="connsiteX1" fmla="*/ 455550 w 784000"/>
                  <a:gd name="connsiteY1" fmla="*/ 76 h 1302076"/>
                  <a:gd name="connsiteX2" fmla="*/ 760232 w 784000"/>
                  <a:gd name="connsiteY2" fmla="*/ 536647 h 1302076"/>
                  <a:gd name="connsiteX3" fmla="*/ 737073 w 784000"/>
                  <a:gd name="connsiteY3" fmla="*/ 914941 h 1302076"/>
                  <a:gd name="connsiteX4" fmla="*/ 437621 w 784000"/>
                  <a:gd name="connsiteY4" fmla="*/ 1288371 h 1302076"/>
                  <a:gd name="connsiteX5" fmla="*/ 270908 w 784000"/>
                  <a:gd name="connsiteY5" fmla="*/ 1183882 h 1302076"/>
                  <a:gd name="connsiteX6" fmla="*/ 73866 w 784000"/>
                  <a:gd name="connsiteY6" fmla="*/ 938459 h 1302076"/>
                  <a:gd name="connsiteX7" fmla="*/ 25362 w 784000"/>
                  <a:gd name="connsiteY7" fmla="*/ 500788 h 1302076"/>
                  <a:gd name="connsiteX0" fmla="*/ 25362 w 776664"/>
                  <a:gd name="connsiteY0" fmla="*/ 500788 h 1290200"/>
                  <a:gd name="connsiteX1" fmla="*/ 455550 w 776664"/>
                  <a:gd name="connsiteY1" fmla="*/ 76 h 1290200"/>
                  <a:gd name="connsiteX2" fmla="*/ 760232 w 776664"/>
                  <a:gd name="connsiteY2" fmla="*/ 536647 h 1290200"/>
                  <a:gd name="connsiteX3" fmla="*/ 737073 w 776664"/>
                  <a:gd name="connsiteY3" fmla="*/ 914941 h 1290200"/>
                  <a:gd name="connsiteX4" fmla="*/ 683466 w 776664"/>
                  <a:gd name="connsiteY4" fmla="*/ 1117752 h 1290200"/>
                  <a:gd name="connsiteX5" fmla="*/ 437621 w 776664"/>
                  <a:gd name="connsiteY5" fmla="*/ 1288371 h 1290200"/>
                  <a:gd name="connsiteX6" fmla="*/ 270908 w 776664"/>
                  <a:gd name="connsiteY6" fmla="*/ 1183882 h 1290200"/>
                  <a:gd name="connsiteX7" fmla="*/ 73866 w 776664"/>
                  <a:gd name="connsiteY7" fmla="*/ 938459 h 1290200"/>
                  <a:gd name="connsiteX8" fmla="*/ 25362 w 776664"/>
                  <a:gd name="connsiteY8" fmla="*/ 500788 h 1290200"/>
                  <a:gd name="connsiteX0" fmla="*/ 25362 w 777084"/>
                  <a:gd name="connsiteY0" fmla="*/ 501939 h 1291351"/>
                  <a:gd name="connsiteX1" fmla="*/ 455550 w 777084"/>
                  <a:gd name="connsiteY1" fmla="*/ 1227 h 1291351"/>
                  <a:gd name="connsiteX2" fmla="*/ 755184 w 777084"/>
                  <a:gd name="connsiteY2" fmla="*/ 365868 h 1291351"/>
                  <a:gd name="connsiteX3" fmla="*/ 760232 w 777084"/>
                  <a:gd name="connsiteY3" fmla="*/ 537798 h 1291351"/>
                  <a:gd name="connsiteX4" fmla="*/ 737073 w 777084"/>
                  <a:gd name="connsiteY4" fmla="*/ 916092 h 1291351"/>
                  <a:gd name="connsiteX5" fmla="*/ 683466 w 777084"/>
                  <a:gd name="connsiteY5" fmla="*/ 1118903 h 1291351"/>
                  <a:gd name="connsiteX6" fmla="*/ 437621 w 777084"/>
                  <a:gd name="connsiteY6" fmla="*/ 1289522 h 1291351"/>
                  <a:gd name="connsiteX7" fmla="*/ 270908 w 777084"/>
                  <a:gd name="connsiteY7" fmla="*/ 1185033 h 1291351"/>
                  <a:gd name="connsiteX8" fmla="*/ 73866 w 777084"/>
                  <a:gd name="connsiteY8" fmla="*/ 939610 h 1291351"/>
                  <a:gd name="connsiteX9" fmla="*/ 25362 w 777084"/>
                  <a:gd name="connsiteY9" fmla="*/ 501939 h 1291351"/>
                  <a:gd name="connsiteX0" fmla="*/ 25362 w 850458"/>
                  <a:gd name="connsiteY0" fmla="*/ 501939 h 1291351"/>
                  <a:gd name="connsiteX1" fmla="*/ 455550 w 850458"/>
                  <a:gd name="connsiteY1" fmla="*/ 1227 h 1291351"/>
                  <a:gd name="connsiteX2" fmla="*/ 755184 w 850458"/>
                  <a:gd name="connsiteY2" fmla="*/ 365868 h 1291351"/>
                  <a:gd name="connsiteX3" fmla="*/ 849879 w 850458"/>
                  <a:gd name="connsiteY3" fmla="*/ 591586 h 1291351"/>
                  <a:gd name="connsiteX4" fmla="*/ 737073 w 850458"/>
                  <a:gd name="connsiteY4" fmla="*/ 916092 h 1291351"/>
                  <a:gd name="connsiteX5" fmla="*/ 683466 w 850458"/>
                  <a:gd name="connsiteY5" fmla="*/ 1118903 h 1291351"/>
                  <a:gd name="connsiteX6" fmla="*/ 437621 w 850458"/>
                  <a:gd name="connsiteY6" fmla="*/ 1289522 h 1291351"/>
                  <a:gd name="connsiteX7" fmla="*/ 270908 w 850458"/>
                  <a:gd name="connsiteY7" fmla="*/ 1185033 h 1291351"/>
                  <a:gd name="connsiteX8" fmla="*/ 73866 w 850458"/>
                  <a:gd name="connsiteY8" fmla="*/ 939610 h 1291351"/>
                  <a:gd name="connsiteX9" fmla="*/ 25362 w 850458"/>
                  <a:gd name="connsiteY9" fmla="*/ 501939 h 1291351"/>
                  <a:gd name="connsiteX0" fmla="*/ 25362 w 850533"/>
                  <a:gd name="connsiteY0" fmla="*/ 501939 h 1291351"/>
                  <a:gd name="connsiteX1" fmla="*/ 455550 w 850533"/>
                  <a:gd name="connsiteY1" fmla="*/ 1227 h 1291351"/>
                  <a:gd name="connsiteX2" fmla="*/ 755184 w 850533"/>
                  <a:gd name="connsiteY2" fmla="*/ 365868 h 1291351"/>
                  <a:gd name="connsiteX3" fmla="*/ 849879 w 850533"/>
                  <a:gd name="connsiteY3" fmla="*/ 591586 h 1291351"/>
                  <a:gd name="connsiteX4" fmla="*/ 826902 w 850533"/>
                  <a:gd name="connsiteY4" fmla="*/ 796175 h 1291351"/>
                  <a:gd name="connsiteX5" fmla="*/ 737073 w 850533"/>
                  <a:gd name="connsiteY5" fmla="*/ 916092 h 1291351"/>
                  <a:gd name="connsiteX6" fmla="*/ 683466 w 850533"/>
                  <a:gd name="connsiteY6" fmla="*/ 1118903 h 1291351"/>
                  <a:gd name="connsiteX7" fmla="*/ 437621 w 850533"/>
                  <a:gd name="connsiteY7" fmla="*/ 1289522 h 1291351"/>
                  <a:gd name="connsiteX8" fmla="*/ 270908 w 850533"/>
                  <a:gd name="connsiteY8" fmla="*/ 1185033 h 1291351"/>
                  <a:gd name="connsiteX9" fmla="*/ 73866 w 850533"/>
                  <a:gd name="connsiteY9" fmla="*/ 939610 h 1291351"/>
                  <a:gd name="connsiteX10" fmla="*/ 25362 w 850533"/>
                  <a:gd name="connsiteY10" fmla="*/ 501939 h 1291351"/>
                  <a:gd name="connsiteX0" fmla="*/ 7042 w 832213"/>
                  <a:gd name="connsiteY0" fmla="*/ 503956 h 1293368"/>
                  <a:gd name="connsiteX1" fmla="*/ 181052 w 832213"/>
                  <a:gd name="connsiteY1" fmla="*/ 206521 h 1293368"/>
                  <a:gd name="connsiteX2" fmla="*/ 437230 w 832213"/>
                  <a:gd name="connsiteY2" fmla="*/ 3244 h 1293368"/>
                  <a:gd name="connsiteX3" fmla="*/ 736864 w 832213"/>
                  <a:gd name="connsiteY3" fmla="*/ 367885 h 1293368"/>
                  <a:gd name="connsiteX4" fmla="*/ 831559 w 832213"/>
                  <a:gd name="connsiteY4" fmla="*/ 593603 h 1293368"/>
                  <a:gd name="connsiteX5" fmla="*/ 808582 w 832213"/>
                  <a:gd name="connsiteY5" fmla="*/ 798192 h 1293368"/>
                  <a:gd name="connsiteX6" fmla="*/ 718753 w 832213"/>
                  <a:gd name="connsiteY6" fmla="*/ 918109 h 1293368"/>
                  <a:gd name="connsiteX7" fmla="*/ 665146 w 832213"/>
                  <a:gd name="connsiteY7" fmla="*/ 1120920 h 1293368"/>
                  <a:gd name="connsiteX8" fmla="*/ 419301 w 832213"/>
                  <a:gd name="connsiteY8" fmla="*/ 1291539 h 1293368"/>
                  <a:gd name="connsiteX9" fmla="*/ 252588 w 832213"/>
                  <a:gd name="connsiteY9" fmla="*/ 1187050 h 1293368"/>
                  <a:gd name="connsiteX10" fmla="*/ 55546 w 832213"/>
                  <a:gd name="connsiteY10" fmla="*/ 941627 h 1293368"/>
                  <a:gd name="connsiteX11" fmla="*/ 7042 w 832213"/>
                  <a:gd name="connsiteY11" fmla="*/ 503956 h 1293368"/>
                  <a:gd name="connsiteX0" fmla="*/ 7042 w 832213"/>
                  <a:gd name="connsiteY0" fmla="*/ 503956 h 1293368"/>
                  <a:gd name="connsiteX1" fmla="*/ 181052 w 832213"/>
                  <a:gd name="connsiteY1" fmla="*/ 206521 h 1293368"/>
                  <a:gd name="connsiteX2" fmla="*/ 437230 w 832213"/>
                  <a:gd name="connsiteY2" fmla="*/ 3244 h 1293368"/>
                  <a:gd name="connsiteX3" fmla="*/ 736864 w 832213"/>
                  <a:gd name="connsiteY3" fmla="*/ 367885 h 1293368"/>
                  <a:gd name="connsiteX4" fmla="*/ 831559 w 832213"/>
                  <a:gd name="connsiteY4" fmla="*/ 593603 h 1293368"/>
                  <a:gd name="connsiteX5" fmla="*/ 808582 w 832213"/>
                  <a:gd name="connsiteY5" fmla="*/ 798192 h 1293368"/>
                  <a:gd name="connsiteX6" fmla="*/ 790471 w 832213"/>
                  <a:gd name="connsiteY6" fmla="*/ 953968 h 1293368"/>
                  <a:gd name="connsiteX7" fmla="*/ 665146 w 832213"/>
                  <a:gd name="connsiteY7" fmla="*/ 1120920 h 1293368"/>
                  <a:gd name="connsiteX8" fmla="*/ 419301 w 832213"/>
                  <a:gd name="connsiteY8" fmla="*/ 1291539 h 1293368"/>
                  <a:gd name="connsiteX9" fmla="*/ 252588 w 832213"/>
                  <a:gd name="connsiteY9" fmla="*/ 1187050 h 1293368"/>
                  <a:gd name="connsiteX10" fmla="*/ 55546 w 832213"/>
                  <a:gd name="connsiteY10" fmla="*/ 941627 h 1293368"/>
                  <a:gd name="connsiteX11" fmla="*/ 7042 w 832213"/>
                  <a:gd name="connsiteY11" fmla="*/ 503956 h 1293368"/>
                  <a:gd name="connsiteX0" fmla="*/ 17171 w 842342"/>
                  <a:gd name="connsiteY0" fmla="*/ 503956 h 1293368"/>
                  <a:gd name="connsiteX1" fmla="*/ 191181 w 842342"/>
                  <a:gd name="connsiteY1" fmla="*/ 206521 h 1293368"/>
                  <a:gd name="connsiteX2" fmla="*/ 447359 w 842342"/>
                  <a:gd name="connsiteY2" fmla="*/ 3244 h 1293368"/>
                  <a:gd name="connsiteX3" fmla="*/ 746993 w 842342"/>
                  <a:gd name="connsiteY3" fmla="*/ 367885 h 1293368"/>
                  <a:gd name="connsiteX4" fmla="*/ 841688 w 842342"/>
                  <a:gd name="connsiteY4" fmla="*/ 593603 h 1293368"/>
                  <a:gd name="connsiteX5" fmla="*/ 818711 w 842342"/>
                  <a:gd name="connsiteY5" fmla="*/ 798192 h 1293368"/>
                  <a:gd name="connsiteX6" fmla="*/ 800600 w 842342"/>
                  <a:gd name="connsiteY6" fmla="*/ 953968 h 1293368"/>
                  <a:gd name="connsiteX7" fmla="*/ 675275 w 842342"/>
                  <a:gd name="connsiteY7" fmla="*/ 1120920 h 1293368"/>
                  <a:gd name="connsiteX8" fmla="*/ 429430 w 842342"/>
                  <a:gd name="connsiteY8" fmla="*/ 1291539 h 1293368"/>
                  <a:gd name="connsiteX9" fmla="*/ 262717 w 842342"/>
                  <a:gd name="connsiteY9" fmla="*/ 1187050 h 1293368"/>
                  <a:gd name="connsiteX10" fmla="*/ 65675 w 842342"/>
                  <a:gd name="connsiteY10" fmla="*/ 941627 h 1293368"/>
                  <a:gd name="connsiteX11" fmla="*/ 11887 w 842342"/>
                  <a:gd name="connsiteY11" fmla="*/ 780263 h 1293368"/>
                  <a:gd name="connsiteX12" fmla="*/ 17171 w 842342"/>
                  <a:gd name="connsiteY12" fmla="*/ 503956 h 1293368"/>
                  <a:gd name="connsiteX0" fmla="*/ 17171 w 842342"/>
                  <a:gd name="connsiteY0" fmla="*/ 503956 h 1292669"/>
                  <a:gd name="connsiteX1" fmla="*/ 191181 w 842342"/>
                  <a:gd name="connsiteY1" fmla="*/ 206521 h 1292669"/>
                  <a:gd name="connsiteX2" fmla="*/ 447359 w 842342"/>
                  <a:gd name="connsiteY2" fmla="*/ 3244 h 1292669"/>
                  <a:gd name="connsiteX3" fmla="*/ 746993 w 842342"/>
                  <a:gd name="connsiteY3" fmla="*/ 367885 h 1292669"/>
                  <a:gd name="connsiteX4" fmla="*/ 841688 w 842342"/>
                  <a:gd name="connsiteY4" fmla="*/ 593603 h 1292669"/>
                  <a:gd name="connsiteX5" fmla="*/ 818711 w 842342"/>
                  <a:gd name="connsiteY5" fmla="*/ 798192 h 1292669"/>
                  <a:gd name="connsiteX6" fmla="*/ 800600 w 842342"/>
                  <a:gd name="connsiteY6" fmla="*/ 953968 h 1292669"/>
                  <a:gd name="connsiteX7" fmla="*/ 675275 w 842342"/>
                  <a:gd name="connsiteY7" fmla="*/ 1120920 h 1292669"/>
                  <a:gd name="connsiteX8" fmla="*/ 429430 w 842342"/>
                  <a:gd name="connsiteY8" fmla="*/ 1291539 h 1292669"/>
                  <a:gd name="connsiteX9" fmla="*/ 262717 w 842342"/>
                  <a:gd name="connsiteY9" fmla="*/ 1187050 h 1292669"/>
                  <a:gd name="connsiteX10" fmla="*/ 137393 w 842342"/>
                  <a:gd name="connsiteY10" fmla="*/ 1138851 h 1292669"/>
                  <a:gd name="connsiteX11" fmla="*/ 65675 w 842342"/>
                  <a:gd name="connsiteY11" fmla="*/ 941627 h 1292669"/>
                  <a:gd name="connsiteX12" fmla="*/ 11887 w 842342"/>
                  <a:gd name="connsiteY12" fmla="*/ 780263 h 1292669"/>
                  <a:gd name="connsiteX13" fmla="*/ 17171 w 842342"/>
                  <a:gd name="connsiteY13" fmla="*/ 503956 h 1292669"/>
                  <a:gd name="connsiteX0" fmla="*/ 17171 w 842342"/>
                  <a:gd name="connsiteY0" fmla="*/ 503956 h 1381723"/>
                  <a:gd name="connsiteX1" fmla="*/ 191181 w 842342"/>
                  <a:gd name="connsiteY1" fmla="*/ 206521 h 1381723"/>
                  <a:gd name="connsiteX2" fmla="*/ 447359 w 842342"/>
                  <a:gd name="connsiteY2" fmla="*/ 3244 h 1381723"/>
                  <a:gd name="connsiteX3" fmla="*/ 746993 w 842342"/>
                  <a:gd name="connsiteY3" fmla="*/ 367885 h 1381723"/>
                  <a:gd name="connsiteX4" fmla="*/ 841688 w 842342"/>
                  <a:gd name="connsiteY4" fmla="*/ 593603 h 1381723"/>
                  <a:gd name="connsiteX5" fmla="*/ 818711 w 842342"/>
                  <a:gd name="connsiteY5" fmla="*/ 798192 h 1381723"/>
                  <a:gd name="connsiteX6" fmla="*/ 800600 w 842342"/>
                  <a:gd name="connsiteY6" fmla="*/ 953968 h 1381723"/>
                  <a:gd name="connsiteX7" fmla="*/ 675275 w 842342"/>
                  <a:gd name="connsiteY7" fmla="*/ 1120920 h 1381723"/>
                  <a:gd name="connsiteX8" fmla="*/ 411500 w 842342"/>
                  <a:gd name="connsiteY8" fmla="*/ 1381186 h 1381723"/>
                  <a:gd name="connsiteX9" fmla="*/ 262717 w 842342"/>
                  <a:gd name="connsiteY9" fmla="*/ 1187050 h 1381723"/>
                  <a:gd name="connsiteX10" fmla="*/ 137393 w 842342"/>
                  <a:gd name="connsiteY10" fmla="*/ 1138851 h 1381723"/>
                  <a:gd name="connsiteX11" fmla="*/ 65675 w 842342"/>
                  <a:gd name="connsiteY11" fmla="*/ 941627 h 1381723"/>
                  <a:gd name="connsiteX12" fmla="*/ 11887 w 842342"/>
                  <a:gd name="connsiteY12" fmla="*/ 780263 h 1381723"/>
                  <a:gd name="connsiteX13" fmla="*/ 17171 w 842342"/>
                  <a:gd name="connsiteY13" fmla="*/ 503956 h 1381723"/>
                  <a:gd name="connsiteX0" fmla="*/ 17171 w 842342"/>
                  <a:gd name="connsiteY0" fmla="*/ 503956 h 1390479"/>
                  <a:gd name="connsiteX1" fmla="*/ 191181 w 842342"/>
                  <a:gd name="connsiteY1" fmla="*/ 206521 h 1390479"/>
                  <a:gd name="connsiteX2" fmla="*/ 447359 w 842342"/>
                  <a:gd name="connsiteY2" fmla="*/ 3244 h 1390479"/>
                  <a:gd name="connsiteX3" fmla="*/ 746993 w 842342"/>
                  <a:gd name="connsiteY3" fmla="*/ 367885 h 1390479"/>
                  <a:gd name="connsiteX4" fmla="*/ 841688 w 842342"/>
                  <a:gd name="connsiteY4" fmla="*/ 593603 h 1390479"/>
                  <a:gd name="connsiteX5" fmla="*/ 818711 w 842342"/>
                  <a:gd name="connsiteY5" fmla="*/ 798192 h 1390479"/>
                  <a:gd name="connsiteX6" fmla="*/ 800600 w 842342"/>
                  <a:gd name="connsiteY6" fmla="*/ 953968 h 1390479"/>
                  <a:gd name="connsiteX7" fmla="*/ 675275 w 842342"/>
                  <a:gd name="connsiteY7" fmla="*/ 1120920 h 1390479"/>
                  <a:gd name="connsiteX8" fmla="*/ 411500 w 842342"/>
                  <a:gd name="connsiteY8" fmla="*/ 1381186 h 1390479"/>
                  <a:gd name="connsiteX9" fmla="*/ 316505 w 842342"/>
                  <a:gd name="connsiteY9" fmla="*/ 1312555 h 1390479"/>
                  <a:gd name="connsiteX10" fmla="*/ 137393 w 842342"/>
                  <a:gd name="connsiteY10" fmla="*/ 1138851 h 1390479"/>
                  <a:gd name="connsiteX11" fmla="*/ 65675 w 842342"/>
                  <a:gd name="connsiteY11" fmla="*/ 941627 h 1390479"/>
                  <a:gd name="connsiteX12" fmla="*/ 11887 w 842342"/>
                  <a:gd name="connsiteY12" fmla="*/ 780263 h 1390479"/>
                  <a:gd name="connsiteX13" fmla="*/ 17171 w 842342"/>
                  <a:gd name="connsiteY13" fmla="*/ 503956 h 1390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2342" h="1390479">
                    <a:moveTo>
                      <a:pt x="17171" y="503956"/>
                    </a:moveTo>
                    <a:cubicBezTo>
                      <a:pt x="47053" y="408332"/>
                      <a:pt x="119483" y="289973"/>
                      <a:pt x="191181" y="206521"/>
                    </a:cubicBezTo>
                    <a:cubicBezTo>
                      <a:pt x="262879" y="123069"/>
                      <a:pt x="354724" y="-23650"/>
                      <a:pt x="447359" y="3244"/>
                    </a:cubicBezTo>
                    <a:cubicBezTo>
                      <a:pt x="539994" y="30138"/>
                      <a:pt x="696213" y="278457"/>
                      <a:pt x="746993" y="367885"/>
                    </a:cubicBezTo>
                    <a:cubicBezTo>
                      <a:pt x="797773" y="457313"/>
                      <a:pt x="838700" y="524873"/>
                      <a:pt x="841688" y="593603"/>
                    </a:cubicBezTo>
                    <a:cubicBezTo>
                      <a:pt x="844676" y="662333"/>
                      <a:pt x="837512" y="744108"/>
                      <a:pt x="818711" y="798192"/>
                    </a:cubicBezTo>
                    <a:cubicBezTo>
                      <a:pt x="799910" y="852276"/>
                      <a:pt x="815541" y="897192"/>
                      <a:pt x="800600" y="953968"/>
                    </a:cubicBezTo>
                    <a:cubicBezTo>
                      <a:pt x="785659" y="1010744"/>
                      <a:pt x="725184" y="1058682"/>
                      <a:pt x="675275" y="1120920"/>
                    </a:cubicBezTo>
                    <a:cubicBezTo>
                      <a:pt x="625366" y="1183158"/>
                      <a:pt x="471295" y="1349247"/>
                      <a:pt x="411500" y="1381186"/>
                    </a:cubicBezTo>
                    <a:cubicBezTo>
                      <a:pt x="351705" y="1413125"/>
                      <a:pt x="365178" y="1355933"/>
                      <a:pt x="316505" y="1312555"/>
                    </a:cubicBezTo>
                    <a:cubicBezTo>
                      <a:pt x="267832" y="1269177"/>
                      <a:pt x="170233" y="1179755"/>
                      <a:pt x="137393" y="1138851"/>
                    </a:cubicBezTo>
                    <a:cubicBezTo>
                      <a:pt x="104553" y="1097947"/>
                      <a:pt x="86593" y="983462"/>
                      <a:pt x="65675" y="941627"/>
                    </a:cubicBezTo>
                    <a:cubicBezTo>
                      <a:pt x="44757" y="899792"/>
                      <a:pt x="19971" y="853208"/>
                      <a:pt x="11887" y="780263"/>
                    </a:cubicBezTo>
                    <a:cubicBezTo>
                      <a:pt x="3803" y="707318"/>
                      <a:pt x="-12711" y="599580"/>
                      <a:pt x="17171" y="50395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6200" cap="flat">
                <a:solidFill>
                  <a:schemeClr val="bg2">
                    <a:lumMod val="5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5842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2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</p:grpSp>
        <p:sp>
          <p:nvSpPr>
            <p:cNvPr id="37" name="Text Placeholder 2">
              <a:extLst>
                <a:ext uri="{FF2B5EF4-FFF2-40B4-BE49-F238E27FC236}">
                  <a16:creationId xmlns:a16="http://schemas.microsoft.com/office/drawing/2014/main" id="{1469279F-51B2-1C4F-839C-90F687A3C28B}"/>
                </a:ext>
              </a:extLst>
            </p:cNvPr>
            <p:cNvSpPr txBox="1">
              <a:spLocks/>
            </p:cNvSpPr>
            <p:nvPr/>
          </p:nvSpPr>
          <p:spPr>
            <a:xfrm>
              <a:off x="9335483" y="2372225"/>
              <a:ext cx="2508806" cy="7851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Intersection Means ??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FB0FC6-3E5A-9342-963D-76DBC4A59AD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36CCF-0B13-0A4B-8CD3-6B16A91452CB}"/>
              </a:ext>
            </a:extLst>
          </p:cNvPr>
          <p:cNvSpPr/>
          <p:nvPr/>
        </p:nvSpPr>
        <p:spPr>
          <a:xfrm>
            <a:off x="6464548" y="7219178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B5AFDC-6052-D944-9708-AA518E711C25}"/>
              </a:ext>
            </a:extLst>
          </p:cNvPr>
          <p:cNvSpPr/>
          <p:nvPr/>
        </p:nvSpPr>
        <p:spPr>
          <a:xfrm>
            <a:off x="4360408" y="7074160"/>
            <a:ext cx="6772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2B61D95-5AB1-964A-A831-96518770149D}"/>
              </a:ext>
            </a:extLst>
          </p:cNvPr>
          <p:cNvSpPr txBox="1">
            <a:spLocks/>
          </p:cNvSpPr>
          <p:nvPr/>
        </p:nvSpPr>
        <p:spPr>
          <a:xfrm>
            <a:off x="4507948" y="7742158"/>
            <a:ext cx="453934" cy="50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0F7DD455-D11F-0745-BCD4-ECCA162BCA4B}"/>
              </a:ext>
            </a:extLst>
          </p:cNvPr>
          <p:cNvSpPr txBox="1">
            <a:spLocks/>
          </p:cNvSpPr>
          <p:nvPr/>
        </p:nvSpPr>
        <p:spPr>
          <a:xfrm>
            <a:off x="6449894" y="7821847"/>
            <a:ext cx="453934" cy="50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t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667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111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5560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000500" marR="0" indent="-444500" algn="l" defTabSz="584200" rtl="0" latinLnBrk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32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just"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3" grpId="0" animBg="1"/>
      <p:bldP spid="35" grpId="0" animBg="1"/>
      <p:bldP spid="7" grpId="0"/>
      <p:bldP spid="7" grpId="1"/>
      <p:bldP spid="34" grpId="0"/>
      <p:bldP spid="34" grpId="1"/>
      <p:bldP spid="36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We study functional relationships between the types of variables. Hence,"/>
          <p:cNvSpPr txBox="1">
            <a:spLocks noGrp="1"/>
          </p:cNvSpPr>
          <p:nvPr>
            <p:ph type="subTitle" sz="quarter" idx="1"/>
          </p:nvPr>
        </p:nvSpPr>
        <p:spPr>
          <a:xfrm>
            <a:off x="631162" y="354962"/>
            <a:ext cx="4249270" cy="54563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just">
              <a:defRPr b="1"/>
            </a:lvl1pPr>
          </a:lstStyle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Elasticity of Demand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3C4025-4B4E-A14B-A5EB-556872115BD6}"/>
              </a:ext>
            </a:extLst>
          </p:cNvPr>
          <p:cNvGrpSpPr/>
          <p:nvPr/>
        </p:nvGrpSpPr>
        <p:grpSpPr>
          <a:xfrm>
            <a:off x="1039005" y="3269647"/>
            <a:ext cx="10635350" cy="1089983"/>
            <a:chOff x="678812" y="3289814"/>
            <a:chExt cx="10635350" cy="1089983"/>
          </a:xfrm>
        </p:grpSpPr>
        <p:sp>
          <p:nvSpPr>
            <p:cNvPr id="33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1FB83598-0D7E-CA41-9BD0-806F25742B10}"/>
                </a:ext>
              </a:extLst>
            </p:cNvPr>
            <p:cNvSpPr txBox="1">
              <a:spLocks/>
            </p:cNvSpPr>
            <p:nvPr/>
          </p:nvSpPr>
          <p:spPr>
            <a:xfrm>
              <a:off x="678812" y="3346840"/>
              <a:ext cx="3380637" cy="103295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l" hangingPunct="1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 of the  Concerned Good</a:t>
              </a:r>
              <a:endPara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DF5A032-2A34-C84E-80CA-8F5AC80E36B8}"/>
                </a:ext>
              </a:extLst>
            </p:cNvPr>
            <p:cNvGrpSpPr/>
            <p:nvPr/>
          </p:nvGrpSpPr>
          <p:grpSpPr>
            <a:xfrm>
              <a:off x="4059449" y="3289814"/>
              <a:ext cx="7254713" cy="1076583"/>
              <a:chOff x="4059449" y="3289814"/>
              <a:chExt cx="7254713" cy="1076583"/>
            </a:xfrm>
          </p:grpSpPr>
          <p:cxnSp>
            <p:nvCxnSpPr>
              <p:cNvPr id="3" name="Straight Arrow Connector 2">
                <a:extLst>
                  <a:ext uri="{FF2B5EF4-FFF2-40B4-BE49-F238E27FC236}">
                    <a16:creationId xmlns:a16="http://schemas.microsoft.com/office/drawing/2014/main" id="{36ED2BAE-80C2-9345-AD58-9CA164056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9449" y="3766890"/>
                <a:ext cx="1954305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4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1E83D03D-C1FF-C54A-BED1-8E636E1F3C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54215" y="3360241"/>
                <a:ext cx="2887008" cy="10061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Price Ed</a:t>
                </a:r>
              </a:p>
            </p:txBody>
          </p:sp>
          <p:sp>
            <p:nvSpPr>
              <p:cNvPr id="60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0626F042-A8B3-8F4C-9B5E-DF112EBBAA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95158" y="3289814"/>
                <a:ext cx="919004" cy="87741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 err="1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endParaRPr lang="en-US" sz="28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F67855C-9E54-1344-A1F8-9283C4B226CF}"/>
              </a:ext>
            </a:extLst>
          </p:cNvPr>
          <p:cNvGrpSpPr/>
          <p:nvPr/>
        </p:nvGrpSpPr>
        <p:grpSpPr>
          <a:xfrm>
            <a:off x="1069353" y="4652707"/>
            <a:ext cx="10796539" cy="1017617"/>
            <a:chOff x="720210" y="4517963"/>
            <a:chExt cx="10796539" cy="1017617"/>
          </a:xfrm>
        </p:grpSpPr>
        <p:sp>
          <p:nvSpPr>
            <p:cNvPr id="35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697BED72-C179-AD41-9AAF-C90A74C5BE3A}"/>
                </a:ext>
              </a:extLst>
            </p:cNvPr>
            <p:cNvSpPr txBox="1">
              <a:spLocks/>
            </p:cNvSpPr>
            <p:nvPr/>
          </p:nvSpPr>
          <p:spPr>
            <a:xfrm>
              <a:off x="720210" y="4517963"/>
              <a:ext cx="3247259" cy="9680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Income of Potential Consumers</a:t>
              </a:r>
              <a:endPara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6A032F-1630-C446-8F84-CF0EBE35F0DD}"/>
                </a:ext>
              </a:extLst>
            </p:cNvPr>
            <p:cNvGrpSpPr/>
            <p:nvPr/>
          </p:nvGrpSpPr>
          <p:grpSpPr>
            <a:xfrm>
              <a:off x="4059450" y="4575388"/>
              <a:ext cx="7457299" cy="960192"/>
              <a:chOff x="4059450" y="4575388"/>
              <a:chExt cx="7457299" cy="960192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AA4060EA-E2E4-C64F-9E04-0C42FFCD2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9450" y="4943225"/>
                <a:ext cx="1954305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5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FA88AF3B-B0DB-6140-9A67-D01862FE69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22908" y="4621625"/>
                <a:ext cx="2818315" cy="91395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Income Ed</a:t>
                </a:r>
              </a:p>
            </p:txBody>
          </p:sp>
          <p:sp>
            <p:nvSpPr>
              <p:cNvPr id="61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C47C33AA-2273-5641-850D-E14BD099A6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395158" y="4575388"/>
                <a:ext cx="1121591" cy="75989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 err="1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8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224E00-7408-A346-8EBB-C920642DEE04}"/>
              </a:ext>
            </a:extLst>
          </p:cNvPr>
          <p:cNvGrpSpPr/>
          <p:nvPr/>
        </p:nvGrpSpPr>
        <p:grpSpPr>
          <a:xfrm>
            <a:off x="1138106" y="6098681"/>
            <a:ext cx="10782050" cy="1251538"/>
            <a:chOff x="973645" y="5702077"/>
            <a:chExt cx="10782050" cy="1251538"/>
          </a:xfrm>
        </p:grpSpPr>
        <p:sp>
          <p:nvSpPr>
            <p:cNvPr id="36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9D4FE365-E077-0A4D-AA0A-9A373287715C}"/>
                </a:ext>
              </a:extLst>
            </p:cNvPr>
            <p:cNvSpPr txBox="1">
              <a:spLocks/>
            </p:cNvSpPr>
            <p:nvPr/>
          </p:nvSpPr>
          <p:spPr>
            <a:xfrm>
              <a:off x="973645" y="5702077"/>
              <a:ext cx="2512623" cy="125153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algn="l" hangingPunct="1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 of a Related Good</a:t>
              </a:r>
              <a:endPara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8C847AD-D074-D84D-936C-CA842A6FF06C}"/>
                </a:ext>
              </a:extLst>
            </p:cNvPr>
            <p:cNvGrpSpPr/>
            <p:nvPr/>
          </p:nvGrpSpPr>
          <p:grpSpPr>
            <a:xfrm>
              <a:off x="4192358" y="5750380"/>
              <a:ext cx="7563337" cy="1073264"/>
              <a:chOff x="4192358" y="5750380"/>
              <a:chExt cx="7563337" cy="1073264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D8DC444-2B54-DB47-9088-941B9825F8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2358" y="6259762"/>
                <a:ext cx="1954305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8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DC52DE27-868C-984B-B2B7-0FC4014059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24608" y="5864188"/>
                <a:ext cx="2818316" cy="9594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 Ed</a:t>
                </a:r>
              </a:p>
            </p:txBody>
          </p:sp>
          <p:sp>
            <p:nvSpPr>
              <p:cNvPr id="62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6ADDF84B-44D0-B44F-9BD9-CCAF50322D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59610" y="5750380"/>
                <a:ext cx="996085" cy="8420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 err="1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dX</a:t>
                </a:r>
                <a:r>
                  <a:rPr lang="en-US" sz="2800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sz="28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A501A7-830D-9F42-8C42-7223ACBFA32B}"/>
              </a:ext>
            </a:extLst>
          </p:cNvPr>
          <p:cNvGrpSpPr/>
          <p:nvPr/>
        </p:nvGrpSpPr>
        <p:grpSpPr>
          <a:xfrm>
            <a:off x="1147021" y="7826675"/>
            <a:ext cx="10909168" cy="1128399"/>
            <a:chOff x="1110973" y="7446879"/>
            <a:chExt cx="10909168" cy="1128399"/>
          </a:xfrm>
        </p:grpSpPr>
        <p:sp>
          <p:nvSpPr>
            <p:cNvPr id="37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CF7B721F-9648-154B-9898-67DE712E702E}"/>
                </a:ext>
              </a:extLst>
            </p:cNvPr>
            <p:cNvSpPr txBox="1">
              <a:spLocks/>
            </p:cNvSpPr>
            <p:nvPr/>
          </p:nvSpPr>
          <p:spPr>
            <a:xfrm>
              <a:off x="1110973" y="7560447"/>
              <a:ext cx="2816771" cy="76131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Promotions</a:t>
              </a:r>
              <a:endPara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D17F37A-F45F-BE47-8F38-1320E67CB076}"/>
                </a:ext>
              </a:extLst>
            </p:cNvPr>
            <p:cNvGrpSpPr/>
            <p:nvPr/>
          </p:nvGrpSpPr>
          <p:grpSpPr>
            <a:xfrm>
              <a:off x="4176635" y="7446879"/>
              <a:ext cx="7843506" cy="1128399"/>
              <a:chOff x="4176635" y="7354326"/>
              <a:chExt cx="6892075" cy="716451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27BF812-91E5-1746-A2C5-99AE837A9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635" y="7632068"/>
                <a:ext cx="1954305" cy="0"/>
              </a:xfrm>
              <a:prstGeom prst="straightConnector1">
                <a:avLst/>
              </a:prstGeom>
              <a:noFill/>
              <a:ln w="57150" cap="flat">
                <a:solidFill>
                  <a:srgbClr val="000000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59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5D84CC96-CD36-2041-BD51-FB550E61E2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49640" y="7458134"/>
                <a:ext cx="2963781" cy="61264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Promotional Ed</a:t>
                </a:r>
              </a:p>
            </p:txBody>
          </p:sp>
          <p:sp>
            <p:nvSpPr>
              <p:cNvPr id="63" name="We study functional relationships between the types of variables. Hence,">
                <a:extLst>
                  <a:ext uri="{FF2B5EF4-FFF2-40B4-BE49-F238E27FC236}">
                    <a16:creationId xmlns:a16="http://schemas.microsoft.com/office/drawing/2014/main" id="{37DA9763-82C1-E342-AE8B-924C0C2F46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93452" y="7354326"/>
                <a:ext cx="875258" cy="47048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50800" tIns="50800" rIns="50800" bIns="50800" anchor="t">
                <a:normAutofit/>
              </a:bodyPr>
              <a:lstStyle>
                <a:lvl1pPr marL="0" marR="0" indent="0" algn="just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1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7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5pPr>
                <a:lvl6pPr marL="2667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6pPr>
                <a:lvl7pPr marL="3111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7pPr>
                <a:lvl8pPr marL="35560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8pPr>
                <a:lvl9pPr marL="4000500" marR="0" indent="-444500" algn="l" defTabSz="584200" rtl="0" latinLnBrk="0">
                  <a:lnSpc>
                    <a:spcPct val="100000"/>
                  </a:lnSpc>
                  <a:spcBef>
                    <a:spcPts val="4200"/>
                  </a:spcBef>
                  <a:spcAft>
                    <a:spcPts val="0"/>
                  </a:spcAft>
                  <a:buClrTx/>
                  <a:buSzPct val="145000"/>
                  <a:buFontTx/>
                  <a:buChar char="•"/>
                  <a:tabLst/>
                  <a:defRPr sz="3200" b="0" i="0" u="none" strike="noStrike" cap="none" spc="0" baseline="0">
                    <a:solidFill>
                      <a:srgbClr val="000000"/>
                    </a:solidFill>
                    <a:uFillTx/>
                    <a:latin typeface="Helvetica Neue"/>
                    <a:ea typeface="Helvetica Neue"/>
                    <a:cs typeface="Helvetica Neue"/>
                    <a:sym typeface="Helvetica Neue"/>
                  </a:defRPr>
                </a:lvl9pPr>
              </a:lstStyle>
              <a:p>
                <a:pPr hangingPunct="1"/>
                <a:r>
                  <a:rPr lang="en-US" sz="28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 err="1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baseline="-25000" dirty="0" err="1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28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E533672-9900-BF42-BB6E-25AE7FDE42D0}"/>
              </a:ext>
            </a:extLst>
          </p:cNvPr>
          <p:cNvGrpSpPr/>
          <p:nvPr/>
        </p:nvGrpSpPr>
        <p:grpSpPr>
          <a:xfrm>
            <a:off x="1069353" y="1968348"/>
            <a:ext cx="10986836" cy="773632"/>
            <a:chOff x="1028209" y="2428775"/>
            <a:chExt cx="10986836" cy="773632"/>
          </a:xfrm>
        </p:grpSpPr>
        <p:sp>
          <p:nvSpPr>
            <p:cNvPr id="32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C70750ED-5452-7C44-B7E4-4DBFFEE9F3B4}"/>
                </a:ext>
              </a:extLst>
            </p:cNvPr>
            <p:cNvSpPr txBox="1">
              <a:spLocks/>
            </p:cNvSpPr>
            <p:nvPr/>
          </p:nvSpPr>
          <p:spPr>
            <a:xfrm>
              <a:off x="1028209" y="2499833"/>
              <a:ext cx="2416092" cy="66739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Stimuli</a:t>
              </a:r>
            </a:p>
          </p:txBody>
        </p:sp>
        <p:sp>
          <p:nvSpPr>
            <p:cNvPr id="25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69F3CE3B-5076-A941-BBBF-30D4267D1DD2}"/>
                </a:ext>
              </a:extLst>
            </p:cNvPr>
            <p:cNvSpPr txBox="1">
              <a:spLocks/>
            </p:cNvSpPr>
            <p:nvPr/>
          </p:nvSpPr>
          <p:spPr>
            <a:xfrm>
              <a:off x="6167345" y="2428775"/>
              <a:ext cx="2887008" cy="7384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Technical Term</a:t>
              </a:r>
            </a:p>
          </p:txBody>
        </p:sp>
        <p:sp>
          <p:nvSpPr>
            <p:cNvPr id="26" name="We study functional relationships between the types of variables. Hence,">
              <a:extLst>
                <a:ext uri="{FF2B5EF4-FFF2-40B4-BE49-F238E27FC236}">
                  <a16:creationId xmlns:a16="http://schemas.microsoft.com/office/drawing/2014/main" id="{21505984-50AB-E94B-8616-4B6BF87B6E8E}"/>
                </a:ext>
              </a:extLst>
            </p:cNvPr>
            <p:cNvSpPr txBox="1">
              <a:spLocks/>
            </p:cNvSpPr>
            <p:nvPr/>
          </p:nvSpPr>
          <p:spPr>
            <a:xfrm>
              <a:off x="10332371" y="2446282"/>
              <a:ext cx="1682674" cy="7561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t">
              <a:normAutofit/>
            </a:bodyPr>
            <a:lstStyle>
              <a:lvl1pPr marL="0" marR="0" indent="0" algn="just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1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7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5pPr>
              <a:lvl6pPr marL="2667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6pPr>
              <a:lvl7pPr marL="3111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7pPr>
              <a:lvl8pPr marL="35560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8pPr>
              <a:lvl9pPr marL="4000500" marR="0" indent="-444500" algn="l" defTabSz="584200" rtl="0" latinLnBrk="0">
                <a:lnSpc>
                  <a:spcPct val="100000"/>
                </a:lnSpc>
                <a:spcBef>
                  <a:spcPts val="4200"/>
                </a:spcBef>
                <a:spcAft>
                  <a:spcPts val="0"/>
                </a:spcAft>
                <a:buClrTx/>
                <a:buSzPct val="145000"/>
                <a:buFontTx/>
                <a:buChar char="•"/>
                <a:tabLst/>
                <a:defRPr sz="3200" b="0" i="0" u="none" strike="noStrike" cap="none" spc="0" baseline="0">
                  <a:solidFill>
                    <a:srgbClr val="000000"/>
                  </a:solidFill>
                  <a:uFillTx/>
                  <a:latin typeface="Helvetica Neue"/>
                  <a:ea typeface="Helvetica Neue"/>
                  <a:cs typeface="Helvetica Neue"/>
                  <a:sym typeface="Helvetica Neue"/>
                </a:defRPr>
              </a:lvl9pPr>
            </a:lstStyle>
            <a:p>
              <a:pPr hangingPunct="1"/>
              <a:r>
                <a:rPr lang="en-US" sz="32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Symbol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60673F-2A1A-B842-9160-019D66B4ED5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96421" y="9296400"/>
            <a:ext cx="205184" cy="348813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E533DB85-CAA3-F348-97B5-2815EC1B2966}"/>
                  </a:ext>
                </a:extLst>
              </p:cNvPr>
              <p:cNvSpPr txBox="1"/>
              <p:nvPr/>
            </p:nvSpPr>
            <p:spPr>
              <a:xfrm>
                <a:off x="7651993" y="191316"/>
                <a:ext cx="3410393" cy="128251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4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4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4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40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ar-AE" sz="4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ar-AE" sz="4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4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4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4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40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40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40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4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E533DB85-CAA3-F348-97B5-2815EC1B2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993" y="191316"/>
                <a:ext cx="3410393" cy="1282514"/>
              </a:xfrm>
              <a:prstGeom prst="rect">
                <a:avLst/>
              </a:prstGeom>
              <a:blipFill>
                <a:blip r:embed="rId2"/>
                <a:stretch>
                  <a:fillRect l="-2222" r="-7407" b="-87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gression (contd.)"/>
          <p:cNvSpPr txBox="1">
            <a:spLocks noGrp="1"/>
          </p:cNvSpPr>
          <p:nvPr>
            <p:ph type="ctrTitle"/>
          </p:nvPr>
        </p:nvSpPr>
        <p:spPr>
          <a:xfrm>
            <a:off x="1625834" y="172013"/>
            <a:ext cx="10464800" cy="639515"/>
          </a:xfrm>
          <a:prstGeom prst="rect">
            <a:avLst/>
          </a:prstGeom>
        </p:spPr>
        <p:txBody>
          <a:bodyPr>
            <a:normAutofit/>
          </a:bodyPr>
          <a:lstStyle>
            <a:lvl1pPr defTabSz="257047">
              <a:defRPr sz="3520"/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Elasticity (= Responsiveness)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he unorganised or even the organised data can be converted into an equation, which will indicate the trajectory as well as the value of the slope of the curve"/>
          <p:cNvSpPr txBox="1"/>
          <p:nvPr/>
        </p:nvSpPr>
        <p:spPr>
          <a:xfrm>
            <a:off x="706189" y="1605328"/>
            <a:ext cx="11847017" cy="329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just">
              <a:defRPr sz="3700"/>
            </a:lvl1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hrough Regression we convert the data into a LINEAR equation:…"/>
              <p:cNvSpPr txBox="1"/>
              <p:nvPr/>
            </p:nvSpPr>
            <p:spPr>
              <a:xfrm>
                <a:off x="4373666" y="6349848"/>
                <a:ext cx="3561469" cy="11376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280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3" name="Through Regression we convert the data into a LINEAR equation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666" y="6349848"/>
                <a:ext cx="3561469" cy="11376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A3B8A20-10A1-AD4E-BD7B-493CEB7E65D8}"/>
                  </a:ext>
                </a:extLst>
              </p:cNvPr>
              <p:cNvSpPr txBox="1"/>
              <p:nvPr/>
            </p:nvSpPr>
            <p:spPr>
              <a:xfrm>
                <a:off x="1625834" y="1411725"/>
                <a:ext cx="2393716" cy="10389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A3B8A20-10A1-AD4E-BD7B-493CEB7E6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834" y="1411725"/>
                <a:ext cx="2393716" cy="1038939"/>
              </a:xfrm>
              <a:prstGeom prst="rect">
                <a:avLst/>
              </a:prstGeom>
              <a:blipFill>
                <a:blip r:embed="rId4"/>
                <a:stretch>
                  <a:fillRect l="-211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A8C76BD-7AE9-3640-843D-8A8C6A9AB3FA}"/>
                  </a:ext>
                </a:extLst>
              </p:cNvPr>
              <p:cNvSpPr txBox="1"/>
              <p:nvPr/>
            </p:nvSpPr>
            <p:spPr>
              <a:xfrm>
                <a:off x="4389423" y="1312739"/>
                <a:ext cx="2754327" cy="10389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A8C76BD-7AE9-3640-843D-8A8C6A9AB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23" y="1312739"/>
                <a:ext cx="2754327" cy="1038939"/>
              </a:xfrm>
              <a:prstGeom prst="rect">
                <a:avLst/>
              </a:prstGeom>
              <a:blipFill>
                <a:blip r:embed="rId5"/>
                <a:stretch>
                  <a:fillRect l="-13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F607B66-C476-A24D-92A2-55AE823411D6}"/>
                  </a:ext>
                </a:extLst>
              </p:cNvPr>
              <p:cNvSpPr txBox="1"/>
              <p:nvPr/>
            </p:nvSpPr>
            <p:spPr>
              <a:xfrm>
                <a:off x="4597635" y="2503498"/>
                <a:ext cx="5746516" cy="117398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e>
                      </m:d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sz="28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4F607B66-C476-A24D-92A2-55AE82341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635" y="2503498"/>
                <a:ext cx="5746516" cy="1173982"/>
              </a:xfrm>
              <a:prstGeom prst="rect">
                <a:avLst/>
              </a:prstGeom>
              <a:blipFill>
                <a:blip r:embed="rId6"/>
                <a:stretch>
                  <a:fillRect l="-6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EAD5B84-7A0D-2748-89A5-A1600C1F14E4}"/>
                  </a:ext>
                </a:extLst>
              </p:cNvPr>
              <p:cNvSpPr txBox="1"/>
              <p:nvPr/>
            </p:nvSpPr>
            <p:spPr>
              <a:xfrm>
                <a:off x="4597635" y="3713858"/>
                <a:ext cx="5746516" cy="100263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𝟏𝟎𝟎</m:t>
                          </m:r>
                        </m:e>
                      </m:d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  <m:r>
                            <a:rPr lang="en-US" sz="28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 </m:t>
                          </m:r>
                          <m:f>
                            <m:fPr>
                              <m:ctrlPr>
                                <a:rPr lang="en-US" sz="280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𝟏𝟎𝟎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EAD5B84-7A0D-2748-89A5-A1600C1F1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635" y="3713858"/>
                <a:ext cx="5746516" cy="1002638"/>
              </a:xfrm>
              <a:prstGeom prst="rect">
                <a:avLst/>
              </a:prstGeom>
              <a:blipFill>
                <a:blip r:embed="rId7"/>
                <a:stretch>
                  <a:fillRect l="-6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62727A-3862-4849-809A-E39A2393B52B}"/>
                  </a:ext>
                </a:extLst>
              </p:cNvPr>
              <p:cNvSpPr/>
              <p:nvPr/>
            </p:nvSpPr>
            <p:spPr>
              <a:xfrm>
                <a:off x="4448755" y="5047669"/>
                <a:ext cx="3335833" cy="9743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800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62727A-3862-4849-809A-E39A2393B5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755" y="5047669"/>
                <a:ext cx="3335833" cy="974306"/>
              </a:xfrm>
              <a:prstGeom prst="rect">
                <a:avLst/>
              </a:prstGeom>
              <a:blipFill>
                <a:blip r:embed="rId8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B42E23-9A39-0946-BFF0-61D32502FAF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424513" y="9116036"/>
            <a:ext cx="205184" cy="348813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D6A6A047-B597-3E4E-91FC-1218C3CE589F}"/>
                  </a:ext>
                </a:extLst>
              </p:cNvPr>
              <p:cNvSpPr txBox="1"/>
              <p:nvPr/>
            </p:nvSpPr>
            <p:spPr>
              <a:xfrm>
                <a:off x="4486483" y="7647158"/>
                <a:ext cx="5558062" cy="10022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ar-AE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ar-AE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num>
                            <m:den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den>
                          </m:f>
                        </m:e>
                      </m:d>
                      <m:r>
                        <a:rPr lang="en-US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𝒕𝒂𝒏𝑨</m:t>
                      </m:r>
                      <m:d>
                        <m:dPr>
                          <m:ctrlPr>
                            <a:rPr lang="ar-AE" sz="28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num>
                            <m:den>
                              <m:r>
                                <a:rPr 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D6A6A047-B597-3E4E-91FC-1218C3CE5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483" y="7647158"/>
                <a:ext cx="5558062" cy="10022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9067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0" animBg="1"/>
      <p:bldP spid="7" grpId="0" animBg="1"/>
      <p:bldP spid="7" grpId="1" animBg="1"/>
      <p:bldP spid="9" grpId="0" animBg="1"/>
      <p:bldP spid="10" grpId="0" animBg="1"/>
      <p:bldP spid="11" grpId="0" animBg="1"/>
      <p:bldP spid="2" grpId="0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gression (contd.)"/>
          <p:cNvSpPr txBox="1">
            <a:spLocks noGrp="1"/>
          </p:cNvSpPr>
          <p:nvPr>
            <p:ph type="ctrTitle"/>
          </p:nvPr>
        </p:nvSpPr>
        <p:spPr>
          <a:xfrm>
            <a:off x="2696390" y="394845"/>
            <a:ext cx="6205429" cy="726224"/>
          </a:xfrm>
          <a:prstGeom prst="rect">
            <a:avLst/>
          </a:prstGeom>
        </p:spPr>
        <p:txBody>
          <a:bodyPr/>
          <a:lstStyle>
            <a:lvl1pPr defTabSz="257047">
              <a:defRPr sz="3520"/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Degrees of Elasticity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he unorganised or even the organised data can be converted into an equation, which will indicate the trajectory as well as the value of the slope of the curve"/>
          <p:cNvSpPr txBox="1"/>
          <p:nvPr/>
        </p:nvSpPr>
        <p:spPr>
          <a:xfrm>
            <a:off x="706189" y="1605328"/>
            <a:ext cx="11847017" cy="329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algn="just">
              <a:defRPr sz="3700"/>
            </a:lvl1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71FD645-55F1-824C-AD3F-17F460C82F44}"/>
              </a:ext>
            </a:extLst>
          </p:cNvPr>
          <p:cNvGrpSpPr/>
          <p:nvPr/>
        </p:nvGrpSpPr>
        <p:grpSpPr>
          <a:xfrm>
            <a:off x="962478" y="1905011"/>
            <a:ext cx="10821868" cy="791902"/>
            <a:chOff x="4242465" y="2035695"/>
            <a:chExt cx="10821868" cy="7919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6F9B0F2-E86F-A34D-835C-A9552D1FD61E}"/>
                </a:ext>
              </a:extLst>
            </p:cNvPr>
            <p:cNvGrpSpPr/>
            <p:nvPr/>
          </p:nvGrpSpPr>
          <p:grpSpPr>
            <a:xfrm>
              <a:off x="4242465" y="2035695"/>
              <a:ext cx="4873801" cy="791902"/>
              <a:chOff x="1827416" y="1691619"/>
              <a:chExt cx="2500868" cy="4696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4A8C76BD-7AE9-3640-843D-8A8C6A9AB3FA}"/>
                      </a:ext>
                    </a:extLst>
                  </p:cNvPr>
                  <p:cNvSpPr txBox="1"/>
                  <p:nvPr/>
                </p:nvSpPr>
                <p:spPr>
                  <a:xfrm>
                    <a:off x="1827416" y="1691619"/>
                    <a:ext cx="2500868" cy="469607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lIns="50800" tIns="50800" rIns="50800" bIns="50800">
                    <a:noAutofit/>
                  </a:bodyPr>
                  <a:lstStyle/>
                  <a:p>
                    <a:pPr algn="just">
                      <a:defRPr sz="3700"/>
                    </a:pPr>
                    <a14:m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sz="32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a14:m>
                    <a:r>
                      <a:rPr lang="en-US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0</a:t>
                    </a:r>
                    <a:endParaRPr lang="ar-AE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4A8C76BD-7AE9-3640-843D-8A8C6A9AB3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7416" y="1691619"/>
                    <a:ext cx="2500868" cy="46960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078" t="-9524"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1978569D-7D83-FC4E-BDBE-92891ED0D3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5397" y="1917536"/>
                <a:ext cx="322912" cy="0"/>
              </a:xfrm>
              <a:prstGeom prst="straightConnector1">
                <a:avLst/>
              </a:prstGeom>
              <a:noFill/>
              <a:ln w="762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107E4DC2-5A0F-7443-B62A-E4254F03619E}"/>
                    </a:ext>
                  </a:extLst>
                </p:cNvPr>
                <p:cNvSpPr txBox="1"/>
                <p:nvPr/>
              </p:nvSpPr>
              <p:spPr>
                <a:xfrm>
                  <a:off x="7777540" y="2111864"/>
                  <a:ext cx="5123998" cy="54444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rmAutofit lnSpcReduction="10000"/>
                </a:bodyPr>
                <a:lstStyle/>
                <a:p>
                  <a:pPr algn="just">
                    <a:defRPr sz="3700"/>
                  </a:pPr>
                  <a:r>
                    <a:rPr lang="en-US" sz="3200" b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Perfectly Inelastic </a:t>
                  </a:r>
                  <a14:m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𝐃𝐞𝐦𝐚𝐧𝐝</m:t>
                      </m:r>
                    </m:oMath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107E4DC2-5A0F-7443-B62A-E4254F0361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7540" y="2111864"/>
                  <a:ext cx="5123998" cy="544446"/>
                </a:xfrm>
                <a:prstGeom prst="rect">
                  <a:avLst/>
                </a:prstGeom>
                <a:blipFill>
                  <a:blip r:embed="rId3"/>
                  <a:stretch>
                    <a:fillRect l="-3960" t="-23256" r="-2228" b="-3488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Through Regression we convert the data into a LINEAR equation:…">
              <a:extLst>
                <a:ext uri="{FF2B5EF4-FFF2-40B4-BE49-F238E27FC236}">
                  <a16:creationId xmlns:a16="http://schemas.microsoft.com/office/drawing/2014/main" id="{589E7454-6B1E-844E-BCBD-18EBCE193764}"/>
                </a:ext>
              </a:extLst>
            </p:cNvPr>
            <p:cNvSpPr txBox="1"/>
            <p:nvPr/>
          </p:nvSpPr>
          <p:spPr>
            <a:xfrm>
              <a:off x="13225994" y="2067658"/>
              <a:ext cx="1838339" cy="6587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>
                <a:defRPr sz="3700"/>
              </a:pPr>
              <a:r>
                <a:rPr lang="en-US" sz="32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3200" b="1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dp</a:t>
              </a:r>
              <a:r>
                <a:rPr lang="en-US" sz="32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0</a:t>
              </a:r>
              <a:endParaRPr lang="ar-AE" sz="32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E2D57B5-6A42-B24A-B4F5-423AF8EA6BFB}"/>
              </a:ext>
            </a:extLst>
          </p:cNvPr>
          <p:cNvGrpSpPr/>
          <p:nvPr/>
        </p:nvGrpSpPr>
        <p:grpSpPr>
          <a:xfrm>
            <a:off x="957890" y="3233775"/>
            <a:ext cx="10687282" cy="701533"/>
            <a:chOff x="804487" y="5696607"/>
            <a:chExt cx="10687282" cy="7015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F35324EB-AABB-B342-9F8E-A6A1807F2B20}"/>
                    </a:ext>
                  </a:extLst>
                </p:cNvPr>
                <p:cNvSpPr txBox="1"/>
                <p:nvPr/>
              </p:nvSpPr>
              <p:spPr>
                <a:xfrm>
                  <a:off x="4149725" y="5725228"/>
                  <a:ext cx="5320938" cy="48973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:r>
                    <a:rPr lang="en-US" sz="3200" b="1" dirty="0">
                      <a:solidFill>
                        <a:srgbClr val="7030A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Relatively I</a:t>
                  </a:r>
                  <a14:m>
                    <m:oMath xmlns:m="http://schemas.openxmlformats.org/officeDocument/2006/math">
                      <m:r>
                        <a:rPr lang="en-US" sz="32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𝐧𝐞𝐥𝐚𝐬𝐭𝐢𝐜</m:t>
                      </m:r>
                      <m:r>
                        <a:rPr lang="en-US" sz="32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𝐃𝐞𝐦𝐚𝐧𝐝</m:t>
                      </m:r>
                    </m:oMath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F35324EB-AABB-B342-9F8E-A6A1807F2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725" y="5725228"/>
                  <a:ext cx="5320938" cy="489737"/>
                </a:xfrm>
                <a:prstGeom prst="rect">
                  <a:avLst/>
                </a:prstGeom>
                <a:blipFill>
                  <a:blip r:embed="rId4"/>
                  <a:stretch>
                    <a:fillRect l="-3571" t="-12500" r="-5238" b="-57500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968E86B1-3B24-5B4C-AB11-8D7EDE68CC65}"/>
                    </a:ext>
                  </a:extLst>
                </p:cNvPr>
                <p:cNvSpPr txBox="1"/>
                <p:nvPr/>
              </p:nvSpPr>
              <p:spPr>
                <a:xfrm>
                  <a:off x="804487" y="5696607"/>
                  <a:ext cx="2569559" cy="665003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14:m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ar-AE" sz="3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32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ar-AE" sz="32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a14:m>
                  <a:r>
                    <a:rPr lang="en-US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7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968E86B1-3B24-5B4C-AB11-8D7EDE68C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487" y="5696607"/>
                  <a:ext cx="2569559" cy="665003"/>
                </a:xfrm>
                <a:prstGeom prst="rect">
                  <a:avLst/>
                </a:prstGeom>
                <a:blipFill>
                  <a:blip r:embed="rId5"/>
                  <a:stretch>
                    <a:fillRect l="-3941" t="-9259" r="-9852" b="-14815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hrough Regression we convert the data into a LINEAR equation:…">
              <a:extLst>
                <a:ext uri="{FF2B5EF4-FFF2-40B4-BE49-F238E27FC236}">
                  <a16:creationId xmlns:a16="http://schemas.microsoft.com/office/drawing/2014/main" id="{B2E4E648-161D-5242-8E02-43C0C9F63FAC}"/>
                </a:ext>
              </a:extLst>
            </p:cNvPr>
            <p:cNvSpPr txBox="1"/>
            <p:nvPr/>
          </p:nvSpPr>
          <p:spPr>
            <a:xfrm>
              <a:off x="9748680" y="5744673"/>
              <a:ext cx="1743089" cy="65346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>
                <a:defRPr sz="3700"/>
              </a:pPr>
              <a:r>
                <a:rPr lang="en-US" sz="32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3200" b="1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dp</a:t>
              </a:r>
              <a:r>
                <a:rPr lang="en-US" sz="32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&lt; 1</a:t>
              </a:r>
              <a:endParaRPr lang="ar-AE" sz="32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107D8-8DD9-EA4B-8A69-AFCD92E6D20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CA8217-7A3C-BC47-8CBD-4E382CBE174D}"/>
              </a:ext>
            </a:extLst>
          </p:cNvPr>
          <p:cNvGrpSpPr/>
          <p:nvPr/>
        </p:nvGrpSpPr>
        <p:grpSpPr>
          <a:xfrm>
            <a:off x="887996" y="4593794"/>
            <a:ext cx="10777918" cy="731545"/>
            <a:chOff x="687987" y="177769"/>
            <a:chExt cx="10777918" cy="731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C81463D8-3840-9249-94F7-9E152A2C1729}"/>
                    </a:ext>
                  </a:extLst>
                </p:cNvPr>
                <p:cNvSpPr txBox="1"/>
                <p:nvPr/>
              </p:nvSpPr>
              <p:spPr>
                <a:xfrm>
                  <a:off x="4181670" y="177769"/>
                  <a:ext cx="4964989" cy="568755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𝐔𝐧𝐢𝐭𝐚𝐫𝐲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𝐄𝐥𝐚𝐬𝐭𝐢𝐜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𝐃𝐞𝐦𝐚𝐧𝐝</m:t>
                        </m:r>
                      </m:oMath>
                    </m:oMathPara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C81463D8-3840-9249-94F7-9E152A2C1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1670" y="177769"/>
                  <a:ext cx="4964989" cy="568755"/>
                </a:xfrm>
                <a:prstGeom prst="rect">
                  <a:avLst/>
                </a:prstGeom>
                <a:blipFill>
                  <a:blip r:embed="rId6"/>
                  <a:stretch>
                    <a:fillRect l="-2813" t="-10870" b="-34783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53786B42-599A-2A4C-9F2A-84B0429981DD}"/>
                    </a:ext>
                  </a:extLst>
                </p:cNvPr>
                <p:cNvSpPr txBox="1"/>
                <p:nvPr/>
              </p:nvSpPr>
              <p:spPr>
                <a:xfrm>
                  <a:off x="687987" y="231532"/>
                  <a:ext cx="3311876" cy="677782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=  </m:t>
                        </m:r>
                        <m:r>
                          <a:rPr lang="en-US" sz="32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53786B42-599A-2A4C-9F2A-84B0429981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87" y="231532"/>
                  <a:ext cx="3311876" cy="677782"/>
                </a:xfrm>
                <a:prstGeom prst="rect">
                  <a:avLst/>
                </a:prstGeom>
                <a:blipFill>
                  <a:blip r:embed="rId7"/>
                  <a:stretch>
                    <a:fillRect l="-3448" t="-9091" b="-14545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hrough Regression we convert the data into a LINEAR equation:…">
              <a:extLst>
                <a:ext uri="{FF2B5EF4-FFF2-40B4-BE49-F238E27FC236}">
                  <a16:creationId xmlns:a16="http://schemas.microsoft.com/office/drawing/2014/main" id="{5098068D-5DF0-DA4A-89BA-ED0FE0E9CB53}"/>
                </a:ext>
              </a:extLst>
            </p:cNvPr>
            <p:cNvSpPr txBox="1"/>
            <p:nvPr/>
          </p:nvSpPr>
          <p:spPr>
            <a:xfrm>
              <a:off x="9649928" y="256201"/>
              <a:ext cx="1815977" cy="5687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>
                <a:defRPr sz="3700"/>
              </a:pPr>
              <a:r>
                <a:rPr lang="en-US" sz="32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3200" b="1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dp</a:t>
              </a:r>
              <a:r>
                <a:rPr lang="en-US" sz="32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1</a:t>
              </a:r>
              <a:endParaRPr lang="ar-AE" sz="32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52FF0F6-007A-1046-AED6-4734902E7AAA}"/>
              </a:ext>
            </a:extLst>
          </p:cNvPr>
          <p:cNvGrpSpPr/>
          <p:nvPr/>
        </p:nvGrpSpPr>
        <p:grpSpPr>
          <a:xfrm>
            <a:off x="896456" y="6154868"/>
            <a:ext cx="10536351" cy="810815"/>
            <a:chOff x="449743" y="2779541"/>
            <a:chExt cx="10536351" cy="810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9B87424C-20AC-F24B-A31F-9F76EEFA7316}"/>
                    </a:ext>
                  </a:extLst>
                </p:cNvPr>
                <p:cNvSpPr txBox="1"/>
                <p:nvPr/>
              </p:nvSpPr>
              <p:spPr>
                <a:xfrm>
                  <a:off x="3857460" y="2779541"/>
                  <a:ext cx="5433113" cy="635035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𝐑𝐞𝐥𝐚𝐭𝐢𝐯𝐞𝐥𝐲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𝐄𝐥𝐚𝐬𝐭𝐢𝐜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𝐃𝐞𝐦𝐚𝐧𝐝</m:t>
                        </m:r>
                      </m:oMath>
                    </m:oMathPara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3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9B87424C-20AC-F24B-A31F-9F76EEFA7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7460" y="2779541"/>
                  <a:ext cx="5433113" cy="635035"/>
                </a:xfrm>
                <a:prstGeom prst="rect">
                  <a:avLst/>
                </a:prstGeom>
                <a:blipFill>
                  <a:blip r:embed="rId8"/>
                  <a:stretch>
                    <a:fillRect l="-2331" t="-9804" b="-21569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611617EF-2908-7C4B-8671-D08583921C69}"/>
                    </a:ext>
                  </a:extLst>
                </p:cNvPr>
                <p:cNvSpPr txBox="1"/>
                <p:nvPr/>
              </p:nvSpPr>
              <p:spPr>
                <a:xfrm>
                  <a:off x="449743" y="2779541"/>
                  <a:ext cx="3311876" cy="729761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&lt;   </m:t>
                        </m:r>
                        <m:r>
                          <a:rPr lang="en-US" sz="32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lang="ar-AE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611617EF-2908-7C4B-8671-D08583921C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743" y="2779541"/>
                  <a:ext cx="3311876" cy="729761"/>
                </a:xfrm>
                <a:prstGeom prst="rect">
                  <a:avLst/>
                </a:prstGeom>
                <a:blipFill>
                  <a:blip r:embed="rId9"/>
                  <a:stretch>
                    <a:fillRect l="-3053" t="-8621" b="-6897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hrough Regression we convert the data into a LINEAR equation:…">
              <a:extLst>
                <a:ext uri="{FF2B5EF4-FFF2-40B4-BE49-F238E27FC236}">
                  <a16:creationId xmlns:a16="http://schemas.microsoft.com/office/drawing/2014/main" id="{6615366F-F6F0-FB45-A279-98FF2555AB18}"/>
                </a:ext>
              </a:extLst>
            </p:cNvPr>
            <p:cNvSpPr txBox="1"/>
            <p:nvPr/>
          </p:nvSpPr>
          <p:spPr>
            <a:xfrm>
              <a:off x="9472803" y="2798408"/>
              <a:ext cx="1513291" cy="79194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>
                <a:defRPr sz="3700"/>
              </a:pPr>
              <a:r>
                <a:rPr lang="en-US" sz="3200" b="1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3200" b="1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dp</a:t>
              </a:r>
              <a:r>
                <a:rPr lang="en-US" sz="32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1</a:t>
              </a:r>
              <a:endParaRPr lang="ar-AE" sz="32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CC5C7F-AF0D-4A4F-A888-D1E3524102D9}"/>
              </a:ext>
            </a:extLst>
          </p:cNvPr>
          <p:cNvGrpSpPr/>
          <p:nvPr/>
        </p:nvGrpSpPr>
        <p:grpSpPr>
          <a:xfrm>
            <a:off x="957890" y="7436570"/>
            <a:ext cx="10570167" cy="879139"/>
            <a:chOff x="655204" y="5963478"/>
            <a:chExt cx="10570167" cy="879139"/>
          </a:xfrm>
        </p:grpSpPr>
        <p:sp>
          <p:nvSpPr>
            <p:cNvPr id="27" name="Through Regression we convert the data into a LINEAR equation:…">
              <a:extLst>
                <a:ext uri="{FF2B5EF4-FFF2-40B4-BE49-F238E27FC236}">
                  <a16:creationId xmlns:a16="http://schemas.microsoft.com/office/drawing/2014/main" id="{13855D87-00B6-5442-A4AD-145C5080B9DA}"/>
                </a:ext>
              </a:extLst>
            </p:cNvPr>
            <p:cNvSpPr txBox="1"/>
            <p:nvPr/>
          </p:nvSpPr>
          <p:spPr>
            <a:xfrm>
              <a:off x="4470404" y="5963478"/>
              <a:ext cx="4734134" cy="5999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  </a:ext>
            </a:extLst>
          </p:spPr>
          <p:txBody>
            <a:bodyPr lIns="50800" tIns="50800" rIns="50800" bIns="50800">
              <a:noAutofit/>
            </a:bodyPr>
            <a:lstStyle/>
            <a:p>
              <a:pPr algn="just">
                <a:defRPr sz="3700"/>
              </a:pPr>
              <a:r>
                <a:rPr lang="en-US" sz="32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Perfectly Elastic Demand</a:t>
              </a:r>
              <a:endParaRPr lang="ar-AE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310A11E-0058-6241-A403-5D3C7B19A8DF}"/>
                </a:ext>
              </a:extLst>
            </p:cNvPr>
            <p:cNvGrpSpPr/>
            <p:nvPr/>
          </p:nvGrpSpPr>
          <p:grpSpPr>
            <a:xfrm>
              <a:off x="655204" y="5963479"/>
              <a:ext cx="4103369" cy="599901"/>
              <a:chOff x="-3096771" y="8104476"/>
              <a:chExt cx="4621402" cy="68544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D70230F7-ECBA-4944-9721-1E66A8B27065}"/>
                      </a:ext>
                    </a:extLst>
                  </p:cNvPr>
                  <p:cNvSpPr txBox="1"/>
                  <p:nvPr/>
                </p:nvSpPr>
                <p:spPr>
                  <a:xfrm>
                    <a:off x="-3096771" y="8104476"/>
                    <a:ext cx="4621402" cy="685444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val="1"/>
                    </a:ext>
                  </a:extLst>
                </p:spPr>
                <p:txBody>
                  <a:bodyPr lIns="50800" tIns="50800" rIns="50800" bIns="50800">
                    <a:noAutofit/>
                  </a:bodyPr>
                  <a:lstStyle/>
                  <a:p>
                    <a:pPr algn="just">
                      <a:defRPr sz="3700"/>
                    </a:pPr>
                    <a14:m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sz="32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ar-AE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a14:m>
                    <a:r>
                      <a:rPr lang="en-US" sz="3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= </a:t>
                    </a:r>
                    <a14:m>
                      <m:oMath xmlns:m="http://schemas.openxmlformats.org/officeDocument/2006/math">
                        <m:r>
                          <a:rPr lang="en-US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oMath>
                    </a14:m>
                    <a:endParaRPr lang="ar-AE" sz="3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1" name="Through Regression we convert the data into a LINEAR equation:…">
                    <a:extLst>
                      <a:ext uri="{FF2B5EF4-FFF2-40B4-BE49-F238E27FC236}">
                        <a16:creationId xmlns:a16="http://schemas.microsoft.com/office/drawing/2014/main" id="{D70230F7-ECBA-4944-9721-1E66A8B270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96771" y="8104476"/>
                    <a:ext cx="4621402" cy="685444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469" t="-12500" b="-29167"/>
                    </a:stretch>
                  </a:blipFill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A6FAD05-9A65-1048-841B-9F0FFE4D9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957349" y="8457893"/>
                <a:ext cx="818557" cy="0"/>
              </a:xfrm>
              <a:prstGeom prst="straightConnector1">
                <a:avLst/>
              </a:prstGeom>
              <a:noFill/>
              <a:ln w="76200" cap="flat">
                <a:solidFill>
                  <a:schemeClr val="tx1"/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22D4101C-F91E-564B-BA54-C26AEDFE6507}"/>
                    </a:ext>
                  </a:extLst>
                </p:cNvPr>
                <p:cNvSpPr txBox="1"/>
                <p:nvPr/>
              </p:nvSpPr>
              <p:spPr>
                <a:xfrm>
                  <a:off x="9641980" y="6122556"/>
                  <a:ext cx="1583391" cy="720061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50800" tIns="50800" rIns="50800" bIns="50800">
                  <a:noAutofit/>
                </a:bodyPr>
                <a:lstStyle/>
                <a:p>
                  <a:pPr algn="just">
                    <a:defRPr sz="3700"/>
                  </a:pPr>
                  <a:r>
                    <a:rPr lang="en-US" sz="3200" dirty="0">
                      <a:solidFill>
                        <a:schemeClr val="accent3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lang="en-US" sz="3200" baseline="-25000" dirty="0" err="1">
                      <a:solidFill>
                        <a:schemeClr val="accent3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dp</a:t>
                  </a:r>
                  <a:r>
                    <a:rPr lang="en-US" sz="3200" dirty="0">
                      <a:solidFill>
                        <a:schemeClr val="accent3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</a:t>
                  </a:r>
                  <a14:m>
                    <m:oMath xmlns:m="http://schemas.openxmlformats.org/officeDocument/2006/math">
                      <m:r>
                        <a:rPr lang="en-US" sz="3200" b="1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a14:m>
                  <a:endParaRPr lang="ar-AE" sz="3200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Through Regression we convert the data into a LINEAR equation:…">
                  <a:extLst>
                    <a:ext uri="{FF2B5EF4-FFF2-40B4-BE49-F238E27FC236}">
                      <a16:creationId xmlns:a16="http://schemas.microsoft.com/office/drawing/2014/main" id="{22D4101C-F91E-564B-BA54-C26AEDFE6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41980" y="6122556"/>
                  <a:ext cx="1583391" cy="720061"/>
                </a:xfrm>
                <a:prstGeom prst="rect">
                  <a:avLst/>
                </a:prstGeom>
                <a:blipFill>
                  <a:blip r:embed="rId11"/>
                  <a:stretch>
                    <a:fillRect l="-11111" t="-10526" r="-3968" b="-8772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8DD9591-9C8B-3640-A234-A1AEF0CBA191}"/>
                  </a:ext>
                </a:extLst>
              </p:cNvPr>
              <p:cNvSpPr txBox="1"/>
              <p:nvPr/>
            </p:nvSpPr>
            <p:spPr>
              <a:xfrm>
                <a:off x="9507224" y="223345"/>
                <a:ext cx="2754327" cy="10389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/>
              <a:p>
                <a:pPr algn="just">
                  <a:defRPr sz="37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ar-AE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ar-AE" sz="28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28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ar-AE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b="1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ar-AE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8DD9591-9C8B-3640-A234-A1AEF0CBA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7224" y="223345"/>
                <a:ext cx="2754327" cy="1038939"/>
              </a:xfrm>
              <a:prstGeom prst="rect">
                <a:avLst/>
              </a:prstGeom>
              <a:blipFill>
                <a:blip r:embed="rId12"/>
                <a:stretch>
                  <a:fillRect l="-137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3366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ine"/>
          <p:cNvSpPr/>
          <p:nvPr/>
        </p:nvSpPr>
        <p:spPr>
          <a:xfrm flipH="1" flipV="1">
            <a:off x="2904249" y="1995540"/>
            <a:ext cx="4199" cy="6685447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Line"/>
          <p:cNvSpPr/>
          <p:nvPr/>
        </p:nvSpPr>
        <p:spPr>
          <a:xfrm>
            <a:off x="2349647" y="8223788"/>
            <a:ext cx="9013545" cy="1622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X"/>
          <p:cNvSpPr txBox="1"/>
          <p:nvPr/>
        </p:nvSpPr>
        <p:spPr>
          <a:xfrm>
            <a:off x="10249505" y="8340942"/>
            <a:ext cx="1365443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Y"/>
          <p:cNvSpPr txBox="1"/>
          <p:nvPr/>
        </p:nvSpPr>
        <p:spPr>
          <a:xfrm>
            <a:off x="1215911" y="2108528"/>
            <a:ext cx="143854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7694F9-D000-8645-AC22-AE7FBE62289C}"/>
              </a:ext>
            </a:extLst>
          </p:cNvPr>
          <p:cNvGrpSpPr/>
          <p:nvPr/>
        </p:nvGrpSpPr>
        <p:grpSpPr>
          <a:xfrm>
            <a:off x="2908448" y="4114800"/>
            <a:ext cx="7492830" cy="3137982"/>
            <a:chOff x="3689498" y="3048000"/>
            <a:chExt cx="7492830" cy="3137982"/>
          </a:xfrm>
        </p:grpSpPr>
        <p:sp>
          <p:nvSpPr>
            <p:cNvPr id="148" name="Line"/>
            <p:cNvSpPr/>
            <p:nvPr/>
          </p:nvSpPr>
          <p:spPr>
            <a:xfrm>
              <a:off x="3689498" y="3048000"/>
              <a:ext cx="6962826" cy="2871242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X">
              <a:extLst>
                <a:ext uri="{FF2B5EF4-FFF2-40B4-BE49-F238E27FC236}">
                  <a16:creationId xmlns:a16="http://schemas.microsoft.com/office/drawing/2014/main" id="{C83145A7-9BFF-E745-8F12-2A460DAD00AB}"/>
                </a:ext>
              </a:extLst>
            </p:cNvPr>
            <p:cNvSpPr txBox="1"/>
            <p:nvPr/>
          </p:nvSpPr>
          <p:spPr>
            <a:xfrm>
              <a:off x="10820048" y="5652503"/>
              <a:ext cx="362280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EAAE10-CEF8-C94E-A3B9-005DD3E2A6C9}"/>
              </a:ext>
            </a:extLst>
          </p:cNvPr>
          <p:cNvGrpSpPr/>
          <p:nvPr/>
        </p:nvGrpSpPr>
        <p:grpSpPr>
          <a:xfrm>
            <a:off x="2908447" y="4114800"/>
            <a:ext cx="3817650" cy="3553860"/>
            <a:chOff x="3689497" y="3048000"/>
            <a:chExt cx="3817650" cy="3553860"/>
          </a:xfrm>
        </p:grpSpPr>
        <p:sp>
          <p:nvSpPr>
            <p:cNvPr id="20" name="Line">
              <a:extLst>
                <a:ext uri="{FF2B5EF4-FFF2-40B4-BE49-F238E27FC236}">
                  <a16:creationId xmlns:a16="http://schemas.microsoft.com/office/drawing/2014/main" id="{43B76BE0-28E8-5543-A288-10633F66C7B4}"/>
                </a:ext>
              </a:extLst>
            </p:cNvPr>
            <p:cNvSpPr/>
            <p:nvPr/>
          </p:nvSpPr>
          <p:spPr>
            <a:xfrm>
              <a:off x="3689497" y="3048000"/>
              <a:ext cx="3356762" cy="3280445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X">
              <a:extLst>
                <a:ext uri="{FF2B5EF4-FFF2-40B4-BE49-F238E27FC236}">
                  <a16:creationId xmlns:a16="http://schemas.microsoft.com/office/drawing/2014/main" id="{0334F41E-792B-0241-B7E7-30BF08D04AE7}"/>
                </a:ext>
              </a:extLst>
            </p:cNvPr>
            <p:cNvSpPr txBox="1"/>
            <p:nvPr/>
          </p:nvSpPr>
          <p:spPr>
            <a:xfrm>
              <a:off x="7165707" y="6068381"/>
              <a:ext cx="341440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AA3F694-431D-464B-8086-9813777A72DE}"/>
              </a:ext>
            </a:extLst>
          </p:cNvPr>
          <p:cNvCxnSpPr/>
          <p:nvPr/>
        </p:nvCxnSpPr>
        <p:spPr>
          <a:xfrm>
            <a:off x="4077821" y="4670612"/>
            <a:ext cx="0" cy="3553175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3AE693-5BF0-1A43-A31E-C16FE34BA9FF}"/>
              </a:ext>
            </a:extLst>
          </p:cNvPr>
          <p:cNvCxnSpPr>
            <a:cxnSpLocks/>
          </p:cNvCxnSpPr>
          <p:nvPr/>
        </p:nvCxnSpPr>
        <p:spPr>
          <a:xfrm>
            <a:off x="4983256" y="4973492"/>
            <a:ext cx="0" cy="3250295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2320136-10C6-5047-AD7C-7C7B38775004}"/>
              </a:ext>
            </a:extLst>
          </p:cNvPr>
          <p:cNvCxnSpPr>
            <a:cxnSpLocks/>
          </p:cNvCxnSpPr>
          <p:nvPr/>
        </p:nvCxnSpPr>
        <p:spPr>
          <a:xfrm>
            <a:off x="4077821" y="6220854"/>
            <a:ext cx="905435" cy="0"/>
          </a:xfrm>
          <a:prstGeom prst="line">
            <a:avLst/>
          </a:prstGeom>
          <a:noFill/>
          <a:ln w="635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7FA3931-475B-C24E-B355-0C69E7D1463B}"/>
              </a:ext>
            </a:extLst>
          </p:cNvPr>
          <p:cNvGrpSpPr/>
          <p:nvPr/>
        </p:nvGrpSpPr>
        <p:grpSpPr>
          <a:xfrm>
            <a:off x="3158242" y="5256058"/>
            <a:ext cx="947695" cy="964796"/>
            <a:chOff x="3939292" y="4189258"/>
            <a:chExt cx="947695" cy="9647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/>
                <p:nvPr/>
              </p:nvSpPr>
              <p:spPr>
                <a:xfrm>
                  <a:off x="3939292" y="4358221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9292" y="4358221"/>
                  <a:ext cx="947695" cy="513282"/>
                </a:xfrm>
                <a:prstGeom prst="rect">
                  <a:avLst/>
                </a:prstGeom>
                <a:blipFill>
                  <a:blip r:embed="rId2"/>
                  <a:stretch>
                    <a:fillRect l="-2632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046621-E993-0D41-AE3C-276D38017077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4189258"/>
              <a:ext cx="0" cy="964796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F1010B-ED21-5749-8BFC-8C552228BF77}"/>
              </a:ext>
            </a:extLst>
          </p:cNvPr>
          <p:cNvGrpSpPr/>
          <p:nvPr/>
        </p:nvGrpSpPr>
        <p:grpSpPr>
          <a:xfrm>
            <a:off x="4077821" y="4011804"/>
            <a:ext cx="1545328" cy="979617"/>
            <a:chOff x="4858871" y="2945004"/>
            <a:chExt cx="1545328" cy="97961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C5DC26-5CF7-E146-A0F7-8A990CC8E519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3536754"/>
              <a:ext cx="0" cy="387867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A004912-8B31-2B4D-959C-BE2A242DECF0}"/>
                </a:ext>
              </a:extLst>
            </p:cNvPr>
            <p:cNvGrpSpPr/>
            <p:nvPr/>
          </p:nvGrpSpPr>
          <p:grpSpPr>
            <a:xfrm>
              <a:off x="4967251" y="2945004"/>
              <a:ext cx="1436948" cy="750829"/>
              <a:chOff x="4359396" y="3830132"/>
              <a:chExt cx="1436948" cy="7508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6595BB1F-1853-A241-A361-FD76C36E322B}"/>
                      </a:ext>
                    </a:extLst>
                  </p:cNvPr>
                  <p:cNvSpPr/>
                  <p:nvPr/>
                </p:nvSpPr>
                <p:spPr>
                  <a:xfrm>
                    <a:off x="4848649" y="3830132"/>
                    <a:ext cx="947695" cy="5132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800" b="1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m:oMathPara>
                    </a14:m>
                    <a:endPara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6595BB1F-1853-A241-A361-FD76C36E32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48649" y="3830132"/>
                    <a:ext cx="947695" cy="51328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000" b="-2381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1F0492C-CCAC-614C-B1CB-7934BB3696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9396" y="4149139"/>
                <a:ext cx="550252" cy="431822"/>
              </a:xfrm>
              <a:prstGeom prst="straightConnector1">
                <a:avLst/>
              </a:prstGeom>
              <a:noFill/>
              <a:ln w="63500" cap="flat">
                <a:solidFill>
                  <a:schemeClr val="accent6">
                    <a:lumMod val="75000"/>
                  </a:schemeClr>
                </a:solidFill>
                <a:prstDash val="solid"/>
                <a:miter lim="400000"/>
                <a:tailEnd type="triangle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856533C-D664-5746-BCB8-142633C629DB}"/>
              </a:ext>
            </a:extLst>
          </p:cNvPr>
          <p:cNvGrpSpPr/>
          <p:nvPr/>
        </p:nvGrpSpPr>
        <p:grpSpPr>
          <a:xfrm>
            <a:off x="4077821" y="4973492"/>
            <a:ext cx="905435" cy="529505"/>
            <a:chOff x="4858871" y="3906692"/>
            <a:chExt cx="905435" cy="529505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307598-C6BF-4348-B4D6-B5DA92E414A5}"/>
                </a:ext>
              </a:extLst>
            </p:cNvPr>
            <p:cNvCxnSpPr>
              <a:cxnSpLocks/>
            </p:cNvCxnSpPr>
            <p:nvPr/>
          </p:nvCxnSpPr>
          <p:spPr>
            <a:xfrm>
              <a:off x="4858871" y="3906692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/>
                <p:nvPr/>
              </p:nvSpPr>
              <p:spPr>
                <a:xfrm>
                  <a:off x="4976584" y="3922915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8C691044-119D-9148-8241-B4AE53A9C2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6584" y="3922915"/>
                  <a:ext cx="782587" cy="513282"/>
                </a:xfrm>
                <a:prstGeom prst="rect">
                  <a:avLst/>
                </a:prstGeom>
                <a:blipFill>
                  <a:blip r:embed="rId4"/>
                  <a:stretch>
                    <a:fillRect l="-3175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5F7A1F6-DAA6-DD4D-8037-4269D1CB7358}"/>
              </a:ext>
            </a:extLst>
          </p:cNvPr>
          <p:cNvGrpSpPr/>
          <p:nvPr/>
        </p:nvGrpSpPr>
        <p:grpSpPr>
          <a:xfrm>
            <a:off x="4170055" y="6286297"/>
            <a:ext cx="782587" cy="1864867"/>
            <a:chOff x="4951105" y="5219497"/>
            <a:chExt cx="782587" cy="18648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/>
                <p:nvPr/>
              </p:nvSpPr>
              <p:spPr>
                <a:xfrm>
                  <a:off x="4951105" y="6571082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D6404FA2-D983-054C-A8DD-75617FF441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1105" y="6571082"/>
                  <a:ext cx="782587" cy="513282"/>
                </a:xfrm>
                <a:prstGeom prst="rect">
                  <a:avLst/>
                </a:prstGeom>
                <a:blipFill>
                  <a:blip r:embed="rId5"/>
                  <a:stretch>
                    <a:fillRect l="-4839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/>
                <p:nvPr/>
              </p:nvSpPr>
              <p:spPr>
                <a:xfrm>
                  <a:off x="4951105" y="5219497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60A9BB8-1A69-7443-AE16-2AF478B46A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1105" y="5219497"/>
                  <a:ext cx="782587" cy="513282"/>
                </a:xfrm>
                <a:prstGeom prst="rect">
                  <a:avLst/>
                </a:prstGeom>
                <a:blipFill>
                  <a:blip r:embed="rId6"/>
                  <a:stretch>
                    <a:fillRect l="-4839" b="-261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44BAEC-3089-4F41-912A-DE5D50B0D3A2}"/>
              </a:ext>
            </a:extLst>
          </p:cNvPr>
          <p:cNvGrpSpPr/>
          <p:nvPr/>
        </p:nvGrpSpPr>
        <p:grpSpPr>
          <a:xfrm>
            <a:off x="6394564" y="2913529"/>
            <a:ext cx="1789092" cy="1604008"/>
            <a:chOff x="7175614" y="1846729"/>
            <a:chExt cx="1789092" cy="160400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05F101-0D22-5143-830F-4AD2637BA877}"/>
                </a:ext>
              </a:extLst>
            </p:cNvPr>
            <p:cNvCxnSpPr>
              <a:cxnSpLocks/>
            </p:cNvCxnSpPr>
            <p:nvPr/>
          </p:nvCxnSpPr>
          <p:spPr>
            <a:xfrm>
              <a:off x="8050306" y="1846729"/>
              <a:ext cx="8965" cy="1063200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1CA3F3-2D3F-F747-A1D3-5CE1E6533D30}"/>
                </a:ext>
              </a:extLst>
            </p:cNvPr>
            <p:cNvCxnSpPr>
              <a:cxnSpLocks/>
            </p:cNvCxnSpPr>
            <p:nvPr/>
          </p:nvCxnSpPr>
          <p:spPr>
            <a:xfrm>
              <a:off x="8023412" y="2868054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7" name="Line">
              <a:extLst>
                <a:ext uri="{FF2B5EF4-FFF2-40B4-BE49-F238E27FC236}">
                  <a16:creationId xmlns:a16="http://schemas.microsoft.com/office/drawing/2014/main" id="{37A7C80F-7FCF-E64A-AD71-28385A73E298}"/>
                </a:ext>
              </a:extLst>
            </p:cNvPr>
            <p:cNvSpPr/>
            <p:nvPr/>
          </p:nvSpPr>
          <p:spPr>
            <a:xfrm>
              <a:off x="8114131" y="1873609"/>
              <a:ext cx="850575" cy="994445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/>
                <p:nvPr/>
              </p:nvSpPr>
              <p:spPr>
                <a:xfrm>
                  <a:off x="7175614" y="2069972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614" y="2069972"/>
                  <a:ext cx="947695" cy="513282"/>
                </a:xfrm>
                <a:prstGeom prst="rect">
                  <a:avLst/>
                </a:prstGeom>
                <a:blipFill>
                  <a:blip r:embed="rId7"/>
                  <a:stretch>
                    <a:fillRect l="-2667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/>
                <p:nvPr/>
              </p:nvSpPr>
              <p:spPr>
                <a:xfrm>
                  <a:off x="8079265" y="2937455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79265" y="2937455"/>
                  <a:ext cx="782587" cy="513282"/>
                </a:xfrm>
                <a:prstGeom prst="rect">
                  <a:avLst/>
                </a:prstGeom>
                <a:blipFill>
                  <a:blip r:embed="rId8"/>
                  <a:stretch>
                    <a:fillRect l="-3175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6243D5-C53E-2944-BC04-388FFD27F615}"/>
              </a:ext>
            </a:extLst>
          </p:cNvPr>
          <p:cNvGrpSpPr/>
          <p:nvPr/>
        </p:nvGrpSpPr>
        <p:grpSpPr>
          <a:xfrm>
            <a:off x="9007034" y="3330321"/>
            <a:ext cx="1770073" cy="1068725"/>
            <a:chOff x="9163000" y="2406634"/>
            <a:chExt cx="1770073" cy="1068725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9B549E-42D3-5F40-9439-A2519B3960A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598" y="2439270"/>
              <a:ext cx="0" cy="387867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88F6EB-7E7A-DA43-90DB-83BEB0083CFF}"/>
                </a:ext>
              </a:extLst>
            </p:cNvPr>
            <p:cNvCxnSpPr>
              <a:cxnSpLocks/>
            </p:cNvCxnSpPr>
            <p:nvPr/>
          </p:nvCxnSpPr>
          <p:spPr>
            <a:xfrm>
              <a:off x="10007998" y="2868054"/>
              <a:ext cx="905435" cy="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32A87CFB-6B6B-964B-BD1B-593214AF1CEF}"/>
                </a:ext>
              </a:extLst>
            </p:cNvPr>
            <p:cNvSpPr/>
            <p:nvPr/>
          </p:nvSpPr>
          <p:spPr>
            <a:xfrm>
              <a:off x="10042567" y="2414621"/>
              <a:ext cx="890506" cy="367540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/>
                <p:nvPr/>
              </p:nvSpPr>
              <p:spPr>
                <a:xfrm>
                  <a:off x="9163000" y="2406634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3000" y="2406634"/>
                  <a:ext cx="947695" cy="513282"/>
                </a:xfrm>
                <a:prstGeom prst="rect">
                  <a:avLst/>
                </a:prstGeom>
                <a:blipFill>
                  <a:blip r:embed="rId9"/>
                  <a:stretch>
                    <a:fillRect l="-2667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/>
                <p:nvPr/>
              </p:nvSpPr>
              <p:spPr>
                <a:xfrm>
                  <a:off x="10004094" y="2962077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04094" y="2962077"/>
                  <a:ext cx="782587" cy="513282"/>
                </a:xfrm>
                <a:prstGeom prst="rect">
                  <a:avLst/>
                </a:prstGeom>
                <a:blipFill>
                  <a:blip r:embed="rId10"/>
                  <a:stretch>
                    <a:fillRect l="-3175" b="-261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48ADE7-4320-D34B-ABA3-7DF1DDD45928}"/>
              </a:ext>
            </a:extLst>
          </p:cNvPr>
          <p:cNvGrpSpPr/>
          <p:nvPr/>
        </p:nvGrpSpPr>
        <p:grpSpPr>
          <a:xfrm>
            <a:off x="5483480" y="5966539"/>
            <a:ext cx="4441983" cy="986831"/>
            <a:chOff x="6264530" y="4899739"/>
            <a:chExt cx="4441983" cy="986831"/>
          </a:xfrm>
        </p:grpSpPr>
        <p:sp>
          <p:nvSpPr>
            <p:cNvPr id="46" name="Regression (contd.)">
              <a:extLst>
                <a:ext uri="{FF2B5EF4-FFF2-40B4-BE49-F238E27FC236}">
                  <a16:creationId xmlns:a16="http://schemas.microsoft.com/office/drawing/2014/main" id="{CC50EE87-D7C4-6043-96A7-F6CFA6BE5DD5}"/>
                </a:ext>
              </a:extLst>
            </p:cNvPr>
            <p:cNvSpPr txBox="1">
              <a:spLocks/>
            </p:cNvSpPr>
            <p:nvPr/>
          </p:nvSpPr>
          <p:spPr>
            <a:xfrm>
              <a:off x="9319972" y="4899739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RIE</a:t>
              </a:r>
            </a:p>
          </p:txBody>
        </p:sp>
        <p:sp>
          <p:nvSpPr>
            <p:cNvPr id="47" name="Regression (contd.)">
              <a:extLst>
                <a:ext uri="{FF2B5EF4-FFF2-40B4-BE49-F238E27FC236}">
                  <a16:creationId xmlns:a16="http://schemas.microsoft.com/office/drawing/2014/main" id="{58CA947D-B5C2-744A-9C8B-38A40482E64B}"/>
                </a:ext>
              </a:extLst>
            </p:cNvPr>
            <p:cNvSpPr txBox="1">
              <a:spLocks/>
            </p:cNvSpPr>
            <p:nvPr/>
          </p:nvSpPr>
          <p:spPr>
            <a:xfrm>
              <a:off x="6264530" y="5247055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</a:p>
          </p:txBody>
        </p:sp>
      </p:grpSp>
      <p:sp>
        <p:nvSpPr>
          <p:cNvPr id="48" name="Regression (contd.)">
            <a:extLst>
              <a:ext uri="{FF2B5EF4-FFF2-40B4-BE49-F238E27FC236}">
                <a16:creationId xmlns:a16="http://schemas.microsoft.com/office/drawing/2014/main" id="{2F4A534B-D8BF-C347-90D8-7F6A45F905E1}"/>
              </a:ext>
            </a:extLst>
          </p:cNvPr>
          <p:cNvSpPr txBox="1">
            <a:spLocks/>
          </p:cNvSpPr>
          <p:nvPr/>
        </p:nvSpPr>
        <p:spPr>
          <a:xfrm>
            <a:off x="1270000" y="304748"/>
            <a:ext cx="10464800" cy="433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2570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2B1A2-41EA-9D41-8C28-0C1CF8C9FA5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83142" y="9081209"/>
            <a:ext cx="230832" cy="410369"/>
          </a:xfrm>
        </p:spPr>
        <p:txBody>
          <a:bodyPr/>
          <a:lstStyle/>
          <a:p>
            <a:fld id="{86CB4B4D-7CA3-9044-876B-883B54F8677D}" type="slidenum">
              <a:rPr lang="en-IN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71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Line"/>
          <p:cNvSpPr/>
          <p:nvPr/>
        </p:nvSpPr>
        <p:spPr>
          <a:xfrm flipH="1" flipV="1">
            <a:off x="2874072" y="1962148"/>
            <a:ext cx="0" cy="669063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Line"/>
          <p:cNvSpPr/>
          <p:nvPr/>
        </p:nvSpPr>
        <p:spPr>
          <a:xfrm flipV="1">
            <a:off x="2330598" y="8213309"/>
            <a:ext cx="8924786" cy="1047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X"/>
          <p:cNvSpPr txBox="1"/>
          <p:nvPr/>
        </p:nvSpPr>
        <p:spPr>
          <a:xfrm>
            <a:off x="9836899" y="8213309"/>
            <a:ext cx="1931828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Y"/>
          <p:cNvSpPr txBox="1"/>
          <p:nvPr/>
        </p:nvSpPr>
        <p:spPr>
          <a:xfrm>
            <a:off x="1446655" y="2111874"/>
            <a:ext cx="1438544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endParaRPr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37694F9-D000-8645-AC22-AE7FBE62289C}"/>
              </a:ext>
            </a:extLst>
          </p:cNvPr>
          <p:cNvGrpSpPr/>
          <p:nvPr/>
        </p:nvGrpSpPr>
        <p:grpSpPr>
          <a:xfrm>
            <a:off x="2889398" y="4114800"/>
            <a:ext cx="7492830" cy="3137983"/>
            <a:chOff x="3689498" y="3048000"/>
            <a:chExt cx="7492830" cy="3137983"/>
          </a:xfrm>
        </p:grpSpPr>
        <p:sp>
          <p:nvSpPr>
            <p:cNvPr id="148" name="Line"/>
            <p:cNvSpPr/>
            <p:nvPr/>
          </p:nvSpPr>
          <p:spPr>
            <a:xfrm>
              <a:off x="3689498" y="3048000"/>
              <a:ext cx="6962826" cy="2871242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X">
              <a:extLst>
                <a:ext uri="{FF2B5EF4-FFF2-40B4-BE49-F238E27FC236}">
                  <a16:creationId xmlns:a16="http://schemas.microsoft.com/office/drawing/2014/main" id="{C83145A7-9BFF-E745-8F12-2A460DAD00AB}"/>
                </a:ext>
              </a:extLst>
            </p:cNvPr>
            <p:cNvSpPr txBox="1"/>
            <p:nvPr/>
          </p:nvSpPr>
          <p:spPr>
            <a:xfrm>
              <a:off x="10820048" y="5652504"/>
              <a:ext cx="362280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EAAE10-CEF8-C94E-A3B9-005DD3E2A6C9}"/>
              </a:ext>
            </a:extLst>
          </p:cNvPr>
          <p:cNvGrpSpPr/>
          <p:nvPr/>
        </p:nvGrpSpPr>
        <p:grpSpPr>
          <a:xfrm>
            <a:off x="2889397" y="4114800"/>
            <a:ext cx="3817651" cy="3553861"/>
            <a:chOff x="3689497" y="3048000"/>
            <a:chExt cx="3817651" cy="3553861"/>
          </a:xfrm>
        </p:grpSpPr>
        <p:sp>
          <p:nvSpPr>
            <p:cNvPr id="20" name="Line">
              <a:extLst>
                <a:ext uri="{FF2B5EF4-FFF2-40B4-BE49-F238E27FC236}">
                  <a16:creationId xmlns:a16="http://schemas.microsoft.com/office/drawing/2014/main" id="{43B76BE0-28E8-5543-A288-10633F66C7B4}"/>
                </a:ext>
              </a:extLst>
            </p:cNvPr>
            <p:cNvSpPr/>
            <p:nvPr/>
          </p:nvSpPr>
          <p:spPr>
            <a:xfrm>
              <a:off x="3689497" y="3048000"/>
              <a:ext cx="3356762" cy="3280445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X">
              <a:extLst>
                <a:ext uri="{FF2B5EF4-FFF2-40B4-BE49-F238E27FC236}">
                  <a16:creationId xmlns:a16="http://schemas.microsoft.com/office/drawing/2014/main" id="{0334F41E-792B-0241-B7E7-30BF08D04AE7}"/>
                </a:ext>
              </a:extLst>
            </p:cNvPr>
            <p:cNvSpPr txBox="1"/>
            <p:nvPr/>
          </p:nvSpPr>
          <p:spPr>
            <a:xfrm>
              <a:off x="7165708" y="6068382"/>
              <a:ext cx="341440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3D1A1F1-8C60-574A-8AFD-BFCE3087F1BE}"/>
              </a:ext>
            </a:extLst>
          </p:cNvPr>
          <p:cNvGrpSpPr/>
          <p:nvPr/>
        </p:nvGrpSpPr>
        <p:grpSpPr>
          <a:xfrm>
            <a:off x="4127591" y="6177552"/>
            <a:ext cx="1086015" cy="585037"/>
            <a:chOff x="4927691" y="5110752"/>
            <a:chExt cx="1086015" cy="5850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/>
                <p:nvPr/>
              </p:nvSpPr>
              <p:spPr>
                <a:xfrm>
                  <a:off x="5066011" y="5182507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443E0FD-C0CC-3E4D-82E8-498DA2CEB5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6011" y="5182507"/>
                  <a:ext cx="947695" cy="513282"/>
                </a:xfrm>
                <a:prstGeom prst="rect">
                  <a:avLst/>
                </a:prstGeom>
                <a:blipFill>
                  <a:blip r:embed="rId2"/>
                  <a:stretch>
                    <a:fillRect l="-4000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DC5DC26-5CF7-E146-A0F7-8A990CC8E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7691" y="5110752"/>
              <a:ext cx="874256" cy="0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FBC21C7-B657-9543-8B62-453FA76C21D6}"/>
              </a:ext>
            </a:extLst>
          </p:cNvPr>
          <p:cNvGrpSpPr/>
          <p:nvPr/>
        </p:nvGrpSpPr>
        <p:grpSpPr>
          <a:xfrm>
            <a:off x="5745209" y="6158753"/>
            <a:ext cx="1863585" cy="549405"/>
            <a:chOff x="6545309" y="5091953"/>
            <a:chExt cx="1863585" cy="549405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046621-E993-0D41-AE3C-276D38017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5309" y="5091953"/>
              <a:ext cx="1863585" cy="18799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595BB1F-1853-A241-A361-FD76C36E322B}"/>
                    </a:ext>
                  </a:extLst>
                </p:cNvPr>
                <p:cNvSpPr/>
                <p:nvPr/>
              </p:nvSpPr>
              <p:spPr>
                <a:xfrm>
                  <a:off x="7399579" y="5128076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6595BB1F-1853-A241-A361-FD76C36E32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9579" y="5128076"/>
                  <a:ext cx="947695" cy="513282"/>
                </a:xfrm>
                <a:prstGeom prst="rect">
                  <a:avLst/>
                </a:prstGeom>
                <a:blipFill>
                  <a:blip r:embed="rId3"/>
                  <a:stretch>
                    <a:fillRect l="-2632" b="-292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8C14210-9B25-CA45-BD6A-B29A07ABB9CC}"/>
              </a:ext>
            </a:extLst>
          </p:cNvPr>
          <p:cNvGrpSpPr/>
          <p:nvPr/>
        </p:nvGrpSpPr>
        <p:grpSpPr>
          <a:xfrm>
            <a:off x="9092785" y="3312507"/>
            <a:ext cx="2729771" cy="1267562"/>
            <a:chOff x="9892885" y="2245707"/>
            <a:chExt cx="2729771" cy="1267562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05F101-0D22-5143-830F-4AD2637BA8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52324" y="2897654"/>
              <a:ext cx="1970332" cy="40249"/>
            </a:xfrm>
            <a:prstGeom prst="line">
              <a:avLst/>
            </a:prstGeom>
            <a:noFill/>
            <a:ln w="63500" cap="flat">
              <a:solidFill>
                <a:srgbClr val="FF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388F6EB-7E7A-DA43-90DB-83BEB0083C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52324" y="2245707"/>
              <a:ext cx="0" cy="72263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32A87CFB-6B6B-964B-BD1B-593214AF1CEF}"/>
                </a:ext>
              </a:extLst>
            </p:cNvPr>
            <p:cNvSpPr/>
            <p:nvPr/>
          </p:nvSpPr>
          <p:spPr>
            <a:xfrm>
              <a:off x="10667650" y="2271507"/>
              <a:ext cx="1955005" cy="595711"/>
            </a:xfrm>
            <a:prstGeom prst="line">
              <a:avLst/>
            </a:prstGeom>
            <a:ln w="101600">
              <a:solidFill>
                <a:srgbClr val="94520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/>
                <p:nvPr/>
              </p:nvSpPr>
              <p:spPr>
                <a:xfrm>
                  <a:off x="11107788" y="2999987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EC4F1F2-284E-8F4F-AE8A-B28467BDA7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7788" y="2999987"/>
                  <a:ext cx="947695" cy="513282"/>
                </a:xfrm>
                <a:prstGeom prst="rect">
                  <a:avLst/>
                </a:prstGeom>
                <a:blipFill>
                  <a:blip r:embed="rId4"/>
                  <a:stretch>
                    <a:fillRect l="-2632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/>
                <p:nvPr/>
              </p:nvSpPr>
              <p:spPr>
                <a:xfrm>
                  <a:off x="9892885" y="2407160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751518A6-EE8C-354C-99C3-BD918043C4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2885" y="2407160"/>
                  <a:ext cx="782587" cy="513282"/>
                </a:xfrm>
                <a:prstGeom prst="rect">
                  <a:avLst/>
                </a:prstGeom>
                <a:blipFill>
                  <a:blip r:embed="rId5"/>
                  <a:stretch>
                    <a:fillRect l="-4839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48ADE7-4320-D34B-ABA3-7DF1DDD45928}"/>
              </a:ext>
            </a:extLst>
          </p:cNvPr>
          <p:cNvGrpSpPr/>
          <p:nvPr/>
        </p:nvGrpSpPr>
        <p:grpSpPr>
          <a:xfrm>
            <a:off x="5648773" y="6031625"/>
            <a:ext cx="4250270" cy="1202785"/>
            <a:chOff x="6448873" y="4964825"/>
            <a:chExt cx="4250270" cy="1202785"/>
          </a:xfrm>
        </p:grpSpPr>
        <p:sp>
          <p:nvSpPr>
            <p:cNvPr id="46" name="Regression (contd.)">
              <a:extLst>
                <a:ext uri="{FF2B5EF4-FFF2-40B4-BE49-F238E27FC236}">
                  <a16:creationId xmlns:a16="http://schemas.microsoft.com/office/drawing/2014/main" id="{CC50EE87-D7C4-6043-96A7-F6CFA6BE5DD5}"/>
                </a:ext>
              </a:extLst>
            </p:cNvPr>
            <p:cNvSpPr txBox="1">
              <a:spLocks/>
            </p:cNvSpPr>
            <p:nvPr/>
          </p:nvSpPr>
          <p:spPr>
            <a:xfrm>
              <a:off x="6448873" y="5528095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RIE</a:t>
              </a:r>
            </a:p>
          </p:txBody>
        </p:sp>
        <p:sp>
          <p:nvSpPr>
            <p:cNvPr id="47" name="Regression (contd.)">
              <a:extLst>
                <a:ext uri="{FF2B5EF4-FFF2-40B4-BE49-F238E27FC236}">
                  <a16:creationId xmlns:a16="http://schemas.microsoft.com/office/drawing/2014/main" id="{58CA947D-B5C2-744A-9C8B-38A40482E64B}"/>
                </a:ext>
              </a:extLst>
            </p:cNvPr>
            <p:cNvSpPr txBox="1">
              <a:spLocks/>
            </p:cNvSpPr>
            <p:nvPr/>
          </p:nvSpPr>
          <p:spPr>
            <a:xfrm>
              <a:off x="9312602" y="4964825"/>
              <a:ext cx="1386541" cy="6395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b">
              <a:normAutofit/>
            </a:bodyPr>
            <a:lstStyle>
              <a:lvl1pPr marL="0" marR="0" indent="0" algn="ctr" defTabSz="257047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52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+mn-lt"/>
                  <a:ea typeface="+mn-ea"/>
                  <a:cs typeface="+mn-cs"/>
                  <a:sym typeface="Helvetica Neue Medium"/>
                </a:defRPr>
              </a:lvl9pPr>
            </a:lstStyle>
            <a:p>
              <a:pPr hangingPunct="1"/>
              <a:r>
                <a:rPr lang="en-I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</a:t>
              </a:r>
            </a:p>
          </p:txBody>
        </p:sp>
      </p:grpSp>
      <p:sp>
        <p:nvSpPr>
          <p:cNvPr id="48" name="Regression (contd.)">
            <a:extLst>
              <a:ext uri="{FF2B5EF4-FFF2-40B4-BE49-F238E27FC236}">
                <a16:creationId xmlns:a16="http://schemas.microsoft.com/office/drawing/2014/main" id="{2F4A534B-D8BF-C347-90D8-7F6A45F905E1}"/>
              </a:ext>
            </a:extLst>
          </p:cNvPr>
          <p:cNvSpPr txBox="1">
            <a:spLocks/>
          </p:cNvSpPr>
          <p:nvPr/>
        </p:nvSpPr>
        <p:spPr>
          <a:xfrm>
            <a:off x="1007450" y="564313"/>
            <a:ext cx="6734901" cy="433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2570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52B1A2-41EA-9D41-8C28-0C1CF8C9FA5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DF348A8-2588-7A43-A9BB-5F700E1C3E05}"/>
              </a:ext>
            </a:extLst>
          </p:cNvPr>
          <p:cNvGrpSpPr/>
          <p:nvPr/>
        </p:nvGrpSpPr>
        <p:grpSpPr>
          <a:xfrm>
            <a:off x="2231480" y="5298141"/>
            <a:ext cx="5312735" cy="835798"/>
            <a:chOff x="3031580" y="4231341"/>
            <a:chExt cx="5312735" cy="835798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AA3F694-431D-464B-8086-9813777A7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0026" y="4254336"/>
              <a:ext cx="2802492" cy="12864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13E345B-A27F-C148-B72B-4695B5E9269E}"/>
                </a:ext>
              </a:extLst>
            </p:cNvPr>
            <p:cNvGrpSpPr/>
            <p:nvPr/>
          </p:nvGrpSpPr>
          <p:grpSpPr>
            <a:xfrm>
              <a:off x="3031580" y="4231341"/>
              <a:ext cx="5312735" cy="835798"/>
              <a:chOff x="3031580" y="4231341"/>
              <a:chExt cx="5312735" cy="835798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320136-10C6-5047-AD7C-7C7B38775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2659" y="4231341"/>
                <a:ext cx="0" cy="835798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9307598-C6BF-4348-B4D6-B5DA92E41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7262" y="4243729"/>
                <a:ext cx="0" cy="82341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8C691044-119D-9148-8241-B4AE53A9C200}"/>
                      </a:ext>
                    </a:extLst>
                  </p:cNvPr>
                  <p:cNvSpPr/>
                  <p:nvPr/>
                </p:nvSpPr>
                <p:spPr>
                  <a:xfrm>
                    <a:off x="5838166" y="4408488"/>
                    <a:ext cx="782587" cy="5132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8C691044-119D-9148-8241-B4AE53A9C2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8166" y="4408488"/>
                    <a:ext cx="782587" cy="51328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175" b="-268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D6404FA2-D983-054C-A8DD-75617FF4410B}"/>
                      </a:ext>
                    </a:extLst>
                  </p:cNvPr>
                  <p:cNvSpPr/>
                  <p:nvPr/>
                </p:nvSpPr>
                <p:spPr>
                  <a:xfrm>
                    <a:off x="3031580" y="4469913"/>
                    <a:ext cx="782587" cy="5132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D6404FA2-D983-054C-A8DD-75617FF441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31580" y="4469913"/>
                    <a:ext cx="782587" cy="51328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175" b="-261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60A9BB8-1A69-7443-AE16-2AF478B46A55}"/>
                      </a:ext>
                    </a:extLst>
                  </p:cNvPr>
                  <p:cNvSpPr/>
                  <p:nvPr/>
                </p:nvSpPr>
                <p:spPr>
                  <a:xfrm>
                    <a:off x="4262185" y="4407324"/>
                    <a:ext cx="782587" cy="51328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en-US" sz="28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F60A9BB8-1A69-7443-AE16-2AF478B46A5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2185" y="4407324"/>
                    <a:ext cx="782587" cy="51328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175" b="-243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31A368E4-9D63-454E-85D4-5CACB21203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69974" y="5023302"/>
                <a:ext cx="4674341" cy="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B8FAA32-A269-6141-B94A-2A0EAB9052F3}"/>
              </a:ext>
            </a:extLst>
          </p:cNvPr>
          <p:cNvGrpSpPr/>
          <p:nvPr/>
        </p:nvGrpSpPr>
        <p:grpSpPr>
          <a:xfrm>
            <a:off x="6497854" y="3072035"/>
            <a:ext cx="1718345" cy="1328080"/>
            <a:chOff x="7297954" y="2005235"/>
            <a:chExt cx="1718345" cy="1328080"/>
          </a:xfrm>
        </p:grpSpPr>
        <p:sp>
          <p:nvSpPr>
            <p:cNvPr id="27" name="Line">
              <a:extLst>
                <a:ext uri="{FF2B5EF4-FFF2-40B4-BE49-F238E27FC236}">
                  <a16:creationId xmlns:a16="http://schemas.microsoft.com/office/drawing/2014/main" id="{37A7C80F-7FCF-E64A-AD71-28385A73E298}"/>
                </a:ext>
              </a:extLst>
            </p:cNvPr>
            <p:cNvSpPr/>
            <p:nvPr/>
          </p:nvSpPr>
          <p:spPr>
            <a:xfrm>
              <a:off x="7996518" y="2008094"/>
              <a:ext cx="842410" cy="675936"/>
            </a:xfrm>
            <a:prstGeom prst="line">
              <a:avLst/>
            </a:prstGeom>
            <a:ln w="101600">
              <a:solidFill>
                <a:srgbClr val="0070C0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/>
                <p:nvPr/>
              </p:nvSpPr>
              <p:spPr>
                <a:xfrm>
                  <a:off x="8068604" y="2820033"/>
                  <a:ext cx="947695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sz="2800" b="1" i="1" baseline="-250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323436D0-0436-AC49-8F20-BA93225BEF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8604" y="2820033"/>
                  <a:ext cx="947695" cy="513282"/>
                </a:xfrm>
                <a:prstGeom prst="rect">
                  <a:avLst/>
                </a:prstGeom>
                <a:blipFill>
                  <a:blip r:embed="rId9"/>
                  <a:stretch>
                    <a:fillRect l="-2632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/>
                <p:nvPr/>
              </p:nvSpPr>
              <p:spPr>
                <a:xfrm>
                  <a:off x="7297954" y="2200533"/>
                  <a:ext cx="782587" cy="51328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7CF8853-ED05-6D41-91DD-9BEA88291D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954" y="2200533"/>
                  <a:ext cx="782587" cy="513282"/>
                </a:xfrm>
                <a:prstGeom prst="rect">
                  <a:avLst/>
                </a:prstGeom>
                <a:blipFill>
                  <a:blip r:embed="rId6"/>
                  <a:stretch>
                    <a:fillRect l="-3175" b="-268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59B549E-42D3-5F40-9439-A2519B396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9565" y="2727866"/>
              <a:ext cx="838657" cy="0"/>
            </a:xfrm>
            <a:prstGeom prst="line">
              <a:avLst/>
            </a:prstGeom>
            <a:noFill/>
            <a:ln w="63500" cap="flat">
              <a:solidFill>
                <a:schemeClr val="accent3">
                  <a:lumMod val="50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04722DB-4255-1A4B-9B8A-379B312089DE}"/>
                </a:ext>
              </a:extLst>
            </p:cNvPr>
            <p:cNvCxnSpPr>
              <a:cxnSpLocks/>
            </p:cNvCxnSpPr>
            <p:nvPr/>
          </p:nvCxnSpPr>
          <p:spPr>
            <a:xfrm>
              <a:off x="7992221" y="2005235"/>
              <a:ext cx="0" cy="72263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76" name="Regression (contd.)">
            <a:extLst>
              <a:ext uri="{FF2B5EF4-FFF2-40B4-BE49-F238E27FC236}">
                <a16:creationId xmlns:a16="http://schemas.microsoft.com/office/drawing/2014/main" id="{ADB5A20E-9CD7-E24B-8082-E419BBEF720A}"/>
              </a:ext>
            </a:extLst>
          </p:cNvPr>
          <p:cNvSpPr txBox="1">
            <a:spLocks/>
          </p:cNvSpPr>
          <p:nvPr/>
        </p:nvSpPr>
        <p:spPr>
          <a:xfrm>
            <a:off x="7970620" y="412877"/>
            <a:ext cx="3326132" cy="635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ctr" defTabSz="2570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2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Marshallian Mode</a:t>
            </a:r>
          </a:p>
        </p:txBody>
      </p:sp>
    </p:spTree>
    <p:extLst>
      <p:ext uri="{BB962C8B-B14F-4D97-AF65-F5344CB8AC3E}">
        <p14:creationId xmlns:p14="http://schemas.microsoft.com/office/powerpoint/2010/main" val="5480624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1" animBg="1"/>
      <p:bldP spid="144" grpId="1" animBg="1"/>
      <p:bldP spid="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We study functional relationships between the types of variables. Hence,"/>
          <p:cNvSpPr txBox="1">
            <a:spLocks noGrp="1"/>
          </p:cNvSpPr>
          <p:nvPr>
            <p:ph type="subTitle" sz="quarter" idx="1"/>
          </p:nvPr>
        </p:nvSpPr>
        <p:spPr>
          <a:xfrm>
            <a:off x="627529" y="855111"/>
            <a:ext cx="6490448" cy="850524"/>
          </a:xfrm>
          <a:prstGeom prst="rect">
            <a:avLst/>
          </a:prstGeom>
        </p:spPr>
        <p:txBody>
          <a:bodyPr>
            <a:normAutofit/>
          </a:bodyPr>
          <a:lstStyle>
            <a:lvl1pPr algn="just">
              <a:defRPr b="1"/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Elasticity of Demand </a:t>
            </a:r>
          </a:p>
        </p:txBody>
      </p:sp>
      <p:sp>
        <p:nvSpPr>
          <p:cNvPr id="276" name="Regression (contd.)"/>
          <p:cNvSpPr txBox="1"/>
          <p:nvPr/>
        </p:nvSpPr>
        <p:spPr>
          <a:xfrm>
            <a:off x="1605071" y="262636"/>
            <a:ext cx="10464801" cy="389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defTabSz="257047">
              <a:defRPr sz="3500"/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Through Regression we convert the data into a LINEAR equation:…"/>
              <p:cNvSpPr txBox="1"/>
              <p:nvPr/>
            </p:nvSpPr>
            <p:spPr>
              <a:xfrm>
                <a:off x="1605071" y="1603091"/>
                <a:ext cx="10923954" cy="89011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>
                <a:spAutoFit/>
              </a:bodyPr>
              <a:lstStyle>
                <a:lvl1pPr algn="just">
                  <a:defRPr sz="3700" b="1">
                    <a:latin typeface="+mj-lt"/>
                    <a:ea typeface="+mj-ea"/>
                    <a:cs typeface="+mj-cs"/>
                    <a:sym typeface="Helvetica Neue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ar-AE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𝒅𝒑</m:t>
                        </m:r>
                      </m:sub>
                    </m:sSub>
                    <m:r>
                      <a:rPr lang="ar-AE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3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% ∆</m:t>
                        </m:r>
                        <m:r>
                          <a:rPr lang="ar-AE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  <m:r>
                          <a:rPr lang="en-US" sz="3200" b="1" i="1" baseline="-25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ar-AE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% ∆</m:t>
                        </m:r>
                        <m:r>
                          <a:rPr lang="ar-AE" sz="3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r>
                          <a:rPr lang="en-US" sz="3200" b="1" i="1" baseline="-2500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ar-AE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3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baseline="-2500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num>
                          <m:den>
                            <m: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baseline="-2500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ar-AE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ar-AE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sz="32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sz="32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ar-AE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ar-AE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3200" i="1">
                            <a:solidFill>
                              <a:srgbClr val="E3167D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ar-AE" sz="3200" i="1">
                            <a:solidFill>
                              <a:srgbClr val="E3167D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ar-AE" sz="3200" i="1">
                            <a:solidFill>
                              <a:srgbClr val="E3167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3200" i="1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baseline="-25000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num>
                          <m:den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baseline="-25000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200" i="1">
                            <a:solidFill>
                              <a:srgbClr val="E3167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3200" i="1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𝑨𝑹</m:t>
                            </m:r>
                          </m:num>
                          <m:den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𝑨𝑹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𝑴𝑹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3200" i="1">
                            <a:solidFill>
                              <a:srgbClr val="E3167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3200" i="1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𝑳𝒐𝒘𝒆𝒓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𝑺𝒆𝒈</m:t>
                            </m:r>
                          </m:num>
                          <m:den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𝑼𝒑𝒑𝒆𝒓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1" i="1" smtClean="0">
                                <a:solidFill>
                                  <a:srgbClr val="E3167D"/>
                                </a:solidFill>
                                <a:latin typeface="Cambria Math" panose="02040503050406030204" pitchFamily="18" charset="0"/>
                              </a:rPr>
                              <m:t>𝑺𝒆𝒈</m:t>
                            </m:r>
                          </m:den>
                        </m:f>
                      </m:e>
                    </m:d>
                  </m:oMath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7" name="Through Regression we convert the data into a LINEAR equation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071" y="1603091"/>
                <a:ext cx="10923954" cy="890115"/>
              </a:xfrm>
              <a:prstGeom prst="rect">
                <a:avLst/>
              </a:prstGeom>
              <a:blipFill>
                <a:blip r:embed="rId2"/>
                <a:stretch>
                  <a:fillRect l="-581" b="-985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8" name="Table 4"/>
          <p:cNvGraphicFramePr/>
          <p:nvPr>
            <p:extLst>
              <p:ext uri="{D42A27DB-BD31-4B8C-83A1-F6EECF244321}">
                <p14:modId xmlns:p14="http://schemas.microsoft.com/office/powerpoint/2010/main" val="3559308559"/>
              </p:ext>
            </p:extLst>
          </p:nvPr>
        </p:nvGraphicFramePr>
        <p:xfrm>
          <a:off x="1016322" y="3049942"/>
          <a:ext cx="2333781" cy="198577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9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16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P</a:t>
                      </a:r>
                      <a:r>
                        <a:rPr lang="en-US" sz="2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</a:t>
                      </a:r>
                      <a:r>
                        <a:rPr lang="en-US" sz="2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10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75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20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330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787413E7-6EBA-FD4F-9327-BDE019C1648A}"/>
              </a:ext>
            </a:extLst>
          </p:cNvPr>
          <p:cNvGrpSpPr/>
          <p:nvPr/>
        </p:nvGrpSpPr>
        <p:grpSpPr>
          <a:xfrm>
            <a:off x="8973111" y="2954110"/>
            <a:ext cx="3386784" cy="1095309"/>
            <a:chOff x="6339567" y="5056394"/>
            <a:chExt cx="5237107" cy="1095309"/>
          </a:xfrm>
        </p:grpSpPr>
        <p:sp>
          <p:nvSpPr>
            <p:cNvPr id="279" name="D = 70 - 0.3P"/>
            <p:cNvSpPr txBox="1"/>
            <p:nvPr/>
          </p:nvSpPr>
          <p:spPr>
            <a:xfrm>
              <a:off x="6339567" y="5056394"/>
              <a:ext cx="3856985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t">
              <a:spAutoFit/>
            </a:bodyPr>
            <a:lstStyle>
              <a:lvl1pPr>
                <a:defRPr sz="5000"/>
              </a:lvl1pPr>
            </a:lstStyle>
            <a:p>
              <a:pPr algn="l"/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IN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0 - </a:t>
              </a:r>
              <a:r>
                <a:rPr lang="en-IN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IN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D = 70 - 0.3P">
              <a:extLst>
                <a:ext uri="{FF2B5EF4-FFF2-40B4-BE49-F238E27FC236}">
                  <a16:creationId xmlns:a16="http://schemas.microsoft.com/office/drawing/2014/main" id="{C9B34027-A145-9E49-A6CE-4C9393550B8B}"/>
                </a:ext>
              </a:extLst>
            </p:cNvPr>
            <p:cNvSpPr txBox="1"/>
            <p:nvPr/>
          </p:nvSpPr>
          <p:spPr>
            <a:xfrm>
              <a:off x="6523202" y="5618224"/>
              <a:ext cx="5053472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t">
              <a:spAutoFit/>
            </a:bodyPr>
            <a:lstStyle>
              <a:lvl1pPr>
                <a:defRPr sz="5000"/>
              </a:lvl1pPr>
            </a:lstStyle>
            <a:p>
              <a:pPr algn="l"/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 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25, </a:t>
              </a:r>
              <a:r>
                <a:rPr lang="en-US" sz="28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800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dp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? 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79AB00-6C25-2346-A9C6-2AF520F929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96421" y="9296400"/>
            <a:ext cx="205184" cy="348813"/>
          </a:xfrm>
        </p:spPr>
        <p:txBody>
          <a:bodyPr/>
          <a:lstStyle/>
          <a:p>
            <a:fld id="{86CB4B4D-7CA3-9044-876B-883B54F8677D}" type="slidenum">
              <a:rPr lang="en-IN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8536094-78EF-B545-94C0-90D34B8A726E}"/>
                  </a:ext>
                </a:extLst>
              </p:cNvPr>
              <p:cNvSpPr/>
              <p:nvPr/>
            </p:nvSpPr>
            <p:spPr>
              <a:xfrm>
                <a:off x="276538" y="5504899"/>
                <a:ext cx="3728073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Edp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𝟕𝟎</m:t>
                            </m:r>
                          </m:num>
                          <m:den>
                            <m:r>
                              <a:rPr lang="en-US" b="1" i="1" baseline="-2500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ar-AE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𝟒𝟎𝟎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-0.175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8536094-78EF-B545-94C0-90D34B8A7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38" y="5504899"/>
                <a:ext cx="3728073" cy="645048"/>
              </a:xfrm>
              <a:prstGeom prst="rect">
                <a:avLst/>
              </a:prstGeom>
              <a:blipFill>
                <a:blip r:embed="rId3"/>
                <a:stretch>
                  <a:fillRect l="-1356" r="-135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56D5C86F-A357-7C41-93CA-40058317E7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17985"/>
              </p:ext>
            </p:extLst>
          </p:nvPr>
        </p:nvGraphicFramePr>
        <p:xfrm>
          <a:off x="4800694" y="3055807"/>
          <a:ext cx="2333781" cy="180470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096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07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P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</a:t>
                      </a:r>
                      <a:r>
                        <a:rPr lang="en-US" sz="2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25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550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10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880</a:t>
                      </a:r>
                      <a:endParaRPr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38E7B79-F9BF-C247-B64F-F025DF2777A7}"/>
                  </a:ext>
                </a:extLst>
              </p:cNvPr>
              <p:cNvSpPr/>
              <p:nvPr/>
            </p:nvSpPr>
            <p:spPr>
              <a:xfrm>
                <a:off x="4155077" y="5827423"/>
                <a:ext cx="3728073" cy="11680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Edp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𝟔𝟎</m:t>
                            </m:r>
                          </m:num>
                          <m:den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𝟔𝟎</m:t>
                            </m:r>
                          </m:den>
                        </m:f>
                      </m:e>
                    </m:d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38E7B79-F9BF-C247-B64F-F025DF2777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077" y="5827423"/>
                <a:ext cx="3728073" cy="11680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A5CF8AC-6E5F-454E-8F7C-5F532895BB75}"/>
                  </a:ext>
                </a:extLst>
              </p:cNvPr>
              <p:cNvSpPr/>
              <p:nvPr/>
            </p:nvSpPr>
            <p:spPr>
              <a:xfrm>
                <a:off x="4879241" y="7302041"/>
                <a:ext cx="2232919" cy="561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 =  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𝑼𝑬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A5CF8AC-6E5F-454E-8F7C-5F532895BB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241" y="7302041"/>
                <a:ext cx="2232919" cy="561820"/>
              </a:xfrm>
              <a:prstGeom prst="rect">
                <a:avLst/>
              </a:prstGeom>
              <a:blipFill>
                <a:blip r:embed="rId5"/>
                <a:stretch>
                  <a:fillRect l="-3390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0D0CD6-515D-6A4F-9775-763F30CB2DD7}"/>
                  </a:ext>
                </a:extLst>
              </p:cNvPr>
              <p:cNvSpPr/>
              <p:nvPr/>
            </p:nvSpPr>
            <p:spPr>
              <a:xfrm>
                <a:off x="386996" y="8437671"/>
                <a:ext cx="1472391" cy="793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𝟏𝟕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den>
                      </m:f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50D0CD6-515D-6A4F-9775-763F30CB2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996" y="8437671"/>
                <a:ext cx="1472391" cy="793679"/>
              </a:xfrm>
              <a:prstGeom prst="rect">
                <a:avLst/>
              </a:prstGeom>
              <a:blipFill>
                <a:blip r:embed="rId10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0E9DF32-4AD3-6946-9727-9CF7BB16E433}"/>
                  </a:ext>
                </a:extLst>
              </p:cNvPr>
              <p:cNvSpPr/>
              <p:nvPr/>
            </p:nvSpPr>
            <p:spPr>
              <a:xfrm>
                <a:off x="5369375" y="8115315"/>
                <a:ext cx="11657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𝟒𝟓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0E9DF32-4AD3-6946-9727-9CF7BB16E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375" y="8115315"/>
                <a:ext cx="116570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9C24103-E613-7349-916A-E0723C1AC6FC}"/>
                  </a:ext>
                </a:extLst>
              </p:cNvPr>
              <p:cNvSpPr/>
              <p:nvPr/>
            </p:nvSpPr>
            <p:spPr>
              <a:xfrm>
                <a:off x="4004611" y="8634552"/>
                <a:ext cx="1754165" cy="7146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9C24103-E613-7349-916A-E0723C1AC6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611" y="8634552"/>
                <a:ext cx="1754165" cy="714683"/>
              </a:xfrm>
              <a:prstGeom prst="rect">
                <a:avLst/>
              </a:prstGeom>
              <a:blipFill>
                <a:blip r:embed="rId12"/>
                <a:stretch>
                  <a:fillRect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 = 70 - 0.3P">
            <a:extLst>
              <a:ext uri="{FF2B5EF4-FFF2-40B4-BE49-F238E27FC236}">
                <a16:creationId xmlns:a16="http://schemas.microsoft.com/office/drawing/2014/main" id="{4BA9BE9F-3A1E-624C-A0FC-DD72F868C0E4}"/>
              </a:ext>
            </a:extLst>
          </p:cNvPr>
          <p:cNvSpPr txBox="1"/>
          <p:nvPr/>
        </p:nvSpPr>
        <p:spPr>
          <a:xfrm>
            <a:off x="8954791" y="6223913"/>
            <a:ext cx="3268029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120 - 2.7(25)</a:t>
            </a:r>
          </a:p>
          <a:p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52.5</a:t>
            </a:r>
            <a:endParaRPr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23D4CC-FBFA-D444-BBBC-546A34C491F3}"/>
                  </a:ext>
                </a:extLst>
              </p:cNvPr>
              <p:cNvSpPr/>
              <p:nvPr/>
            </p:nvSpPr>
            <p:spPr>
              <a:xfrm>
                <a:off x="8526343" y="7347213"/>
                <a:ext cx="4478457" cy="6450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r>
                      <a:rPr lang="en-US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ar-AE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𝟐𝟓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𝟓𝟐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ar-AE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𝟔𝟕</m:t>
                            </m:r>
                            <m:r>
                              <a:rPr lang="en-US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𝟓𝟐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-1.29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23D4CC-FBFA-D444-BBBC-546A34C49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6343" y="7347213"/>
                <a:ext cx="4478457" cy="645048"/>
              </a:xfrm>
              <a:prstGeom prst="rect">
                <a:avLst/>
              </a:prstGeom>
              <a:blipFill>
                <a:blip r:embed="rId13"/>
                <a:stretch>
                  <a:fillRect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3A3684-A8F5-FB4B-A191-B37A5A8F2B3E}"/>
                  </a:ext>
                </a:extLst>
              </p:cNvPr>
              <p:cNvSpPr/>
              <p:nvPr/>
            </p:nvSpPr>
            <p:spPr>
              <a:xfrm>
                <a:off x="9736674" y="8231404"/>
                <a:ext cx="1940916" cy="4947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| =  </m:t>
                      </m:r>
                      <m:r>
                        <a:rPr lang="en-US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𝑹𝑬</m:t>
                      </m:r>
                    </m:oMath>
                  </m:oMathPara>
                </a14:m>
                <a:endParaRPr lang="en-US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83A3684-A8F5-FB4B-A191-B37A5A8F2B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674" y="8231404"/>
                <a:ext cx="1940916" cy="494751"/>
              </a:xfrm>
              <a:prstGeom prst="rect">
                <a:avLst/>
              </a:prstGeom>
              <a:blipFill>
                <a:blip r:embed="rId14"/>
                <a:stretch>
                  <a:fillRect l="-1948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5C4ECA1-277A-E144-A148-03A335DF43FC}"/>
                  </a:ext>
                </a:extLst>
              </p:cNvPr>
              <p:cNvSpPr/>
              <p:nvPr/>
            </p:nvSpPr>
            <p:spPr>
              <a:xfrm>
                <a:off x="159452" y="5826152"/>
                <a:ext cx="3799425" cy="7371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Edp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8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𝟏𝟕</m:t>
                            </m:r>
                            <m:r>
                              <a:rPr lang="en-US" sz="28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8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r>
                              <a:rPr lang="en-US" sz="28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𝟏𝟎𝟎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- 0.175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5C4ECA1-277A-E144-A148-03A335DF4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2" y="5826152"/>
                <a:ext cx="3799425" cy="737189"/>
              </a:xfrm>
              <a:prstGeom prst="rect">
                <a:avLst/>
              </a:prstGeom>
              <a:blipFill>
                <a:blip r:embed="rId15"/>
                <a:stretch>
                  <a:fillRect l="-1333" r="-1333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7DE62F4-95C4-2B48-B8B2-A04782C6F4BF}"/>
                  </a:ext>
                </a:extLst>
              </p:cNvPr>
              <p:cNvSpPr/>
              <p:nvPr/>
            </p:nvSpPr>
            <p:spPr>
              <a:xfrm>
                <a:off x="615429" y="7267962"/>
                <a:ext cx="2390013" cy="5618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ar-AE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𝒅𝒑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| =  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𝑹𝑰𝑬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7DE62F4-95C4-2B48-B8B2-A04782C6F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29" y="7267962"/>
                <a:ext cx="2390013" cy="561820"/>
              </a:xfrm>
              <a:prstGeom prst="rect">
                <a:avLst/>
              </a:prstGeom>
              <a:blipFill>
                <a:blip r:embed="rId16"/>
                <a:stretch>
                  <a:fillRect l="-2646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4825C32-81F1-8D4B-9895-883184FF0804}"/>
              </a:ext>
            </a:extLst>
          </p:cNvPr>
          <p:cNvGrpSpPr/>
          <p:nvPr/>
        </p:nvGrpSpPr>
        <p:grpSpPr>
          <a:xfrm>
            <a:off x="9436251" y="4276823"/>
            <a:ext cx="2241339" cy="1465633"/>
            <a:chOff x="9482866" y="4062104"/>
            <a:chExt cx="2241339" cy="146563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8D50D29-01C2-7442-B7C8-1771805CC974}"/>
                </a:ext>
              </a:extLst>
            </p:cNvPr>
            <p:cNvGrpSpPr/>
            <p:nvPr/>
          </p:nvGrpSpPr>
          <p:grpSpPr>
            <a:xfrm>
              <a:off x="9551742" y="4487431"/>
              <a:ext cx="2172463" cy="1040306"/>
              <a:chOff x="6465818" y="5039279"/>
              <a:chExt cx="2184731" cy="993080"/>
            </a:xfrm>
          </p:grpSpPr>
          <p:sp>
            <p:nvSpPr>
              <p:cNvPr id="22" name="D = 70 - 0.3P">
                <a:extLst>
                  <a:ext uri="{FF2B5EF4-FFF2-40B4-BE49-F238E27FC236}">
                    <a16:creationId xmlns:a16="http://schemas.microsoft.com/office/drawing/2014/main" id="{919B9918-028E-AC4B-92EE-062BABBA88BD}"/>
                  </a:ext>
                </a:extLst>
              </p:cNvPr>
              <p:cNvSpPr txBox="1"/>
              <p:nvPr/>
            </p:nvSpPr>
            <p:spPr>
              <a:xfrm>
                <a:off x="6465818" y="5039279"/>
                <a:ext cx="1995725" cy="5334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l"/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 = - 2.7</a:t>
                </a:r>
                <a:endParaRPr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D = 70 - 0.3P">
                <a:extLst>
                  <a:ext uri="{FF2B5EF4-FFF2-40B4-BE49-F238E27FC236}">
                    <a16:creationId xmlns:a16="http://schemas.microsoft.com/office/drawing/2014/main" id="{BDF917A1-3261-BB4F-8E78-B2E9891CB695}"/>
                  </a:ext>
                </a:extLst>
              </p:cNvPr>
              <p:cNvSpPr txBox="1"/>
              <p:nvPr/>
            </p:nvSpPr>
            <p:spPr>
              <a:xfrm>
                <a:off x="6523202" y="5498880"/>
                <a:ext cx="2127347" cy="5334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l"/>
                <a:r>
                  <a:rPr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2800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25</a:t>
                </a:r>
                <a:endParaRPr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D = 70 - 0.3P">
              <a:extLst>
                <a:ext uri="{FF2B5EF4-FFF2-40B4-BE49-F238E27FC236}">
                  <a16:creationId xmlns:a16="http://schemas.microsoft.com/office/drawing/2014/main" id="{0D8571FD-754F-5042-9778-F27C7484A0B4}"/>
                </a:ext>
              </a:extLst>
            </p:cNvPr>
            <p:cNvSpPr txBox="1"/>
            <p:nvPr/>
          </p:nvSpPr>
          <p:spPr>
            <a:xfrm>
              <a:off x="9482866" y="4062104"/>
              <a:ext cx="1019510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pPr algn="l"/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Given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29652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4" grpId="0" animBg="1"/>
      <p:bldP spid="6" grpId="0"/>
      <p:bldP spid="26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gression (contd.)"/>
          <p:cNvSpPr txBox="1"/>
          <p:nvPr/>
        </p:nvSpPr>
        <p:spPr>
          <a:xfrm>
            <a:off x="1605071" y="262636"/>
            <a:ext cx="10464801" cy="382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defTabSz="257047">
              <a:defRPr sz="3500"/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contd.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3" name="Table 4"/>
          <p:cNvGraphicFramePr/>
          <p:nvPr>
            <p:extLst>
              <p:ext uri="{D42A27DB-BD31-4B8C-83A1-F6EECF244321}">
                <p14:modId xmlns:p14="http://schemas.microsoft.com/office/powerpoint/2010/main" val="1335253090"/>
              </p:ext>
            </p:extLst>
          </p:nvPr>
        </p:nvGraphicFramePr>
        <p:xfrm>
          <a:off x="1173894" y="3376814"/>
          <a:ext cx="2772093" cy="207148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305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Income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Demand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9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10000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59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25000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600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We study functional relationships between the types of variables. Hence,"/>
          <p:cNvSpPr txBox="1">
            <a:spLocks noGrp="1"/>
          </p:cNvSpPr>
          <p:nvPr>
            <p:ph type="subTitle" sz="quarter" idx="1"/>
          </p:nvPr>
        </p:nvSpPr>
        <p:spPr>
          <a:xfrm>
            <a:off x="500681" y="874778"/>
            <a:ext cx="12003438" cy="850524"/>
          </a:xfrm>
          <a:prstGeom prst="rect">
            <a:avLst/>
          </a:prstGeom>
        </p:spPr>
        <p:txBody>
          <a:bodyPr/>
          <a:lstStyle/>
          <a:p>
            <a:pPr algn="just" defTabSz="560831">
              <a:defRPr sz="3552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Elasticity of Demand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7D0FE40-B210-BF45-899D-5E7522D60C3B}"/>
                  </a:ext>
                </a:extLst>
              </p:cNvPr>
              <p:cNvSpPr txBox="1"/>
              <p:nvPr/>
            </p:nvSpPr>
            <p:spPr>
              <a:xfrm>
                <a:off x="1478223" y="1854008"/>
                <a:ext cx="9717742" cy="98456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spAutoFit/>
              </a:bodyPr>
              <a:lstStyle>
                <a:lvl1pPr algn="just">
                  <a:defRPr sz="3700" b="1">
                    <a:latin typeface="+mj-lt"/>
                    <a:ea typeface="+mj-ea"/>
                    <a:cs typeface="+mj-cs"/>
                    <a:sym typeface="Helvetica Neue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800" b="1" i="1" baseline="-2500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en-US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den>
                      </m:f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𝑫𝒙</m:t>
                              </m:r>
                            </m:num>
                            <m:den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ar-AE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r-AE" sz="280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ar-AE" sz="28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num>
                            <m:den>
                              <m:r>
                                <a:rPr lang="en-US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800" b="1" i="1" baseline="-2500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C7D0FE40-B210-BF45-899D-5E7522D60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223" y="1854008"/>
                <a:ext cx="9717742" cy="984565"/>
              </a:xfrm>
              <a:prstGeom prst="rect">
                <a:avLst/>
              </a:prstGeom>
              <a:blipFill>
                <a:blip r:embed="rId2"/>
                <a:stretch>
                  <a:fillRect l="-392" t="-1266" b="-126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F40709D-C82C-E741-B3FF-314AD218BEC5}"/>
              </a:ext>
            </a:extLst>
          </p:cNvPr>
          <p:cNvGrpSpPr/>
          <p:nvPr/>
        </p:nvGrpSpPr>
        <p:grpSpPr>
          <a:xfrm>
            <a:off x="8758801" y="3067209"/>
            <a:ext cx="3745318" cy="1095003"/>
            <a:chOff x="7338760" y="4701913"/>
            <a:chExt cx="3745318" cy="1095003"/>
          </a:xfrm>
        </p:grpSpPr>
        <p:sp>
          <p:nvSpPr>
            <p:cNvPr id="9" name="D = 70 - 0.3P">
              <a:extLst>
                <a:ext uri="{FF2B5EF4-FFF2-40B4-BE49-F238E27FC236}">
                  <a16:creationId xmlns:a16="http://schemas.microsoft.com/office/drawing/2014/main" id="{36B42FF5-B389-DE4F-AB91-D623F381D2D2}"/>
                </a:ext>
              </a:extLst>
            </p:cNvPr>
            <p:cNvSpPr txBox="1"/>
            <p:nvPr/>
          </p:nvSpPr>
          <p:spPr>
            <a:xfrm>
              <a:off x="7746380" y="4701913"/>
              <a:ext cx="2678618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70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00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.3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 = 70 - 0.3P">
              <a:extLst>
                <a:ext uri="{FF2B5EF4-FFF2-40B4-BE49-F238E27FC236}">
                  <a16:creationId xmlns:a16="http://schemas.microsoft.com/office/drawing/2014/main" id="{DCE5AAEE-4E2E-264B-98CC-361B8AC9E4DA}"/>
                </a:ext>
              </a:extLst>
            </p:cNvPr>
            <p:cNvSpPr txBox="1"/>
            <p:nvPr/>
          </p:nvSpPr>
          <p:spPr>
            <a:xfrm>
              <a:off x="7338760" y="5263437"/>
              <a:ext cx="3745318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 Y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20k, </a:t>
              </a:r>
              <a:r>
                <a:rPr lang="en-US" sz="28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800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dY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? 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90DCBD-A9FF-2541-8745-080E1427F5D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99808" y="9142151"/>
            <a:ext cx="205184" cy="348813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E79BD7E-A5C9-3A4D-9102-67F7A97A41BB}"/>
                  </a:ext>
                </a:extLst>
              </p:cNvPr>
              <p:cNvSpPr/>
              <p:nvPr/>
            </p:nvSpPr>
            <p:spPr>
              <a:xfrm>
                <a:off x="990097" y="5802073"/>
                <a:ext cx="2136519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ar-AE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𝟓𝟎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𝟏𝟓𝟎</m:t>
                          </m:r>
                        </m:den>
                      </m:f>
                    </m:oMath>
                  </m:oMathPara>
                </a14:m>
                <a:endParaRPr lang="en-US" sz="28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E79BD7E-A5C9-3A4D-9102-67F7A97A4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97" y="5802073"/>
                <a:ext cx="2136519" cy="910570"/>
              </a:xfrm>
              <a:prstGeom prst="rect">
                <a:avLst/>
              </a:prstGeom>
              <a:blipFill>
                <a:blip r:embed="rId3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 = 70 - 0.3P">
                <a:extLst>
                  <a:ext uri="{FF2B5EF4-FFF2-40B4-BE49-F238E27FC236}">
                    <a16:creationId xmlns:a16="http://schemas.microsoft.com/office/drawing/2014/main" id="{6C1E893F-EA38-0A48-A4B8-B56781BE31E5}"/>
                  </a:ext>
                </a:extLst>
              </p:cNvPr>
              <p:cNvSpPr txBox="1"/>
              <p:nvPr/>
            </p:nvSpPr>
            <p:spPr>
              <a:xfrm>
                <a:off x="9062133" y="7330934"/>
                <a:ext cx="3441986" cy="9211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800" baseline="-25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dY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ar-AE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ar-AE" sz="28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𝟐𝟎𝟎𝟎𝟎</m:t>
                              </m:r>
                            </m:num>
                            <m:den>
                              <m:r>
                                <a:rPr lang="ar-AE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𝟏𝟑𝟎𝟎𝟎</m:t>
                              </m:r>
                            </m:den>
                          </m:f>
                          <m:r>
                            <a:rPr lang="ar-AE" sz="2800" b="1" i="1" baseline="-2500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ar-AE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D = 70 - 0.3P">
                <a:extLst>
                  <a:ext uri="{FF2B5EF4-FFF2-40B4-BE49-F238E27FC236}">
                    <a16:creationId xmlns:a16="http://schemas.microsoft.com/office/drawing/2014/main" id="{6C1E893F-EA38-0A48-A4B8-B56781BE3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133" y="7330934"/>
                <a:ext cx="3441986" cy="921150"/>
              </a:xfrm>
              <a:prstGeom prst="rect">
                <a:avLst/>
              </a:prstGeom>
              <a:blipFill>
                <a:blip r:embed="rId4"/>
                <a:stretch>
                  <a:fillRect l="-2206" r="-2941" b="-68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D = 70 - 0.3P">
                <a:extLst>
                  <a:ext uri="{FF2B5EF4-FFF2-40B4-BE49-F238E27FC236}">
                    <a16:creationId xmlns:a16="http://schemas.microsoft.com/office/drawing/2014/main" id="{DA117321-2839-014E-9BB0-2FAC95B27EA6}"/>
                  </a:ext>
                </a:extLst>
              </p:cNvPr>
              <p:cNvSpPr txBox="1"/>
              <p:nvPr/>
            </p:nvSpPr>
            <p:spPr>
              <a:xfrm>
                <a:off x="9367513" y="8244613"/>
                <a:ext cx="2576666" cy="52354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𝟒𝟔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𝑹𝑰𝑬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D = 70 - 0.3P">
                <a:extLst>
                  <a:ext uri="{FF2B5EF4-FFF2-40B4-BE49-F238E27FC236}">
                    <a16:creationId xmlns:a16="http://schemas.microsoft.com/office/drawing/2014/main" id="{DA117321-2839-014E-9BB0-2FAC95B27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513" y="8244613"/>
                <a:ext cx="2576666" cy="523541"/>
              </a:xfrm>
              <a:prstGeom prst="rect">
                <a:avLst/>
              </a:prstGeom>
              <a:blipFill>
                <a:blip r:embed="rId5"/>
                <a:stretch>
                  <a:fillRect b="-232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6640104A-F521-9E40-85DE-D7012042AE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3849813"/>
              </p:ext>
            </p:extLst>
          </p:nvPr>
        </p:nvGraphicFramePr>
        <p:xfrm>
          <a:off x="5219727" y="3359923"/>
          <a:ext cx="2772093" cy="207148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305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Income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Demand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92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10000</a:t>
                      </a:r>
                      <a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0</a:t>
                      </a:r>
                      <a:endParaRPr sz="2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6</a:t>
                      </a: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59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7</a:t>
                      </a: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5000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  <a:endParaRPr sz="2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3A75229-31E1-AF4B-B081-07853DAFDCD5}"/>
                  </a:ext>
                </a:extLst>
              </p:cNvPr>
              <p:cNvSpPr/>
              <p:nvPr/>
            </p:nvSpPr>
            <p:spPr>
              <a:xfrm>
                <a:off x="5052036" y="5952759"/>
                <a:ext cx="2804310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  <m:r>
                        <a:rPr lang="ar-AE" sz="2800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𝟑𝟑</m:t>
                          </m:r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𝟑𝟑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800" b="1" i="1" dirty="0">
                  <a:solidFill>
                    <a:schemeClr val="accent6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3A75229-31E1-AF4B-B081-07853DAFD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036" y="5952759"/>
                <a:ext cx="2804310" cy="901785"/>
              </a:xfrm>
              <a:prstGeom prst="rect">
                <a:avLst/>
              </a:prstGeom>
              <a:blipFill>
                <a:blip r:embed="rId6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6083B30-0667-0943-997E-F721B2EA7017}"/>
                  </a:ext>
                </a:extLst>
              </p:cNvPr>
              <p:cNvSpPr/>
              <p:nvPr/>
            </p:nvSpPr>
            <p:spPr>
              <a:xfrm>
                <a:off x="1881501" y="6903571"/>
                <a:ext cx="249023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𝑹𝑰𝑬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6083B30-0667-0943-997E-F721B2EA70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1501" y="6903571"/>
                <a:ext cx="2490230" cy="523220"/>
              </a:xfrm>
              <a:prstGeom prst="rect">
                <a:avLst/>
              </a:prstGeom>
              <a:blipFill>
                <a:blip r:embed="rId7"/>
                <a:stretch>
                  <a:fillRect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73B2CC-21A6-1F46-A8F2-1C1A71909FB8}"/>
                  </a:ext>
                </a:extLst>
              </p:cNvPr>
              <p:cNvSpPr/>
              <p:nvPr/>
            </p:nvSpPr>
            <p:spPr>
              <a:xfrm>
                <a:off x="5426339" y="6917088"/>
                <a:ext cx="320673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773B2CC-21A6-1F46-A8F2-1C1A71909F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339" y="6917088"/>
                <a:ext cx="3206732" cy="523220"/>
              </a:xfrm>
              <a:prstGeom prst="rect">
                <a:avLst/>
              </a:prstGeom>
              <a:blipFill>
                <a:blip r:embed="rId8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D = 70 - 0.3P">
            <a:extLst>
              <a:ext uri="{FF2B5EF4-FFF2-40B4-BE49-F238E27FC236}">
                <a16:creationId xmlns:a16="http://schemas.microsoft.com/office/drawing/2014/main" id="{6175918C-EB01-604F-87DB-DD737348DE97}"/>
              </a:ext>
            </a:extLst>
          </p:cNvPr>
          <p:cNvSpPr txBox="1"/>
          <p:nvPr/>
        </p:nvSpPr>
        <p:spPr>
          <a:xfrm>
            <a:off x="8993101" y="6214331"/>
            <a:ext cx="3580050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 algn="just"/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70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*20000</a:t>
            </a:r>
          </a:p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8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13000</a:t>
            </a:r>
            <a:endParaRPr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10119D-F859-AB48-AE96-99B360C389D6}"/>
              </a:ext>
            </a:extLst>
          </p:cNvPr>
          <p:cNvGrpSpPr/>
          <p:nvPr/>
        </p:nvGrpSpPr>
        <p:grpSpPr>
          <a:xfrm>
            <a:off x="9510790" y="4461798"/>
            <a:ext cx="2241339" cy="1452946"/>
            <a:chOff x="9482866" y="4062104"/>
            <a:chExt cx="2241339" cy="145294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FDCFE4B-01D7-624D-925A-6643C77A6306}"/>
                </a:ext>
              </a:extLst>
            </p:cNvPr>
            <p:cNvGrpSpPr/>
            <p:nvPr/>
          </p:nvGrpSpPr>
          <p:grpSpPr>
            <a:xfrm>
              <a:off x="9551742" y="4500114"/>
              <a:ext cx="2172463" cy="1014936"/>
              <a:chOff x="6465818" y="5051388"/>
              <a:chExt cx="2184731" cy="968862"/>
            </a:xfrm>
          </p:grpSpPr>
          <p:sp>
            <p:nvSpPr>
              <p:cNvPr id="23" name="D = 70 - 0.3P">
                <a:extLst>
                  <a:ext uri="{FF2B5EF4-FFF2-40B4-BE49-F238E27FC236}">
                    <a16:creationId xmlns:a16="http://schemas.microsoft.com/office/drawing/2014/main" id="{CA611523-A0E0-BD48-8A24-1BC54DEF3164}"/>
                  </a:ext>
                </a:extLst>
              </p:cNvPr>
              <p:cNvSpPr txBox="1"/>
              <p:nvPr/>
            </p:nvSpPr>
            <p:spPr>
              <a:xfrm>
                <a:off x="6465818" y="5051388"/>
                <a:ext cx="2081163" cy="50926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non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l"/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Slope = + 0.3</a:t>
                </a:r>
                <a:endParaRPr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D = 70 - 0.3P">
                <a:extLst>
                  <a:ext uri="{FF2B5EF4-FFF2-40B4-BE49-F238E27FC236}">
                    <a16:creationId xmlns:a16="http://schemas.microsoft.com/office/drawing/2014/main" id="{7D2E78DF-553B-1942-BA1D-2CFB0C5153F4}"/>
                  </a:ext>
                </a:extLst>
              </p:cNvPr>
              <p:cNvSpPr txBox="1"/>
              <p:nvPr/>
            </p:nvSpPr>
            <p:spPr>
              <a:xfrm>
                <a:off x="6523202" y="5510989"/>
                <a:ext cx="2127347" cy="50926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l"/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20000</a:t>
                </a:r>
                <a:endParaRPr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" name="D = 70 - 0.3P">
              <a:extLst>
                <a:ext uri="{FF2B5EF4-FFF2-40B4-BE49-F238E27FC236}">
                  <a16:creationId xmlns:a16="http://schemas.microsoft.com/office/drawing/2014/main" id="{6612CC81-6A06-0944-8166-12EDEC02A2FB}"/>
                </a:ext>
              </a:extLst>
            </p:cNvPr>
            <p:cNvSpPr txBox="1"/>
            <p:nvPr/>
          </p:nvSpPr>
          <p:spPr>
            <a:xfrm>
              <a:off x="9482866" y="4062104"/>
              <a:ext cx="1139736" cy="53347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pPr algn="l"/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Given: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12703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animBg="1" advAuto="0"/>
      <p:bldP spid="4" grpId="0"/>
      <p:bldP spid="13" grpId="0" animBg="1"/>
      <p:bldP spid="15" grpId="0" animBg="1"/>
      <p:bldP spid="16" grpId="0"/>
      <p:bldP spid="17" grpId="0"/>
      <p:bldP spid="18" grpId="0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We study functional relationships between the types of variables. Hence,"/>
          <p:cNvSpPr txBox="1">
            <a:spLocks noGrp="1"/>
          </p:cNvSpPr>
          <p:nvPr>
            <p:ph type="subTitle" sz="quarter" idx="1"/>
          </p:nvPr>
        </p:nvSpPr>
        <p:spPr>
          <a:xfrm>
            <a:off x="627529" y="863392"/>
            <a:ext cx="12003438" cy="85052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 defTabSz="572516">
              <a:defRPr sz="3626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Promotional Elasticity of Demand</a:t>
            </a:r>
          </a:p>
        </p:txBody>
      </p:sp>
      <p:sp>
        <p:nvSpPr>
          <p:cNvPr id="288" name="Regression (contd.)"/>
          <p:cNvSpPr txBox="1"/>
          <p:nvPr/>
        </p:nvSpPr>
        <p:spPr>
          <a:xfrm>
            <a:off x="1605071" y="262636"/>
            <a:ext cx="10464801" cy="40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92500" lnSpcReduction="20000"/>
          </a:bodyPr>
          <a:lstStyle>
            <a:lvl1pPr defTabSz="257047">
              <a:defRPr sz="3500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0" name="Table 4"/>
          <p:cNvGraphicFramePr/>
          <p:nvPr>
            <p:extLst>
              <p:ext uri="{D42A27DB-BD31-4B8C-83A1-F6EECF244321}">
                <p14:modId xmlns:p14="http://schemas.microsoft.com/office/powerpoint/2010/main" val="3881442848"/>
              </p:ext>
            </p:extLst>
          </p:nvPr>
        </p:nvGraphicFramePr>
        <p:xfrm>
          <a:off x="1605071" y="3536837"/>
          <a:ext cx="3464243" cy="2025698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998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Promo Exp.</a:t>
                      </a:r>
                      <a:endParaRPr sz="2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Demand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1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18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80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lang="en-US"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9</a:t>
                      </a:r>
                      <a:r>
                        <a:rPr sz="2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CAB9E2F-BA11-9B43-8CAC-727C2F9A2AE5}"/>
                  </a:ext>
                </a:extLst>
              </p:cNvPr>
              <p:cNvSpPr txBox="1"/>
              <p:nvPr/>
            </p:nvSpPr>
            <p:spPr>
              <a:xfrm>
                <a:off x="2244911" y="1623559"/>
                <a:ext cx="9717742" cy="11106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spAutoFit/>
              </a:bodyPr>
              <a:lstStyle>
                <a:lvl1pPr algn="just">
                  <a:defRPr sz="3700" b="1">
                    <a:latin typeface="+mj-lt"/>
                    <a:ea typeface="+mj-ea"/>
                    <a:cs typeface="+mj-cs"/>
                    <a:sym typeface="Helvetica Neue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32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ar-AE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ar-AE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𝑫𝒙</m:t>
                          </m:r>
                        </m:num>
                        <m:den>
                          <m:r>
                            <a:rPr lang="ar-AE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  <m:r>
                        <a:rPr lang="ar-AE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ar-AE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3200" b="1" i="1" baseline="-2500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ar-AE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sz="3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ar-AE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lang="en-US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32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32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32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ar-AE" sz="32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ar-AE" sz="32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3200" i="1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num>
                            <m:den>
                              <m:r>
                                <a:rPr lang="en-US" sz="3200" i="1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3200" i="1" baseline="-25000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8CAB9E2F-BA11-9B43-8CAC-727C2F9A2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4911" y="1623559"/>
                <a:ext cx="9717742" cy="1110689"/>
              </a:xfrm>
              <a:prstGeom prst="rect">
                <a:avLst/>
              </a:prstGeom>
              <a:blipFill>
                <a:blip r:embed="rId2"/>
                <a:stretch>
                  <a:fillRect l="-522" t="-3371" b="-123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FC89375B-78DF-5041-B4A8-1368C769FB2E}"/>
              </a:ext>
            </a:extLst>
          </p:cNvPr>
          <p:cNvGrpSpPr/>
          <p:nvPr/>
        </p:nvGrpSpPr>
        <p:grpSpPr>
          <a:xfrm>
            <a:off x="7598658" y="3422920"/>
            <a:ext cx="3036013" cy="1102415"/>
            <a:chOff x="6056326" y="4835197"/>
            <a:chExt cx="5053472" cy="1110496"/>
          </a:xfrm>
        </p:grpSpPr>
        <p:sp>
          <p:nvSpPr>
            <p:cNvPr id="9" name="D = 70 - 0.3P">
              <a:extLst>
                <a:ext uri="{FF2B5EF4-FFF2-40B4-BE49-F238E27FC236}">
                  <a16:creationId xmlns:a16="http://schemas.microsoft.com/office/drawing/2014/main" id="{FC5DA453-5386-594C-9073-51CFA52717D4}"/>
                </a:ext>
              </a:extLst>
            </p:cNvPr>
            <p:cNvSpPr txBox="1"/>
            <p:nvPr/>
          </p:nvSpPr>
          <p:spPr>
            <a:xfrm>
              <a:off x="6131151" y="4835197"/>
              <a:ext cx="4303465" cy="5373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pPr algn="just"/>
              <a:r>
                <a:rPr sz="28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2800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0.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7A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D = 70 - 0.3P">
              <a:extLst>
                <a:ext uri="{FF2B5EF4-FFF2-40B4-BE49-F238E27FC236}">
                  <a16:creationId xmlns:a16="http://schemas.microsoft.com/office/drawing/2014/main" id="{0FD2846B-DD70-DE49-8C0F-DBFDE551A1B2}"/>
                </a:ext>
              </a:extLst>
            </p:cNvPr>
            <p:cNvSpPr txBox="1"/>
            <p:nvPr/>
          </p:nvSpPr>
          <p:spPr>
            <a:xfrm>
              <a:off x="6056326" y="5408304"/>
              <a:ext cx="5053472" cy="53738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anchor="ctr">
              <a:spAutoFit/>
            </a:bodyPr>
            <a:lstStyle>
              <a:lvl1pPr>
                <a:defRPr sz="5000"/>
              </a:lvl1pPr>
            </a:lstStyle>
            <a:p>
              <a:pPr algn="just"/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At A</a:t>
              </a:r>
              <a:r>
                <a:rPr lang="en-US" sz="2800" baseline="-250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50, </a:t>
              </a:r>
              <a:r>
                <a:rPr lang="en-US" sz="28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800" baseline="-25000" dirty="0" err="1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</a:t>
              </a:r>
              <a:r>
                <a: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? </a:t>
              </a:r>
              <a:endParaRPr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E96E39-CD59-504D-A35F-310998C669B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98C42F-4F5F-6B43-A6B1-D13D51CCFF8B}"/>
                  </a:ext>
                </a:extLst>
              </p:cNvPr>
              <p:cNvSpPr/>
              <p:nvPr/>
            </p:nvSpPr>
            <p:spPr>
              <a:xfrm>
                <a:off x="7308983" y="7146544"/>
                <a:ext cx="3855163" cy="9196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800" baseline="-25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dA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ar-AE" sz="2800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𝟓𝟎</m:t>
                              </m:r>
                            </m:num>
                            <m:den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98C42F-4F5F-6B43-A6B1-D13D51CCF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983" y="7146544"/>
                <a:ext cx="3855163" cy="919675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D09C5C-D84E-EE44-91F1-50137A134514}"/>
                  </a:ext>
                </a:extLst>
              </p:cNvPr>
              <p:cNvSpPr/>
              <p:nvPr/>
            </p:nvSpPr>
            <p:spPr>
              <a:xfrm>
                <a:off x="1830377" y="5931565"/>
                <a:ext cx="2211136" cy="721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 err="1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𝟏𝟐𝟓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7D09C5C-D84E-EE44-91F1-50137A1345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377" y="5931565"/>
                <a:ext cx="2211136" cy="721031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0046297-B413-134A-9E11-B0732090E7C5}"/>
              </a:ext>
            </a:extLst>
          </p:cNvPr>
          <p:cNvSpPr/>
          <p:nvPr/>
        </p:nvSpPr>
        <p:spPr>
          <a:xfrm>
            <a:off x="2670442" y="6985215"/>
            <a:ext cx="22111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2.08 (RE)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ADCC9-85B0-F246-A066-925B1946DA07}"/>
              </a:ext>
            </a:extLst>
          </p:cNvPr>
          <p:cNvSpPr/>
          <p:nvPr/>
        </p:nvSpPr>
        <p:spPr>
          <a:xfrm>
            <a:off x="8472144" y="8245872"/>
            <a:ext cx="38551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0.77     (RIE)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6DC6E1-33BF-C54A-AF4E-4E5B656B5218}"/>
                  </a:ext>
                </a:extLst>
              </p:cNvPr>
              <p:cNvSpPr/>
              <p:nvPr/>
            </p:nvSpPr>
            <p:spPr>
              <a:xfrm>
                <a:off x="7423902" y="4748589"/>
                <a:ext cx="3855163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Given: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Slope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sz="2800" b="1" i="1" dirty="0">
                  <a:solidFill>
                    <a:schemeClr val="accent3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𝐏𝐫𝐨𝐦𝐨</m:t>
                      </m:r>
                      <m:r>
                        <a:rPr lang="en-US" sz="2800" b="1" i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𝐄𝐱𝐩</m:t>
                      </m:r>
                      <m:r>
                        <a:rPr lang="en-US" sz="2800" b="1" i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US" sz="2800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86DC6E1-33BF-C54A-AF4E-4E5B656B5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902" y="4748589"/>
                <a:ext cx="3855163" cy="1384995"/>
              </a:xfrm>
              <a:prstGeom prst="rect">
                <a:avLst/>
              </a:prstGeom>
              <a:blipFill>
                <a:blip r:embed="rId5"/>
                <a:stretch>
                  <a:fillRect l="-3279" t="-4545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 = 70 - 0.3P">
            <a:extLst>
              <a:ext uri="{FF2B5EF4-FFF2-40B4-BE49-F238E27FC236}">
                <a16:creationId xmlns:a16="http://schemas.microsoft.com/office/drawing/2014/main" id="{03E98425-DD33-9348-A27D-654AFE1F324B}"/>
              </a:ext>
            </a:extLst>
          </p:cNvPr>
          <p:cNvSpPr txBox="1"/>
          <p:nvPr/>
        </p:nvSpPr>
        <p:spPr>
          <a:xfrm>
            <a:off x="7849854" y="6429027"/>
            <a:ext cx="4334285" cy="533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5000"/>
            </a:lvl1pPr>
          </a:lstStyle>
          <a:p>
            <a:pPr algn="just"/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baseline="-25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7*50 =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sz="2800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7839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dvAuto="0"/>
      <p:bldP spid="4" grpId="0"/>
      <p:bldP spid="5" grpId="0"/>
      <p:bldP spid="12" grpId="0"/>
      <p:bldP spid="13" grpId="0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We study functional relationships between the types of variables. Hence,"/>
          <p:cNvSpPr txBox="1">
            <a:spLocks noGrp="1"/>
          </p:cNvSpPr>
          <p:nvPr>
            <p:ph type="subTitle" sz="quarter" idx="1"/>
          </p:nvPr>
        </p:nvSpPr>
        <p:spPr>
          <a:xfrm>
            <a:off x="300858" y="931219"/>
            <a:ext cx="12024491" cy="53347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defRPr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Elasticity of Demand</a:t>
            </a:r>
          </a:p>
        </p:txBody>
      </p:sp>
      <p:sp>
        <p:nvSpPr>
          <p:cNvPr id="294" name="Regression (contd.)"/>
          <p:cNvSpPr txBox="1"/>
          <p:nvPr/>
        </p:nvSpPr>
        <p:spPr>
          <a:xfrm>
            <a:off x="1605071" y="262636"/>
            <a:ext cx="10464801" cy="403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Autofit/>
          </a:bodyPr>
          <a:lstStyle>
            <a:lvl1pPr defTabSz="257047">
              <a:defRPr sz="3500"/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and Elasticity (= Responsiveness)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contd.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6" name="Table 4"/>
          <p:cNvGraphicFramePr/>
          <p:nvPr>
            <p:extLst>
              <p:ext uri="{D42A27DB-BD31-4B8C-83A1-F6EECF244321}">
                <p14:modId xmlns:p14="http://schemas.microsoft.com/office/powerpoint/2010/main" val="1048538713"/>
              </p:ext>
            </p:extLst>
          </p:nvPr>
        </p:nvGraphicFramePr>
        <p:xfrm>
          <a:off x="1203505" y="4902914"/>
          <a:ext cx="1249680" cy="158887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33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P</a:t>
                      </a:r>
                      <a:r>
                        <a:rPr lang="en-US" sz="2800" b="1" baseline="-250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Y</a:t>
                      </a:r>
                      <a:endParaRPr sz="2800" b="1" baseline="-25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</a:t>
                      </a:r>
                      <a:r>
                        <a:rPr lang="en-US" sz="2800" b="1" baseline="-250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baseline="-25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38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80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900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97" name="Dy = 25 + 0.7Px"/>
              <p:cNvSpPr txBox="1"/>
              <p:nvPr/>
            </p:nvSpPr>
            <p:spPr>
              <a:xfrm>
                <a:off x="924550" y="6834906"/>
                <a:ext cx="2853260" cy="964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just"/>
                <a:r>
                  <a:rPr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8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25 + 0.7P</a:t>
                </a:r>
                <a:r>
                  <a:rPr lang="en-US" sz="28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endParaRPr lang="en-US"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800" baseline="-250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dXY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 P</a:t>
                </a:r>
                <a:r>
                  <a:rPr lang="en-US" sz="28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</a:t>
                </a:r>
                <a:endParaRPr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7" name="Dy = 25 + 0.7Px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50" y="6834906"/>
                <a:ext cx="2853260" cy="964367"/>
              </a:xfrm>
              <a:prstGeom prst="rect">
                <a:avLst/>
              </a:prstGeom>
              <a:blipFill>
                <a:blip r:embed="rId2"/>
                <a:stretch>
                  <a:fillRect l="-5752" t="-6579" b="-184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98" name="Table 4"/>
          <p:cNvGraphicFramePr/>
          <p:nvPr>
            <p:extLst>
              <p:ext uri="{D42A27DB-BD31-4B8C-83A1-F6EECF244321}">
                <p14:modId xmlns:p14="http://schemas.microsoft.com/office/powerpoint/2010/main" val="3371224464"/>
              </p:ext>
            </p:extLst>
          </p:nvPr>
        </p:nvGraphicFramePr>
        <p:xfrm>
          <a:off x="7599819" y="4719958"/>
          <a:ext cx="1249680" cy="1641019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535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169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P</a:t>
                      </a:r>
                      <a:r>
                        <a:rPr lang="en-US" sz="2800" b="1" baseline="-25000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Y</a:t>
                      </a:r>
                      <a:endParaRPr sz="2800" b="1" baseline="-25000" dirty="0">
                        <a:solidFill>
                          <a:srgbClr val="941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D</a:t>
                      </a:r>
                      <a:r>
                        <a:rPr lang="en-US" sz="2800" b="1" baseline="-25000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X</a:t>
                      </a:r>
                      <a:endParaRPr sz="2800" b="1" baseline="-25000" dirty="0">
                        <a:solidFill>
                          <a:srgbClr val="9411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50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900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80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2800" b="1" dirty="0">
                          <a:solidFill>
                            <a:srgbClr val="9411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a:t>400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0" name="Competitive Goods"/>
          <p:cNvSpPr txBox="1"/>
          <p:nvPr/>
        </p:nvSpPr>
        <p:spPr>
          <a:xfrm>
            <a:off x="842440" y="2778399"/>
            <a:ext cx="4021821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b="1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Substitute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Goods</a:t>
            </a:r>
          </a:p>
        </p:txBody>
      </p:sp>
      <p:sp>
        <p:nvSpPr>
          <p:cNvPr id="301" name="Supportive Goods"/>
          <p:cNvSpPr txBox="1"/>
          <p:nvPr/>
        </p:nvSpPr>
        <p:spPr>
          <a:xfrm>
            <a:off x="6972312" y="2781903"/>
            <a:ext cx="5353037" cy="964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3000" b="1">
                <a:solidFill>
                  <a:srgbClr val="941100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Supportive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Complementary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87E5535-F7A2-F240-A022-779F08A8D8BA}"/>
                  </a:ext>
                </a:extLst>
              </p:cNvPr>
              <p:cNvSpPr txBox="1"/>
              <p:nvPr/>
            </p:nvSpPr>
            <p:spPr>
              <a:xfrm>
                <a:off x="1762440" y="1464698"/>
                <a:ext cx="9717742" cy="9990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spAutoFit/>
              </a:bodyPr>
              <a:lstStyle>
                <a:lvl1pPr algn="just">
                  <a:defRPr sz="3700" b="1">
                    <a:latin typeface="+mj-lt"/>
                    <a:ea typeface="+mj-ea"/>
                    <a:cs typeface="+mj-cs"/>
                    <a:sym typeface="Helvetica Neue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sz="28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2800" b="1" i="1" baseline="-2500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 ∆</m:t>
                          </m:r>
                          <m:r>
                            <a:rPr lang="ar-AE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sz="2800" b="1" i="1" baseline="-2500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den>
                      </m:f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800" b="1" i="1" baseline="-2500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sz="2800" b="1" i="1" baseline="-2500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ar-AE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𝑫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sz="2800" b="1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ar-AE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r-AE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ar-AE" sz="28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ar-AE" sz="2800" i="1">
                              <a:solidFill>
                                <a:srgbClr val="E3167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800" i="1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1" i="1" smtClean="0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en-US" sz="2800" b="1" i="1" baseline="-25000" smtClean="0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num>
                            <m:den>
                              <m:r>
                                <a:rPr lang="en-US" sz="2800" b="1" i="1" smtClean="0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2800" b="1" i="1" baseline="-25000" smtClean="0">
                                  <a:solidFill>
                                    <a:srgbClr val="E3167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hrough Regression we convert the data into a LINEAR equation:…">
                <a:extLst>
                  <a:ext uri="{FF2B5EF4-FFF2-40B4-BE49-F238E27FC236}">
                    <a16:creationId xmlns:a16="http://schemas.microsoft.com/office/drawing/2014/main" id="{387E5535-F7A2-F240-A022-779F08A8D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440" y="1464698"/>
                <a:ext cx="9717742" cy="999056"/>
              </a:xfrm>
              <a:prstGeom prst="rect">
                <a:avLst/>
              </a:prstGeom>
              <a:blipFill>
                <a:blip r:embed="rId3"/>
                <a:stretch>
                  <a:fillRect l="-392" t="-1266" b="-1265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EA1A443-ED1C-0E41-9792-F98CA1C12ECC}"/>
              </a:ext>
            </a:extLst>
          </p:cNvPr>
          <p:cNvGrpSpPr/>
          <p:nvPr/>
        </p:nvGrpSpPr>
        <p:grpSpPr>
          <a:xfrm>
            <a:off x="559786" y="3742354"/>
            <a:ext cx="4612063" cy="600726"/>
            <a:chOff x="896471" y="4446486"/>
            <a:chExt cx="4612063" cy="60072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D9345AD-69E7-9745-B13A-9C489D243684}"/>
                </a:ext>
              </a:extLst>
            </p:cNvPr>
            <p:cNvSpPr/>
            <p:nvPr/>
          </p:nvSpPr>
          <p:spPr>
            <a:xfrm>
              <a:off x="896471" y="4516017"/>
              <a:ext cx="4612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P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D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D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0455136-6734-DC41-897E-D89E8AEB0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211" y="4516018"/>
              <a:ext cx="0" cy="531194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647CE1E-7BAB-E143-AD52-C0866AE13469}"/>
                </a:ext>
              </a:extLst>
            </p:cNvPr>
            <p:cNvCxnSpPr>
              <a:cxnSpLocks/>
            </p:cNvCxnSpPr>
            <p:nvPr/>
          </p:nvCxnSpPr>
          <p:spPr>
            <a:xfrm>
              <a:off x="2142564" y="4746849"/>
              <a:ext cx="546848" cy="0"/>
            </a:xfrm>
            <a:prstGeom prst="straightConnector1">
              <a:avLst/>
            </a:prstGeom>
            <a:noFill/>
            <a:ln w="57150" cap="flat">
              <a:solidFill>
                <a:schemeClr val="accent5"/>
              </a:solidFill>
              <a:prstDash val="sysDot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C62369-8DE9-5F4C-973C-B8F31D4205A2}"/>
                </a:ext>
              </a:extLst>
            </p:cNvPr>
            <p:cNvCxnSpPr>
              <a:cxnSpLocks/>
            </p:cNvCxnSpPr>
            <p:nvPr/>
          </p:nvCxnSpPr>
          <p:spPr>
            <a:xfrm>
              <a:off x="2864223" y="4446486"/>
              <a:ext cx="0" cy="600726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45FCD17-3A4F-134A-A3FB-28E084DCFB5F}"/>
                </a:ext>
              </a:extLst>
            </p:cNvPr>
            <p:cNvCxnSpPr>
              <a:cxnSpLocks/>
            </p:cNvCxnSpPr>
            <p:nvPr/>
          </p:nvCxnSpPr>
          <p:spPr>
            <a:xfrm>
              <a:off x="3801033" y="4746849"/>
              <a:ext cx="546848" cy="0"/>
            </a:xfrm>
            <a:prstGeom prst="straightConnector1">
              <a:avLst/>
            </a:prstGeom>
            <a:noFill/>
            <a:ln w="57150" cap="flat">
              <a:solidFill>
                <a:schemeClr val="accent5"/>
              </a:solidFill>
              <a:prstDash val="sysDot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0614DE0-C284-BF41-A3F1-A428C905D1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6822" y="4516017"/>
              <a:ext cx="0" cy="461665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EF871B-F6C7-F949-94E3-B0045A7FD641}"/>
              </a:ext>
            </a:extLst>
          </p:cNvPr>
          <p:cNvGrpSpPr/>
          <p:nvPr/>
        </p:nvGrpSpPr>
        <p:grpSpPr>
          <a:xfrm>
            <a:off x="7289211" y="3667769"/>
            <a:ext cx="4612063" cy="654306"/>
            <a:chOff x="896471" y="4419696"/>
            <a:chExt cx="4612063" cy="654306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148156E-0420-9246-955F-44C37B82234A}"/>
                </a:ext>
              </a:extLst>
            </p:cNvPr>
            <p:cNvSpPr/>
            <p:nvPr/>
          </p:nvSpPr>
          <p:spPr>
            <a:xfrm>
              <a:off x="896471" y="4516017"/>
              <a:ext cx="461206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P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D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D</a:t>
              </a:r>
              <a:r>
                <a:rPr lang="en-I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7B7B281-5206-364F-8BD3-8D089A3CE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211" y="4516018"/>
              <a:ext cx="0" cy="531194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58117B6-A3A5-4F40-BAAC-7CFAE743447A}"/>
                </a:ext>
              </a:extLst>
            </p:cNvPr>
            <p:cNvCxnSpPr>
              <a:cxnSpLocks/>
            </p:cNvCxnSpPr>
            <p:nvPr/>
          </p:nvCxnSpPr>
          <p:spPr>
            <a:xfrm>
              <a:off x="2142564" y="4746849"/>
              <a:ext cx="546848" cy="0"/>
            </a:xfrm>
            <a:prstGeom prst="straightConnector1">
              <a:avLst/>
            </a:prstGeom>
            <a:noFill/>
            <a:ln w="57150" cap="flat">
              <a:solidFill>
                <a:schemeClr val="accent5"/>
              </a:solidFill>
              <a:prstDash val="sysDot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A70FAF0-1BCF-6C47-890D-1364175E0173}"/>
                </a:ext>
              </a:extLst>
            </p:cNvPr>
            <p:cNvCxnSpPr>
              <a:cxnSpLocks/>
            </p:cNvCxnSpPr>
            <p:nvPr/>
          </p:nvCxnSpPr>
          <p:spPr>
            <a:xfrm>
              <a:off x="2864223" y="4446486"/>
              <a:ext cx="0" cy="600726"/>
            </a:xfrm>
            <a:prstGeom prst="straightConnector1">
              <a:avLst/>
            </a:prstGeom>
            <a:noFill/>
            <a:ln w="5715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6EF25BF-50AD-0B4B-8C81-FFA7D436D693}"/>
                </a:ext>
              </a:extLst>
            </p:cNvPr>
            <p:cNvCxnSpPr>
              <a:cxnSpLocks/>
            </p:cNvCxnSpPr>
            <p:nvPr/>
          </p:nvCxnSpPr>
          <p:spPr>
            <a:xfrm>
              <a:off x="3801033" y="4746849"/>
              <a:ext cx="546848" cy="0"/>
            </a:xfrm>
            <a:prstGeom prst="straightConnector1">
              <a:avLst/>
            </a:prstGeom>
            <a:noFill/>
            <a:ln w="57150" cap="flat">
              <a:solidFill>
                <a:schemeClr val="accent5"/>
              </a:solidFill>
              <a:prstDash val="sysDot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F461F0-B534-CE4F-9011-EAF57E2D43A8}"/>
                </a:ext>
              </a:extLst>
            </p:cNvPr>
            <p:cNvCxnSpPr>
              <a:cxnSpLocks/>
            </p:cNvCxnSpPr>
            <p:nvPr/>
          </p:nvCxnSpPr>
          <p:spPr>
            <a:xfrm>
              <a:off x="4598893" y="4419696"/>
              <a:ext cx="0" cy="654306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C18B2-BCF1-0A4C-9A23-08836192579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2697022" y="0"/>
            <a:ext cx="307778" cy="348813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314ACEE-A5D9-4A49-9A6D-8E621B03A849}"/>
                  </a:ext>
                </a:extLst>
              </p:cNvPr>
              <p:cNvSpPr/>
              <p:nvPr/>
            </p:nvSpPr>
            <p:spPr>
              <a:xfrm>
                <a:off x="2717491" y="4948878"/>
                <a:ext cx="2423034" cy="11519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sz="2800" b="1" i="1" baseline="-2500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𝑿𝒀</m:t>
                    </m:r>
                  </m:oMath>
                </a14:m>
                <a:r>
                  <a:rPr lang="en-US" sz="2800" dirty="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𝟏𝟐𝟓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den>
                    </m:f>
                  </m:oMath>
                </a14:m>
                <a:endParaRPr lang="en-US" sz="2800" b="1" i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𝟎𝟖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𝑹𝑬</m:t>
                      </m:r>
                      <m:r>
                        <a:rPr lang="en-US" sz="28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314ACEE-A5D9-4A49-9A6D-8E621B03A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491" y="4948878"/>
                <a:ext cx="2423034" cy="1151918"/>
              </a:xfrm>
              <a:prstGeom prst="rect">
                <a:avLst/>
              </a:prstGeom>
              <a:blipFill>
                <a:blip r:embed="rId4"/>
                <a:stretch>
                  <a:fillRect l="-524" b="-9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0E6E42-733F-824A-9E4A-7E0C4C2403F4}"/>
                  </a:ext>
                </a:extLst>
              </p:cNvPr>
              <p:cNvSpPr txBox="1"/>
              <p:nvPr/>
            </p:nvSpPr>
            <p:spPr>
              <a:xfrm>
                <a:off x="842440" y="7984938"/>
                <a:ext cx="2853260" cy="10143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400" baseline="-250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400" b="1" i="0" baseline="-250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XY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sz="24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d>
                      <m:dPr>
                        <m:ctrlPr>
                          <a:rPr lang="ar-AE" sz="24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400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𝟑𝟐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i="1" dirty="0">
                    <a:solidFill>
                      <a:schemeClr val="accent6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𝟐𝟏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𝑹𝑰𝑬</m:t>
                    </m:r>
                    <m:r>
                      <a:rPr lang="en-US" sz="2400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0E6E42-733F-824A-9E4A-7E0C4C240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40" y="7984938"/>
                <a:ext cx="2853260" cy="1014380"/>
              </a:xfrm>
              <a:prstGeom prst="rect">
                <a:avLst/>
              </a:prstGeom>
              <a:blipFill>
                <a:blip r:embed="rId5"/>
                <a:stretch>
                  <a:fillRect l="-2222" b="-1111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D1734DE-1CFD-2B46-A706-64DB785161A4}"/>
              </a:ext>
            </a:extLst>
          </p:cNvPr>
          <p:cNvGrpSpPr/>
          <p:nvPr/>
        </p:nvGrpSpPr>
        <p:grpSpPr>
          <a:xfrm>
            <a:off x="3640446" y="6698177"/>
            <a:ext cx="2103605" cy="2855955"/>
            <a:chOff x="562879" y="3973006"/>
            <a:chExt cx="4258202" cy="3946608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D2269B5-E21B-4749-8FB7-12E2B23AB8FB}"/>
                </a:ext>
              </a:extLst>
            </p:cNvPr>
            <p:cNvCxnSpPr>
              <a:cxnSpLocks/>
            </p:cNvCxnSpPr>
            <p:nvPr/>
          </p:nvCxnSpPr>
          <p:spPr>
            <a:xfrm>
              <a:off x="1605071" y="3973006"/>
              <a:ext cx="0" cy="364699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C4213D-DC63-654E-B2AC-86CFBD45D5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4720" y="7243481"/>
              <a:ext cx="3826361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C675407-ED79-AC40-81E9-D769582F1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4612" y="4340500"/>
              <a:ext cx="1859272" cy="2427854"/>
            </a:xfrm>
            <a:prstGeom prst="line">
              <a:avLst/>
            </a:prstGeom>
            <a:noFill/>
            <a:ln w="38100" cap="flat">
              <a:solidFill>
                <a:schemeClr val="accent6">
                  <a:lumMod val="75000"/>
                </a:schemeClr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C24B919-3A3A-1142-AE21-4CCA72C42922}"/>
                </a:ext>
              </a:extLst>
            </p:cNvPr>
            <p:cNvSpPr/>
            <p:nvPr/>
          </p:nvSpPr>
          <p:spPr>
            <a:xfrm>
              <a:off x="3662806" y="7243481"/>
              <a:ext cx="815010" cy="6761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Dx</a:t>
              </a:r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DC6D80-49E6-B246-8FC7-71D9AA4A9DFB}"/>
                </a:ext>
              </a:extLst>
            </p:cNvPr>
            <p:cNvSpPr/>
            <p:nvPr/>
          </p:nvSpPr>
          <p:spPr>
            <a:xfrm>
              <a:off x="562879" y="3999064"/>
              <a:ext cx="763811" cy="6761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Py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FD52E47-B783-974B-9837-66AF6B7ECB8A}"/>
                  </a:ext>
                </a:extLst>
              </p:cNvPr>
              <p:cNvSpPr/>
              <p:nvPr/>
            </p:nvSpPr>
            <p:spPr>
              <a:xfrm>
                <a:off x="9116674" y="5125770"/>
                <a:ext cx="2784599" cy="1151918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sz="2800" b="1" i="1" baseline="-250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𝑿𝒀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𝟓𝟓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</m:den>
                    </m:f>
                  </m:oMath>
                </a14:m>
                <a:endParaRPr lang="en-US" sz="2800" b="1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=− 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𝟗𝟐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𝑹𝑰𝑬</m:t>
                      </m:r>
                      <m:r>
                        <a:rPr lang="en-US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FD52E47-B783-974B-9837-66AF6B7ECB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674" y="5125770"/>
                <a:ext cx="2784599" cy="1151918"/>
              </a:xfrm>
              <a:prstGeom prst="rect">
                <a:avLst/>
              </a:prstGeom>
              <a:blipFill>
                <a:blip r:embed="rId6"/>
                <a:stretch>
                  <a:fillRect l="-2740" r="-2283" b="-97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Dy = 25 + 0.7Px">
                <a:extLst>
                  <a:ext uri="{FF2B5EF4-FFF2-40B4-BE49-F238E27FC236}">
                    <a16:creationId xmlns:a16="http://schemas.microsoft.com/office/drawing/2014/main" id="{4FCCB035-3961-B445-A201-18788D496BF6}"/>
                  </a:ext>
                </a:extLst>
              </p:cNvPr>
              <p:cNvSpPr txBox="1"/>
              <p:nvPr/>
            </p:nvSpPr>
            <p:spPr>
              <a:xfrm>
                <a:off x="7468356" y="6801600"/>
                <a:ext cx="2853260" cy="96436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50800" tIns="50800" rIns="50800" bIns="50800" anchor="ctr">
                <a:spAutoFit/>
              </a:bodyPr>
              <a:lstStyle>
                <a:lvl1pPr>
                  <a:defRPr sz="5000"/>
                </a:lvl1pPr>
              </a:lstStyle>
              <a:p>
                <a:pPr algn="just"/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IN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25 - 0.7P</a:t>
                </a:r>
                <a:r>
                  <a:rPr lang="en-IN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endParaRPr lang="en-IN" sz="2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8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IN" sz="2800" baseline="-25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dXY</m:t>
                    </m:r>
                  </m:oMath>
                </a14:m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? P</a:t>
                </a:r>
                <a:r>
                  <a:rPr lang="en-IN" sz="2800" baseline="-25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10 </a:t>
                </a:r>
              </a:p>
            </p:txBody>
          </p:sp>
        </mc:Choice>
        <mc:Fallback xmlns="">
          <p:sp>
            <p:nvSpPr>
              <p:cNvPr id="43" name="Dy = 25 + 0.7Px">
                <a:extLst>
                  <a:ext uri="{FF2B5EF4-FFF2-40B4-BE49-F238E27FC236}">
                    <a16:creationId xmlns:a16="http://schemas.microsoft.com/office/drawing/2014/main" id="{4FCCB035-3961-B445-A201-18788D496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8356" y="6801600"/>
                <a:ext cx="2853260" cy="964367"/>
              </a:xfrm>
              <a:prstGeom prst="rect">
                <a:avLst/>
              </a:prstGeom>
              <a:blipFill>
                <a:blip r:embed="rId7"/>
                <a:stretch>
                  <a:fillRect l="-5778" t="-5195" b="-1688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B19329-2203-E743-AD93-2735C14362D1}"/>
                  </a:ext>
                </a:extLst>
              </p:cNvPr>
              <p:cNvSpPr txBox="1"/>
              <p:nvPr/>
            </p:nvSpPr>
            <p:spPr>
              <a:xfrm>
                <a:off x="7422869" y="7984938"/>
                <a:ext cx="2853260" cy="10143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400" baseline="-2500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</m:t>
                    </m:r>
                    <m:r>
                      <m:rPr>
                        <m:nor/>
                      </m:rPr>
                      <a:rPr lang="en-US" sz="2400" b="1" i="0" baseline="-2500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XY</m:t>
                    </m:r>
                    <m:r>
                      <m:rPr>
                        <m:nor/>
                      </m:rPr>
                      <a:rPr lang="en-US" sz="2400" dirty="0" smtClean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  <m:d>
                      <m:dPr>
                        <m:ctrlPr>
                          <a:rPr lang="ar-AE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b="1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 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𝟑𝟗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𝑹𝑰𝑬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FB19329-2203-E743-AD93-2735C1436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869" y="7984938"/>
                <a:ext cx="2853260" cy="1014380"/>
              </a:xfrm>
              <a:prstGeom prst="rect">
                <a:avLst/>
              </a:prstGeom>
              <a:blipFill>
                <a:blip r:embed="rId8"/>
                <a:stretch>
                  <a:fillRect l="-2212" b="-1111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C646728E-C453-DC40-B5B5-72423C4DD44B}"/>
              </a:ext>
            </a:extLst>
          </p:cNvPr>
          <p:cNvGrpSpPr/>
          <p:nvPr/>
        </p:nvGrpSpPr>
        <p:grpSpPr>
          <a:xfrm>
            <a:off x="10328192" y="6556960"/>
            <a:ext cx="2103605" cy="2855955"/>
            <a:chOff x="562879" y="3973006"/>
            <a:chExt cx="4258202" cy="3946608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1C5BBBB-4ABE-4F45-8206-0F236949D1B3}"/>
                </a:ext>
              </a:extLst>
            </p:cNvPr>
            <p:cNvCxnSpPr>
              <a:cxnSpLocks/>
            </p:cNvCxnSpPr>
            <p:nvPr/>
          </p:nvCxnSpPr>
          <p:spPr>
            <a:xfrm>
              <a:off x="1605071" y="3973006"/>
              <a:ext cx="0" cy="364699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60A7014-E3C2-404E-B524-F2EB1A0B1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4720" y="7243481"/>
              <a:ext cx="3826361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headEnd type="arrow" w="med" len="med"/>
              <a:tailEnd type="arrow" w="med" len="med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436CFE5-E9BF-CB4E-897E-6B8D2EE6F1F9}"/>
                </a:ext>
              </a:extLst>
            </p:cNvPr>
            <p:cNvCxnSpPr>
              <a:cxnSpLocks/>
            </p:cNvCxnSpPr>
            <p:nvPr/>
          </p:nvCxnSpPr>
          <p:spPr>
            <a:xfrm>
              <a:off x="1937041" y="4593632"/>
              <a:ext cx="2390180" cy="2029224"/>
            </a:xfrm>
            <a:prstGeom prst="line">
              <a:avLst/>
            </a:prstGeom>
            <a:noFill/>
            <a:ln w="381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565D6AA-DF6C-E14E-9A4F-156AA46B021B}"/>
                </a:ext>
              </a:extLst>
            </p:cNvPr>
            <p:cNvSpPr/>
            <p:nvPr/>
          </p:nvSpPr>
          <p:spPr>
            <a:xfrm>
              <a:off x="3662806" y="7243481"/>
              <a:ext cx="815010" cy="6761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Dx</a:t>
              </a:r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806CB9C-C2E8-EC48-8B7B-D7CFA6FD5EBB}"/>
                </a:ext>
              </a:extLst>
            </p:cNvPr>
            <p:cNvSpPr/>
            <p:nvPr/>
          </p:nvSpPr>
          <p:spPr>
            <a:xfrm>
              <a:off x="562879" y="3999064"/>
              <a:ext cx="763811" cy="6761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Py</a:t>
              </a:r>
              <a:endParaRPr lang="en-US" dirty="0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356B97-DBFB-BE49-9016-BD958B1B2BF0}"/>
              </a:ext>
            </a:extLst>
          </p:cNvPr>
          <p:cNvCxnSpPr/>
          <p:nvPr/>
        </p:nvCxnSpPr>
        <p:spPr>
          <a:xfrm>
            <a:off x="6502400" y="2778399"/>
            <a:ext cx="0" cy="6775733"/>
          </a:xfrm>
          <a:prstGeom prst="line">
            <a:avLst/>
          </a:prstGeom>
          <a:noFill/>
          <a:ln w="38100" cap="flat">
            <a:solidFill>
              <a:srgbClr val="000000"/>
            </a:solidFill>
            <a:prstDash val="dash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4601542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animBg="1" advAuto="0"/>
      <p:bldP spid="297" grpId="0" animBg="1" advAuto="0"/>
      <p:bldP spid="298" grpId="0" animBg="1" advAuto="0"/>
      <p:bldP spid="300" grpId="0" animBg="1" advAuto="0"/>
      <p:bldP spid="301" grpId="0" animBg="1" advAuto="0"/>
      <p:bldP spid="26" grpId="0"/>
      <p:bldP spid="28" grpId="0"/>
      <p:bldP spid="42" grpId="0" animBg="1"/>
      <p:bldP spid="43" grpId="0" animBg="1" advAuto="0"/>
      <p:bldP spid="44" grpId="0"/>
    </p:bld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3556</TotalTime>
  <Words>765</Words>
  <Application>Microsoft Macintosh PowerPoint</Application>
  <PresentationFormat>Custom</PresentationFormat>
  <Paragraphs>224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Cambria Math</vt:lpstr>
      <vt:lpstr>Helvetica Light</vt:lpstr>
      <vt:lpstr>Helvetica Neue</vt:lpstr>
      <vt:lpstr>Helvetica Neue Light</vt:lpstr>
      <vt:lpstr>Helvetica Neue Medium</vt:lpstr>
      <vt:lpstr>Helvetica Neue Thin</vt:lpstr>
      <vt:lpstr>Times New Roman</vt:lpstr>
      <vt:lpstr>White</vt:lpstr>
      <vt:lpstr>DEMAND</vt:lpstr>
      <vt:lpstr>Demand (contd.)</vt:lpstr>
      <vt:lpstr>PowerPoint Presentation</vt:lpstr>
      <vt:lpstr>Demand and Elasticity (= Responsiveness)</vt:lpstr>
      <vt:lpstr>Demand and Degrees of Elasticity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</dc:title>
  <cp:lastModifiedBy>Aggie Menezes</cp:lastModifiedBy>
  <cp:revision>108</cp:revision>
  <dcterms:modified xsi:type="dcterms:W3CDTF">2025-10-25T02:38:28Z</dcterms:modified>
</cp:coreProperties>
</file>