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9"/>
  </p:notesMasterIdLst>
  <p:sldIdLst>
    <p:sldId id="256" r:id="rId2"/>
    <p:sldId id="266" r:id="rId3"/>
    <p:sldId id="257" r:id="rId4"/>
    <p:sldId id="267" r:id="rId5"/>
    <p:sldId id="268" r:id="rId6"/>
    <p:sldId id="269" r:id="rId7"/>
    <p:sldId id="258" r:id="rId8"/>
    <p:sldId id="259" r:id="rId9"/>
    <p:sldId id="270" r:id="rId10"/>
    <p:sldId id="271" r:id="rId11"/>
    <p:sldId id="272" r:id="rId12"/>
    <p:sldId id="275" r:id="rId13"/>
    <p:sldId id="260" r:id="rId14"/>
    <p:sldId id="276" r:id="rId15"/>
    <p:sldId id="277" r:id="rId16"/>
    <p:sldId id="334" r:id="rId17"/>
    <p:sldId id="325" r:id="rId18"/>
    <p:sldId id="329" r:id="rId19"/>
    <p:sldId id="318" r:id="rId20"/>
    <p:sldId id="328" r:id="rId21"/>
    <p:sldId id="330" r:id="rId22"/>
    <p:sldId id="335" r:id="rId23"/>
    <p:sldId id="293" r:id="rId24"/>
    <p:sldId id="297" r:id="rId25"/>
    <p:sldId id="301" r:id="rId26"/>
    <p:sldId id="299" r:id="rId27"/>
    <p:sldId id="336" r:id="rId28"/>
    <p:sldId id="263" r:id="rId29"/>
    <p:sldId id="286" r:id="rId30"/>
    <p:sldId id="337" r:id="rId31"/>
    <p:sldId id="338" r:id="rId32"/>
    <p:sldId id="339" r:id="rId33"/>
    <p:sldId id="285" r:id="rId34"/>
    <p:sldId id="340" r:id="rId35"/>
    <p:sldId id="341" r:id="rId36"/>
    <p:sldId id="342" r:id="rId37"/>
    <p:sldId id="343" r:id="rId38"/>
    <p:sldId id="261" r:id="rId39"/>
    <p:sldId id="262" r:id="rId40"/>
    <p:sldId id="349" r:id="rId41"/>
    <p:sldId id="350" r:id="rId42"/>
    <p:sldId id="358" r:id="rId43"/>
    <p:sldId id="351" r:id="rId44"/>
    <p:sldId id="345" r:id="rId45"/>
    <p:sldId id="346" r:id="rId46"/>
    <p:sldId id="347" r:id="rId47"/>
    <p:sldId id="289" r:id="rId48"/>
    <p:sldId id="352" r:id="rId49"/>
    <p:sldId id="353" r:id="rId50"/>
    <p:sldId id="354" r:id="rId51"/>
    <p:sldId id="355" r:id="rId52"/>
    <p:sldId id="356" r:id="rId53"/>
    <p:sldId id="291" r:id="rId54"/>
    <p:sldId id="295" r:id="rId55"/>
    <p:sldId id="344" r:id="rId56"/>
    <p:sldId id="283" r:id="rId57"/>
    <p:sldId id="357" r:id="rId58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64"/>
    <p:restoredTop sz="87102"/>
  </p:normalViewPr>
  <p:slideViewPr>
    <p:cSldViewPr snapToGrid="0" snapToObjects="1">
      <p:cViewPr varScale="1">
        <p:scale>
          <a:sx n="93" d="100"/>
          <a:sy n="93" d="100"/>
        </p:scale>
        <p:origin x="1144" y="2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" name="Shape 11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56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967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337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8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93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64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4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83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362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2788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7482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4274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92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7462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91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>
            <a:spLocks noGrp="1"/>
          </p:cNvSpPr>
          <p:nvPr>
            <p:ph type="title"/>
          </p:nvPr>
        </p:nvSpPr>
        <p:spPr>
          <a:xfrm>
            <a:off x="6629400" y="274638"/>
            <a:ext cx="2057400" cy="5851526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2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6" r:id="rId6"/>
    <p:sldLayoutId id="2147483657" r:id="rId7"/>
    <p:sldLayoutId id="2147483658" r:id="rId8"/>
    <p:sldLayoutId id="2147483659" r:id="rId9"/>
  </p:sldLayoutIdLst>
  <p:transition spd="med"/>
  <p:hf hdr="0" ftr="0" dt="0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0.png"/><Relationship Id="rId7" Type="http://schemas.openxmlformats.org/officeDocument/2006/relationships/image" Target="../media/image47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2.png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7.png"/><Relationship Id="rId3" Type="http://schemas.openxmlformats.org/officeDocument/2006/relationships/image" Target="../media/image430.png"/><Relationship Id="rId7" Type="http://schemas.openxmlformats.org/officeDocument/2006/relationships/image" Target="../media/image47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5.png"/><Relationship Id="rId5" Type="http://schemas.openxmlformats.org/officeDocument/2006/relationships/image" Target="../media/image45.png"/><Relationship Id="rId10" Type="http://schemas.openxmlformats.org/officeDocument/2006/relationships/image" Target="../media/image51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59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5.png"/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3.png"/><Relationship Id="rId5" Type="http://schemas.openxmlformats.org/officeDocument/2006/relationships/image" Target="../media/image66.png"/><Relationship Id="rId10" Type="http://schemas.openxmlformats.org/officeDocument/2006/relationships/image" Target="../media/image72.png"/><Relationship Id="rId4" Type="http://schemas.openxmlformats.org/officeDocument/2006/relationships/image" Target="../media/image65.png"/><Relationship Id="rId9" Type="http://schemas.openxmlformats.org/officeDocument/2006/relationships/image" Target="../media/image7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7.png"/><Relationship Id="rId7" Type="http://schemas.openxmlformats.org/officeDocument/2006/relationships/image" Target="../media/image8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77.png"/><Relationship Id="rId7" Type="http://schemas.openxmlformats.org/officeDocument/2006/relationships/image" Target="../media/image88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3.png"/><Relationship Id="rId5" Type="http://schemas.openxmlformats.org/officeDocument/2006/relationships/image" Target="../media/image86.png"/><Relationship Id="rId10" Type="http://schemas.openxmlformats.org/officeDocument/2006/relationships/image" Target="../media/image92.png"/><Relationship Id="rId4" Type="http://schemas.openxmlformats.org/officeDocument/2006/relationships/image" Target="../media/image85.png"/><Relationship Id="rId9" Type="http://schemas.openxmlformats.org/officeDocument/2006/relationships/image" Target="../media/image9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77.png"/><Relationship Id="rId7" Type="http://schemas.openxmlformats.org/officeDocument/2006/relationships/image" Target="../media/image98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1.png"/><Relationship Id="rId4" Type="http://schemas.openxmlformats.org/officeDocument/2006/relationships/image" Target="../media/image9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>
            <a:spLocks noGrp="1"/>
          </p:cNvSpPr>
          <p:nvPr>
            <p:ph type="ctrTitle"/>
          </p:nvPr>
        </p:nvSpPr>
        <p:spPr>
          <a:xfrm>
            <a:off x="650417" y="895910"/>
            <a:ext cx="7772401" cy="887978"/>
          </a:xfrm>
          <a:prstGeom prst="rect">
            <a:avLst/>
          </a:prstGeo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Firm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50FDE-5A4C-E04D-90F3-844186CA70A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</a:t>
            </a:fld>
            <a:endParaRPr lang="en-IN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84C4518-5FDE-6046-9E4C-028CD2325C45}"/>
              </a:ext>
            </a:extLst>
          </p:cNvPr>
          <p:cNvSpPr txBox="1">
            <a:spLocks/>
          </p:cNvSpPr>
          <p:nvPr/>
        </p:nvSpPr>
        <p:spPr>
          <a:xfrm>
            <a:off x="782408" y="1783888"/>
            <a:ext cx="7772401" cy="887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Profit Maximization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96DFAD2-E092-FE4A-B87B-89177A2789AD}"/>
              </a:ext>
            </a:extLst>
          </p:cNvPr>
          <p:cNvSpPr txBox="1">
            <a:spLocks/>
          </p:cNvSpPr>
          <p:nvPr/>
        </p:nvSpPr>
        <p:spPr>
          <a:xfrm>
            <a:off x="782407" y="2671866"/>
            <a:ext cx="7772401" cy="887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Sales Maximization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>
            <a:spLocks noGrp="1"/>
          </p:cNvSpPr>
          <p:nvPr>
            <p:ph type="ctrTitle"/>
          </p:nvPr>
        </p:nvSpPr>
        <p:spPr>
          <a:xfrm>
            <a:off x="328795" y="310157"/>
            <a:ext cx="6430351" cy="57953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   (Marginal Method)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BDC65F6-E593-E64F-9D1B-2AE40807D3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20525" y="1168468"/>
                <a:ext cx="3267021" cy="6726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8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BDC65F6-E593-E64F-9D1B-2AE40807D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0525" y="1168468"/>
                <a:ext cx="3267021" cy="672689"/>
              </a:xfrm>
              <a:prstGeom prst="rect">
                <a:avLst/>
              </a:prstGeom>
              <a:blipFill>
                <a:blip r:embed="rId3"/>
                <a:stretch>
                  <a:fillRect b="-56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DCA016A-BC1E-7E4A-A71C-51E8ECEA5B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8508" y="1951063"/>
                <a:ext cx="2336146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DCA016A-BC1E-7E4A-A71C-51E8ECEA5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08" y="1951063"/>
                <a:ext cx="2336146" cy="7825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5477515-B418-BA4D-88DF-BFE2FABA09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23498" y="2733658"/>
                <a:ext cx="3287616" cy="6726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8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8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8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5477515-B418-BA4D-88DF-BFE2FABA0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3498" y="2733658"/>
                <a:ext cx="3287616" cy="672689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45D6D46-1F7F-CE48-914E-5E386E7F6A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8508" y="3413281"/>
                <a:ext cx="2612113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sSup>
                        <m:sSupPr>
                          <m:ctrlP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b="1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2800" b="1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28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8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45D6D46-1F7F-CE48-914E-5E386E7F6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08" y="3413281"/>
                <a:ext cx="2612113" cy="7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103E9CE-4D73-6645-87AF-5328045264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58508" y="4220535"/>
                <a:ext cx="3065194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𝑴𝑹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</m:oMath>
                  </m:oMathPara>
                </a14:m>
                <a:endParaRPr lang="en-US" sz="28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103E9CE-4D73-6645-87AF-53280452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8508" y="4220535"/>
                <a:ext cx="3065194" cy="7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0960622-519F-564C-A28E-4CE28C274F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39403" y="5039194"/>
                <a:ext cx="3065194" cy="5812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𝐍𝐞𝐜𝐞𝐬𝐬𝐚𝐫𝐲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8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𝐂𝐨𝐧𝐝𝐢𝐭𝐢𝐨𝐧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0960622-519F-564C-A28E-4CE28C27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9403" y="5039194"/>
                <a:ext cx="3065194" cy="581239"/>
              </a:xfrm>
              <a:prstGeom prst="rect">
                <a:avLst/>
              </a:prstGeom>
              <a:blipFill>
                <a:blip r:embed="rId8"/>
                <a:stretch>
                  <a:fillRect l="-12810" r="-8678" b="-1702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BB88CD-397D-0E41-820F-F81AB292F05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4047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traight Connector 6"/>
          <p:cNvSpPr/>
          <p:nvPr/>
        </p:nvSpPr>
        <p:spPr>
          <a:xfrm flipH="1">
            <a:off x="1142999" y="2488380"/>
            <a:ext cx="22656" cy="3115963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traight Connector 8"/>
          <p:cNvSpPr/>
          <p:nvPr/>
        </p:nvSpPr>
        <p:spPr>
          <a:xfrm flipH="1" flipV="1">
            <a:off x="1143000" y="5604343"/>
            <a:ext cx="3048000" cy="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Straight Connector 16"/>
          <p:cNvSpPr/>
          <p:nvPr/>
        </p:nvSpPr>
        <p:spPr>
          <a:xfrm flipH="1">
            <a:off x="5344296" y="2430715"/>
            <a:ext cx="22656" cy="3115964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Straight Connector 19"/>
          <p:cNvSpPr/>
          <p:nvPr/>
        </p:nvSpPr>
        <p:spPr>
          <a:xfrm flipH="1" flipV="1">
            <a:off x="5334000" y="5569332"/>
            <a:ext cx="3048000" cy="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32"/>
          <p:cNvSpPr txBox="1"/>
          <p:nvPr/>
        </p:nvSpPr>
        <p:spPr>
          <a:xfrm>
            <a:off x="408545" y="2430715"/>
            <a:ext cx="67447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28" name="TextBox 33"/>
          <p:cNvSpPr txBox="1"/>
          <p:nvPr/>
        </p:nvSpPr>
        <p:spPr>
          <a:xfrm>
            <a:off x="3808004" y="5576828"/>
            <a:ext cx="67447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136" name="Group"/>
          <p:cNvGrpSpPr/>
          <p:nvPr/>
        </p:nvGrpSpPr>
        <p:grpSpPr>
          <a:xfrm>
            <a:off x="858386" y="2899300"/>
            <a:ext cx="7259879" cy="2416643"/>
            <a:chOff x="-1" y="-1"/>
            <a:chExt cx="7259877" cy="2416641"/>
          </a:xfrm>
        </p:grpSpPr>
        <p:grpSp>
          <p:nvGrpSpPr>
            <p:cNvPr id="133" name="Group"/>
            <p:cNvGrpSpPr/>
            <p:nvPr/>
          </p:nvGrpSpPr>
          <p:grpSpPr>
            <a:xfrm>
              <a:off x="-1" y="972765"/>
              <a:ext cx="3953846" cy="565636"/>
              <a:chOff x="0" y="0"/>
              <a:chExt cx="3953844" cy="565632"/>
            </a:xfrm>
          </p:grpSpPr>
          <p:sp>
            <p:nvSpPr>
              <p:cNvPr id="129" name="TextBox 27"/>
              <p:cNvSpPr/>
              <p:nvPr/>
            </p:nvSpPr>
            <p:spPr>
              <a:xfrm>
                <a:off x="3246535" y="103972"/>
                <a:ext cx="707309" cy="4616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</a:t>
                </a:r>
              </a:p>
            </p:txBody>
          </p:sp>
          <p:grpSp>
            <p:nvGrpSpPr>
              <p:cNvPr id="132" name="Group"/>
              <p:cNvGrpSpPr/>
              <p:nvPr/>
            </p:nvGrpSpPr>
            <p:grpSpPr>
              <a:xfrm>
                <a:off x="0" y="0"/>
                <a:ext cx="3325849" cy="461659"/>
                <a:chOff x="0" y="0"/>
                <a:chExt cx="3325848" cy="461657"/>
              </a:xfrm>
            </p:grpSpPr>
            <p:sp>
              <p:nvSpPr>
                <p:cNvPr id="130" name="Straight Connector 10"/>
                <p:cNvSpPr/>
                <p:nvPr/>
              </p:nvSpPr>
              <p:spPr>
                <a:xfrm>
                  <a:off x="300501" y="191770"/>
                  <a:ext cx="3025347" cy="1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TextBox 34"/>
                <p:cNvSpPr/>
                <p:nvPr/>
              </p:nvSpPr>
              <p:spPr>
                <a:xfrm>
                  <a:off x="0" y="0"/>
                  <a:ext cx="314789" cy="4616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t">
                  <a:spAutoFit/>
                </a:bodyPr>
                <a:lstStyle>
                  <a:lvl1pPr>
                    <a:defRPr sz="2000" b="1"/>
                  </a:lvl1pPr>
                </a:lstStyle>
                <a:p>
                  <a:r>
                    <a:rPr sz="2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</a:p>
              </p:txBody>
            </p:sp>
          </p:grpSp>
        </p:grpSp>
        <p:sp>
          <p:nvSpPr>
            <p:cNvPr id="134" name="Straight Connector 42"/>
            <p:cNvSpPr/>
            <p:nvPr/>
          </p:nvSpPr>
          <p:spPr>
            <a:xfrm>
              <a:off x="4538332" y="-1"/>
              <a:ext cx="2047104" cy="2209801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Box 45"/>
            <p:cNvSpPr/>
            <p:nvPr/>
          </p:nvSpPr>
          <p:spPr>
            <a:xfrm>
              <a:off x="6615204" y="1954977"/>
              <a:ext cx="644672" cy="46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MR</a:t>
              </a:r>
            </a:p>
          </p:txBody>
        </p:sp>
      </p:grpSp>
      <p:grpSp>
        <p:nvGrpSpPr>
          <p:cNvPr id="145" name="Group"/>
          <p:cNvGrpSpPr/>
          <p:nvPr/>
        </p:nvGrpSpPr>
        <p:grpSpPr>
          <a:xfrm>
            <a:off x="1575101" y="3020303"/>
            <a:ext cx="4678893" cy="3102177"/>
            <a:chOff x="-170039" y="-107837"/>
            <a:chExt cx="4678891" cy="3102175"/>
          </a:xfrm>
        </p:grpSpPr>
        <p:grpSp>
          <p:nvGrpSpPr>
            <p:cNvPr id="140" name="Group"/>
            <p:cNvGrpSpPr/>
            <p:nvPr/>
          </p:nvGrpSpPr>
          <p:grpSpPr>
            <a:xfrm>
              <a:off x="-170039" y="513095"/>
              <a:ext cx="639983" cy="2481243"/>
              <a:chOff x="-170039" y="-90321"/>
              <a:chExt cx="639982" cy="2481242"/>
            </a:xfrm>
          </p:grpSpPr>
          <p:sp>
            <p:nvSpPr>
              <p:cNvPr id="137" name="TextBox 35"/>
              <p:cNvSpPr/>
              <p:nvPr/>
            </p:nvSpPr>
            <p:spPr>
              <a:xfrm>
                <a:off x="-170039" y="-90321"/>
                <a:ext cx="553738" cy="4616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8" name="Straight Connector 37"/>
              <p:cNvSpPr/>
              <p:nvPr/>
            </p:nvSpPr>
            <p:spPr>
              <a:xfrm flipH="1">
                <a:off x="243145" y="381946"/>
                <a:ext cx="1" cy="1574913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Dot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TextBox 39"/>
              <p:cNvSpPr/>
              <p:nvPr/>
            </p:nvSpPr>
            <p:spPr>
              <a:xfrm>
                <a:off x="0" y="1929259"/>
                <a:ext cx="469943" cy="4616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44" name="Group"/>
            <p:cNvGrpSpPr/>
            <p:nvPr/>
          </p:nvGrpSpPr>
          <p:grpSpPr>
            <a:xfrm>
              <a:off x="3791802" y="-107837"/>
              <a:ext cx="717050" cy="3065431"/>
              <a:chOff x="0" y="-107837"/>
              <a:chExt cx="717049" cy="3065430"/>
            </a:xfrm>
          </p:grpSpPr>
          <p:sp>
            <p:nvSpPr>
              <p:cNvPr id="141" name="Straight Connector 48"/>
              <p:cNvSpPr/>
              <p:nvPr/>
            </p:nvSpPr>
            <p:spPr>
              <a:xfrm flipH="1">
                <a:off x="269222" y="330901"/>
                <a:ext cx="1" cy="2165030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TextBox 50"/>
              <p:cNvSpPr/>
              <p:nvPr/>
            </p:nvSpPr>
            <p:spPr>
              <a:xfrm>
                <a:off x="298991" y="-107837"/>
                <a:ext cx="418058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3" name="TextBox 52"/>
              <p:cNvSpPr/>
              <p:nvPr/>
            </p:nvSpPr>
            <p:spPr>
              <a:xfrm>
                <a:off x="0" y="2495930"/>
                <a:ext cx="567021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55" name="Group"/>
          <p:cNvGrpSpPr/>
          <p:nvPr/>
        </p:nvGrpSpPr>
        <p:grpSpPr>
          <a:xfrm>
            <a:off x="2463306" y="3608732"/>
            <a:ext cx="4630777" cy="2639154"/>
            <a:chOff x="-118022" y="0"/>
            <a:chExt cx="4630776" cy="2639153"/>
          </a:xfrm>
        </p:grpSpPr>
        <p:grpSp>
          <p:nvGrpSpPr>
            <p:cNvPr id="150" name="Group"/>
            <p:cNvGrpSpPr/>
            <p:nvPr/>
          </p:nvGrpSpPr>
          <p:grpSpPr>
            <a:xfrm>
              <a:off x="-118022" y="0"/>
              <a:ext cx="657186" cy="2639153"/>
              <a:chOff x="-118022" y="0"/>
              <a:chExt cx="657185" cy="2639152"/>
            </a:xfrm>
          </p:grpSpPr>
          <p:grpSp>
            <p:nvGrpSpPr>
              <p:cNvPr id="148" name="Group"/>
              <p:cNvGrpSpPr/>
              <p:nvPr/>
            </p:nvGrpSpPr>
            <p:grpSpPr>
              <a:xfrm>
                <a:off x="-118022" y="0"/>
                <a:ext cx="537242" cy="1993452"/>
                <a:chOff x="-118022" y="1"/>
                <a:chExt cx="537241" cy="1993450"/>
              </a:xfrm>
            </p:grpSpPr>
            <p:sp>
              <p:nvSpPr>
                <p:cNvPr id="146" name="TextBox 36"/>
                <p:cNvSpPr txBox="1"/>
                <p:nvPr/>
              </p:nvSpPr>
              <p:spPr>
                <a:xfrm>
                  <a:off x="-118022" y="1"/>
                  <a:ext cx="537241" cy="39326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 sz="2000" b="1"/>
                  </a:pPr>
                  <a:r>
                    <a:rPr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sz="2400" baseline="-5999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  <p:sp>
              <p:nvSpPr>
                <p:cNvPr id="147" name="Straight Connector 38"/>
                <p:cNvSpPr/>
                <p:nvPr/>
              </p:nvSpPr>
              <p:spPr>
                <a:xfrm>
                  <a:off x="185535" y="497643"/>
                  <a:ext cx="1" cy="1495808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dashDot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9" name="TextBox 40"/>
              <p:cNvSpPr txBox="1"/>
              <p:nvPr/>
            </p:nvSpPr>
            <p:spPr>
              <a:xfrm>
                <a:off x="0" y="2099988"/>
                <a:ext cx="539163" cy="5391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154" name="Group"/>
            <p:cNvGrpSpPr/>
            <p:nvPr/>
          </p:nvGrpSpPr>
          <p:grpSpPr>
            <a:xfrm>
              <a:off x="3702756" y="224275"/>
              <a:ext cx="809998" cy="2249297"/>
              <a:chOff x="0" y="115082"/>
              <a:chExt cx="809995" cy="2249296"/>
            </a:xfrm>
          </p:grpSpPr>
          <p:sp>
            <p:nvSpPr>
              <p:cNvPr id="151" name="Straight Connector 46"/>
              <p:cNvSpPr/>
              <p:nvPr/>
            </p:nvSpPr>
            <p:spPr>
              <a:xfrm flipH="1">
                <a:off x="237468" y="449637"/>
                <a:ext cx="1" cy="1386981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2" name="TextBox 51"/>
              <p:cNvSpPr/>
              <p:nvPr/>
            </p:nvSpPr>
            <p:spPr>
              <a:xfrm>
                <a:off x="322679" y="115082"/>
                <a:ext cx="487316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53" name="TextBox 53"/>
              <p:cNvSpPr/>
              <p:nvPr/>
            </p:nvSpPr>
            <p:spPr>
              <a:xfrm>
                <a:off x="0" y="1902715"/>
                <a:ext cx="474937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sp>
        <p:nvSpPr>
          <p:cNvPr id="156" name="TextBox 54"/>
          <p:cNvSpPr txBox="1"/>
          <p:nvPr/>
        </p:nvSpPr>
        <p:spPr>
          <a:xfrm>
            <a:off x="8031891" y="5564761"/>
            <a:ext cx="65490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57" name="TextBox 55"/>
          <p:cNvSpPr txBox="1"/>
          <p:nvPr/>
        </p:nvSpPr>
        <p:spPr>
          <a:xfrm>
            <a:off x="4699942" y="2298172"/>
            <a:ext cx="67447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58" name="TextBox 57"/>
          <p:cNvSpPr txBox="1"/>
          <p:nvPr/>
        </p:nvSpPr>
        <p:spPr>
          <a:xfrm>
            <a:off x="1284331" y="1259943"/>
            <a:ext cx="2523673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</a:t>
            </a:r>
          </a:p>
        </p:txBody>
      </p:sp>
      <p:sp>
        <p:nvSpPr>
          <p:cNvPr id="159" name="TextBox 58"/>
          <p:cNvSpPr txBox="1"/>
          <p:nvPr/>
        </p:nvSpPr>
        <p:spPr>
          <a:xfrm>
            <a:off x="5319325" y="1312944"/>
            <a:ext cx="2037001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000" b="1"/>
            </a:lvl1pPr>
          </a:lstStyle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Imperfect Competition</a:t>
            </a:r>
          </a:p>
        </p:txBody>
      </p:sp>
      <p:grpSp>
        <p:nvGrpSpPr>
          <p:cNvPr id="165" name="Group"/>
          <p:cNvGrpSpPr/>
          <p:nvPr/>
        </p:nvGrpSpPr>
        <p:grpSpPr>
          <a:xfrm>
            <a:off x="1760129" y="1836509"/>
            <a:ext cx="6567120" cy="2568419"/>
            <a:chOff x="177256" y="708327"/>
            <a:chExt cx="6567118" cy="2568418"/>
          </a:xfrm>
        </p:grpSpPr>
        <p:sp>
          <p:nvSpPr>
            <p:cNvPr id="160" name="TextBox 44"/>
            <p:cNvSpPr txBox="1"/>
            <p:nvPr/>
          </p:nvSpPr>
          <p:spPr>
            <a:xfrm>
              <a:off x="5947420" y="708327"/>
              <a:ext cx="796954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604A7B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grpSp>
          <p:nvGrpSpPr>
            <p:cNvPr id="163" name="Group"/>
            <p:cNvGrpSpPr/>
            <p:nvPr/>
          </p:nvGrpSpPr>
          <p:grpSpPr>
            <a:xfrm>
              <a:off x="177256" y="1027801"/>
              <a:ext cx="2857175" cy="2248944"/>
              <a:chOff x="177256" y="1027802"/>
              <a:chExt cx="2857174" cy="2248943"/>
            </a:xfrm>
          </p:grpSpPr>
          <p:sp>
            <p:nvSpPr>
              <p:cNvPr id="161" name="TextBox 29"/>
              <p:cNvSpPr txBox="1"/>
              <p:nvPr/>
            </p:nvSpPr>
            <p:spPr>
              <a:xfrm>
                <a:off x="2237476" y="1027802"/>
                <a:ext cx="796954" cy="461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000" b="1">
                    <a:solidFill>
                      <a:srgbClr val="604A7B"/>
                    </a:solidFill>
                  </a:defRPr>
                </a:lvl1pPr>
              </a:lstStyle>
              <a:p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  <p:sp>
            <p:nvSpPr>
              <p:cNvPr id="162" name="Freeform 43"/>
              <p:cNvSpPr/>
              <p:nvPr/>
            </p:nvSpPr>
            <p:spPr>
              <a:xfrm>
                <a:off x="177256" y="1405158"/>
                <a:ext cx="2091520" cy="1871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700" extrusionOk="0">
                    <a:moveTo>
                      <a:pt x="0" y="7961"/>
                    </a:moveTo>
                    <a:lnTo>
                      <a:pt x="2485" y="16093"/>
                    </a:lnTo>
                    <a:cubicBezTo>
                      <a:pt x="3345" y="16564"/>
                      <a:pt x="4460" y="21600"/>
                      <a:pt x="7646" y="18918"/>
                    </a:cubicBezTo>
                    <a:cubicBezTo>
                      <a:pt x="10832" y="16236"/>
                      <a:pt x="16216" y="811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rgbClr val="604A7B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4" name="Freeform 43"/>
            <p:cNvSpPr/>
            <p:nvPr/>
          </p:nvSpPr>
          <p:spPr>
            <a:xfrm>
              <a:off x="4156723" y="1015759"/>
              <a:ext cx="1815298" cy="2189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00" extrusionOk="0">
                  <a:moveTo>
                    <a:pt x="0" y="7961"/>
                  </a:moveTo>
                  <a:lnTo>
                    <a:pt x="2485" y="16093"/>
                  </a:lnTo>
                  <a:cubicBezTo>
                    <a:pt x="3345" y="16564"/>
                    <a:pt x="4460" y="21600"/>
                    <a:pt x="7646" y="18918"/>
                  </a:cubicBezTo>
                  <a:cubicBezTo>
                    <a:pt x="10832" y="16236"/>
                    <a:pt x="16216" y="8118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604A7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3F4906D0-CEB1-DB49-9F68-CF1F4CD09213}"/>
              </a:ext>
            </a:extLst>
          </p:cNvPr>
          <p:cNvSpPr txBox="1">
            <a:spLocks/>
          </p:cNvSpPr>
          <p:nvPr/>
        </p:nvSpPr>
        <p:spPr>
          <a:xfrm>
            <a:off x="296030" y="186428"/>
            <a:ext cx="6674724" cy="439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   (Marginal Method) – contd.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0232C7-1E40-6643-9532-4C5D79837A5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1" animBg="1" advAuto="0"/>
      <p:bldP spid="145" grpId="3" animBg="1" advAuto="0"/>
      <p:bldP spid="155" grpId="4" animBg="1" advAuto="0"/>
      <p:bldP spid="165" grpId="2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103E9CE-4D73-6645-87AF-5328045264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71455" y="901207"/>
                <a:ext cx="3065194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𝑴𝑹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103E9CE-4D73-6645-87AF-53280452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455" y="901207"/>
                <a:ext cx="3065194" cy="782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65E0E690-9579-F847-A178-7F88A96394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3994" y="1686053"/>
                <a:ext cx="2488545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65E0E690-9579-F847-A178-7F88A9639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994" y="1686053"/>
                <a:ext cx="2488545" cy="7825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43960F4A-34F8-0D41-8BC1-10F7AA740F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3994" y="2457730"/>
                <a:ext cx="3332924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43960F4A-34F8-0D41-8BC1-10F7AA740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994" y="2457730"/>
                <a:ext cx="3332924" cy="782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3750150-852B-2C4E-959C-CBFB435063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30822" y="3316757"/>
                <a:ext cx="3580059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′−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3750150-852B-2C4E-959C-CBFB43506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822" y="3316757"/>
                <a:ext cx="3580059" cy="7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EEAD3679-EF36-CA41-B490-E71CCCA2D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93994" y="4086790"/>
                <a:ext cx="3902676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𝑴𝑹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′−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𝑴𝑪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EEAD3679-EF36-CA41-B490-E71CCCA2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3994" y="4086790"/>
                <a:ext cx="3902676" cy="7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0448979B-9680-3F45-A612-F3155F6E83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0781" y="4745243"/>
                <a:ext cx="4449103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𝑴𝑪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𝑴𝑹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0448979B-9680-3F45-A612-F3155F6E8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781" y="4745243"/>
                <a:ext cx="4449103" cy="782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0960622-519F-564C-A28E-4CE28C274F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6649" y="1001884"/>
                <a:ext cx="3065194" cy="5812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𝐍𝐞𝐜𝐞𝐬𝐬𝐚𝐫𝐲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𝐂𝐨𝐧𝐝𝐢𝐭𝐢𝐨𝐧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0960622-519F-564C-A28E-4CE28C27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649" y="1001884"/>
                <a:ext cx="3065194" cy="581239"/>
              </a:xfrm>
              <a:prstGeom prst="rect">
                <a:avLst/>
              </a:prstGeom>
              <a:blipFill>
                <a:blip r:embed="rId9"/>
                <a:stretch>
                  <a:fillRect l="-1240" b="-42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C764C2B5-1D0C-8D49-B5E0-9D3D8AF40A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86770" y="5675712"/>
                <a:ext cx="3065194" cy="5812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𝐒𝐮𝐟𝐟𝐢𝐜𝐢𝐞𝐧𝐭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𝐂𝐨𝐧𝐝𝐢𝐭𝐢𝐨𝐧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C764C2B5-1D0C-8D49-B5E0-9D3D8AF4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770" y="5675712"/>
                <a:ext cx="3065194" cy="581239"/>
              </a:xfrm>
              <a:prstGeom prst="rect">
                <a:avLst/>
              </a:prstGeom>
              <a:blipFill>
                <a:blip r:embed="rId10"/>
                <a:stretch>
                  <a:fillRect b="-42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le 1">
            <a:extLst>
              <a:ext uri="{FF2B5EF4-FFF2-40B4-BE49-F238E27FC236}">
                <a16:creationId xmlns:a16="http://schemas.microsoft.com/office/drawing/2014/main" id="{8C443A2C-70D8-2247-9535-A25EB2B6604E}"/>
              </a:ext>
            </a:extLst>
          </p:cNvPr>
          <p:cNvSpPr txBox="1">
            <a:spLocks/>
          </p:cNvSpPr>
          <p:nvPr/>
        </p:nvSpPr>
        <p:spPr>
          <a:xfrm>
            <a:off x="296030" y="186428"/>
            <a:ext cx="5648923" cy="439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   (Marginal Method) – contd.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C24CDC-6077-1348-B8C8-45117FBCFF0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241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traight Connector 6"/>
          <p:cNvSpPr/>
          <p:nvPr/>
        </p:nvSpPr>
        <p:spPr>
          <a:xfrm flipH="1">
            <a:off x="1067904" y="1782464"/>
            <a:ext cx="22656" cy="3115963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Straight Connector 8"/>
          <p:cNvSpPr/>
          <p:nvPr/>
        </p:nvSpPr>
        <p:spPr>
          <a:xfrm flipH="1" flipV="1">
            <a:off x="1067905" y="4898427"/>
            <a:ext cx="3048000" cy="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Straight Connector 16"/>
          <p:cNvSpPr/>
          <p:nvPr/>
        </p:nvSpPr>
        <p:spPr>
          <a:xfrm flipH="1">
            <a:off x="5269201" y="1724799"/>
            <a:ext cx="22656" cy="3115964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Straight Connector 19"/>
          <p:cNvSpPr/>
          <p:nvPr/>
        </p:nvSpPr>
        <p:spPr>
          <a:xfrm flipH="1" flipV="1">
            <a:off x="5258905" y="4863416"/>
            <a:ext cx="3048000" cy="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TextBox 32"/>
          <p:cNvSpPr txBox="1"/>
          <p:nvPr/>
        </p:nvSpPr>
        <p:spPr>
          <a:xfrm>
            <a:off x="333450" y="1724799"/>
            <a:ext cx="67447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28" name="TextBox 33"/>
          <p:cNvSpPr txBox="1"/>
          <p:nvPr/>
        </p:nvSpPr>
        <p:spPr>
          <a:xfrm>
            <a:off x="3732909" y="4870912"/>
            <a:ext cx="67447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136" name="Group"/>
          <p:cNvGrpSpPr/>
          <p:nvPr/>
        </p:nvGrpSpPr>
        <p:grpSpPr>
          <a:xfrm>
            <a:off x="761998" y="2170431"/>
            <a:ext cx="7290770" cy="2359802"/>
            <a:chOff x="-1" y="-1"/>
            <a:chExt cx="7290768" cy="2359800"/>
          </a:xfrm>
        </p:grpSpPr>
        <p:grpSp>
          <p:nvGrpSpPr>
            <p:cNvPr id="133" name="Group"/>
            <p:cNvGrpSpPr/>
            <p:nvPr/>
          </p:nvGrpSpPr>
          <p:grpSpPr>
            <a:xfrm>
              <a:off x="-1" y="972765"/>
              <a:ext cx="3762861" cy="673326"/>
              <a:chOff x="0" y="0"/>
              <a:chExt cx="3762859" cy="673321"/>
            </a:xfrm>
          </p:grpSpPr>
          <p:sp>
            <p:nvSpPr>
              <p:cNvPr id="129" name="TextBox 27"/>
              <p:cNvSpPr/>
              <p:nvPr/>
            </p:nvSpPr>
            <p:spPr>
              <a:xfrm>
                <a:off x="2878834" y="211661"/>
                <a:ext cx="884025" cy="46166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</a:t>
                </a:r>
              </a:p>
            </p:txBody>
          </p:sp>
          <p:grpSp>
            <p:nvGrpSpPr>
              <p:cNvPr id="132" name="Group"/>
              <p:cNvGrpSpPr/>
              <p:nvPr/>
            </p:nvGrpSpPr>
            <p:grpSpPr>
              <a:xfrm>
                <a:off x="0" y="0"/>
                <a:ext cx="3325849" cy="461659"/>
                <a:chOff x="0" y="0"/>
                <a:chExt cx="3325848" cy="461657"/>
              </a:xfrm>
            </p:grpSpPr>
            <p:sp>
              <p:nvSpPr>
                <p:cNvPr id="130" name="Straight Connector 10"/>
                <p:cNvSpPr/>
                <p:nvPr/>
              </p:nvSpPr>
              <p:spPr>
                <a:xfrm>
                  <a:off x="300501" y="191770"/>
                  <a:ext cx="3025347" cy="1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solid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1" name="TextBox 34"/>
                <p:cNvSpPr/>
                <p:nvPr/>
              </p:nvSpPr>
              <p:spPr>
                <a:xfrm>
                  <a:off x="0" y="0"/>
                  <a:ext cx="314789" cy="46165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extrusionOk="0">
                      <a:moveTo>
                        <a:pt x="0" y="0"/>
                      </a:moveTo>
                      <a:lnTo>
                        <a:pt x="21600" y="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t">
                  <a:spAutoFit/>
                </a:bodyPr>
                <a:lstStyle>
                  <a:lvl1pPr>
                    <a:defRPr sz="2000" b="1"/>
                  </a:lvl1pPr>
                </a:lstStyle>
                <a:p>
                  <a:r>
                    <a:rPr sz="2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</a:p>
              </p:txBody>
            </p:sp>
          </p:grpSp>
        </p:grpSp>
        <p:sp>
          <p:nvSpPr>
            <p:cNvPr id="134" name="Straight Connector 42"/>
            <p:cNvSpPr/>
            <p:nvPr/>
          </p:nvSpPr>
          <p:spPr>
            <a:xfrm>
              <a:off x="4538332" y="-1"/>
              <a:ext cx="2047104" cy="2209801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TextBox 45"/>
            <p:cNvSpPr/>
            <p:nvPr/>
          </p:nvSpPr>
          <p:spPr>
            <a:xfrm>
              <a:off x="6615204" y="1898136"/>
              <a:ext cx="675563" cy="4616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MR</a:t>
              </a:r>
            </a:p>
          </p:txBody>
        </p:sp>
      </p:grpSp>
      <p:grpSp>
        <p:nvGrpSpPr>
          <p:cNvPr id="145" name="Group"/>
          <p:cNvGrpSpPr/>
          <p:nvPr/>
        </p:nvGrpSpPr>
        <p:grpSpPr>
          <a:xfrm>
            <a:off x="1495924" y="2333138"/>
            <a:ext cx="4649316" cy="2994852"/>
            <a:chOff x="-174121" y="-89086"/>
            <a:chExt cx="4649314" cy="2994850"/>
          </a:xfrm>
        </p:grpSpPr>
        <p:grpSp>
          <p:nvGrpSpPr>
            <p:cNvPr id="140" name="Group"/>
            <p:cNvGrpSpPr/>
            <p:nvPr/>
          </p:nvGrpSpPr>
          <p:grpSpPr>
            <a:xfrm>
              <a:off x="-174121" y="526877"/>
              <a:ext cx="643231" cy="2378887"/>
              <a:chOff x="-174121" y="-76539"/>
              <a:chExt cx="643230" cy="2378886"/>
            </a:xfrm>
          </p:grpSpPr>
          <p:sp>
            <p:nvSpPr>
              <p:cNvPr id="137" name="TextBox 35"/>
              <p:cNvSpPr/>
              <p:nvPr/>
            </p:nvSpPr>
            <p:spPr>
              <a:xfrm>
                <a:off x="-174121" y="-76539"/>
                <a:ext cx="553738" cy="4616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38" name="Straight Connector 37"/>
              <p:cNvSpPr/>
              <p:nvPr/>
            </p:nvSpPr>
            <p:spPr>
              <a:xfrm flipH="1">
                <a:off x="243145" y="381946"/>
                <a:ext cx="1" cy="1574913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Dot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9" name="TextBox 39"/>
              <p:cNvSpPr/>
              <p:nvPr/>
            </p:nvSpPr>
            <p:spPr>
              <a:xfrm>
                <a:off x="-834" y="1840685"/>
                <a:ext cx="469943" cy="4616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  <p:grpSp>
          <p:nvGrpSpPr>
            <p:cNvPr id="144" name="Group"/>
            <p:cNvGrpSpPr/>
            <p:nvPr/>
          </p:nvGrpSpPr>
          <p:grpSpPr>
            <a:xfrm>
              <a:off x="3879026" y="-89086"/>
              <a:ext cx="596167" cy="2941204"/>
              <a:chOff x="87224" y="-89086"/>
              <a:chExt cx="596166" cy="2941203"/>
            </a:xfrm>
          </p:grpSpPr>
          <p:sp>
            <p:nvSpPr>
              <p:cNvPr id="141" name="Straight Connector 48"/>
              <p:cNvSpPr/>
              <p:nvPr/>
            </p:nvSpPr>
            <p:spPr>
              <a:xfrm flipH="1">
                <a:off x="269222" y="330901"/>
                <a:ext cx="1" cy="2165030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2" name="TextBox 50"/>
              <p:cNvSpPr/>
              <p:nvPr/>
            </p:nvSpPr>
            <p:spPr>
              <a:xfrm>
                <a:off x="265332" y="-89086"/>
                <a:ext cx="418058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143" name="TextBox 52"/>
              <p:cNvSpPr/>
              <p:nvPr/>
            </p:nvSpPr>
            <p:spPr>
              <a:xfrm>
                <a:off x="87224" y="2390454"/>
                <a:ext cx="567021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p:grpSp>
      </p:grpSp>
      <p:grpSp>
        <p:nvGrpSpPr>
          <p:cNvPr id="155" name="Group"/>
          <p:cNvGrpSpPr/>
          <p:nvPr/>
        </p:nvGrpSpPr>
        <p:grpSpPr>
          <a:xfrm>
            <a:off x="2415369" y="2917950"/>
            <a:ext cx="4403517" cy="2517227"/>
            <a:chOff x="-90864" y="15134"/>
            <a:chExt cx="4403516" cy="2517226"/>
          </a:xfrm>
        </p:grpSpPr>
        <p:grpSp>
          <p:nvGrpSpPr>
            <p:cNvPr id="150" name="Group"/>
            <p:cNvGrpSpPr/>
            <p:nvPr/>
          </p:nvGrpSpPr>
          <p:grpSpPr>
            <a:xfrm>
              <a:off x="-90864" y="15134"/>
              <a:ext cx="946747" cy="2517226"/>
              <a:chOff x="-90864" y="15134"/>
              <a:chExt cx="946746" cy="2517225"/>
            </a:xfrm>
          </p:grpSpPr>
          <p:grpSp>
            <p:nvGrpSpPr>
              <p:cNvPr id="148" name="Group"/>
              <p:cNvGrpSpPr/>
              <p:nvPr/>
            </p:nvGrpSpPr>
            <p:grpSpPr>
              <a:xfrm>
                <a:off x="-90864" y="15134"/>
                <a:ext cx="946746" cy="1978318"/>
                <a:chOff x="-90864" y="15135"/>
                <a:chExt cx="946744" cy="1978316"/>
              </a:xfrm>
            </p:grpSpPr>
            <p:sp>
              <p:nvSpPr>
                <p:cNvPr id="146" name="TextBox 36"/>
                <p:cNvSpPr txBox="1"/>
                <p:nvPr/>
              </p:nvSpPr>
              <p:spPr>
                <a:xfrm>
                  <a:off x="-90864" y="15135"/>
                  <a:ext cx="946744" cy="44753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pPr>
                    <a:defRPr sz="2000" b="1"/>
                  </a:pPr>
                  <a:r>
                    <a:rPr sz="2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r>
                    <a:rPr sz="2400" baseline="-5999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2400" baseline="-5999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</a:t>
                  </a:r>
                  <a:r>
                    <a:rPr lang="en-US" sz="2400" baseline="-5999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= </a:t>
                  </a:r>
                  <a:r>
                    <a:rPr lang="en-IN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sz="2400" baseline="-5999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7" name="Straight Connector 38"/>
                <p:cNvSpPr/>
                <p:nvPr/>
              </p:nvSpPr>
              <p:spPr>
                <a:xfrm>
                  <a:off x="185535" y="497643"/>
                  <a:ext cx="1" cy="1495808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dashDot"/>
                  <a:round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 sz="24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49" name="TextBox 40"/>
              <p:cNvSpPr txBox="1"/>
              <p:nvPr/>
            </p:nvSpPr>
            <p:spPr>
              <a:xfrm>
                <a:off x="-14392" y="1993195"/>
                <a:ext cx="539163" cy="5391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  <p:grpSp>
          <p:nvGrpSpPr>
            <p:cNvPr id="154" name="Group"/>
            <p:cNvGrpSpPr/>
            <p:nvPr/>
          </p:nvGrpSpPr>
          <p:grpSpPr>
            <a:xfrm>
              <a:off x="3837713" y="558830"/>
              <a:ext cx="474939" cy="1811293"/>
              <a:chOff x="134956" y="449637"/>
              <a:chExt cx="474937" cy="1811292"/>
            </a:xfrm>
          </p:grpSpPr>
          <p:sp>
            <p:nvSpPr>
              <p:cNvPr id="151" name="Straight Connector 46"/>
              <p:cNvSpPr/>
              <p:nvPr/>
            </p:nvSpPr>
            <p:spPr>
              <a:xfrm flipH="1">
                <a:off x="237468" y="449637"/>
                <a:ext cx="1" cy="1386981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3" name="TextBox 53"/>
              <p:cNvSpPr/>
              <p:nvPr/>
            </p:nvSpPr>
            <p:spPr>
              <a:xfrm>
                <a:off x="134956" y="1799266"/>
                <a:ext cx="474937" cy="4616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/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sp>
        <p:nvSpPr>
          <p:cNvPr id="156" name="TextBox 54"/>
          <p:cNvSpPr txBox="1"/>
          <p:nvPr/>
        </p:nvSpPr>
        <p:spPr>
          <a:xfrm>
            <a:off x="7956796" y="4858845"/>
            <a:ext cx="69662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57" name="TextBox 55"/>
          <p:cNvSpPr txBox="1"/>
          <p:nvPr/>
        </p:nvSpPr>
        <p:spPr>
          <a:xfrm>
            <a:off x="4624847" y="1592256"/>
            <a:ext cx="67447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58" name="TextBox 57"/>
          <p:cNvSpPr txBox="1"/>
          <p:nvPr/>
        </p:nvSpPr>
        <p:spPr>
          <a:xfrm>
            <a:off x="1113630" y="645371"/>
            <a:ext cx="302535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</a:p>
        </p:txBody>
      </p:sp>
      <p:sp>
        <p:nvSpPr>
          <p:cNvPr id="159" name="TextBox 58"/>
          <p:cNvSpPr txBox="1"/>
          <p:nvPr/>
        </p:nvSpPr>
        <p:spPr>
          <a:xfrm>
            <a:off x="5206811" y="653888"/>
            <a:ext cx="321600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Imperfect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</a:p>
        </p:txBody>
      </p:sp>
      <p:sp>
        <p:nvSpPr>
          <p:cNvPr id="166" name="TextBox 59"/>
          <p:cNvSpPr txBox="1"/>
          <p:nvPr/>
        </p:nvSpPr>
        <p:spPr>
          <a:xfrm>
            <a:off x="3385224" y="2672260"/>
            <a:ext cx="1486045" cy="8023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uilibrium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itle 1">
                <a:extLst>
                  <a:ext uri="{FF2B5EF4-FFF2-40B4-BE49-F238E27FC236}">
                    <a16:creationId xmlns:a16="http://schemas.microsoft.com/office/drawing/2014/main" id="{83491886-4BA2-F244-8F8E-33AE17D85D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128" y="5500406"/>
                <a:ext cx="8712632" cy="5591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algn="l" hangingPunct="1"/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At E1: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𝑴𝑪</m:t>
                        </m:r>
                      </m:e>
                    </m:d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𝑴𝑹</m:t>
                    </m:r>
                    <m:r>
                      <a:rPr lang="en-US" sz="2400" b="1" i="1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Nec. C fulfilled but Suff. C. not fulfilled.</a:t>
                </a:r>
              </a:p>
            </p:txBody>
          </p:sp>
        </mc:Choice>
        <mc:Fallback xmlns="">
          <p:sp>
            <p:nvSpPr>
              <p:cNvPr id="52" name="Title 1">
                <a:extLst>
                  <a:ext uri="{FF2B5EF4-FFF2-40B4-BE49-F238E27FC236}">
                    <a16:creationId xmlns:a16="http://schemas.microsoft.com/office/drawing/2014/main" id="{83491886-4BA2-F244-8F8E-33AE17D85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8" y="5500406"/>
                <a:ext cx="8712632" cy="559116"/>
              </a:xfrm>
              <a:prstGeom prst="rect">
                <a:avLst/>
              </a:prstGeom>
              <a:blipFill>
                <a:blip r:embed="rId2"/>
                <a:stretch>
                  <a:fillRect l="-1601" r="-1456" b="-1521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008670BB-7B1D-DC43-875A-E6ABB0F874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128" y="6017697"/>
                <a:ext cx="8296509" cy="5591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algn="l" hangingPunct="1"/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At E2: 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d>
                      <m:dPr>
                        <m:ctrlPr>
                          <a:rPr lang="en-US" sz="2400" b="1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𝑴𝑪</m:t>
                        </m:r>
                      </m:e>
                    </m:d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𝑴𝑹</m:t>
                    </m:r>
                    <m:r>
                      <a:rPr lang="en-US" sz="2400" b="1" i="1" dirty="0" smtClean="0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both, </a:t>
                </a:r>
                <a:r>
                  <a:rPr lang="en-US" sz="2400" b="1" dirty="0" err="1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Nec</a:t>
                </a:r>
                <a:r>
                  <a:rPr lang="en-US" sz="2400" b="1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C. &amp; Suff. C. fulfilled. </a:t>
                </a:r>
              </a:p>
            </p:txBody>
          </p:sp>
        </mc:Choice>
        <mc:Fallback xmlns="">
          <p:sp>
            <p:nvSpPr>
              <p:cNvPr id="53" name="Title 1">
                <a:extLst>
                  <a:ext uri="{FF2B5EF4-FFF2-40B4-BE49-F238E27FC236}">
                    <a16:creationId xmlns:a16="http://schemas.microsoft.com/office/drawing/2014/main" id="{008670BB-7B1D-DC43-875A-E6ABB0F874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8" y="6017697"/>
                <a:ext cx="8296509" cy="559116"/>
              </a:xfrm>
              <a:prstGeom prst="rect">
                <a:avLst/>
              </a:prstGeom>
              <a:blipFill>
                <a:blip r:embed="rId3"/>
                <a:stretch>
                  <a:fillRect l="-1682" b="-1777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itle 1">
            <a:extLst>
              <a:ext uri="{FF2B5EF4-FFF2-40B4-BE49-F238E27FC236}">
                <a16:creationId xmlns:a16="http://schemas.microsoft.com/office/drawing/2014/main" id="{AA193DF9-5415-484E-BBAB-C6D92F954F34}"/>
              </a:ext>
            </a:extLst>
          </p:cNvPr>
          <p:cNvSpPr txBox="1">
            <a:spLocks/>
          </p:cNvSpPr>
          <p:nvPr/>
        </p:nvSpPr>
        <p:spPr>
          <a:xfrm>
            <a:off x="296030" y="186428"/>
            <a:ext cx="5648923" cy="439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 fontScale="85000" lnSpcReduction="10000"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hangingPunct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   (Marginal Method) – contd.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91B0FC-09F4-6347-8698-73CF1F82A45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50835" y="6328286"/>
            <a:ext cx="263983" cy="269241"/>
          </a:xfrm>
        </p:spPr>
        <p:txBody>
          <a:bodyPr/>
          <a:lstStyle/>
          <a:p>
            <a:fld id="{86CB4B4D-7CA3-9044-876B-883B54F8677D}" type="slidenum">
              <a:rPr lang="en-IN" smtClean="0"/>
              <a:t>5</a:t>
            </a:fld>
            <a:endParaRPr lang="en-IN"/>
          </a:p>
        </p:txBody>
      </p:sp>
      <p:grpSp>
        <p:nvGrpSpPr>
          <p:cNvPr id="56" name="Group">
            <a:extLst>
              <a:ext uri="{FF2B5EF4-FFF2-40B4-BE49-F238E27FC236}">
                <a16:creationId xmlns:a16="http://schemas.microsoft.com/office/drawing/2014/main" id="{40DA0DDC-91A2-AE4D-BF18-9586EB8C664C}"/>
              </a:ext>
            </a:extLst>
          </p:cNvPr>
          <p:cNvGrpSpPr/>
          <p:nvPr/>
        </p:nvGrpSpPr>
        <p:grpSpPr>
          <a:xfrm>
            <a:off x="1713388" y="1107036"/>
            <a:ext cx="6576663" cy="2599987"/>
            <a:chOff x="177256" y="676759"/>
            <a:chExt cx="6576661" cy="2599986"/>
          </a:xfrm>
        </p:grpSpPr>
        <p:sp>
          <p:nvSpPr>
            <p:cNvPr id="57" name="TextBox 44">
              <a:extLst>
                <a:ext uri="{FF2B5EF4-FFF2-40B4-BE49-F238E27FC236}">
                  <a16:creationId xmlns:a16="http://schemas.microsoft.com/office/drawing/2014/main" id="{BF2C682E-6F29-C146-8379-E803A12B8002}"/>
                </a:ext>
              </a:extLst>
            </p:cNvPr>
            <p:cNvSpPr txBox="1"/>
            <p:nvPr/>
          </p:nvSpPr>
          <p:spPr>
            <a:xfrm>
              <a:off x="5956963" y="676759"/>
              <a:ext cx="796954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604A7B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grpSp>
          <p:nvGrpSpPr>
            <p:cNvPr id="58" name="Group">
              <a:extLst>
                <a:ext uri="{FF2B5EF4-FFF2-40B4-BE49-F238E27FC236}">
                  <a16:creationId xmlns:a16="http://schemas.microsoft.com/office/drawing/2014/main" id="{05129F55-FFE5-0943-94F0-9047DF8755CA}"/>
                </a:ext>
              </a:extLst>
            </p:cNvPr>
            <p:cNvGrpSpPr/>
            <p:nvPr/>
          </p:nvGrpSpPr>
          <p:grpSpPr>
            <a:xfrm>
              <a:off x="177256" y="1019258"/>
              <a:ext cx="2840617" cy="2257487"/>
              <a:chOff x="177256" y="1019259"/>
              <a:chExt cx="2840616" cy="2257486"/>
            </a:xfrm>
          </p:grpSpPr>
          <p:sp>
            <p:nvSpPr>
              <p:cNvPr id="60" name="TextBox 29">
                <a:extLst>
                  <a:ext uri="{FF2B5EF4-FFF2-40B4-BE49-F238E27FC236}">
                    <a16:creationId xmlns:a16="http://schemas.microsoft.com/office/drawing/2014/main" id="{DE36A2EE-D038-D541-BC4A-79EDCED30A67}"/>
                  </a:ext>
                </a:extLst>
              </p:cNvPr>
              <p:cNvSpPr txBox="1"/>
              <p:nvPr/>
            </p:nvSpPr>
            <p:spPr>
              <a:xfrm>
                <a:off x="2220918" y="1019259"/>
                <a:ext cx="796954" cy="461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000" b="1">
                    <a:solidFill>
                      <a:srgbClr val="604A7B"/>
                    </a:solidFill>
                  </a:defRPr>
                </a:lvl1pPr>
              </a:lstStyle>
              <a:p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  <p:sp>
            <p:nvSpPr>
              <p:cNvPr id="61" name="Freeform 43">
                <a:extLst>
                  <a:ext uri="{FF2B5EF4-FFF2-40B4-BE49-F238E27FC236}">
                    <a16:creationId xmlns:a16="http://schemas.microsoft.com/office/drawing/2014/main" id="{82C26C20-FDE0-B545-97D1-5AF594671334}"/>
                  </a:ext>
                </a:extLst>
              </p:cNvPr>
              <p:cNvSpPr/>
              <p:nvPr/>
            </p:nvSpPr>
            <p:spPr>
              <a:xfrm>
                <a:off x="177256" y="1405158"/>
                <a:ext cx="2091520" cy="1871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9700" extrusionOk="0">
                    <a:moveTo>
                      <a:pt x="0" y="7961"/>
                    </a:moveTo>
                    <a:lnTo>
                      <a:pt x="2485" y="16093"/>
                    </a:lnTo>
                    <a:cubicBezTo>
                      <a:pt x="3345" y="16564"/>
                      <a:pt x="4460" y="21600"/>
                      <a:pt x="7646" y="18918"/>
                    </a:cubicBezTo>
                    <a:cubicBezTo>
                      <a:pt x="10832" y="16236"/>
                      <a:pt x="16216" y="811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rgbClr val="604A7B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9" name="Freeform 43">
              <a:extLst>
                <a:ext uri="{FF2B5EF4-FFF2-40B4-BE49-F238E27FC236}">
                  <a16:creationId xmlns:a16="http://schemas.microsoft.com/office/drawing/2014/main" id="{DF3F3A13-EF18-D643-A294-8B77AA61DDC5}"/>
                </a:ext>
              </a:extLst>
            </p:cNvPr>
            <p:cNvSpPr/>
            <p:nvPr/>
          </p:nvSpPr>
          <p:spPr>
            <a:xfrm>
              <a:off x="4127223" y="1015759"/>
              <a:ext cx="1844799" cy="21895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9700" extrusionOk="0">
                  <a:moveTo>
                    <a:pt x="0" y="7961"/>
                  </a:moveTo>
                  <a:lnTo>
                    <a:pt x="2485" y="16093"/>
                  </a:lnTo>
                  <a:cubicBezTo>
                    <a:pt x="3345" y="16564"/>
                    <a:pt x="4460" y="21600"/>
                    <a:pt x="7646" y="18918"/>
                  </a:cubicBezTo>
                  <a:cubicBezTo>
                    <a:pt x="10832" y="16236"/>
                    <a:pt x="16216" y="8118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604A7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2" name="TextBox 36">
            <a:extLst>
              <a:ext uri="{FF2B5EF4-FFF2-40B4-BE49-F238E27FC236}">
                <a16:creationId xmlns:a16="http://schemas.microsoft.com/office/drawing/2014/main" id="{E09171F4-DB53-0240-BBE3-7659FCEB9B94}"/>
              </a:ext>
            </a:extLst>
          </p:cNvPr>
          <p:cNvSpPr txBox="1"/>
          <p:nvPr/>
        </p:nvSpPr>
        <p:spPr>
          <a:xfrm>
            <a:off x="6211246" y="2866476"/>
            <a:ext cx="946747" cy="4475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19" rIns="45719" bIns="45719" numCol="1" anchor="t">
            <a:noAutofit/>
          </a:bodyPr>
          <a:lstStyle/>
          <a:p>
            <a:pPr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baseline="-599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sz="2400" baseline="-5999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59">
            <a:extLst>
              <a:ext uri="{FF2B5EF4-FFF2-40B4-BE49-F238E27FC236}">
                <a16:creationId xmlns:a16="http://schemas.microsoft.com/office/drawing/2014/main" id="{A178D46C-F08F-AB40-90BC-B02726A60108}"/>
              </a:ext>
            </a:extLst>
          </p:cNvPr>
          <p:cNvSpPr txBox="1"/>
          <p:nvPr/>
        </p:nvSpPr>
        <p:spPr>
          <a:xfrm>
            <a:off x="7102291" y="2571644"/>
            <a:ext cx="1486045" cy="8023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19" rIns="45719" bIns="45719" numCol="1" anchor="t">
            <a:noAutofit/>
          </a:bodyPr>
          <a:lstStyle>
            <a:lvl1pPr>
              <a:defRPr sz="2000" b="1">
                <a:solidFill>
                  <a:srgbClr val="FF0000"/>
                </a:solidFill>
              </a:defRPr>
            </a:lvl1pPr>
          </a:lstStyle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Eq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uilibrium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669104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" grpId="1" animBg="1" advAuto="0"/>
      <p:bldP spid="52" grpId="0" animBg="1"/>
      <p:bldP spid="52" grpId="1" animBg="1"/>
      <p:bldP spid="5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BDC65F6-E593-E64F-9D1B-2AE40807D3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425" y="1909266"/>
                <a:ext cx="3267021" cy="6726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𝑹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BDC65F6-E593-E64F-9D1B-2AE40807D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425" y="1909266"/>
                <a:ext cx="3267021" cy="6726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DCA016A-BC1E-7E4A-A71C-51E8ECEA5B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9371" y="2679391"/>
                <a:ext cx="2336146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itle 1">
                <a:extLst>
                  <a:ext uri="{FF2B5EF4-FFF2-40B4-BE49-F238E27FC236}">
                    <a16:creationId xmlns:a16="http://schemas.microsoft.com/office/drawing/2014/main" id="{6DCA016A-BC1E-7E4A-A71C-51E8ECEA5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1" y="2679391"/>
                <a:ext cx="2336146" cy="7825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5477515-B418-BA4D-88DF-BFE2FABA09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3398" y="3474456"/>
                <a:ext cx="3287616" cy="67268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r>
                            <a:rPr lang="en-US" sz="24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itle 1">
                <a:extLst>
                  <a:ext uri="{FF2B5EF4-FFF2-40B4-BE49-F238E27FC236}">
                    <a16:creationId xmlns:a16="http://schemas.microsoft.com/office/drawing/2014/main" id="{C5477515-B418-BA4D-88DF-BFE2FABA0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98" y="3474456"/>
                <a:ext cx="3287616" cy="6726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45D6D46-1F7F-CE48-914E-5E386E7F6A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9371" y="4146734"/>
                <a:ext cx="2612113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b="1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en-US" sz="2400" b="1" i="1" dirty="0" smtClean="0">
                                  <a:solidFill>
                                    <a:schemeClr val="accent3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1" i="1" dirty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3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45D6D46-1F7F-CE48-914E-5E386E7F6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1" y="4146734"/>
                <a:ext cx="2612113" cy="7825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103E9CE-4D73-6645-87AF-5328045264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9371" y="4936263"/>
                <a:ext cx="3065194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 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𝑴𝑹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1" i="1" dirty="0" smtClean="0">
                          <a:solidFill>
                            <a:schemeClr val="accent3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𝑴𝑪</m:t>
                      </m:r>
                    </m:oMath>
                  </m:oMathPara>
                </a14:m>
                <a:endParaRPr lang="en-US" sz="2400" b="1" dirty="0">
                  <a:solidFill>
                    <a:schemeClr val="accent3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itle 1">
                <a:extLst>
                  <a:ext uri="{FF2B5EF4-FFF2-40B4-BE49-F238E27FC236}">
                    <a16:creationId xmlns:a16="http://schemas.microsoft.com/office/drawing/2014/main" id="{8103E9CE-4D73-6645-87AF-532804526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371" y="4936263"/>
                <a:ext cx="3065194" cy="78259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65E0E690-9579-F847-A178-7F88A96394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213" y="1897506"/>
                <a:ext cx="2488545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𝟔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itle 1">
                <a:extLst>
                  <a:ext uri="{FF2B5EF4-FFF2-40B4-BE49-F238E27FC236}">
                    <a16:creationId xmlns:a16="http://schemas.microsoft.com/office/drawing/2014/main" id="{65E0E690-9579-F847-A178-7F88A9639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213" y="1897506"/>
                <a:ext cx="2488545" cy="78259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43960F4A-34F8-0D41-8BC1-10F7AA740F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213" y="2673820"/>
                <a:ext cx="3332924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43960F4A-34F8-0D41-8BC1-10F7AA740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213" y="2673820"/>
                <a:ext cx="3332924" cy="7825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3750150-852B-2C4E-959C-CBFB435063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82041" y="3532847"/>
                <a:ext cx="3580059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′−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itle 1">
                <a:extLst>
                  <a:ext uri="{FF2B5EF4-FFF2-40B4-BE49-F238E27FC236}">
                    <a16:creationId xmlns:a16="http://schemas.microsoft.com/office/drawing/2014/main" id="{13750150-852B-2C4E-959C-CBFB43506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2041" y="3532847"/>
                <a:ext cx="3580059" cy="7825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EEAD3679-EF36-CA41-B490-E71CCCA2D8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213" y="4302880"/>
                <a:ext cx="3902676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sSup>
                        <m:sSup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𝑴𝑹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′−</m:t>
                          </m:r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𝑴𝑪</m:t>
                          </m:r>
                        </m:e>
                        <m:sup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EEAD3679-EF36-CA41-B490-E71CCCA2D8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213" y="4302880"/>
                <a:ext cx="3902676" cy="78259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0448979B-9680-3F45-A612-F3155F6E83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0" y="4961333"/>
                <a:ext cx="4449103" cy="78259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Autofit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   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d>
                        <m:dPr>
                          <m:ctrlP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𝑴𝑪</m:t>
                          </m:r>
                        </m:e>
                      </m:d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𝑴𝑹</m:t>
                      </m:r>
                      <m:r>
                        <a:rPr lang="en-US" sz="24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0448979B-9680-3F45-A612-F3155F6E8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961333"/>
                <a:ext cx="4449103" cy="78259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0960622-519F-564C-A28E-4CE28C274F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7660" y="1335221"/>
                <a:ext cx="3065194" cy="5812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𝐍𝐞𝐜𝐞𝐬𝐬𝐚𝐫𝐲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𝐂𝐨𝐧𝐝𝐢𝐭𝐢𝐨𝐧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itle 1">
                <a:extLst>
                  <a:ext uri="{FF2B5EF4-FFF2-40B4-BE49-F238E27FC236}">
                    <a16:creationId xmlns:a16="http://schemas.microsoft.com/office/drawing/2014/main" id="{70960622-519F-564C-A28E-4CE28C27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660" y="1335221"/>
                <a:ext cx="3065194" cy="581239"/>
              </a:xfrm>
              <a:prstGeom prst="rect">
                <a:avLst/>
              </a:prstGeom>
              <a:blipFill>
                <a:blip r:embed="rId12"/>
                <a:stretch>
                  <a:fillRect l="-1235" b="-652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C764C2B5-1D0C-8D49-B5E0-9D3D8AF40A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45213" y="1328027"/>
                <a:ext cx="3065194" cy="5812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 anchor="ctr">
                <a:normAutofit fontScale="97500"/>
              </a:bodyPr>
              <a:lstStyle>
                <a:lvl1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1pPr>
                <a:lvl2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2pPr>
                <a:lvl3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3pPr>
                <a:lvl4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4pPr>
                <a:lvl5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5pPr>
                <a:lvl6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6pPr>
                <a:lvl7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7pPr>
                <a:lvl8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8pPr>
                <a:lvl9pPr marL="0" marR="0" indent="0" algn="ctr" defTabSz="9144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4400" b="0" i="0" u="none" strike="noStrike" cap="none" spc="0" baseline="0">
                    <a:solidFill>
                      <a:srgbClr val="000000"/>
                    </a:solidFill>
                    <a:uFillTx/>
                    <a:latin typeface="+mj-lt"/>
                    <a:ea typeface="+mj-ea"/>
                    <a:cs typeface="+mj-cs"/>
                    <a:sym typeface="Calibri"/>
                  </a:defRPr>
                </a:lvl9pPr>
              </a:lstStyle>
              <a:p>
                <a:pPr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𝐒𝐮𝐟𝐟𝐢𝐜𝐢𝐞𝐧𝐭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400" b="1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𝐂𝐨𝐧𝐝𝐢𝐭𝐢𝐨𝐧</m:t>
                      </m:r>
                    </m:oMath>
                  </m:oMathPara>
                </a14:m>
                <a:endParaRPr lang="en-US" sz="2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itle 1">
                <a:extLst>
                  <a:ext uri="{FF2B5EF4-FFF2-40B4-BE49-F238E27FC236}">
                    <a16:creationId xmlns:a16="http://schemas.microsoft.com/office/drawing/2014/main" id="{C764C2B5-1D0C-8D49-B5E0-9D3D8AF40A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5213" y="1328027"/>
                <a:ext cx="3065194" cy="581239"/>
              </a:xfrm>
              <a:prstGeom prst="rect">
                <a:avLst/>
              </a:prstGeom>
              <a:blipFill>
                <a:blip r:embed="rId13"/>
                <a:stretch>
                  <a:fillRect b="-425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itle 1">
            <a:extLst>
              <a:ext uri="{FF2B5EF4-FFF2-40B4-BE49-F238E27FC236}">
                <a16:creationId xmlns:a16="http://schemas.microsoft.com/office/drawing/2014/main" id="{81007A95-13D2-D04D-908F-430FF85361E3}"/>
              </a:ext>
            </a:extLst>
          </p:cNvPr>
          <p:cNvSpPr txBox="1">
            <a:spLocks/>
          </p:cNvSpPr>
          <p:nvPr/>
        </p:nvSpPr>
        <p:spPr>
          <a:xfrm>
            <a:off x="295278" y="427133"/>
            <a:ext cx="8553443" cy="4390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hangingPunct="1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   (Recap of full Marginal Method) – contd.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19CC0B-0490-F54A-AE3F-223FA02E7A8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3211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traight Connector 6"/>
          <p:cNvSpPr/>
          <p:nvPr/>
        </p:nvSpPr>
        <p:spPr>
          <a:xfrm flipH="1">
            <a:off x="1033426" y="1269358"/>
            <a:ext cx="23584" cy="4878771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Straight Connector 8"/>
          <p:cNvSpPr/>
          <p:nvPr/>
        </p:nvSpPr>
        <p:spPr>
          <a:xfrm flipH="1">
            <a:off x="1033426" y="6107846"/>
            <a:ext cx="5755109" cy="27810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B85E74C-0741-3E4F-A2D6-1298A0909D35}"/>
              </a:ext>
            </a:extLst>
          </p:cNvPr>
          <p:cNvGrpSpPr/>
          <p:nvPr/>
        </p:nvGrpSpPr>
        <p:grpSpPr>
          <a:xfrm>
            <a:off x="2492492" y="3662939"/>
            <a:ext cx="1844152" cy="1750349"/>
            <a:chOff x="3121817" y="3154707"/>
            <a:chExt cx="1844152" cy="1750349"/>
          </a:xfrm>
        </p:grpSpPr>
        <p:grpSp>
          <p:nvGrpSpPr>
            <p:cNvPr id="179" name="Group"/>
            <p:cNvGrpSpPr/>
            <p:nvPr/>
          </p:nvGrpSpPr>
          <p:grpSpPr>
            <a:xfrm>
              <a:off x="3121817" y="3154707"/>
              <a:ext cx="1844152" cy="1750349"/>
              <a:chOff x="0" y="0"/>
              <a:chExt cx="1844150" cy="1750347"/>
            </a:xfrm>
          </p:grpSpPr>
          <p:sp>
            <p:nvSpPr>
              <p:cNvPr id="177" name="Straight Connector 31"/>
              <p:cNvSpPr/>
              <p:nvPr/>
            </p:nvSpPr>
            <p:spPr>
              <a:xfrm flipV="1">
                <a:off x="0" y="215900"/>
                <a:ext cx="1534447" cy="1534447"/>
              </a:xfrm>
              <a:prstGeom prst="line">
                <a:avLst/>
              </a:prstGeom>
              <a:noFill/>
              <a:ln w="19050" cap="flat">
                <a:solidFill>
                  <a:srgbClr val="604A7B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8" name="TextBox 33"/>
              <p:cNvSpPr txBox="1"/>
              <p:nvPr/>
            </p:nvSpPr>
            <p:spPr>
              <a:xfrm>
                <a:off x="1477747" y="0"/>
                <a:ext cx="366403" cy="461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604A7B"/>
                    </a:solidFill>
                  </a:defRPr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sp>
          <p:nvSpPr>
            <p:cNvPr id="181" name="TextBox 36"/>
            <p:cNvSpPr txBox="1"/>
            <p:nvPr/>
          </p:nvSpPr>
          <p:spPr>
            <a:xfrm>
              <a:off x="3368081" y="3989058"/>
              <a:ext cx="323075" cy="4616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184" name="Group"/>
          <p:cNvGrpSpPr/>
          <p:nvPr/>
        </p:nvGrpSpPr>
        <p:grpSpPr>
          <a:xfrm>
            <a:off x="1033403" y="1372108"/>
            <a:ext cx="4007348" cy="4200484"/>
            <a:chOff x="0" y="-101589"/>
            <a:chExt cx="4007346" cy="4200482"/>
          </a:xfrm>
        </p:grpSpPr>
        <p:sp>
          <p:nvSpPr>
            <p:cNvPr id="182" name="Freeform 13"/>
            <p:cNvSpPr/>
            <p:nvPr/>
          </p:nvSpPr>
          <p:spPr>
            <a:xfrm>
              <a:off x="0" y="315942"/>
              <a:ext cx="3782951" cy="37829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6" y="20393"/>
                    <a:pt x="1332" y="19185"/>
                    <a:pt x="3240" y="18489"/>
                  </a:cubicBezTo>
                  <a:cubicBezTo>
                    <a:pt x="5148" y="17793"/>
                    <a:pt x="8388" y="20504"/>
                    <a:pt x="11448" y="17422"/>
                  </a:cubicBezTo>
                  <a:cubicBezTo>
                    <a:pt x="14508" y="14341"/>
                    <a:pt x="18054" y="7170"/>
                    <a:pt x="21600" y="0"/>
                  </a:cubicBezTo>
                </a:path>
              </a:pathLst>
            </a:custGeom>
            <a:noFill/>
            <a:ln w="28575" cap="flat">
              <a:solidFill>
                <a:srgbClr val="0F25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TextBox 21"/>
            <p:cNvSpPr txBox="1"/>
            <p:nvPr/>
          </p:nvSpPr>
          <p:spPr>
            <a:xfrm>
              <a:off x="3473945" y="-101589"/>
              <a:ext cx="533401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0F253F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</p:grpSp>
      <p:sp>
        <p:nvSpPr>
          <p:cNvPr id="185" name="TextBox 38"/>
          <p:cNvSpPr txBox="1"/>
          <p:nvPr/>
        </p:nvSpPr>
        <p:spPr>
          <a:xfrm>
            <a:off x="1774135" y="4572629"/>
            <a:ext cx="53340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86" name="Freeform 64"/>
          <p:cNvSpPr/>
          <p:nvPr/>
        </p:nvSpPr>
        <p:spPr>
          <a:xfrm>
            <a:off x="2122026" y="5353859"/>
            <a:ext cx="2164292" cy="779691"/>
          </a:xfrm>
          <a:custGeom>
            <a:avLst/>
            <a:gdLst>
              <a:gd name="connsiteX0" fmla="*/ 0 w 21600"/>
              <a:gd name="connsiteY0" fmla="*/ 22002 h 22002"/>
              <a:gd name="connsiteX1" fmla="*/ 9729 w 21600"/>
              <a:gd name="connsiteY1" fmla="*/ 0 h 22002"/>
              <a:gd name="connsiteX2" fmla="*/ 21600 w 21600"/>
              <a:gd name="connsiteY2" fmla="*/ 21904 h 2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600" h="22002" extrusionOk="0">
                <a:moveTo>
                  <a:pt x="0" y="22002"/>
                </a:moveTo>
                <a:cubicBezTo>
                  <a:pt x="3815" y="11218"/>
                  <a:pt x="6129" y="17"/>
                  <a:pt x="9729" y="0"/>
                </a:cubicBezTo>
                <a:cubicBezTo>
                  <a:pt x="13329" y="-16"/>
                  <a:pt x="18215" y="11153"/>
                  <a:pt x="21600" y="21904"/>
                </a:cubicBezTo>
              </a:path>
            </a:pathLst>
          </a:custGeom>
          <a:ln w="25400">
            <a:solidFill>
              <a:srgbClr val="0033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TextBox 70"/>
          <p:cNvSpPr txBox="1"/>
          <p:nvPr/>
        </p:nvSpPr>
        <p:spPr>
          <a:xfrm>
            <a:off x="6156956" y="6234760"/>
            <a:ext cx="764275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190" name="Group"/>
          <p:cNvGrpSpPr/>
          <p:nvPr/>
        </p:nvGrpSpPr>
        <p:grpSpPr>
          <a:xfrm>
            <a:off x="1904901" y="5020693"/>
            <a:ext cx="459819" cy="1549056"/>
            <a:chOff x="0" y="0"/>
            <a:chExt cx="459817" cy="1549055"/>
          </a:xfrm>
        </p:grpSpPr>
        <p:sp>
          <p:nvSpPr>
            <p:cNvPr id="188" name="Straight Connector 39"/>
            <p:cNvSpPr/>
            <p:nvPr/>
          </p:nvSpPr>
          <p:spPr>
            <a:xfrm flipH="1">
              <a:off x="198275" y="0"/>
              <a:ext cx="1" cy="1127504"/>
            </a:xfrm>
            <a:prstGeom prst="line">
              <a:avLst/>
            </a:prstGeom>
            <a:noFill/>
            <a:ln w="28575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TextBox 71"/>
            <p:cNvSpPr txBox="1"/>
            <p:nvPr/>
          </p:nvSpPr>
          <p:spPr>
            <a:xfrm>
              <a:off x="0" y="1087392"/>
              <a:ext cx="459817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36BC0A9-E1C4-104E-A178-6C1995528CDE}"/>
              </a:ext>
            </a:extLst>
          </p:cNvPr>
          <p:cNvGrpSpPr/>
          <p:nvPr/>
        </p:nvGrpSpPr>
        <p:grpSpPr>
          <a:xfrm>
            <a:off x="2850213" y="3624031"/>
            <a:ext cx="492944" cy="2945478"/>
            <a:chOff x="2850213" y="3624031"/>
            <a:chExt cx="492944" cy="2945478"/>
          </a:xfrm>
        </p:grpSpPr>
        <p:sp>
          <p:nvSpPr>
            <p:cNvPr id="180" name="TextBox 35"/>
            <p:cNvSpPr txBox="1"/>
            <p:nvPr/>
          </p:nvSpPr>
          <p:spPr>
            <a:xfrm>
              <a:off x="2850213" y="3624031"/>
              <a:ext cx="311036" cy="4616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2000" b="1">
                  <a:solidFill>
                    <a:srgbClr val="984807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grpSp>
          <p:nvGrpSpPr>
            <p:cNvPr id="193" name="Group"/>
            <p:cNvGrpSpPr/>
            <p:nvPr/>
          </p:nvGrpSpPr>
          <p:grpSpPr>
            <a:xfrm>
              <a:off x="2888699" y="4056743"/>
              <a:ext cx="454458" cy="2512766"/>
              <a:chOff x="0" y="135970"/>
              <a:chExt cx="454457" cy="2512764"/>
            </a:xfrm>
          </p:grpSpPr>
          <p:sp>
            <p:nvSpPr>
              <p:cNvPr id="191" name="Straight Connector 28"/>
              <p:cNvSpPr/>
              <p:nvPr/>
            </p:nvSpPr>
            <p:spPr>
              <a:xfrm>
                <a:off x="185595" y="135970"/>
                <a:ext cx="4048" cy="2083943"/>
              </a:xfrm>
              <a:prstGeom prst="line">
                <a:avLst/>
              </a:prstGeom>
              <a:noFill/>
              <a:ln w="28575" cap="flat">
                <a:solidFill>
                  <a:srgbClr val="632523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2" name="TextBox 72"/>
              <p:cNvSpPr txBox="1"/>
              <p:nvPr/>
            </p:nvSpPr>
            <p:spPr>
              <a:xfrm>
                <a:off x="0" y="2187071"/>
                <a:ext cx="454457" cy="461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403152"/>
                    </a:solidFill>
                  </a:defRPr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</p:grpSp>
      </p:grpSp>
      <p:grpSp>
        <p:nvGrpSpPr>
          <p:cNvPr id="196" name="Group"/>
          <p:cNvGrpSpPr/>
          <p:nvPr/>
        </p:nvGrpSpPr>
        <p:grpSpPr>
          <a:xfrm>
            <a:off x="4153441" y="2820791"/>
            <a:ext cx="479801" cy="3748718"/>
            <a:chOff x="0" y="0"/>
            <a:chExt cx="479800" cy="3748717"/>
          </a:xfrm>
        </p:grpSpPr>
        <p:sp>
          <p:nvSpPr>
            <p:cNvPr id="194" name="Straight Connector 57"/>
            <p:cNvSpPr/>
            <p:nvPr/>
          </p:nvSpPr>
          <p:spPr>
            <a:xfrm flipH="1">
              <a:off x="141907" y="0"/>
              <a:ext cx="1" cy="3287295"/>
            </a:xfrm>
            <a:prstGeom prst="line">
              <a:avLst/>
            </a:prstGeom>
            <a:noFill/>
            <a:ln w="28575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5" name="TextBox 74"/>
            <p:cNvSpPr txBox="1"/>
            <p:nvPr/>
          </p:nvSpPr>
          <p:spPr>
            <a:xfrm>
              <a:off x="0" y="3287054"/>
              <a:ext cx="479800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sz="24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197" name="TextBox 79"/>
          <p:cNvSpPr txBox="1"/>
          <p:nvPr/>
        </p:nvSpPr>
        <p:spPr>
          <a:xfrm>
            <a:off x="201945" y="185988"/>
            <a:ext cx="8862593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Maximization, Break-Even Objective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sz="2400"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</a:t>
            </a:r>
            <a:r>
              <a:rPr lang="en-US" sz="2400"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(Total Method)</a:t>
            </a:r>
            <a:r>
              <a:rPr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98" name="TextBox 80"/>
          <p:cNvSpPr txBox="1"/>
          <p:nvPr/>
        </p:nvSpPr>
        <p:spPr>
          <a:xfrm>
            <a:off x="5881068" y="3012515"/>
            <a:ext cx="3069823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Max. at output OQ</a:t>
            </a:r>
            <a:r>
              <a:rPr sz="2000" baseline="-2711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grpSp>
        <p:nvGrpSpPr>
          <p:cNvPr id="204" name="Group"/>
          <p:cNvGrpSpPr/>
          <p:nvPr/>
        </p:nvGrpSpPr>
        <p:grpSpPr>
          <a:xfrm>
            <a:off x="1052274" y="1473697"/>
            <a:ext cx="5104682" cy="4616430"/>
            <a:chOff x="-1" y="0"/>
            <a:chExt cx="5104680" cy="4616428"/>
          </a:xfrm>
        </p:grpSpPr>
        <p:sp>
          <p:nvSpPr>
            <p:cNvPr id="202" name="TextBox 26"/>
            <p:cNvSpPr txBox="1"/>
            <p:nvPr/>
          </p:nvSpPr>
          <p:spPr>
            <a:xfrm>
              <a:off x="4571279" y="0"/>
              <a:ext cx="533400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F6228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</a:t>
              </a:r>
            </a:p>
          </p:txBody>
        </p:sp>
        <p:sp>
          <p:nvSpPr>
            <p:cNvPr id="203" name="Line"/>
            <p:cNvSpPr/>
            <p:nvPr/>
          </p:nvSpPr>
          <p:spPr>
            <a:xfrm flipV="1">
              <a:off x="-1" y="120147"/>
              <a:ext cx="4496282" cy="4496281"/>
            </a:xfrm>
            <a:prstGeom prst="line">
              <a:avLst/>
            </a:prstGeom>
            <a:noFill/>
            <a:ln w="25400" cap="flat">
              <a:solidFill>
                <a:srgbClr val="4E7A27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5" name="TextBox 37"/>
          <p:cNvSpPr txBox="1"/>
          <p:nvPr/>
        </p:nvSpPr>
        <p:spPr>
          <a:xfrm>
            <a:off x="3898827" y="2424817"/>
            <a:ext cx="437817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6" name="TextBox 80"/>
          <p:cNvSpPr txBox="1"/>
          <p:nvPr/>
        </p:nvSpPr>
        <p:spPr>
          <a:xfrm>
            <a:off x="5861951" y="3522101"/>
            <a:ext cx="3069824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b="1"/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V(Max Profit) 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 =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</a:t>
            </a:r>
            <a:r>
              <a:rPr sz="2000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000" baseline="-59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80"/>
              <p:cNvSpPr txBox="1"/>
              <p:nvPr/>
            </p:nvSpPr>
            <p:spPr>
              <a:xfrm>
                <a:off x="5634533" y="4230470"/>
                <a:ext cx="3475618" cy="40011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>
                  <a:defRPr b="1"/>
                </a:pPr>
                <a:r>
                  <a:rPr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B1</a:t>
                </a:r>
                <a:r>
                  <a:rPr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</a:t>
                </a:r>
                <a:r>
                  <a:rPr lang="en-IN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</a:t>
                </a:r>
                <a:r>
                  <a:rPr lang="en-US" sz="20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</a:t>
                </a:r>
                <a:r>
                  <a:rPr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tan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∡</m:t>
                    </m:r>
                  </m:oMath>
                </a14:m>
                <a:r>
                  <a:rPr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sz="20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</a:t>
                </a:r>
                <a:r>
                  <a:rPr sz="2000" baseline="-5999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mc:Choice>
        <mc:Fallback xmlns="">
          <p:sp>
            <p:nvSpPr>
              <p:cNvPr id="207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533" y="4230470"/>
                <a:ext cx="3475618" cy="400110"/>
              </a:xfrm>
              <a:prstGeom prst="rect">
                <a:avLst/>
              </a:prstGeom>
              <a:blipFill>
                <a:blip r:embed="rId2"/>
                <a:stretch>
                  <a:fillRect l="-3273" t="-9375" b="-25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3">
                <a:extLst>
                  <a:ext uri="{FF2B5EF4-FFF2-40B4-BE49-F238E27FC236}">
                    <a16:creationId xmlns:a16="http://schemas.microsoft.com/office/drawing/2014/main" id="{756ACA35-557C-1C45-AF61-22CFC3E4FCFA}"/>
                  </a:ext>
                </a:extLst>
              </p:cNvPr>
              <p:cNvSpPr txBox="1"/>
              <p:nvPr/>
            </p:nvSpPr>
            <p:spPr>
              <a:xfrm>
                <a:off x="408513" y="1200989"/>
                <a:ext cx="764275" cy="92333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Rev, Cost</a:t>
                </a:r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TextBox 23">
                <a:extLst>
                  <a:ext uri="{FF2B5EF4-FFF2-40B4-BE49-F238E27FC236}">
                    <a16:creationId xmlns:a16="http://schemas.microsoft.com/office/drawing/2014/main" id="{756ACA35-557C-1C45-AF61-22CFC3E4FC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13" y="1200989"/>
                <a:ext cx="764275" cy="923330"/>
              </a:xfrm>
              <a:prstGeom prst="rect">
                <a:avLst/>
              </a:prstGeom>
              <a:blipFill>
                <a:blip r:embed="rId3"/>
                <a:stretch>
                  <a:fillRect l="-13115" t="-270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1D45C-99D0-204C-9FE9-152008D9E17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7</a:t>
            </a:fld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608D9BF-74E2-B34A-86B5-7FF40A53CF81}"/>
              </a:ext>
            </a:extLst>
          </p:cNvPr>
          <p:cNvGrpSpPr/>
          <p:nvPr/>
        </p:nvGrpSpPr>
        <p:grpSpPr>
          <a:xfrm>
            <a:off x="3074294" y="4056743"/>
            <a:ext cx="627010" cy="1808480"/>
            <a:chOff x="3074294" y="4056743"/>
            <a:chExt cx="627010" cy="180848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EA59808-2A98-EA42-A1DD-3C4AC5A44F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74294" y="4056743"/>
              <a:ext cx="8540" cy="732534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ysDash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CFCFEAE-EAB5-6B48-9ECE-28F585DDC628}"/>
                </a:ext>
              </a:extLst>
            </p:cNvPr>
            <p:cNvSpPr/>
            <p:nvPr/>
          </p:nvSpPr>
          <p:spPr>
            <a:xfrm>
              <a:off x="3082834" y="4281355"/>
              <a:ext cx="618470" cy="1583868"/>
            </a:xfrm>
            <a:custGeom>
              <a:avLst/>
              <a:gdLst>
                <a:gd name="connsiteX0" fmla="*/ 0 w 646683"/>
                <a:gd name="connsiteY0" fmla="*/ 3262 h 1583868"/>
                <a:gd name="connsiteX1" fmla="*/ 431075 w 646683"/>
                <a:gd name="connsiteY1" fmla="*/ 225331 h 1583868"/>
                <a:gd name="connsiteX2" fmla="*/ 600892 w 646683"/>
                <a:gd name="connsiteY2" fmla="*/ 1440176 h 1583868"/>
                <a:gd name="connsiteX3" fmla="*/ 600892 w 646683"/>
                <a:gd name="connsiteY3" fmla="*/ 1453239 h 1583868"/>
                <a:gd name="connsiteX4" fmla="*/ 78377 w 646683"/>
                <a:gd name="connsiteY4" fmla="*/ 1583868 h 1583868"/>
                <a:gd name="connsiteX0" fmla="*/ 0 w 656719"/>
                <a:gd name="connsiteY0" fmla="*/ 3262 h 1583868"/>
                <a:gd name="connsiteX1" fmla="*/ 431075 w 656719"/>
                <a:gd name="connsiteY1" fmla="*/ 225331 h 1583868"/>
                <a:gd name="connsiteX2" fmla="*/ 600892 w 656719"/>
                <a:gd name="connsiteY2" fmla="*/ 1440176 h 1583868"/>
                <a:gd name="connsiteX3" fmla="*/ 614642 w 656719"/>
                <a:gd name="connsiteY3" fmla="*/ 1508240 h 1583868"/>
                <a:gd name="connsiteX4" fmla="*/ 78377 w 656719"/>
                <a:gd name="connsiteY4" fmla="*/ 1583868 h 1583868"/>
                <a:gd name="connsiteX0" fmla="*/ 0 w 618470"/>
                <a:gd name="connsiteY0" fmla="*/ 3262 h 1583868"/>
                <a:gd name="connsiteX1" fmla="*/ 431075 w 618470"/>
                <a:gd name="connsiteY1" fmla="*/ 225331 h 1583868"/>
                <a:gd name="connsiteX2" fmla="*/ 600892 w 618470"/>
                <a:gd name="connsiteY2" fmla="*/ 1440176 h 1583868"/>
                <a:gd name="connsiteX3" fmla="*/ 614642 w 618470"/>
                <a:gd name="connsiteY3" fmla="*/ 1508240 h 1583868"/>
                <a:gd name="connsiteX4" fmla="*/ 78377 w 618470"/>
                <a:gd name="connsiteY4" fmla="*/ 1583868 h 158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70" h="1583868">
                  <a:moveTo>
                    <a:pt x="0" y="3262"/>
                  </a:moveTo>
                  <a:cubicBezTo>
                    <a:pt x="165463" y="-5446"/>
                    <a:pt x="330926" y="-14154"/>
                    <a:pt x="431075" y="225331"/>
                  </a:cubicBezTo>
                  <a:cubicBezTo>
                    <a:pt x="531224" y="464816"/>
                    <a:pt x="570298" y="1226358"/>
                    <a:pt x="600892" y="1440176"/>
                  </a:cubicBezTo>
                  <a:cubicBezTo>
                    <a:pt x="631486" y="1653994"/>
                    <a:pt x="612351" y="1443039"/>
                    <a:pt x="614642" y="1508240"/>
                  </a:cubicBezTo>
                  <a:cubicBezTo>
                    <a:pt x="527556" y="1532189"/>
                    <a:pt x="296091" y="1530528"/>
                    <a:pt x="78377" y="1583868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dash"/>
              <a:round/>
              <a:headEnd type="none" w="med" len="med"/>
              <a:tailEnd type="triangle" w="med" len="med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1643044-97B6-D144-A9FD-C2CD5A12B8E7}"/>
              </a:ext>
            </a:extLst>
          </p:cNvPr>
          <p:cNvGrpSpPr/>
          <p:nvPr/>
        </p:nvGrpSpPr>
        <p:grpSpPr>
          <a:xfrm>
            <a:off x="2888417" y="4920006"/>
            <a:ext cx="534641" cy="1182808"/>
            <a:chOff x="2876372" y="4925038"/>
            <a:chExt cx="534641" cy="1182808"/>
          </a:xfrm>
        </p:grpSpPr>
        <p:grpSp>
          <p:nvGrpSpPr>
            <p:cNvPr id="201" name="Group"/>
            <p:cNvGrpSpPr/>
            <p:nvPr/>
          </p:nvGrpSpPr>
          <p:grpSpPr>
            <a:xfrm>
              <a:off x="2876372" y="4925038"/>
              <a:ext cx="534641" cy="461665"/>
              <a:chOff x="-36233" y="-120318"/>
              <a:chExt cx="430778" cy="391457"/>
            </a:xfrm>
          </p:grpSpPr>
          <p:sp>
            <p:nvSpPr>
              <p:cNvPr id="199" name="TextBox 78"/>
              <p:cNvSpPr txBox="1"/>
              <p:nvPr/>
            </p:nvSpPr>
            <p:spPr>
              <a:xfrm>
                <a:off x="114396" y="-120318"/>
                <a:ext cx="280149" cy="39145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2000" b="1">
                    <a:solidFill>
                      <a:srgbClr val="403152"/>
                    </a:solidFill>
                  </a:defRPr>
                </a:lvl1pPr>
              </a:lstStyle>
              <a:p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00" name="Line"/>
              <p:cNvSpPr/>
              <p:nvPr/>
            </p:nvSpPr>
            <p:spPr>
              <a:xfrm>
                <a:off x="-36233" y="215955"/>
                <a:ext cx="290794" cy="2467"/>
              </a:xfrm>
              <a:prstGeom prst="line">
                <a:avLst/>
              </a:prstGeom>
              <a:noFill/>
              <a:ln w="635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1AC3E22-3F5C-ED46-9EDC-D26F9E85CF69}"/>
                </a:ext>
              </a:extLst>
            </p:cNvPr>
            <p:cNvCxnSpPr>
              <a:cxnSpLocks/>
            </p:cNvCxnSpPr>
            <p:nvPr/>
          </p:nvCxnSpPr>
          <p:spPr>
            <a:xfrm>
              <a:off x="3079581" y="5335563"/>
              <a:ext cx="0" cy="772283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" grpId="1" animBg="1" advAuto="0"/>
      <p:bldP spid="185" grpId="7" animBg="1" advAuto="0"/>
      <p:bldP spid="186" grpId="12" animBg="1" advAuto="0"/>
      <p:bldP spid="190" grpId="8" animBg="1" advAuto="0"/>
      <p:bldP spid="196" grpId="10" animBg="1" advAuto="0"/>
      <p:bldP spid="198" grpId="13" animBg="1" advAuto="0"/>
      <p:bldP spid="204" grpId="2" animBg="1" advAuto="0"/>
      <p:bldP spid="205" grpId="9" animBg="1" advAuto="0"/>
      <p:bldP spid="206" grpId="14" animBg="1" advAuto="0"/>
      <p:bldP spid="207" grpId="15" animBg="1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traight Connector 6"/>
          <p:cNvSpPr/>
          <p:nvPr/>
        </p:nvSpPr>
        <p:spPr>
          <a:xfrm flipH="1">
            <a:off x="1173409" y="1280854"/>
            <a:ext cx="23584" cy="487877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Straight Connector 8"/>
          <p:cNvSpPr/>
          <p:nvPr/>
        </p:nvSpPr>
        <p:spPr>
          <a:xfrm flipH="1" flipV="1">
            <a:off x="1173409" y="6147152"/>
            <a:ext cx="6947849" cy="11376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3" name="Group"/>
          <p:cNvGrpSpPr/>
          <p:nvPr/>
        </p:nvGrpSpPr>
        <p:grpSpPr>
          <a:xfrm>
            <a:off x="1202127" y="1278084"/>
            <a:ext cx="4480733" cy="3836279"/>
            <a:chOff x="0" y="0"/>
            <a:chExt cx="4480732" cy="3836278"/>
          </a:xfrm>
        </p:grpSpPr>
        <p:sp>
          <p:nvSpPr>
            <p:cNvPr id="211" name="Freeform 13"/>
            <p:cNvSpPr/>
            <p:nvPr/>
          </p:nvSpPr>
          <p:spPr>
            <a:xfrm>
              <a:off x="0" y="406174"/>
              <a:ext cx="4119063" cy="3430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6" y="20393"/>
                    <a:pt x="1332" y="19185"/>
                    <a:pt x="3240" y="18489"/>
                  </a:cubicBezTo>
                  <a:cubicBezTo>
                    <a:pt x="5148" y="17793"/>
                    <a:pt x="8388" y="20504"/>
                    <a:pt x="11448" y="17422"/>
                  </a:cubicBezTo>
                  <a:cubicBezTo>
                    <a:pt x="14508" y="14341"/>
                    <a:pt x="18054" y="7170"/>
                    <a:pt x="21600" y="0"/>
                  </a:cubicBezTo>
                </a:path>
              </a:pathLst>
            </a:custGeom>
            <a:noFill/>
            <a:ln w="28575" cap="flat">
              <a:solidFill>
                <a:srgbClr val="0F25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"/>
            <p:cNvSpPr txBox="1"/>
            <p:nvPr/>
          </p:nvSpPr>
          <p:spPr>
            <a:xfrm>
              <a:off x="3947331" y="0"/>
              <a:ext cx="533401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0F253F"/>
                  </a:solidFill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</p:grpSp>
      <p:grpSp>
        <p:nvGrpSpPr>
          <p:cNvPr id="217" name="Group"/>
          <p:cNvGrpSpPr/>
          <p:nvPr/>
        </p:nvGrpSpPr>
        <p:grpSpPr>
          <a:xfrm>
            <a:off x="1189829" y="1835452"/>
            <a:ext cx="5519455" cy="4300910"/>
            <a:chOff x="0" y="0"/>
            <a:chExt cx="5519454" cy="4300909"/>
          </a:xfrm>
        </p:grpSpPr>
        <p:sp>
          <p:nvSpPr>
            <p:cNvPr id="215" name="Freeform 25"/>
            <p:cNvSpPr/>
            <p:nvPr/>
          </p:nvSpPr>
          <p:spPr>
            <a:xfrm>
              <a:off x="0" y="0"/>
              <a:ext cx="4986055" cy="4300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62" extrusionOk="0">
                  <a:moveTo>
                    <a:pt x="0" y="20762"/>
                  </a:moveTo>
                  <a:cubicBezTo>
                    <a:pt x="981" y="17354"/>
                    <a:pt x="1962" y="13946"/>
                    <a:pt x="4002" y="10537"/>
                  </a:cubicBezTo>
                  <a:cubicBezTo>
                    <a:pt x="6043" y="7129"/>
                    <a:pt x="9309" y="1464"/>
                    <a:pt x="12242" y="313"/>
                  </a:cubicBezTo>
                  <a:cubicBezTo>
                    <a:pt x="15175" y="-838"/>
                    <a:pt x="18387" y="1397"/>
                    <a:pt x="21600" y="3632"/>
                  </a:cubicBezTo>
                </a:path>
              </a:pathLst>
            </a:custGeom>
            <a:noFill/>
            <a:ln w="38100" cap="flat">
              <a:solidFill>
                <a:srgbClr val="4F622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6"/>
            <p:cNvSpPr txBox="1"/>
            <p:nvPr/>
          </p:nvSpPr>
          <p:spPr>
            <a:xfrm>
              <a:off x="4986053" y="646365"/>
              <a:ext cx="533401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F6228"/>
                  </a:solidFill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TR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0D92056-6E16-CE45-A6A4-5EEE36F17FEE}"/>
              </a:ext>
            </a:extLst>
          </p:cNvPr>
          <p:cNvGrpSpPr/>
          <p:nvPr/>
        </p:nvGrpSpPr>
        <p:grpSpPr>
          <a:xfrm>
            <a:off x="2540728" y="1201880"/>
            <a:ext cx="2048660" cy="1812667"/>
            <a:chOff x="3030070" y="682152"/>
            <a:chExt cx="2048660" cy="1812667"/>
          </a:xfrm>
        </p:grpSpPr>
        <p:grpSp>
          <p:nvGrpSpPr>
            <p:cNvPr id="220" name="Group"/>
            <p:cNvGrpSpPr/>
            <p:nvPr/>
          </p:nvGrpSpPr>
          <p:grpSpPr>
            <a:xfrm>
              <a:off x="3030070" y="682152"/>
              <a:ext cx="2048660" cy="1812667"/>
              <a:chOff x="0" y="0"/>
              <a:chExt cx="2048659" cy="1812665"/>
            </a:xfrm>
          </p:grpSpPr>
          <p:sp>
            <p:nvSpPr>
              <p:cNvPr id="218" name="Straight Connector 30"/>
              <p:cNvSpPr/>
              <p:nvPr/>
            </p:nvSpPr>
            <p:spPr>
              <a:xfrm flipV="1">
                <a:off x="0" y="328582"/>
                <a:ext cx="1782739" cy="1484083"/>
              </a:xfrm>
              <a:prstGeom prst="line">
                <a:avLst/>
              </a:prstGeom>
              <a:noFill/>
              <a:ln w="19050" cap="flat">
                <a:solidFill>
                  <a:srgbClr val="953735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9" name="TextBox 32"/>
              <p:cNvSpPr txBox="1"/>
              <p:nvPr/>
            </p:nvSpPr>
            <p:spPr>
              <a:xfrm>
                <a:off x="1672228" y="0"/>
                <a:ext cx="376431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953735"/>
                    </a:solidFill>
                  </a:defRPr>
                </a:pPr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  <p:sp>
          <p:nvSpPr>
            <p:cNvPr id="224" name="TextBox 35"/>
            <p:cNvSpPr txBox="1"/>
            <p:nvPr/>
          </p:nvSpPr>
          <p:spPr>
            <a:xfrm>
              <a:off x="3810000" y="1318931"/>
              <a:ext cx="311036" cy="4001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2000" b="1">
                  <a:solidFill>
                    <a:srgbClr val="984807"/>
                  </a:solidFill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8910FA31-4DA3-3740-B0AF-5CF740829F23}"/>
              </a:ext>
            </a:extLst>
          </p:cNvPr>
          <p:cNvGrpSpPr/>
          <p:nvPr/>
        </p:nvGrpSpPr>
        <p:grpSpPr>
          <a:xfrm>
            <a:off x="2711057" y="3337789"/>
            <a:ext cx="2102996" cy="1694402"/>
            <a:chOff x="3200399" y="2818061"/>
            <a:chExt cx="2102996" cy="1694402"/>
          </a:xfrm>
        </p:grpSpPr>
        <p:grpSp>
          <p:nvGrpSpPr>
            <p:cNvPr id="223" name="Group"/>
            <p:cNvGrpSpPr/>
            <p:nvPr/>
          </p:nvGrpSpPr>
          <p:grpSpPr>
            <a:xfrm>
              <a:off x="3200399" y="2818061"/>
              <a:ext cx="2102996" cy="1694402"/>
              <a:chOff x="0" y="0"/>
              <a:chExt cx="2102994" cy="1694401"/>
            </a:xfrm>
          </p:grpSpPr>
          <p:sp>
            <p:nvSpPr>
              <p:cNvPr id="221" name="Straight Connector 31"/>
              <p:cNvSpPr/>
              <p:nvPr/>
            </p:nvSpPr>
            <p:spPr>
              <a:xfrm flipV="1">
                <a:off x="0" y="210318"/>
                <a:ext cx="1782739" cy="1484083"/>
              </a:xfrm>
              <a:prstGeom prst="line">
                <a:avLst/>
              </a:prstGeom>
              <a:noFill/>
              <a:ln w="19050" cap="flat">
                <a:solidFill>
                  <a:srgbClr val="604A7B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2" name="TextBox 33"/>
              <p:cNvSpPr txBox="1"/>
              <p:nvPr/>
            </p:nvSpPr>
            <p:spPr>
              <a:xfrm>
                <a:off x="1736592" y="0"/>
                <a:ext cx="366402" cy="40010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604A7B"/>
                    </a:solidFill>
                  </a:defRPr>
                </a:pPr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  <p:sp>
          <p:nvSpPr>
            <p:cNvPr id="225" name="TextBox 36"/>
            <p:cNvSpPr txBox="1"/>
            <p:nvPr/>
          </p:nvSpPr>
          <p:spPr>
            <a:xfrm>
              <a:off x="3948603" y="3746076"/>
              <a:ext cx="377439" cy="40011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226" name="TextBox 37"/>
          <p:cNvSpPr txBox="1"/>
          <p:nvPr/>
        </p:nvSpPr>
        <p:spPr>
          <a:xfrm>
            <a:off x="4787790" y="1537275"/>
            <a:ext cx="430744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7" name="TextBox 38"/>
          <p:cNvSpPr txBox="1"/>
          <p:nvPr/>
        </p:nvSpPr>
        <p:spPr>
          <a:xfrm>
            <a:off x="1436173" y="4217544"/>
            <a:ext cx="53340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Freeform 64"/>
          <p:cNvSpPr/>
          <p:nvPr/>
        </p:nvSpPr>
        <p:spPr>
          <a:xfrm>
            <a:off x="1789060" y="3926926"/>
            <a:ext cx="3285812" cy="22106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4" extrusionOk="0">
                <a:moveTo>
                  <a:pt x="0" y="21584"/>
                </a:moveTo>
                <a:cubicBezTo>
                  <a:pt x="3815" y="10800"/>
                  <a:pt x="7629" y="17"/>
                  <a:pt x="11229" y="0"/>
                </a:cubicBezTo>
                <a:cubicBezTo>
                  <a:pt x="14829" y="-16"/>
                  <a:pt x="18215" y="10735"/>
                  <a:pt x="21600" y="21486"/>
                </a:cubicBezTo>
              </a:path>
            </a:pathLst>
          </a:custGeom>
          <a:ln w="25400">
            <a:solidFill>
              <a:srgbClr val="0033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70"/>
          <p:cNvSpPr txBox="1"/>
          <p:nvPr/>
        </p:nvSpPr>
        <p:spPr>
          <a:xfrm>
            <a:off x="7658543" y="6167601"/>
            <a:ext cx="76427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1537609" y="4628444"/>
            <a:ext cx="459818" cy="1883845"/>
            <a:chOff x="0" y="-1"/>
            <a:chExt cx="459817" cy="1883843"/>
          </a:xfrm>
        </p:grpSpPr>
        <p:sp>
          <p:nvSpPr>
            <p:cNvPr id="230" name="Straight Connector 39"/>
            <p:cNvSpPr/>
            <p:nvPr/>
          </p:nvSpPr>
          <p:spPr>
            <a:xfrm flipH="1">
              <a:off x="223520" y="-1"/>
              <a:ext cx="12777" cy="1530084"/>
            </a:xfrm>
            <a:prstGeom prst="line">
              <a:avLst/>
            </a:prstGeom>
            <a:noFill/>
            <a:ln w="28575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TextBox 71"/>
            <p:cNvSpPr txBox="1"/>
            <p:nvPr/>
          </p:nvSpPr>
          <p:spPr>
            <a:xfrm>
              <a:off x="0" y="1483734"/>
              <a:ext cx="459817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5" name="Group"/>
          <p:cNvGrpSpPr/>
          <p:nvPr/>
        </p:nvGrpSpPr>
        <p:grpSpPr>
          <a:xfrm>
            <a:off x="3232988" y="2221780"/>
            <a:ext cx="454459" cy="4321801"/>
            <a:chOff x="0" y="-1"/>
            <a:chExt cx="454457" cy="4321799"/>
          </a:xfrm>
        </p:grpSpPr>
        <p:sp>
          <p:nvSpPr>
            <p:cNvPr id="233" name="Straight Connector 28"/>
            <p:cNvSpPr/>
            <p:nvPr/>
          </p:nvSpPr>
          <p:spPr>
            <a:xfrm flipH="1">
              <a:off x="217037" y="-1"/>
              <a:ext cx="52300" cy="3956950"/>
            </a:xfrm>
            <a:prstGeom prst="line">
              <a:avLst/>
            </a:prstGeom>
            <a:noFill/>
            <a:ln w="28575" cap="flat">
              <a:solidFill>
                <a:srgbClr val="632523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TextBox 72"/>
            <p:cNvSpPr txBox="1"/>
            <p:nvPr/>
          </p:nvSpPr>
          <p:spPr>
            <a:xfrm>
              <a:off x="0" y="3921690"/>
              <a:ext cx="454457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403152"/>
                  </a:solidFill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1" name="Group"/>
          <p:cNvGrpSpPr/>
          <p:nvPr/>
        </p:nvGrpSpPr>
        <p:grpSpPr>
          <a:xfrm>
            <a:off x="4929308" y="1969226"/>
            <a:ext cx="479801" cy="4613500"/>
            <a:chOff x="0" y="0"/>
            <a:chExt cx="479800" cy="4613498"/>
          </a:xfrm>
        </p:grpSpPr>
        <p:sp>
          <p:nvSpPr>
            <p:cNvPr id="239" name="Straight Connector 57"/>
            <p:cNvSpPr/>
            <p:nvPr/>
          </p:nvSpPr>
          <p:spPr>
            <a:xfrm flipH="1">
              <a:off x="123489" y="0"/>
              <a:ext cx="80998" cy="4189302"/>
            </a:xfrm>
            <a:prstGeom prst="line">
              <a:avLst/>
            </a:prstGeom>
            <a:noFill/>
            <a:ln w="28575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TextBox 74"/>
            <p:cNvSpPr txBox="1"/>
            <p:nvPr/>
          </p:nvSpPr>
          <p:spPr>
            <a:xfrm>
              <a:off x="0" y="4213390"/>
              <a:ext cx="479800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2" name="TextBox 79"/>
          <p:cNvSpPr txBox="1"/>
          <p:nvPr/>
        </p:nvSpPr>
        <p:spPr>
          <a:xfrm>
            <a:off x="112542" y="85417"/>
            <a:ext cx="8918916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Maximization, Break-Even Objective: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 Competition</a:t>
            </a:r>
            <a:r>
              <a:rPr lang="en-US"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 sz="2000" b="1"/>
            </a:pP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(Total Method)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1" name="Straight Connector 85"/>
          <p:cNvSpPr/>
          <p:nvPr/>
        </p:nvSpPr>
        <p:spPr>
          <a:xfrm flipV="1">
            <a:off x="1185200" y="2272504"/>
            <a:ext cx="2298090" cy="3870969"/>
          </a:xfrm>
          <a:prstGeom prst="line">
            <a:avLst/>
          </a:prstGeom>
          <a:ln w="57150">
            <a:solidFill>
              <a:srgbClr val="7030A0"/>
            </a:solidFill>
            <a:prstDash val="dash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2" name="Group"/>
          <p:cNvGrpSpPr/>
          <p:nvPr/>
        </p:nvGrpSpPr>
        <p:grpSpPr>
          <a:xfrm>
            <a:off x="1186019" y="2002214"/>
            <a:ext cx="3880710" cy="4131156"/>
            <a:chOff x="0" y="0"/>
            <a:chExt cx="3880708" cy="4131154"/>
          </a:xfrm>
        </p:grpSpPr>
        <p:sp>
          <p:nvSpPr>
            <p:cNvPr id="270" name="Straight Connector 85"/>
            <p:cNvSpPr/>
            <p:nvPr/>
          </p:nvSpPr>
          <p:spPr>
            <a:xfrm flipV="1">
              <a:off x="0" y="2653803"/>
              <a:ext cx="578631" cy="1470175"/>
            </a:xfrm>
            <a:prstGeom prst="line">
              <a:avLst/>
            </a:prstGeom>
            <a:noFill/>
            <a:ln w="50800" cap="flat">
              <a:solidFill>
                <a:srgbClr val="FF0000"/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Straight Connector 85"/>
            <p:cNvSpPr/>
            <p:nvPr/>
          </p:nvSpPr>
          <p:spPr>
            <a:xfrm flipV="1">
              <a:off x="26209" y="0"/>
              <a:ext cx="3854500" cy="4131156"/>
            </a:xfrm>
            <a:prstGeom prst="line">
              <a:avLst/>
            </a:prstGeom>
            <a:noFill/>
            <a:ln w="50800" cap="flat">
              <a:solidFill>
                <a:schemeClr val="accent2">
                  <a:lumMod val="75000"/>
                </a:schemeClr>
              </a:solidFill>
              <a:custDash>
                <a:ds d="200000" sp="200000"/>
              </a:custDash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1CAAA7-3FC9-224F-B4C0-5EB2CB394808}"/>
                  </a:ext>
                </a:extLst>
              </p:cNvPr>
              <p:cNvSpPr txBox="1"/>
              <p:nvPr/>
            </p:nvSpPr>
            <p:spPr>
              <a:xfrm>
                <a:off x="5664626" y="2989547"/>
                <a:ext cx="3479374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𝐕</m:t>
                      </m:r>
                      <m:d>
                        <m:dPr>
                          <m:ctrlPr>
                            <a:rPr kumimoji="0" lang="en-US" sz="24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𝛑</m:t>
                          </m:r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 </m:t>
                          </m:r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𝐦𝐚𝐱</m:t>
                          </m:r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.</m:t>
                          </m:r>
                        </m:e>
                      </m:d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=</m:t>
                      </m:r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𝐑𝐂</m:t>
                      </m:r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=</m:t>
                      </m:r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𝐌</m:t>
                      </m:r>
                      <m:sSub>
                        <m:sSubPr>
                          <m:ctrlPr>
                            <a:rPr kumimoji="0" lang="en-US" sz="24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𝐐</m:t>
                          </m:r>
                        </m:e>
                        <m:sub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01CAAA7-3FC9-224F-B4C0-5EB2CB394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626" y="2989547"/>
                <a:ext cx="3479374" cy="369332"/>
              </a:xfrm>
              <a:prstGeom prst="rect">
                <a:avLst/>
              </a:prstGeom>
              <a:blipFill>
                <a:blip r:embed="rId2"/>
                <a:stretch>
                  <a:fillRect t="-6667" b="-36667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D414915-4467-0547-A977-634F5B24E509}"/>
                  </a:ext>
                </a:extLst>
              </p:cNvPr>
              <p:cNvSpPr txBox="1"/>
              <p:nvPr/>
            </p:nvSpPr>
            <p:spPr>
              <a:xfrm>
                <a:off x="5700900" y="3467950"/>
                <a:ext cx="2654584" cy="3693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0" tIns="0" rIns="0" bIns="0" numCol="1" spcCol="38100" rtlCol="0" anchor="t">
                <a:spAutoFit/>
              </a:bodyPr>
              <a:lstStyle/>
              <a:p>
                <a:pPr marL="0" marR="0" indent="0" defTabSz="914400" rtl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𝐐</m:t>
                      </m:r>
                      <m:d>
                        <m:dPr>
                          <m:ctrlPr>
                            <a:rPr kumimoji="0" lang="en-US" sz="24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dPr>
                        <m:e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𝛑</m:t>
                          </m:r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 </m:t>
                          </m:r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𝐦𝐚𝐱</m:t>
                          </m:r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.</m:t>
                          </m:r>
                        </m:e>
                      </m:d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=</m:t>
                      </m:r>
                      <m:r>
                        <a:rPr kumimoji="0" lang="en-US" sz="2400" b="1" i="0" u="none" strike="noStrike" cap="none" spc="0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Calibri"/>
                        </a:rPr>
                        <m:t>𝐎</m:t>
                      </m:r>
                      <m:sSub>
                        <m:sSubPr>
                          <m:ctrlPr>
                            <a:rPr kumimoji="0" lang="en-US" sz="2400" b="1" i="1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</m:ctrlPr>
                        </m:sSubPr>
                        <m:e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𝐐</m:t>
                          </m:r>
                        </m:e>
                        <m:sub>
                          <m:r>
                            <a:rPr kumimoji="0" lang="en-US" sz="2400" b="1" i="0" u="none" strike="noStrike" cap="none" spc="0" normalizeH="0" baseline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Calibri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kumimoji="0" lang="en-US" sz="2400" b="1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Times New Roman" panose="02020603050405020304" pitchFamily="18" charset="0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D414915-4467-0547-A977-634F5B24E5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0900" y="3467950"/>
                <a:ext cx="2654584" cy="369332"/>
              </a:xfrm>
              <a:prstGeom prst="rect">
                <a:avLst/>
              </a:prstGeom>
              <a:blipFill>
                <a:blip r:embed="rId3"/>
                <a:stretch>
                  <a:fillRect l="-474" t="-6897" b="-41379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80">
                <a:extLst>
                  <a:ext uri="{FF2B5EF4-FFF2-40B4-BE49-F238E27FC236}">
                    <a16:creationId xmlns:a16="http://schemas.microsoft.com/office/drawing/2014/main" id="{4F766090-889F-B644-AA39-91D0D7EC976A}"/>
                  </a:ext>
                </a:extLst>
              </p:cNvPr>
              <p:cNvSpPr txBox="1"/>
              <p:nvPr/>
            </p:nvSpPr>
            <p:spPr>
              <a:xfrm>
                <a:off x="5824899" y="3884169"/>
                <a:ext cx="2400989" cy="46166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/>
              <a:p>
                <a:pPr>
                  <a:defRPr b="1"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IN" sz="2400" baseline="-250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= tan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∡</m:t>
                    </m:r>
                  </m:oMath>
                </a14:m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ROQ</a:t>
                </a:r>
                <a:r>
                  <a:rPr lang="en-IN" sz="2400" baseline="-5999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</mc:Choice>
        <mc:Fallback xmlns="">
          <p:sp>
            <p:nvSpPr>
              <p:cNvPr id="61" name="TextBox 80">
                <a:extLst>
                  <a:ext uri="{FF2B5EF4-FFF2-40B4-BE49-F238E27FC236}">
                    <a16:creationId xmlns:a16="http://schemas.microsoft.com/office/drawing/2014/main" id="{4F766090-889F-B644-AA39-91D0D7EC9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899" y="3884169"/>
                <a:ext cx="2400989" cy="461665"/>
              </a:xfrm>
              <a:prstGeom prst="rect">
                <a:avLst/>
              </a:prstGeom>
              <a:blipFill>
                <a:blip r:embed="rId4"/>
                <a:stretch>
                  <a:fillRect l="-5789" t="-10526" r="-3158" b="-2894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215C73-818E-AC4C-8805-0E531F7FB0F2}"/>
              </a:ext>
            </a:extLst>
          </p:cNvPr>
          <p:cNvGrpSpPr/>
          <p:nvPr/>
        </p:nvGrpSpPr>
        <p:grpSpPr>
          <a:xfrm>
            <a:off x="5859148" y="4933395"/>
            <a:ext cx="3001079" cy="1042208"/>
            <a:chOff x="6383374" y="4206955"/>
            <a:chExt cx="2431005" cy="10861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80">
                  <a:extLst>
                    <a:ext uri="{FF2B5EF4-FFF2-40B4-BE49-F238E27FC236}">
                      <a16:creationId xmlns:a16="http://schemas.microsoft.com/office/drawing/2014/main" id="{2742398C-8C9B-054B-92F7-17D06709CE55}"/>
                    </a:ext>
                  </a:extLst>
                </p:cNvPr>
                <p:cNvSpPr txBox="1"/>
                <p:nvPr/>
              </p:nvSpPr>
              <p:spPr>
                <a:xfrm>
                  <a:off x="6383374" y="4206955"/>
                  <a:ext cx="2400989" cy="48114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/>
                <a:p>
                  <a:pPr>
                    <a:defRPr b="1"/>
                  </a:pPr>
                  <a:r>
                    <a:rPr lang="en-IN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r>
                    <a:rPr lang="en-IN" sz="2400" baseline="-250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B0</a:t>
                  </a:r>
                  <a:r>
                    <a:rPr lang="en-IN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tan </a:t>
                  </a:r>
                  <a14:m>
                    <m:oMath xmlns:m="http://schemas.openxmlformats.org/officeDocument/2006/math">
                      <m:r>
                        <a:rPr lang="en-IN" sz="2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</m:oMath>
                  </a14:m>
                  <a:r>
                    <a:rPr lang="en-IN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B</a:t>
                  </a:r>
                  <a:r>
                    <a:rPr lang="en-IN" sz="2400" baseline="-5999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  <a:r>
                    <a:rPr lang="en-IN" sz="24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OQ</a:t>
                  </a:r>
                  <a:r>
                    <a:rPr lang="en-IN" sz="2400" baseline="-5999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60" name="TextBox 80">
                  <a:extLst>
                    <a:ext uri="{FF2B5EF4-FFF2-40B4-BE49-F238E27FC236}">
                      <a16:creationId xmlns:a16="http://schemas.microsoft.com/office/drawing/2014/main" id="{2742398C-8C9B-054B-92F7-17D06709CE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3374" y="4206955"/>
                  <a:ext cx="2400989" cy="481149"/>
                </a:xfrm>
                <a:prstGeom prst="rect">
                  <a:avLst/>
                </a:prstGeom>
                <a:blipFill>
                  <a:blip r:embed="rId5"/>
                  <a:stretch>
                    <a:fillRect l="-4701" t="-10811" b="-29730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80">
                  <a:extLst>
                    <a:ext uri="{FF2B5EF4-FFF2-40B4-BE49-F238E27FC236}">
                      <a16:creationId xmlns:a16="http://schemas.microsoft.com/office/drawing/2014/main" id="{C52BDE87-3A25-8446-9AF4-098E441C8D8A}"/>
                    </a:ext>
                  </a:extLst>
                </p:cNvPr>
                <p:cNvSpPr txBox="1"/>
                <p:nvPr/>
              </p:nvSpPr>
              <p:spPr>
                <a:xfrm>
                  <a:off x="6384188" y="4811998"/>
                  <a:ext cx="2430191" cy="481149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45719" rIns="45719">
                  <a:spAutoFit/>
                </a:bodyPr>
                <a:lstStyle/>
                <a:p>
                  <a:pPr>
                    <a:defRPr b="1"/>
                  </a:pPr>
                  <a:r>
                    <a:rPr lang="en-IN" sz="2400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r>
                    <a:rPr lang="en-IN" sz="2400" baseline="-25000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B2</a:t>
                  </a:r>
                  <a:r>
                    <a:rPr lang="en-IN" sz="2400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tan </a:t>
                  </a:r>
                  <a14:m>
                    <m:oMath xmlns:m="http://schemas.openxmlformats.org/officeDocument/2006/math">
                      <m:r>
                        <a:rPr lang="en-IN" sz="2400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∡</m:t>
                      </m:r>
                    </m:oMath>
                  </a14:m>
                  <a:r>
                    <a:rPr lang="en-IN" sz="2400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B</a:t>
                  </a:r>
                  <a:r>
                    <a:rPr lang="en-IN" sz="2400" baseline="-5999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IN" sz="2400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OQ</a:t>
                  </a:r>
                  <a:r>
                    <a:rPr lang="en-IN" sz="2400" baseline="-5999" dirty="0">
                      <a:solidFill>
                        <a:schemeClr val="accent6">
                          <a:lumMod val="50000"/>
                        </a:schemeClr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</a:p>
              </p:txBody>
            </p:sp>
          </mc:Choice>
          <mc:Fallback xmlns="">
            <p:sp>
              <p:nvSpPr>
                <p:cNvPr id="62" name="TextBox 80">
                  <a:extLst>
                    <a:ext uri="{FF2B5EF4-FFF2-40B4-BE49-F238E27FC236}">
                      <a16:creationId xmlns:a16="http://schemas.microsoft.com/office/drawing/2014/main" id="{C52BDE87-3A25-8446-9AF4-098E441C8D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4188" y="4811998"/>
                  <a:ext cx="2430191" cy="481149"/>
                </a:xfrm>
                <a:prstGeom prst="rect">
                  <a:avLst/>
                </a:prstGeom>
                <a:blipFill>
                  <a:blip r:embed="rId6"/>
                  <a:stretch>
                    <a:fillRect l="-4641" t="-10811" b="-29730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23">
                <a:extLst>
                  <a:ext uri="{FF2B5EF4-FFF2-40B4-BE49-F238E27FC236}">
                    <a16:creationId xmlns:a16="http://schemas.microsoft.com/office/drawing/2014/main" id="{27C1AE22-902B-8447-B79B-F82D93779EC2}"/>
                  </a:ext>
                </a:extLst>
              </p:cNvPr>
              <p:cNvSpPr txBox="1"/>
              <p:nvPr/>
            </p:nvSpPr>
            <p:spPr>
              <a:xfrm>
                <a:off x="455117" y="1196707"/>
                <a:ext cx="764275" cy="101566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Rev, Cost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23">
                <a:extLst>
                  <a:ext uri="{FF2B5EF4-FFF2-40B4-BE49-F238E27FC236}">
                    <a16:creationId xmlns:a16="http://schemas.microsoft.com/office/drawing/2014/main" id="{27C1AE22-902B-8447-B79B-F82D93779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17" y="1196707"/>
                <a:ext cx="764275" cy="1015663"/>
              </a:xfrm>
              <a:prstGeom prst="rect">
                <a:avLst/>
              </a:prstGeom>
              <a:blipFill>
                <a:blip r:embed="rId7"/>
                <a:stretch>
                  <a:fillRect l="-15000" t="-370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A9EEE-F710-344B-9F18-8C0DE9F05EE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8</a:t>
            </a:fld>
            <a:endParaRPr lang="en-IN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A1BB66-BF1A-3A4C-AF9F-5E3C47C9F621}"/>
              </a:ext>
            </a:extLst>
          </p:cNvPr>
          <p:cNvGrpSpPr/>
          <p:nvPr/>
        </p:nvGrpSpPr>
        <p:grpSpPr>
          <a:xfrm>
            <a:off x="3502326" y="2225764"/>
            <a:ext cx="650961" cy="3169296"/>
            <a:chOff x="3050343" y="4056743"/>
            <a:chExt cx="650961" cy="18084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74F1F446-03CF-884F-B326-4CB320592A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50343" y="4056743"/>
              <a:ext cx="32491" cy="1208909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ysDash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3E385A36-46F1-324D-91CC-3873F0D88D93}"/>
                </a:ext>
              </a:extLst>
            </p:cNvPr>
            <p:cNvSpPr/>
            <p:nvPr/>
          </p:nvSpPr>
          <p:spPr>
            <a:xfrm>
              <a:off x="3082834" y="4281355"/>
              <a:ext cx="618470" cy="1583868"/>
            </a:xfrm>
            <a:custGeom>
              <a:avLst/>
              <a:gdLst>
                <a:gd name="connsiteX0" fmla="*/ 0 w 646683"/>
                <a:gd name="connsiteY0" fmla="*/ 3262 h 1583868"/>
                <a:gd name="connsiteX1" fmla="*/ 431075 w 646683"/>
                <a:gd name="connsiteY1" fmla="*/ 225331 h 1583868"/>
                <a:gd name="connsiteX2" fmla="*/ 600892 w 646683"/>
                <a:gd name="connsiteY2" fmla="*/ 1440176 h 1583868"/>
                <a:gd name="connsiteX3" fmla="*/ 600892 w 646683"/>
                <a:gd name="connsiteY3" fmla="*/ 1453239 h 1583868"/>
                <a:gd name="connsiteX4" fmla="*/ 78377 w 646683"/>
                <a:gd name="connsiteY4" fmla="*/ 1583868 h 1583868"/>
                <a:gd name="connsiteX0" fmla="*/ 0 w 656719"/>
                <a:gd name="connsiteY0" fmla="*/ 3262 h 1583868"/>
                <a:gd name="connsiteX1" fmla="*/ 431075 w 656719"/>
                <a:gd name="connsiteY1" fmla="*/ 225331 h 1583868"/>
                <a:gd name="connsiteX2" fmla="*/ 600892 w 656719"/>
                <a:gd name="connsiteY2" fmla="*/ 1440176 h 1583868"/>
                <a:gd name="connsiteX3" fmla="*/ 614642 w 656719"/>
                <a:gd name="connsiteY3" fmla="*/ 1508240 h 1583868"/>
                <a:gd name="connsiteX4" fmla="*/ 78377 w 656719"/>
                <a:gd name="connsiteY4" fmla="*/ 1583868 h 1583868"/>
                <a:gd name="connsiteX0" fmla="*/ 0 w 618470"/>
                <a:gd name="connsiteY0" fmla="*/ 3262 h 1583868"/>
                <a:gd name="connsiteX1" fmla="*/ 431075 w 618470"/>
                <a:gd name="connsiteY1" fmla="*/ 225331 h 1583868"/>
                <a:gd name="connsiteX2" fmla="*/ 600892 w 618470"/>
                <a:gd name="connsiteY2" fmla="*/ 1440176 h 1583868"/>
                <a:gd name="connsiteX3" fmla="*/ 614642 w 618470"/>
                <a:gd name="connsiteY3" fmla="*/ 1508240 h 1583868"/>
                <a:gd name="connsiteX4" fmla="*/ 78377 w 618470"/>
                <a:gd name="connsiteY4" fmla="*/ 1583868 h 1583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470" h="1583868">
                  <a:moveTo>
                    <a:pt x="0" y="3262"/>
                  </a:moveTo>
                  <a:cubicBezTo>
                    <a:pt x="165463" y="-5446"/>
                    <a:pt x="330926" y="-14154"/>
                    <a:pt x="431075" y="225331"/>
                  </a:cubicBezTo>
                  <a:cubicBezTo>
                    <a:pt x="531224" y="464816"/>
                    <a:pt x="570298" y="1226358"/>
                    <a:pt x="600892" y="1440176"/>
                  </a:cubicBezTo>
                  <a:cubicBezTo>
                    <a:pt x="631486" y="1653994"/>
                    <a:pt x="612351" y="1443039"/>
                    <a:pt x="614642" y="1508240"/>
                  </a:cubicBezTo>
                  <a:cubicBezTo>
                    <a:pt x="527556" y="1532189"/>
                    <a:pt x="296091" y="1530528"/>
                    <a:pt x="78377" y="1583868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dash"/>
              <a:round/>
              <a:headEnd type="none" w="med" len="med"/>
              <a:tailEnd type="triangle" w="med" len="med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91439" tIns="45719" rIns="91439" bIns="45719" numCol="1" spcCol="38100" rtlCol="0" anchor="t">
              <a:no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9662E8-CF47-FC47-B41C-6669315E8BCC}"/>
              </a:ext>
            </a:extLst>
          </p:cNvPr>
          <p:cNvGrpSpPr/>
          <p:nvPr/>
        </p:nvGrpSpPr>
        <p:grpSpPr>
          <a:xfrm>
            <a:off x="3269106" y="3540821"/>
            <a:ext cx="484140" cy="2637909"/>
            <a:chOff x="3269106" y="3540821"/>
            <a:chExt cx="484140" cy="2637909"/>
          </a:xfrm>
        </p:grpSpPr>
        <p:grpSp>
          <p:nvGrpSpPr>
            <p:cNvPr id="263" name="Group"/>
            <p:cNvGrpSpPr/>
            <p:nvPr/>
          </p:nvGrpSpPr>
          <p:grpSpPr>
            <a:xfrm>
              <a:off x="3269106" y="3540821"/>
              <a:ext cx="484140" cy="400108"/>
              <a:chOff x="0" y="0"/>
              <a:chExt cx="484139" cy="400107"/>
            </a:xfrm>
          </p:grpSpPr>
          <p:sp>
            <p:nvSpPr>
              <p:cNvPr id="261" name="TextBox 78"/>
              <p:cNvSpPr txBox="1"/>
              <p:nvPr/>
            </p:nvSpPr>
            <p:spPr>
              <a:xfrm>
                <a:off x="207900" y="0"/>
                <a:ext cx="276239" cy="40010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>
                  <a:defRPr sz="2000" b="1">
                    <a:solidFill>
                      <a:srgbClr val="403152"/>
                    </a:solidFill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</a:p>
            </p:txBody>
          </p:sp>
          <p:sp>
            <p:nvSpPr>
              <p:cNvPr id="262" name="Line"/>
              <p:cNvSpPr/>
              <p:nvPr/>
            </p:nvSpPr>
            <p:spPr>
              <a:xfrm>
                <a:off x="0" y="349822"/>
                <a:ext cx="414140" cy="1"/>
              </a:xfrm>
              <a:prstGeom prst="line">
                <a:avLst/>
              </a:prstGeom>
              <a:noFill/>
              <a:ln w="635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B1036F-F83C-AE49-8EFE-FD465393A1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6176" y="3926927"/>
              <a:ext cx="7114" cy="2251803"/>
            </a:xfrm>
            <a:prstGeom prst="line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9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1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18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1" animBg="1" advAuto="0"/>
      <p:bldP spid="217" grpId="2" animBg="1" advAuto="0"/>
      <p:bldP spid="226" grpId="10" animBg="1" advAuto="0"/>
      <p:bldP spid="227" grpId="8" animBg="1" advAuto="0"/>
      <p:bldP spid="228" grpId="13" animBg="1" advAuto="0"/>
      <p:bldP spid="232" grpId="9" animBg="1" advAuto="0"/>
      <p:bldP spid="235" grpId="7" animBg="1" advAuto="0"/>
      <p:bldP spid="241" grpId="11" animBg="1" advAuto="0"/>
      <p:bldP spid="251" grpId="18" animBg="1" advAuto="0"/>
      <p:bldP spid="272" grpId="17" animBg="1" advAuto="0"/>
      <p:bldP spid="4" grpId="0"/>
      <p:bldP spid="58" grpId="0"/>
      <p:bldP spid="61" grpId="0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traight Connector 6"/>
          <p:cNvSpPr/>
          <p:nvPr/>
        </p:nvSpPr>
        <p:spPr>
          <a:xfrm flipH="1">
            <a:off x="1553476" y="1310106"/>
            <a:ext cx="23584" cy="487877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Straight Connector 8"/>
          <p:cNvSpPr/>
          <p:nvPr/>
        </p:nvSpPr>
        <p:spPr>
          <a:xfrm flipH="1">
            <a:off x="1553475" y="6117345"/>
            <a:ext cx="5959143" cy="59059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3" name="Group"/>
          <p:cNvGrpSpPr/>
          <p:nvPr/>
        </p:nvGrpSpPr>
        <p:grpSpPr>
          <a:xfrm>
            <a:off x="1582194" y="1307336"/>
            <a:ext cx="4480733" cy="3836279"/>
            <a:chOff x="0" y="0"/>
            <a:chExt cx="4480732" cy="3836278"/>
          </a:xfrm>
        </p:grpSpPr>
        <p:sp>
          <p:nvSpPr>
            <p:cNvPr id="211" name="Freeform 13"/>
            <p:cNvSpPr/>
            <p:nvPr/>
          </p:nvSpPr>
          <p:spPr>
            <a:xfrm>
              <a:off x="0" y="406174"/>
              <a:ext cx="4119063" cy="3430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6" y="20393"/>
                    <a:pt x="1332" y="19185"/>
                    <a:pt x="3240" y="18489"/>
                  </a:cubicBezTo>
                  <a:cubicBezTo>
                    <a:pt x="5148" y="17793"/>
                    <a:pt x="8388" y="20504"/>
                    <a:pt x="11448" y="17422"/>
                  </a:cubicBezTo>
                  <a:cubicBezTo>
                    <a:pt x="14508" y="14341"/>
                    <a:pt x="18054" y="7170"/>
                    <a:pt x="21600" y="0"/>
                  </a:cubicBezTo>
                </a:path>
              </a:pathLst>
            </a:custGeom>
            <a:noFill/>
            <a:ln w="28575" cap="flat">
              <a:solidFill>
                <a:srgbClr val="0F25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"/>
            <p:cNvSpPr txBox="1"/>
            <p:nvPr/>
          </p:nvSpPr>
          <p:spPr>
            <a:xfrm>
              <a:off x="3947331" y="0"/>
              <a:ext cx="533401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0F253F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</p:grpSp>
      <p:sp>
        <p:nvSpPr>
          <p:cNvPr id="214" name="TextBox 23"/>
          <p:cNvSpPr txBox="1"/>
          <p:nvPr/>
        </p:nvSpPr>
        <p:spPr>
          <a:xfrm>
            <a:off x="881740" y="1189155"/>
            <a:ext cx="764275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grpSp>
        <p:nvGrpSpPr>
          <p:cNvPr id="217" name="Group"/>
          <p:cNvGrpSpPr/>
          <p:nvPr/>
        </p:nvGrpSpPr>
        <p:grpSpPr>
          <a:xfrm>
            <a:off x="1569896" y="1864704"/>
            <a:ext cx="5519455" cy="4300910"/>
            <a:chOff x="0" y="0"/>
            <a:chExt cx="5519454" cy="4300909"/>
          </a:xfrm>
        </p:grpSpPr>
        <p:sp>
          <p:nvSpPr>
            <p:cNvPr id="215" name="Freeform 25"/>
            <p:cNvSpPr/>
            <p:nvPr/>
          </p:nvSpPr>
          <p:spPr>
            <a:xfrm>
              <a:off x="0" y="0"/>
              <a:ext cx="4986055" cy="4300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62" extrusionOk="0">
                  <a:moveTo>
                    <a:pt x="0" y="20762"/>
                  </a:moveTo>
                  <a:cubicBezTo>
                    <a:pt x="981" y="17354"/>
                    <a:pt x="1962" y="13946"/>
                    <a:pt x="4002" y="10537"/>
                  </a:cubicBezTo>
                  <a:cubicBezTo>
                    <a:pt x="6043" y="7129"/>
                    <a:pt x="9309" y="1464"/>
                    <a:pt x="12242" y="313"/>
                  </a:cubicBezTo>
                  <a:cubicBezTo>
                    <a:pt x="15175" y="-838"/>
                    <a:pt x="18387" y="1397"/>
                    <a:pt x="21600" y="3632"/>
                  </a:cubicBezTo>
                </a:path>
              </a:pathLst>
            </a:custGeom>
            <a:noFill/>
            <a:ln w="38100" cap="flat">
              <a:solidFill>
                <a:srgbClr val="4F622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6"/>
            <p:cNvSpPr txBox="1"/>
            <p:nvPr/>
          </p:nvSpPr>
          <p:spPr>
            <a:xfrm>
              <a:off x="4986053" y="646365"/>
              <a:ext cx="533401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F6228"/>
                  </a:solidFill>
                </a:defRPr>
              </a:lvl1pPr>
            </a:lstStyle>
            <a:p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TR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CBC03AC-733E-0E47-A599-027BFB7091B7}"/>
              </a:ext>
            </a:extLst>
          </p:cNvPr>
          <p:cNvGrpSpPr/>
          <p:nvPr/>
        </p:nvGrpSpPr>
        <p:grpSpPr>
          <a:xfrm>
            <a:off x="2920795" y="1231132"/>
            <a:ext cx="2273325" cy="3830311"/>
            <a:chOff x="3030070" y="1096933"/>
            <a:chExt cx="2273325" cy="3830311"/>
          </a:xfrm>
        </p:grpSpPr>
        <p:grpSp>
          <p:nvGrpSpPr>
            <p:cNvPr id="220" name="Group"/>
            <p:cNvGrpSpPr/>
            <p:nvPr/>
          </p:nvGrpSpPr>
          <p:grpSpPr>
            <a:xfrm>
              <a:off x="3030070" y="1096933"/>
              <a:ext cx="2048660" cy="1812667"/>
              <a:chOff x="0" y="0"/>
              <a:chExt cx="2048659" cy="1812665"/>
            </a:xfrm>
          </p:grpSpPr>
          <p:sp>
            <p:nvSpPr>
              <p:cNvPr id="218" name="Straight Connector 30"/>
              <p:cNvSpPr/>
              <p:nvPr/>
            </p:nvSpPr>
            <p:spPr>
              <a:xfrm flipV="1">
                <a:off x="0" y="328582"/>
                <a:ext cx="1782739" cy="1484083"/>
              </a:xfrm>
              <a:prstGeom prst="line">
                <a:avLst/>
              </a:prstGeom>
              <a:noFill/>
              <a:ln w="19050" cap="flat">
                <a:solidFill>
                  <a:srgbClr val="953735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9" name="TextBox 32"/>
              <p:cNvSpPr txBox="1"/>
              <p:nvPr/>
            </p:nvSpPr>
            <p:spPr>
              <a:xfrm>
                <a:off x="1672228" y="0"/>
                <a:ext cx="376431" cy="46166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953735"/>
                    </a:solidFill>
                  </a:defRPr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  <p:grpSp>
          <p:nvGrpSpPr>
            <p:cNvPr id="223" name="Group"/>
            <p:cNvGrpSpPr/>
            <p:nvPr/>
          </p:nvGrpSpPr>
          <p:grpSpPr>
            <a:xfrm>
              <a:off x="3200399" y="3232842"/>
              <a:ext cx="2102996" cy="1694402"/>
              <a:chOff x="0" y="0"/>
              <a:chExt cx="2102994" cy="1694401"/>
            </a:xfrm>
          </p:grpSpPr>
          <p:sp>
            <p:nvSpPr>
              <p:cNvPr id="221" name="Straight Connector 31"/>
              <p:cNvSpPr/>
              <p:nvPr/>
            </p:nvSpPr>
            <p:spPr>
              <a:xfrm flipV="1">
                <a:off x="0" y="210318"/>
                <a:ext cx="1782739" cy="1484083"/>
              </a:xfrm>
              <a:prstGeom prst="line">
                <a:avLst/>
              </a:prstGeom>
              <a:noFill/>
              <a:ln w="19050" cap="flat">
                <a:solidFill>
                  <a:srgbClr val="604A7B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2" name="TextBox 33"/>
              <p:cNvSpPr txBox="1"/>
              <p:nvPr/>
            </p:nvSpPr>
            <p:spPr>
              <a:xfrm>
                <a:off x="1736592" y="0"/>
                <a:ext cx="366402" cy="461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604A7B"/>
                    </a:solidFill>
                  </a:defRPr>
                </a:pPr>
                <a:r>
                  <a:rPr sz="24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sz="2400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</p:grpSp>
      </p:grpSp>
      <p:sp>
        <p:nvSpPr>
          <p:cNvPr id="226" name="TextBox 37"/>
          <p:cNvSpPr txBox="1"/>
          <p:nvPr/>
        </p:nvSpPr>
        <p:spPr>
          <a:xfrm>
            <a:off x="5167857" y="1566527"/>
            <a:ext cx="430744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7" name="TextBox 38"/>
          <p:cNvSpPr txBox="1"/>
          <p:nvPr/>
        </p:nvSpPr>
        <p:spPr>
          <a:xfrm>
            <a:off x="1815804" y="4088568"/>
            <a:ext cx="53340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Freeform 64"/>
          <p:cNvSpPr/>
          <p:nvPr/>
        </p:nvSpPr>
        <p:spPr>
          <a:xfrm>
            <a:off x="2169127" y="3956178"/>
            <a:ext cx="3285812" cy="22106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4" extrusionOk="0">
                <a:moveTo>
                  <a:pt x="0" y="21584"/>
                </a:moveTo>
                <a:cubicBezTo>
                  <a:pt x="3815" y="10800"/>
                  <a:pt x="7629" y="17"/>
                  <a:pt x="11229" y="0"/>
                </a:cubicBezTo>
                <a:cubicBezTo>
                  <a:pt x="14829" y="-16"/>
                  <a:pt x="18215" y="10735"/>
                  <a:pt x="21600" y="21486"/>
                </a:cubicBezTo>
              </a:path>
            </a:pathLst>
          </a:custGeom>
          <a:ln w="25400">
            <a:solidFill>
              <a:srgbClr val="0033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70"/>
          <p:cNvSpPr txBox="1"/>
          <p:nvPr/>
        </p:nvSpPr>
        <p:spPr>
          <a:xfrm>
            <a:off x="7050826" y="6163171"/>
            <a:ext cx="764275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1917676" y="4657696"/>
            <a:ext cx="459818" cy="1945400"/>
            <a:chOff x="0" y="-1"/>
            <a:chExt cx="459817" cy="1945398"/>
          </a:xfrm>
        </p:grpSpPr>
        <p:sp>
          <p:nvSpPr>
            <p:cNvPr id="230" name="Straight Connector 39"/>
            <p:cNvSpPr/>
            <p:nvPr/>
          </p:nvSpPr>
          <p:spPr>
            <a:xfrm flipH="1">
              <a:off x="223520" y="-1"/>
              <a:ext cx="12777" cy="1530084"/>
            </a:xfrm>
            <a:prstGeom prst="line">
              <a:avLst/>
            </a:prstGeom>
            <a:noFill/>
            <a:ln w="28575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TextBox 71"/>
            <p:cNvSpPr txBox="1"/>
            <p:nvPr/>
          </p:nvSpPr>
          <p:spPr>
            <a:xfrm>
              <a:off x="0" y="1483734"/>
              <a:ext cx="459817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4307B-880E-D74C-AD97-A6966B0059E8}"/>
              </a:ext>
            </a:extLst>
          </p:cNvPr>
          <p:cNvGrpSpPr/>
          <p:nvPr/>
        </p:nvGrpSpPr>
        <p:grpSpPr>
          <a:xfrm>
            <a:off x="3613055" y="1867911"/>
            <a:ext cx="603712" cy="4766477"/>
            <a:chOff x="3722330" y="1733712"/>
            <a:chExt cx="603712" cy="4766477"/>
          </a:xfrm>
        </p:grpSpPr>
        <p:sp>
          <p:nvSpPr>
            <p:cNvPr id="224" name="TextBox 35"/>
            <p:cNvSpPr txBox="1"/>
            <p:nvPr/>
          </p:nvSpPr>
          <p:spPr>
            <a:xfrm>
              <a:off x="3810000" y="1733712"/>
              <a:ext cx="311036" cy="4616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2000" b="1">
                  <a:solidFill>
                    <a:srgbClr val="984807"/>
                  </a:solidFill>
                </a:defRPr>
              </a:lvl1pPr>
            </a:lstStyle>
            <a:p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225" name="TextBox 36"/>
            <p:cNvSpPr txBox="1"/>
            <p:nvPr/>
          </p:nvSpPr>
          <p:spPr>
            <a:xfrm>
              <a:off x="3948603" y="4160857"/>
              <a:ext cx="377439" cy="4616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9" rIns="45719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235" name="Group"/>
            <p:cNvGrpSpPr/>
            <p:nvPr/>
          </p:nvGrpSpPr>
          <p:grpSpPr>
            <a:xfrm>
              <a:off x="3722330" y="2116833"/>
              <a:ext cx="454459" cy="4383356"/>
              <a:chOff x="0" y="-1"/>
              <a:chExt cx="454457" cy="4383354"/>
            </a:xfrm>
          </p:grpSpPr>
          <p:sp>
            <p:nvSpPr>
              <p:cNvPr id="233" name="Straight Connector 28"/>
              <p:cNvSpPr/>
              <p:nvPr/>
            </p:nvSpPr>
            <p:spPr>
              <a:xfrm flipH="1">
                <a:off x="217037" y="-1"/>
                <a:ext cx="52300" cy="3956950"/>
              </a:xfrm>
              <a:prstGeom prst="line">
                <a:avLst/>
              </a:prstGeom>
              <a:noFill/>
              <a:ln w="28575" cap="flat">
                <a:solidFill>
                  <a:srgbClr val="632523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4" name="TextBox 72"/>
              <p:cNvSpPr txBox="1"/>
              <p:nvPr/>
            </p:nvSpPr>
            <p:spPr>
              <a:xfrm>
                <a:off x="0" y="3921690"/>
                <a:ext cx="454457" cy="46166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403152"/>
                    </a:solidFill>
                  </a:defRPr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41" name="Group"/>
          <p:cNvGrpSpPr/>
          <p:nvPr/>
        </p:nvGrpSpPr>
        <p:grpSpPr>
          <a:xfrm>
            <a:off x="5309375" y="1998478"/>
            <a:ext cx="479801" cy="4675055"/>
            <a:chOff x="0" y="0"/>
            <a:chExt cx="479800" cy="4675053"/>
          </a:xfrm>
        </p:grpSpPr>
        <p:sp>
          <p:nvSpPr>
            <p:cNvPr id="239" name="Straight Connector 57"/>
            <p:cNvSpPr/>
            <p:nvPr/>
          </p:nvSpPr>
          <p:spPr>
            <a:xfrm flipH="1">
              <a:off x="123489" y="0"/>
              <a:ext cx="80998" cy="4189302"/>
            </a:xfrm>
            <a:prstGeom prst="line">
              <a:avLst/>
            </a:prstGeom>
            <a:noFill/>
            <a:ln w="28575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TextBox 74"/>
            <p:cNvSpPr txBox="1"/>
            <p:nvPr/>
          </p:nvSpPr>
          <p:spPr>
            <a:xfrm>
              <a:off x="0" y="4213390"/>
              <a:ext cx="479800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2" name="TextBox 79"/>
          <p:cNvSpPr txBox="1"/>
          <p:nvPr/>
        </p:nvSpPr>
        <p:spPr>
          <a:xfrm>
            <a:off x="4558469" y="533058"/>
            <a:ext cx="4364490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SEQUENCE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63" name="Group"/>
          <p:cNvGrpSpPr/>
          <p:nvPr/>
        </p:nvGrpSpPr>
        <p:grpSpPr>
          <a:xfrm>
            <a:off x="3649173" y="3570073"/>
            <a:ext cx="484140" cy="461663"/>
            <a:chOff x="0" y="0"/>
            <a:chExt cx="484139" cy="461662"/>
          </a:xfrm>
        </p:grpSpPr>
        <p:sp>
          <p:nvSpPr>
            <p:cNvPr id="261" name="TextBox 78"/>
            <p:cNvSpPr txBox="1"/>
            <p:nvPr/>
          </p:nvSpPr>
          <p:spPr>
            <a:xfrm>
              <a:off x="207900" y="0"/>
              <a:ext cx="276239" cy="461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 sz="240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62" name="Line"/>
            <p:cNvSpPr/>
            <p:nvPr/>
          </p:nvSpPr>
          <p:spPr>
            <a:xfrm>
              <a:off x="0" y="349822"/>
              <a:ext cx="414140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TextBox 79">
            <a:extLst>
              <a:ext uri="{FF2B5EF4-FFF2-40B4-BE49-F238E27FC236}">
                <a16:creationId xmlns:a16="http://schemas.microsoft.com/office/drawing/2014/main" id="{04281134-DA18-CC4B-8BEE-A42E7EB06F05}"/>
              </a:ext>
            </a:extLst>
          </p:cNvPr>
          <p:cNvSpPr txBox="1"/>
          <p:nvPr/>
        </p:nvSpPr>
        <p:spPr>
          <a:xfrm>
            <a:off x="77712" y="92405"/>
            <a:ext cx="7970423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Maximization, Break-Even Objective: </a:t>
            </a:r>
            <a:r>
              <a:rPr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 Competition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(Total Method)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DCD9F-91EC-0445-87BD-4C5800B8EC6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9</a:t>
            </a:fld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36ECF60-66F8-7C46-AE31-7F0AD47FC79B}"/>
              </a:ext>
            </a:extLst>
          </p:cNvPr>
          <p:cNvSpPr/>
          <p:nvPr/>
        </p:nvSpPr>
        <p:spPr>
          <a:xfrm>
            <a:off x="7477949" y="4070687"/>
            <a:ext cx="1020879" cy="1027393"/>
          </a:xfrm>
          <a:prstGeom prst="ellipse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967040A-C609-5A4F-B4C7-F79B19D42C2F}"/>
              </a:ext>
            </a:extLst>
          </p:cNvPr>
          <p:cNvCxnSpPr>
            <a:cxnSpLocks/>
            <a:endCxn id="40" idx="4"/>
          </p:cNvCxnSpPr>
          <p:nvPr/>
        </p:nvCxnSpPr>
        <p:spPr>
          <a:xfrm>
            <a:off x="7987808" y="4076890"/>
            <a:ext cx="581" cy="102119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09E577E-9D9C-4C48-953B-24C5A1E847ED}"/>
              </a:ext>
            </a:extLst>
          </p:cNvPr>
          <p:cNvCxnSpPr>
            <a:cxnSpLocks/>
          </p:cNvCxnSpPr>
          <p:nvPr/>
        </p:nvCxnSpPr>
        <p:spPr>
          <a:xfrm flipH="1">
            <a:off x="7534349" y="5098080"/>
            <a:ext cx="906918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D7E752F-2EA8-1544-89E1-D02B212402FD}"/>
              </a:ext>
            </a:extLst>
          </p:cNvPr>
          <p:cNvCxnSpPr>
            <a:cxnSpLocks/>
          </p:cNvCxnSpPr>
          <p:nvPr/>
        </p:nvCxnSpPr>
        <p:spPr>
          <a:xfrm flipH="1">
            <a:off x="7508260" y="4070687"/>
            <a:ext cx="906918" cy="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6779013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3" grpId="0" animBg="1" advAuto="0"/>
      <p:bldP spid="217" grpId="0" animBg="1" advAuto="0"/>
      <p:bldP spid="226" grpId="0" animBg="1" advAuto="0"/>
      <p:bldP spid="227" grpId="0" animBg="1" advAuto="0"/>
      <p:bldP spid="228" grpId="0" animBg="1" advAuto="0"/>
      <p:bldP spid="232" grpId="0" animBg="1" advAuto="0"/>
      <p:bldP spid="241" grpId="0" animBg="1" advAuto="0"/>
      <p:bldP spid="263" grpId="0" animBg="1" advAuto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traight Connector 6"/>
          <p:cNvSpPr/>
          <p:nvPr/>
        </p:nvSpPr>
        <p:spPr>
          <a:xfrm flipH="1">
            <a:off x="857822" y="1163976"/>
            <a:ext cx="23584" cy="4878771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Straight Connector 8"/>
          <p:cNvSpPr/>
          <p:nvPr/>
        </p:nvSpPr>
        <p:spPr>
          <a:xfrm flipH="1" flipV="1">
            <a:off x="857820" y="6030274"/>
            <a:ext cx="5116611" cy="26425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3" name="Group"/>
          <p:cNvGrpSpPr/>
          <p:nvPr/>
        </p:nvGrpSpPr>
        <p:grpSpPr>
          <a:xfrm>
            <a:off x="886540" y="1161206"/>
            <a:ext cx="4480733" cy="3836279"/>
            <a:chOff x="0" y="0"/>
            <a:chExt cx="4480732" cy="3836278"/>
          </a:xfrm>
        </p:grpSpPr>
        <p:sp>
          <p:nvSpPr>
            <p:cNvPr id="211" name="Freeform 13"/>
            <p:cNvSpPr/>
            <p:nvPr/>
          </p:nvSpPr>
          <p:spPr>
            <a:xfrm>
              <a:off x="0" y="406174"/>
              <a:ext cx="4119063" cy="34301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6" y="20393"/>
                    <a:pt x="1332" y="19185"/>
                    <a:pt x="3240" y="18489"/>
                  </a:cubicBezTo>
                  <a:cubicBezTo>
                    <a:pt x="5148" y="17793"/>
                    <a:pt x="8388" y="20504"/>
                    <a:pt x="11448" y="17422"/>
                  </a:cubicBezTo>
                  <a:cubicBezTo>
                    <a:pt x="14508" y="14341"/>
                    <a:pt x="18054" y="7170"/>
                    <a:pt x="21600" y="0"/>
                  </a:cubicBezTo>
                </a:path>
              </a:pathLst>
            </a:custGeom>
            <a:noFill/>
            <a:ln w="28575" cap="flat">
              <a:solidFill>
                <a:srgbClr val="0F25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"/>
            <p:cNvSpPr txBox="1"/>
            <p:nvPr/>
          </p:nvSpPr>
          <p:spPr>
            <a:xfrm>
              <a:off x="3947331" y="0"/>
              <a:ext cx="533401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0F253F"/>
                  </a:solidFill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3"/>
              <p:cNvSpPr txBox="1"/>
              <p:nvPr/>
            </p:nvSpPr>
            <p:spPr>
              <a:xfrm>
                <a:off x="186086" y="1043025"/>
                <a:ext cx="764275" cy="101566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Rev, Cost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6" y="1043025"/>
                <a:ext cx="764275" cy="1015663"/>
              </a:xfrm>
              <a:prstGeom prst="rect">
                <a:avLst/>
              </a:prstGeom>
              <a:blipFill>
                <a:blip r:embed="rId3"/>
                <a:stretch>
                  <a:fillRect l="-13115" t="-370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7" name="Group"/>
          <p:cNvGrpSpPr/>
          <p:nvPr/>
        </p:nvGrpSpPr>
        <p:grpSpPr>
          <a:xfrm>
            <a:off x="874242" y="1718574"/>
            <a:ext cx="5100189" cy="4300910"/>
            <a:chOff x="0" y="0"/>
            <a:chExt cx="5100188" cy="4300909"/>
          </a:xfrm>
        </p:grpSpPr>
        <p:sp>
          <p:nvSpPr>
            <p:cNvPr id="215" name="Freeform 25"/>
            <p:cNvSpPr/>
            <p:nvPr/>
          </p:nvSpPr>
          <p:spPr>
            <a:xfrm>
              <a:off x="0" y="0"/>
              <a:ext cx="4986055" cy="4300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62" extrusionOk="0">
                  <a:moveTo>
                    <a:pt x="0" y="20762"/>
                  </a:moveTo>
                  <a:cubicBezTo>
                    <a:pt x="981" y="17354"/>
                    <a:pt x="1962" y="13946"/>
                    <a:pt x="4002" y="10537"/>
                  </a:cubicBezTo>
                  <a:cubicBezTo>
                    <a:pt x="6043" y="7129"/>
                    <a:pt x="9309" y="1464"/>
                    <a:pt x="12242" y="313"/>
                  </a:cubicBezTo>
                  <a:cubicBezTo>
                    <a:pt x="15175" y="-838"/>
                    <a:pt x="18387" y="1397"/>
                    <a:pt x="21600" y="3632"/>
                  </a:cubicBezTo>
                </a:path>
              </a:pathLst>
            </a:custGeom>
            <a:noFill/>
            <a:ln w="38100" cap="flat">
              <a:solidFill>
                <a:srgbClr val="4F622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6"/>
            <p:cNvSpPr txBox="1"/>
            <p:nvPr/>
          </p:nvSpPr>
          <p:spPr>
            <a:xfrm>
              <a:off x="4566787" y="622531"/>
              <a:ext cx="533401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F6228"/>
                  </a:solidFill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</a:t>
              </a:r>
            </a:p>
          </p:txBody>
        </p:sp>
      </p:grpSp>
      <p:grpSp>
        <p:nvGrpSpPr>
          <p:cNvPr id="220" name="Group"/>
          <p:cNvGrpSpPr/>
          <p:nvPr/>
        </p:nvGrpSpPr>
        <p:grpSpPr>
          <a:xfrm>
            <a:off x="2225141" y="1085002"/>
            <a:ext cx="2048660" cy="1812667"/>
            <a:chOff x="0" y="0"/>
            <a:chExt cx="2048659" cy="1812665"/>
          </a:xfrm>
        </p:grpSpPr>
        <p:sp>
          <p:nvSpPr>
            <p:cNvPr id="218" name="Straight Connector 30"/>
            <p:cNvSpPr/>
            <p:nvPr/>
          </p:nvSpPr>
          <p:spPr>
            <a:xfrm flipV="1">
              <a:off x="0" y="328582"/>
              <a:ext cx="1782739" cy="1484083"/>
            </a:xfrm>
            <a:prstGeom prst="line">
              <a:avLst/>
            </a:prstGeom>
            <a:noFill/>
            <a:ln w="19050" cap="flat">
              <a:solidFill>
                <a:srgbClr val="953735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32"/>
            <p:cNvSpPr txBox="1"/>
            <p:nvPr/>
          </p:nvSpPr>
          <p:spPr>
            <a:xfrm>
              <a:off x="1672228" y="0"/>
              <a:ext cx="376431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53735"/>
                  </a:solidFill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2395470" y="3220911"/>
            <a:ext cx="2102996" cy="1694402"/>
            <a:chOff x="0" y="0"/>
            <a:chExt cx="2102994" cy="1694401"/>
          </a:xfrm>
        </p:grpSpPr>
        <p:sp>
          <p:nvSpPr>
            <p:cNvPr id="221" name="Straight Connector 31"/>
            <p:cNvSpPr/>
            <p:nvPr/>
          </p:nvSpPr>
          <p:spPr>
            <a:xfrm flipV="1">
              <a:off x="0" y="210318"/>
              <a:ext cx="1782739" cy="1484083"/>
            </a:xfrm>
            <a:prstGeom prst="line">
              <a:avLst/>
            </a:prstGeom>
            <a:noFill/>
            <a:ln w="19050" cap="flat">
              <a:solidFill>
                <a:srgbClr val="604A7B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TextBox 33"/>
            <p:cNvSpPr txBox="1"/>
            <p:nvPr/>
          </p:nvSpPr>
          <p:spPr>
            <a:xfrm>
              <a:off x="1736592" y="0"/>
              <a:ext cx="366402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604A7B"/>
                  </a:solidFill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224" name="TextBox 35"/>
          <p:cNvSpPr txBox="1"/>
          <p:nvPr/>
        </p:nvSpPr>
        <p:spPr>
          <a:xfrm>
            <a:off x="2988156" y="1725853"/>
            <a:ext cx="311036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984807"/>
                </a:solidFill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225" name="TextBox 36"/>
          <p:cNvSpPr txBox="1"/>
          <p:nvPr/>
        </p:nvSpPr>
        <p:spPr>
          <a:xfrm>
            <a:off x="3143674" y="4148926"/>
            <a:ext cx="377439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403152"/>
                </a:solidFill>
              </a:defRPr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6" name="TextBox 37"/>
          <p:cNvSpPr txBox="1"/>
          <p:nvPr/>
        </p:nvSpPr>
        <p:spPr>
          <a:xfrm>
            <a:off x="4554915" y="1489984"/>
            <a:ext cx="430744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" name="TextBox 38"/>
          <p:cNvSpPr txBox="1"/>
          <p:nvPr/>
        </p:nvSpPr>
        <p:spPr>
          <a:xfrm>
            <a:off x="1175859" y="4049334"/>
            <a:ext cx="533401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sz="20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Freeform 64"/>
          <p:cNvSpPr/>
          <p:nvPr/>
        </p:nvSpPr>
        <p:spPr>
          <a:xfrm>
            <a:off x="1434437" y="3810048"/>
            <a:ext cx="3302659" cy="2227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4" extrusionOk="0">
                <a:moveTo>
                  <a:pt x="0" y="21584"/>
                </a:moveTo>
                <a:cubicBezTo>
                  <a:pt x="3815" y="10800"/>
                  <a:pt x="7629" y="17"/>
                  <a:pt x="11229" y="0"/>
                </a:cubicBezTo>
                <a:cubicBezTo>
                  <a:pt x="14829" y="-16"/>
                  <a:pt x="18215" y="10735"/>
                  <a:pt x="21600" y="21486"/>
                </a:cubicBezTo>
              </a:path>
            </a:pathLst>
          </a:custGeom>
          <a:ln w="25400">
            <a:solidFill>
              <a:srgbClr val="0033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70"/>
          <p:cNvSpPr txBox="1"/>
          <p:nvPr/>
        </p:nvSpPr>
        <p:spPr>
          <a:xfrm>
            <a:off x="5541564" y="6077657"/>
            <a:ext cx="76427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1222022" y="4511566"/>
            <a:ext cx="459818" cy="1883845"/>
            <a:chOff x="0" y="-1"/>
            <a:chExt cx="459817" cy="1883843"/>
          </a:xfrm>
        </p:grpSpPr>
        <p:sp>
          <p:nvSpPr>
            <p:cNvPr id="230" name="Straight Connector 39"/>
            <p:cNvSpPr/>
            <p:nvPr/>
          </p:nvSpPr>
          <p:spPr>
            <a:xfrm flipH="1">
              <a:off x="223520" y="-1"/>
              <a:ext cx="12777" cy="1530084"/>
            </a:xfrm>
            <a:prstGeom prst="line">
              <a:avLst/>
            </a:prstGeom>
            <a:noFill/>
            <a:ln w="19050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TextBox 71"/>
            <p:cNvSpPr txBox="1"/>
            <p:nvPr/>
          </p:nvSpPr>
          <p:spPr>
            <a:xfrm>
              <a:off x="0" y="1483734"/>
              <a:ext cx="459817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5" name="Group"/>
          <p:cNvGrpSpPr/>
          <p:nvPr/>
        </p:nvGrpSpPr>
        <p:grpSpPr>
          <a:xfrm>
            <a:off x="2917401" y="2104902"/>
            <a:ext cx="454459" cy="4321801"/>
            <a:chOff x="0" y="-1"/>
            <a:chExt cx="454457" cy="4321799"/>
          </a:xfrm>
        </p:grpSpPr>
        <p:sp>
          <p:nvSpPr>
            <p:cNvPr id="233" name="Straight Connector 28"/>
            <p:cNvSpPr/>
            <p:nvPr/>
          </p:nvSpPr>
          <p:spPr>
            <a:xfrm flipH="1">
              <a:off x="217037" y="-1"/>
              <a:ext cx="52300" cy="3956950"/>
            </a:xfrm>
            <a:prstGeom prst="line">
              <a:avLst/>
            </a:prstGeom>
            <a:noFill/>
            <a:ln w="19050" cap="flat">
              <a:solidFill>
                <a:srgbClr val="632523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TextBox 72"/>
            <p:cNvSpPr txBox="1"/>
            <p:nvPr/>
          </p:nvSpPr>
          <p:spPr>
            <a:xfrm>
              <a:off x="0" y="3921690"/>
              <a:ext cx="454457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403152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8" name="Group"/>
          <p:cNvGrpSpPr/>
          <p:nvPr/>
        </p:nvGrpSpPr>
        <p:grpSpPr>
          <a:xfrm>
            <a:off x="3796721" y="1732155"/>
            <a:ext cx="392140" cy="4671388"/>
            <a:chOff x="0" y="-1"/>
            <a:chExt cx="392138" cy="4671387"/>
          </a:xfrm>
        </p:grpSpPr>
        <p:sp>
          <p:nvSpPr>
            <p:cNvPr id="236" name="Straight Connector 67"/>
            <p:cNvSpPr/>
            <p:nvPr/>
          </p:nvSpPr>
          <p:spPr>
            <a:xfrm flipH="1">
              <a:off x="211158" y="-1"/>
              <a:ext cx="47214" cy="430782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TextBox 73"/>
            <p:cNvSpPr txBox="1"/>
            <p:nvPr/>
          </p:nvSpPr>
          <p:spPr>
            <a:xfrm>
              <a:off x="0" y="4271278"/>
              <a:ext cx="392138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FF0000"/>
                  </a:solidFill>
                </a:defRPr>
              </a:pPr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41" name="Group"/>
          <p:cNvGrpSpPr/>
          <p:nvPr/>
        </p:nvGrpSpPr>
        <p:grpSpPr>
          <a:xfrm>
            <a:off x="4613721" y="1852348"/>
            <a:ext cx="479801" cy="4613500"/>
            <a:chOff x="0" y="0"/>
            <a:chExt cx="479800" cy="4613498"/>
          </a:xfrm>
        </p:grpSpPr>
        <p:sp>
          <p:nvSpPr>
            <p:cNvPr id="239" name="Straight Connector 57"/>
            <p:cNvSpPr/>
            <p:nvPr/>
          </p:nvSpPr>
          <p:spPr>
            <a:xfrm flipH="1">
              <a:off x="128171" y="0"/>
              <a:ext cx="76316" cy="4213390"/>
            </a:xfrm>
            <a:prstGeom prst="line">
              <a:avLst/>
            </a:prstGeom>
            <a:noFill/>
            <a:ln w="19050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0" name="TextBox 74"/>
            <p:cNvSpPr txBox="1"/>
            <p:nvPr/>
          </p:nvSpPr>
          <p:spPr>
            <a:xfrm>
              <a:off x="0" y="4213390"/>
              <a:ext cx="479800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2" name="TextBox 79"/>
          <p:cNvSpPr txBox="1"/>
          <p:nvPr/>
        </p:nvSpPr>
        <p:spPr>
          <a:xfrm>
            <a:off x="145916" y="0"/>
            <a:ext cx="8467058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Maximization, Sales Maximization, Break-Even Objective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 Competition</a:t>
            </a:r>
            <a:r>
              <a:rPr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52" name="Straight Connector 87"/>
          <p:cNvSpPr/>
          <p:nvPr/>
        </p:nvSpPr>
        <p:spPr>
          <a:xfrm flipV="1">
            <a:off x="874242" y="1728478"/>
            <a:ext cx="3181440" cy="4291006"/>
          </a:xfrm>
          <a:prstGeom prst="line">
            <a:avLst/>
          </a:prstGeom>
          <a:ln w="57150">
            <a:solidFill>
              <a:srgbClr val="FF0000"/>
            </a:solidFill>
            <a:prstDash val="dash"/>
          </a:ln>
        </p:spPr>
        <p:txBody>
          <a:bodyPr lIns="45719" rIns="45719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3" name="Group"/>
          <p:cNvGrpSpPr/>
          <p:nvPr/>
        </p:nvGrpSpPr>
        <p:grpSpPr>
          <a:xfrm>
            <a:off x="2953519" y="3437528"/>
            <a:ext cx="512431" cy="400108"/>
            <a:chOff x="0" y="13585"/>
            <a:chExt cx="512430" cy="400107"/>
          </a:xfrm>
        </p:grpSpPr>
        <p:sp>
          <p:nvSpPr>
            <p:cNvPr id="261" name="TextBox 78"/>
            <p:cNvSpPr txBox="1"/>
            <p:nvPr/>
          </p:nvSpPr>
          <p:spPr>
            <a:xfrm>
              <a:off x="236191" y="13585"/>
              <a:ext cx="276239" cy="4001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62" name="Line"/>
            <p:cNvSpPr/>
            <p:nvPr/>
          </p:nvSpPr>
          <p:spPr>
            <a:xfrm>
              <a:off x="0" y="349822"/>
              <a:ext cx="414140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6" name="Group"/>
          <p:cNvGrpSpPr/>
          <p:nvPr/>
        </p:nvGrpSpPr>
        <p:grpSpPr>
          <a:xfrm>
            <a:off x="4054457" y="1396968"/>
            <a:ext cx="272026" cy="478609"/>
            <a:chOff x="-1" y="0"/>
            <a:chExt cx="272024" cy="478607"/>
          </a:xfrm>
        </p:grpSpPr>
        <p:sp>
          <p:nvSpPr>
            <p:cNvPr id="264" name="TextBox 69"/>
            <p:cNvSpPr txBox="1"/>
            <p:nvPr/>
          </p:nvSpPr>
          <p:spPr>
            <a:xfrm>
              <a:off x="12700" y="0"/>
              <a:ext cx="259323" cy="4001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65" name="Line"/>
            <p:cNvSpPr/>
            <p:nvPr/>
          </p:nvSpPr>
          <p:spPr>
            <a:xfrm flipV="1">
              <a:off x="-1" y="164788"/>
              <a:ext cx="2" cy="313819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9" name="Group"/>
          <p:cNvGrpSpPr/>
          <p:nvPr/>
        </p:nvGrpSpPr>
        <p:grpSpPr>
          <a:xfrm>
            <a:off x="4054457" y="2953405"/>
            <a:ext cx="541746" cy="1747426"/>
            <a:chOff x="45990" y="0"/>
            <a:chExt cx="541745" cy="1747424"/>
          </a:xfrm>
        </p:grpSpPr>
        <p:sp>
          <p:nvSpPr>
            <p:cNvPr id="267" name="TextBox 77"/>
            <p:cNvSpPr txBox="1"/>
            <p:nvPr/>
          </p:nvSpPr>
          <p:spPr>
            <a:xfrm>
              <a:off x="54335" y="1347316"/>
              <a:ext cx="533400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</a:p>
          </p:txBody>
        </p:sp>
        <p:sp>
          <p:nvSpPr>
            <p:cNvPr id="268" name="TextBox 77"/>
            <p:cNvSpPr txBox="1"/>
            <p:nvPr/>
          </p:nvSpPr>
          <p:spPr>
            <a:xfrm>
              <a:off x="45990" y="0"/>
              <a:ext cx="444007" cy="4001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W’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1B96E09-5FF5-F74B-A90E-A7CAFDD82C6C}"/>
              </a:ext>
            </a:extLst>
          </p:cNvPr>
          <p:cNvGrpSpPr/>
          <p:nvPr/>
        </p:nvGrpSpPr>
        <p:grpSpPr>
          <a:xfrm>
            <a:off x="869613" y="1885336"/>
            <a:ext cx="3881529" cy="4141259"/>
            <a:chOff x="1674542" y="1482486"/>
            <a:chExt cx="3881529" cy="4141259"/>
          </a:xfrm>
        </p:grpSpPr>
        <p:sp>
          <p:nvSpPr>
            <p:cNvPr id="251" name="Straight Connector 85"/>
            <p:cNvSpPr/>
            <p:nvPr/>
          </p:nvSpPr>
          <p:spPr>
            <a:xfrm flipV="1">
              <a:off x="1674542" y="1752776"/>
              <a:ext cx="2298090" cy="3870969"/>
            </a:xfrm>
            <a:prstGeom prst="line">
              <a:avLst/>
            </a:prstGeom>
            <a:ln w="28575">
              <a:solidFill>
                <a:srgbClr val="002060"/>
              </a:solidFill>
              <a:prstDash val="dash"/>
            </a:ln>
          </p:spPr>
          <p:txBody>
            <a:bodyPr lIns="45719" rIns="45719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72" name="Group"/>
            <p:cNvGrpSpPr/>
            <p:nvPr/>
          </p:nvGrpSpPr>
          <p:grpSpPr>
            <a:xfrm>
              <a:off x="1675361" y="1482486"/>
              <a:ext cx="3880710" cy="4131156"/>
              <a:chOff x="0" y="0"/>
              <a:chExt cx="3880708" cy="4131154"/>
            </a:xfrm>
          </p:grpSpPr>
          <p:sp>
            <p:nvSpPr>
              <p:cNvPr id="270" name="Straight Connector 85"/>
              <p:cNvSpPr/>
              <p:nvPr/>
            </p:nvSpPr>
            <p:spPr>
              <a:xfrm flipV="1">
                <a:off x="0" y="2653803"/>
                <a:ext cx="578631" cy="1470175"/>
              </a:xfrm>
              <a:prstGeom prst="line">
                <a:avLst/>
              </a:prstGeom>
              <a:noFill/>
              <a:ln w="28575" cap="flat">
                <a:solidFill>
                  <a:schemeClr val="accent6">
                    <a:lumMod val="50000"/>
                  </a:schemeClr>
                </a:solidFill>
                <a:custDash>
                  <a:ds d="200000" sp="200000"/>
                </a:custDash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1" name="Straight Connector 85"/>
              <p:cNvSpPr/>
              <p:nvPr/>
            </p:nvSpPr>
            <p:spPr>
              <a:xfrm flipV="1">
                <a:off x="26209" y="0"/>
                <a:ext cx="3854500" cy="4131156"/>
              </a:xfrm>
              <a:prstGeom prst="line">
                <a:avLst/>
              </a:prstGeom>
              <a:noFill/>
              <a:ln w="28575" cap="flat">
                <a:solidFill>
                  <a:schemeClr val="accent6">
                    <a:lumMod val="50000"/>
                  </a:schemeClr>
                </a:solidFill>
                <a:custDash>
                  <a:ds d="200000" sp="200000"/>
                </a:custDash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70">
                <a:extLst>
                  <a:ext uri="{FF2B5EF4-FFF2-40B4-BE49-F238E27FC236}">
                    <a16:creationId xmlns:a16="http://schemas.microsoft.com/office/drawing/2014/main" id="{EB96374E-5B9C-DC45-82EA-739979186E1F}"/>
                  </a:ext>
                </a:extLst>
              </p:cNvPr>
              <p:cNvSpPr txBox="1"/>
              <p:nvPr/>
            </p:nvSpPr>
            <p:spPr>
              <a:xfrm>
                <a:off x="6229357" y="815218"/>
                <a:ext cx="2167079" cy="16312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Quantity: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𝛑</m:t>
                    </m:r>
                    <m:r>
                      <a:rPr lang="en-US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𝐦𝐚𝐱</m:t>
                    </m:r>
                    <m:r>
                      <a:rPr lang="en-US">
                        <a:solidFill>
                          <a:schemeClr val="accent3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OQ</a:t>
                </a:r>
                <a:r>
                  <a:rPr lang="en-US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Sales max. = OQ</a:t>
                </a:r>
                <a:r>
                  <a:rPr lang="en-US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B.E.</a:t>
                </a:r>
                <a:r>
                  <a:rPr lang="en-US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OQ</a:t>
                </a:r>
                <a:r>
                  <a:rPr lang="en-US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B.E.</a:t>
                </a:r>
                <a:r>
                  <a:rPr lang="en-US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OQ</a:t>
                </a:r>
                <a:r>
                  <a:rPr lang="en-US" baseline="-25000" dirty="0">
                    <a:solidFill>
                      <a:schemeClr val="accent3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</mc:Choice>
        <mc:Fallback xmlns="">
          <p:sp>
            <p:nvSpPr>
              <p:cNvPr id="67" name="TextBox 70">
                <a:extLst>
                  <a:ext uri="{FF2B5EF4-FFF2-40B4-BE49-F238E27FC236}">
                    <a16:creationId xmlns:a16="http://schemas.microsoft.com/office/drawing/2014/main" id="{EB96374E-5B9C-DC45-82EA-739979186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7" y="815218"/>
                <a:ext cx="2167079" cy="1631216"/>
              </a:xfrm>
              <a:prstGeom prst="rect">
                <a:avLst/>
              </a:prstGeom>
              <a:blipFill>
                <a:blip r:embed="rId4"/>
                <a:stretch>
                  <a:fillRect l="-5263" t="-2326" b="-620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70">
                <a:extLst>
                  <a:ext uri="{FF2B5EF4-FFF2-40B4-BE49-F238E27FC236}">
                    <a16:creationId xmlns:a16="http://schemas.microsoft.com/office/drawing/2014/main" id="{E2630AA5-0E66-E945-A024-BB5AA121FD37}"/>
                  </a:ext>
                </a:extLst>
              </p:cNvPr>
              <p:cNvSpPr txBox="1"/>
              <p:nvPr/>
            </p:nvSpPr>
            <p:spPr>
              <a:xfrm>
                <a:off x="6203741" y="2732297"/>
                <a:ext cx="2898359" cy="132343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Profits: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𝛑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𝐦𝐚𝐱</m:t>
                    </m:r>
                    <m:r>
                      <a:rPr lang="en-US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RC = MQ</a:t>
                </a:r>
                <a:r>
                  <a:rPr lang="en-US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  <a:p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Sales max. = PW’ = WQ</a:t>
                </a:r>
                <a:r>
                  <a:rPr lang="en-US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B.E.</a:t>
                </a:r>
                <a:r>
                  <a:rPr lang="en-US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B.E.</a:t>
                </a:r>
                <a:r>
                  <a:rPr lang="en-US" baseline="-250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Zero</a:t>
                </a:r>
              </a:p>
            </p:txBody>
          </p:sp>
        </mc:Choice>
        <mc:Fallback xmlns="">
          <p:sp>
            <p:nvSpPr>
              <p:cNvPr id="69" name="TextBox 70">
                <a:extLst>
                  <a:ext uri="{FF2B5EF4-FFF2-40B4-BE49-F238E27FC236}">
                    <a16:creationId xmlns:a16="http://schemas.microsoft.com/office/drawing/2014/main" id="{E2630AA5-0E66-E945-A024-BB5AA121F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741" y="2732297"/>
                <a:ext cx="2898359" cy="1323439"/>
              </a:xfrm>
              <a:prstGeom prst="rect">
                <a:avLst/>
              </a:prstGeom>
              <a:blipFill>
                <a:blip r:embed="rId5"/>
                <a:stretch>
                  <a:fillRect l="-3493" t="-2857" b="-666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70">
                <a:extLst>
                  <a:ext uri="{FF2B5EF4-FFF2-40B4-BE49-F238E27FC236}">
                    <a16:creationId xmlns:a16="http://schemas.microsoft.com/office/drawing/2014/main" id="{4E334942-3CF9-5640-9410-97DE1F97EB14}"/>
                  </a:ext>
                </a:extLst>
              </p:cNvPr>
              <p:cNvSpPr txBox="1"/>
              <p:nvPr/>
            </p:nvSpPr>
            <p:spPr>
              <a:xfrm>
                <a:off x="6233387" y="4411566"/>
                <a:ext cx="2898360" cy="16312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Prices:</a:t>
                </a:r>
              </a:p>
              <a:p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𝛑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𝐦𝐚𝐱</m:t>
                    </m:r>
                    <m:r>
                      <a:rPr lang="en-US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∡</m:t>
                    </m:r>
                  </m:oMath>
                </a14:m>
                <a:r>
                  <a:rPr lang="en-IN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ROQ</a:t>
                </a:r>
                <a:r>
                  <a:rPr lang="en-IN" baseline="-5999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Sales max. = </a:t>
                </a:r>
                <a:r>
                  <a:rPr lang="en-I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tan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∡</m:t>
                    </m:r>
                  </m:oMath>
                </a14:m>
                <a:r>
                  <a:rPr lang="en-IN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POQ</a:t>
                </a:r>
                <a:r>
                  <a:rPr lang="en-IN" baseline="-5999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  <a:p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B.E.</a:t>
                </a:r>
                <a:r>
                  <a:rPr lang="en-IN" baseline="-250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tan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∡</m:t>
                    </m:r>
                  </m:oMath>
                </a14:m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baseline="-5999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</a:t>
                </a:r>
                <a:r>
                  <a:rPr lang="en-IN" baseline="-5999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B.E.</a:t>
                </a:r>
                <a:r>
                  <a:rPr lang="en-IN" baseline="-25000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tan </a:t>
                </a:r>
                <a14:m>
                  <m:oMath xmlns:m="http://schemas.openxmlformats.org/officeDocument/2006/math">
                    <m:r>
                      <a:rPr lang="en-IN" i="1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∡</m:t>
                    </m:r>
                  </m:oMath>
                </a14:m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</a:t>
                </a:r>
                <a:r>
                  <a:rPr lang="en-IN" baseline="-5999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IN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OQ</a:t>
                </a:r>
                <a:r>
                  <a:rPr lang="en-IN" baseline="-5999" dirty="0">
                    <a:solidFill>
                      <a:schemeClr val="accent6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IN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0" name="TextBox 70">
                <a:extLst>
                  <a:ext uri="{FF2B5EF4-FFF2-40B4-BE49-F238E27FC236}">
                    <a16:creationId xmlns:a16="http://schemas.microsoft.com/office/drawing/2014/main" id="{4E334942-3CF9-5640-9410-97DE1F97E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387" y="4411566"/>
                <a:ext cx="2898360" cy="1631216"/>
              </a:xfrm>
              <a:prstGeom prst="rect">
                <a:avLst/>
              </a:prstGeom>
              <a:blipFill>
                <a:blip r:embed="rId6"/>
                <a:stretch>
                  <a:fillRect l="-3930" t="-2326" b="-620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5E510851-6AE4-D249-9529-DFED01662BC6}"/>
              </a:ext>
            </a:extLst>
          </p:cNvPr>
          <p:cNvSpPr txBox="1"/>
          <p:nvPr/>
        </p:nvSpPr>
        <p:spPr>
          <a:xfrm>
            <a:off x="939534" y="371771"/>
            <a:ext cx="3894338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Sales Max.: R’ = MR = Zero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90859-1636-FA46-B24B-2F59FCD45E2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547920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animBg="1" advAuto="0"/>
      <p:bldP spid="252" grpId="0" animBg="1" advAuto="0"/>
      <p:bldP spid="266" grpId="0" advAuto="0"/>
      <p:bldP spid="269" grpId="0" advAuto="0"/>
      <p:bldP spid="67" grpId="0" animBg="1"/>
      <p:bldP spid="69" grpId="0" animBg="1"/>
      <p:bldP spid="70" grpId="0" animBg="1"/>
      <p:bldP spid="7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traight Connector 6"/>
          <p:cNvSpPr/>
          <p:nvPr/>
        </p:nvSpPr>
        <p:spPr>
          <a:xfrm flipH="1">
            <a:off x="984172" y="817912"/>
            <a:ext cx="44907" cy="5345234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Straight Connector 8"/>
          <p:cNvSpPr/>
          <p:nvPr/>
        </p:nvSpPr>
        <p:spPr>
          <a:xfrm flipH="1">
            <a:off x="984171" y="6123833"/>
            <a:ext cx="5835330" cy="26839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3" name="Group"/>
          <p:cNvGrpSpPr/>
          <p:nvPr/>
        </p:nvGrpSpPr>
        <p:grpSpPr>
          <a:xfrm>
            <a:off x="978361" y="817912"/>
            <a:ext cx="4271870" cy="4339949"/>
            <a:chOff x="762833" y="-531429"/>
            <a:chExt cx="4271869" cy="4339948"/>
          </a:xfrm>
        </p:grpSpPr>
        <p:sp>
          <p:nvSpPr>
            <p:cNvPr id="211" name="Freeform 13"/>
            <p:cNvSpPr/>
            <p:nvPr/>
          </p:nvSpPr>
          <p:spPr>
            <a:xfrm>
              <a:off x="762833" y="-208264"/>
              <a:ext cx="3535452" cy="40167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6" y="20393"/>
                    <a:pt x="1332" y="19185"/>
                    <a:pt x="3240" y="18489"/>
                  </a:cubicBezTo>
                  <a:cubicBezTo>
                    <a:pt x="5148" y="17793"/>
                    <a:pt x="8388" y="20504"/>
                    <a:pt x="11448" y="17422"/>
                  </a:cubicBezTo>
                  <a:cubicBezTo>
                    <a:pt x="14508" y="14341"/>
                    <a:pt x="18054" y="7170"/>
                    <a:pt x="21600" y="0"/>
                  </a:cubicBezTo>
                </a:path>
              </a:pathLst>
            </a:custGeom>
            <a:noFill/>
            <a:ln w="28575" cap="flat">
              <a:solidFill>
                <a:srgbClr val="0F25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"/>
            <p:cNvSpPr txBox="1"/>
            <p:nvPr/>
          </p:nvSpPr>
          <p:spPr>
            <a:xfrm>
              <a:off x="4328335" y="-531429"/>
              <a:ext cx="706367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0F253F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</p:grpSp>
      <p:grpSp>
        <p:nvGrpSpPr>
          <p:cNvPr id="217" name="Group"/>
          <p:cNvGrpSpPr/>
          <p:nvPr/>
        </p:nvGrpSpPr>
        <p:grpSpPr>
          <a:xfrm>
            <a:off x="1000593" y="1838972"/>
            <a:ext cx="5543723" cy="4300910"/>
            <a:chOff x="0" y="0"/>
            <a:chExt cx="5543722" cy="4300909"/>
          </a:xfrm>
        </p:grpSpPr>
        <p:sp>
          <p:nvSpPr>
            <p:cNvPr id="215" name="Freeform 25"/>
            <p:cNvSpPr/>
            <p:nvPr/>
          </p:nvSpPr>
          <p:spPr>
            <a:xfrm>
              <a:off x="0" y="0"/>
              <a:ext cx="4986055" cy="43009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62" extrusionOk="0">
                  <a:moveTo>
                    <a:pt x="0" y="20762"/>
                  </a:moveTo>
                  <a:cubicBezTo>
                    <a:pt x="981" y="17354"/>
                    <a:pt x="1962" y="13946"/>
                    <a:pt x="4002" y="10537"/>
                  </a:cubicBezTo>
                  <a:cubicBezTo>
                    <a:pt x="6043" y="7129"/>
                    <a:pt x="9309" y="1464"/>
                    <a:pt x="12242" y="313"/>
                  </a:cubicBezTo>
                  <a:cubicBezTo>
                    <a:pt x="15175" y="-838"/>
                    <a:pt x="18387" y="1397"/>
                    <a:pt x="21600" y="3632"/>
                  </a:cubicBezTo>
                </a:path>
              </a:pathLst>
            </a:custGeom>
            <a:noFill/>
            <a:ln w="38100" cap="flat">
              <a:solidFill>
                <a:srgbClr val="4F622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6"/>
            <p:cNvSpPr txBox="1"/>
            <p:nvPr/>
          </p:nvSpPr>
          <p:spPr>
            <a:xfrm>
              <a:off x="4862464" y="664168"/>
              <a:ext cx="681258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F6228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</a:t>
              </a:r>
            </a:p>
          </p:txBody>
        </p:sp>
      </p:grpSp>
      <p:grpSp>
        <p:nvGrpSpPr>
          <p:cNvPr id="220" name="Group"/>
          <p:cNvGrpSpPr/>
          <p:nvPr/>
        </p:nvGrpSpPr>
        <p:grpSpPr>
          <a:xfrm rot="20936278">
            <a:off x="1615304" y="1774194"/>
            <a:ext cx="2150001" cy="1982326"/>
            <a:chOff x="0" y="-169659"/>
            <a:chExt cx="2150000" cy="1982324"/>
          </a:xfrm>
        </p:grpSpPr>
        <p:sp>
          <p:nvSpPr>
            <p:cNvPr id="218" name="Straight Connector 30"/>
            <p:cNvSpPr/>
            <p:nvPr/>
          </p:nvSpPr>
          <p:spPr>
            <a:xfrm flipV="1">
              <a:off x="0" y="328582"/>
              <a:ext cx="1782739" cy="1484083"/>
            </a:xfrm>
            <a:prstGeom prst="line">
              <a:avLst/>
            </a:prstGeom>
            <a:noFill/>
            <a:ln w="19050" cap="flat">
              <a:solidFill>
                <a:srgbClr val="953735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32"/>
            <p:cNvSpPr txBox="1"/>
            <p:nvPr/>
          </p:nvSpPr>
          <p:spPr>
            <a:xfrm>
              <a:off x="1570345" y="-169659"/>
              <a:ext cx="579655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53735"/>
                  </a:solidFill>
                </a:defRPr>
              </a:pPr>
              <a:r>
                <a:rPr sz="2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24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3" name="Group"/>
          <p:cNvGrpSpPr/>
          <p:nvPr/>
        </p:nvGrpSpPr>
        <p:grpSpPr>
          <a:xfrm rot="20981489">
            <a:off x="2166375" y="3449138"/>
            <a:ext cx="1896383" cy="1420722"/>
            <a:chOff x="401042" y="-76485"/>
            <a:chExt cx="1896381" cy="1420721"/>
          </a:xfrm>
        </p:grpSpPr>
        <p:sp>
          <p:nvSpPr>
            <p:cNvPr id="221" name="Straight Connector 31"/>
            <p:cNvSpPr/>
            <p:nvPr/>
          </p:nvSpPr>
          <p:spPr>
            <a:xfrm flipV="1">
              <a:off x="401042" y="313696"/>
              <a:ext cx="1335367" cy="1030540"/>
            </a:xfrm>
            <a:prstGeom prst="line">
              <a:avLst/>
            </a:prstGeom>
            <a:noFill/>
            <a:ln w="19050" cap="flat">
              <a:solidFill>
                <a:srgbClr val="604A7B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TextBox 33"/>
            <p:cNvSpPr txBox="1"/>
            <p:nvPr/>
          </p:nvSpPr>
          <p:spPr>
            <a:xfrm>
              <a:off x="1736592" y="-76485"/>
              <a:ext cx="560831" cy="5847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604A7B"/>
                  </a:solidFill>
                </a:defRPr>
              </a:pPr>
              <a:r>
                <a:rPr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3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4" name="TextBox 35"/>
          <p:cNvSpPr txBox="1"/>
          <p:nvPr/>
        </p:nvSpPr>
        <p:spPr>
          <a:xfrm>
            <a:off x="2571136" y="2155899"/>
            <a:ext cx="31103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984807"/>
                </a:solidFill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225" name="TextBox 36"/>
          <p:cNvSpPr txBox="1"/>
          <p:nvPr/>
        </p:nvSpPr>
        <p:spPr>
          <a:xfrm>
            <a:off x="2517309" y="3916125"/>
            <a:ext cx="377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403152"/>
                </a:solidFill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7" name="TextBox 38"/>
          <p:cNvSpPr txBox="1"/>
          <p:nvPr/>
        </p:nvSpPr>
        <p:spPr>
          <a:xfrm>
            <a:off x="1222393" y="3889478"/>
            <a:ext cx="53340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Freeform 64"/>
          <p:cNvSpPr/>
          <p:nvPr/>
        </p:nvSpPr>
        <p:spPr>
          <a:xfrm>
            <a:off x="1540700" y="4775286"/>
            <a:ext cx="2591872" cy="1360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4" extrusionOk="0">
                <a:moveTo>
                  <a:pt x="0" y="21584"/>
                </a:moveTo>
                <a:cubicBezTo>
                  <a:pt x="3815" y="10800"/>
                  <a:pt x="7629" y="17"/>
                  <a:pt x="11229" y="0"/>
                </a:cubicBezTo>
                <a:cubicBezTo>
                  <a:pt x="14829" y="-16"/>
                  <a:pt x="18215" y="10735"/>
                  <a:pt x="21600" y="21486"/>
                </a:cubicBezTo>
              </a:path>
            </a:pathLst>
          </a:custGeom>
          <a:ln w="25400">
            <a:solidFill>
              <a:srgbClr val="0033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70"/>
          <p:cNvSpPr txBox="1"/>
          <p:nvPr/>
        </p:nvSpPr>
        <p:spPr>
          <a:xfrm>
            <a:off x="6461734" y="6182887"/>
            <a:ext cx="91963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1348372" y="4631964"/>
            <a:ext cx="581937" cy="1945400"/>
            <a:chOff x="-1" y="-1"/>
            <a:chExt cx="581936" cy="1945397"/>
          </a:xfrm>
        </p:grpSpPr>
        <p:sp>
          <p:nvSpPr>
            <p:cNvPr id="230" name="Straight Connector 39"/>
            <p:cNvSpPr/>
            <p:nvPr/>
          </p:nvSpPr>
          <p:spPr>
            <a:xfrm flipH="1">
              <a:off x="223520" y="-1"/>
              <a:ext cx="12777" cy="1530084"/>
            </a:xfrm>
            <a:prstGeom prst="line">
              <a:avLst/>
            </a:prstGeom>
            <a:noFill/>
            <a:ln w="19050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TextBox 71"/>
            <p:cNvSpPr txBox="1"/>
            <p:nvPr/>
          </p:nvSpPr>
          <p:spPr>
            <a:xfrm>
              <a:off x="-1" y="1483734"/>
              <a:ext cx="581936" cy="4616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5" name="Group"/>
          <p:cNvGrpSpPr/>
          <p:nvPr/>
        </p:nvGrpSpPr>
        <p:grpSpPr>
          <a:xfrm>
            <a:off x="2632032" y="2691968"/>
            <a:ext cx="618756" cy="3848724"/>
            <a:chOff x="0" y="534631"/>
            <a:chExt cx="618753" cy="3848722"/>
          </a:xfrm>
        </p:grpSpPr>
        <p:sp>
          <p:nvSpPr>
            <p:cNvPr id="233" name="Straight Connector 28"/>
            <p:cNvSpPr/>
            <p:nvPr/>
          </p:nvSpPr>
          <p:spPr>
            <a:xfrm flipH="1">
              <a:off x="217037" y="534631"/>
              <a:ext cx="24279" cy="3422318"/>
            </a:xfrm>
            <a:prstGeom prst="line">
              <a:avLst/>
            </a:prstGeom>
            <a:noFill/>
            <a:ln w="19050" cap="flat">
              <a:solidFill>
                <a:srgbClr val="632523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TextBox 72"/>
            <p:cNvSpPr txBox="1"/>
            <p:nvPr/>
          </p:nvSpPr>
          <p:spPr>
            <a:xfrm>
              <a:off x="0" y="3921690"/>
              <a:ext cx="618753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403152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8" name="Group"/>
          <p:cNvGrpSpPr/>
          <p:nvPr/>
        </p:nvGrpSpPr>
        <p:grpSpPr>
          <a:xfrm>
            <a:off x="3951208" y="1838485"/>
            <a:ext cx="620792" cy="4732943"/>
            <a:chOff x="0" y="-1"/>
            <a:chExt cx="620789" cy="4732942"/>
          </a:xfrm>
        </p:grpSpPr>
        <p:sp>
          <p:nvSpPr>
            <p:cNvPr id="236" name="Straight Connector 67"/>
            <p:cNvSpPr/>
            <p:nvPr/>
          </p:nvSpPr>
          <p:spPr>
            <a:xfrm flipH="1">
              <a:off x="211158" y="-1"/>
              <a:ext cx="47214" cy="4307820"/>
            </a:xfrm>
            <a:prstGeom prst="line">
              <a:avLst/>
            </a:prstGeom>
            <a:noFill/>
            <a:ln w="38100" cap="flat">
              <a:solidFill>
                <a:srgbClr val="FF0000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7" name="TextBox 73"/>
            <p:cNvSpPr txBox="1"/>
            <p:nvPr/>
          </p:nvSpPr>
          <p:spPr>
            <a:xfrm>
              <a:off x="0" y="4271278"/>
              <a:ext cx="620789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FF0000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2" name="TextBox 79"/>
          <p:cNvSpPr txBox="1"/>
          <p:nvPr/>
        </p:nvSpPr>
        <p:spPr>
          <a:xfrm>
            <a:off x="1379009" y="143416"/>
            <a:ext cx="7036075" cy="400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Maximization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 Competition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63" name="Group"/>
          <p:cNvGrpSpPr/>
          <p:nvPr/>
        </p:nvGrpSpPr>
        <p:grpSpPr>
          <a:xfrm>
            <a:off x="2667743" y="4403155"/>
            <a:ext cx="715276" cy="461663"/>
            <a:chOff x="-67528" y="30227"/>
            <a:chExt cx="715275" cy="461661"/>
          </a:xfrm>
        </p:grpSpPr>
        <p:sp>
          <p:nvSpPr>
            <p:cNvPr id="261" name="TextBox 78"/>
            <p:cNvSpPr txBox="1"/>
            <p:nvPr/>
          </p:nvSpPr>
          <p:spPr>
            <a:xfrm>
              <a:off x="371508" y="30227"/>
              <a:ext cx="276239" cy="461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62" name="Line"/>
            <p:cNvSpPr/>
            <p:nvPr/>
          </p:nvSpPr>
          <p:spPr>
            <a:xfrm>
              <a:off x="-67528" y="367691"/>
              <a:ext cx="414140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6" name="Group"/>
          <p:cNvGrpSpPr/>
          <p:nvPr/>
        </p:nvGrpSpPr>
        <p:grpSpPr>
          <a:xfrm>
            <a:off x="3965809" y="1279807"/>
            <a:ext cx="259325" cy="731116"/>
            <a:chOff x="-259324" y="-262996"/>
            <a:chExt cx="259323" cy="731113"/>
          </a:xfrm>
        </p:grpSpPr>
        <p:sp>
          <p:nvSpPr>
            <p:cNvPr id="264" name="TextBox 69"/>
            <p:cNvSpPr txBox="1"/>
            <p:nvPr/>
          </p:nvSpPr>
          <p:spPr>
            <a:xfrm>
              <a:off x="-259324" y="-262996"/>
              <a:ext cx="259323" cy="4616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65" name="Line"/>
            <p:cNvSpPr/>
            <p:nvPr/>
          </p:nvSpPr>
          <p:spPr>
            <a:xfrm flipV="1">
              <a:off x="-26503" y="154298"/>
              <a:ext cx="2" cy="313819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5E510851-6AE4-D249-9529-DFED01662BC6}"/>
              </a:ext>
            </a:extLst>
          </p:cNvPr>
          <p:cNvSpPr txBox="1"/>
          <p:nvPr/>
        </p:nvSpPr>
        <p:spPr>
          <a:xfrm>
            <a:off x="5715861" y="666570"/>
            <a:ext cx="3366049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pPr algn="just"/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Max. output coincides with that of the 2</a:t>
            </a:r>
            <a:r>
              <a:rPr lang="en-US" sz="2400" baseline="30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Break-Even firm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E557645E-B93D-5B49-9457-B72FE343A9AE}"/>
                  </a:ext>
                </a:extLst>
              </p:cNvPr>
              <p:cNvSpPr txBox="1"/>
              <p:nvPr/>
            </p:nvSpPr>
            <p:spPr>
              <a:xfrm>
                <a:off x="367845" y="711650"/>
                <a:ext cx="764275" cy="101566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 Cost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E557645E-B93D-5B49-9457-B72FE343A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845" y="711650"/>
                <a:ext cx="764275" cy="1015663"/>
              </a:xfrm>
              <a:prstGeom prst="rect">
                <a:avLst/>
              </a:prstGeom>
              <a:blipFill>
                <a:blip r:embed="rId3"/>
                <a:stretch>
                  <a:fillRect l="-12903" t="-375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09A5C78-231E-0248-9ACF-AF962ADF9BD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57175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8" grpId="0" animBg="1" advAuto="0"/>
      <p:bldP spid="7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traight Connector 6"/>
          <p:cNvSpPr/>
          <p:nvPr/>
        </p:nvSpPr>
        <p:spPr>
          <a:xfrm flipH="1">
            <a:off x="926351" y="35323"/>
            <a:ext cx="29054" cy="5608984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Straight Connector 8"/>
          <p:cNvSpPr/>
          <p:nvPr/>
        </p:nvSpPr>
        <p:spPr>
          <a:xfrm flipH="1">
            <a:off x="918663" y="5616289"/>
            <a:ext cx="5835330" cy="28018"/>
          </a:xfrm>
          <a:prstGeom prst="line">
            <a:avLst/>
          </a:prstGeom>
          <a:ln w="28575">
            <a:solidFill>
              <a:srgbClr val="000000"/>
            </a:solidFill>
            <a:headEnd type="triangle" w="med" len="med"/>
            <a:tailEnd type="none" w="med" len="med"/>
          </a:ln>
        </p:spPr>
        <p:txBody>
          <a:bodyPr lIns="45719" rIns="45719"/>
          <a:lstStyle/>
          <a:p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3" name="Group"/>
          <p:cNvGrpSpPr/>
          <p:nvPr/>
        </p:nvGrpSpPr>
        <p:grpSpPr>
          <a:xfrm>
            <a:off x="939487" y="175399"/>
            <a:ext cx="3970390" cy="4761565"/>
            <a:chOff x="762833" y="-953045"/>
            <a:chExt cx="3970389" cy="4761564"/>
          </a:xfrm>
        </p:grpSpPr>
        <p:sp>
          <p:nvSpPr>
            <p:cNvPr id="211" name="Freeform 13"/>
            <p:cNvSpPr/>
            <p:nvPr/>
          </p:nvSpPr>
          <p:spPr>
            <a:xfrm>
              <a:off x="762833" y="-869137"/>
              <a:ext cx="3264022" cy="46776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21600"/>
                  </a:moveTo>
                  <a:cubicBezTo>
                    <a:pt x="666" y="20393"/>
                    <a:pt x="1332" y="19185"/>
                    <a:pt x="3240" y="18489"/>
                  </a:cubicBezTo>
                  <a:cubicBezTo>
                    <a:pt x="5148" y="17793"/>
                    <a:pt x="8388" y="20504"/>
                    <a:pt x="11448" y="17422"/>
                  </a:cubicBezTo>
                  <a:cubicBezTo>
                    <a:pt x="14508" y="14341"/>
                    <a:pt x="18054" y="7170"/>
                    <a:pt x="21600" y="0"/>
                  </a:cubicBezTo>
                </a:path>
              </a:pathLst>
            </a:custGeom>
            <a:noFill/>
            <a:ln w="28575" cap="flat">
              <a:solidFill>
                <a:srgbClr val="0F253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TextBox 21"/>
            <p:cNvSpPr txBox="1"/>
            <p:nvPr/>
          </p:nvSpPr>
          <p:spPr>
            <a:xfrm>
              <a:off x="4026855" y="-953045"/>
              <a:ext cx="706367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0F253F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TC</a:t>
              </a:r>
            </a:p>
          </p:txBody>
        </p:sp>
      </p:grpSp>
      <p:grpSp>
        <p:nvGrpSpPr>
          <p:cNvPr id="217" name="Group"/>
          <p:cNvGrpSpPr/>
          <p:nvPr/>
        </p:nvGrpSpPr>
        <p:grpSpPr>
          <a:xfrm>
            <a:off x="918663" y="1618075"/>
            <a:ext cx="5586779" cy="4056032"/>
            <a:chOff x="-43056" y="1"/>
            <a:chExt cx="5586778" cy="3885410"/>
          </a:xfrm>
        </p:grpSpPr>
        <p:sp>
          <p:nvSpPr>
            <p:cNvPr id="215" name="Freeform 25"/>
            <p:cNvSpPr/>
            <p:nvPr/>
          </p:nvSpPr>
          <p:spPr>
            <a:xfrm>
              <a:off x="-43056" y="1"/>
              <a:ext cx="5029111" cy="38854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762" extrusionOk="0">
                  <a:moveTo>
                    <a:pt x="0" y="20762"/>
                  </a:moveTo>
                  <a:cubicBezTo>
                    <a:pt x="981" y="17354"/>
                    <a:pt x="1962" y="13946"/>
                    <a:pt x="4002" y="10537"/>
                  </a:cubicBezTo>
                  <a:cubicBezTo>
                    <a:pt x="6043" y="7129"/>
                    <a:pt x="9309" y="1464"/>
                    <a:pt x="12242" y="313"/>
                  </a:cubicBezTo>
                  <a:cubicBezTo>
                    <a:pt x="15175" y="-838"/>
                    <a:pt x="18387" y="1397"/>
                    <a:pt x="21600" y="3632"/>
                  </a:cubicBezTo>
                </a:path>
              </a:pathLst>
            </a:custGeom>
            <a:noFill/>
            <a:ln w="38100" cap="flat">
              <a:solidFill>
                <a:srgbClr val="4F6228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6" name="TextBox 26"/>
            <p:cNvSpPr txBox="1"/>
            <p:nvPr/>
          </p:nvSpPr>
          <p:spPr>
            <a:xfrm>
              <a:off x="4862464" y="664168"/>
              <a:ext cx="681258" cy="4422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F6228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</a:t>
              </a:r>
            </a:p>
          </p:txBody>
        </p:sp>
      </p:grpSp>
      <p:grpSp>
        <p:nvGrpSpPr>
          <p:cNvPr id="220" name="Group"/>
          <p:cNvGrpSpPr/>
          <p:nvPr/>
        </p:nvGrpSpPr>
        <p:grpSpPr>
          <a:xfrm rot="20936278">
            <a:off x="1616955" y="1555419"/>
            <a:ext cx="1794179" cy="1933343"/>
            <a:chOff x="401527" y="-343164"/>
            <a:chExt cx="1794178" cy="1852013"/>
          </a:xfrm>
        </p:grpSpPr>
        <p:sp>
          <p:nvSpPr>
            <p:cNvPr id="218" name="Straight Connector 30"/>
            <p:cNvSpPr/>
            <p:nvPr/>
          </p:nvSpPr>
          <p:spPr>
            <a:xfrm flipV="1">
              <a:off x="401527" y="118754"/>
              <a:ext cx="1679069" cy="1390095"/>
            </a:xfrm>
            <a:prstGeom prst="line">
              <a:avLst/>
            </a:prstGeom>
            <a:noFill/>
            <a:ln w="19050" cap="flat">
              <a:solidFill>
                <a:srgbClr val="953735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9" name="TextBox 32"/>
            <p:cNvSpPr txBox="1"/>
            <p:nvPr/>
          </p:nvSpPr>
          <p:spPr>
            <a:xfrm>
              <a:off x="1616050" y="-343164"/>
              <a:ext cx="579655" cy="5601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53735"/>
                  </a:solidFill>
                </a:defRPr>
              </a:pPr>
              <a:r>
                <a:rPr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3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3" name="Group"/>
          <p:cNvGrpSpPr/>
          <p:nvPr/>
        </p:nvGrpSpPr>
        <p:grpSpPr>
          <a:xfrm rot="20981489">
            <a:off x="2018204" y="3429273"/>
            <a:ext cx="1691668" cy="1147200"/>
            <a:chOff x="327376" y="284254"/>
            <a:chExt cx="1691666" cy="1098941"/>
          </a:xfrm>
        </p:grpSpPr>
        <p:sp>
          <p:nvSpPr>
            <p:cNvPr id="221" name="Straight Connector 31"/>
            <p:cNvSpPr/>
            <p:nvPr/>
          </p:nvSpPr>
          <p:spPr>
            <a:xfrm flipV="1">
              <a:off x="327376" y="405047"/>
              <a:ext cx="1197077" cy="978148"/>
            </a:xfrm>
            <a:prstGeom prst="line">
              <a:avLst/>
            </a:prstGeom>
            <a:noFill/>
            <a:ln w="19050" cap="flat">
              <a:solidFill>
                <a:srgbClr val="604A7B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2" name="TextBox 33"/>
            <p:cNvSpPr txBox="1"/>
            <p:nvPr/>
          </p:nvSpPr>
          <p:spPr>
            <a:xfrm>
              <a:off x="1458211" y="284254"/>
              <a:ext cx="560831" cy="5601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604A7B"/>
                  </a:solidFill>
                </a:defRPr>
              </a:pPr>
              <a:r>
                <a:rPr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sz="32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4" name="TextBox 35"/>
          <p:cNvSpPr txBox="1"/>
          <p:nvPr/>
        </p:nvSpPr>
        <p:spPr>
          <a:xfrm>
            <a:off x="2359107" y="2122492"/>
            <a:ext cx="31103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984807"/>
                </a:solidFill>
              </a:defRPr>
            </a:lvl1pPr>
          </a:lstStyle>
          <a:p>
            <a:r>
              <a:rPr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225" name="TextBox 36"/>
          <p:cNvSpPr txBox="1"/>
          <p:nvPr/>
        </p:nvSpPr>
        <p:spPr>
          <a:xfrm>
            <a:off x="2232568" y="3679038"/>
            <a:ext cx="377439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000" b="1">
                <a:solidFill>
                  <a:srgbClr val="403152"/>
                </a:solidFill>
              </a:defRPr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27" name="TextBox 38"/>
          <p:cNvSpPr txBox="1"/>
          <p:nvPr/>
        </p:nvSpPr>
        <p:spPr>
          <a:xfrm>
            <a:off x="1175313" y="3747734"/>
            <a:ext cx="53340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400" baseline="-2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8" name="Freeform 64"/>
          <p:cNvSpPr/>
          <p:nvPr/>
        </p:nvSpPr>
        <p:spPr>
          <a:xfrm>
            <a:off x="1501826" y="4529339"/>
            <a:ext cx="2166747" cy="1128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4" extrusionOk="0">
                <a:moveTo>
                  <a:pt x="0" y="21584"/>
                </a:moveTo>
                <a:cubicBezTo>
                  <a:pt x="3815" y="10800"/>
                  <a:pt x="7629" y="17"/>
                  <a:pt x="11229" y="0"/>
                </a:cubicBezTo>
                <a:cubicBezTo>
                  <a:pt x="14829" y="-16"/>
                  <a:pt x="18215" y="10735"/>
                  <a:pt x="21600" y="21486"/>
                </a:cubicBezTo>
              </a:path>
            </a:pathLst>
          </a:custGeom>
          <a:ln w="25400">
            <a:solidFill>
              <a:srgbClr val="003300"/>
            </a:solidFill>
            <a:prstDash val="sysDash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9" name="TextBox 70"/>
          <p:cNvSpPr txBox="1"/>
          <p:nvPr/>
        </p:nvSpPr>
        <p:spPr>
          <a:xfrm>
            <a:off x="6450131" y="5576842"/>
            <a:ext cx="919636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grpSp>
        <p:nvGrpSpPr>
          <p:cNvPr id="232" name="Group"/>
          <p:cNvGrpSpPr/>
          <p:nvPr/>
        </p:nvGrpSpPr>
        <p:grpSpPr>
          <a:xfrm>
            <a:off x="1371809" y="4260547"/>
            <a:ext cx="581937" cy="1789223"/>
            <a:chOff x="62310" y="-144189"/>
            <a:chExt cx="581936" cy="1713955"/>
          </a:xfrm>
        </p:grpSpPr>
        <p:sp>
          <p:nvSpPr>
            <p:cNvPr id="230" name="Straight Connector 39"/>
            <p:cNvSpPr/>
            <p:nvPr/>
          </p:nvSpPr>
          <p:spPr>
            <a:xfrm>
              <a:off x="206865" y="-144189"/>
              <a:ext cx="13304" cy="1295093"/>
            </a:xfrm>
            <a:prstGeom prst="line">
              <a:avLst/>
            </a:prstGeom>
            <a:noFill/>
            <a:ln w="19050" cap="flat">
              <a:solidFill>
                <a:srgbClr val="E46C0A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1" name="TextBox 71"/>
            <p:cNvSpPr txBox="1"/>
            <p:nvPr/>
          </p:nvSpPr>
          <p:spPr>
            <a:xfrm>
              <a:off x="62310" y="1127524"/>
              <a:ext cx="581936" cy="442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984807"/>
                  </a:solidFill>
                </a:defRPr>
              </a:pPr>
              <a:r>
                <a:rPr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5" name="Group"/>
          <p:cNvGrpSpPr/>
          <p:nvPr/>
        </p:nvGrpSpPr>
        <p:grpSpPr>
          <a:xfrm>
            <a:off x="2333391" y="2663717"/>
            <a:ext cx="618756" cy="3429537"/>
            <a:chOff x="533" y="789351"/>
            <a:chExt cx="618753" cy="3285268"/>
          </a:xfrm>
        </p:grpSpPr>
        <p:sp>
          <p:nvSpPr>
            <p:cNvPr id="233" name="Straight Connector 28"/>
            <p:cNvSpPr/>
            <p:nvPr/>
          </p:nvSpPr>
          <p:spPr>
            <a:xfrm>
              <a:off x="257494" y="789351"/>
              <a:ext cx="27766" cy="2824750"/>
            </a:xfrm>
            <a:prstGeom prst="line">
              <a:avLst/>
            </a:prstGeom>
            <a:noFill/>
            <a:ln w="19050" cap="flat">
              <a:solidFill>
                <a:srgbClr val="632523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TextBox 72"/>
            <p:cNvSpPr txBox="1"/>
            <p:nvPr/>
          </p:nvSpPr>
          <p:spPr>
            <a:xfrm>
              <a:off x="533" y="3632377"/>
              <a:ext cx="618753" cy="442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403152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2" name="TextBox 79"/>
          <p:cNvSpPr txBox="1"/>
          <p:nvPr/>
        </p:nvSpPr>
        <p:spPr>
          <a:xfrm>
            <a:off x="5626719" y="35323"/>
            <a:ext cx="3517282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>
              <a:defRPr sz="2000" b="1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Maximization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FF40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Imperfect Competition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grpSp>
        <p:nvGrpSpPr>
          <p:cNvPr id="263" name="Group"/>
          <p:cNvGrpSpPr/>
          <p:nvPr/>
        </p:nvGrpSpPr>
        <p:grpSpPr>
          <a:xfrm>
            <a:off x="2397826" y="4458090"/>
            <a:ext cx="414141" cy="474507"/>
            <a:chOff x="0" y="349822"/>
            <a:chExt cx="414140" cy="454546"/>
          </a:xfrm>
        </p:grpSpPr>
        <p:sp>
          <p:nvSpPr>
            <p:cNvPr id="261" name="TextBox 78"/>
            <p:cNvSpPr txBox="1"/>
            <p:nvPr/>
          </p:nvSpPr>
          <p:spPr>
            <a:xfrm>
              <a:off x="0" y="362126"/>
              <a:ext cx="276239" cy="4422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>
                  <a:solidFill>
                    <a:srgbClr val="403152"/>
                  </a:solidFill>
                </a:defRPr>
              </a:lvl1pPr>
            </a:lstStyle>
            <a:p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</a:p>
          </p:txBody>
        </p:sp>
        <p:sp>
          <p:nvSpPr>
            <p:cNvPr id="262" name="Line"/>
            <p:cNvSpPr/>
            <p:nvPr/>
          </p:nvSpPr>
          <p:spPr>
            <a:xfrm>
              <a:off x="0" y="349822"/>
              <a:ext cx="414140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6" name="Group"/>
          <p:cNvGrpSpPr/>
          <p:nvPr/>
        </p:nvGrpSpPr>
        <p:grpSpPr>
          <a:xfrm>
            <a:off x="4090781" y="1108866"/>
            <a:ext cx="286567" cy="685286"/>
            <a:chOff x="-68640" y="-55516"/>
            <a:chExt cx="286565" cy="656457"/>
          </a:xfrm>
        </p:grpSpPr>
        <p:sp>
          <p:nvSpPr>
            <p:cNvPr id="264" name="TextBox 69"/>
            <p:cNvSpPr txBox="1"/>
            <p:nvPr/>
          </p:nvSpPr>
          <p:spPr>
            <a:xfrm>
              <a:off x="-41398" y="-55516"/>
              <a:ext cx="259323" cy="560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65" name="Line"/>
            <p:cNvSpPr/>
            <p:nvPr/>
          </p:nvSpPr>
          <p:spPr>
            <a:xfrm flipV="1">
              <a:off x="-68640" y="287122"/>
              <a:ext cx="2" cy="313819"/>
            </a:xfrm>
            <a:prstGeom prst="line">
              <a:avLst/>
            </a:prstGeom>
            <a:noFill/>
            <a:ln w="25400" cap="flat">
              <a:solidFill>
                <a:srgbClr val="FF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5E510851-6AE4-D249-9529-DFED01662BC6}"/>
              </a:ext>
            </a:extLst>
          </p:cNvPr>
          <p:cNvSpPr txBox="1"/>
          <p:nvPr/>
        </p:nvSpPr>
        <p:spPr>
          <a:xfrm>
            <a:off x="5750366" y="1133744"/>
            <a:ext cx="2531853" cy="830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>
              <a:defRPr sz="2000" b="1"/>
            </a:lvl1pPr>
          </a:lstStyle>
          <a:p>
            <a:r>
              <a:rPr lang="en-US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Max. output leads to a loss</a:t>
            </a:r>
            <a:endParaRPr lang="en-IN" sz="2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E557645E-B93D-5B49-9457-B72FE343A9AE}"/>
                  </a:ext>
                </a:extLst>
              </p:cNvPr>
              <p:cNvSpPr txBox="1"/>
              <p:nvPr/>
            </p:nvSpPr>
            <p:spPr>
              <a:xfrm>
                <a:off x="233120" y="26299"/>
                <a:ext cx="764275" cy="101566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9" rIns="45719">
                <a:spAutoFit/>
              </a:bodyPr>
              <a:lstStyle>
                <a:lvl1pPr>
                  <a:defRPr sz="2000" b="1"/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 Cost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E557645E-B93D-5B49-9457-B72FE343A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20" y="26299"/>
                <a:ext cx="764275" cy="1015663"/>
              </a:xfrm>
              <a:prstGeom prst="rect">
                <a:avLst/>
              </a:prstGeom>
              <a:blipFill>
                <a:blip r:embed="rId3"/>
                <a:stretch>
                  <a:fillRect l="-14754" t="-24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">
            <a:extLst>
              <a:ext uri="{FF2B5EF4-FFF2-40B4-BE49-F238E27FC236}">
                <a16:creationId xmlns:a16="http://schemas.microsoft.com/office/drawing/2014/main" id="{7D03A43A-6FF2-334F-B7F2-0191D8A45EAE}"/>
              </a:ext>
            </a:extLst>
          </p:cNvPr>
          <p:cNvGrpSpPr/>
          <p:nvPr/>
        </p:nvGrpSpPr>
        <p:grpSpPr>
          <a:xfrm>
            <a:off x="3289969" y="1751834"/>
            <a:ext cx="618756" cy="4286672"/>
            <a:chOff x="-137288" y="534630"/>
            <a:chExt cx="618753" cy="4106347"/>
          </a:xfrm>
        </p:grpSpPr>
        <p:sp>
          <p:nvSpPr>
            <p:cNvPr id="41" name="Straight Connector 28">
              <a:extLst>
                <a:ext uri="{FF2B5EF4-FFF2-40B4-BE49-F238E27FC236}">
                  <a16:creationId xmlns:a16="http://schemas.microsoft.com/office/drawing/2014/main" id="{3C9E33EC-951A-EC46-A20C-C9A69A8EC8FA}"/>
                </a:ext>
              </a:extLst>
            </p:cNvPr>
            <p:cNvSpPr/>
            <p:nvPr/>
          </p:nvSpPr>
          <p:spPr>
            <a:xfrm flipH="1">
              <a:off x="210388" y="534630"/>
              <a:ext cx="30927" cy="3728731"/>
            </a:xfrm>
            <a:prstGeom prst="line">
              <a:avLst/>
            </a:prstGeom>
            <a:noFill/>
            <a:ln w="19050" cap="flat">
              <a:solidFill>
                <a:srgbClr val="7030A0"/>
              </a:solidFill>
              <a:prstDash val="lgDash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Box 72">
              <a:extLst>
                <a:ext uri="{FF2B5EF4-FFF2-40B4-BE49-F238E27FC236}">
                  <a16:creationId xmlns:a16="http://schemas.microsoft.com/office/drawing/2014/main" id="{16033AA3-C5B0-4845-8533-11F8A63CA5A2}"/>
                </a:ext>
              </a:extLst>
            </p:cNvPr>
            <p:cNvSpPr txBox="1"/>
            <p:nvPr/>
          </p:nvSpPr>
          <p:spPr>
            <a:xfrm>
              <a:off x="-137288" y="4198735"/>
              <a:ext cx="618753" cy="442242"/>
            </a:xfrm>
            <a:prstGeom prst="rect">
              <a:avLst/>
            </a:prstGeom>
            <a:noFill/>
            <a:ln w="1905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>
                <a:defRPr sz="2000" b="1">
                  <a:solidFill>
                    <a:srgbClr val="403152"/>
                  </a:solidFill>
                </a:defRPr>
              </a:pPr>
              <a:r>
                <a:rPr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Straight Connector 67">
            <a:extLst>
              <a:ext uri="{FF2B5EF4-FFF2-40B4-BE49-F238E27FC236}">
                <a16:creationId xmlns:a16="http://schemas.microsoft.com/office/drawing/2014/main" id="{BC592EAA-5B23-C446-A1FF-99388599C625}"/>
              </a:ext>
            </a:extLst>
          </p:cNvPr>
          <p:cNvSpPr/>
          <p:nvPr/>
        </p:nvSpPr>
        <p:spPr>
          <a:xfrm>
            <a:off x="3668573" y="5670026"/>
            <a:ext cx="626223" cy="1149436"/>
          </a:xfrm>
          <a:prstGeom prst="line">
            <a:avLst/>
          </a:prstGeom>
          <a:noFill/>
          <a:ln w="38100" cap="flat">
            <a:solidFill>
              <a:schemeClr val="accent6">
                <a:lumMod val="50000"/>
              </a:schemeClr>
            </a:solidFill>
            <a:prstDash val="lgDash"/>
            <a:round/>
          </a:ln>
          <a:effectLst/>
        </p:spPr>
        <p:txBody>
          <a:bodyPr wrap="square" lIns="45719" tIns="45719" rIns="45719" bIns="45719" numCol="1" anchor="t">
            <a:noAutofit/>
          </a:bodyPr>
          <a:lstStyle/>
          <a:p>
            <a:endParaRPr sz="3600"/>
          </a:p>
        </p:txBody>
      </p:sp>
      <p:sp>
        <p:nvSpPr>
          <p:cNvPr id="44" name="TextBox 38">
            <a:extLst>
              <a:ext uri="{FF2B5EF4-FFF2-40B4-BE49-F238E27FC236}">
                <a16:creationId xmlns:a16="http://schemas.microsoft.com/office/drawing/2014/main" id="{0AE3CECA-C537-F04A-BF43-E3A6686B91EB}"/>
              </a:ext>
            </a:extLst>
          </p:cNvPr>
          <p:cNvSpPr txBox="1"/>
          <p:nvPr/>
        </p:nvSpPr>
        <p:spPr>
          <a:xfrm>
            <a:off x="3289849" y="1266416"/>
            <a:ext cx="53340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>
              <a:defRPr sz="2000" b="1">
                <a:solidFill>
                  <a:srgbClr val="984807"/>
                </a:solidFill>
              </a:defRPr>
            </a:pPr>
            <a:r>
              <a:rPr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400" baseline="-25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400" baseline="-25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911891-4EE3-1046-A9E4-DDC80964952F}"/>
              </a:ext>
            </a:extLst>
          </p:cNvPr>
          <p:cNvGrpSpPr/>
          <p:nvPr/>
        </p:nvGrpSpPr>
        <p:grpSpPr>
          <a:xfrm>
            <a:off x="3707024" y="298509"/>
            <a:ext cx="998356" cy="6464158"/>
            <a:chOff x="3768711" y="285753"/>
            <a:chExt cx="998356" cy="6464158"/>
          </a:xfrm>
        </p:grpSpPr>
        <p:grpSp>
          <p:nvGrpSpPr>
            <p:cNvPr id="238" name="Group"/>
            <p:cNvGrpSpPr/>
            <p:nvPr/>
          </p:nvGrpSpPr>
          <p:grpSpPr>
            <a:xfrm>
              <a:off x="4146275" y="599607"/>
              <a:ext cx="620792" cy="5851293"/>
              <a:chOff x="262076" y="-1032159"/>
              <a:chExt cx="620789" cy="5605152"/>
            </a:xfrm>
          </p:grpSpPr>
          <p:sp>
            <p:nvSpPr>
              <p:cNvPr id="236" name="Straight Connector 67"/>
              <p:cNvSpPr/>
              <p:nvPr/>
            </p:nvSpPr>
            <p:spPr>
              <a:xfrm>
                <a:off x="267336" y="-1032159"/>
                <a:ext cx="19928" cy="5605152"/>
              </a:xfrm>
              <a:prstGeom prst="line">
                <a:avLst/>
              </a:prstGeom>
              <a:noFill/>
              <a:ln w="38100" cap="flat">
                <a:solidFill>
                  <a:srgbClr val="FF0000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7" name="TextBox 73"/>
              <p:cNvSpPr txBox="1"/>
              <p:nvPr/>
            </p:nvSpPr>
            <p:spPr>
              <a:xfrm>
                <a:off x="262076" y="3734274"/>
                <a:ext cx="620789" cy="44224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/>
              <a:p>
                <a:pPr>
                  <a:defRPr sz="2000" b="1">
                    <a:solidFill>
                      <a:srgbClr val="FF0000"/>
                    </a:solidFill>
                  </a:defRPr>
                </a:pPr>
                <a:r>
                  <a:rPr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  <a:r>
                  <a:rPr lang="en-US" sz="2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sz="2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5" name="TextBox 69">
              <a:extLst>
                <a:ext uri="{FF2B5EF4-FFF2-40B4-BE49-F238E27FC236}">
                  <a16:creationId xmlns:a16="http://schemas.microsoft.com/office/drawing/2014/main" id="{8534BE1B-7528-AE44-AA98-C9071BF57903}"/>
                </a:ext>
              </a:extLst>
            </p:cNvPr>
            <p:cNvSpPr txBox="1"/>
            <p:nvPr/>
          </p:nvSpPr>
          <p:spPr>
            <a:xfrm>
              <a:off x="3865968" y="285753"/>
              <a:ext cx="259325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endPara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Box 69">
              <a:extLst>
                <a:ext uri="{FF2B5EF4-FFF2-40B4-BE49-F238E27FC236}">
                  <a16:creationId xmlns:a16="http://schemas.microsoft.com/office/drawing/2014/main" id="{C494FE97-6114-ED40-AB51-9697CFD671BD}"/>
                </a:ext>
              </a:extLst>
            </p:cNvPr>
            <p:cNvSpPr txBox="1"/>
            <p:nvPr/>
          </p:nvSpPr>
          <p:spPr>
            <a:xfrm>
              <a:off x="3768711" y="6288248"/>
              <a:ext cx="518716" cy="4616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>
                <a:defRPr sz="2000" b="1"/>
              </a:lvl1pPr>
            </a:lstStyle>
            <a:p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</a:t>
              </a:r>
              <a:endPara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B4F88-0D74-D643-B3E2-DE5E64EB809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43534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"/>
          <p:cNvGrpSpPr/>
          <p:nvPr/>
        </p:nvGrpSpPr>
        <p:grpSpPr>
          <a:xfrm>
            <a:off x="793579" y="804184"/>
            <a:ext cx="3884248" cy="5600108"/>
            <a:chOff x="792198" y="0"/>
            <a:chExt cx="3884247" cy="5600107"/>
          </a:xfrm>
        </p:grpSpPr>
        <p:sp>
          <p:nvSpPr>
            <p:cNvPr id="274" name="Straight Connector 6"/>
            <p:cNvSpPr/>
            <p:nvPr/>
          </p:nvSpPr>
          <p:spPr>
            <a:xfrm flipH="1">
              <a:off x="1271862" y="124703"/>
              <a:ext cx="11076" cy="503013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5" name="Straight Connector 8"/>
            <p:cNvSpPr/>
            <p:nvPr/>
          </p:nvSpPr>
          <p:spPr>
            <a:xfrm flipH="1" flipV="1">
              <a:off x="1271862" y="5141980"/>
              <a:ext cx="3262961" cy="11729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6" name="TextBox 23"/>
            <p:cNvSpPr txBox="1"/>
            <p:nvPr/>
          </p:nvSpPr>
          <p:spPr>
            <a:xfrm>
              <a:off x="792198" y="0"/>
              <a:ext cx="477830" cy="5632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900" b="1"/>
              </a:lvl1pPr>
            </a:lstStyle>
            <a:p>
              <a:r>
                <a:t>Rev, Cost</a:t>
              </a:r>
            </a:p>
          </p:txBody>
        </p:sp>
        <p:sp>
          <p:nvSpPr>
            <p:cNvPr id="277" name="Straight Connector 31"/>
            <p:cNvSpPr/>
            <p:nvPr/>
          </p:nvSpPr>
          <p:spPr>
            <a:xfrm flipV="1">
              <a:off x="1874310" y="3055631"/>
              <a:ext cx="720633" cy="1582054"/>
            </a:xfrm>
            <a:prstGeom prst="line">
              <a:avLst/>
            </a:prstGeom>
            <a:noFill/>
            <a:ln w="19050" cap="flat">
              <a:solidFill>
                <a:srgbClr val="604A7B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278" name="TextBox 33"/>
            <p:cNvSpPr txBox="1"/>
            <p:nvPr/>
          </p:nvSpPr>
          <p:spPr>
            <a:xfrm>
              <a:off x="2529377" y="2815145"/>
              <a:ext cx="415513" cy="3777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 b="1">
                  <a:solidFill>
                    <a:srgbClr val="604A7B"/>
                  </a:solidFill>
                </a:defRPr>
              </a:pPr>
              <a:r>
                <a:t>t</a:t>
              </a:r>
              <a:r>
                <a:rPr baseline="-43999"/>
                <a:t>C</a:t>
              </a:r>
            </a:p>
          </p:txBody>
        </p:sp>
        <p:sp>
          <p:nvSpPr>
            <p:cNvPr id="279" name="TextBox 35"/>
            <p:cNvSpPr txBox="1"/>
            <p:nvPr/>
          </p:nvSpPr>
          <p:spPr>
            <a:xfrm>
              <a:off x="2154203" y="2419705"/>
              <a:ext cx="146074" cy="39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>
                  <a:solidFill>
                    <a:srgbClr val="984807"/>
                  </a:solidFill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280" name="TextBox 36"/>
            <p:cNvSpPr txBox="1"/>
            <p:nvPr/>
          </p:nvSpPr>
          <p:spPr>
            <a:xfrm>
              <a:off x="2275285" y="3648938"/>
              <a:ext cx="151729" cy="395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>
                  <a:solidFill>
                    <a:srgbClr val="403152"/>
                  </a:solidFill>
                </a:defRPr>
              </a:lvl1pPr>
            </a:lstStyle>
            <a:p>
              <a:r>
                <a:t>C</a:t>
              </a:r>
            </a:p>
          </p:txBody>
        </p:sp>
        <p:grpSp>
          <p:nvGrpSpPr>
            <p:cNvPr id="283" name="Group"/>
            <p:cNvGrpSpPr/>
            <p:nvPr/>
          </p:nvGrpSpPr>
          <p:grpSpPr>
            <a:xfrm>
              <a:off x="1298900" y="410233"/>
              <a:ext cx="1928031" cy="4153939"/>
              <a:chOff x="0" y="0"/>
              <a:chExt cx="1928029" cy="4153937"/>
            </a:xfrm>
          </p:grpSpPr>
          <p:sp>
            <p:nvSpPr>
              <p:cNvPr id="281" name="Freeform 13"/>
              <p:cNvSpPr/>
              <p:nvPr/>
            </p:nvSpPr>
            <p:spPr>
              <a:xfrm>
                <a:off x="0" y="253618"/>
                <a:ext cx="1776611" cy="39003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66" y="20393"/>
                      <a:pt x="1332" y="19185"/>
                      <a:pt x="3240" y="18489"/>
                    </a:cubicBezTo>
                    <a:cubicBezTo>
                      <a:pt x="5148" y="17793"/>
                      <a:pt x="8388" y="20504"/>
                      <a:pt x="11448" y="17422"/>
                    </a:cubicBezTo>
                    <a:cubicBezTo>
                      <a:pt x="14508" y="14341"/>
                      <a:pt x="18054" y="7170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0F253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2" name="TextBox 21"/>
              <p:cNvSpPr txBox="1"/>
              <p:nvPr/>
            </p:nvSpPr>
            <p:spPr>
              <a:xfrm>
                <a:off x="1656447" y="0"/>
                <a:ext cx="271583" cy="2506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800" b="1">
                    <a:solidFill>
                      <a:srgbClr val="0F253F"/>
                    </a:solidFill>
                  </a:defRPr>
                </a:lvl1pPr>
              </a:lstStyle>
              <a:p>
                <a:r>
                  <a:t>TC</a:t>
                </a:r>
              </a:p>
            </p:txBody>
          </p:sp>
        </p:grpSp>
        <p:sp>
          <p:nvSpPr>
            <p:cNvPr id="284" name="TextBox 38"/>
            <p:cNvSpPr txBox="1"/>
            <p:nvPr/>
          </p:nvSpPr>
          <p:spPr>
            <a:xfrm>
              <a:off x="1642293" y="3547229"/>
              <a:ext cx="390556" cy="4451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 b="1">
                  <a:solidFill>
                    <a:srgbClr val="984807"/>
                  </a:solidFill>
                </a:defRPr>
              </a:pPr>
              <a:r>
                <a:t>B</a:t>
              </a:r>
              <a:r>
                <a:rPr baseline="-43999"/>
                <a:t>1</a:t>
              </a:r>
            </a:p>
          </p:txBody>
        </p:sp>
        <p:sp>
          <p:nvSpPr>
            <p:cNvPr id="285" name="Freeform 64"/>
            <p:cNvSpPr/>
            <p:nvPr/>
          </p:nvSpPr>
          <p:spPr>
            <a:xfrm>
              <a:off x="1778110" y="4445898"/>
              <a:ext cx="1021428" cy="6713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4" extrusionOk="0">
                  <a:moveTo>
                    <a:pt x="0" y="21584"/>
                  </a:moveTo>
                  <a:cubicBezTo>
                    <a:pt x="3815" y="10800"/>
                    <a:pt x="7629" y="17"/>
                    <a:pt x="11229" y="0"/>
                  </a:cubicBezTo>
                  <a:cubicBezTo>
                    <a:pt x="14829" y="-16"/>
                    <a:pt x="18215" y="10735"/>
                    <a:pt x="21600" y="21486"/>
                  </a:cubicBezTo>
                </a:path>
              </a:pathLst>
            </a:custGeom>
            <a:noFill/>
            <a:ln w="25400" cap="flat">
              <a:solidFill>
                <a:srgbClr val="003300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6" name="TextBox 70"/>
            <p:cNvSpPr txBox="1"/>
            <p:nvPr/>
          </p:nvSpPr>
          <p:spPr>
            <a:xfrm>
              <a:off x="4317515" y="5163064"/>
              <a:ext cx="358932" cy="3954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/>
              </a:lvl1pPr>
            </a:lstStyle>
            <a:p>
              <a:r>
                <a:t>Qty</a:t>
              </a:r>
            </a:p>
          </p:txBody>
        </p:sp>
        <p:grpSp>
          <p:nvGrpSpPr>
            <p:cNvPr id="289" name="Group"/>
            <p:cNvGrpSpPr/>
            <p:nvPr/>
          </p:nvGrpSpPr>
          <p:grpSpPr>
            <a:xfrm>
              <a:off x="1681138" y="3992425"/>
              <a:ext cx="351711" cy="1410801"/>
              <a:chOff x="0" y="0"/>
              <a:chExt cx="351709" cy="1410800"/>
            </a:xfrm>
          </p:grpSpPr>
          <p:sp>
            <p:nvSpPr>
              <p:cNvPr id="287" name="Straight Connector 39"/>
              <p:cNvSpPr/>
              <p:nvPr/>
            </p:nvSpPr>
            <p:spPr>
              <a:xfrm flipH="1">
                <a:off x="93117" y="0"/>
                <a:ext cx="1" cy="1162485"/>
              </a:xfrm>
              <a:prstGeom prst="line">
                <a:avLst/>
              </a:prstGeom>
              <a:noFill/>
              <a:ln w="28575" cap="flat">
                <a:solidFill>
                  <a:srgbClr val="E46C0A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88" name="TextBox 71"/>
              <p:cNvSpPr txBox="1"/>
              <p:nvPr/>
            </p:nvSpPr>
            <p:spPr>
              <a:xfrm>
                <a:off x="0" y="1121129"/>
                <a:ext cx="351710" cy="28967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984807"/>
                    </a:solidFill>
                  </a:defRPr>
                </a:pPr>
                <a:r>
                  <a:t>Q</a:t>
                </a:r>
                <a:r>
                  <a:rPr baseline="-43999"/>
                  <a:t>1</a:t>
                </a:r>
              </a:p>
            </p:txBody>
          </p:sp>
        </p:grpSp>
        <p:grpSp>
          <p:nvGrpSpPr>
            <p:cNvPr id="292" name="Group"/>
            <p:cNvGrpSpPr/>
            <p:nvPr/>
          </p:nvGrpSpPr>
          <p:grpSpPr>
            <a:xfrm>
              <a:off x="2173723" y="2899984"/>
              <a:ext cx="288334" cy="2700124"/>
              <a:chOff x="0" y="0"/>
              <a:chExt cx="288332" cy="2700123"/>
            </a:xfrm>
          </p:grpSpPr>
          <p:sp>
            <p:nvSpPr>
              <p:cNvPr id="290" name="Straight Connector 28"/>
              <p:cNvSpPr/>
              <p:nvPr/>
            </p:nvSpPr>
            <p:spPr>
              <a:xfrm flipH="1">
                <a:off x="89063" y="0"/>
                <a:ext cx="1" cy="2288788"/>
              </a:xfrm>
              <a:prstGeom prst="line">
                <a:avLst/>
              </a:prstGeom>
              <a:noFill/>
              <a:ln w="28575" cap="flat">
                <a:solidFill>
                  <a:srgbClr val="632523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1" name="TextBox 72"/>
              <p:cNvSpPr txBox="1"/>
              <p:nvPr/>
            </p:nvSpPr>
            <p:spPr>
              <a:xfrm>
                <a:off x="0" y="2254926"/>
                <a:ext cx="288333" cy="4451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403152"/>
                    </a:solidFill>
                  </a:defRPr>
                </a:pPr>
                <a:r>
                  <a:t>Q</a:t>
                </a:r>
                <a:r>
                  <a:rPr baseline="-43999"/>
                  <a:t>2</a:t>
                </a:r>
              </a:p>
            </p:txBody>
          </p:sp>
        </p:grpSp>
        <p:grpSp>
          <p:nvGrpSpPr>
            <p:cNvPr id="295" name="Group"/>
            <p:cNvGrpSpPr/>
            <p:nvPr/>
          </p:nvGrpSpPr>
          <p:grpSpPr>
            <a:xfrm>
              <a:off x="2737133" y="1724270"/>
              <a:ext cx="361095" cy="3834235"/>
              <a:chOff x="0" y="0"/>
              <a:chExt cx="361094" cy="3834234"/>
            </a:xfrm>
          </p:grpSpPr>
          <p:sp>
            <p:nvSpPr>
              <p:cNvPr id="293" name="Straight Connector 57"/>
              <p:cNvSpPr/>
              <p:nvPr/>
            </p:nvSpPr>
            <p:spPr>
              <a:xfrm flipH="1">
                <a:off x="66644" y="-1"/>
                <a:ext cx="1" cy="3389286"/>
              </a:xfrm>
              <a:prstGeom prst="line">
                <a:avLst/>
              </a:prstGeom>
              <a:noFill/>
              <a:ln w="28575" cap="flat">
                <a:solidFill>
                  <a:srgbClr val="E46C0A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294" name="TextBox 74"/>
              <p:cNvSpPr txBox="1"/>
              <p:nvPr/>
            </p:nvSpPr>
            <p:spPr>
              <a:xfrm>
                <a:off x="0" y="3389037"/>
                <a:ext cx="361095" cy="4451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984807"/>
                    </a:solidFill>
                  </a:defRPr>
                </a:pPr>
                <a:r>
                  <a:t>Q</a:t>
                </a:r>
                <a:r>
                  <a:rPr baseline="-43999"/>
                  <a:t>3</a:t>
                </a:r>
              </a:p>
            </p:txBody>
          </p:sp>
        </p:grpSp>
        <p:sp>
          <p:nvSpPr>
            <p:cNvPr id="296" name="TextBox 78"/>
            <p:cNvSpPr txBox="1"/>
            <p:nvPr/>
          </p:nvSpPr>
          <p:spPr>
            <a:xfrm>
              <a:off x="2275285" y="4141267"/>
              <a:ext cx="198584" cy="2915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>
                  <a:solidFill>
                    <a:srgbClr val="403152"/>
                  </a:solidFill>
                </a:defRPr>
              </a:lvl1pPr>
            </a:lstStyle>
            <a:p>
              <a:r>
                <a:t>M</a:t>
              </a:r>
            </a:p>
          </p:txBody>
        </p:sp>
        <p:sp>
          <p:nvSpPr>
            <p:cNvPr id="297" name="Line"/>
            <p:cNvSpPr/>
            <p:nvPr/>
          </p:nvSpPr>
          <p:spPr>
            <a:xfrm>
              <a:off x="2201652" y="4397199"/>
              <a:ext cx="197249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300" name="Group"/>
            <p:cNvGrpSpPr/>
            <p:nvPr/>
          </p:nvGrpSpPr>
          <p:grpSpPr>
            <a:xfrm>
              <a:off x="1262082" y="395214"/>
              <a:ext cx="2457341" cy="4759656"/>
              <a:chOff x="1262082" y="0"/>
              <a:chExt cx="2457340" cy="4759655"/>
            </a:xfrm>
          </p:grpSpPr>
          <p:sp>
            <p:nvSpPr>
              <p:cNvPr id="298" name="TextBox 26"/>
              <p:cNvSpPr txBox="1"/>
              <p:nvPr/>
            </p:nvSpPr>
            <p:spPr>
              <a:xfrm>
                <a:off x="3408920" y="0"/>
                <a:ext cx="310503" cy="30025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800" b="1"/>
                </a:lvl1pPr>
              </a:lstStyle>
              <a:p>
                <a:r>
                  <a:t>TR</a:t>
                </a:r>
              </a:p>
            </p:txBody>
          </p:sp>
          <p:sp>
            <p:nvSpPr>
              <p:cNvPr id="299" name="Line"/>
              <p:cNvSpPr/>
              <p:nvPr/>
            </p:nvSpPr>
            <p:spPr>
              <a:xfrm flipV="1">
                <a:off x="1262082" y="123874"/>
                <a:ext cx="2111617" cy="4635782"/>
              </a:xfrm>
              <a:prstGeom prst="line">
                <a:avLst/>
              </a:prstGeom>
              <a:noFill/>
              <a:ln w="25400" cap="flat">
                <a:solidFill>
                  <a:srgbClr val="4E7A27"/>
                </a:solidFill>
                <a:prstDash val="solid"/>
                <a:round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301" name="TextBox 37"/>
            <p:cNvSpPr txBox="1"/>
            <p:nvPr/>
          </p:nvSpPr>
          <p:spPr>
            <a:xfrm>
              <a:off x="2519455" y="1589049"/>
              <a:ext cx="293062" cy="27044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900" b="1">
                  <a:solidFill>
                    <a:srgbClr val="984807"/>
                  </a:solidFill>
                </a:defRPr>
              </a:pPr>
              <a:r>
                <a:t>B</a:t>
              </a:r>
              <a:r>
                <a:rPr baseline="-48222"/>
                <a:t>2</a:t>
              </a:r>
            </a:p>
          </p:txBody>
        </p:sp>
      </p:grpSp>
      <p:grpSp>
        <p:nvGrpSpPr>
          <p:cNvPr id="340" name="Group"/>
          <p:cNvGrpSpPr/>
          <p:nvPr/>
        </p:nvGrpSpPr>
        <p:grpSpPr>
          <a:xfrm>
            <a:off x="4677826" y="949078"/>
            <a:ext cx="3744992" cy="5310320"/>
            <a:chOff x="0" y="0"/>
            <a:chExt cx="3744991" cy="5310319"/>
          </a:xfrm>
        </p:grpSpPr>
        <p:sp>
          <p:nvSpPr>
            <p:cNvPr id="303" name="Straight Connector 6"/>
            <p:cNvSpPr/>
            <p:nvPr/>
          </p:nvSpPr>
          <p:spPr>
            <a:xfrm flipH="1">
              <a:off x="410331" y="78916"/>
              <a:ext cx="1" cy="4878827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04" name="Straight Connector 8"/>
            <p:cNvSpPr/>
            <p:nvPr/>
          </p:nvSpPr>
          <p:spPr>
            <a:xfrm flipH="1" flipV="1">
              <a:off x="410331" y="4945271"/>
              <a:ext cx="3208588" cy="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round/>
              <a:headEnd type="triangle" w="med" len="med"/>
              <a:tailEnd type="non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grpSp>
          <p:nvGrpSpPr>
            <p:cNvPr id="307" name="Group"/>
            <p:cNvGrpSpPr/>
            <p:nvPr/>
          </p:nvGrpSpPr>
          <p:grpSpPr>
            <a:xfrm>
              <a:off x="401724" y="78904"/>
              <a:ext cx="2699073" cy="3836279"/>
              <a:chOff x="0" y="0"/>
              <a:chExt cx="2699071" cy="3836277"/>
            </a:xfrm>
          </p:grpSpPr>
          <p:sp>
            <p:nvSpPr>
              <p:cNvPr id="305" name="Freeform 13"/>
              <p:cNvSpPr/>
              <p:nvPr/>
            </p:nvSpPr>
            <p:spPr>
              <a:xfrm>
                <a:off x="0" y="406174"/>
                <a:ext cx="2481212" cy="343010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cubicBezTo>
                      <a:pt x="666" y="20393"/>
                      <a:pt x="1332" y="19185"/>
                      <a:pt x="3240" y="18489"/>
                    </a:cubicBezTo>
                    <a:cubicBezTo>
                      <a:pt x="5148" y="17793"/>
                      <a:pt x="8388" y="20504"/>
                      <a:pt x="11448" y="17422"/>
                    </a:cubicBezTo>
                    <a:cubicBezTo>
                      <a:pt x="14508" y="14341"/>
                      <a:pt x="18054" y="7170"/>
                      <a:pt x="21600" y="0"/>
                    </a:cubicBezTo>
                  </a:path>
                </a:pathLst>
              </a:custGeom>
              <a:noFill/>
              <a:ln w="28575" cap="flat">
                <a:solidFill>
                  <a:srgbClr val="0F253F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06" name="TextBox 21"/>
              <p:cNvSpPr txBox="1"/>
              <p:nvPr/>
            </p:nvSpPr>
            <p:spPr>
              <a:xfrm>
                <a:off x="2377765" y="0"/>
                <a:ext cx="321307" cy="231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1000" b="1">
                    <a:solidFill>
                      <a:srgbClr val="0F253F"/>
                    </a:solidFill>
                  </a:defRPr>
                </a:lvl1pPr>
              </a:lstStyle>
              <a:p>
                <a:r>
                  <a:t>TC</a:t>
                </a:r>
              </a:p>
            </p:txBody>
          </p:sp>
        </p:grpSp>
        <p:sp>
          <p:nvSpPr>
            <p:cNvPr id="308" name="TextBox 23"/>
            <p:cNvSpPr txBox="1"/>
            <p:nvPr/>
          </p:nvSpPr>
          <p:spPr>
            <a:xfrm>
              <a:off x="0" y="143162"/>
              <a:ext cx="401725" cy="4922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/>
              </a:lvl1pPr>
            </a:lstStyle>
            <a:p>
              <a:r>
                <a:t>Rev, Cost</a:t>
              </a:r>
            </a:p>
          </p:txBody>
        </p:sp>
        <p:grpSp>
          <p:nvGrpSpPr>
            <p:cNvPr id="311" name="Group"/>
            <p:cNvGrpSpPr/>
            <p:nvPr/>
          </p:nvGrpSpPr>
          <p:grpSpPr>
            <a:xfrm>
              <a:off x="420222" y="633571"/>
              <a:ext cx="3324770" cy="4300910"/>
              <a:chOff x="0" y="0"/>
              <a:chExt cx="3324769" cy="4300908"/>
            </a:xfrm>
          </p:grpSpPr>
          <p:sp>
            <p:nvSpPr>
              <p:cNvPr id="309" name="Freeform 25"/>
              <p:cNvSpPr/>
              <p:nvPr/>
            </p:nvSpPr>
            <p:spPr>
              <a:xfrm>
                <a:off x="0" y="0"/>
                <a:ext cx="3003465" cy="430090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762" extrusionOk="0">
                    <a:moveTo>
                      <a:pt x="0" y="20762"/>
                    </a:moveTo>
                    <a:cubicBezTo>
                      <a:pt x="981" y="17354"/>
                      <a:pt x="1962" y="13946"/>
                      <a:pt x="4002" y="10537"/>
                    </a:cubicBezTo>
                    <a:cubicBezTo>
                      <a:pt x="6043" y="7129"/>
                      <a:pt x="9309" y="1464"/>
                      <a:pt x="12242" y="313"/>
                    </a:cubicBezTo>
                    <a:cubicBezTo>
                      <a:pt x="15175" y="-838"/>
                      <a:pt x="18387" y="1397"/>
                      <a:pt x="21600" y="3632"/>
                    </a:cubicBezTo>
                  </a:path>
                </a:pathLst>
              </a:custGeom>
              <a:noFill/>
              <a:ln w="38100" cap="flat">
                <a:solidFill>
                  <a:srgbClr val="4F6228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algn="ctr">
                  <a:defRPr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10" name="TextBox 26"/>
              <p:cNvSpPr txBox="1"/>
              <p:nvPr/>
            </p:nvSpPr>
            <p:spPr>
              <a:xfrm>
                <a:off x="3003463" y="646365"/>
                <a:ext cx="321307" cy="2311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>
                <a:lvl1pPr>
                  <a:defRPr sz="1000" b="1">
                    <a:solidFill>
                      <a:srgbClr val="4F6228"/>
                    </a:solidFill>
                  </a:defRPr>
                </a:lvl1pPr>
              </a:lstStyle>
              <a:p>
                <a:r>
                  <a:t>TR</a:t>
                </a:r>
              </a:p>
            </p:txBody>
          </p:sp>
        </p:grpSp>
        <p:sp>
          <p:nvSpPr>
            <p:cNvPr id="312" name="Straight Connector 30"/>
            <p:cNvSpPr/>
            <p:nvPr/>
          </p:nvSpPr>
          <p:spPr>
            <a:xfrm flipV="1">
              <a:off x="1233966" y="328583"/>
              <a:ext cx="1073875" cy="1484083"/>
            </a:xfrm>
            <a:prstGeom prst="line">
              <a:avLst/>
            </a:prstGeom>
            <a:noFill/>
            <a:ln w="19050" cap="flat">
              <a:solidFill>
                <a:srgbClr val="953735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13" name="TextBox 32"/>
            <p:cNvSpPr txBox="1"/>
            <p:nvPr/>
          </p:nvSpPr>
          <p:spPr>
            <a:xfrm>
              <a:off x="2241271" y="0"/>
              <a:ext cx="226753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 b="1">
                  <a:solidFill>
                    <a:srgbClr val="953735"/>
                  </a:solidFill>
                </a:defRPr>
              </a:pPr>
              <a:r>
                <a:t>t</a:t>
              </a:r>
              <a:r>
                <a:rPr baseline="-43999"/>
                <a:t>R</a:t>
              </a:r>
            </a:p>
          </p:txBody>
        </p:sp>
        <p:grpSp>
          <p:nvGrpSpPr>
            <p:cNvPr id="316" name="Group"/>
            <p:cNvGrpSpPr/>
            <p:nvPr/>
          </p:nvGrpSpPr>
          <p:grpSpPr>
            <a:xfrm>
              <a:off x="1336569" y="2135908"/>
              <a:ext cx="1266787" cy="1694402"/>
              <a:chOff x="290164" y="0"/>
              <a:chExt cx="1266786" cy="1694400"/>
            </a:xfrm>
          </p:grpSpPr>
          <p:sp>
            <p:nvSpPr>
              <p:cNvPr id="314" name="Straight Connector 31"/>
              <p:cNvSpPr/>
              <p:nvPr/>
            </p:nvSpPr>
            <p:spPr>
              <a:xfrm flipV="1">
                <a:off x="290164" y="210318"/>
                <a:ext cx="1073874" cy="1484083"/>
              </a:xfrm>
              <a:prstGeom prst="line">
                <a:avLst/>
              </a:prstGeom>
              <a:noFill/>
              <a:ln w="19050" cap="flat">
                <a:solidFill>
                  <a:srgbClr val="604A7B"/>
                </a:solidFill>
                <a:prstDash val="solid"/>
                <a:round/>
                <a:headEnd type="triangle" w="med" len="med"/>
                <a:tailEnd type="triangle" w="med" len="med"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15" name="TextBox 33"/>
              <p:cNvSpPr txBox="1"/>
              <p:nvPr/>
            </p:nvSpPr>
            <p:spPr>
              <a:xfrm>
                <a:off x="1336240" y="0"/>
                <a:ext cx="220711" cy="27940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604A7B"/>
                    </a:solidFill>
                  </a:defRPr>
                </a:pPr>
                <a:r>
                  <a:t>t</a:t>
                </a:r>
                <a:r>
                  <a:rPr baseline="-43999"/>
                  <a:t>C</a:t>
                </a:r>
              </a:p>
            </p:txBody>
          </p:sp>
        </p:grpSp>
        <p:sp>
          <p:nvSpPr>
            <p:cNvPr id="317" name="TextBox 35"/>
            <p:cNvSpPr txBox="1"/>
            <p:nvPr/>
          </p:nvSpPr>
          <p:spPr>
            <a:xfrm>
              <a:off x="1703775" y="636779"/>
              <a:ext cx="187360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>
                  <a:solidFill>
                    <a:srgbClr val="984807"/>
                  </a:solidFill>
                </a:defRPr>
              </a:lvl1pPr>
            </a:lstStyle>
            <a:p>
              <a:r>
                <a:t>R</a:t>
              </a:r>
            </a:p>
          </p:txBody>
        </p:sp>
        <p:sp>
          <p:nvSpPr>
            <p:cNvPr id="318" name="TextBox 36"/>
            <p:cNvSpPr txBox="1"/>
            <p:nvPr/>
          </p:nvSpPr>
          <p:spPr>
            <a:xfrm>
              <a:off x="1787266" y="3063923"/>
              <a:ext cx="227359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>
                  <a:solidFill>
                    <a:srgbClr val="403152"/>
                  </a:solidFill>
                </a:defRPr>
              </a:lvl1pPr>
            </a:lstStyle>
            <a:p>
              <a:r>
                <a:t>C</a:t>
              </a:r>
            </a:p>
          </p:txBody>
        </p:sp>
        <p:sp>
          <p:nvSpPr>
            <p:cNvPr id="319" name="TextBox 37"/>
            <p:cNvSpPr txBox="1"/>
            <p:nvPr/>
          </p:nvSpPr>
          <p:spPr>
            <a:xfrm>
              <a:off x="2629500" y="427536"/>
              <a:ext cx="259469" cy="27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 b="1">
                  <a:solidFill>
                    <a:srgbClr val="984807"/>
                  </a:solidFill>
                </a:defRPr>
              </a:pPr>
              <a:r>
                <a:t>B</a:t>
              </a:r>
              <a:r>
                <a:rPr baseline="-43999"/>
                <a:t>2</a:t>
              </a:r>
            </a:p>
          </p:txBody>
        </p:sp>
        <p:sp>
          <p:nvSpPr>
            <p:cNvPr id="320" name="TextBox 38"/>
            <p:cNvSpPr txBox="1"/>
            <p:nvPr/>
          </p:nvSpPr>
          <p:spPr>
            <a:xfrm>
              <a:off x="607552" y="3120445"/>
              <a:ext cx="321307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000" b="1">
                  <a:solidFill>
                    <a:srgbClr val="984807"/>
                  </a:solidFill>
                </a:defRPr>
              </a:pPr>
              <a:r>
                <a:t>B</a:t>
              </a:r>
              <a:r>
                <a:rPr baseline="-43999"/>
                <a:t>1</a:t>
              </a:r>
            </a:p>
          </p:txBody>
        </p:sp>
        <p:sp>
          <p:nvSpPr>
            <p:cNvPr id="321" name="Freeform 64"/>
            <p:cNvSpPr/>
            <p:nvPr/>
          </p:nvSpPr>
          <p:spPr>
            <a:xfrm>
              <a:off x="774977" y="2728385"/>
              <a:ext cx="1979285" cy="221064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4" extrusionOk="0">
                  <a:moveTo>
                    <a:pt x="0" y="21584"/>
                  </a:moveTo>
                  <a:cubicBezTo>
                    <a:pt x="3815" y="10800"/>
                    <a:pt x="7629" y="17"/>
                    <a:pt x="11229" y="0"/>
                  </a:cubicBezTo>
                  <a:cubicBezTo>
                    <a:pt x="14829" y="-16"/>
                    <a:pt x="18215" y="10735"/>
                    <a:pt x="21600" y="21486"/>
                  </a:cubicBezTo>
                </a:path>
              </a:pathLst>
            </a:custGeom>
            <a:noFill/>
            <a:ln w="25400" cap="flat">
              <a:solidFill>
                <a:srgbClr val="003300"/>
              </a:solidFill>
              <a:prstDash val="sysDash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2" name="TextBox 70"/>
            <p:cNvSpPr txBox="1"/>
            <p:nvPr/>
          </p:nvSpPr>
          <p:spPr>
            <a:xfrm>
              <a:off x="3153692" y="4966692"/>
              <a:ext cx="368464" cy="3436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/>
              </a:lvl1pPr>
            </a:lstStyle>
            <a:p>
              <a:r>
                <a:t>Qty</a:t>
              </a:r>
            </a:p>
          </p:txBody>
        </p:sp>
        <p:grpSp>
          <p:nvGrpSpPr>
            <p:cNvPr id="325" name="Group"/>
            <p:cNvGrpSpPr/>
            <p:nvPr/>
          </p:nvGrpSpPr>
          <p:grpSpPr>
            <a:xfrm>
              <a:off x="629715" y="3426564"/>
              <a:ext cx="276982" cy="1763136"/>
              <a:chOff x="0" y="0"/>
              <a:chExt cx="276981" cy="1763134"/>
            </a:xfrm>
          </p:grpSpPr>
          <p:sp>
            <p:nvSpPr>
              <p:cNvPr id="323" name="Straight Connector 39"/>
              <p:cNvSpPr/>
              <p:nvPr/>
            </p:nvSpPr>
            <p:spPr>
              <a:xfrm flipH="1">
                <a:off x="134642" y="-1"/>
                <a:ext cx="7697" cy="1530083"/>
              </a:xfrm>
              <a:prstGeom prst="line">
                <a:avLst/>
              </a:prstGeom>
              <a:noFill/>
              <a:ln w="28575" cap="flat">
                <a:solidFill>
                  <a:srgbClr val="E46C0A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4" name="TextBox 71"/>
              <p:cNvSpPr txBox="1"/>
              <p:nvPr/>
            </p:nvSpPr>
            <p:spPr>
              <a:xfrm>
                <a:off x="0" y="1483734"/>
                <a:ext cx="276982" cy="279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984807"/>
                    </a:solidFill>
                  </a:defRPr>
                </a:pPr>
                <a:r>
                  <a:t>Q</a:t>
                </a:r>
                <a:r>
                  <a:rPr baseline="-43999"/>
                  <a:t>1</a:t>
                </a:r>
              </a:p>
            </p:txBody>
          </p:sp>
        </p:grpSp>
        <p:grpSp>
          <p:nvGrpSpPr>
            <p:cNvPr id="328" name="Group"/>
            <p:cNvGrpSpPr/>
            <p:nvPr/>
          </p:nvGrpSpPr>
          <p:grpSpPr>
            <a:xfrm>
              <a:off x="1650966" y="1019899"/>
              <a:ext cx="273753" cy="4201092"/>
              <a:chOff x="0" y="0"/>
              <a:chExt cx="273752" cy="4201091"/>
            </a:xfrm>
          </p:grpSpPr>
          <p:sp>
            <p:nvSpPr>
              <p:cNvPr id="326" name="Straight Connector 28"/>
              <p:cNvSpPr/>
              <p:nvPr/>
            </p:nvSpPr>
            <p:spPr>
              <a:xfrm flipH="1">
                <a:off x="130737" y="-1"/>
                <a:ext cx="31505" cy="3956949"/>
              </a:xfrm>
              <a:prstGeom prst="line">
                <a:avLst/>
              </a:prstGeom>
              <a:noFill/>
              <a:ln w="28575" cap="flat">
                <a:solidFill>
                  <a:srgbClr val="632523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27" name="TextBox 72"/>
              <p:cNvSpPr txBox="1"/>
              <p:nvPr/>
            </p:nvSpPr>
            <p:spPr>
              <a:xfrm>
                <a:off x="0" y="3921690"/>
                <a:ext cx="273753" cy="279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403152"/>
                    </a:solidFill>
                  </a:defRPr>
                </a:pPr>
                <a:r>
                  <a:t>Q</a:t>
                </a:r>
                <a:r>
                  <a:rPr baseline="-43999"/>
                  <a:t>2</a:t>
                </a:r>
              </a:p>
            </p:txBody>
          </p:sp>
        </p:grpSp>
        <p:grpSp>
          <p:nvGrpSpPr>
            <p:cNvPr id="331" name="Group"/>
            <p:cNvGrpSpPr/>
            <p:nvPr/>
          </p:nvGrpSpPr>
          <p:grpSpPr>
            <a:xfrm>
              <a:off x="2180644" y="647153"/>
              <a:ext cx="236214" cy="4550679"/>
              <a:chOff x="0" y="0"/>
              <a:chExt cx="236213" cy="4550678"/>
            </a:xfrm>
          </p:grpSpPr>
          <p:sp>
            <p:nvSpPr>
              <p:cNvPr id="329" name="Straight Connector 67"/>
              <p:cNvSpPr/>
              <p:nvPr/>
            </p:nvSpPr>
            <p:spPr>
              <a:xfrm flipH="1">
                <a:off x="127196" y="-1"/>
                <a:ext cx="28441" cy="4307819"/>
              </a:xfrm>
              <a:prstGeom prst="line">
                <a:avLst/>
              </a:prstGeom>
              <a:noFill/>
              <a:ln w="28575" cap="flat">
                <a:solidFill>
                  <a:srgbClr val="FF0000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0" name="TextBox 73"/>
              <p:cNvSpPr txBox="1"/>
              <p:nvPr/>
            </p:nvSpPr>
            <p:spPr>
              <a:xfrm>
                <a:off x="0" y="4271278"/>
                <a:ext cx="236214" cy="279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FF0000"/>
                    </a:solidFill>
                  </a:defRPr>
                </a:pPr>
                <a:r>
                  <a:t>Q</a:t>
                </a:r>
                <a:r>
                  <a:rPr baseline="-43999"/>
                  <a:t>3</a:t>
                </a:r>
              </a:p>
            </p:txBody>
          </p:sp>
        </p:grpSp>
        <p:grpSp>
          <p:nvGrpSpPr>
            <p:cNvPr id="334" name="Group"/>
            <p:cNvGrpSpPr/>
            <p:nvPr/>
          </p:nvGrpSpPr>
          <p:grpSpPr>
            <a:xfrm>
              <a:off x="2672782" y="817529"/>
              <a:ext cx="289020" cy="4492791"/>
              <a:chOff x="0" y="0"/>
              <a:chExt cx="289018" cy="4492789"/>
            </a:xfrm>
          </p:grpSpPr>
          <p:sp>
            <p:nvSpPr>
              <p:cNvPr id="332" name="Straight Connector 57"/>
              <p:cNvSpPr/>
              <p:nvPr/>
            </p:nvSpPr>
            <p:spPr>
              <a:xfrm flipH="1">
                <a:off x="74386" y="0"/>
                <a:ext cx="48792" cy="4189302"/>
              </a:xfrm>
              <a:prstGeom prst="line">
                <a:avLst/>
              </a:prstGeom>
              <a:noFill/>
              <a:ln w="28575" cap="flat">
                <a:solidFill>
                  <a:srgbClr val="E46C0A"/>
                </a:solidFill>
                <a:prstDash val="lgDash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endParaRPr/>
              </a:p>
            </p:txBody>
          </p:sp>
          <p:sp>
            <p:nvSpPr>
              <p:cNvPr id="333" name="TextBox 74"/>
              <p:cNvSpPr txBox="1"/>
              <p:nvPr/>
            </p:nvSpPr>
            <p:spPr>
              <a:xfrm>
                <a:off x="0" y="4213390"/>
                <a:ext cx="289019" cy="2794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>
                  <a:defRPr sz="1000" b="1">
                    <a:solidFill>
                      <a:srgbClr val="984807"/>
                    </a:solidFill>
                  </a:defRPr>
                </a:pPr>
                <a:r>
                  <a:t>Q</a:t>
                </a:r>
                <a:r>
                  <a:rPr baseline="-43999"/>
                  <a:t>4</a:t>
                </a:r>
              </a:p>
            </p:txBody>
          </p:sp>
        </p:grpSp>
        <p:sp>
          <p:nvSpPr>
            <p:cNvPr id="335" name="TextBox 77"/>
            <p:cNvSpPr txBox="1"/>
            <p:nvPr/>
          </p:nvSpPr>
          <p:spPr>
            <a:xfrm>
              <a:off x="2308194" y="3329773"/>
              <a:ext cx="321307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/>
              </a:lvl1pPr>
            </a:lstStyle>
            <a:p>
              <a:r>
                <a:t>W</a:t>
              </a:r>
            </a:p>
          </p:txBody>
        </p:sp>
        <p:sp>
          <p:nvSpPr>
            <p:cNvPr id="336" name="TextBox 78"/>
            <p:cNvSpPr txBox="1"/>
            <p:nvPr/>
          </p:nvSpPr>
          <p:spPr>
            <a:xfrm>
              <a:off x="1797955" y="2338940"/>
              <a:ext cx="166400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>
                  <a:solidFill>
                    <a:srgbClr val="403152"/>
                  </a:solidFill>
                </a:defRPr>
              </a:lvl1pPr>
            </a:lstStyle>
            <a:p>
              <a:r>
                <a:t>M</a:t>
              </a:r>
            </a:p>
          </p:txBody>
        </p:sp>
        <p:sp>
          <p:nvSpPr>
            <p:cNvPr id="337" name="Line"/>
            <p:cNvSpPr/>
            <p:nvPr/>
          </p:nvSpPr>
          <p:spPr>
            <a:xfrm>
              <a:off x="1672721" y="2688762"/>
              <a:ext cx="249468" cy="1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  <p:sp>
          <p:nvSpPr>
            <p:cNvPr id="338" name="TextBox 69"/>
            <p:cNvSpPr txBox="1"/>
            <p:nvPr/>
          </p:nvSpPr>
          <p:spPr>
            <a:xfrm>
              <a:off x="2343548" y="311966"/>
              <a:ext cx="156210" cy="231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>
                <a:defRPr sz="1000" b="1"/>
              </a:lvl1pPr>
            </a:lstStyle>
            <a:p>
              <a:r>
                <a:t>P</a:t>
              </a:r>
            </a:p>
          </p:txBody>
        </p:sp>
        <p:sp>
          <p:nvSpPr>
            <p:cNvPr id="339" name="Line"/>
            <p:cNvSpPr/>
            <p:nvPr/>
          </p:nvSpPr>
          <p:spPr>
            <a:xfrm flipV="1">
              <a:off x="2335898" y="476754"/>
              <a:ext cx="1" cy="313819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round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1" name="Imperfect Competition"/>
          <p:cNvSpPr txBox="1"/>
          <p:nvPr/>
        </p:nvSpPr>
        <p:spPr>
          <a:xfrm>
            <a:off x="5399324" y="171382"/>
            <a:ext cx="2800659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solidFill>
                  <a:srgbClr val="FF4015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4015"/>
                </a:solidFill>
              </a:rPr>
              <a:t>Imperfect Competition</a:t>
            </a:r>
          </a:p>
        </p:txBody>
      </p:sp>
      <p:sp>
        <p:nvSpPr>
          <p:cNvPr id="342" name="Perfect Competition"/>
          <p:cNvSpPr txBox="1"/>
          <p:nvPr/>
        </p:nvSpPr>
        <p:spPr>
          <a:xfrm>
            <a:off x="1382652" y="171382"/>
            <a:ext cx="2500894" cy="383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 b="1">
                <a:solidFill>
                  <a:srgbClr val="FF4015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 dirty="0">
                <a:solidFill>
                  <a:srgbClr val="FF4015"/>
                </a:solidFill>
              </a:rPr>
              <a:t>Perfect Competition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094CB0-2791-3041-A523-DED731457D9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ctrTitle"/>
          </p:nvPr>
        </p:nvSpPr>
        <p:spPr>
          <a:xfrm>
            <a:off x="2256615" y="2110253"/>
            <a:ext cx="4630771" cy="1132746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5000" b="1">
                <a:latin typeface="+mj-lt"/>
                <a:ea typeface="+mj-ea"/>
                <a:cs typeface="+mj-cs"/>
                <a:sym typeface="Helvetica"/>
              </a:defRPr>
            </a:pPr>
            <a:r>
              <a:rPr sz="2812"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</a:t>
            </a:r>
          </a:p>
          <a:p>
            <a:pPr>
              <a:defRPr sz="5000" b="1">
                <a:latin typeface="+mj-lt"/>
                <a:ea typeface="+mj-ea"/>
                <a:cs typeface="+mj-cs"/>
                <a:sym typeface="Helvetica"/>
              </a:defRPr>
            </a:pPr>
            <a:r>
              <a:rPr sz="2812">
                <a:latin typeface="Times New Roman" panose="02020603050405020304" pitchFamily="18" charset="0"/>
                <a:cs typeface="Times New Roman" panose="02020603050405020304" pitchFamily="18" charset="0"/>
              </a:rPr>
              <a:t>(Product Market)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A8348B-BE9B-874C-B272-2E70944C588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9"/>
          <p:cNvSpPr txBox="1">
            <a:spLocks noGrp="1"/>
          </p:cNvSpPr>
          <p:nvPr>
            <p:ph type="title"/>
          </p:nvPr>
        </p:nvSpPr>
        <p:spPr>
          <a:xfrm>
            <a:off x="892969" y="1927077"/>
            <a:ext cx="7358063" cy="1909485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531" dirty="0"/>
              <a:t>SHORT RUN DYNAMICS </a:t>
            </a:r>
            <a:br>
              <a:rPr sz="2531" dirty="0"/>
            </a:br>
            <a:r>
              <a:rPr sz="2531" dirty="0"/>
              <a:t>UNDER </a:t>
            </a:r>
            <a:br>
              <a:rPr sz="2531" dirty="0"/>
            </a:br>
            <a:r>
              <a:rPr sz="2531" dirty="0"/>
              <a:t>PERFECT COMPETITION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1246D4-F2C3-7E40-BCCA-6CBC5090382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15</a:t>
            </a:fld>
            <a:endParaRPr lang="en-IN"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67"/>
          <p:cNvSpPr txBox="1">
            <a:spLocks noGrp="1"/>
          </p:cNvSpPr>
          <p:nvPr>
            <p:ph type="subTitle" sz="quarter" idx="1"/>
          </p:nvPr>
        </p:nvSpPr>
        <p:spPr>
          <a:xfrm>
            <a:off x="235834" y="162688"/>
            <a:ext cx="2415831" cy="548525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defTabSz="378507">
              <a:defRPr sz="2231" b="1"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78507">
              <a:defRPr sz="2231" b="1">
                <a:latin typeface="+mj-lt"/>
                <a:ea typeface="+mj-ea"/>
                <a:cs typeface="+mj-cs"/>
                <a:sym typeface="Helvetica"/>
              </a:defRPr>
            </a:pPr>
            <a:r>
              <a:rPr sz="2046" dirty="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PROFIT</a:t>
            </a:r>
          </a:p>
        </p:txBody>
      </p:sp>
      <p:sp>
        <p:nvSpPr>
          <p:cNvPr id="193" name="Shape 170"/>
          <p:cNvSpPr/>
          <p:nvPr/>
        </p:nvSpPr>
        <p:spPr>
          <a:xfrm flipV="1">
            <a:off x="5384017" y="1411963"/>
            <a:ext cx="1" cy="291297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Shape 171"/>
          <p:cNvSpPr/>
          <p:nvPr/>
        </p:nvSpPr>
        <p:spPr>
          <a:xfrm>
            <a:off x="5392947" y="4316006"/>
            <a:ext cx="32382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Shape 183"/>
          <p:cNvSpPr txBox="1"/>
          <p:nvPr/>
        </p:nvSpPr>
        <p:spPr>
          <a:xfrm>
            <a:off x="8065090" y="4353327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01" name="Shape 184"/>
          <p:cNvSpPr txBox="1"/>
          <p:nvPr/>
        </p:nvSpPr>
        <p:spPr>
          <a:xfrm>
            <a:off x="4719769" y="1201206"/>
            <a:ext cx="655320" cy="428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6735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grpSp>
        <p:nvGrpSpPr>
          <p:cNvPr id="213" name="Group"/>
          <p:cNvGrpSpPr/>
          <p:nvPr/>
        </p:nvGrpSpPr>
        <p:grpSpPr>
          <a:xfrm>
            <a:off x="5384017" y="2796681"/>
            <a:ext cx="3338681" cy="232173"/>
            <a:chOff x="0" y="0"/>
            <a:chExt cx="4748344" cy="330200"/>
          </a:xfrm>
        </p:grpSpPr>
        <p:sp>
          <p:nvSpPr>
            <p:cNvPr id="211" name="Shape 176"/>
            <p:cNvSpPr/>
            <p:nvPr/>
          </p:nvSpPr>
          <p:spPr>
            <a:xfrm>
              <a:off x="0" y="198592"/>
              <a:ext cx="356245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2" name="Shape 190"/>
            <p:cNvSpPr txBox="1"/>
            <p:nvPr/>
          </p:nvSpPr>
          <p:spPr>
            <a:xfrm>
              <a:off x="3538958" y="0"/>
              <a:ext cx="1209387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AR / MR  </a:t>
              </a:r>
            </a:p>
          </p:txBody>
        </p:sp>
      </p:grpSp>
      <p:grpSp>
        <p:nvGrpSpPr>
          <p:cNvPr id="216" name="Group"/>
          <p:cNvGrpSpPr/>
          <p:nvPr/>
        </p:nvGrpSpPr>
        <p:grpSpPr>
          <a:xfrm>
            <a:off x="5892040" y="1304157"/>
            <a:ext cx="2138235" cy="1628777"/>
            <a:chOff x="0" y="0"/>
            <a:chExt cx="3041044" cy="2316482"/>
          </a:xfrm>
        </p:grpSpPr>
        <p:sp>
          <p:nvSpPr>
            <p:cNvPr id="214" name="Shape 180"/>
            <p:cNvSpPr/>
            <p:nvPr/>
          </p:nvSpPr>
          <p:spPr>
            <a:xfrm>
              <a:off x="0" y="361496"/>
              <a:ext cx="2556837" cy="1954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12"/>
                  </a:moveTo>
                  <a:cubicBezTo>
                    <a:pt x="15994" y="21600"/>
                    <a:pt x="8794" y="21596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5" name="Shape 191"/>
            <p:cNvSpPr txBox="1"/>
            <p:nvPr/>
          </p:nvSpPr>
          <p:spPr>
            <a:xfrm>
              <a:off x="2411218" y="0"/>
              <a:ext cx="629827" cy="46412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67359">
                <a:defRPr sz="2000">
                  <a:solidFill>
                    <a:srgbClr val="BD5B0C"/>
                  </a:solidFill>
                </a:defRPr>
              </a:lvl1pPr>
            </a:lstStyle>
            <a:p>
              <a:r>
                <a:rPr sz="168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219" name="Group"/>
          <p:cNvGrpSpPr/>
          <p:nvPr/>
        </p:nvGrpSpPr>
        <p:grpSpPr>
          <a:xfrm>
            <a:off x="5932764" y="1551585"/>
            <a:ext cx="1433236" cy="2272044"/>
            <a:chOff x="0" y="0"/>
            <a:chExt cx="2038379" cy="3231349"/>
          </a:xfrm>
        </p:grpSpPr>
        <p:sp>
          <p:nvSpPr>
            <p:cNvPr id="217" name="Shape 179"/>
            <p:cNvSpPr/>
            <p:nvPr/>
          </p:nvSpPr>
          <p:spPr>
            <a:xfrm>
              <a:off x="-1" y="382135"/>
              <a:ext cx="1702147" cy="28492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8" name="Shape 192"/>
            <p:cNvSpPr txBox="1"/>
            <p:nvPr/>
          </p:nvSpPr>
          <p:spPr>
            <a:xfrm>
              <a:off x="1490729" y="0"/>
              <a:ext cx="547651" cy="369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08940">
                <a:defRPr sz="1700"/>
              </a:lvl1pPr>
            </a:lstStyle>
            <a:p>
              <a:r>
                <a:rPr sz="168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grpSp>
        <p:nvGrpSpPr>
          <p:cNvPr id="222" name="Group"/>
          <p:cNvGrpSpPr/>
          <p:nvPr/>
        </p:nvGrpSpPr>
        <p:grpSpPr>
          <a:xfrm>
            <a:off x="6729280" y="2936314"/>
            <a:ext cx="374395" cy="1616520"/>
            <a:chOff x="0" y="0"/>
            <a:chExt cx="532472" cy="2299049"/>
          </a:xfrm>
        </p:grpSpPr>
        <p:sp>
          <p:nvSpPr>
            <p:cNvPr id="220" name="Shape 178"/>
            <p:cNvSpPr/>
            <p:nvPr/>
          </p:nvSpPr>
          <p:spPr>
            <a:xfrm>
              <a:off x="293173" y="0"/>
              <a:ext cx="2" cy="198762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1" name="Shape 193"/>
            <p:cNvSpPr txBox="1"/>
            <p:nvPr/>
          </p:nvSpPr>
          <p:spPr>
            <a:xfrm>
              <a:off x="0" y="1968848"/>
              <a:ext cx="532473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223" name="Shape 194"/>
          <p:cNvSpPr txBox="1"/>
          <p:nvPr/>
        </p:nvSpPr>
        <p:spPr>
          <a:xfrm>
            <a:off x="6697106" y="2660237"/>
            <a:ext cx="314987" cy="267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687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225" name="Shape 196"/>
          <p:cNvSpPr txBox="1"/>
          <p:nvPr/>
        </p:nvSpPr>
        <p:spPr>
          <a:xfrm>
            <a:off x="5332306" y="987459"/>
            <a:ext cx="1191803" cy="32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5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669CF2-C7EE-9C4B-81EA-0D2AD5C0977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57136" y="6622120"/>
            <a:ext cx="169276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132">
            <a:extLst>
              <a:ext uri="{FF2B5EF4-FFF2-40B4-BE49-F238E27FC236}">
                <a16:creationId xmlns:a16="http://schemas.microsoft.com/office/drawing/2014/main" id="{4A9DC18D-C639-5842-A9D5-1AA105176C6D}"/>
              </a:ext>
            </a:extLst>
          </p:cNvPr>
          <p:cNvSpPr/>
          <p:nvPr/>
        </p:nvSpPr>
        <p:spPr>
          <a:xfrm flipV="1">
            <a:off x="1114224" y="1394637"/>
            <a:ext cx="2" cy="294762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133">
            <a:extLst>
              <a:ext uri="{FF2B5EF4-FFF2-40B4-BE49-F238E27FC236}">
                <a16:creationId xmlns:a16="http://schemas.microsoft.com/office/drawing/2014/main" id="{1DAC8F85-6BBE-F243-BE9B-1FA904836126}"/>
              </a:ext>
            </a:extLst>
          </p:cNvPr>
          <p:cNvSpPr/>
          <p:nvPr/>
        </p:nvSpPr>
        <p:spPr>
          <a:xfrm>
            <a:off x="1126196" y="4333865"/>
            <a:ext cx="316779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147">
            <a:extLst>
              <a:ext uri="{FF2B5EF4-FFF2-40B4-BE49-F238E27FC236}">
                <a16:creationId xmlns:a16="http://schemas.microsoft.com/office/drawing/2014/main" id="{0639742F-40F5-0444-AFCC-DC904703043D}"/>
              </a:ext>
            </a:extLst>
          </p:cNvPr>
          <p:cNvSpPr txBox="1"/>
          <p:nvPr/>
        </p:nvSpPr>
        <p:spPr>
          <a:xfrm>
            <a:off x="449975" y="1394637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56" name="Shape 148">
            <a:extLst>
              <a:ext uri="{FF2B5EF4-FFF2-40B4-BE49-F238E27FC236}">
                <a16:creationId xmlns:a16="http://schemas.microsoft.com/office/drawing/2014/main" id="{0C28C37A-A201-8A41-B3FF-F77B65DC2C06}"/>
              </a:ext>
            </a:extLst>
          </p:cNvPr>
          <p:cNvSpPr txBox="1"/>
          <p:nvPr/>
        </p:nvSpPr>
        <p:spPr>
          <a:xfrm>
            <a:off x="3889893" y="4353327"/>
            <a:ext cx="655320" cy="2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61518">
              <a:defRPr sz="1900">
                <a:solidFill>
                  <a:srgbClr val="000000"/>
                </a:solidFill>
              </a:defRPr>
            </a:lvl1pPr>
          </a:lstStyle>
          <a:p>
            <a:r>
              <a:rPr sz="1336">
                <a:latin typeface="Times New Roman" panose="02020603050405020304" pitchFamily="18" charset="0"/>
                <a:cs typeface="Times New Roman" panose="02020603050405020304" pitchFamily="18" charset="0"/>
              </a:rPr>
              <a:t>Qd, Qs</a:t>
            </a:r>
          </a:p>
        </p:txBody>
      </p:sp>
      <p:grpSp>
        <p:nvGrpSpPr>
          <p:cNvPr id="57" name="Group">
            <a:extLst>
              <a:ext uri="{FF2B5EF4-FFF2-40B4-BE49-F238E27FC236}">
                <a16:creationId xmlns:a16="http://schemas.microsoft.com/office/drawing/2014/main" id="{C7604CE6-6A79-F249-B926-D586FCF696A3}"/>
              </a:ext>
            </a:extLst>
          </p:cNvPr>
          <p:cNvGrpSpPr/>
          <p:nvPr/>
        </p:nvGrpSpPr>
        <p:grpSpPr>
          <a:xfrm>
            <a:off x="1838216" y="2082299"/>
            <a:ext cx="2013344" cy="1889915"/>
            <a:chOff x="0" y="0"/>
            <a:chExt cx="2863421" cy="2687878"/>
          </a:xfrm>
        </p:grpSpPr>
        <p:sp>
          <p:nvSpPr>
            <p:cNvPr id="58" name="Shape 137">
              <a:extLst>
                <a:ext uri="{FF2B5EF4-FFF2-40B4-BE49-F238E27FC236}">
                  <a16:creationId xmlns:a16="http://schemas.microsoft.com/office/drawing/2014/main" id="{98F2AFBC-276B-C94D-991A-50D7FFC2E475}"/>
                </a:ext>
              </a:extLst>
            </p:cNvPr>
            <p:cNvSpPr/>
            <p:nvPr/>
          </p:nvSpPr>
          <p:spPr>
            <a:xfrm flipH="1" flipV="1">
              <a:off x="0" y="0"/>
              <a:ext cx="2480002" cy="2480004"/>
            </a:xfrm>
            <a:prstGeom prst="line">
              <a:avLst/>
            </a:prstGeom>
            <a:noFill/>
            <a:ln w="63500" cap="flat">
              <a:solidFill>
                <a:srgbClr val="861001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Shape 151">
              <a:extLst>
                <a:ext uri="{FF2B5EF4-FFF2-40B4-BE49-F238E27FC236}">
                  <a16:creationId xmlns:a16="http://schemas.microsoft.com/office/drawing/2014/main" id="{559FA922-C30F-BB42-803E-5083185DED2C}"/>
                </a:ext>
              </a:extLst>
            </p:cNvPr>
            <p:cNvSpPr txBox="1"/>
            <p:nvPr/>
          </p:nvSpPr>
          <p:spPr>
            <a:xfrm>
              <a:off x="2415439" y="2357677"/>
              <a:ext cx="447983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rgbClr val="924607"/>
                  </a:solidFill>
                </a:defRPr>
              </a:lvl1pPr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60" name="Group">
            <a:extLst>
              <a:ext uri="{FF2B5EF4-FFF2-40B4-BE49-F238E27FC236}">
                <a16:creationId xmlns:a16="http://schemas.microsoft.com/office/drawing/2014/main" id="{AF2C25C8-35EF-1A40-B53C-D01BD803BF8D}"/>
              </a:ext>
            </a:extLst>
          </p:cNvPr>
          <p:cNvGrpSpPr/>
          <p:nvPr/>
        </p:nvGrpSpPr>
        <p:grpSpPr>
          <a:xfrm>
            <a:off x="1703729" y="1941213"/>
            <a:ext cx="2216928" cy="1885426"/>
            <a:chOff x="0" y="0"/>
            <a:chExt cx="3152962" cy="2681493"/>
          </a:xfrm>
        </p:grpSpPr>
        <p:sp>
          <p:nvSpPr>
            <p:cNvPr id="61" name="Shape 136">
              <a:extLst>
                <a:ext uri="{FF2B5EF4-FFF2-40B4-BE49-F238E27FC236}">
                  <a16:creationId xmlns:a16="http://schemas.microsoft.com/office/drawing/2014/main" id="{4D0B2475-E41A-724B-9719-F02CC4D0285E}"/>
                </a:ext>
              </a:extLst>
            </p:cNvPr>
            <p:cNvSpPr/>
            <p:nvPr/>
          </p:nvSpPr>
          <p:spPr>
            <a:xfrm flipV="1">
              <a:off x="-1" y="199818"/>
              <a:ext cx="2696383" cy="2481676"/>
            </a:xfrm>
            <a:prstGeom prst="line">
              <a:avLst/>
            </a:prstGeom>
            <a:noFill/>
            <a:ln w="63500" cap="flat">
              <a:solidFill>
                <a:srgbClr val="153197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Shape 152">
              <a:extLst>
                <a:ext uri="{FF2B5EF4-FFF2-40B4-BE49-F238E27FC236}">
                  <a16:creationId xmlns:a16="http://schemas.microsoft.com/office/drawing/2014/main" id="{8A821A50-67DD-B24C-B400-00E3F5CFEBB7}"/>
                </a:ext>
              </a:extLst>
            </p:cNvPr>
            <p:cNvSpPr txBox="1"/>
            <p:nvPr/>
          </p:nvSpPr>
          <p:spPr>
            <a:xfrm>
              <a:off x="2704980" y="0"/>
              <a:ext cx="44798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rgbClr val="002452"/>
                  </a:solidFill>
                </a:defRPr>
              </a:lvl1pPr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63" name="Group">
            <a:extLst>
              <a:ext uri="{FF2B5EF4-FFF2-40B4-BE49-F238E27FC236}">
                <a16:creationId xmlns:a16="http://schemas.microsoft.com/office/drawing/2014/main" id="{0053DF99-7BC9-D746-BE86-563A53BA5E21}"/>
              </a:ext>
            </a:extLst>
          </p:cNvPr>
          <p:cNvGrpSpPr/>
          <p:nvPr/>
        </p:nvGrpSpPr>
        <p:grpSpPr>
          <a:xfrm>
            <a:off x="777635" y="2769891"/>
            <a:ext cx="1950318" cy="232173"/>
            <a:chOff x="0" y="0"/>
            <a:chExt cx="2773785" cy="330200"/>
          </a:xfrm>
        </p:grpSpPr>
        <p:sp>
          <p:nvSpPr>
            <p:cNvPr id="64" name="Shape 138">
              <a:extLst>
                <a:ext uri="{FF2B5EF4-FFF2-40B4-BE49-F238E27FC236}">
                  <a16:creationId xmlns:a16="http://schemas.microsoft.com/office/drawing/2014/main" id="{15A4BC5D-C140-9A42-B56B-9DAF789CEB26}"/>
                </a:ext>
              </a:extLst>
            </p:cNvPr>
            <p:cNvSpPr/>
            <p:nvPr/>
          </p:nvSpPr>
          <p:spPr>
            <a:xfrm>
              <a:off x="491404" y="236690"/>
              <a:ext cx="2282382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Shape 153">
              <a:extLst>
                <a:ext uri="{FF2B5EF4-FFF2-40B4-BE49-F238E27FC236}">
                  <a16:creationId xmlns:a16="http://schemas.microsoft.com/office/drawing/2014/main" id="{4E23F0F4-A805-254B-B407-292761E0B087}"/>
                </a:ext>
              </a:extLst>
            </p:cNvPr>
            <p:cNvSpPr txBox="1"/>
            <p:nvPr/>
          </p:nvSpPr>
          <p:spPr>
            <a:xfrm>
              <a:off x="0" y="0"/>
              <a:ext cx="44798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A7AB7CE-A80D-B441-9D16-B12BEFABAB1B}"/>
              </a:ext>
            </a:extLst>
          </p:cNvPr>
          <p:cNvGrpSpPr/>
          <p:nvPr/>
        </p:nvGrpSpPr>
        <p:grpSpPr>
          <a:xfrm>
            <a:off x="2651676" y="2586973"/>
            <a:ext cx="2742356" cy="348259"/>
            <a:chOff x="3809372" y="3104291"/>
            <a:chExt cx="3900240" cy="495302"/>
          </a:xfrm>
        </p:grpSpPr>
        <p:grpSp>
          <p:nvGrpSpPr>
            <p:cNvPr id="209" name="Group"/>
            <p:cNvGrpSpPr/>
            <p:nvPr/>
          </p:nvGrpSpPr>
          <p:grpSpPr>
            <a:xfrm>
              <a:off x="3809372" y="3104291"/>
              <a:ext cx="3900240" cy="495302"/>
              <a:chOff x="0" y="-20380"/>
              <a:chExt cx="3900238" cy="495301"/>
            </a:xfrm>
          </p:grpSpPr>
          <p:grpSp>
            <p:nvGrpSpPr>
              <p:cNvPr id="207" name="Group"/>
              <p:cNvGrpSpPr/>
              <p:nvPr/>
            </p:nvGrpSpPr>
            <p:grpSpPr>
              <a:xfrm>
                <a:off x="0" y="463760"/>
                <a:ext cx="3900238" cy="11161"/>
                <a:chOff x="0" y="0"/>
                <a:chExt cx="3900237" cy="11160"/>
              </a:xfrm>
            </p:grpSpPr>
            <p:sp>
              <p:nvSpPr>
                <p:cNvPr id="205" name="Shape 175"/>
                <p:cNvSpPr/>
                <p:nvPr/>
              </p:nvSpPr>
              <p:spPr>
                <a:xfrm>
                  <a:off x="0" y="-1"/>
                  <a:ext cx="2406344" cy="3"/>
                </a:xfrm>
                <a:prstGeom prst="line">
                  <a:avLst/>
                </a:prstGeom>
                <a:noFill/>
                <a:ln w="88900" cap="rnd">
                  <a:solidFill>
                    <a:srgbClr val="000000"/>
                  </a:solidFill>
                  <a:custDash>
                    <a:ds d="100000" sp="200000"/>
                  </a:custDash>
                  <a:miter lim="400000"/>
                  <a:tailEnd type="triangle" w="med" len="med"/>
                </a:ln>
                <a:effectLst/>
              </p:spPr>
              <p:txBody>
                <a:bodyPr wrap="square" lIns="32145" tIns="32145" rIns="32145" bIns="32145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</a:defRPr>
                  </a:pPr>
                  <a:endParaRPr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06" name="Shape 177"/>
                <p:cNvSpPr/>
                <p:nvPr/>
              </p:nvSpPr>
              <p:spPr>
                <a:xfrm>
                  <a:off x="2366996" y="11159"/>
                  <a:ext cx="1533242" cy="2"/>
                </a:xfrm>
                <a:prstGeom prst="line">
                  <a:avLst/>
                </a:prstGeom>
                <a:noFill/>
                <a:ln w="88900" cap="rnd">
                  <a:solidFill>
                    <a:srgbClr val="000000"/>
                  </a:solidFill>
                  <a:custDash>
                    <a:ds d="100000" sp="200000"/>
                  </a:custDash>
                  <a:miter lim="400000"/>
                </a:ln>
                <a:effectLst/>
              </p:spPr>
              <p:txBody>
                <a:bodyPr wrap="square" lIns="32145" tIns="32145" rIns="32145" bIns="32145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</a:defRPr>
                  </a:pPr>
                  <a:endParaRPr sz="253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08" name="Shape 188"/>
              <p:cNvSpPr txBox="1"/>
              <p:nvPr/>
            </p:nvSpPr>
            <p:spPr>
              <a:xfrm>
                <a:off x="3406621" y="-20380"/>
                <a:ext cx="447982" cy="33020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Autofit/>
              </a:bodyPr>
              <a:lstStyle>
                <a:lvl1pPr defTabSz="525779"/>
              </a:lstStyle>
              <a:p>
                <a:r>
                  <a:rPr sz="1687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</a:p>
            </p:txBody>
          </p:sp>
        </p:grpSp>
        <p:grpSp>
          <p:nvGrpSpPr>
            <p:cNvPr id="67" name="Group">
              <a:extLst>
                <a:ext uri="{FF2B5EF4-FFF2-40B4-BE49-F238E27FC236}">
                  <a16:creationId xmlns:a16="http://schemas.microsoft.com/office/drawing/2014/main" id="{12712794-6CC2-9F49-A265-BF2800EE0FFC}"/>
                </a:ext>
              </a:extLst>
            </p:cNvPr>
            <p:cNvGrpSpPr/>
            <p:nvPr/>
          </p:nvGrpSpPr>
          <p:grpSpPr>
            <a:xfrm>
              <a:off x="3809372" y="3588431"/>
              <a:ext cx="3900240" cy="11161"/>
              <a:chOff x="0" y="0"/>
              <a:chExt cx="3900237" cy="11160"/>
            </a:xfrm>
          </p:grpSpPr>
          <p:sp>
            <p:nvSpPr>
              <p:cNvPr id="69" name="Shape 139">
                <a:extLst>
                  <a:ext uri="{FF2B5EF4-FFF2-40B4-BE49-F238E27FC236}">
                    <a16:creationId xmlns:a16="http://schemas.microsoft.com/office/drawing/2014/main" id="{C20464D1-2FAC-7140-A115-D9E179075F70}"/>
                  </a:ext>
                </a:extLst>
              </p:cNvPr>
              <p:cNvSpPr/>
              <p:nvPr/>
            </p:nvSpPr>
            <p:spPr>
              <a:xfrm>
                <a:off x="0" y="0"/>
                <a:ext cx="2406344" cy="0"/>
              </a:xfrm>
              <a:prstGeom prst="line">
                <a:avLst/>
              </a:prstGeom>
              <a:noFill/>
              <a:ln w="889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  <a:headEnd type="none" w="med" len="med"/>
                <a:tailEnd type="arrow" w="med" len="med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Shape 141">
                <a:extLst>
                  <a:ext uri="{FF2B5EF4-FFF2-40B4-BE49-F238E27FC236}">
                    <a16:creationId xmlns:a16="http://schemas.microsoft.com/office/drawing/2014/main" id="{8FC2DC0E-D09D-524D-8570-94414B709B56}"/>
                  </a:ext>
                </a:extLst>
              </p:cNvPr>
              <p:cNvSpPr/>
              <p:nvPr/>
            </p:nvSpPr>
            <p:spPr>
              <a:xfrm>
                <a:off x="2366996" y="11159"/>
                <a:ext cx="1533242" cy="2"/>
              </a:xfrm>
              <a:prstGeom prst="line">
                <a:avLst/>
              </a:prstGeom>
              <a:noFill/>
              <a:ln w="889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71" name="Shape 155">
            <a:extLst>
              <a:ext uri="{FF2B5EF4-FFF2-40B4-BE49-F238E27FC236}">
                <a16:creationId xmlns:a16="http://schemas.microsoft.com/office/drawing/2014/main" id="{819CE214-7B9D-6340-89F7-B0C2EE64A101}"/>
              </a:ext>
            </a:extLst>
          </p:cNvPr>
          <p:cNvSpPr txBox="1"/>
          <p:nvPr/>
        </p:nvSpPr>
        <p:spPr>
          <a:xfrm>
            <a:off x="2439768" y="2448392"/>
            <a:ext cx="423818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</a:p>
        </p:txBody>
      </p:sp>
      <p:sp>
        <p:nvSpPr>
          <p:cNvPr id="72" name="Shape 163">
            <a:extLst>
              <a:ext uri="{FF2B5EF4-FFF2-40B4-BE49-F238E27FC236}">
                <a16:creationId xmlns:a16="http://schemas.microsoft.com/office/drawing/2014/main" id="{960FDEA5-9552-5142-BA36-392A23137036}"/>
              </a:ext>
            </a:extLst>
          </p:cNvPr>
          <p:cNvSpPr txBox="1"/>
          <p:nvPr/>
        </p:nvSpPr>
        <p:spPr>
          <a:xfrm>
            <a:off x="1348594" y="1135718"/>
            <a:ext cx="115391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C44FD9E-6C5E-E046-BEA8-071164710706}"/>
              </a:ext>
            </a:extLst>
          </p:cNvPr>
          <p:cNvGrpSpPr/>
          <p:nvPr/>
        </p:nvGrpSpPr>
        <p:grpSpPr>
          <a:xfrm>
            <a:off x="2026744" y="5100302"/>
            <a:ext cx="4422207" cy="797786"/>
            <a:chOff x="9872893" y="256609"/>
            <a:chExt cx="5154349" cy="783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Shape 161">
                  <a:extLst>
                    <a:ext uri="{FF2B5EF4-FFF2-40B4-BE49-F238E27FC236}">
                      <a16:creationId xmlns:a16="http://schemas.microsoft.com/office/drawing/2014/main" id="{31DCC4F0-40C8-9A44-A977-1341956C441A}"/>
                    </a:ext>
                  </a:extLst>
                </p:cNvPr>
                <p:cNvSpPr txBox="1"/>
                <p:nvPr/>
              </p:nvSpPr>
              <p:spPr>
                <a:xfrm>
                  <a:off x="9872893" y="256609"/>
                  <a:ext cx="2064581" cy="36969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OPEQ) = TR</a:t>
                  </a:r>
                  <a:endParaRPr sz="1687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5" name="Shape 161">
                  <a:extLst>
                    <a:ext uri="{FF2B5EF4-FFF2-40B4-BE49-F238E27FC236}">
                      <a16:creationId xmlns:a16="http://schemas.microsoft.com/office/drawing/2014/main" id="{31DCC4F0-40C8-9A44-A977-1341956C44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2893" y="256609"/>
                  <a:ext cx="2064581" cy="369691"/>
                </a:xfrm>
                <a:prstGeom prst="rect">
                  <a:avLst/>
                </a:prstGeom>
                <a:blipFill>
                  <a:blip r:embed="rId2"/>
                  <a:stretch>
                    <a:fillRect l="-2000" t="-19048" r="-5000" b="-4762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Shape 161">
                  <a:extLst>
                    <a:ext uri="{FF2B5EF4-FFF2-40B4-BE49-F238E27FC236}">
                      <a16:creationId xmlns:a16="http://schemas.microsoft.com/office/drawing/2014/main" id="{0C31C193-8302-3D4E-953B-006D664D656B}"/>
                    </a:ext>
                  </a:extLst>
                </p:cNvPr>
                <p:cNvSpPr txBox="1"/>
                <p:nvPr/>
              </p:nvSpPr>
              <p:spPr>
                <a:xfrm>
                  <a:off x="9907130" y="670273"/>
                  <a:ext cx="2064581" cy="36969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OPEQ) = TC</a:t>
                  </a:r>
                  <a:endParaRPr sz="1687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6" name="Shape 161">
                  <a:extLst>
                    <a:ext uri="{FF2B5EF4-FFF2-40B4-BE49-F238E27FC236}">
                      <a16:creationId xmlns:a16="http://schemas.microsoft.com/office/drawing/2014/main" id="{0C31C193-8302-3D4E-953B-006D664D6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7130" y="670273"/>
                  <a:ext cx="2064581" cy="369691"/>
                </a:xfrm>
                <a:prstGeom prst="rect">
                  <a:avLst/>
                </a:prstGeom>
                <a:blipFill>
                  <a:blip r:embed="rId3"/>
                  <a:stretch>
                    <a:fillRect l="-2010" t="-18605" r="-5528" b="-2326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7" name="Shape 161">
                  <a:extLst>
                    <a:ext uri="{FF2B5EF4-FFF2-40B4-BE49-F238E27FC236}">
                      <a16:creationId xmlns:a16="http://schemas.microsoft.com/office/drawing/2014/main" id="{6BE5B4D5-2749-C047-A057-43FE36CC70A7}"/>
                    </a:ext>
                  </a:extLst>
                </p:cNvPr>
                <p:cNvSpPr txBox="1"/>
                <p:nvPr/>
              </p:nvSpPr>
              <p:spPr>
                <a:xfrm>
                  <a:off x="12021399" y="441454"/>
                  <a:ext cx="3005843" cy="31368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0" tIns="0" rIns="0" bIns="0">
                  <a:no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T(</a:t>
                  </a:r>
                  <a14:m>
                    <m:oMath xmlns:m="http://schemas.openxmlformats.org/officeDocument/2006/math"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𝝅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𝒁𝑬𝑹𝑶</m:t>
                      </m:r>
                    </m:oMath>
                  </a14:m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as TR = TC</a:t>
                  </a:r>
                  <a:endParaRPr sz="1687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77" name="Shape 161">
                  <a:extLst>
                    <a:ext uri="{FF2B5EF4-FFF2-40B4-BE49-F238E27FC236}">
                      <a16:creationId xmlns:a16="http://schemas.microsoft.com/office/drawing/2014/main" id="{6BE5B4D5-2749-C047-A057-43FE36CC70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21399" y="441454"/>
                  <a:ext cx="3005843" cy="313688"/>
                </a:xfrm>
                <a:prstGeom prst="rect">
                  <a:avLst/>
                </a:prstGeom>
                <a:blipFill>
                  <a:blip r:embed="rId4"/>
                  <a:stretch>
                    <a:fillRect l="-4902" t="-19231" b="-19231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083C1EF-FD4B-1448-A286-8CBACE93A915}"/>
              </a:ext>
            </a:extLst>
          </p:cNvPr>
          <p:cNvGrpSpPr/>
          <p:nvPr/>
        </p:nvGrpSpPr>
        <p:grpSpPr>
          <a:xfrm>
            <a:off x="-41415" y="2720245"/>
            <a:ext cx="957182" cy="1896581"/>
            <a:chOff x="13120" y="3124671"/>
            <a:chExt cx="1361325" cy="2697359"/>
          </a:xfrm>
        </p:grpSpPr>
        <p:grpSp>
          <p:nvGrpSpPr>
            <p:cNvPr id="79" name="Group">
              <a:extLst>
                <a:ext uri="{FF2B5EF4-FFF2-40B4-BE49-F238E27FC236}">
                  <a16:creationId xmlns:a16="http://schemas.microsoft.com/office/drawing/2014/main" id="{7935089F-1899-B342-8D5A-556F27302538}"/>
                </a:ext>
              </a:extLst>
            </p:cNvPr>
            <p:cNvGrpSpPr/>
            <p:nvPr/>
          </p:nvGrpSpPr>
          <p:grpSpPr>
            <a:xfrm>
              <a:off x="58878" y="3522979"/>
              <a:ext cx="532474" cy="2299051"/>
              <a:chOff x="-36576" y="0"/>
              <a:chExt cx="532473" cy="2299050"/>
            </a:xfrm>
          </p:grpSpPr>
          <p:sp>
            <p:nvSpPr>
              <p:cNvPr id="85" name="Shape 178">
                <a:extLst>
                  <a:ext uri="{FF2B5EF4-FFF2-40B4-BE49-F238E27FC236}">
                    <a16:creationId xmlns:a16="http://schemas.microsoft.com/office/drawing/2014/main" id="{24FB0461-2238-3B45-8B4D-9FEFEAADC0C9}"/>
                  </a:ext>
                </a:extLst>
              </p:cNvPr>
              <p:cNvSpPr/>
              <p:nvPr/>
            </p:nvSpPr>
            <p:spPr>
              <a:xfrm>
                <a:off x="256597" y="0"/>
                <a:ext cx="2" cy="1987626"/>
              </a:xfrm>
              <a:prstGeom prst="line">
                <a:avLst/>
              </a:prstGeom>
              <a:noFill/>
              <a:ln w="5715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/>
              </a:p>
            </p:txBody>
          </p:sp>
          <p:sp>
            <p:nvSpPr>
              <p:cNvPr id="86" name="Shape 193">
                <a:extLst>
                  <a:ext uri="{FF2B5EF4-FFF2-40B4-BE49-F238E27FC236}">
                    <a16:creationId xmlns:a16="http://schemas.microsoft.com/office/drawing/2014/main" id="{3B4C963E-D23E-0E4F-92A4-D19391FAFB22}"/>
                  </a:ext>
                </a:extLst>
              </p:cNvPr>
              <p:cNvSpPr txBox="1"/>
              <p:nvPr/>
            </p:nvSpPr>
            <p:spPr>
              <a:xfrm>
                <a:off x="-36576" y="1968848"/>
                <a:ext cx="532473" cy="3302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25779"/>
              </a:lstStyle>
              <a:p>
                <a:r>
                  <a:rPr sz="1266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80" name="Shape 194">
              <a:extLst>
                <a:ext uri="{FF2B5EF4-FFF2-40B4-BE49-F238E27FC236}">
                  <a16:creationId xmlns:a16="http://schemas.microsoft.com/office/drawing/2014/main" id="{4EF859F3-1FF9-5847-94E5-3DE8FF9BF3AE}"/>
                </a:ext>
              </a:extLst>
            </p:cNvPr>
            <p:cNvSpPr txBox="1"/>
            <p:nvPr/>
          </p:nvSpPr>
          <p:spPr>
            <a:xfrm>
              <a:off x="13120" y="3124671"/>
              <a:ext cx="447982" cy="3799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81" name="Shape 194">
              <a:extLst>
                <a:ext uri="{FF2B5EF4-FFF2-40B4-BE49-F238E27FC236}">
                  <a16:creationId xmlns:a16="http://schemas.microsoft.com/office/drawing/2014/main" id="{FB08B1B3-1CDB-654E-9560-3CF7F335990A}"/>
                </a:ext>
              </a:extLst>
            </p:cNvPr>
            <p:cNvSpPr txBox="1"/>
            <p:nvPr/>
          </p:nvSpPr>
          <p:spPr>
            <a:xfrm>
              <a:off x="422234" y="5082412"/>
              <a:ext cx="927364" cy="409415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lang="en-US"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Wages</a:t>
              </a:r>
              <a:endParaRPr sz="11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Shape 194">
              <a:extLst>
                <a:ext uri="{FF2B5EF4-FFF2-40B4-BE49-F238E27FC236}">
                  <a16:creationId xmlns:a16="http://schemas.microsoft.com/office/drawing/2014/main" id="{D7AFDB07-18C5-7B4F-BAF2-9A8425E3C53E}"/>
                </a:ext>
              </a:extLst>
            </p:cNvPr>
            <p:cNvSpPr txBox="1"/>
            <p:nvPr/>
          </p:nvSpPr>
          <p:spPr>
            <a:xfrm>
              <a:off x="417605" y="4672998"/>
              <a:ext cx="931995" cy="37994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lang="en-US"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Rent</a:t>
              </a:r>
              <a:endParaRPr sz="11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Shape 194">
              <a:extLst>
                <a:ext uri="{FF2B5EF4-FFF2-40B4-BE49-F238E27FC236}">
                  <a16:creationId xmlns:a16="http://schemas.microsoft.com/office/drawing/2014/main" id="{B0C26BFE-9105-B441-B6A0-FDF914B8F1B9}"/>
                </a:ext>
              </a:extLst>
            </p:cNvPr>
            <p:cNvSpPr txBox="1"/>
            <p:nvPr/>
          </p:nvSpPr>
          <p:spPr>
            <a:xfrm>
              <a:off x="397271" y="4258825"/>
              <a:ext cx="952330" cy="44203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lang="en-US"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Interest</a:t>
              </a:r>
              <a:endParaRPr sz="11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Shape 194">
              <a:extLst>
                <a:ext uri="{FF2B5EF4-FFF2-40B4-BE49-F238E27FC236}">
                  <a16:creationId xmlns:a16="http://schemas.microsoft.com/office/drawing/2014/main" id="{64DEC1E9-00CC-4E43-BD19-14656FC2A552}"/>
                </a:ext>
              </a:extLst>
            </p:cNvPr>
            <p:cNvSpPr txBox="1"/>
            <p:nvPr/>
          </p:nvSpPr>
          <p:spPr>
            <a:xfrm>
              <a:off x="399437" y="3491116"/>
              <a:ext cx="975008" cy="77086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lang="en-US"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Ent.</a:t>
              </a:r>
            </a:p>
            <a:p>
              <a:r>
                <a:rPr lang="en-US"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profit</a:t>
              </a:r>
              <a:endParaRPr sz="11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C2EE91DD-A37F-E14E-BA30-63B68E61DE98}"/>
              </a:ext>
            </a:extLst>
          </p:cNvPr>
          <p:cNvGrpSpPr/>
          <p:nvPr/>
        </p:nvGrpSpPr>
        <p:grpSpPr>
          <a:xfrm>
            <a:off x="963380" y="2930805"/>
            <a:ext cx="5972038" cy="1386986"/>
            <a:chOff x="1423361" y="3579473"/>
            <a:chExt cx="8493565" cy="1972602"/>
          </a:xfrm>
        </p:grpSpPr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A7F12A5F-94D8-4C43-B1AB-4A3B75B10EB1}"/>
                </a:ext>
              </a:extLst>
            </p:cNvPr>
            <p:cNvGrpSpPr/>
            <p:nvPr/>
          </p:nvGrpSpPr>
          <p:grpSpPr>
            <a:xfrm>
              <a:off x="7706169" y="3579473"/>
              <a:ext cx="2210757" cy="1972602"/>
              <a:chOff x="7706169" y="3579473"/>
              <a:chExt cx="2210757" cy="1972602"/>
            </a:xfrm>
          </p:grpSpPr>
          <p:sp>
            <p:nvSpPr>
              <p:cNvPr id="90" name="Shape 194">
                <a:extLst>
                  <a:ext uri="{FF2B5EF4-FFF2-40B4-BE49-F238E27FC236}">
                    <a16:creationId xmlns:a16="http://schemas.microsoft.com/office/drawing/2014/main" id="{404BEF93-92D9-714B-9380-C54F5DAA797A}"/>
                  </a:ext>
                </a:extLst>
              </p:cNvPr>
              <p:cNvSpPr txBox="1"/>
              <p:nvPr/>
            </p:nvSpPr>
            <p:spPr>
              <a:xfrm>
                <a:off x="7706169" y="5152760"/>
                <a:ext cx="2210757" cy="399315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Wages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Shape 194">
                <a:extLst>
                  <a:ext uri="{FF2B5EF4-FFF2-40B4-BE49-F238E27FC236}">
                    <a16:creationId xmlns:a16="http://schemas.microsoft.com/office/drawing/2014/main" id="{C1ED7C10-4987-6747-872E-AEC96661FAA2}"/>
                  </a:ext>
                </a:extLst>
              </p:cNvPr>
              <p:cNvSpPr txBox="1"/>
              <p:nvPr/>
            </p:nvSpPr>
            <p:spPr>
              <a:xfrm>
                <a:off x="7720173" y="4652012"/>
                <a:ext cx="2195537" cy="47147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2" name="Shape 194">
                <a:extLst>
                  <a:ext uri="{FF2B5EF4-FFF2-40B4-BE49-F238E27FC236}">
                    <a16:creationId xmlns:a16="http://schemas.microsoft.com/office/drawing/2014/main" id="{96500ACF-CBBE-ED40-8AA9-20A652F8FCBB}"/>
                  </a:ext>
                </a:extLst>
              </p:cNvPr>
              <p:cNvSpPr txBox="1"/>
              <p:nvPr/>
            </p:nvSpPr>
            <p:spPr>
              <a:xfrm>
                <a:off x="7718958" y="4292033"/>
                <a:ext cx="2182844" cy="40605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Shape 194">
                <a:extLst>
                  <a:ext uri="{FF2B5EF4-FFF2-40B4-BE49-F238E27FC236}">
                    <a16:creationId xmlns:a16="http://schemas.microsoft.com/office/drawing/2014/main" id="{F868FE9C-146C-1F42-A3D5-7CFF3D1DD1F3}"/>
                  </a:ext>
                </a:extLst>
              </p:cNvPr>
              <p:cNvSpPr txBox="1"/>
              <p:nvPr/>
            </p:nvSpPr>
            <p:spPr>
              <a:xfrm>
                <a:off x="7725661" y="3579473"/>
                <a:ext cx="2162231" cy="708423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Entrepreneur’s</a:t>
                </a:r>
              </a:p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Profit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02E773A8-D0D0-7548-A502-4E9E90B5C4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23361" y="5152760"/>
              <a:ext cx="6241287" cy="119625"/>
            </a:xfrm>
            <a:prstGeom prst="straightConnector1">
              <a:avLst/>
            </a:prstGeom>
            <a:noFill/>
            <a:ln w="5715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</p:spTree>
    <p:extLst>
      <p:ext uri="{BB962C8B-B14F-4D97-AF65-F5344CB8AC3E}">
        <p14:creationId xmlns:p14="http://schemas.microsoft.com/office/powerpoint/2010/main" val="269165250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6" grpId="0" animBg="1" advAuto="0"/>
      <p:bldP spid="219" grpId="0" animBg="1" advAuto="0"/>
      <p:bldP spid="222" grpId="0" animBg="1" advAuto="0"/>
      <p:bldP spid="223" grpId="0" animBg="1" advAuto="0"/>
      <p:bldP spid="57" grpId="0" animBg="1" advAuto="0"/>
      <p:bldP spid="60" grpId="0" animBg="1" advAuto="0"/>
      <p:bldP spid="63" grpId="0" animBg="1" advAuto="0"/>
      <p:bldP spid="71" grpId="0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1"/>
          <p:cNvSpPr txBox="1">
            <a:spLocks noGrp="1"/>
          </p:cNvSpPr>
          <p:nvPr>
            <p:ph type="subTitle" sz="quarter" idx="1"/>
          </p:nvPr>
        </p:nvSpPr>
        <p:spPr>
          <a:xfrm>
            <a:off x="30505" y="80023"/>
            <a:ext cx="3165958" cy="481056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defTabSz="390213"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90213"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rPr sz="2109" dirty="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SUPERNORMAL PROFIT </a:t>
            </a:r>
          </a:p>
        </p:txBody>
      </p:sp>
      <p:sp>
        <p:nvSpPr>
          <p:cNvPr id="131" name="Shape 132"/>
          <p:cNvSpPr/>
          <p:nvPr/>
        </p:nvSpPr>
        <p:spPr>
          <a:xfrm flipV="1">
            <a:off x="1141013" y="990368"/>
            <a:ext cx="2" cy="294762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Shape 133"/>
          <p:cNvSpPr/>
          <p:nvPr/>
        </p:nvSpPr>
        <p:spPr>
          <a:xfrm>
            <a:off x="1152986" y="3929596"/>
            <a:ext cx="316779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Shape 134"/>
          <p:cNvSpPr/>
          <p:nvPr/>
        </p:nvSpPr>
        <p:spPr>
          <a:xfrm flipV="1">
            <a:off x="5410807" y="1007695"/>
            <a:ext cx="1" cy="291297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Shape 135"/>
          <p:cNvSpPr/>
          <p:nvPr/>
        </p:nvSpPr>
        <p:spPr>
          <a:xfrm>
            <a:off x="5419736" y="3911737"/>
            <a:ext cx="32382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Shape 144"/>
          <p:cNvSpPr/>
          <p:nvPr/>
        </p:nvSpPr>
        <p:spPr>
          <a:xfrm>
            <a:off x="5415478" y="2530962"/>
            <a:ext cx="1478621" cy="40267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r>
              <a:rPr lang="en-US"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Super-NP</a:t>
            </a:r>
          </a:p>
        </p:txBody>
      </p:sp>
      <p:sp>
        <p:nvSpPr>
          <p:cNvPr id="136" name="Shape 147"/>
          <p:cNvSpPr txBox="1"/>
          <p:nvPr/>
        </p:nvSpPr>
        <p:spPr>
          <a:xfrm>
            <a:off x="476764" y="990369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37" name="Shape 148"/>
          <p:cNvSpPr txBox="1"/>
          <p:nvPr/>
        </p:nvSpPr>
        <p:spPr>
          <a:xfrm>
            <a:off x="3916682" y="3949058"/>
            <a:ext cx="655320" cy="2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1518">
              <a:defRPr sz="1900">
                <a:solidFill>
                  <a:srgbClr val="000000"/>
                </a:solidFill>
              </a:defRPr>
            </a:lvl1pPr>
          </a:lstStyle>
          <a:p>
            <a:r>
              <a:rPr sz="1336">
                <a:latin typeface="Times New Roman" panose="02020603050405020304" pitchFamily="18" charset="0"/>
                <a:cs typeface="Times New Roman" panose="02020603050405020304" pitchFamily="18" charset="0"/>
              </a:rPr>
              <a:t>Qd, Qs</a:t>
            </a:r>
          </a:p>
        </p:txBody>
      </p:sp>
      <p:sp>
        <p:nvSpPr>
          <p:cNvPr id="138" name="Shape 149"/>
          <p:cNvSpPr txBox="1"/>
          <p:nvPr/>
        </p:nvSpPr>
        <p:spPr>
          <a:xfrm>
            <a:off x="8091879" y="3949058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39" name="Shape 150"/>
          <p:cNvSpPr txBox="1"/>
          <p:nvPr/>
        </p:nvSpPr>
        <p:spPr>
          <a:xfrm>
            <a:off x="4949518" y="840862"/>
            <a:ext cx="655320" cy="428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735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grpSp>
        <p:nvGrpSpPr>
          <p:cNvPr id="142" name="Group"/>
          <p:cNvGrpSpPr/>
          <p:nvPr/>
        </p:nvGrpSpPr>
        <p:grpSpPr>
          <a:xfrm>
            <a:off x="1865005" y="1678030"/>
            <a:ext cx="2106905" cy="1937649"/>
            <a:chOff x="0" y="0"/>
            <a:chExt cx="2996486" cy="2755767"/>
          </a:xfrm>
        </p:grpSpPr>
        <p:sp>
          <p:nvSpPr>
            <p:cNvPr id="140" name="Shape 137"/>
            <p:cNvSpPr/>
            <p:nvPr/>
          </p:nvSpPr>
          <p:spPr>
            <a:xfrm flipH="1" flipV="1">
              <a:off x="0" y="0"/>
              <a:ext cx="2480002" cy="2480004"/>
            </a:xfrm>
            <a:prstGeom prst="line">
              <a:avLst/>
            </a:prstGeom>
            <a:noFill/>
            <a:ln w="63500" cap="flat">
              <a:solidFill>
                <a:srgbClr val="861001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Shape 151"/>
            <p:cNvSpPr txBox="1"/>
            <p:nvPr/>
          </p:nvSpPr>
          <p:spPr>
            <a:xfrm>
              <a:off x="2548503" y="2425566"/>
              <a:ext cx="44798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rgbClr val="924607"/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45" name="Group"/>
          <p:cNvGrpSpPr/>
          <p:nvPr/>
        </p:nvGrpSpPr>
        <p:grpSpPr>
          <a:xfrm>
            <a:off x="1730518" y="1536945"/>
            <a:ext cx="2216928" cy="1885426"/>
            <a:chOff x="0" y="0"/>
            <a:chExt cx="3152962" cy="2681493"/>
          </a:xfrm>
        </p:grpSpPr>
        <p:sp>
          <p:nvSpPr>
            <p:cNvPr id="143" name="Shape 136"/>
            <p:cNvSpPr/>
            <p:nvPr/>
          </p:nvSpPr>
          <p:spPr>
            <a:xfrm flipV="1">
              <a:off x="-1" y="199818"/>
              <a:ext cx="2696383" cy="2481676"/>
            </a:xfrm>
            <a:prstGeom prst="line">
              <a:avLst/>
            </a:prstGeom>
            <a:noFill/>
            <a:ln w="63500" cap="flat">
              <a:solidFill>
                <a:srgbClr val="153197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4" name="Shape 152"/>
            <p:cNvSpPr txBox="1"/>
            <p:nvPr/>
          </p:nvSpPr>
          <p:spPr>
            <a:xfrm>
              <a:off x="2704980" y="0"/>
              <a:ext cx="44798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rgbClr val="002452"/>
                  </a:solidFill>
                </a:defRPr>
              </a:lvl1pPr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</a:p>
          </p:txBody>
        </p:sp>
      </p:grpSp>
      <p:grpSp>
        <p:nvGrpSpPr>
          <p:cNvPr id="148" name="Group"/>
          <p:cNvGrpSpPr/>
          <p:nvPr/>
        </p:nvGrpSpPr>
        <p:grpSpPr>
          <a:xfrm>
            <a:off x="986503" y="2407029"/>
            <a:ext cx="1768240" cy="232174"/>
            <a:chOff x="258957" y="58888"/>
            <a:chExt cx="2514829" cy="330201"/>
          </a:xfrm>
        </p:grpSpPr>
        <p:sp>
          <p:nvSpPr>
            <p:cNvPr id="146" name="Shape 138"/>
            <p:cNvSpPr/>
            <p:nvPr/>
          </p:nvSpPr>
          <p:spPr>
            <a:xfrm>
              <a:off x="491404" y="236690"/>
              <a:ext cx="2282382" cy="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Shape 153"/>
            <p:cNvSpPr txBox="1"/>
            <p:nvPr/>
          </p:nvSpPr>
          <p:spPr>
            <a:xfrm>
              <a:off x="258957" y="58888"/>
              <a:ext cx="44798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153" name="Group"/>
          <p:cNvGrpSpPr/>
          <p:nvPr/>
        </p:nvGrpSpPr>
        <p:grpSpPr>
          <a:xfrm>
            <a:off x="2678465" y="2332410"/>
            <a:ext cx="2912686" cy="232174"/>
            <a:chOff x="0" y="192537"/>
            <a:chExt cx="4142484" cy="330202"/>
          </a:xfrm>
        </p:grpSpPr>
        <p:grpSp>
          <p:nvGrpSpPr>
            <p:cNvPr id="151" name="Group"/>
            <p:cNvGrpSpPr/>
            <p:nvPr/>
          </p:nvGrpSpPr>
          <p:grpSpPr>
            <a:xfrm>
              <a:off x="0" y="463762"/>
              <a:ext cx="3900238" cy="11161"/>
              <a:chOff x="0" y="0"/>
              <a:chExt cx="3900237" cy="11160"/>
            </a:xfrm>
          </p:grpSpPr>
          <p:sp>
            <p:nvSpPr>
              <p:cNvPr id="149" name="Shape 139"/>
              <p:cNvSpPr/>
              <p:nvPr/>
            </p:nvSpPr>
            <p:spPr>
              <a:xfrm>
                <a:off x="0" y="0"/>
                <a:ext cx="2406344" cy="0"/>
              </a:xfrm>
              <a:prstGeom prst="line">
                <a:avLst/>
              </a:prstGeom>
              <a:noFill/>
              <a:ln w="889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  <a:headEnd type="none" w="med" len="med"/>
                <a:tailEnd type="arrow" w="med" len="med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0" name="Shape 141"/>
              <p:cNvSpPr/>
              <p:nvPr/>
            </p:nvSpPr>
            <p:spPr>
              <a:xfrm>
                <a:off x="2366996" y="11159"/>
                <a:ext cx="1533242" cy="2"/>
              </a:xfrm>
              <a:prstGeom prst="line">
                <a:avLst/>
              </a:prstGeom>
              <a:noFill/>
              <a:ln w="889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2" name="Shape 154"/>
            <p:cNvSpPr txBox="1"/>
            <p:nvPr/>
          </p:nvSpPr>
          <p:spPr>
            <a:xfrm>
              <a:off x="3694501" y="192537"/>
              <a:ext cx="447983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154" name="Shape 155"/>
          <p:cNvSpPr txBox="1"/>
          <p:nvPr/>
        </p:nvSpPr>
        <p:spPr>
          <a:xfrm>
            <a:off x="2604376" y="2157000"/>
            <a:ext cx="423818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</a:p>
        </p:txBody>
      </p:sp>
      <p:grpSp>
        <p:nvGrpSpPr>
          <p:cNvPr id="157" name="Group"/>
          <p:cNvGrpSpPr/>
          <p:nvPr/>
        </p:nvGrpSpPr>
        <p:grpSpPr>
          <a:xfrm>
            <a:off x="5395540" y="2334729"/>
            <a:ext cx="3353947" cy="289856"/>
            <a:chOff x="0" y="0"/>
            <a:chExt cx="4770057" cy="412238"/>
          </a:xfrm>
        </p:grpSpPr>
        <p:sp>
          <p:nvSpPr>
            <p:cNvPr id="155" name="Shape 140"/>
            <p:cNvSpPr/>
            <p:nvPr/>
          </p:nvSpPr>
          <p:spPr>
            <a:xfrm>
              <a:off x="0" y="253686"/>
              <a:ext cx="3549752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6" name="Shape 156"/>
            <p:cNvSpPr txBox="1"/>
            <p:nvPr/>
          </p:nvSpPr>
          <p:spPr>
            <a:xfrm>
              <a:off x="3560671" y="0"/>
              <a:ext cx="1209387" cy="412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>
                  <a:latin typeface="Times New Roman" panose="02020603050405020304" pitchFamily="18" charset="0"/>
                  <a:cs typeface="Times New Roman" panose="02020603050405020304" pitchFamily="18" charset="0"/>
                </a:rPr>
                <a:t>AR / MR  </a:t>
              </a:r>
            </a:p>
          </p:txBody>
        </p:sp>
      </p:grpSp>
      <p:sp>
        <p:nvSpPr>
          <p:cNvPr id="167" name="Shape 161"/>
          <p:cNvSpPr txBox="1"/>
          <p:nvPr/>
        </p:nvSpPr>
        <p:spPr>
          <a:xfrm>
            <a:off x="6785772" y="2317734"/>
            <a:ext cx="31498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172" name="Group"/>
          <p:cNvGrpSpPr/>
          <p:nvPr/>
        </p:nvGrpSpPr>
        <p:grpSpPr>
          <a:xfrm>
            <a:off x="5254610" y="2777233"/>
            <a:ext cx="1886458" cy="354338"/>
            <a:chOff x="256559" y="108092"/>
            <a:chExt cx="2682961" cy="503946"/>
          </a:xfrm>
        </p:grpSpPr>
        <p:sp>
          <p:nvSpPr>
            <p:cNvPr id="168" name="Shape 160"/>
            <p:cNvSpPr txBox="1"/>
            <p:nvPr/>
          </p:nvSpPr>
          <p:spPr>
            <a:xfrm>
              <a:off x="2628934" y="225846"/>
              <a:ext cx="310586" cy="386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grpSp>
          <p:nvGrpSpPr>
            <p:cNvPr id="171" name="Group"/>
            <p:cNvGrpSpPr/>
            <p:nvPr/>
          </p:nvGrpSpPr>
          <p:grpSpPr>
            <a:xfrm>
              <a:off x="256559" y="108092"/>
              <a:ext cx="2352045" cy="336845"/>
              <a:chOff x="256559" y="108092"/>
              <a:chExt cx="2352044" cy="336844"/>
            </a:xfrm>
          </p:grpSpPr>
          <p:sp>
            <p:nvSpPr>
              <p:cNvPr id="169" name="Shape 143"/>
              <p:cNvSpPr/>
              <p:nvPr/>
            </p:nvSpPr>
            <p:spPr>
              <a:xfrm>
                <a:off x="491404" y="330527"/>
                <a:ext cx="2117199" cy="3740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0" name="Shape 162"/>
              <p:cNvSpPr txBox="1"/>
              <p:nvPr/>
            </p:nvSpPr>
            <p:spPr>
              <a:xfrm>
                <a:off x="256559" y="108092"/>
                <a:ext cx="456994" cy="33684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25779"/>
              </a:lstStyle>
              <a:p>
                <a:r>
                  <a:rPr sz="1266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</p:txBody>
          </p:sp>
        </p:grpSp>
      </p:grpSp>
      <p:sp>
        <p:nvSpPr>
          <p:cNvPr id="173" name="Shape 163"/>
          <p:cNvSpPr txBox="1"/>
          <p:nvPr/>
        </p:nvSpPr>
        <p:spPr>
          <a:xfrm>
            <a:off x="2566939" y="705223"/>
            <a:ext cx="115391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sp>
        <p:nvSpPr>
          <p:cNvPr id="174" name="Shape 164"/>
          <p:cNvSpPr txBox="1"/>
          <p:nvPr/>
        </p:nvSpPr>
        <p:spPr>
          <a:xfrm>
            <a:off x="6154788" y="741677"/>
            <a:ext cx="1191803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4CB805-107A-0645-9FF0-580A987B224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83925" y="6217852"/>
            <a:ext cx="169276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D7E2B7C-21F1-A64C-BB01-4A84EAF755C5}"/>
              </a:ext>
            </a:extLst>
          </p:cNvPr>
          <p:cNvGrpSpPr/>
          <p:nvPr/>
        </p:nvGrpSpPr>
        <p:grpSpPr>
          <a:xfrm>
            <a:off x="1865004" y="4795634"/>
            <a:ext cx="5466634" cy="550796"/>
            <a:chOff x="9872893" y="256609"/>
            <a:chExt cx="6066744" cy="783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Shape 161">
                  <a:extLst>
                    <a:ext uri="{FF2B5EF4-FFF2-40B4-BE49-F238E27FC236}">
                      <a16:creationId xmlns:a16="http://schemas.microsoft.com/office/drawing/2014/main" id="{8D6C9DA7-4CB2-E949-9E92-34B546CEF4DE}"/>
                    </a:ext>
                  </a:extLst>
                </p:cNvPr>
                <p:cNvSpPr txBox="1"/>
                <p:nvPr/>
              </p:nvSpPr>
              <p:spPr>
                <a:xfrm>
                  <a:off x="9872893" y="256609"/>
                  <a:ext cx="2104554" cy="36969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OPEQ) = TR</a:t>
                  </a:r>
                  <a:endParaRPr sz="1687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0" name="Shape 161">
                  <a:extLst>
                    <a:ext uri="{FF2B5EF4-FFF2-40B4-BE49-F238E27FC236}">
                      <a16:creationId xmlns:a16="http://schemas.microsoft.com/office/drawing/2014/main" id="{8D6C9DA7-4CB2-E949-9E92-34B546CEF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2893" y="256609"/>
                  <a:ext cx="2104554" cy="369691"/>
                </a:xfrm>
                <a:prstGeom prst="rect">
                  <a:avLst/>
                </a:prstGeom>
                <a:blipFill>
                  <a:blip r:embed="rId2"/>
                  <a:stretch>
                    <a:fillRect t="-26667" r="-1402" b="-50000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Shape 161">
                  <a:extLst>
                    <a:ext uri="{FF2B5EF4-FFF2-40B4-BE49-F238E27FC236}">
                      <a16:creationId xmlns:a16="http://schemas.microsoft.com/office/drawing/2014/main" id="{60236352-F2F6-3445-9BBF-B07C132C2BBE}"/>
                    </a:ext>
                  </a:extLst>
                </p:cNvPr>
                <p:cNvSpPr txBox="1"/>
                <p:nvPr/>
              </p:nvSpPr>
              <p:spPr>
                <a:xfrm>
                  <a:off x="9907130" y="670273"/>
                  <a:ext cx="2104550" cy="36969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OTCQ) = TC</a:t>
                  </a:r>
                  <a:endParaRPr sz="1687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1" name="Shape 161">
                  <a:extLst>
                    <a:ext uri="{FF2B5EF4-FFF2-40B4-BE49-F238E27FC236}">
                      <a16:creationId xmlns:a16="http://schemas.microsoft.com/office/drawing/2014/main" id="{60236352-F2F6-3445-9BBF-B07C132C2B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7130" y="670273"/>
                  <a:ext cx="2104550" cy="369691"/>
                </a:xfrm>
                <a:prstGeom prst="rect">
                  <a:avLst/>
                </a:prstGeom>
                <a:blipFill>
                  <a:blip r:embed="rId3"/>
                  <a:stretch>
                    <a:fillRect t="-27586" r="-2336" b="-51724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Shape 161">
                  <a:extLst>
                    <a:ext uri="{FF2B5EF4-FFF2-40B4-BE49-F238E27FC236}">
                      <a16:creationId xmlns:a16="http://schemas.microsoft.com/office/drawing/2014/main" id="{C5E72ACC-00E3-7E44-9E33-A14E259BD3B6}"/>
                    </a:ext>
                  </a:extLst>
                </p:cNvPr>
                <p:cNvSpPr txBox="1"/>
                <p:nvPr/>
              </p:nvSpPr>
              <p:spPr>
                <a:xfrm>
                  <a:off x="12076534" y="394435"/>
                  <a:ext cx="3863103" cy="510689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0" tIns="0" rIns="0" bIns="0">
                  <a:no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687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TPEC) = +</a:t>
                  </a:r>
                  <a:r>
                    <a:rPr lang="en-US" sz="1687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</a:t>
                  </a:r>
                  <a:r>
                    <a:rPr lang="en-US" sz="1687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T(</a:t>
                  </a:r>
                  <a14:m>
                    <m:oMath xmlns:m="http://schemas.openxmlformats.org/officeDocument/2006/math"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𝝅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𝒂𝒔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𝑻𝑹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sz="1687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𝑻𝑪</m:t>
                      </m:r>
                    </m:oMath>
                  </a14:m>
                  <a:endParaRPr sz="1687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2" name="Shape 161">
                  <a:extLst>
                    <a:ext uri="{FF2B5EF4-FFF2-40B4-BE49-F238E27FC236}">
                      <a16:creationId xmlns:a16="http://schemas.microsoft.com/office/drawing/2014/main" id="{C5E72ACC-00E3-7E44-9E33-A14E259BD3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76534" y="394435"/>
                  <a:ext cx="3863103" cy="510689"/>
                </a:xfrm>
                <a:prstGeom prst="rect">
                  <a:avLst/>
                </a:prstGeom>
                <a:blipFill>
                  <a:blip r:embed="rId4"/>
                  <a:stretch>
                    <a:fillRect l="-512" t="-16667" r="-256" b="-9524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1088A1A-039C-1348-B098-250C3BD44CE7}"/>
              </a:ext>
            </a:extLst>
          </p:cNvPr>
          <p:cNvGrpSpPr/>
          <p:nvPr/>
        </p:nvGrpSpPr>
        <p:grpSpPr>
          <a:xfrm>
            <a:off x="5419735" y="2946524"/>
            <a:ext cx="1479729" cy="955074"/>
            <a:chOff x="7708067" y="4190611"/>
            <a:chExt cx="2104503" cy="1358328"/>
          </a:xfrm>
        </p:grpSpPr>
        <p:sp>
          <p:nvSpPr>
            <p:cNvPr id="66" name="Shape 194">
              <a:extLst>
                <a:ext uri="{FF2B5EF4-FFF2-40B4-BE49-F238E27FC236}">
                  <a16:creationId xmlns:a16="http://schemas.microsoft.com/office/drawing/2014/main" id="{F4B2E3FF-96A4-3E4D-9F7A-32268D41C2AD}"/>
                </a:ext>
              </a:extLst>
            </p:cNvPr>
            <p:cNvSpPr txBox="1"/>
            <p:nvPr/>
          </p:nvSpPr>
          <p:spPr>
            <a:xfrm>
              <a:off x="7709631" y="5242093"/>
              <a:ext cx="2102928" cy="30684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t">
              <a:no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pPr algn="ctr"/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Wages</a:t>
              </a:r>
              <a:endParaRPr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0DD2771-2350-AD40-8E4E-1461A9385D2F}"/>
                </a:ext>
              </a:extLst>
            </p:cNvPr>
            <p:cNvGrpSpPr/>
            <p:nvPr/>
          </p:nvGrpSpPr>
          <p:grpSpPr>
            <a:xfrm>
              <a:off x="7708067" y="4190611"/>
              <a:ext cx="2104503" cy="1035837"/>
              <a:chOff x="7708067" y="4190611"/>
              <a:chExt cx="2104503" cy="1035837"/>
            </a:xfrm>
          </p:grpSpPr>
          <p:sp>
            <p:nvSpPr>
              <p:cNvPr id="69" name="Shape 194">
                <a:extLst>
                  <a:ext uri="{FF2B5EF4-FFF2-40B4-BE49-F238E27FC236}">
                    <a16:creationId xmlns:a16="http://schemas.microsoft.com/office/drawing/2014/main" id="{FA5C09A8-21DA-BF4D-8F11-1928FF9F786C}"/>
                  </a:ext>
                </a:extLst>
              </p:cNvPr>
              <p:cNvSpPr txBox="1"/>
              <p:nvPr/>
            </p:nvSpPr>
            <p:spPr>
              <a:xfrm>
                <a:off x="7713573" y="4190611"/>
                <a:ext cx="2091368" cy="38063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t">
                <a:no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Entrepreneur’s profit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Shape 194">
                <a:extLst>
                  <a:ext uri="{FF2B5EF4-FFF2-40B4-BE49-F238E27FC236}">
                    <a16:creationId xmlns:a16="http://schemas.microsoft.com/office/drawing/2014/main" id="{12864C86-C302-B84A-A2D9-195E928CA459}"/>
                  </a:ext>
                </a:extLst>
              </p:cNvPr>
              <p:cNvSpPr txBox="1"/>
              <p:nvPr/>
            </p:nvSpPr>
            <p:spPr>
              <a:xfrm>
                <a:off x="7708068" y="4912680"/>
                <a:ext cx="2104499" cy="3137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t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8" name="Shape 194">
                <a:extLst>
                  <a:ext uri="{FF2B5EF4-FFF2-40B4-BE49-F238E27FC236}">
                    <a16:creationId xmlns:a16="http://schemas.microsoft.com/office/drawing/2014/main" id="{49D97921-8C7B-CD45-A1DF-E886AC28FB74}"/>
                  </a:ext>
                </a:extLst>
              </p:cNvPr>
              <p:cNvSpPr txBox="1"/>
              <p:nvPr/>
            </p:nvSpPr>
            <p:spPr>
              <a:xfrm>
                <a:off x="7708067" y="4571531"/>
                <a:ext cx="2104503" cy="3267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t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Interest</a:t>
                </a:r>
                <a:endParaRPr sz="1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63" name="Group"/>
          <p:cNvGrpSpPr/>
          <p:nvPr/>
        </p:nvGrpSpPr>
        <p:grpSpPr>
          <a:xfrm>
            <a:off x="5908182" y="1239551"/>
            <a:ext cx="1343106" cy="2147135"/>
            <a:chOff x="0" y="0"/>
            <a:chExt cx="1910194" cy="3053701"/>
          </a:xfrm>
        </p:grpSpPr>
        <p:sp>
          <p:nvSpPr>
            <p:cNvPr id="161" name="Shape 145"/>
            <p:cNvSpPr/>
            <p:nvPr/>
          </p:nvSpPr>
          <p:spPr>
            <a:xfrm>
              <a:off x="0" y="255618"/>
              <a:ext cx="1673607" cy="2798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Shape 158"/>
            <p:cNvSpPr txBox="1"/>
            <p:nvPr/>
          </p:nvSpPr>
          <p:spPr>
            <a:xfrm>
              <a:off x="1462213" y="0"/>
              <a:ext cx="447982" cy="25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 defTabSz="408940">
                <a:defRPr sz="1700"/>
              </a:lvl1pPr>
            </a:lstStyle>
            <a:p>
              <a:r>
                <a:rPr sz="1195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grpSp>
        <p:nvGrpSpPr>
          <p:cNvPr id="160" name="Group"/>
          <p:cNvGrpSpPr/>
          <p:nvPr/>
        </p:nvGrpSpPr>
        <p:grpSpPr>
          <a:xfrm>
            <a:off x="5786958" y="1481576"/>
            <a:ext cx="2024123" cy="1494484"/>
            <a:chOff x="0" y="0"/>
            <a:chExt cx="2878751" cy="2125487"/>
          </a:xfrm>
        </p:grpSpPr>
        <p:sp>
          <p:nvSpPr>
            <p:cNvPr id="158" name="Shape 146"/>
            <p:cNvSpPr/>
            <p:nvPr/>
          </p:nvSpPr>
          <p:spPr>
            <a:xfrm>
              <a:off x="0" y="269772"/>
              <a:ext cx="2447885" cy="185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12"/>
                  </a:moveTo>
                  <a:cubicBezTo>
                    <a:pt x="15994" y="21600"/>
                    <a:pt x="8794" y="21596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9" name="Shape 157"/>
            <p:cNvSpPr txBox="1"/>
            <p:nvPr/>
          </p:nvSpPr>
          <p:spPr>
            <a:xfrm>
              <a:off x="2459389" y="0"/>
              <a:ext cx="419363" cy="2652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 defTabSz="425005">
                <a:defRPr sz="1746">
                  <a:solidFill>
                    <a:srgbClr val="BD5B0C"/>
                  </a:solidFill>
                </a:defRPr>
              </a:lvl1pPr>
            </a:lstStyle>
            <a:p>
              <a:r>
                <a:rPr sz="1228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166" name="Group"/>
          <p:cNvGrpSpPr/>
          <p:nvPr/>
        </p:nvGrpSpPr>
        <p:grpSpPr>
          <a:xfrm>
            <a:off x="6855773" y="2528066"/>
            <a:ext cx="431312" cy="1604101"/>
            <a:chOff x="231873" y="0"/>
            <a:chExt cx="613419" cy="2281386"/>
          </a:xfrm>
        </p:grpSpPr>
        <p:sp>
          <p:nvSpPr>
            <p:cNvPr id="164" name="Shape 142"/>
            <p:cNvSpPr/>
            <p:nvPr/>
          </p:nvSpPr>
          <p:spPr>
            <a:xfrm flipH="1">
              <a:off x="306709" y="0"/>
              <a:ext cx="1" cy="1987626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5" name="Shape 159"/>
            <p:cNvSpPr txBox="1"/>
            <p:nvPr/>
          </p:nvSpPr>
          <p:spPr>
            <a:xfrm>
              <a:off x="231873" y="2002045"/>
              <a:ext cx="613419" cy="279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 defTabSz="446912">
                <a:defRPr sz="1870"/>
              </a:lvl1pPr>
            </a:lstStyle>
            <a:p>
              <a:r>
                <a:rPr sz="131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524738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 advAuto="0"/>
      <p:bldP spid="167" grpId="0" animBg="1" advAuto="0"/>
      <p:bldP spid="172" grpId="0" animBg="1" advAuto="0"/>
      <p:bldP spid="163" grpId="0" animBg="1" advAuto="0"/>
      <p:bldP spid="160" grpId="0" animBg="1" advAuto="0"/>
      <p:bldP spid="166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199"/>
          <p:cNvSpPr txBox="1">
            <a:spLocks noGrp="1"/>
          </p:cNvSpPr>
          <p:nvPr>
            <p:ph type="subTitle" sz="quarter" idx="1"/>
          </p:nvPr>
        </p:nvSpPr>
        <p:spPr>
          <a:xfrm>
            <a:off x="237686" y="156825"/>
            <a:ext cx="3170834" cy="502354"/>
          </a:xfrm>
          <a:prstGeom prst="rect">
            <a:avLst/>
          </a:prstGeom>
        </p:spPr>
        <p:txBody>
          <a:bodyPr>
            <a:normAutofit fontScale="55000" lnSpcReduction="20000"/>
          </a:bodyPr>
          <a:lstStyle/>
          <a:p>
            <a:pPr defTabSz="390213"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90213"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rPr sz="2109" dirty="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SUBNORMAL (Continue)</a:t>
            </a:r>
          </a:p>
        </p:txBody>
      </p:sp>
      <p:sp>
        <p:nvSpPr>
          <p:cNvPr id="243" name="Shape 200"/>
          <p:cNvSpPr/>
          <p:nvPr/>
        </p:nvSpPr>
        <p:spPr>
          <a:xfrm flipV="1">
            <a:off x="1141013" y="990368"/>
            <a:ext cx="2" cy="294762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" name="Shape 201"/>
          <p:cNvSpPr/>
          <p:nvPr/>
        </p:nvSpPr>
        <p:spPr>
          <a:xfrm>
            <a:off x="1145680" y="3929596"/>
            <a:ext cx="316779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Shape 202"/>
          <p:cNvSpPr/>
          <p:nvPr/>
        </p:nvSpPr>
        <p:spPr>
          <a:xfrm flipV="1">
            <a:off x="5410807" y="1007695"/>
            <a:ext cx="1" cy="291297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Shape 203"/>
          <p:cNvSpPr/>
          <p:nvPr/>
        </p:nvSpPr>
        <p:spPr>
          <a:xfrm>
            <a:off x="5419736" y="3911737"/>
            <a:ext cx="32382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7" name="Shape 204"/>
          <p:cNvSpPr/>
          <p:nvPr/>
        </p:nvSpPr>
        <p:spPr>
          <a:xfrm flipV="1">
            <a:off x="1730518" y="1677442"/>
            <a:ext cx="1895894" cy="1744929"/>
          </a:xfrm>
          <a:prstGeom prst="line">
            <a:avLst/>
          </a:prstGeom>
          <a:ln w="63500">
            <a:solidFill>
              <a:srgbClr val="153197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8" name="Shape 205"/>
          <p:cNvSpPr/>
          <p:nvPr/>
        </p:nvSpPr>
        <p:spPr>
          <a:xfrm flipH="1" flipV="1">
            <a:off x="1865005" y="1678030"/>
            <a:ext cx="1743751" cy="1743753"/>
          </a:xfrm>
          <a:prstGeom prst="line">
            <a:avLst/>
          </a:prstGeom>
          <a:ln w="63500">
            <a:solidFill>
              <a:srgbClr val="861001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" name="Shape 206"/>
          <p:cNvSpPr/>
          <p:nvPr/>
        </p:nvSpPr>
        <p:spPr>
          <a:xfrm>
            <a:off x="1149942" y="2532046"/>
            <a:ext cx="1604800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1" name="Shape 215"/>
          <p:cNvSpPr txBox="1"/>
          <p:nvPr/>
        </p:nvSpPr>
        <p:spPr>
          <a:xfrm>
            <a:off x="729534" y="998274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252" name="Shape 216"/>
          <p:cNvSpPr txBox="1"/>
          <p:nvPr/>
        </p:nvSpPr>
        <p:spPr>
          <a:xfrm>
            <a:off x="3916682" y="3949058"/>
            <a:ext cx="655320" cy="2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1518">
              <a:defRPr sz="1900">
                <a:solidFill>
                  <a:srgbClr val="000000"/>
                </a:solidFill>
              </a:defRPr>
            </a:lvl1pPr>
          </a:lstStyle>
          <a:p>
            <a:r>
              <a:rPr sz="1336">
                <a:latin typeface="Times New Roman" panose="02020603050405020304" pitchFamily="18" charset="0"/>
                <a:cs typeface="Times New Roman" panose="02020603050405020304" pitchFamily="18" charset="0"/>
              </a:rPr>
              <a:t>Qd, Qs</a:t>
            </a:r>
          </a:p>
        </p:txBody>
      </p:sp>
      <p:sp>
        <p:nvSpPr>
          <p:cNvPr id="253" name="Shape 217"/>
          <p:cNvSpPr txBox="1"/>
          <p:nvPr/>
        </p:nvSpPr>
        <p:spPr>
          <a:xfrm>
            <a:off x="8091879" y="3949058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54" name="Shape 218"/>
          <p:cNvSpPr txBox="1"/>
          <p:nvPr/>
        </p:nvSpPr>
        <p:spPr>
          <a:xfrm>
            <a:off x="4976268" y="996795"/>
            <a:ext cx="655320" cy="428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735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255" name="Shape 219"/>
          <p:cNvSpPr txBox="1"/>
          <p:nvPr/>
        </p:nvSpPr>
        <p:spPr>
          <a:xfrm rot="21434457" flipH="1">
            <a:off x="3563361" y="3335771"/>
            <a:ext cx="314988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924607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56" name="Shape 220"/>
          <p:cNvSpPr txBox="1"/>
          <p:nvPr/>
        </p:nvSpPr>
        <p:spPr>
          <a:xfrm>
            <a:off x="3632458" y="1536944"/>
            <a:ext cx="314988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2452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57" name="Shape 221"/>
          <p:cNvSpPr txBox="1"/>
          <p:nvPr/>
        </p:nvSpPr>
        <p:spPr>
          <a:xfrm>
            <a:off x="1021142" y="2392412"/>
            <a:ext cx="314988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261" name="Group"/>
          <p:cNvGrpSpPr/>
          <p:nvPr/>
        </p:nvGrpSpPr>
        <p:grpSpPr>
          <a:xfrm>
            <a:off x="2678465" y="2523116"/>
            <a:ext cx="2902069" cy="279975"/>
            <a:chOff x="0" y="463760"/>
            <a:chExt cx="4127385" cy="398186"/>
          </a:xfrm>
        </p:grpSpPr>
        <p:sp>
          <p:nvSpPr>
            <p:cNvPr id="258" name="Shape 207"/>
            <p:cNvSpPr/>
            <p:nvPr/>
          </p:nvSpPr>
          <p:spPr>
            <a:xfrm>
              <a:off x="0" y="463760"/>
              <a:ext cx="2406344" cy="1"/>
            </a:xfrm>
            <a:prstGeom prst="line">
              <a:avLst/>
            </a:prstGeom>
            <a:noFill/>
            <a:ln w="88900" cap="rnd">
              <a:solidFill>
                <a:srgbClr val="000000"/>
              </a:solidFill>
              <a:custDash>
                <a:ds d="100000" sp="200000"/>
              </a:custDash>
              <a:miter lim="400000"/>
              <a:headEnd type="none" w="med" len="med"/>
              <a:tailEnd type="arrow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9" name="Shape 209"/>
            <p:cNvSpPr/>
            <p:nvPr/>
          </p:nvSpPr>
          <p:spPr>
            <a:xfrm>
              <a:off x="2366996" y="474920"/>
              <a:ext cx="1533242" cy="1"/>
            </a:xfrm>
            <a:prstGeom prst="line">
              <a:avLst/>
            </a:prstGeom>
            <a:noFill/>
            <a:ln w="889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0" name="Shape 222"/>
            <p:cNvSpPr txBox="1"/>
            <p:nvPr/>
          </p:nvSpPr>
          <p:spPr>
            <a:xfrm>
              <a:off x="3679402" y="531745"/>
              <a:ext cx="447983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262" name="Shape 223"/>
          <p:cNvSpPr txBox="1"/>
          <p:nvPr/>
        </p:nvSpPr>
        <p:spPr>
          <a:xfrm>
            <a:off x="2585346" y="2166558"/>
            <a:ext cx="423818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</a:p>
        </p:txBody>
      </p:sp>
      <p:grpSp>
        <p:nvGrpSpPr>
          <p:cNvPr id="265" name="Group"/>
          <p:cNvGrpSpPr/>
          <p:nvPr/>
        </p:nvGrpSpPr>
        <p:grpSpPr>
          <a:xfrm>
            <a:off x="5419736" y="2408313"/>
            <a:ext cx="3424978" cy="232174"/>
            <a:chOff x="0" y="22615"/>
            <a:chExt cx="4871078" cy="330201"/>
          </a:xfrm>
        </p:grpSpPr>
        <p:sp>
          <p:nvSpPr>
            <p:cNvPr id="263" name="Shape 208"/>
            <p:cNvSpPr/>
            <p:nvPr/>
          </p:nvSpPr>
          <p:spPr>
            <a:xfrm>
              <a:off x="0" y="198590"/>
              <a:ext cx="3549752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4" name="Shape 224"/>
            <p:cNvSpPr txBox="1"/>
            <p:nvPr/>
          </p:nvSpPr>
          <p:spPr>
            <a:xfrm>
              <a:off x="3661690" y="22615"/>
              <a:ext cx="1209388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 / MR  </a:t>
              </a:r>
            </a:p>
          </p:txBody>
        </p:sp>
      </p:grpSp>
      <p:grpSp>
        <p:nvGrpSpPr>
          <p:cNvPr id="268" name="Group"/>
          <p:cNvGrpSpPr/>
          <p:nvPr/>
        </p:nvGrpSpPr>
        <p:grpSpPr>
          <a:xfrm>
            <a:off x="6038363" y="694074"/>
            <a:ext cx="2092497" cy="1429791"/>
            <a:chOff x="0" y="0"/>
            <a:chExt cx="2975994" cy="2033479"/>
          </a:xfrm>
        </p:grpSpPr>
        <p:sp>
          <p:nvSpPr>
            <p:cNvPr id="266" name="Shape 214"/>
            <p:cNvSpPr/>
            <p:nvPr/>
          </p:nvSpPr>
          <p:spPr>
            <a:xfrm>
              <a:off x="0" y="59545"/>
              <a:ext cx="2447335" cy="19739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1" extrusionOk="0">
                  <a:moveTo>
                    <a:pt x="21600" y="0"/>
                  </a:moveTo>
                  <a:cubicBezTo>
                    <a:pt x="16359" y="21476"/>
                    <a:pt x="9159" y="21600"/>
                    <a:pt x="0" y="372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7" name="Shape 225"/>
            <p:cNvSpPr txBox="1"/>
            <p:nvPr/>
          </p:nvSpPr>
          <p:spPr>
            <a:xfrm>
              <a:off x="2479372" y="0"/>
              <a:ext cx="496623" cy="3683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66673">
                <a:defRPr sz="2400">
                  <a:solidFill>
                    <a:srgbClr val="BD5B0C"/>
                  </a:solidFill>
                </a:defRPr>
              </a:lvl1pPr>
            </a:lstStyle>
            <a:p>
              <a:r>
                <a:rPr sz="1687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276" name="Group"/>
          <p:cNvGrpSpPr/>
          <p:nvPr/>
        </p:nvGrpSpPr>
        <p:grpSpPr>
          <a:xfrm>
            <a:off x="6829134" y="1862944"/>
            <a:ext cx="702210" cy="2401989"/>
            <a:chOff x="211043" y="133444"/>
            <a:chExt cx="998697" cy="3416160"/>
          </a:xfrm>
        </p:grpSpPr>
        <p:grpSp>
          <p:nvGrpSpPr>
            <p:cNvPr id="274" name="Group"/>
            <p:cNvGrpSpPr/>
            <p:nvPr/>
          </p:nvGrpSpPr>
          <p:grpSpPr>
            <a:xfrm>
              <a:off x="355252" y="472339"/>
              <a:ext cx="854488" cy="3077265"/>
              <a:chOff x="355252" y="0"/>
              <a:chExt cx="854487" cy="3077264"/>
            </a:xfrm>
          </p:grpSpPr>
          <p:sp>
            <p:nvSpPr>
              <p:cNvPr id="272" name="Shape 210"/>
              <p:cNvSpPr/>
              <p:nvPr/>
            </p:nvSpPr>
            <p:spPr>
              <a:xfrm flipH="1">
                <a:off x="400302" y="0"/>
                <a:ext cx="1" cy="2606473"/>
              </a:xfrm>
              <a:prstGeom prst="line">
                <a:avLst/>
              </a:prstGeom>
              <a:noFill/>
              <a:ln w="38100" cap="rnd">
                <a:solidFill>
                  <a:srgbClr val="000000"/>
                </a:solidFill>
                <a:custDash>
                  <a:ds d="100000" sp="200000"/>
                </a:custDash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3" name="Shape 227"/>
              <p:cNvSpPr txBox="1"/>
              <p:nvPr/>
            </p:nvSpPr>
            <p:spPr>
              <a:xfrm>
                <a:off x="355252" y="2617331"/>
                <a:ext cx="854487" cy="45993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25779"/>
              </a:lstStyle>
              <a:p>
                <a:r>
                  <a:rPr sz="1266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275" name="Shape 228"/>
            <p:cNvSpPr txBox="1"/>
            <p:nvPr/>
          </p:nvSpPr>
          <p:spPr>
            <a:xfrm>
              <a:off x="211043" y="133444"/>
              <a:ext cx="327137" cy="3821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277" name="Shape 229"/>
          <p:cNvSpPr txBox="1"/>
          <p:nvPr/>
        </p:nvSpPr>
        <p:spPr>
          <a:xfrm>
            <a:off x="7003547" y="2359703"/>
            <a:ext cx="31498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280" name="Group"/>
          <p:cNvGrpSpPr/>
          <p:nvPr/>
        </p:nvGrpSpPr>
        <p:grpSpPr>
          <a:xfrm>
            <a:off x="5236858" y="1985143"/>
            <a:ext cx="1748109" cy="232173"/>
            <a:chOff x="231311" y="189458"/>
            <a:chExt cx="2486198" cy="330201"/>
          </a:xfrm>
        </p:grpSpPr>
        <p:sp>
          <p:nvSpPr>
            <p:cNvPr id="278" name="Shape 211"/>
            <p:cNvSpPr/>
            <p:nvPr/>
          </p:nvSpPr>
          <p:spPr>
            <a:xfrm>
              <a:off x="471430" y="360639"/>
              <a:ext cx="2246079" cy="4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9" name="Shape 230"/>
            <p:cNvSpPr txBox="1"/>
            <p:nvPr/>
          </p:nvSpPr>
          <p:spPr>
            <a:xfrm>
              <a:off x="231311" y="189458"/>
              <a:ext cx="447981" cy="330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/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284" name="Shape 233"/>
          <p:cNvSpPr txBox="1"/>
          <p:nvPr/>
        </p:nvSpPr>
        <p:spPr>
          <a:xfrm>
            <a:off x="6952721" y="3130237"/>
            <a:ext cx="411069" cy="411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285" name="Shape 234"/>
          <p:cNvSpPr txBox="1"/>
          <p:nvPr/>
        </p:nvSpPr>
        <p:spPr>
          <a:xfrm>
            <a:off x="2041242" y="1002903"/>
            <a:ext cx="115391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sp>
        <p:nvSpPr>
          <p:cNvPr id="286" name="Shape 235"/>
          <p:cNvSpPr txBox="1"/>
          <p:nvPr/>
        </p:nvSpPr>
        <p:spPr>
          <a:xfrm>
            <a:off x="6449154" y="623661"/>
            <a:ext cx="1191803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>
                <a:latin typeface="Times New Roman" panose="02020603050405020304" pitchFamily="18" charset="0"/>
                <a:cs typeface="Times New Roman" panose="02020603050405020304" pitchFamily="18" charset="0"/>
              </a:rPr>
              <a:t>Firm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AF1267-336C-0047-8942-19ABC69EA95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83925" y="6217852"/>
            <a:ext cx="169276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A5100529-6CC2-6645-9958-550BAFC29994}"/>
              </a:ext>
            </a:extLst>
          </p:cNvPr>
          <p:cNvGrpSpPr/>
          <p:nvPr/>
        </p:nvGrpSpPr>
        <p:grpSpPr>
          <a:xfrm>
            <a:off x="2213591" y="4778449"/>
            <a:ext cx="5766818" cy="530837"/>
            <a:chOff x="9907131" y="284996"/>
            <a:chExt cx="6122170" cy="7549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hape 161">
                  <a:extLst>
                    <a:ext uri="{FF2B5EF4-FFF2-40B4-BE49-F238E27FC236}">
                      <a16:creationId xmlns:a16="http://schemas.microsoft.com/office/drawing/2014/main" id="{A2513374-B8C0-C541-AC0E-CED854508CF9}"/>
                    </a:ext>
                  </a:extLst>
                </p:cNvPr>
                <p:cNvSpPr txBox="1"/>
                <p:nvPr/>
              </p:nvSpPr>
              <p:spPr>
                <a:xfrm>
                  <a:off x="9917641" y="284996"/>
                  <a:ext cx="1678679" cy="36969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406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OPEQ) = TR</a:t>
                  </a:r>
                  <a:endParaRPr sz="1406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Shape 161">
                  <a:extLst>
                    <a:ext uri="{FF2B5EF4-FFF2-40B4-BE49-F238E27FC236}">
                      <a16:creationId xmlns:a16="http://schemas.microsoft.com/office/drawing/2014/main" id="{A2513374-B8C0-C541-AC0E-CED854508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641" y="284996"/>
                  <a:ext cx="1678679" cy="369691"/>
                </a:xfrm>
                <a:prstGeom prst="rect">
                  <a:avLst/>
                </a:prstGeom>
                <a:blipFill>
                  <a:blip r:embed="rId3"/>
                  <a:stretch>
                    <a:fillRect t="-19355" r="-1685" b="-19355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Shape 161">
                  <a:extLst>
                    <a:ext uri="{FF2B5EF4-FFF2-40B4-BE49-F238E27FC236}">
                      <a16:creationId xmlns:a16="http://schemas.microsoft.com/office/drawing/2014/main" id="{FCFA637F-7462-CA48-B20C-E2291FAC937D}"/>
                    </a:ext>
                  </a:extLst>
                </p:cNvPr>
                <p:cNvSpPr txBox="1"/>
                <p:nvPr/>
              </p:nvSpPr>
              <p:spPr>
                <a:xfrm>
                  <a:off x="9907131" y="670273"/>
                  <a:ext cx="1689190" cy="36969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406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OTCQ) = TC</a:t>
                  </a:r>
                  <a:endParaRPr sz="1406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Shape 161">
                  <a:extLst>
                    <a:ext uri="{FF2B5EF4-FFF2-40B4-BE49-F238E27FC236}">
                      <a16:creationId xmlns:a16="http://schemas.microsoft.com/office/drawing/2014/main" id="{FCFA637F-7462-CA48-B20C-E2291FAC93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7131" y="670273"/>
                  <a:ext cx="1689190" cy="369691"/>
                </a:xfrm>
                <a:prstGeom prst="rect">
                  <a:avLst/>
                </a:prstGeom>
                <a:blipFill>
                  <a:blip r:embed="rId4"/>
                  <a:stretch>
                    <a:fillRect t="-23333" r="-2235" b="-23333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9" name="Shape 161">
                  <a:extLst>
                    <a:ext uri="{FF2B5EF4-FFF2-40B4-BE49-F238E27FC236}">
                      <a16:creationId xmlns:a16="http://schemas.microsoft.com/office/drawing/2014/main" id="{A6DE49EA-8784-9248-BFAB-729CF7D8C0A9}"/>
                    </a:ext>
                  </a:extLst>
                </p:cNvPr>
                <p:cNvSpPr txBox="1"/>
                <p:nvPr/>
              </p:nvSpPr>
              <p:spPr>
                <a:xfrm>
                  <a:off x="11702550" y="468428"/>
                  <a:ext cx="4326751" cy="28460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lIns="0" tIns="0" rIns="0" bIns="0">
                  <a:no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406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406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(⊡</m:t>
                      </m:r>
                    </m:oMath>
                  </a14:m>
                  <a:r>
                    <a:rPr lang="en-US" sz="1406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TPEC) = - </a:t>
                  </a:r>
                  <a:r>
                    <a:rPr lang="en-US" sz="1406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</a:t>
                  </a:r>
                  <a:r>
                    <a:rPr lang="en-US" sz="1406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T(</a:t>
                  </a:r>
                  <a14:m>
                    <m:oMath xmlns:m="http://schemas.openxmlformats.org/officeDocument/2006/math"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𝝅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d>
                        <m:dPr>
                          <m:ctrlP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𝒂𝒔</m:t>
                          </m:r>
                          <m: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𝑻𝑹</m:t>
                          </m:r>
                          <m: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&lt;</m:t>
                          </m:r>
                          <m: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𝑻𝑪</m:t>
                          </m:r>
                          <m:r>
                            <a:rPr lang="en-US" sz="1406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140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&amp; </m:t>
                      </m:r>
                      <m:r>
                        <a:rPr lang="en-US" sz="140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𝑨𝑹</m:t>
                      </m:r>
                      <m:r>
                        <a:rPr lang="en-US" sz="140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sz="1406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𝑨𝑽𝑪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endParaRPr sz="1406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69" name="Shape 161">
                  <a:extLst>
                    <a:ext uri="{FF2B5EF4-FFF2-40B4-BE49-F238E27FC236}">
                      <a16:creationId xmlns:a16="http://schemas.microsoft.com/office/drawing/2014/main" id="{A6DE49EA-8784-9248-BFAB-729CF7D8C0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02550" y="468428"/>
                  <a:ext cx="4326751" cy="284608"/>
                </a:xfrm>
                <a:prstGeom prst="rect">
                  <a:avLst/>
                </a:prstGeom>
                <a:blipFill>
                  <a:blip r:embed="rId5"/>
                  <a:stretch>
                    <a:fillRect l="-1553" t="-23529" r="-1553" b="-58824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2328239F-3291-1449-82EB-9E66EDFA6E1E}"/>
              </a:ext>
            </a:extLst>
          </p:cNvPr>
          <p:cNvGrpSpPr/>
          <p:nvPr/>
        </p:nvGrpSpPr>
        <p:grpSpPr>
          <a:xfrm>
            <a:off x="5419803" y="2133699"/>
            <a:ext cx="1529798" cy="1779704"/>
            <a:chOff x="7708067" y="4190611"/>
            <a:chExt cx="2104503" cy="1358328"/>
          </a:xfrm>
        </p:grpSpPr>
        <p:sp>
          <p:nvSpPr>
            <p:cNvPr id="71" name="Shape 194">
              <a:extLst>
                <a:ext uri="{FF2B5EF4-FFF2-40B4-BE49-F238E27FC236}">
                  <a16:creationId xmlns:a16="http://schemas.microsoft.com/office/drawing/2014/main" id="{D4538F9C-6B6E-484B-9682-394FDC563760}"/>
                </a:ext>
              </a:extLst>
            </p:cNvPr>
            <p:cNvSpPr txBox="1"/>
            <p:nvPr/>
          </p:nvSpPr>
          <p:spPr>
            <a:xfrm>
              <a:off x="7709631" y="5242093"/>
              <a:ext cx="2102928" cy="306846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pPr algn="ctr"/>
              <a:r>
                <a: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Wages</a:t>
              </a:r>
              <a:endParaRPr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6AB48CA9-FD4B-3F43-B6BC-606A20FBFE36}"/>
                </a:ext>
              </a:extLst>
            </p:cNvPr>
            <p:cNvGrpSpPr/>
            <p:nvPr/>
          </p:nvGrpSpPr>
          <p:grpSpPr>
            <a:xfrm>
              <a:off x="7708067" y="4190611"/>
              <a:ext cx="2104503" cy="1035837"/>
              <a:chOff x="7708067" y="4190611"/>
              <a:chExt cx="2104503" cy="1035837"/>
            </a:xfrm>
          </p:grpSpPr>
          <p:sp>
            <p:nvSpPr>
              <p:cNvPr id="73" name="Shape 194">
                <a:extLst>
                  <a:ext uri="{FF2B5EF4-FFF2-40B4-BE49-F238E27FC236}">
                    <a16:creationId xmlns:a16="http://schemas.microsoft.com/office/drawing/2014/main" id="{986FD5A7-F554-5E46-A1AA-FE9B64182394}"/>
                  </a:ext>
                </a:extLst>
              </p:cNvPr>
              <p:cNvSpPr txBox="1"/>
              <p:nvPr/>
            </p:nvSpPr>
            <p:spPr>
              <a:xfrm>
                <a:off x="7713573" y="4190611"/>
                <a:ext cx="2091368" cy="38063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Entrepreneur’s </a:t>
                </a:r>
              </a:p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Profit</a:t>
                </a:r>
                <a:endParaRPr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4" name="Shape 194">
                <a:extLst>
                  <a:ext uri="{FF2B5EF4-FFF2-40B4-BE49-F238E27FC236}">
                    <a16:creationId xmlns:a16="http://schemas.microsoft.com/office/drawing/2014/main" id="{CA7C02F4-A28D-194C-8C63-4B200C5DE9AA}"/>
                  </a:ext>
                </a:extLst>
              </p:cNvPr>
              <p:cNvSpPr txBox="1"/>
              <p:nvPr/>
            </p:nvSpPr>
            <p:spPr>
              <a:xfrm>
                <a:off x="7708068" y="4912680"/>
                <a:ext cx="2104499" cy="31376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Rent</a:t>
                </a:r>
                <a:endParaRPr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5" name="Shape 194">
                <a:extLst>
                  <a:ext uri="{FF2B5EF4-FFF2-40B4-BE49-F238E27FC236}">
                    <a16:creationId xmlns:a16="http://schemas.microsoft.com/office/drawing/2014/main" id="{1FD82742-4B79-A04D-8226-DA5018AED283}"/>
                  </a:ext>
                </a:extLst>
              </p:cNvPr>
              <p:cNvSpPr txBox="1"/>
              <p:nvPr/>
            </p:nvSpPr>
            <p:spPr>
              <a:xfrm>
                <a:off x="7708067" y="4571531"/>
                <a:ext cx="2104503" cy="32672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pPr algn="ctr"/>
                <a:r>
                  <a:rPr lang="en-US" sz="1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Interest</a:t>
                </a:r>
                <a:endParaRPr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50" name="Shape 212"/>
          <p:cNvSpPr/>
          <p:nvPr/>
        </p:nvSpPr>
        <p:spPr>
          <a:xfrm>
            <a:off x="5420816" y="2102933"/>
            <a:ext cx="1541391" cy="393348"/>
          </a:xfrm>
          <a:prstGeom prst="rect">
            <a:avLst/>
          </a:prstGeom>
          <a:solidFill>
            <a:srgbClr val="D71A16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r>
              <a:rPr lang="en-US" sz="168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Sub-NP</a:t>
            </a:r>
          </a:p>
        </p:txBody>
      </p:sp>
      <p:grpSp>
        <p:nvGrpSpPr>
          <p:cNvPr id="283" name="Group"/>
          <p:cNvGrpSpPr/>
          <p:nvPr/>
        </p:nvGrpSpPr>
        <p:grpSpPr>
          <a:xfrm>
            <a:off x="6267840" y="694074"/>
            <a:ext cx="2705268" cy="2585025"/>
            <a:chOff x="0" y="0"/>
            <a:chExt cx="3847490" cy="3676478"/>
          </a:xfrm>
        </p:grpSpPr>
        <p:sp>
          <p:nvSpPr>
            <p:cNvPr id="281" name="Shape 231"/>
            <p:cNvSpPr/>
            <p:nvPr/>
          </p:nvSpPr>
          <p:spPr>
            <a:xfrm>
              <a:off x="0" y="356102"/>
              <a:ext cx="3001425" cy="33203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271" extrusionOk="0">
                  <a:moveTo>
                    <a:pt x="0" y="12918"/>
                  </a:moveTo>
                  <a:cubicBezTo>
                    <a:pt x="2871" y="21600"/>
                    <a:pt x="10071" y="17294"/>
                    <a:pt x="21600" y="0"/>
                  </a:cubicBezTo>
                </a:path>
              </a:pathLst>
            </a:custGeom>
            <a:noFill/>
            <a:ln w="25400" cap="flat">
              <a:solidFill>
                <a:srgbClr val="164F86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2" name="Shape 232"/>
            <p:cNvSpPr txBox="1"/>
            <p:nvPr/>
          </p:nvSpPr>
          <p:spPr>
            <a:xfrm>
              <a:off x="2951266" y="0"/>
              <a:ext cx="896225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>
                  <a:solidFill>
                    <a:srgbClr val="164F86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grpSp>
        <p:nvGrpSpPr>
          <p:cNvPr id="271" name="Group"/>
          <p:cNvGrpSpPr/>
          <p:nvPr/>
        </p:nvGrpSpPr>
        <p:grpSpPr>
          <a:xfrm>
            <a:off x="5979620" y="1221985"/>
            <a:ext cx="1465822" cy="2182488"/>
            <a:chOff x="0" y="0"/>
            <a:chExt cx="2084723" cy="3103981"/>
          </a:xfrm>
        </p:grpSpPr>
        <p:sp>
          <p:nvSpPr>
            <p:cNvPr id="270" name="Shape 226"/>
            <p:cNvSpPr txBox="1"/>
            <p:nvPr/>
          </p:nvSpPr>
          <p:spPr>
            <a:xfrm>
              <a:off x="1287684" y="0"/>
              <a:ext cx="797040" cy="688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08940">
                <a:defRPr sz="1700"/>
              </a:lvl1pPr>
            </a:lstStyle>
            <a:p>
              <a:r>
                <a:rPr sz="1195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sp>
          <p:nvSpPr>
            <p:cNvPr id="269" name="Shape 213"/>
            <p:cNvSpPr/>
            <p:nvPr/>
          </p:nvSpPr>
          <p:spPr>
            <a:xfrm>
              <a:off x="0" y="302538"/>
              <a:ext cx="1673607" cy="280144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003239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 advAuto="0"/>
      <p:bldP spid="276" grpId="0" animBg="1" advAuto="0"/>
      <p:bldP spid="277" grpId="0" animBg="1" advAuto="0"/>
      <p:bldP spid="280" grpId="0" animBg="1" advAuto="0"/>
      <p:bldP spid="284" grpId="0" animBg="1" advAuto="0"/>
      <p:bldP spid="250" grpId="0" animBg="1" advAuto="0"/>
      <p:bldP spid="283" grpId="0" animBg="1" advAuto="0"/>
      <p:bldP spid="271" grpId="0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9"/>
          <p:cNvSpPr txBox="1">
            <a:spLocks noGrp="1"/>
          </p:cNvSpPr>
          <p:nvPr>
            <p:ph type="title"/>
          </p:nvPr>
        </p:nvSpPr>
        <p:spPr>
          <a:xfrm>
            <a:off x="4156172" y="154394"/>
            <a:ext cx="4077956" cy="55106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Loss-making firms to CONTINUE</a:t>
            </a:r>
            <a:endParaRPr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9">
            <a:extLst>
              <a:ext uri="{FF2B5EF4-FFF2-40B4-BE49-F238E27FC236}">
                <a16:creationId xmlns:a16="http://schemas.microsoft.com/office/drawing/2014/main" id="{BCCA2B04-AE3A-214D-9F03-91E1E8A59059}"/>
              </a:ext>
            </a:extLst>
          </p:cNvPr>
          <p:cNvSpPr txBox="1">
            <a:spLocks/>
          </p:cNvSpPr>
          <p:nvPr/>
        </p:nvSpPr>
        <p:spPr>
          <a:xfrm>
            <a:off x="282617" y="5870151"/>
            <a:ext cx="4584093" cy="63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Hence CONTINUE Production</a:t>
            </a:r>
            <a:endParaRPr lang="en-US" sz="1969" b="1" dirty="0">
              <a:highlight>
                <a:srgbClr val="FFFF00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5FFB855-D30B-6349-96A9-455FBA55CB93}"/>
              </a:ext>
            </a:extLst>
          </p:cNvPr>
          <p:cNvGrpSpPr/>
          <p:nvPr/>
        </p:nvGrpSpPr>
        <p:grpSpPr>
          <a:xfrm>
            <a:off x="126858" y="696286"/>
            <a:ext cx="2903746" cy="2393501"/>
            <a:chOff x="7724570" y="1100244"/>
            <a:chExt cx="4009027" cy="327038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0D09FA54-A1B9-0449-8B29-C077F22EFCAB}"/>
                </a:ext>
              </a:extLst>
            </p:cNvPr>
            <p:cNvGrpSpPr/>
            <p:nvPr/>
          </p:nvGrpSpPr>
          <p:grpSpPr>
            <a:xfrm>
              <a:off x="7724570" y="1100244"/>
              <a:ext cx="4009027" cy="3270386"/>
              <a:chOff x="7122842" y="886984"/>
              <a:chExt cx="5638913" cy="5140238"/>
            </a:xfrm>
          </p:grpSpPr>
          <p:sp>
            <p:nvSpPr>
              <p:cNvPr id="29" name="Shape 202">
                <a:extLst>
                  <a:ext uri="{FF2B5EF4-FFF2-40B4-BE49-F238E27FC236}">
                    <a16:creationId xmlns:a16="http://schemas.microsoft.com/office/drawing/2014/main" id="{3473DE6D-8ACD-384D-8C89-426883D57523}"/>
                  </a:ext>
                </a:extLst>
              </p:cNvPr>
              <p:cNvSpPr/>
              <p:nvPr/>
            </p:nvSpPr>
            <p:spPr>
              <a:xfrm flipV="1">
                <a:off x="7695369" y="1433166"/>
                <a:ext cx="2" cy="4142896"/>
              </a:xfrm>
              <a:prstGeom prst="line">
                <a:avLst/>
              </a:prstGeom>
              <a:ln w="25400">
                <a:solidFill>
                  <a:srgbClr val="000000"/>
                </a:solidFill>
                <a:miter lim="400000"/>
                <a:headEnd type="none" w="med" len="med"/>
                <a:tailEnd type="triangle" w="med" len="med"/>
              </a:ln>
            </p:spPr>
            <p:txBody>
              <a:bodyPr lIns="32145" tIns="32145" rIns="32145" bIns="32145"/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98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Shape 203">
                <a:extLst>
                  <a:ext uri="{FF2B5EF4-FFF2-40B4-BE49-F238E27FC236}">
                    <a16:creationId xmlns:a16="http://schemas.microsoft.com/office/drawing/2014/main" id="{4526597B-C7E1-D149-9D13-2B002D016E3F}"/>
                  </a:ext>
                </a:extLst>
              </p:cNvPr>
              <p:cNvSpPr/>
              <p:nvPr/>
            </p:nvSpPr>
            <p:spPr>
              <a:xfrm>
                <a:off x="7708069" y="5563359"/>
                <a:ext cx="4605571" cy="1"/>
              </a:xfrm>
              <a:prstGeom prst="line">
                <a:avLst/>
              </a:prstGeom>
              <a:ln w="25400">
                <a:solidFill>
                  <a:srgbClr val="000000"/>
                </a:solidFill>
                <a:miter lim="400000"/>
                <a:headEnd type="none" w="med" len="med"/>
                <a:tailEnd type="triangle" w="med" len="med"/>
              </a:ln>
            </p:spPr>
            <p:txBody>
              <a:bodyPr lIns="32145" tIns="32145" rIns="32145" bIns="32145"/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984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Shape 212">
                <a:extLst>
                  <a:ext uri="{FF2B5EF4-FFF2-40B4-BE49-F238E27FC236}">
                    <a16:creationId xmlns:a16="http://schemas.microsoft.com/office/drawing/2014/main" id="{EF73FADA-76D6-4E42-AFD8-A070EF163EE5}"/>
                  </a:ext>
                </a:extLst>
              </p:cNvPr>
              <p:cNvSpPr/>
              <p:nvPr/>
            </p:nvSpPr>
            <p:spPr>
              <a:xfrm>
                <a:off x="7695369" y="3008485"/>
                <a:ext cx="2192201" cy="559428"/>
              </a:xfrm>
              <a:prstGeom prst="rect">
                <a:avLst/>
              </a:prstGeom>
              <a:solidFill>
                <a:srgbClr val="D71A16"/>
              </a:solidFill>
              <a:ln w="12700"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lIns="35719" tIns="35719" rIns="35719" bIns="35719" anchor="ctr"/>
              <a:lstStyle/>
              <a:p>
                <a:pPr defTabSz="410751">
                  <a:defRPr sz="2400" b="0">
                    <a:solidFill>
                      <a:srgbClr val="FFFFFF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r>
                  <a:rPr lang="en-US" sz="984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Sub-NP</a:t>
                </a:r>
              </a:p>
            </p:txBody>
          </p:sp>
          <p:sp>
            <p:nvSpPr>
              <p:cNvPr id="34" name="Shape 217">
                <a:extLst>
                  <a:ext uri="{FF2B5EF4-FFF2-40B4-BE49-F238E27FC236}">
                    <a16:creationId xmlns:a16="http://schemas.microsoft.com/office/drawing/2014/main" id="{2F8926F7-1189-6946-9259-60E37389E85E}"/>
                  </a:ext>
                </a:extLst>
              </p:cNvPr>
              <p:cNvSpPr txBox="1"/>
              <p:nvPr/>
            </p:nvSpPr>
            <p:spPr>
              <a:xfrm>
                <a:off x="11508451" y="5616438"/>
                <a:ext cx="932010" cy="3302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>
                <a:no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r>
                  <a:rPr sz="98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35" name="Shape 218">
                <a:extLst>
                  <a:ext uri="{FF2B5EF4-FFF2-40B4-BE49-F238E27FC236}">
                    <a16:creationId xmlns:a16="http://schemas.microsoft.com/office/drawing/2014/main" id="{66F0D76B-D762-8C41-AF45-6F174F0A0AE8}"/>
                  </a:ext>
                </a:extLst>
              </p:cNvPr>
              <p:cNvSpPr txBox="1"/>
              <p:nvPr/>
            </p:nvSpPr>
            <p:spPr>
              <a:xfrm>
                <a:off x="7122842" y="1571122"/>
                <a:ext cx="932011" cy="6096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>
                <a:noAutofit/>
              </a:bodyPr>
              <a:lstStyle>
                <a:lvl1pPr defTabSz="467359">
                  <a:defRPr sz="20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98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Rev, Cost</a:t>
                </a:r>
              </a:p>
            </p:txBody>
          </p:sp>
          <p:grpSp>
            <p:nvGrpSpPr>
              <p:cNvPr id="36" name="Group">
                <a:extLst>
                  <a:ext uri="{FF2B5EF4-FFF2-40B4-BE49-F238E27FC236}">
                    <a16:creationId xmlns:a16="http://schemas.microsoft.com/office/drawing/2014/main" id="{5B8C017F-D443-1E44-B4FD-CB96D210BF56}"/>
                  </a:ext>
                </a:extLst>
              </p:cNvPr>
              <p:cNvGrpSpPr/>
              <p:nvPr/>
            </p:nvGrpSpPr>
            <p:grpSpPr>
              <a:xfrm>
                <a:off x="7708068" y="3402541"/>
                <a:ext cx="4735647" cy="330202"/>
                <a:chOff x="0" y="0"/>
                <a:chExt cx="4735645" cy="330200"/>
              </a:xfrm>
            </p:grpSpPr>
            <p:sp>
              <p:nvSpPr>
                <p:cNvPr id="72" name="Shape 208">
                  <a:extLst>
                    <a:ext uri="{FF2B5EF4-FFF2-40B4-BE49-F238E27FC236}">
                      <a16:creationId xmlns:a16="http://schemas.microsoft.com/office/drawing/2014/main" id="{664EEE7E-5230-DF4A-94A6-655EBC82D487}"/>
                    </a:ext>
                  </a:extLst>
                </p:cNvPr>
                <p:cNvSpPr/>
                <p:nvPr/>
              </p:nvSpPr>
              <p:spPr>
                <a:xfrm>
                  <a:off x="0" y="198590"/>
                  <a:ext cx="3549752" cy="3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32145" tIns="32145" rIns="32145" bIns="32145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</a:defRPr>
                  </a:pPr>
                  <a:endParaRPr sz="98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3" name="Shape 224">
                  <a:extLst>
                    <a:ext uri="{FF2B5EF4-FFF2-40B4-BE49-F238E27FC236}">
                      <a16:creationId xmlns:a16="http://schemas.microsoft.com/office/drawing/2014/main" id="{E00DE749-A2FA-ED40-AC9C-C94A14474940}"/>
                    </a:ext>
                  </a:extLst>
                </p:cNvPr>
                <p:cNvSpPr txBox="1"/>
                <p:nvPr/>
              </p:nvSpPr>
              <p:spPr>
                <a:xfrm>
                  <a:off x="3526259" y="0"/>
                  <a:ext cx="1209387" cy="3302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noAutofit/>
                </a:bodyPr>
                <a:lstStyle>
                  <a:lvl1pPr defTabSz="525779"/>
                </a:lstStyle>
                <a:p>
                  <a:r>
                    <a:rPr sz="984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AR / MR  </a:t>
                  </a:r>
                </a:p>
              </p:txBody>
            </p:sp>
          </p:grpSp>
          <p:grpSp>
            <p:nvGrpSpPr>
              <p:cNvPr id="37" name="Group">
                <a:extLst>
                  <a:ext uri="{FF2B5EF4-FFF2-40B4-BE49-F238E27FC236}">
                    <a16:creationId xmlns:a16="http://schemas.microsoft.com/office/drawing/2014/main" id="{2DAE9C3D-0AE2-BF49-ADC3-E7DBA34D9D15}"/>
                  </a:ext>
                </a:extLst>
              </p:cNvPr>
              <p:cNvGrpSpPr/>
              <p:nvPr/>
            </p:nvGrpSpPr>
            <p:grpSpPr>
              <a:xfrm>
                <a:off x="8413041" y="904017"/>
                <a:ext cx="3119709" cy="2116603"/>
                <a:chOff x="-174853" y="-83111"/>
                <a:chExt cx="3119707" cy="2116602"/>
              </a:xfrm>
            </p:grpSpPr>
            <p:sp>
              <p:nvSpPr>
                <p:cNvPr id="70" name="Shape 214">
                  <a:extLst>
                    <a:ext uri="{FF2B5EF4-FFF2-40B4-BE49-F238E27FC236}">
                      <a16:creationId xmlns:a16="http://schemas.microsoft.com/office/drawing/2014/main" id="{E6FF9F8C-BC0D-F747-9403-1FC1F7EAC20E}"/>
                    </a:ext>
                  </a:extLst>
                </p:cNvPr>
                <p:cNvSpPr/>
                <p:nvPr/>
              </p:nvSpPr>
              <p:spPr>
                <a:xfrm>
                  <a:off x="-174853" y="249965"/>
                  <a:ext cx="2920526" cy="17835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1" extrusionOk="0">
                      <a:moveTo>
                        <a:pt x="21600" y="0"/>
                      </a:moveTo>
                      <a:cubicBezTo>
                        <a:pt x="16359" y="21476"/>
                        <a:pt x="9159" y="21600"/>
                        <a:pt x="0" y="372"/>
                      </a:cubicBezTo>
                    </a:path>
                  </a:pathLst>
                </a:custGeom>
                <a:noFill/>
                <a:ln w="25400" cap="flat">
                  <a:solidFill>
                    <a:srgbClr val="BD5B0C"/>
                  </a:solidFill>
                  <a:prstDash val="solid"/>
                  <a:miter lim="400000"/>
                </a:ln>
                <a:effectLst/>
              </p:spPr>
              <p:txBody>
                <a:bodyPr wrap="square" lIns="35719" tIns="35719" rIns="35719" bIns="35719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98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1" name="Shape 225">
                  <a:extLst>
                    <a:ext uri="{FF2B5EF4-FFF2-40B4-BE49-F238E27FC236}">
                      <a16:creationId xmlns:a16="http://schemas.microsoft.com/office/drawing/2014/main" id="{7E4E8E40-A38A-6A44-B53F-3018EC96BE7F}"/>
                    </a:ext>
                  </a:extLst>
                </p:cNvPr>
                <p:cNvSpPr txBox="1"/>
                <p:nvPr/>
              </p:nvSpPr>
              <p:spPr>
                <a:xfrm>
                  <a:off x="2448231" y="-83111"/>
                  <a:ext cx="496623" cy="3683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normAutofit/>
                </a:bodyPr>
                <a:lstStyle>
                  <a:lvl1pPr defTabSz="566673">
                    <a:defRPr sz="2400">
                      <a:solidFill>
                        <a:srgbClr val="BD5B0C"/>
                      </a:solidFill>
                    </a:defRPr>
                  </a:lvl1pPr>
                </a:lstStyle>
                <a:p>
                  <a:r>
                    <a:rPr sz="984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</a:t>
                  </a:r>
                </a:p>
              </p:txBody>
            </p:sp>
          </p:grpSp>
          <p:grpSp>
            <p:nvGrpSpPr>
              <p:cNvPr id="38" name="Group">
                <a:extLst>
                  <a:ext uri="{FF2B5EF4-FFF2-40B4-BE49-F238E27FC236}">
                    <a16:creationId xmlns:a16="http://schemas.microsoft.com/office/drawing/2014/main" id="{01CE46FE-E09F-FF4A-BCB0-2F43C47C177A}"/>
                  </a:ext>
                </a:extLst>
              </p:cNvPr>
              <p:cNvGrpSpPr/>
              <p:nvPr/>
            </p:nvGrpSpPr>
            <p:grpSpPr>
              <a:xfrm>
                <a:off x="8504348" y="1720246"/>
                <a:ext cx="2225164" cy="3121671"/>
                <a:chOff x="0" y="-17687"/>
                <a:chExt cx="2225162" cy="3121669"/>
              </a:xfrm>
            </p:grpSpPr>
            <p:sp>
              <p:nvSpPr>
                <p:cNvPr id="68" name="Shape 213">
                  <a:extLst>
                    <a:ext uri="{FF2B5EF4-FFF2-40B4-BE49-F238E27FC236}">
                      <a16:creationId xmlns:a16="http://schemas.microsoft.com/office/drawing/2014/main" id="{E58CFB40-FB70-F047-BE01-66AD5549CC3F}"/>
                    </a:ext>
                  </a:extLst>
                </p:cNvPr>
                <p:cNvSpPr/>
                <p:nvPr/>
              </p:nvSpPr>
              <p:spPr>
                <a:xfrm>
                  <a:off x="0" y="302538"/>
                  <a:ext cx="1673607" cy="28014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944" extrusionOk="0">
                      <a:moveTo>
                        <a:pt x="21600" y="0"/>
                      </a:moveTo>
                      <a:cubicBezTo>
                        <a:pt x="16714" y="17857"/>
                        <a:pt x="9514" y="21600"/>
                        <a:pt x="0" y="11228"/>
                      </a:cubicBezTo>
                    </a:path>
                  </a:pathLst>
                </a:custGeom>
                <a:noFill/>
                <a:ln w="25400" cap="flat">
                  <a:solidFill>
                    <a:srgbClr val="0B5D18"/>
                  </a:solidFill>
                  <a:prstDash val="solid"/>
                  <a:miter lim="400000"/>
                </a:ln>
                <a:effectLst/>
              </p:spPr>
              <p:txBody>
                <a:bodyPr wrap="square" lIns="35719" tIns="35719" rIns="35719" bIns="35719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98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9" name="Shape 226">
                  <a:extLst>
                    <a:ext uri="{FF2B5EF4-FFF2-40B4-BE49-F238E27FC236}">
                      <a16:creationId xmlns:a16="http://schemas.microsoft.com/office/drawing/2014/main" id="{04459AD6-C9A3-B943-9288-A24A715EC60E}"/>
                    </a:ext>
                  </a:extLst>
                </p:cNvPr>
                <p:cNvSpPr txBox="1"/>
                <p:nvPr/>
              </p:nvSpPr>
              <p:spPr>
                <a:xfrm>
                  <a:off x="1428121" y="-17687"/>
                  <a:ext cx="797041" cy="68841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normAutofit/>
                </a:bodyPr>
                <a:lstStyle>
                  <a:lvl1pPr defTabSz="408940">
                    <a:defRPr sz="1700"/>
                  </a:lvl1pPr>
                </a:lstStyle>
                <a:p>
                  <a:r>
                    <a:rPr sz="984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MC</a:t>
                  </a:r>
                </a:p>
              </p:txBody>
            </p:sp>
          </p:grpSp>
          <p:grpSp>
            <p:nvGrpSpPr>
              <p:cNvPr id="39" name="Group">
                <a:extLst>
                  <a:ext uri="{FF2B5EF4-FFF2-40B4-BE49-F238E27FC236}">
                    <a16:creationId xmlns:a16="http://schemas.microsoft.com/office/drawing/2014/main" id="{1A1626EB-8F32-9B4F-84FF-84FDAE91F80A}"/>
                  </a:ext>
                </a:extLst>
              </p:cNvPr>
              <p:cNvGrpSpPr/>
              <p:nvPr/>
            </p:nvGrpSpPr>
            <p:grpSpPr>
              <a:xfrm>
                <a:off x="9683718" y="2516076"/>
                <a:ext cx="987443" cy="3511146"/>
                <a:chOff x="182216" y="0"/>
                <a:chExt cx="987442" cy="3511144"/>
              </a:xfrm>
            </p:grpSpPr>
            <p:grpSp>
              <p:nvGrpSpPr>
                <p:cNvPr id="64" name="Group">
                  <a:extLst>
                    <a:ext uri="{FF2B5EF4-FFF2-40B4-BE49-F238E27FC236}">
                      <a16:creationId xmlns:a16="http://schemas.microsoft.com/office/drawing/2014/main" id="{8519AA8A-EEFF-2740-800B-5336CF37C9AD}"/>
                    </a:ext>
                  </a:extLst>
                </p:cNvPr>
                <p:cNvGrpSpPr/>
                <p:nvPr/>
              </p:nvGrpSpPr>
              <p:grpSpPr>
                <a:xfrm>
                  <a:off x="315169" y="472339"/>
                  <a:ext cx="854489" cy="3038805"/>
                  <a:chOff x="315169" y="0"/>
                  <a:chExt cx="854488" cy="3038804"/>
                </a:xfrm>
              </p:grpSpPr>
              <p:sp>
                <p:nvSpPr>
                  <p:cNvPr id="66" name="Shape 210">
                    <a:extLst>
                      <a:ext uri="{FF2B5EF4-FFF2-40B4-BE49-F238E27FC236}">
                        <a16:creationId xmlns:a16="http://schemas.microsoft.com/office/drawing/2014/main" id="{EB452C57-99E8-9742-B09D-7805799BFF02}"/>
                      </a:ext>
                    </a:extLst>
                  </p:cNvPr>
                  <p:cNvSpPr/>
                  <p:nvPr/>
                </p:nvSpPr>
                <p:spPr>
                  <a:xfrm flipH="1">
                    <a:off x="400302" y="0"/>
                    <a:ext cx="1" cy="2606473"/>
                  </a:xfrm>
                  <a:prstGeom prst="line">
                    <a:avLst/>
                  </a:prstGeom>
                  <a:noFill/>
                  <a:ln w="38100" cap="rnd">
                    <a:solidFill>
                      <a:srgbClr val="000000"/>
                    </a:solidFill>
                    <a:custDash>
                      <a:ds d="100000" sp="200000"/>
                    </a:custDash>
                    <a:miter lim="400000"/>
                  </a:ln>
                  <a:effectLst/>
                </p:spPr>
                <p:txBody>
                  <a:bodyPr wrap="square" lIns="32145" tIns="32145" rIns="32145" bIns="32145" numCol="1" anchor="t">
                    <a:noAutofit/>
                  </a:bodyPr>
                  <a:lstStyle/>
                  <a:p>
                    <a:pPr defTabSz="410751">
                      <a:defRPr sz="3600" b="0">
                        <a:solidFill>
                          <a:srgbClr val="000000"/>
                        </a:solidFill>
                      </a:defRPr>
                    </a:pPr>
                    <a:endParaRPr sz="984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7" name="Shape 227">
                    <a:extLst>
                      <a:ext uri="{FF2B5EF4-FFF2-40B4-BE49-F238E27FC236}">
                        <a16:creationId xmlns:a16="http://schemas.microsoft.com/office/drawing/2014/main" id="{B50552D2-3C39-994B-8594-D6A7FADA5521}"/>
                      </a:ext>
                    </a:extLst>
                  </p:cNvPr>
                  <p:cNvSpPr txBox="1"/>
                  <p:nvPr/>
                </p:nvSpPr>
                <p:spPr>
                  <a:xfrm>
                    <a:off x="315169" y="2578872"/>
                    <a:ext cx="854488" cy="45993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wrap="square" lIns="0" tIns="0" rIns="0" bIns="0" numCol="1" anchor="t">
                    <a:normAutofit/>
                  </a:bodyPr>
                  <a:lstStyle>
                    <a:lvl1pPr defTabSz="525779"/>
                  </a:lstStyle>
                  <a:p>
                    <a:r>
                      <a:rPr sz="984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Q</a:t>
                    </a:r>
                  </a:p>
                </p:txBody>
              </p:sp>
            </p:grpSp>
            <p:sp>
              <p:nvSpPr>
                <p:cNvPr id="65" name="Shape 228">
                  <a:extLst>
                    <a:ext uri="{FF2B5EF4-FFF2-40B4-BE49-F238E27FC236}">
                      <a16:creationId xmlns:a16="http://schemas.microsoft.com/office/drawing/2014/main" id="{4D63BAB7-975C-4B47-AEF9-322A8336086E}"/>
                    </a:ext>
                  </a:extLst>
                </p:cNvPr>
                <p:cNvSpPr txBox="1"/>
                <p:nvPr/>
              </p:nvSpPr>
              <p:spPr>
                <a:xfrm>
                  <a:off x="182216" y="0"/>
                  <a:ext cx="327137" cy="38214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normAutofit/>
                </a:bodyPr>
                <a:lstStyle>
                  <a:lvl1pPr>
                    <a:defRPr sz="2500"/>
                  </a:lvl1pPr>
                </a:lstStyle>
                <a:p>
                  <a:r>
                    <a:rPr sz="984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</p:grpSp>
          <p:sp>
            <p:nvSpPr>
              <p:cNvPr id="40" name="Shape 229">
                <a:extLst>
                  <a:ext uri="{FF2B5EF4-FFF2-40B4-BE49-F238E27FC236}">
                    <a16:creationId xmlns:a16="http://schemas.microsoft.com/office/drawing/2014/main" id="{44006C0C-B721-2948-873C-9F6E292ED199}"/>
                  </a:ext>
                </a:extLst>
              </p:cNvPr>
              <p:cNvSpPr txBox="1"/>
              <p:nvPr/>
            </p:nvSpPr>
            <p:spPr>
              <a:xfrm>
                <a:off x="9920118" y="3550678"/>
                <a:ext cx="447981" cy="33020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>
                <a:no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r>
                  <a:rPr sz="98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grpSp>
            <p:nvGrpSpPr>
              <p:cNvPr id="41" name="Group">
                <a:extLst>
                  <a:ext uri="{FF2B5EF4-FFF2-40B4-BE49-F238E27FC236}">
                    <a16:creationId xmlns:a16="http://schemas.microsoft.com/office/drawing/2014/main" id="{348800C8-2E93-5948-B242-1569C9511640}"/>
                  </a:ext>
                </a:extLst>
              </p:cNvPr>
              <p:cNvGrpSpPr/>
              <p:nvPr/>
            </p:nvGrpSpPr>
            <p:grpSpPr>
              <a:xfrm>
                <a:off x="7530045" y="2994496"/>
                <a:ext cx="2404130" cy="748336"/>
                <a:chOff x="313381" y="360639"/>
                <a:chExt cx="2404128" cy="748334"/>
              </a:xfrm>
            </p:grpSpPr>
            <p:sp>
              <p:nvSpPr>
                <p:cNvPr id="54" name="Shape 211">
                  <a:extLst>
                    <a:ext uri="{FF2B5EF4-FFF2-40B4-BE49-F238E27FC236}">
                      <a16:creationId xmlns:a16="http://schemas.microsoft.com/office/drawing/2014/main" id="{5381B034-851C-8449-9067-768E0AE22B3E}"/>
                    </a:ext>
                  </a:extLst>
                </p:cNvPr>
                <p:cNvSpPr/>
                <p:nvPr/>
              </p:nvSpPr>
              <p:spPr>
                <a:xfrm>
                  <a:off x="471430" y="360639"/>
                  <a:ext cx="2246079" cy="4"/>
                </a:xfrm>
                <a:prstGeom prst="line">
                  <a:avLst/>
                </a:prstGeom>
                <a:noFill/>
                <a:ln w="254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32145" tIns="32145" rIns="32145" bIns="32145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</a:defRPr>
                  </a:pPr>
                  <a:endParaRPr sz="98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Shape 230">
                  <a:extLst>
                    <a:ext uri="{FF2B5EF4-FFF2-40B4-BE49-F238E27FC236}">
                      <a16:creationId xmlns:a16="http://schemas.microsoft.com/office/drawing/2014/main" id="{D32EAF60-9538-B94E-B089-090181D10B47}"/>
                    </a:ext>
                  </a:extLst>
                </p:cNvPr>
                <p:cNvSpPr txBox="1"/>
                <p:nvPr/>
              </p:nvSpPr>
              <p:spPr>
                <a:xfrm>
                  <a:off x="313381" y="778772"/>
                  <a:ext cx="447981" cy="330201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noAutofit/>
                </a:bodyPr>
                <a:lstStyle>
                  <a:lvl1pPr defTabSz="525779"/>
                </a:lstStyle>
                <a:p>
                  <a:r>
                    <a:rPr lang="en-US" sz="984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  <a:endParaRPr sz="984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2" name="Group">
                <a:extLst>
                  <a:ext uri="{FF2B5EF4-FFF2-40B4-BE49-F238E27FC236}">
                    <a16:creationId xmlns:a16="http://schemas.microsoft.com/office/drawing/2014/main" id="{CAA549AD-44EC-F049-BAB7-D6C1A80193DE}"/>
                  </a:ext>
                </a:extLst>
              </p:cNvPr>
              <p:cNvGrpSpPr/>
              <p:nvPr/>
            </p:nvGrpSpPr>
            <p:grpSpPr>
              <a:xfrm>
                <a:off x="8914262" y="987127"/>
                <a:ext cx="3847493" cy="3676480"/>
                <a:chOff x="0" y="0"/>
                <a:chExt cx="3847491" cy="3676478"/>
              </a:xfrm>
            </p:grpSpPr>
            <p:sp>
              <p:nvSpPr>
                <p:cNvPr id="45" name="Shape 231">
                  <a:extLst>
                    <a:ext uri="{FF2B5EF4-FFF2-40B4-BE49-F238E27FC236}">
                      <a16:creationId xmlns:a16="http://schemas.microsoft.com/office/drawing/2014/main" id="{FD3C0CBD-1444-3E4D-B8CE-E0EBAB8A17C3}"/>
                    </a:ext>
                  </a:extLst>
                </p:cNvPr>
                <p:cNvSpPr/>
                <p:nvPr/>
              </p:nvSpPr>
              <p:spPr>
                <a:xfrm>
                  <a:off x="0" y="249955"/>
                  <a:ext cx="2645196" cy="34265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7271" extrusionOk="0">
                      <a:moveTo>
                        <a:pt x="0" y="12918"/>
                      </a:moveTo>
                      <a:cubicBezTo>
                        <a:pt x="2871" y="21600"/>
                        <a:pt x="10071" y="17294"/>
                        <a:pt x="21600" y="0"/>
                      </a:cubicBezTo>
                    </a:path>
                  </a:pathLst>
                </a:custGeom>
                <a:noFill/>
                <a:ln w="25400" cap="flat">
                  <a:solidFill>
                    <a:srgbClr val="164F86"/>
                  </a:solidFill>
                  <a:prstDash val="solid"/>
                  <a:miter lim="400000"/>
                </a:ln>
                <a:effectLst/>
              </p:spPr>
              <p:txBody>
                <a:bodyPr wrap="square" lIns="35719" tIns="35719" rIns="35719" bIns="35719" numCol="1" anchor="t">
                  <a:noAutofit/>
                </a:bodyPr>
                <a:lstStyle/>
                <a:p>
                  <a:pPr defTabSz="410751">
                    <a:defRPr sz="3600" b="0">
                      <a:solidFill>
                        <a:srgbClr val="000000"/>
                      </a:solidFill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pPr>
                  <a:endParaRPr sz="984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Shape 232">
                  <a:extLst>
                    <a:ext uri="{FF2B5EF4-FFF2-40B4-BE49-F238E27FC236}">
                      <a16:creationId xmlns:a16="http://schemas.microsoft.com/office/drawing/2014/main" id="{B882D3FE-5448-D74D-A9F9-170B24BBC191}"/>
                    </a:ext>
                  </a:extLst>
                </p:cNvPr>
                <p:cNvSpPr txBox="1"/>
                <p:nvPr/>
              </p:nvSpPr>
              <p:spPr>
                <a:xfrm>
                  <a:off x="2951266" y="0"/>
                  <a:ext cx="896225" cy="3810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0" tIns="0" rIns="0" bIns="0" numCol="1" anchor="t">
                  <a:normAutofit/>
                </a:bodyPr>
                <a:lstStyle>
                  <a:lvl1pPr>
                    <a:defRPr sz="2500">
                      <a:solidFill>
                        <a:srgbClr val="164F86"/>
                      </a:solidFill>
                    </a:defRPr>
                  </a:lvl1pPr>
                </a:lstStyle>
                <a:p>
                  <a:r>
                    <a:rPr sz="984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AVC</a:t>
                  </a:r>
                </a:p>
              </p:txBody>
            </p:sp>
          </p:grpSp>
          <p:sp>
            <p:nvSpPr>
              <p:cNvPr id="43" name="Shape 233">
                <a:extLst>
                  <a:ext uri="{FF2B5EF4-FFF2-40B4-BE49-F238E27FC236}">
                    <a16:creationId xmlns:a16="http://schemas.microsoft.com/office/drawing/2014/main" id="{05D8A043-2E3E-334E-95DA-AA829BBBE8FA}"/>
                  </a:ext>
                </a:extLst>
              </p:cNvPr>
              <p:cNvSpPr txBox="1"/>
              <p:nvPr/>
            </p:nvSpPr>
            <p:spPr>
              <a:xfrm>
                <a:off x="9932470" y="4325689"/>
                <a:ext cx="584630" cy="58463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>
                <a:normAutofit/>
              </a:bodyPr>
              <a:lstStyle>
                <a:lvl1pPr defTabSz="584200">
                  <a:defRPr sz="25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98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</a:p>
            </p:txBody>
          </p:sp>
          <p:sp>
            <p:nvSpPr>
              <p:cNvPr id="44" name="Shape 235">
                <a:extLst>
                  <a:ext uri="{FF2B5EF4-FFF2-40B4-BE49-F238E27FC236}">
                    <a16:creationId xmlns:a16="http://schemas.microsoft.com/office/drawing/2014/main" id="{0469FB3B-8025-3E41-AB96-BBCDC6290D29}"/>
                  </a:ext>
                </a:extLst>
              </p:cNvPr>
              <p:cNvSpPr txBox="1"/>
              <p:nvPr/>
            </p:nvSpPr>
            <p:spPr>
              <a:xfrm>
                <a:off x="9172130" y="886984"/>
                <a:ext cx="1695008" cy="3810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>
                <a:normAutofit/>
              </a:bodyPr>
              <a:lstStyle>
                <a:lvl1pPr defTabSz="584200">
                  <a:defRPr sz="25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984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Firm</a:t>
                </a:r>
              </a:p>
            </p:txBody>
          </p:sp>
        </p:grpSp>
        <p:sp>
          <p:nvSpPr>
            <p:cNvPr id="28" name="Shape 230">
              <a:extLst>
                <a:ext uri="{FF2B5EF4-FFF2-40B4-BE49-F238E27FC236}">
                  <a16:creationId xmlns:a16="http://schemas.microsoft.com/office/drawing/2014/main" id="{AFAEE06F-88CA-5145-B549-C2D1DED2BCEC}"/>
                </a:ext>
              </a:extLst>
            </p:cNvPr>
            <p:cNvSpPr txBox="1"/>
            <p:nvPr/>
          </p:nvSpPr>
          <p:spPr>
            <a:xfrm>
              <a:off x="7977714" y="2322567"/>
              <a:ext cx="318496" cy="2100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 defTabSz="525779"/>
            </a:lstStyle>
            <a:p>
              <a:r>
                <a:rPr sz="98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83" name="Shape 129">
            <a:extLst>
              <a:ext uri="{FF2B5EF4-FFF2-40B4-BE49-F238E27FC236}">
                <a16:creationId xmlns:a16="http://schemas.microsoft.com/office/drawing/2014/main" id="{1DE77664-04F2-1549-8135-D5B7A9D4440C}"/>
              </a:ext>
            </a:extLst>
          </p:cNvPr>
          <p:cNvSpPr txBox="1">
            <a:spLocks/>
          </p:cNvSpPr>
          <p:nvPr/>
        </p:nvSpPr>
        <p:spPr>
          <a:xfrm>
            <a:off x="284010" y="3287395"/>
            <a:ext cx="2078045" cy="587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 = AVC + AFC</a:t>
            </a:r>
          </a:p>
        </p:txBody>
      </p:sp>
      <p:sp>
        <p:nvSpPr>
          <p:cNvPr id="84" name="Shape 129">
            <a:extLst>
              <a:ext uri="{FF2B5EF4-FFF2-40B4-BE49-F238E27FC236}">
                <a16:creationId xmlns:a16="http://schemas.microsoft.com/office/drawing/2014/main" id="{9F074590-C367-8C42-8CD4-77DFB6FC7018}"/>
              </a:ext>
            </a:extLst>
          </p:cNvPr>
          <p:cNvSpPr txBox="1">
            <a:spLocks/>
          </p:cNvSpPr>
          <p:nvPr/>
        </p:nvSpPr>
        <p:spPr>
          <a:xfrm>
            <a:off x="110467" y="3731397"/>
            <a:ext cx="2319791" cy="526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CQ = QV + VC</a:t>
            </a:r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39B12DC-1B76-D340-96EF-41E404BACEF3}"/>
              </a:ext>
            </a:extLst>
          </p:cNvPr>
          <p:cNvGrpSpPr/>
          <p:nvPr/>
        </p:nvGrpSpPr>
        <p:grpSpPr>
          <a:xfrm>
            <a:off x="6642" y="4096506"/>
            <a:ext cx="5305013" cy="1419408"/>
            <a:chOff x="135993" y="5823170"/>
            <a:chExt cx="7544907" cy="2018714"/>
          </a:xfrm>
        </p:grpSpPr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2A7D7ECE-ECFD-8A45-A991-BE9C68CA73EB}"/>
                </a:ext>
              </a:extLst>
            </p:cNvPr>
            <p:cNvGrpSpPr/>
            <p:nvPr/>
          </p:nvGrpSpPr>
          <p:grpSpPr>
            <a:xfrm>
              <a:off x="135993" y="6147624"/>
              <a:ext cx="6790522" cy="796016"/>
              <a:chOff x="343555" y="6465142"/>
              <a:chExt cx="4888037" cy="796016"/>
            </a:xfrm>
          </p:grpSpPr>
          <p:sp>
            <p:nvSpPr>
              <p:cNvPr id="96" name="Shape 129">
                <a:extLst>
                  <a:ext uri="{FF2B5EF4-FFF2-40B4-BE49-F238E27FC236}">
                    <a16:creationId xmlns:a16="http://schemas.microsoft.com/office/drawing/2014/main" id="{A5301A69-C2EB-EA4A-AFDD-63B67E6368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3555" y="6636397"/>
                <a:ext cx="1352654" cy="6065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CQ =</a:t>
                </a:r>
              </a:p>
            </p:txBody>
          </p:sp>
          <p:sp>
            <p:nvSpPr>
              <p:cNvPr id="97" name="Shape 129">
                <a:extLst>
                  <a:ext uri="{FF2B5EF4-FFF2-40B4-BE49-F238E27FC236}">
                    <a16:creationId xmlns:a16="http://schemas.microsoft.com/office/drawing/2014/main" id="{B7AFF383-FBCA-A64F-A5BF-6B76832FBF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94328" y="6511654"/>
                <a:ext cx="1937264" cy="7493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-US" sz="1969" b="1" dirty="0">
                    <a:solidFill>
                      <a:schemeClr val="accent5">
                        <a:lumMod val="50000"/>
                      </a:schemeClr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 + </a:t>
                </a:r>
                <a:r>
                  <a:rPr lang="en-US" sz="1969" b="1" dirty="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EC</a:t>
                </a: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) </a:t>
                </a:r>
              </a:p>
            </p:txBody>
          </p:sp>
          <p:sp>
            <p:nvSpPr>
              <p:cNvPr id="98" name="Shape 129">
                <a:extLst>
                  <a:ext uri="{FF2B5EF4-FFF2-40B4-BE49-F238E27FC236}">
                    <a16:creationId xmlns:a16="http://schemas.microsoft.com/office/drawing/2014/main" id="{552254BF-FDA6-664E-B8E3-5DE4C4D3ED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42894" y="6588759"/>
                <a:ext cx="1344042" cy="672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-US" sz="1969" b="1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QV</a:t>
                </a: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</a:p>
            </p:txBody>
          </p:sp>
          <p:sp>
            <p:nvSpPr>
              <p:cNvPr id="99" name="Shape 129">
                <a:extLst>
                  <a:ext uri="{FF2B5EF4-FFF2-40B4-BE49-F238E27FC236}">
                    <a16:creationId xmlns:a16="http://schemas.microsoft.com/office/drawing/2014/main" id="{2F7DCC9D-917E-6842-B028-1566D086DE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83582" y="6465142"/>
                <a:ext cx="668082" cy="7849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+</a:t>
                </a:r>
              </a:p>
            </p:txBody>
          </p: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08CA9DE-C85C-5A48-97EE-10F4CBF4EC54}"/>
                </a:ext>
              </a:extLst>
            </p:cNvPr>
            <p:cNvGrpSpPr/>
            <p:nvPr/>
          </p:nvGrpSpPr>
          <p:grpSpPr>
            <a:xfrm>
              <a:off x="1525428" y="5823170"/>
              <a:ext cx="6155472" cy="2018714"/>
              <a:chOff x="1525428" y="5823170"/>
              <a:chExt cx="6155472" cy="2018714"/>
            </a:xfrm>
          </p:grpSpPr>
          <p:sp>
            <p:nvSpPr>
              <p:cNvPr id="88" name="Shape 129">
                <a:extLst>
                  <a:ext uri="{FF2B5EF4-FFF2-40B4-BE49-F238E27FC236}">
                    <a16:creationId xmlns:a16="http://schemas.microsoft.com/office/drawing/2014/main" id="{B031F5E1-56B2-0B4E-A439-6E728E6BDD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35003" y="7189514"/>
                <a:ext cx="2612496" cy="65237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algn="just"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Partly Covered</a:t>
                </a:r>
              </a:p>
            </p:txBody>
          </p:sp>
          <p:sp>
            <p:nvSpPr>
              <p:cNvPr id="89" name="Shape 129">
                <a:extLst>
                  <a:ext uri="{FF2B5EF4-FFF2-40B4-BE49-F238E27FC236}">
                    <a16:creationId xmlns:a16="http://schemas.microsoft.com/office/drawing/2014/main" id="{F52ED026-05CC-D847-B0DB-214093A673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37560" y="6750405"/>
                <a:ext cx="1640724" cy="49892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algn="just"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Covered</a:t>
                </a:r>
              </a:p>
            </p:txBody>
          </p:sp>
          <p:sp>
            <p:nvSpPr>
              <p:cNvPr id="90" name="Shape 129">
                <a:extLst>
                  <a:ext uri="{FF2B5EF4-FFF2-40B4-BE49-F238E27FC236}">
                    <a16:creationId xmlns:a16="http://schemas.microsoft.com/office/drawing/2014/main" id="{772E1F09-B881-1245-9CAD-9C77B6421E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18790" y="6729949"/>
                <a:ext cx="1640724" cy="49892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algn="just"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solidFill>
                      <a:schemeClr val="accent5">
                        <a:lumMod val="50000"/>
                      </a:schemeClr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Covered</a:t>
                </a:r>
              </a:p>
            </p:txBody>
          </p:sp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D3B3AA90-C8A1-934A-9B79-EC2DE9CB7D3B}"/>
                  </a:ext>
                </a:extLst>
              </p:cNvPr>
              <p:cNvGrpSpPr/>
              <p:nvPr/>
            </p:nvGrpSpPr>
            <p:grpSpPr>
              <a:xfrm>
                <a:off x="1525428" y="5823170"/>
                <a:ext cx="6155472" cy="1514910"/>
                <a:chOff x="1525428" y="5823170"/>
                <a:chExt cx="6155472" cy="1514910"/>
              </a:xfrm>
            </p:grpSpPr>
            <p:grpSp>
              <p:nvGrpSpPr>
                <p:cNvPr id="92" name="Group 91">
                  <a:extLst>
                    <a:ext uri="{FF2B5EF4-FFF2-40B4-BE49-F238E27FC236}">
                      <a16:creationId xmlns:a16="http://schemas.microsoft.com/office/drawing/2014/main" id="{27481326-D01A-E949-8C3E-C1E13AE9A103}"/>
                    </a:ext>
                  </a:extLst>
                </p:cNvPr>
                <p:cNvGrpSpPr/>
                <p:nvPr/>
              </p:nvGrpSpPr>
              <p:grpSpPr>
                <a:xfrm>
                  <a:off x="1525428" y="5949126"/>
                  <a:ext cx="6155472" cy="1388954"/>
                  <a:chOff x="1762575" y="6484978"/>
                  <a:chExt cx="6155472" cy="1388954"/>
                </a:xfrm>
              </p:grpSpPr>
              <p:sp>
                <p:nvSpPr>
                  <p:cNvPr id="94" name="Shape 129">
                    <a:extLst>
                      <a:ext uri="{FF2B5EF4-FFF2-40B4-BE49-F238E27FC236}">
                        <a16:creationId xmlns:a16="http://schemas.microsoft.com/office/drawing/2014/main" id="{FDBC559E-06F7-5841-8255-1A0D27DE52AD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1762575" y="6484978"/>
                    <a:ext cx="1889095" cy="59544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0" tIns="0" rIns="0" bIns="0" anchor="ctr">
                    <a:norm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1pPr>
                    <a:lvl2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2pPr>
                    <a:lvl3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3pPr>
                    <a:lvl4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4pPr>
                    <a:lvl5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5pPr>
                    <a:lvl6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6pPr>
                    <a:lvl7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7pPr>
                    <a:lvl8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8pPr>
                    <a:lvl9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9pPr>
                  </a:lstStyle>
                  <a:p>
                    <a:pPr algn="just" hangingPunct="1">
                      <a:defRPr sz="4400" b="1"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r>
                      <a:rPr lang="en-US" sz="1969" b="1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a:t>      </a:t>
                    </a:r>
                    <a:r>
                      <a:rPr lang="en-US" sz="1969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a:t>OPEX</a:t>
                    </a:r>
                  </a:p>
                </p:txBody>
              </p:sp>
              <p:sp>
                <p:nvSpPr>
                  <p:cNvPr id="95" name="Shape 129">
                    <a:extLst>
                      <a:ext uri="{FF2B5EF4-FFF2-40B4-BE49-F238E27FC236}">
                        <a16:creationId xmlns:a16="http://schemas.microsoft.com/office/drawing/2014/main" id="{ED63D5C3-B0FF-5444-A683-084EBDC2A87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645585" y="7128929"/>
                    <a:ext cx="2272462" cy="745003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0" tIns="0" rIns="0" bIns="0" anchor="ctr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1pPr>
                    <a:lvl2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2pPr>
                    <a:lvl3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3pPr>
                    <a:lvl4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4pPr>
                    <a:lvl5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5pPr>
                    <a:lvl6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6pPr>
                    <a:lvl7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7pPr>
                    <a:lvl8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8pPr>
                    <a:lvl9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9pPr>
                  </a:lstStyle>
                  <a:p>
                    <a:pPr hangingPunct="1">
                      <a:defRPr sz="4400" b="1"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r>
                      <a:rPr lang="en-US" sz="1969" b="1" dirty="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a:t>Uncovered</a:t>
                    </a:r>
                  </a:p>
                </p:txBody>
              </p:sp>
            </p:grpSp>
            <p:sp>
              <p:nvSpPr>
                <p:cNvPr id="93" name="Shape 129">
                  <a:extLst>
                    <a:ext uri="{FF2B5EF4-FFF2-40B4-BE49-F238E27FC236}">
                      <a16:creationId xmlns:a16="http://schemas.microsoft.com/office/drawing/2014/main" id="{5057CECB-E4E6-3644-8315-672CF446345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612733" y="5823170"/>
                  <a:ext cx="2071665" cy="56029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0" tIns="0" rIns="0" bIns="0" anchor="ctr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1pPr>
                  <a:lvl2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2pPr>
                  <a:lvl3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3pPr>
                  <a:lvl4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4pPr>
                  <a:lvl5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5pPr>
                  <a:lvl6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6pPr>
                  <a:lvl7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7pPr>
                  <a:lvl8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8pPr>
                  <a:lvl9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9pPr>
                </a:lstStyle>
                <a:p>
                  <a:pPr hangingPunct="1">
                    <a:defRPr sz="4400" b="1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r>
                    <a:rPr lang="en-US" sz="1969" b="1" dirty="0">
                      <a:solidFill>
                        <a:schemeClr val="accent2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Times New Roman"/>
                      <a:cs typeface="Times New Roman" panose="02020603050405020304" pitchFamily="18" charset="0"/>
                      <a:sym typeface="Times New Roman"/>
                    </a:rPr>
                    <a:t>CAPEX </a:t>
                  </a:r>
                </a:p>
              </p:txBody>
            </p:sp>
          </p:grpSp>
        </p:grpSp>
      </p:grpSp>
      <p:sp>
        <p:nvSpPr>
          <p:cNvPr id="135" name="Shape 229">
            <a:extLst>
              <a:ext uri="{FF2B5EF4-FFF2-40B4-BE49-F238E27FC236}">
                <a16:creationId xmlns:a16="http://schemas.microsoft.com/office/drawing/2014/main" id="{8F4B2BB8-354F-0641-9D6A-E4E9A35E6F87}"/>
              </a:ext>
            </a:extLst>
          </p:cNvPr>
          <p:cNvSpPr txBox="1"/>
          <p:nvPr/>
        </p:nvSpPr>
        <p:spPr>
          <a:xfrm>
            <a:off x="6515411" y="3713237"/>
            <a:ext cx="441481" cy="378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36" name="Shape 233">
            <a:extLst>
              <a:ext uri="{FF2B5EF4-FFF2-40B4-BE49-F238E27FC236}">
                <a16:creationId xmlns:a16="http://schemas.microsoft.com/office/drawing/2014/main" id="{7535B37E-35F9-C84A-95A0-A1814FAEF7CE}"/>
              </a:ext>
            </a:extLst>
          </p:cNvPr>
          <p:cNvSpPr txBox="1"/>
          <p:nvPr/>
        </p:nvSpPr>
        <p:spPr>
          <a:xfrm>
            <a:off x="6491333" y="4211998"/>
            <a:ext cx="411069" cy="411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  <p:sp>
        <p:nvSpPr>
          <p:cNvPr id="137" name="Shape 251">
            <a:extLst>
              <a:ext uri="{FF2B5EF4-FFF2-40B4-BE49-F238E27FC236}">
                <a16:creationId xmlns:a16="http://schemas.microsoft.com/office/drawing/2014/main" id="{4B7C29EC-EECE-5040-8FA0-0B55DE795055}"/>
              </a:ext>
            </a:extLst>
          </p:cNvPr>
          <p:cNvSpPr/>
          <p:nvPr/>
        </p:nvSpPr>
        <p:spPr>
          <a:xfrm>
            <a:off x="4912092" y="2929758"/>
            <a:ext cx="1541391" cy="953552"/>
          </a:xfrm>
          <a:prstGeom prst="rect">
            <a:avLst/>
          </a:prstGeom>
          <a:solidFill>
            <a:srgbClr val="D71A16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 defTabSz="410751">
              <a:defRPr sz="24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969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Sub-NP</a:t>
            </a:r>
          </a:p>
        </p:txBody>
      </p:sp>
      <p:sp>
        <p:nvSpPr>
          <p:cNvPr id="138" name="Shape 261">
            <a:extLst>
              <a:ext uri="{FF2B5EF4-FFF2-40B4-BE49-F238E27FC236}">
                <a16:creationId xmlns:a16="http://schemas.microsoft.com/office/drawing/2014/main" id="{32B02330-F198-7744-B421-5626EDFE4975}"/>
              </a:ext>
            </a:extLst>
          </p:cNvPr>
          <p:cNvSpPr txBox="1"/>
          <p:nvPr/>
        </p:nvSpPr>
        <p:spPr>
          <a:xfrm>
            <a:off x="4657066" y="3608060"/>
            <a:ext cx="314987" cy="40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defTabSz="584200">
              <a:defRPr sz="3600" b="0">
                <a:solidFill>
                  <a:srgbClr val="000000"/>
                </a:solidFill>
              </a:defRPr>
            </a:lvl1pPr>
          </a:lstStyle>
          <a:p>
            <a:r>
              <a:rPr sz="196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139" name="Group">
            <a:extLst>
              <a:ext uri="{FF2B5EF4-FFF2-40B4-BE49-F238E27FC236}">
                <a16:creationId xmlns:a16="http://schemas.microsoft.com/office/drawing/2014/main" id="{24988B75-7D9F-F142-B945-B244E21C56D6}"/>
              </a:ext>
            </a:extLst>
          </p:cNvPr>
          <p:cNvGrpSpPr/>
          <p:nvPr/>
        </p:nvGrpSpPr>
        <p:grpSpPr>
          <a:xfrm>
            <a:off x="6041320" y="1899872"/>
            <a:ext cx="1585388" cy="1124557"/>
            <a:chOff x="275847" y="151125"/>
            <a:chExt cx="2254773" cy="1599369"/>
          </a:xfrm>
        </p:grpSpPr>
        <p:sp>
          <p:nvSpPr>
            <p:cNvPr id="140" name="Shape 253">
              <a:extLst>
                <a:ext uri="{FF2B5EF4-FFF2-40B4-BE49-F238E27FC236}">
                  <a16:creationId xmlns:a16="http://schemas.microsoft.com/office/drawing/2014/main" id="{D00383EE-52EE-634F-B726-FCE1ABEAB643}"/>
                </a:ext>
              </a:extLst>
            </p:cNvPr>
            <p:cNvSpPr/>
            <p:nvPr/>
          </p:nvSpPr>
          <p:spPr>
            <a:xfrm>
              <a:off x="275847" y="664187"/>
              <a:ext cx="1577389" cy="1086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5"/>
                  </a:moveTo>
                  <a:cubicBezTo>
                    <a:pt x="16277" y="21600"/>
                    <a:pt x="9077" y="21598"/>
                    <a:pt x="0" y="0"/>
                  </a:cubicBezTo>
                </a:path>
              </a:pathLst>
            </a:custGeom>
            <a:solidFill>
              <a:srgbClr val="FFFFFF"/>
            </a:solidFill>
            <a:ln w="50800" cap="flat">
              <a:solidFill>
                <a:schemeClr val="accent3">
                  <a:lumOff val="-9999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1969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Shape 264">
              <a:extLst>
                <a:ext uri="{FF2B5EF4-FFF2-40B4-BE49-F238E27FC236}">
                  <a16:creationId xmlns:a16="http://schemas.microsoft.com/office/drawing/2014/main" id="{07CC50B3-311A-BD40-99AD-65AE8E686333}"/>
                </a:ext>
              </a:extLst>
            </p:cNvPr>
            <p:cNvSpPr txBox="1"/>
            <p:nvPr/>
          </p:nvSpPr>
          <p:spPr>
            <a:xfrm>
              <a:off x="1689129" y="151125"/>
              <a:ext cx="841491" cy="59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sp>
        <p:nvSpPr>
          <p:cNvPr id="142" name="Shape 249">
            <a:extLst>
              <a:ext uri="{FF2B5EF4-FFF2-40B4-BE49-F238E27FC236}">
                <a16:creationId xmlns:a16="http://schemas.microsoft.com/office/drawing/2014/main" id="{71D128F8-E47A-074A-A28E-7B5586A10B24}"/>
              </a:ext>
            </a:extLst>
          </p:cNvPr>
          <p:cNvSpPr/>
          <p:nvPr/>
        </p:nvSpPr>
        <p:spPr>
          <a:xfrm>
            <a:off x="6481606" y="2953759"/>
            <a:ext cx="49049" cy="3202587"/>
          </a:xfrm>
          <a:prstGeom prst="line">
            <a:avLst/>
          </a:prstGeom>
          <a:noFill/>
          <a:ln w="38100" cap="flat">
            <a:solidFill>
              <a:schemeClr val="accent1"/>
            </a:solidFill>
            <a:custDash>
              <a:ds d="200000" sp="200000"/>
            </a:custDash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wrap="square" lIns="32145" tIns="32145" rIns="32145" bIns="32145" numCol="1" anchor="t">
            <a:noAutofit/>
          </a:bodyPr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196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3" name="Group">
            <a:extLst>
              <a:ext uri="{FF2B5EF4-FFF2-40B4-BE49-F238E27FC236}">
                <a16:creationId xmlns:a16="http://schemas.microsoft.com/office/drawing/2014/main" id="{477B249F-37B3-4148-B6EC-DB9A0842092F}"/>
              </a:ext>
            </a:extLst>
          </p:cNvPr>
          <p:cNvGrpSpPr/>
          <p:nvPr/>
        </p:nvGrpSpPr>
        <p:grpSpPr>
          <a:xfrm>
            <a:off x="5416535" y="2167868"/>
            <a:ext cx="2601050" cy="2777248"/>
            <a:chOff x="-871011" y="-1615211"/>
            <a:chExt cx="3699268" cy="3949862"/>
          </a:xfrm>
        </p:grpSpPr>
        <p:sp>
          <p:nvSpPr>
            <p:cNvPr id="144" name="Shape 274">
              <a:extLst>
                <a:ext uri="{FF2B5EF4-FFF2-40B4-BE49-F238E27FC236}">
                  <a16:creationId xmlns:a16="http://schemas.microsoft.com/office/drawing/2014/main" id="{38B61FCC-3DB5-514A-B0F1-B703BBCFDF6C}"/>
                </a:ext>
              </a:extLst>
            </p:cNvPr>
            <p:cNvSpPr/>
            <p:nvPr/>
          </p:nvSpPr>
          <p:spPr>
            <a:xfrm>
              <a:off x="-871011" y="-1404520"/>
              <a:ext cx="2685034" cy="3739171"/>
            </a:xfrm>
            <a:custGeom>
              <a:avLst/>
              <a:gdLst>
                <a:gd name="connsiteX0" fmla="*/ 0 w 22111"/>
                <a:gd name="connsiteY0" fmla="*/ 12812 h 20930"/>
                <a:gd name="connsiteX1" fmla="*/ 7695 w 22111"/>
                <a:gd name="connsiteY1" fmla="*/ 20159 h 20930"/>
                <a:gd name="connsiteX2" fmla="*/ 22111 w 22111"/>
                <a:gd name="connsiteY2" fmla="*/ 0 h 20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111" h="20930" extrusionOk="0">
                  <a:moveTo>
                    <a:pt x="0" y="12812"/>
                  </a:moveTo>
                  <a:cubicBezTo>
                    <a:pt x="1189" y="21927"/>
                    <a:pt x="4095" y="21600"/>
                    <a:pt x="7695" y="20159"/>
                  </a:cubicBezTo>
                  <a:cubicBezTo>
                    <a:pt x="11295" y="18717"/>
                    <a:pt x="16100" y="11998"/>
                    <a:pt x="22111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1969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Shape 270">
              <a:extLst>
                <a:ext uri="{FF2B5EF4-FFF2-40B4-BE49-F238E27FC236}">
                  <a16:creationId xmlns:a16="http://schemas.microsoft.com/office/drawing/2014/main" id="{4C9F6141-19A9-0345-B02C-B16BA55469B7}"/>
                </a:ext>
              </a:extLst>
            </p:cNvPr>
            <p:cNvSpPr txBox="1"/>
            <p:nvPr/>
          </p:nvSpPr>
          <p:spPr>
            <a:xfrm>
              <a:off x="1490257" y="-1615211"/>
              <a:ext cx="1338000" cy="6565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grpSp>
        <p:nvGrpSpPr>
          <p:cNvPr id="146" name="Group">
            <a:extLst>
              <a:ext uri="{FF2B5EF4-FFF2-40B4-BE49-F238E27FC236}">
                <a16:creationId xmlns:a16="http://schemas.microsoft.com/office/drawing/2014/main" id="{97BFF20A-C80A-B748-BC7D-4BF32F7364B2}"/>
              </a:ext>
            </a:extLst>
          </p:cNvPr>
          <p:cNvGrpSpPr/>
          <p:nvPr/>
        </p:nvGrpSpPr>
        <p:grpSpPr>
          <a:xfrm>
            <a:off x="4952067" y="1255451"/>
            <a:ext cx="2198355" cy="3764839"/>
            <a:chOff x="-666385" y="73268"/>
            <a:chExt cx="3126546" cy="5354436"/>
          </a:xfrm>
        </p:grpSpPr>
        <p:sp>
          <p:nvSpPr>
            <p:cNvPr id="147" name="Shape 252">
              <a:extLst>
                <a:ext uri="{FF2B5EF4-FFF2-40B4-BE49-F238E27FC236}">
                  <a16:creationId xmlns:a16="http://schemas.microsoft.com/office/drawing/2014/main" id="{C92124B1-9012-DD47-A83A-A3231D699F1D}"/>
                </a:ext>
              </a:extLst>
            </p:cNvPr>
            <p:cNvSpPr/>
            <p:nvPr/>
          </p:nvSpPr>
          <p:spPr>
            <a:xfrm>
              <a:off x="-666385" y="678371"/>
              <a:ext cx="2745228" cy="4749333"/>
            </a:xfrm>
            <a:custGeom>
              <a:avLst/>
              <a:gdLst>
                <a:gd name="connsiteX0" fmla="*/ 28524 w 28524"/>
                <a:gd name="connsiteY0" fmla="*/ 0 h 23225"/>
                <a:gd name="connsiteX1" fmla="*/ 0 w 28524"/>
                <a:gd name="connsiteY1" fmla="*/ 20303 h 23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24" h="23225" extrusionOk="0">
                  <a:moveTo>
                    <a:pt x="28524" y="0"/>
                  </a:moveTo>
                  <a:cubicBezTo>
                    <a:pt x="25280" y="17283"/>
                    <a:pt x="11156" y="28952"/>
                    <a:pt x="0" y="20303"/>
                  </a:cubicBezTo>
                </a:path>
              </a:pathLst>
            </a:custGeom>
            <a:noFill/>
            <a:ln w="50800" cap="flat">
              <a:solidFill>
                <a:schemeClr val="accent2">
                  <a:lumOff val="-5333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1969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Shape 265">
              <a:extLst>
                <a:ext uri="{FF2B5EF4-FFF2-40B4-BE49-F238E27FC236}">
                  <a16:creationId xmlns:a16="http://schemas.microsoft.com/office/drawing/2014/main" id="{2B82DB5A-2A52-FB4A-B64D-A76A6CE1CA0D}"/>
                </a:ext>
              </a:extLst>
            </p:cNvPr>
            <p:cNvSpPr txBox="1"/>
            <p:nvPr/>
          </p:nvSpPr>
          <p:spPr>
            <a:xfrm>
              <a:off x="1645411" y="73268"/>
              <a:ext cx="814750" cy="665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sp>
        <p:nvSpPr>
          <p:cNvPr id="149" name="Shape 267">
            <a:extLst>
              <a:ext uri="{FF2B5EF4-FFF2-40B4-BE49-F238E27FC236}">
                <a16:creationId xmlns:a16="http://schemas.microsoft.com/office/drawing/2014/main" id="{59CC057B-FA86-2241-BB70-DD056BA0D8B8}"/>
              </a:ext>
            </a:extLst>
          </p:cNvPr>
          <p:cNvSpPr txBox="1"/>
          <p:nvPr/>
        </p:nvSpPr>
        <p:spPr>
          <a:xfrm>
            <a:off x="6463623" y="2655169"/>
            <a:ext cx="229328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50" name="Shape 261">
            <a:extLst>
              <a:ext uri="{FF2B5EF4-FFF2-40B4-BE49-F238E27FC236}">
                <a16:creationId xmlns:a16="http://schemas.microsoft.com/office/drawing/2014/main" id="{1F8079A2-F72B-BC45-932D-AF24901B41FA}"/>
              </a:ext>
            </a:extLst>
          </p:cNvPr>
          <p:cNvSpPr txBox="1"/>
          <p:nvPr/>
        </p:nvSpPr>
        <p:spPr>
          <a:xfrm>
            <a:off x="4597104" y="2732608"/>
            <a:ext cx="314987" cy="40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defTabSz="584200">
              <a:defRPr sz="3600" b="0">
                <a:solidFill>
                  <a:srgbClr val="000000"/>
                </a:solidFill>
              </a:defRPr>
            </a:lvl1pPr>
          </a:lstStyle>
          <a:p>
            <a:r>
              <a:rPr lang="en-US" sz="1969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sz="1969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Shape 233">
            <a:extLst>
              <a:ext uri="{FF2B5EF4-FFF2-40B4-BE49-F238E27FC236}">
                <a16:creationId xmlns:a16="http://schemas.microsoft.com/office/drawing/2014/main" id="{6AA5F8C5-B2E8-CA44-9A33-2BD1E0A1BEC4}"/>
              </a:ext>
            </a:extLst>
          </p:cNvPr>
          <p:cNvSpPr txBox="1"/>
          <p:nvPr/>
        </p:nvSpPr>
        <p:spPr>
          <a:xfrm>
            <a:off x="6325121" y="6147308"/>
            <a:ext cx="411069" cy="411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388A9AD-2D5D-A04E-A330-32F5B8ECBF9A}"/>
              </a:ext>
            </a:extLst>
          </p:cNvPr>
          <p:cNvGrpSpPr/>
          <p:nvPr/>
        </p:nvGrpSpPr>
        <p:grpSpPr>
          <a:xfrm>
            <a:off x="6777399" y="3096597"/>
            <a:ext cx="2270957" cy="2323426"/>
            <a:chOff x="10080811" y="4407161"/>
            <a:chExt cx="3229806" cy="3304428"/>
          </a:xfrm>
        </p:grpSpPr>
        <p:sp>
          <p:nvSpPr>
            <p:cNvPr id="153" name="Shape 129">
              <a:extLst>
                <a:ext uri="{FF2B5EF4-FFF2-40B4-BE49-F238E27FC236}">
                  <a16:creationId xmlns:a16="http://schemas.microsoft.com/office/drawing/2014/main" id="{38DFCCEF-F046-B643-8CE3-AB96D4738271}"/>
                </a:ext>
              </a:extLst>
            </p:cNvPr>
            <p:cNvSpPr txBox="1">
              <a:spLocks/>
            </p:cNvSpPr>
            <p:nvPr/>
          </p:nvSpPr>
          <p:spPr>
            <a:xfrm>
              <a:off x="10291324" y="5390947"/>
              <a:ext cx="2682431" cy="9255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9pPr>
            </a:lstStyle>
            <a:p>
              <a:pPr algn="l" hangingPunct="1">
                <a:defRPr sz="44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lang="en-US" sz="1969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Covered</a:t>
              </a:r>
              <a:r>
                <a:rPr lang="en-US" sz="1969" b="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r>
                <a:rPr lang="en-US" sz="1969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CAPEX</a:t>
              </a:r>
            </a:p>
          </p:txBody>
        </p:sp>
        <p:sp>
          <p:nvSpPr>
            <p:cNvPr id="154" name="Shape 129">
              <a:extLst>
                <a:ext uri="{FF2B5EF4-FFF2-40B4-BE49-F238E27FC236}">
                  <a16:creationId xmlns:a16="http://schemas.microsoft.com/office/drawing/2014/main" id="{13092D07-0728-5145-B5BA-408822022DA6}"/>
                </a:ext>
              </a:extLst>
            </p:cNvPr>
            <p:cNvSpPr txBox="1">
              <a:spLocks/>
            </p:cNvSpPr>
            <p:nvPr/>
          </p:nvSpPr>
          <p:spPr>
            <a:xfrm>
              <a:off x="10291324" y="6817449"/>
              <a:ext cx="2741036" cy="8941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9pPr>
            </a:lstStyle>
            <a:p>
              <a:pPr algn="just" hangingPunct="1">
                <a:defRPr sz="44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lang="en-US" sz="1969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Covered </a:t>
              </a:r>
              <a:r>
                <a:rPr lang="en-US" sz="1969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OPEX</a:t>
              </a:r>
            </a:p>
          </p:txBody>
        </p:sp>
        <p:sp>
          <p:nvSpPr>
            <p:cNvPr id="155" name="Shape 129">
              <a:extLst>
                <a:ext uri="{FF2B5EF4-FFF2-40B4-BE49-F238E27FC236}">
                  <a16:creationId xmlns:a16="http://schemas.microsoft.com/office/drawing/2014/main" id="{52E61583-7EED-134A-A832-F32D75319BD9}"/>
                </a:ext>
              </a:extLst>
            </p:cNvPr>
            <p:cNvSpPr txBox="1">
              <a:spLocks/>
            </p:cNvSpPr>
            <p:nvPr/>
          </p:nvSpPr>
          <p:spPr>
            <a:xfrm>
              <a:off x="10080811" y="4407161"/>
              <a:ext cx="3229806" cy="9255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9pPr>
            </a:lstStyle>
            <a:p>
              <a:pPr algn="l" hangingPunct="1">
                <a:defRPr sz="44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lang="en-US" sz="1969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Uncovered</a:t>
              </a:r>
              <a:r>
                <a:rPr lang="en-US" sz="1969" b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r>
                <a:rPr lang="en-US" sz="1969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CAPEX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55939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83" grpId="0" animBg="1"/>
      <p:bldP spid="8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238"/>
          <p:cNvSpPr txBox="1">
            <a:spLocks noGrp="1"/>
          </p:cNvSpPr>
          <p:nvPr>
            <p:ph type="subTitle" sz="quarter" idx="1"/>
          </p:nvPr>
        </p:nvSpPr>
        <p:spPr>
          <a:xfrm>
            <a:off x="59446" y="80532"/>
            <a:ext cx="3308649" cy="484526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defTabSz="390213"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Competition.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90213">
              <a:defRPr sz="2300" b="1">
                <a:latin typeface="+mj-lt"/>
                <a:ea typeface="+mj-ea"/>
                <a:cs typeface="+mj-cs"/>
                <a:sym typeface="Helvetica"/>
              </a:defRPr>
            </a:pPr>
            <a:r>
              <a:rPr sz="2109" dirty="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SUBNORMAL (Shut Down)</a:t>
            </a:r>
          </a:p>
        </p:txBody>
      </p:sp>
      <p:sp>
        <p:nvSpPr>
          <p:cNvPr id="308" name="Shape 239"/>
          <p:cNvSpPr/>
          <p:nvPr/>
        </p:nvSpPr>
        <p:spPr>
          <a:xfrm flipV="1">
            <a:off x="1141013" y="990368"/>
            <a:ext cx="2" cy="294762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9" name="Shape 240"/>
          <p:cNvSpPr/>
          <p:nvPr/>
        </p:nvSpPr>
        <p:spPr>
          <a:xfrm>
            <a:off x="1152986" y="3929596"/>
            <a:ext cx="316779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0" name="Shape 241"/>
          <p:cNvSpPr/>
          <p:nvPr/>
        </p:nvSpPr>
        <p:spPr>
          <a:xfrm flipV="1">
            <a:off x="5410807" y="1007695"/>
            <a:ext cx="1" cy="291297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" name="Shape 242"/>
          <p:cNvSpPr/>
          <p:nvPr/>
        </p:nvSpPr>
        <p:spPr>
          <a:xfrm>
            <a:off x="5419736" y="3911737"/>
            <a:ext cx="32382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" name="Shape 243"/>
          <p:cNvSpPr/>
          <p:nvPr/>
        </p:nvSpPr>
        <p:spPr>
          <a:xfrm flipV="1">
            <a:off x="1730518" y="1677442"/>
            <a:ext cx="1895894" cy="1744929"/>
          </a:xfrm>
          <a:prstGeom prst="line">
            <a:avLst/>
          </a:prstGeom>
          <a:ln w="63500">
            <a:solidFill>
              <a:srgbClr val="153197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Shape 244"/>
          <p:cNvSpPr/>
          <p:nvPr/>
        </p:nvSpPr>
        <p:spPr>
          <a:xfrm flipH="1" flipV="1">
            <a:off x="1865005" y="1678030"/>
            <a:ext cx="1743751" cy="1743753"/>
          </a:xfrm>
          <a:prstGeom prst="line">
            <a:avLst/>
          </a:prstGeom>
          <a:ln w="63500">
            <a:solidFill>
              <a:srgbClr val="861001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4" name="Shape 245"/>
          <p:cNvSpPr/>
          <p:nvPr/>
        </p:nvSpPr>
        <p:spPr>
          <a:xfrm>
            <a:off x="1149942" y="2532046"/>
            <a:ext cx="1604800" cy="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5" name="Shape 247"/>
          <p:cNvSpPr/>
          <p:nvPr/>
        </p:nvSpPr>
        <p:spPr>
          <a:xfrm>
            <a:off x="5419736" y="2532045"/>
            <a:ext cx="249591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6" name="Shape 254"/>
          <p:cNvSpPr txBox="1"/>
          <p:nvPr/>
        </p:nvSpPr>
        <p:spPr>
          <a:xfrm>
            <a:off x="476764" y="990369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317" name="Shape 255"/>
          <p:cNvSpPr txBox="1"/>
          <p:nvPr/>
        </p:nvSpPr>
        <p:spPr>
          <a:xfrm>
            <a:off x="3916682" y="3949058"/>
            <a:ext cx="655320" cy="2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61518">
              <a:defRPr sz="1900">
                <a:solidFill>
                  <a:srgbClr val="000000"/>
                </a:solidFill>
              </a:defRPr>
            </a:lvl1pPr>
          </a:lstStyle>
          <a:p>
            <a:r>
              <a:rPr sz="1336">
                <a:latin typeface="Times New Roman" panose="02020603050405020304" pitchFamily="18" charset="0"/>
                <a:cs typeface="Times New Roman" panose="02020603050405020304" pitchFamily="18" charset="0"/>
              </a:rPr>
              <a:t>Qd, Qs</a:t>
            </a:r>
          </a:p>
        </p:txBody>
      </p:sp>
      <p:sp>
        <p:nvSpPr>
          <p:cNvPr id="318" name="Shape 256"/>
          <p:cNvSpPr txBox="1"/>
          <p:nvPr/>
        </p:nvSpPr>
        <p:spPr>
          <a:xfrm>
            <a:off x="8091879" y="3949058"/>
            <a:ext cx="655320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319" name="Shape 257"/>
          <p:cNvSpPr txBox="1"/>
          <p:nvPr/>
        </p:nvSpPr>
        <p:spPr>
          <a:xfrm>
            <a:off x="4833273" y="1171273"/>
            <a:ext cx="655320" cy="4286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6735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320" name="Shape 258"/>
          <p:cNvSpPr txBox="1"/>
          <p:nvPr/>
        </p:nvSpPr>
        <p:spPr>
          <a:xfrm>
            <a:off x="3631442" y="3391943"/>
            <a:ext cx="314988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924607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21" name="Shape 259"/>
          <p:cNvSpPr txBox="1"/>
          <p:nvPr/>
        </p:nvSpPr>
        <p:spPr>
          <a:xfrm>
            <a:off x="3632458" y="1536944"/>
            <a:ext cx="314988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2452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22" name="Shape 260"/>
          <p:cNvSpPr txBox="1"/>
          <p:nvPr/>
        </p:nvSpPr>
        <p:spPr>
          <a:xfrm>
            <a:off x="1009443" y="2422734"/>
            <a:ext cx="314989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grpSp>
        <p:nvGrpSpPr>
          <p:cNvPr id="325" name="Group"/>
          <p:cNvGrpSpPr/>
          <p:nvPr/>
        </p:nvGrpSpPr>
        <p:grpSpPr>
          <a:xfrm>
            <a:off x="2695241" y="2532046"/>
            <a:ext cx="2740151" cy="6776"/>
            <a:chOff x="0" y="0"/>
            <a:chExt cx="3897102" cy="9635"/>
          </a:xfrm>
        </p:grpSpPr>
        <p:sp>
          <p:nvSpPr>
            <p:cNvPr id="323" name="Shape 246"/>
            <p:cNvSpPr/>
            <p:nvPr/>
          </p:nvSpPr>
          <p:spPr>
            <a:xfrm>
              <a:off x="0" y="9633"/>
              <a:ext cx="2406344" cy="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  <a:tailEnd type="triangle" w="med" len="med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4" name="Shape 248"/>
            <p:cNvSpPr/>
            <p:nvPr/>
          </p:nvSpPr>
          <p:spPr>
            <a:xfrm>
              <a:off x="2363861" y="0"/>
              <a:ext cx="1533242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6" name="Shape 261"/>
          <p:cNvSpPr txBox="1"/>
          <p:nvPr/>
        </p:nvSpPr>
        <p:spPr>
          <a:xfrm>
            <a:off x="5194888" y="2191347"/>
            <a:ext cx="314987" cy="409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defTabSz="584200">
              <a:defRPr sz="3600" b="0">
                <a:solidFill>
                  <a:srgbClr val="000000"/>
                </a:solidFill>
              </a:defRPr>
            </a:lvl1pPr>
          </a:lstStyle>
          <a:p>
            <a:r>
              <a:rPr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327" name="Shape 262"/>
          <p:cNvSpPr txBox="1"/>
          <p:nvPr/>
        </p:nvSpPr>
        <p:spPr>
          <a:xfrm>
            <a:off x="2618581" y="2153743"/>
            <a:ext cx="423818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</a:p>
        </p:txBody>
      </p:sp>
      <p:sp>
        <p:nvSpPr>
          <p:cNvPr id="328" name="Shape 263"/>
          <p:cNvSpPr txBox="1"/>
          <p:nvPr/>
        </p:nvSpPr>
        <p:spPr>
          <a:xfrm>
            <a:off x="7878548" y="2316019"/>
            <a:ext cx="1371897" cy="467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defTabSz="584200">
              <a:defRPr sz="3000" b="0">
                <a:solidFill>
                  <a:srgbClr val="000000"/>
                </a:solidFill>
              </a:defRPr>
            </a:lvl1pPr>
          </a:lstStyle>
          <a:p>
            <a:r>
              <a:rPr sz="2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 / MR  </a:t>
            </a:r>
          </a:p>
        </p:txBody>
      </p:sp>
      <p:grpSp>
        <p:nvGrpSpPr>
          <p:cNvPr id="331" name="Group"/>
          <p:cNvGrpSpPr/>
          <p:nvPr/>
        </p:nvGrpSpPr>
        <p:grpSpPr>
          <a:xfrm>
            <a:off x="6430740" y="419921"/>
            <a:ext cx="1539051" cy="1128118"/>
            <a:chOff x="0" y="0"/>
            <a:chExt cx="2188871" cy="1604433"/>
          </a:xfrm>
        </p:grpSpPr>
        <p:sp>
          <p:nvSpPr>
            <p:cNvPr id="329" name="Shape 253"/>
            <p:cNvSpPr/>
            <p:nvPr/>
          </p:nvSpPr>
          <p:spPr>
            <a:xfrm>
              <a:off x="0" y="518127"/>
              <a:ext cx="1577389" cy="108630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5"/>
                  </a:moveTo>
                  <a:cubicBezTo>
                    <a:pt x="16277" y="21600"/>
                    <a:pt x="9077" y="21598"/>
                    <a:pt x="0" y="0"/>
                  </a:cubicBezTo>
                </a:path>
              </a:pathLst>
            </a:custGeom>
            <a:solidFill>
              <a:srgbClr val="FFFFFF"/>
            </a:solidFill>
            <a:ln w="50800" cap="flat">
              <a:solidFill>
                <a:schemeClr val="accent3">
                  <a:lumOff val="-9999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Shape 264"/>
            <p:cNvSpPr txBox="1"/>
            <p:nvPr/>
          </p:nvSpPr>
          <p:spPr>
            <a:xfrm>
              <a:off x="1347381" y="0"/>
              <a:ext cx="841491" cy="591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2109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337" name="Group"/>
          <p:cNvGrpSpPr/>
          <p:nvPr/>
        </p:nvGrpSpPr>
        <p:grpSpPr>
          <a:xfrm>
            <a:off x="6875185" y="1555885"/>
            <a:ext cx="572873" cy="2739550"/>
            <a:chOff x="283607" y="0"/>
            <a:chExt cx="814750" cy="3896246"/>
          </a:xfrm>
        </p:grpSpPr>
        <p:sp>
          <p:nvSpPr>
            <p:cNvPr id="335" name="Shape 249"/>
            <p:cNvSpPr/>
            <p:nvPr/>
          </p:nvSpPr>
          <p:spPr>
            <a:xfrm>
              <a:off x="407373" y="0"/>
              <a:ext cx="3" cy="3375946"/>
            </a:xfrm>
            <a:prstGeom prst="line">
              <a:avLst/>
            </a:prstGeom>
            <a:noFill/>
            <a:ln w="38100" cap="flat">
              <a:solidFill>
                <a:schemeClr val="accent1"/>
              </a:solidFill>
              <a:custDash>
                <a:ds d="200000" sp="200000"/>
              </a:custDash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6" name="Shape 266"/>
            <p:cNvSpPr txBox="1"/>
            <p:nvPr/>
          </p:nvSpPr>
          <p:spPr>
            <a:xfrm>
              <a:off x="283607" y="3224682"/>
              <a:ext cx="814750" cy="6715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210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</p:grpSp>
      <p:sp>
        <p:nvSpPr>
          <p:cNvPr id="338" name="Shape 267"/>
          <p:cNvSpPr txBox="1"/>
          <p:nvPr/>
        </p:nvSpPr>
        <p:spPr>
          <a:xfrm>
            <a:off x="6847545" y="1219939"/>
            <a:ext cx="229328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39" name="Shape 268"/>
          <p:cNvSpPr txBox="1"/>
          <p:nvPr/>
        </p:nvSpPr>
        <p:spPr>
          <a:xfrm>
            <a:off x="6943266" y="2506788"/>
            <a:ext cx="314987" cy="38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 defTabSz="584200">
              <a:defRPr sz="3000" b="0">
                <a:solidFill>
                  <a:srgbClr val="000000"/>
                </a:solidFill>
              </a:defRPr>
            </a:lvl1pPr>
          </a:lstStyle>
          <a:p>
            <a:r>
              <a:rPr sz="2109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342" name="Group"/>
          <p:cNvGrpSpPr/>
          <p:nvPr/>
        </p:nvGrpSpPr>
        <p:grpSpPr>
          <a:xfrm>
            <a:off x="5230627" y="1410327"/>
            <a:ext cx="1757207" cy="375274"/>
            <a:chOff x="220360" y="30259"/>
            <a:chExt cx="2499137" cy="533722"/>
          </a:xfrm>
        </p:grpSpPr>
        <p:sp>
          <p:nvSpPr>
            <p:cNvPr id="340" name="Shape 250"/>
            <p:cNvSpPr/>
            <p:nvPr/>
          </p:nvSpPr>
          <p:spPr>
            <a:xfrm>
              <a:off x="473418" y="216057"/>
              <a:ext cx="2246079" cy="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1" name="Shape 269"/>
            <p:cNvSpPr txBox="1"/>
            <p:nvPr/>
          </p:nvSpPr>
          <p:spPr>
            <a:xfrm>
              <a:off x="220360" y="30259"/>
              <a:ext cx="463914" cy="53372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344" name="Shape 272"/>
          <p:cNvSpPr txBox="1"/>
          <p:nvPr/>
        </p:nvSpPr>
        <p:spPr>
          <a:xfrm>
            <a:off x="974125" y="643869"/>
            <a:ext cx="115391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sp>
        <p:nvSpPr>
          <p:cNvPr id="345" name="Shape 273"/>
          <p:cNvSpPr txBox="1"/>
          <p:nvPr/>
        </p:nvSpPr>
        <p:spPr>
          <a:xfrm>
            <a:off x="5149930" y="561162"/>
            <a:ext cx="1191803" cy="409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547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4006A3-EC9D-5E49-9FA2-45174A2CC48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83925" y="6217852"/>
            <a:ext cx="169276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2A59F7F-0859-7444-85F4-56A2925F30A0}"/>
              </a:ext>
            </a:extLst>
          </p:cNvPr>
          <p:cNvGrpSpPr/>
          <p:nvPr/>
        </p:nvGrpSpPr>
        <p:grpSpPr>
          <a:xfrm>
            <a:off x="2439902" y="4741444"/>
            <a:ext cx="4598980" cy="538978"/>
            <a:chOff x="9861040" y="86615"/>
            <a:chExt cx="4268604" cy="7665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Shape 161">
                  <a:extLst>
                    <a:ext uri="{FF2B5EF4-FFF2-40B4-BE49-F238E27FC236}">
                      <a16:creationId xmlns:a16="http://schemas.microsoft.com/office/drawing/2014/main" id="{0335AAFD-1756-2848-992A-B884E2851AF1}"/>
                    </a:ext>
                  </a:extLst>
                </p:cNvPr>
                <p:cNvSpPr txBox="1"/>
                <p:nvPr/>
              </p:nvSpPr>
              <p:spPr>
                <a:xfrm>
                  <a:off x="9861040" y="86615"/>
                  <a:ext cx="1426878" cy="369691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406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⊡</m:t>
                      </m:r>
                    </m:oMath>
                  </a14:m>
                  <a:r>
                    <a:rPr lang="en-US" sz="14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OPEQ) = TR</a:t>
                  </a:r>
                  <a:endParaRPr sz="1406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Shape 161">
                  <a:extLst>
                    <a:ext uri="{FF2B5EF4-FFF2-40B4-BE49-F238E27FC236}">
                      <a16:creationId xmlns:a16="http://schemas.microsoft.com/office/drawing/2014/main" id="{0335AAFD-1756-2848-992A-B884E2851A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1040" y="86615"/>
                  <a:ext cx="1426878" cy="369691"/>
                </a:xfrm>
                <a:prstGeom prst="rect">
                  <a:avLst/>
                </a:prstGeom>
                <a:blipFill>
                  <a:blip r:embed="rId2"/>
                  <a:stretch>
                    <a:fillRect t="-20000" r="-2874" b="-23333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Shape 161">
                  <a:extLst>
                    <a:ext uri="{FF2B5EF4-FFF2-40B4-BE49-F238E27FC236}">
                      <a16:creationId xmlns:a16="http://schemas.microsoft.com/office/drawing/2014/main" id="{2E65A75F-BA0B-2A44-AB96-E143A80D7B76}"/>
                    </a:ext>
                  </a:extLst>
                </p:cNvPr>
                <p:cNvSpPr txBox="1"/>
                <p:nvPr/>
              </p:nvSpPr>
              <p:spPr>
                <a:xfrm>
                  <a:off x="9861040" y="483470"/>
                  <a:ext cx="1426878" cy="36969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0" tIns="0" rIns="0" bIns="0">
                  <a:norm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406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⊡</m:t>
                      </m:r>
                    </m:oMath>
                  </a14:m>
                  <a:r>
                    <a:rPr lang="en-US" sz="14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OTCQ) = TC</a:t>
                  </a:r>
                  <a:endParaRPr sz="1406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6" name="Shape 161">
                  <a:extLst>
                    <a:ext uri="{FF2B5EF4-FFF2-40B4-BE49-F238E27FC236}">
                      <a16:creationId xmlns:a16="http://schemas.microsoft.com/office/drawing/2014/main" id="{2E65A75F-BA0B-2A44-AB96-E143A80D7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61040" y="483470"/>
                  <a:ext cx="1426878" cy="369691"/>
                </a:xfrm>
                <a:prstGeom prst="rect">
                  <a:avLst/>
                </a:prstGeom>
                <a:blipFill>
                  <a:blip r:embed="rId3"/>
                  <a:stretch>
                    <a:fillRect l="-575" t="-20000" r="-3448" b="-23333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Shape 161">
                  <a:extLst>
                    <a:ext uri="{FF2B5EF4-FFF2-40B4-BE49-F238E27FC236}">
                      <a16:creationId xmlns:a16="http://schemas.microsoft.com/office/drawing/2014/main" id="{8FAEBC87-ED36-C747-BFCF-67BC2C655CE3}"/>
                    </a:ext>
                  </a:extLst>
                </p:cNvPr>
                <p:cNvSpPr txBox="1"/>
                <p:nvPr/>
              </p:nvSpPr>
              <p:spPr>
                <a:xfrm>
                  <a:off x="11323476" y="209432"/>
                  <a:ext cx="2806168" cy="462158"/>
                </a:xfrm>
                <a:prstGeom prst="rect">
                  <a:avLst/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val="1"/>
                  </a:ext>
                </a:extLst>
              </p:spPr>
              <p:txBody>
                <a:bodyPr lIns="0" tIns="0" rIns="0" bIns="0">
                  <a:noAutofit/>
                </a:bodyPr>
                <a:lstStyle>
                  <a:lvl1pPr defTabSz="525779">
                    <a:defRPr>
                      <a:solidFill>
                        <a:srgbClr val="000000"/>
                      </a:solidFill>
                    </a:defRPr>
                  </a:lvl1pPr>
                </a:lstStyle>
                <a:p>
                  <a14:m>
                    <m:oMath xmlns:m="http://schemas.openxmlformats.org/officeDocument/2006/math"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𝑨</m:t>
                      </m:r>
                      <m:r>
                        <a:rPr lang="en-US" sz="1406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IN" sz="1406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⊡</m:t>
                      </m:r>
                    </m:oMath>
                  </a14:m>
                  <a:r>
                    <a:rPr lang="en-US" sz="14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TPEC) =  - </a:t>
                  </a:r>
                  <a:r>
                    <a:rPr lang="en-US" sz="1406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</a:t>
                  </a:r>
                  <a:r>
                    <a:rPr lang="en-US" sz="1406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T(</a:t>
                  </a:r>
                  <a14:m>
                    <m:oMath xmlns:m="http://schemas.openxmlformats.org/officeDocument/2006/math">
                      <m:r>
                        <a:rPr lang="en-US" sz="1406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𝝅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 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𝒂𝒔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𝑻𝑹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lang="en-US" sz="1406" b="1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𝑻𝑪</m:t>
                      </m:r>
                    </m:oMath>
                  </a14:m>
                  <a:endParaRPr sz="1406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7" name="Shape 161">
                  <a:extLst>
                    <a:ext uri="{FF2B5EF4-FFF2-40B4-BE49-F238E27FC236}">
                      <a16:creationId xmlns:a16="http://schemas.microsoft.com/office/drawing/2014/main" id="{8FAEBC87-ED36-C747-BFCF-67BC2C655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23476" y="209432"/>
                  <a:ext cx="2806168" cy="462158"/>
                </a:xfrm>
                <a:prstGeom prst="rect">
                  <a:avLst/>
                </a:prstGeom>
                <a:blipFill>
                  <a:blip r:embed="rId4"/>
                  <a:stretch>
                    <a:fillRect t="-15789"/>
                  </a:stretch>
                </a:blipFill>
                <a:ln w="12700">
                  <a:miter lim="400000"/>
                </a:ln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BD33576-C953-B848-99CC-F5BDAE4BE00B}"/>
              </a:ext>
            </a:extLst>
          </p:cNvPr>
          <p:cNvGrpSpPr/>
          <p:nvPr/>
        </p:nvGrpSpPr>
        <p:grpSpPr>
          <a:xfrm>
            <a:off x="5422360" y="1577579"/>
            <a:ext cx="1529798" cy="2315737"/>
            <a:chOff x="7708067" y="4207717"/>
            <a:chExt cx="2104503" cy="1341222"/>
          </a:xfrm>
        </p:grpSpPr>
        <p:sp>
          <p:nvSpPr>
            <p:cNvPr id="69" name="Shape 194">
              <a:extLst>
                <a:ext uri="{FF2B5EF4-FFF2-40B4-BE49-F238E27FC236}">
                  <a16:creationId xmlns:a16="http://schemas.microsoft.com/office/drawing/2014/main" id="{43D12C31-639C-AF44-8039-7B570D7F47CA}"/>
                </a:ext>
              </a:extLst>
            </p:cNvPr>
            <p:cNvSpPr txBox="1"/>
            <p:nvPr/>
          </p:nvSpPr>
          <p:spPr>
            <a:xfrm>
              <a:off x="7709631" y="5226025"/>
              <a:ext cx="2102928" cy="322914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12700">
              <a:solidFill>
                <a:schemeClr val="tx1"/>
              </a:solidFill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endParaRPr lang="en-US" sz="6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sz="63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Wages</a:t>
              </a:r>
              <a:endParaRPr sz="633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9672A9B-6A73-314F-B702-DF7B0D5792A2}"/>
                </a:ext>
              </a:extLst>
            </p:cNvPr>
            <p:cNvGrpSpPr/>
            <p:nvPr/>
          </p:nvGrpSpPr>
          <p:grpSpPr>
            <a:xfrm>
              <a:off x="7708067" y="4207717"/>
              <a:ext cx="2104503" cy="1018731"/>
              <a:chOff x="7708067" y="4207717"/>
              <a:chExt cx="2104503" cy="1018731"/>
            </a:xfrm>
          </p:grpSpPr>
          <p:sp>
            <p:nvSpPr>
              <p:cNvPr id="71" name="Shape 194">
                <a:extLst>
                  <a:ext uri="{FF2B5EF4-FFF2-40B4-BE49-F238E27FC236}">
                    <a16:creationId xmlns:a16="http://schemas.microsoft.com/office/drawing/2014/main" id="{568877C8-91B3-3A4B-B131-A31B36712779}"/>
                  </a:ext>
                </a:extLst>
              </p:cNvPr>
              <p:cNvSpPr txBox="1"/>
              <p:nvPr/>
            </p:nvSpPr>
            <p:spPr>
              <a:xfrm>
                <a:off x="7714099" y="4207717"/>
                <a:ext cx="2091368" cy="477745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r>
                  <a:rPr lang="en-US" sz="63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Entrepreneur’s profit</a:t>
                </a:r>
                <a:endParaRPr sz="6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2" name="Shape 194">
                <a:extLst>
                  <a:ext uri="{FF2B5EF4-FFF2-40B4-BE49-F238E27FC236}">
                    <a16:creationId xmlns:a16="http://schemas.microsoft.com/office/drawing/2014/main" id="{83C5EA79-D9EA-7946-9829-4BBDA25F9D08}"/>
                  </a:ext>
                </a:extLst>
              </p:cNvPr>
              <p:cNvSpPr txBox="1"/>
              <p:nvPr/>
            </p:nvSpPr>
            <p:spPr>
              <a:xfrm>
                <a:off x="7708068" y="4898260"/>
                <a:ext cx="2104499" cy="3281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r>
                  <a:rPr lang="en-US" sz="63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Rent</a:t>
                </a:r>
                <a:endParaRPr sz="6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3" name="Shape 194">
                <a:extLst>
                  <a:ext uri="{FF2B5EF4-FFF2-40B4-BE49-F238E27FC236}">
                    <a16:creationId xmlns:a16="http://schemas.microsoft.com/office/drawing/2014/main" id="{C90FD0F6-D09E-654B-8A4D-04C82A616661}"/>
                  </a:ext>
                </a:extLst>
              </p:cNvPr>
              <p:cNvSpPr txBox="1"/>
              <p:nvPr/>
            </p:nvSpPr>
            <p:spPr>
              <a:xfrm>
                <a:off x="7708067" y="4670751"/>
                <a:ext cx="2104503" cy="22750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defTabSz="525779">
                  <a:defRPr>
                    <a:solidFill>
                      <a:srgbClr val="000000"/>
                    </a:solidFill>
                  </a:defRPr>
                </a:lvl1pPr>
              </a:lstStyle>
              <a:p>
                <a:r>
                  <a:rPr lang="en-US" sz="633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Interest</a:t>
                </a:r>
                <a:endParaRPr sz="633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06" name="Shape 251"/>
          <p:cNvSpPr/>
          <p:nvPr/>
        </p:nvSpPr>
        <p:spPr>
          <a:xfrm>
            <a:off x="5410147" y="1553050"/>
            <a:ext cx="1541391" cy="953552"/>
          </a:xfrm>
          <a:prstGeom prst="rect">
            <a:avLst/>
          </a:prstGeom>
          <a:solidFill>
            <a:srgbClr val="D71A16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 anchor="ctr"/>
          <a:lstStyle/>
          <a:p>
            <a:pPr defTabSz="410751">
              <a:defRPr sz="24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r>
              <a:rPr lang="en-US" sz="1687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Sub-NP</a:t>
            </a:r>
          </a:p>
        </p:txBody>
      </p:sp>
      <p:grpSp>
        <p:nvGrpSpPr>
          <p:cNvPr id="349" name="Group"/>
          <p:cNvGrpSpPr/>
          <p:nvPr/>
        </p:nvGrpSpPr>
        <p:grpSpPr>
          <a:xfrm>
            <a:off x="6646095" y="590480"/>
            <a:ext cx="2151317" cy="1581760"/>
            <a:chOff x="0" y="0"/>
            <a:chExt cx="3059649" cy="2249612"/>
          </a:xfrm>
        </p:grpSpPr>
        <p:sp>
          <p:nvSpPr>
            <p:cNvPr id="347" name="Shape 274"/>
            <p:cNvSpPr/>
            <p:nvPr/>
          </p:nvSpPr>
          <p:spPr>
            <a:xfrm>
              <a:off x="0" y="549296"/>
              <a:ext cx="2184069" cy="1700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54" extrusionOk="0">
                  <a:moveTo>
                    <a:pt x="0" y="8648"/>
                  </a:moveTo>
                  <a:cubicBezTo>
                    <a:pt x="1189" y="17763"/>
                    <a:pt x="3584" y="21600"/>
                    <a:pt x="7184" y="20159"/>
                  </a:cubicBezTo>
                  <a:cubicBezTo>
                    <a:pt x="10784" y="18717"/>
                    <a:pt x="15589" y="11998"/>
                    <a:pt x="21600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" name="Shape 270"/>
            <p:cNvSpPr txBox="1"/>
            <p:nvPr/>
          </p:nvSpPr>
          <p:spPr>
            <a:xfrm>
              <a:off x="1721650" y="0"/>
              <a:ext cx="1338000" cy="6565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2109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</p:grpSp>
      <p:grpSp>
        <p:nvGrpSpPr>
          <p:cNvPr id="334" name="Group"/>
          <p:cNvGrpSpPr/>
          <p:nvPr/>
        </p:nvGrpSpPr>
        <p:grpSpPr>
          <a:xfrm>
            <a:off x="5923929" y="643869"/>
            <a:ext cx="1461687" cy="2813304"/>
            <a:chOff x="0" y="0"/>
            <a:chExt cx="2078842" cy="4001143"/>
          </a:xfrm>
        </p:grpSpPr>
        <p:sp>
          <p:nvSpPr>
            <p:cNvPr id="332" name="Shape 252"/>
            <p:cNvSpPr/>
            <p:nvPr/>
          </p:nvSpPr>
          <p:spPr>
            <a:xfrm>
              <a:off x="0" y="546271"/>
              <a:ext cx="1714486" cy="34548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7278" extrusionOk="0">
                  <a:moveTo>
                    <a:pt x="21600" y="0"/>
                  </a:moveTo>
                  <a:cubicBezTo>
                    <a:pt x="18356" y="17283"/>
                    <a:pt x="11156" y="21600"/>
                    <a:pt x="0" y="12951"/>
                  </a:cubicBezTo>
                </a:path>
              </a:pathLst>
            </a:custGeom>
            <a:noFill/>
            <a:ln w="50800" cap="flat">
              <a:solidFill>
                <a:schemeClr val="accent2">
                  <a:lumOff val="-5333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Shape 265"/>
            <p:cNvSpPr txBox="1"/>
            <p:nvPr/>
          </p:nvSpPr>
          <p:spPr>
            <a:xfrm>
              <a:off x="1264093" y="0"/>
              <a:ext cx="814750" cy="66527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3000"/>
              </a:lvl1pPr>
            </a:lstStyle>
            <a:p>
              <a:r>
                <a:rPr sz="2109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sp>
        <p:nvSpPr>
          <p:cNvPr id="343" name="Shape 271"/>
          <p:cNvSpPr/>
          <p:nvPr/>
        </p:nvSpPr>
        <p:spPr>
          <a:xfrm>
            <a:off x="6648984" y="2044663"/>
            <a:ext cx="314988" cy="325152"/>
          </a:xfrm>
          <a:prstGeom prst="rect">
            <a:avLst/>
          </a:prstGeom>
          <a:solidFill>
            <a:srgbClr val="F6A3A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400">
                <a:solidFill>
                  <a:srgbClr val="000000"/>
                </a:solidFill>
              </a:defRPr>
            </a:lvl1pPr>
          </a:lstStyle>
          <a:p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" grpId="0" animBg="1" advAuto="0"/>
      <p:bldP spid="337" grpId="0" animBg="1" advAuto="0"/>
      <p:bldP spid="338" grpId="0" animBg="1" advAuto="0"/>
      <p:bldP spid="339" grpId="0" animBg="1" advAuto="0"/>
      <p:bldP spid="342" grpId="0" animBg="1" advAuto="0"/>
      <p:bldP spid="306" grpId="0" animBg="1" advAuto="0"/>
      <p:bldP spid="349" grpId="0" animBg="1" advAuto="0"/>
      <p:bldP spid="334" grpId="0" animBg="1" advAuto="0"/>
      <p:bldP spid="343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129"/>
          <p:cNvSpPr txBox="1">
            <a:spLocks noGrp="1"/>
          </p:cNvSpPr>
          <p:nvPr>
            <p:ph type="title"/>
          </p:nvPr>
        </p:nvSpPr>
        <p:spPr>
          <a:xfrm>
            <a:off x="4156172" y="154394"/>
            <a:ext cx="4077956" cy="55106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Loss-making firms to SHUT DOWN</a:t>
            </a:r>
            <a:endParaRPr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29">
            <a:extLst>
              <a:ext uri="{FF2B5EF4-FFF2-40B4-BE49-F238E27FC236}">
                <a16:creationId xmlns:a16="http://schemas.microsoft.com/office/drawing/2014/main" id="{AB6B0898-23CE-2846-AEFE-57BFAE95A1B0}"/>
              </a:ext>
            </a:extLst>
          </p:cNvPr>
          <p:cNvSpPr txBox="1">
            <a:spLocks/>
          </p:cNvSpPr>
          <p:nvPr/>
        </p:nvSpPr>
        <p:spPr>
          <a:xfrm>
            <a:off x="372988" y="3285306"/>
            <a:ext cx="2078045" cy="587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AC = AVC + AFC</a:t>
            </a:r>
          </a:p>
        </p:txBody>
      </p:sp>
      <p:sp>
        <p:nvSpPr>
          <p:cNvPr id="12" name="Shape 129">
            <a:extLst>
              <a:ext uri="{FF2B5EF4-FFF2-40B4-BE49-F238E27FC236}">
                <a16:creationId xmlns:a16="http://schemas.microsoft.com/office/drawing/2014/main" id="{44BB0277-433F-BB44-A361-C30D192A3DCA}"/>
              </a:ext>
            </a:extLst>
          </p:cNvPr>
          <p:cNvSpPr txBox="1">
            <a:spLocks/>
          </p:cNvSpPr>
          <p:nvPr/>
        </p:nvSpPr>
        <p:spPr>
          <a:xfrm>
            <a:off x="199446" y="3729308"/>
            <a:ext cx="2319791" cy="5269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CQ = QV + VC</a:t>
            </a:r>
          </a:p>
        </p:txBody>
      </p:sp>
      <p:sp>
        <p:nvSpPr>
          <p:cNvPr id="15" name="Shape 129">
            <a:extLst>
              <a:ext uri="{FF2B5EF4-FFF2-40B4-BE49-F238E27FC236}">
                <a16:creationId xmlns:a16="http://schemas.microsoft.com/office/drawing/2014/main" id="{BCCA2B04-AE3A-214D-9F03-91E1E8A59059}"/>
              </a:ext>
            </a:extLst>
          </p:cNvPr>
          <p:cNvSpPr txBox="1">
            <a:spLocks/>
          </p:cNvSpPr>
          <p:nvPr/>
        </p:nvSpPr>
        <p:spPr>
          <a:xfrm>
            <a:off x="282617" y="5870151"/>
            <a:ext cx="4584093" cy="63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hangingPunct="1">
              <a:defRPr sz="4400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969" b="1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Hence STOP Production</a:t>
            </a:r>
            <a:endParaRPr lang="en-US" sz="1969" b="1" dirty="0">
              <a:highlight>
                <a:srgbClr val="FFFF00"/>
              </a:highlight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2A47A5-2EB2-CA4E-AE04-049C95CA3083}"/>
              </a:ext>
            </a:extLst>
          </p:cNvPr>
          <p:cNvGrpSpPr/>
          <p:nvPr/>
        </p:nvGrpSpPr>
        <p:grpSpPr>
          <a:xfrm>
            <a:off x="6725627" y="2430245"/>
            <a:ext cx="2102768" cy="2631952"/>
            <a:chOff x="10080810" y="4407161"/>
            <a:chExt cx="2990603" cy="2926743"/>
          </a:xfrm>
        </p:grpSpPr>
        <p:sp>
          <p:nvSpPr>
            <p:cNvPr id="80" name="Shape 129">
              <a:extLst>
                <a:ext uri="{FF2B5EF4-FFF2-40B4-BE49-F238E27FC236}">
                  <a16:creationId xmlns:a16="http://schemas.microsoft.com/office/drawing/2014/main" id="{807ACF33-606F-1A49-A979-875CAF0C32BF}"/>
                </a:ext>
              </a:extLst>
            </p:cNvPr>
            <p:cNvSpPr txBox="1">
              <a:spLocks/>
            </p:cNvSpPr>
            <p:nvPr/>
          </p:nvSpPr>
          <p:spPr>
            <a:xfrm>
              <a:off x="10122355" y="5178493"/>
              <a:ext cx="2949058" cy="9255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9pPr>
            </a:lstStyle>
            <a:p>
              <a:pPr algn="l" hangingPunct="1">
                <a:defRPr sz="44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lang="en-US" sz="1969" b="1" dirty="0" err="1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UnCovered</a:t>
              </a:r>
              <a:r>
                <a:rPr lang="en-US" sz="1969" b="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r>
                <a:rPr lang="en-US" sz="1969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OPEX</a:t>
              </a:r>
            </a:p>
          </p:txBody>
        </p:sp>
        <p:sp>
          <p:nvSpPr>
            <p:cNvPr id="81" name="Shape 129">
              <a:extLst>
                <a:ext uri="{FF2B5EF4-FFF2-40B4-BE49-F238E27FC236}">
                  <a16:creationId xmlns:a16="http://schemas.microsoft.com/office/drawing/2014/main" id="{6F122C26-8B36-6B40-83F9-06143599F381}"/>
                </a:ext>
              </a:extLst>
            </p:cNvPr>
            <p:cNvSpPr txBox="1">
              <a:spLocks/>
            </p:cNvSpPr>
            <p:nvPr/>
          </p:nvSpPr>
          <p:spPr>
            <a:xfrm>
              <a:off x="10243493" y="6439764"/>
              <a:ext cx="2827900" cy="8941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9pPr>
            </a:lstStyle>
            <a:p>
              <a:pPr algn="just" hangingPunct="1">
                <a:defRPr sz="44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lang="en-US" sz="1969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Covered</a:t>
              </a:r>
              <a:r>
                <a:rPr lang="en-US" sz="1969" b="1" dirty="0"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r>
                <a:rPr lang="en-US" sz="1969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OPEX</a:t>
              </a:r>
            </a:p>
          </p:txBody>
        </p:sp>
        <p:sp>
          <p:nvSpPr>
            <p:cNvPr id="82" name="Shape 129">
              <a:extLst>
                <a:ext uri="{FF2B5EF4-FFF2-40B4-BE49-F238E27FC236}">
                  <a16:creationId xmlns:a16="http://schemas.microsoft.com/office/drawing/2014/main" id="{7510DB57-48C8-D447-86FB-76FA6FF0BCF8}"/>
                </a:ext>
              </a:extLst>
            </p:cNvPr>
            <p:cNvSpPr txBox="1">
              <a:spLocks/>
            </p:cNvSpPr>
            <p:nvPr/>
          </p:nvSpPr>
          <p:spPr>
            <a:xfrm>
              <a:off x="10080810" y="4407161"/>
              <a:ext cx="2990603" cy="9255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>
              <a:normAutofit/>
            </a:bodyPr>
            <a:lstStyle>
              <a:lvl1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1pPr>
              <a:lvl2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2pPr>
              <a:lvl3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3pPr>
              <a:lvl4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4pPr>
              <a:lvl5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5pPr>
              <a:lvl6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6pPr>
              <a:lvl7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7pPr>
              <a:lvl8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8pPr>
              <a:lvl9pPr marL="0" marR="0" indent="0" algn="ctr" defTabSz="5842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8000" b="0" i="0" u="none" strike="noStrike" cap="none" spc="0" baseline="0">
                  <a:solidFill>
                    <a:srgbClr val="000000"/>
                  </a:solidFill>
                  <a:uFillTx/>
                  <a:latin typeface="Helvetica Light"/>
                  <a:ea typeface="Helvetica Light"/>
                  <a:cs typeface="Helvetica Light"/>
                  <a:sym typeface="Helvetica Light"/>
                </a:defRPr>
              </a:lvl9pPr>
            </a:lstStyle>
            <a:p>
              <a:pPr algn="l" hangingPunct="1">
                <a:defRPr sz="4400" b="1"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rPr lang="en-US" sz="1969" b="1" dirty="0">
                  <a:solidFill>
                    <a:schemeClr val="accent5">
                      <a:lumMod val="75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Uncovered</a:t>
              </a:r>
              <a:r>
                <a:rPr lang="en-US" sz="1969" b="1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 </a:t>
              </a:r>
              <a:r>
                <a:rPr lang="en-US" sz="1969" b="1" dirty="0">
                  <a:solidFill>
                    <a:srgbClr val="FF0000"/>
                  </a:solidFill>
                  <a:latin typeface="Times New Roman" panose="02020603050405020304" pitchFamily="18" charset="0"/>
                  <a:ea typeface="Times New Roman"/>
                  <a:cs typeface="Times New Roman" panose="02020603050405020304" pitchFamily="18" charset="0"/>
                  <a:sym typeface="Times New Roman"/>
                </a:rPr>
                <a:t>CAPEX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DFA3EC7-556D-BB4E-8395-48D1E4E2E297}"/>
              </a:ext>
            </a:extLst>
          </p:cNvPr>
          <p:cNvGrpSpPr/>
          <p:nvPr/>
        </p:nvGrpSpPr>
        <p:grpSpPr>
          <a:xfrm>
            <a:off x="487979" y="519946"/>
            <a:ext cx="2856337" cy="2383962"/>
            <a:chOff x="6683576" y="597221"/>
            <a:chExt cx="6035040" cy="5479223"/>
          </a:xfrm>
        </p:grpSpPr>
        <p:sp>
          <p:nvSpPr>
            <p:cNvPr id="84" name="Shape 251">
              <a:extLst>
                <a:ext uri="{FF2B5EF4-FFF2-40B4-BE49-F238E27FC236}">
                  <a16:creationId xmlns:a16="http://schemas.microsoft.com/office/drawing/2014/main" id="{288FF007-0C29-CF43-9365-27F62EE817C6}"/>
                </a:ext>
              </a:extLst>
            </p:cNvPr>
            <p:cNvSpPr/>
            <p:nvPr/>
          </p:nvSpPr>
          <p:spPr>
            <a:xfrm>
              <a:off x="7708069" y="2212814"/>
              <a:ext cx="2192201" cy="1356163"/>
            </a:xfrm>
            <a:prstGeom prst="rect">
              <a:avLst/>
            </a:prstGeom>
            <a:solidFill>
              <a:srgbClr val="D71A16"/>
            </a:solidFill>
            <a:ln w="12700"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 anchor="ctr"/>
            <a:lstStyle/>
            <a:p>
              <a:pPr defTabSz="410751">
                <a:defRPr sz="2400" b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lang="en-US" sz="11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Sub-NP</a:t>
              </a:r>
              <a:endParaRPr sz="11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Shape 241">
              <a:extLst>
                <a:ext uri="{FF2B5EF4-FFF2-40B4-BE49-F238E27FC236}">
                  <a16:creationId xmlns:a16="http://schemas.microsoft.com/office/drawing/2014/main" id="{163A2954-EBB7-4740-930D-07DB682E10E4}"/>
                </a:ext>
              </a:extLst>
            </p:cNvPr>
            <p:cNvSpPr/>
            <p:nvPr/>
          </p:nvSpPr>
          <p:spPr>
            <a:xfrm flipH="1" flipV="1">
              <a:off x="7680010" y="1389090"/>
              <a:ext cx="15360" cy="4186973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headEnd type="none" w="med" len="med"/>
              <a:tailEnd type="triangle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1125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Shape 242">
              <a:extLst>
                <a:ext uri="{FF2B5EF4-FFF2-40B4-BE49-F238E27FC236}">
                  <a16:creationId xmlns:a16="http://schemas.microsoft.com/office/drawing/2014/main" id="{C9A19760-BADB-E14A-BC41-A665CEF43B5F}"/>
                </a:ext>
              </a:extLst>
            </p:cNvPr>
            <p:cNvSpPr/>
            <p:nvPr/>
          </p:nvSpPr>
          <p:spPr>
            <a:xfrm>
              <a:off x="7708069" y="5563359"/>
              <a:ext cx="4605571" cy="1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headEnd type="none" w="med" len="med"/>
              <a:tailEnd type="triangle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1125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Shape 247">
              <a:extLst>
                <a:ext uri="{FF2B5EF4-FFF2-40B4-BE49-F238E27FC236}">
                  <a16:creationId xmlns:a16="http://schemas.microsoft.com/office/drawing/2014/main" id="{FEE4CD4C-D37C-3145-A4A0-3CD35D8A0D56}"/>
                </a:ext>
              </a:extLst>
            </p:cNvPr>
            <p:cNvSpPr/>
            <p:nvPr/>
          </p:nvSpPr>
          <p:spPr>
            <a:xfrm>
              <a:off x="7708069" y="3601131"/>
              <a:ext cx="3549752" cy="1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1125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Shape 256">
              <a:extLst>
                <a:ext uri="{FF2B5EF4-FFF2-40B4-BE49-F238E27FC236}">
                  <a16:creationId xmlns:a16="http://schemas.microsoft.com/office/drawing/2014/main" id="{54E75301-72BE-8E44-82E9-E5C52450990B}"/>
                </a:ext>
              </a:extLst>
            </p:cNvPr>
            <p:cNvSpPr txBox="1"/>
            <p:nvPr/>
          </p:nvSpPr>
          <p:spPr>
            <a:xfrm>
              <a:off x="11508451" y="5616438"/>
              <a:ext cx="932010" cy="3302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fontScale="92500" lnSpcReduction="10000"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89" name="Shape 257">
              <a:extLst>
                <a:ext uri="{FF2B5EF4-FFF2-40B4-BE49-F238E27FC236}">
                  <a16:creationId xmlns:a16="http://schemas.microsoft.com/office/drawing/2014/main" id="{4F9A319B-0A93-D34E-92C6-20A02417D8E8}"/>
                </a:ext>
              </a:extLst>
            </p:cNvPr>
            <p:cNvSpPr txBox="1"/>
            <p:nvPr/>
          </p:nvSpPr>
          <p:spPr>
            <a:xfrm>
              <a:off x="6683576" y="898732"/>
              <a:ext cx="932010" cy="6096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fontScale="92500" lnSpcReduction="20000"/>
            </a:bodyPr>
            <a:lstStyle>
              <a:lvl1pPr defTabSz="467359">
                <a:defRPr sz="2000">
                  <a:solidFill>
                    <a:srgbClr val="000000"/>
                  </a:solidFill>
                </a:defRPr>
              </a:lvl1pPr>
            </a:lstStyle>
            <a:p>
              <a:r>
                <a:rPr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Rev, Cost</a:t>
              </a:r>
            </a:p>
          </p:txBody>
        </p:sp>
        <p:sp>
          <p:nvSpPr>
            <p:cNvPr id="90" name="Shape 261">
              <a:extLst>
                <a:ext uri="{FF2B5EF4-FFF2-40B4-BE49-F238E27FC236}">
                  <a16:creationId xmlns:a16="http://schemas.microsoft.com/office/drawing/2014/main" id="{196E4BED-A35C-D843-AD71-998C3BE841F3}"/>
                </a:ext>
              </a:extLst>
            </p:cNvPr>
            <p:cNvSpPr txBox="1"/>
            <p:nvPr/>
          </p:nvSpPr>
          <p:spPr>
            <a:xfrm>
              <a:off x="7215123" y="2952123"/>
              <a:ext cx="447982" cy="5819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5719" tIns="35719" rIns="35719" bIns="35719" anchor="ctr"/>
            <a:lstStyle>
              <a:lvl1pPr defTabSz="584200">
                <a:defRPr sz="3600" b="0">
                  <a:solidFill>
                    <a:srgbClr val="000000"/>
                  </a:solidFill>
                </a:defRPr>
              </a:lvl1pPr>
            </a:lstStyle>
            <a:p>
              <a:r>
                <a:rPr sz="1125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91" name="Shape 263">
              <a:extLst>
                <a:ext uri="{FF2B5EF4-FFF2-40B4-BE49-F238E27FC236}">
                  <a16:creationId xmlns:a16="http://schemas.microsoft.com/office/drawing/2014/main" id="{DAE62078-79FF-894E-91C9-2F4355A2F1F6}"/>
                </a:ext>
              </a:extLst>
            </p:cNvPr>
            <p:cNvSpPr txBox="1"/>
            <p:nvPr/>
          </p:nvSpPr>
          <p:spPr>
            <a:xfrm>
              <a:off x="10767474" y="3504341"/>
              <a:ext cx="1951142" cy="66527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5719" tIns="35719" rIns="35719" bIns="35719" anchor="ctr"/>
            <a:lstStyle>
              <a:lvl1pPr defTabSz="584200">
                <a:defRPr sz="3000" b="0">
                  <a:solidFill>
                    <a:srgbClr val="000000"/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AR / MR  </a:t>
              </a:r>
            </a:p>
          </p:txBody>
        </p:sp>
        <p:grpSp>
          <p:nvGrpSpPr>
            <p:cNvPr id="92" name="Group">
              <a:extLst>
                <a:ext uri="{FF2B5EF4-FFF2-40B4-BE49-F238E27FC236}">
                  <a16:creationId xmlns:a16="http://schemas.microsoft.com/office/drawing/2014/main" id="{AD29D609-B206-CF41-B3C5-C4E0BA28E050}"/>
                </a:ext>
              </a:extLst>
            </p:cNvPr>
            <p:cNvGrpSpPr/>
            <p:nvPr/>
          </p:nvGrpSpPr>
          <p:grpSpPr>
            <a:xfrm>
              <a:off x="9145942" y="597221"/>
              <a:ext cx="2188872" cy="1604434"/>
              <a:chOff x="0" y="0"/>
              <a:chExt cx="2188871" cy="1604433"/>
            </a:xfrm>
          </p:grpSpPr>
          <p:sp>
            <p:nvSpPr>
              <p:cNvPr id="108" name="Shape 253">
                <a:extLst>
                  <a:ext uri="{FF2B5EF4-FFF2-40B4-BE49-F238E27FC236}">
                    <a16:creationId xmlns:a16="http://schemas.microsoft.com/office/drawing/2014/main" id="{BF3DD7E6-EACF-C94C-BF5A-604D8D69454C}"/>
                  </a:ext>
                </a:extLst>
              </p:cNvPr>
              <p:cNvSpPr/>
              <p:nvPr/>
            </p:nvSpPr>
            <p:spPr>
              <a:xfrm>
                <a:off x="0" y="518127"/>
                <a:ext cx="1577389" cy="10863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0" extrusionOk="0">
                    <a:moveTo>
                      <a:pt x="21600" y="5"/>
                    </a:moveTo>
                    <a:cubicBezTo>
                      <a:pt x="16277" y="21600"/>
                      <a:pt x="9077" y="21598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50800" cap="flat">
                <a:solidFill>
                  <a:schemeClr val="accent3">
                    <a:lumOff val="-9999"/>
                  </a:schemeClr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Shape 264">
                <a:extLst>
                  <a:ext uri="{FF2B5EF4-FFF2-40B4-BE49-F238E27FC236}">
                    <a16:creationId xmlns:a16="http://schemas.microsoft.com/office/drawing/2014/main" id="{02DEB67B-6882-8D49-BD09-84E3E1FFCDD3}"/>
                  </a:ext>
                </a:extLst>
              </p:cNvPr>
              <p:cNvSpPr txBox="1"/>
              <p:nvPr/>
            </p:nvSpPr>
            <p:spPr>
              <a:xfrm>
                <a:off x="1347381" y="0"/>
                <a:ext cx="841491" cy="591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</a:t>
                </a:r>
              </a:p>
            </p:txBody>
          </p:sp>
        </p:grpSp>
        <p:grpSp>
          <p:nvGrpSpPr>
            <p:cNvPr id="93" name="Group">
              <a:extLst>
                <a:ext uri="{FF2B5EF4-FFF2-40B4-BE49-F238E27FC236}">
                  <a16:creationId xmlns:a16="http://schemas.microsoft.com/office/drawing/2014/main" id="{B5283A54-84F3-DB48-9723-FF0557C9D1C7}"/>
                </a:ext>
              </a:extLst>
            </p:cNvPr>
            <p:cNvGrpSpPr/>
            <p:nvPr/>
          </p:nvGrpSpPr>
          <p:grpSpPr>
            <a:xfrm>
              <a:off x="8425144" y="915724"/>
              <a:ext cx="2078844" cy="4001144"/>
              <a:chOff x="0" y="0"/>
              <a:chExt cx="2078842" cy="4001143"/>
            </a:xfrm>
          </p:grpSpPr>
          <p:sp>
            <p:nvSpPr>
              <p:cNvPr id="106" name="Shape 252">
                <a:extLst>
                  <a:ext uri="{FF2B5EF4-FFF2-40B4-BE49-F238E27FC236}">
                    <a16:creationId xmlns:a16="http://schemas.microsoft.com/office/drawing/2014/main" id="{CF8C70F3-1E37-BF40-ADBD-F14B3850E7B2}"/>
                  </a:ext>
                </a:extLst>
              </p:cNvPr>
              <p:cNvSpPr/>
              <p:nvPr/>
            </p:nvSpPr>
            <p:spPr>
              <a:xfrm>
                <a:off x="0" y="546271"/>
                <a:ext cx="1714486" cy="34548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278" extrusionOk="0">
                    <a:moveTo>
                      <a:pt x="21600" y="0"/>
                    </a:moveTo>
                    <a:cubicBezTo>
                      <a:pt x="18356" y="17283"/>
                      <a:pt x="11156" y="21600"/>
                      <a:pt x="0" y="12951"/>
                    </a:cubicBezTo>
                  </a:path>
                </a:pathLst>
              </a:custGeom>
              <a:noFill/>
              <a:ln w="50800" cap="flat">
                <a:solidFill>
                  <a:schemeClr val="accent2">
                    <a:lumOff val="-5333"/>
                  </a:schemeClr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Shape 265">
                <a:extLst>
                  <a:ext uri="{FF2B5EF4-FFF2-40B4-BE49-F238E27FC236}">
                    <a16:creationId xmlns:a16="http://schemas.microsoft.com/office/drawing/2014/main" id="{775071FC-3A41-6E4E-B0D1-B6E43BC05988}"/>
                  </a:ext>
                </a:extLst>
              </p:cNvPr>
              <p:cNvSpPr txBox="1"/>
              <p:nvPr/>
            </p:nvSpPr>
            <p:spPr>
              <a:xfrm>
                <a:off x="1264093" y="0"/>
                <a:ext cx="814750" cy="665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</p:grpSp>
        <p:grpSp>
          <p:nvGrpSpPr>
            <p:cNvPr id="94" name="Group">
              <a:extLst>
                <a:ext uri="{FF2B5EF4-FFF2-40B4-BE49-F238E27FC236}">
                  <a16:creationId xmlns:a16="http://schemas.microsoft.com/office/drawing/2014/main" id="{FBBA417E-192F-404B-80D1-5F9F688A42F7}"/>
                </a:ext>
              </a:extLst>
            </p:cNvPr>
            <p:cNvGrpSpPr/>
            <p:nvPr/>
          </p:nvGrpSpPr>
          <p:grpSpPr>
            <a:xfrm>
              <a:off x="9494432" y="2212814"/>
              <a:ext cx="814751" cy="3863630"/>
              <a:chOff x="0" y="0"/>
              <a:chExt cx="814749" cy="3863628"/>
            </a:xfrm>
          </p:grpSpPr>
          <p:sp>
            <p:nvSpPr>
              <p:cNvPr id="104" name="Shape 249">
                <a:extLst>
                  <a:ext uri="{FF2B5EF4-FFF2-40B4-BE49-F238E27FC236}">
                    <a16:creationId xmlns:a16="http://schemas.microsoft.com/office/drawing/2014/main" id="{41F158E1-51BC-E345-9D1E-D9E68EF31296}"/>
                  </a:ext>
                </a:extLst>
              </p:cNvPr>
              <p:cNvSpPr/>
              <p:nvPr/>
            </p:nvSpPr>
            <p:spPr>
              <a:xfrm>
                <a:off x="407373" y="0"/>
                <a:ext cx="3" cy="3375946"/>
              </a:xfrm>
              <a:prstGeom prst="line">
                <a:avLst/>
              </a:prstGeom>
              <a:noFill/>
              <a:ln w="38100" cap="flat">
                <a:solidFill>
                  <a:schemeClr val="accent1"/>
                </a:solidFill>
                <a:custDash>
                  <a:ds d="200000" sp="200000"/>
                </a:custDash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5" name="Shape 266">
                <a:extLst>
                  <a:ext uri="{FF2B5EF4-FFF2-40B4-BE49-F238E27FC236}">
                    <a16:creationId xmlns:a16="http://schemas.microsoft.com/office/drawing/2014/main" id="{E3B1853C-D8FE-2742-B766-2D895B7BF3AA}"/>
                  </a:ext>
                </a:extLst>
              </p:cNvPr>
              <p:cNvSpPr txBox="1"/>
              <p:nvPr/>
            </p:nvSpPr>
            <p:spPr>
              <a:xfrm>
                <a:off x="0" y="3192065"/>
                <a:ext cx="814750" cy="6715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95" name="Shape 267">
              <a:extLst>
                <a:ext uri="{FF2B5EF4-FFF2-40B4-BE49-F238E27FC236}">
                  <a16:creationId xmlns:a16="http://schemas.microsoft.com/office/drawing/2014/main" id="{6FAE42C5-B166-DA4F-8A32-658C86660ED0}"/>
                </a:ext>
              </a:extLst>
            </p:cNvPr>
            <p:cNvSpPr txBox="1"/>
            <p:nvPr/>
          </p:nvSpPr>
          <p:spPr>
            <a:xfrm>
              <a:off x="9738730" y="1735024"/>
              <a:ext cx="326156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84200">
                <a:defRPr sz="2500">
                  <a:solidFill>
                    <a:srgbClr val="000000"/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96" name="Shape 268">
              <a:extLst>
                <a:ext uri="{FF2B5EF4-FFF2-40B4-BE49-F238E27FC236}">
                  <a16:creationId xmlns:a16="http://schemas.microsoft.com/office/drawing/2014/main" id="{F17E73F5-3E71-8349-B34E-B78DE88675AE}"/>
                </a:ext>
              </a:extLst>
            </p:cNvPr>
            <p:cNvSpPr txBox="1"/>
            <p:nvPr/>
          </p:nvSpPr>
          <p:spPr>
            <a:xfrm>
              <a:off x="9874867" y="3565209"/>
              <a:ext cx="447982" cy="5435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5719" tIns="35719" rIns="35719" bIns="35719" anchor="ctr"/>
            <a:lstStyle>
              <a:lvl1pPr defTabSz="584200">
                <a:defRPr sz="3000" b="0">
                  <a:solidFill>
                    <a:srgbClr val="000000"/>
                  </a:solidFill>
                </a:defRPr>
              </a:lvl1pPr>
            </a:lstStyle>
            <a:p>
              <a:r>
                <a:rPr sz="1125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97" name="Group">
              <a:extLst>
                <a:ext uri="{FF2B5EF4-FFF2-40B4-BE49-F238E27FC236}">
                  <a16:creationId xmlns:a16="http://schemas.microsoft.com/office/drawing/2014/main" id="{AFE76D04-8762-EE40-B3B4-9DFEBBA66AA1}"/>
                </a:ext>
              </a:extLst>
            </p:cNvPr>
            <p:cNvGrpSpPr/>
            <p:nvPr/>
          </p:nvGrpSpPr>
          <p:grpSpPr>
            <a:xfrm>
              <a:off x="7189155" y="1922532"/>
              <a:ext cx="2749098" cy="533723"/>
              <a:chOff x="-29599" y="-53007"/>
              <a:chExt cx="2749096" cy="533722"/>
            </a:xfrm>
          </p:grpSpPr>
          <p:sp>
            <p:nvSpPr>
              <p:cNvPr id="102" name="Shape 250">
                <a:extLst>
                  <a:ext uri="{FF2B5EF4-FFF2-40B4-BE49-F238E27FC236}">
                    <a16:creationId xmlns:a16="http://schemas.microsoft.com/office/drawing/2014/main" id="{C971B000-A0B2-6349-B974-8F029D2C7FFF}"/>
                  </a:ext>
                </a:extLst>
              </p:cNvPr>
              <p:cNvSpPr/>
              <p:nvPr/>
            </p:nvSpPr>
            <p:spPr>
              <a:xfrm>
                <a:off x="473418" y="216057"/>
                <a:ext cx="2246079" cy="7"/>
              </a:xfrm>
              <a:prstGeom prst="line">
                <a:avLst/>
              </a:pr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3" name="Shape 269">
                <a:extLst>
                  <a:ext uri="{FF2B5EF4-FFF2-40B4-BE49-F238E27FC236}">
                    <a16:creationId xmlns:a16="http://schemas.microsoft.com/office/drawing/2014/main" id="{E34B0DD5-FBB9-0247-8D6E-054F78CBD00E}"/>
                  </a:ext>
                </a:extLst>
              </p:cNvPr>
              <p:cNvSpPr txBox="1"/>
              <p:nvPr/>
            </p:nvSpPr>
            <p:spPr>
              <a:xfrm>
                <a:off x="-29599" y="-53007"/>
                <a:ext cx="463915" cy="533722"/>
              </a:xfrm>
              <a:prstGeom prst="rect">
                <a:avLst/>
              </a:prstGeom>
              <a:noFill/>
              <a:ln w="12700" cap="flat">
                <a:noFill/>
                <a:miter lim="400000"/>
                <a:headEnd type="none" w="med" len="med"/>
                <a:tailEnd type="triangle" w="med" len="med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r>
                  <a:rPr sz="11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</p:txBody>
          </p:sp>
        </p:grpSp>
        <p:sp>
          <p:nvSpPr>
            <p:cNvPr id="98" name="Shape 271">
              <a:extLst>
                <a:ext uri="{FF2B5EF4-FFF2-40B4-BE49-F238E27FC236}">
                  <a16:creationId xmlns:a16="http://schemas.microsoft.com/office/drawing/2014/main" id="{FDCCECBC-1A74-3A49-BC5C-412F8706CC0D}"/>
                </a:ext>
              </a:extLst>
            </p:cNvPr>
            <p:cNvSpPr/>
            <p:nvPr/>
          </p:nvSpPr>
          <p:spPr>
            <a:xfrm>
              <a:off x="9456332" y="2907966"/>
              <a:ext cx="447983" cy="462438"/>
            </a:xfrm>
            <a:prstGeom prst="rect">
              <a:avLst/>
            </a:prstGeom>
            <a:solidFill>
              <a:srgbClr val="F6A3A0"/>
            </a:solidFill>
            <a:ln w="12700"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400">
                  <a:solidFill>
                    <a:srgbClr val="000000"/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grpSp>
          <p:nvGrpSpPr>
            <p:cNvPr id="99" name="Group">
              <a:extLst>
                <a:ext uri="{FF2B5EF4-FFF2-40B4-BE49-F238E27FC236}">
                  <a16:creationId xmlns:a16="http://schemas.microsoft.com/office/drawing/2014/main" id="{767D443E-3838-6349-A5A3-85FDE1D3FD0C}"/>
                </a:ext>
              </a:extLst>
            </p:cNvPr>
            <p:cNvGrpSpPr/>
            <p:nvPr/>
          </p:nvGrpSpPr>
          <p:grpSpPr>
            <a:xfrm>
              <a:off x="9452223" y="839794"/>
              <a:ext cx="3059651" cy="2249614"/>
              <a:chOff x="0" y="0"/>
              <a:chExt cx="3059649" cy="2249612"/>
            </a:xfrm>
          </p:grpSpPr>
          <p:sp>
            <p:nvSpPr>
              <p:cNvPr id="100" name="Shape 274">
                <a:extLst>
                  <a:ext uri="{FF2B5EF4-FFF2-40B4-BE49-F238E27FC236}">
                    <a16:creationId xmlns:a16="http://schemas.microsoft.com/office/drawing/2014/main" id="{2B88BAEB-683B-7049-8CA7-38AFE2FC036E}"/>
                  </a:ext>
                </a:extLst>
              </p:cNvPr>
              <p:cNvSpPr/>
              <p:nvPr/>
            </p:nvSpPr>
            <p:spPr>
              <a:xfrm>
                <a:off x="0" y="549296"/>
                <a:ext cx="2184069" cy="1700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54" extrusionOk="0">
                    <a:moveTo>
                      <a:pt x="0" y="8648"/>
                    </a:moveTo>
                    <a:cubicBezTo>
                      <a:pt x="1189" y="17763"/>
                      <a:pt x="3584" y="21600"/>
                      <a:pt x="7184" y="20159"/>
                    </a:cubicBezTo>
                    <a:cubicBezTo>
                      <a:pt x="10784" y="18717"/>
                      <a:pt x="15589" y="1199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Shape 270">
                <a:extLst>
                  <a:ext uri="{FF2B5EF4-FFF2-40B4-BE49-F238E27FC236}">
                    <a16:creationId xmlns:a16="http://schemas.microsoft.com/office/drawing/2014/main" id="{873353E8-8B5A-5445-81EF-2DB8CED870A7}"/>
                  </a:ext>
                </a:extLst>
              </p:cNvPr>
              <p:cNvSpPr txBox="1"/>
              <p:nvPr/>
            </p:nvSpPr>
            <p:spPr>
              <a:xfrm>
                <a:off x="1721650" y="0"/>
                <a:ext cx="1338000" cy="6565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F17FE5BC-D17F-374F-9C58-D901D20BF919}"/>
              </a:ext>
            </a:extLst>
          </p:cNvPr>
          <p:cNvGrpSpPr/>
          <p:nvPr/>
        </p:nvGrpSpPr>
        <p:grpSpPr>
          <a:xfrm>
            <a:off x="5172411" y="975798"/>
            <a:ext cx="2582655" cy="5093530"/>
            <a:chOff x="7241648" y="597221"/>
            <a:chExt cx="5270226" cy="5479223"/>
          </a:xfrm>
        </p:grpSpPr>
        <p:sp>
          <p:nvSpPr>
            <p:cNvPr id="112" name="Shape 251">
              <a:extLst>
                <a:ext uri="{FF2B5EF4-FFF2-40B4-BE49-F238E27FC236}">
                  <a16:creationId xmlns:a16="http://schemas.microsoft.com/office/drawing/2014/main" id="{F107F2F2-078D-484F-BC69-8DD2887070B1}"/>
                </a:ext>
              </a:extLst>
            </p:cNvPr>
            <p:cNvSpPr/>
            <p:nvPr/>
          </p:nvSpPr>
          <p:spPr>
            <a:xfrm>
              <a:off x="7708069" y="2212814"/>
              <a:ext cx="2192201" cy="1356163"/>
            </a:xfrm>
            <a:prstGeom prst="rect">
              <a:avLst/>
            </a:prstGeom>
            <a:solidFill>
              <a:srgbClr val="D71A16"/>
            </a:solidFill>
            <a:ln w="12700"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 anchor="ctr"/>
            <a:lstStyle/>
            <a:p>
              <a:pPr defTabSz="410751">
                <a:defRPr sz="2400" b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r>
                <a:rPr lang="en-US" sz="11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Sub-NP</a:t>
              </a:r>
              <a:endParaRPr sz="1125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8" name="Shape 261">
              <a:extLst>
                <a:ext uri="{FF2B5EF4-FFF2-40B4-BE49-F238E27FC236}">
                  <a16:creationId xmlns:a16="http://schemas.microsoft.com/office/drawing/2014/main" id="{7A636339-D7DC-0243-BCA5-3E4EB579AEE7}"/>
                </a:ext>
              </a:extLst>
            </p:cNvPr>
            <p:cNvSpPr txBox="1"/>
            <p:nvPr/>
          </p:nvSpPr>
          <p:spPr>
            <a:xfrm>
              <a:off x="7290070" y="3257238"/>
              <a:ext cx="447982" cy="5819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5719" tIns="35719" rIns="35719" bIns="35719" anchor="ctr"/>
            <a:lstStyle>
              <a:lvl1pPr defTabSz="584200">
                <a:defRPr sz="3600" b="0">
                  <a:solidFill>
                    <a:srgbClr val="000000"/>
                  </a:solidFill>
                </a:defRPr>
              </a:lvl1pPr>
            </a:lstStyle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grpSp>
          <p:nvGrpSpPr>
            <p:cNvPr id="120" name="Group">
              <a:extLst>
                <a:ext uri="{FF2B5EF4-FFF2-40B4-BE49-F238E27FC236}">
                  <a16:creationId xmlns:a16="http://schemas.microsoft.com/office/drawing/2014/main" id="{40BB03C5-B139-4241-9FA8-C11B25D3919E}"/>
                </a:ext>
              </a:extLst>
            </p:cNvPr>
            <p:cNvGrpSpPr/>
            <p:nvPr/>
          </p:nvGrpSpPr>
          <p:grpSpPr>
            <a:xfrm>
              <a:off x="9145942" y="597221"/>
              <a:ext cx="2188872" cy="1604434"/>
              <a:chOff x="0" y="0"/>
              <a:chExt cx="2188871" cy="1604433"/>
            </a:xfrm>
          </p:grpSpPr>
          <p:sp>
            <p:nvSpPr>
              <p:cNvPr id="137" name="Shape 253">
                <a:extLst>
                  <a:ext uri="{FF2B5EF4-FFF2-40B4-BE49-F238E27FC236}">
                    <a16:creationId xmlns:a16="http://schemas.microsoft.com/office/drawing/2014/main" id="{87ADB160-0B82-EC4B-B8F0-91873EBDCC88}"/>
                  </a:ext>
                </a:extLst>
              </p:cNvPr>
              <p:cNvSpPr/>
              <p:nvPr/>
            </p:nvSpPr>
            <p:spPr>
              <a:xfrm>
                <a:off x="0" y="518127"/>
                <a:ext cx="1577389" cy="10863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0" extrusionOk="0">
                    <a:moveTo>
                      <a:pt x="21600" y="5"/>
                    </a:moveTo>
                    <a:cubicBezTo>
                      <a:pt x="16277" y="21600"/>
                      <a:pt x="9077" y="21598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 w="50800" cap="flat">
                <a:solidFill>
                  <a:schemeClr val="accent3">
                    <a:lumOff val="-9999"/>
                  </a:schemeClr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8" name="Shape 264">
                <a:extLst>
                  <a:ext uri="{FF2B5EF4-FFF2-40B4-BE49-F238E27FC236}">
                    <a16:creationId xmlns:a16="http://schemas.microsoft.com/office/drawing/2014/main" id="{BFAD5C95-80B3-C745-A853-6CA3DC58C545}"/>
                  </a:ext>
                </a:extLst>
              </p:cNvPr>
              <p:cNvSpPr txBox="1"/>
              <p:nvPr/>
            </p:nvSpPr>
            <p:spPr>
              <a:xfrm>
                <a:off x="1347381" y="0"/>
                <a:ext cx="841491" cy="5918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</a:t>
                </a:r>
              </a:p>
            </p:txBody>
          </p:sp>
        </p:grpSp>
        <p:grpSp>
          <p:nvGrpSpPr>
            <p:cNvPr id="121" name="Group">
              <a:extLst>
                <a:ext uri="{FF2B5EF4-FFF2-40B4-BE49-F238E27FC236}">
                  <a16:creationId xmlns:a16="http://schemas.microsoft.com/office/drawing/2014/main" id="{102EE695-655C-DC48-81D0-36014FCF822D}"/>
                </a:ext>
              </a:extLst>
            </p:cNvPr>
            <p:cNvGrpSpPr/>
            <p:nvPr/>
          </p:nvGrpSpPr>
          <p:grpSpPr>
            <a:xfrm>
              <a:off x="8425144" y="915724"/>
              <a:ext cx="2078844" cy="4001144"/>
              <a:chOff x="0" y="0"/>
              <a:chExt cx="2078842" cy="4001143"/>
            </a:xfrm>
          </p:grpSpPr>
          <p:sp>
            <p:nvSpPr>
              <p:cNvPr id="135" name="Shape 252">
                <a:extLst>
                  <a:ext uri="{FF2B5EF4-FFF2-40B4-BE49-F238E27FC236}">
                    <a16:creationId xmlns:a16="http://schemas.microsoft.com/office/drawing/2014/main" id="{15320177-93BE-3F4A-8A50-5A275CD516F5}"/>
                  </a:ext>
                </a:extLst>
              </p:cNvPr>
              <p:cNvSpPr/>
              <p:nvPr/>
            </p:nvSpPr>
            <p:spPr>
              <a:xfrm>
                <a:off x="0" y="546271"/>
                <a:ext cx="1714486" cy="345487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7278" extrusionOk="0">
                    <a:moveTo>
                      <a:pt x="21600" y="0"/>
                    </a:moveTo>
                    <a:cubicBezTo>
                      <a:pt x="18356" y="17283"/>
                      <a:pt x="11156" y="21600"/>
                      <a:pt x="0" y="12951"/>
                    </a:cubicBezTo>
                  </a:path>
                </a:pathLst>
              </a:custGeom>
              <a:noFill/>
              <a:ln w="50800" cap="flat">
                <a:solidFill>
                  <a:schemeClr val="accent2">
                    <a:lumOff val="-5333"/>
                  </a:schemeClr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6" name="Shape 265">
                <a:extLst>
                  <a:ext uri="{FF2B5EF4-FFF2-40B4-BE49-F238E27FC236}">
                    <a16:creationId xmlns:a16="http://schemas.microsoft.com/office/drawing/2014/main" id="{6CC829A5-3374-6C42-B392-A11194BBBF6A}"/>
                  </a:ext>
                </a:extLst>
              </p:cNvPr>
              <p:cNvSpPr txBox="1"/>
              <p:nvPr/>
            </p:nvSpPr>
            <p:spPr>
              <a:xfrm>
                <a:off x="1264093" y="0"/>
                <a:ext cx="814750" cy="66527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</p:grpSp>
        <p:grpSp>
          <p:nvGrpSpPr>
            <p:cNvPr id="122" name="Group">
              <a:extLst>
                <a:ext uri="{FF2B5EF4-FFF2-40B4-BE49-F238E27FC236}">
                  <a16:creationId xmlns:a16="http://schemas.microsoft.com/office/drawing/2014/main" id="{CBDD233A-401B-E04C-8F20-2359B76F00A5}"/>
                </a:ext>
              </a:extLst>
            </p:cNvPr>
            <p:cNvGrpSpPr/>
            <p:nvPr/>
          </p:nvGrpSpPr>
          <p:grpSpPr>
            <a:xfrm>
              <a:off x="9494432" y="2212814"/>
              <a:ext cx="814751" cy="3863630"/>
              <a:chOff x="0" y="0"/>
              <a:chExt cx="814749" cy="3863628"/>
            </a:xfrm>
          </p:grpSpPr>
          <p:sp>
            <p:nvSpPr>
              <p:cNvPr id="133" name="Shape 249">
                <a:extLst>
                  <a:ext uri="{FF2B5EF4-FFF2-40B4-BE49-F238E27FC236}">
                    <a16:creationId xmlns:a16="http://schemas.microsoft.com/office/drawing/2014/main" id="{33267604-1EB0-104B-BDFB-AC865E4899F8}"/>
                  </a:ext>
                </a:extLst>
              </p:cNvPr>
              <p:cNvSpPr/>
              <p:nvPr/>
            </p:nvSpPr>
            <p:spPr>
              <a:xfrm>
                <a:off x="407373" y="0"/>
                <a:ext cx="3" cy="3375946"/>
              </a:xfrm>
              <a:prstGeom prst="line">
                <a:avLst/>
              </a:prstGeom>
              <a:noFill/>
              <a:ln w="38100" cap="flat">
                <a:solidFill>
                  <a:schemeClr val="accent1"/>
                </a:solidFill>
                <a:custDash>
                  <a:ds d="200000" sp="200000"/>
                </a:custDash>
                <a:miter lim="400000"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4" name="Shape 266">
                <a:extLst>
                  <a:ext uri="{FF2B5EF4-FFF2-40B4-BE49-F238E27FC236}">
                    <a16:creationId xmlns:a16="http://schemas.microsoft.com/office/drawing/2014/main" id="{744EEFC8-9918-1040-BC76-F66D91CCC27C}"/>
                  </a:ext>
                </a:extLst>
              </p:cNvPr>
              <p:cNvSpPr txBox="1"/>
              <p:nvPr/>
            </p:nvSpPr>
            <p:spPr>
              <a:xfrm>
                <a:off x="0" y="3192065"/>
                <a:ext cx="814750" cy="67156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969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</p:grpSp>
        <p:sp>
          <p:nvSpPr>
            <p:cNvPr id="123" name="Shape 267">
              <a:extLst>
                <a:ext uri="{FF2B5EF4-FFF2-40B4-BE49-F238E27FC236}">
                  <a16:creationId xmlns:a16="http://schemas.microsoft.com/office/drawing/2014/main" id="{88AE14C8-7612-044E-B916-6DBE9DA7B49E}"/>
                </a:ext>
              </a:extLst>
            </p:cNvPr>
            <p:cNvSpPr txBox="1"/>
            <p:nvPr/>
          </p:nvSpPr>
          <p:spPr>
            <a:xfrm>
              <a:off x="9608479" y="1949170"/>
              <a:ext cx="326157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500">
                  <a:solidFill>
                    <a:srgbClr val="000000"/>
                  </a:solidFill>
                </a:defRPr>
              </a:lvl1pPr>
            </a:lstStyle>
            <a:p>
              <a:r>
                <a:rPr sz="1969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24" name="Shape 268">
              <a:extLst>
                <a:ext uri="{FF2B5EF4-FFF2-40B4-BE49-F238E27FC236}">
                  <a16:creationId xmlns:a16="http://schemas.microsoft.com/office/drawing/2014/main" id="{0C4A38B6-819C-8048-A6CC-D5D00B852393}"/>
                </a:ext>
              </a:extLst>
            </p:cNvPr>
            <p:cNvSpPr txBox="1"/>
            <p:nvPr/>
          </p:nvSpPr>
          <p:spPr>
            <a:xfrm>
              <a:off x="9921469" y="3356270"/>
              <a:ext cx="447982" cy="5435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35719" tIns="35719" rIns="35719" bIns="35719" anchor="ctr"/>
            <a:lstStyle>
              <a:lvl1pPr defTabSz="584200">
                <a:defRPr sz="3000" b="0">
                  <a:solidFill>
                    <a:srgbClr val="000000"/>
                  </a:solidFill>
                </a:defRPr>
              </a:lvl1pPr>
            </a:lstStyle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32" name="Shape 269">
              <a:extLst>
                <a:ext uri="{FF2B5EF4-FFF2-40B4-BE49-F238E27FC236}">
                  <a16:creationId xmlns:a16="http://schemas.microsoft.com/office/drawing/2014/main" id="{CA2F8A58-ED0B-9949-BFD1-FEF2997F8010}"/>
                </a:ext>
              </a:extLst>
            </p:cNvPr>
            <p:cNvSpPr txBox="1"/>
            <p:nvPr/>
          </p:nvSpPr>
          <p:spPr>
            <a:xfrm>
              <a:off x="7241648" y="1924735"/>
              <a:ext cx="463915" cy="533723"/>
            </a:xfrm>
            <a:prstGeom prst="rect">
              <a:avLst/>
            </a:prstGeom>
            <a:noFill/>
            <a:ln w="12700" cap="flat">
              <a:noFill/>
              <a:miter lim="400000"/>
              <a:headEnd type="none" w="med" len="med"/>
              <a:tailEnd type="triangle" w="med" len="med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26" name="Shape 271">
              <a:extLst>
                <a:ext uri="{FF2B5EF4-FFF2-40B4-BE49-F238E27FC236}">
                  <a16:creationId xmlns:a16="http://schemas.microsoft.com/office/drawing/2014/main" id="{20FFAB5A-92EA-9149-B872-2B898E17595F}"/>
                </a:ext>
              </a:extLst>
            </p:cNvPr>
            <p:cNvSpPr/>
            <p:nvPr/>
          </p:nvSpPr>
          <p:spPr>
            <a:xfrm>
              <a:off x="9456332" y="2907966"/>
              <a:ext cx="447983" cy="462438"/>
            </a:xfrm>
            <a:prstGeom prst="rect">
              <a:avLst/>
            </a:prstGeom>
            <a:solidFill>
              <a:srgbClr val="F6A3A0"/>
            </a:solidFill>
            <a:ln w="12700"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400">
                  <a:solidFill>
                    <a:srgbClr val="000000"/>
                  </a:solidFill>
                </a:defRPr>
              </a:lvl1pPr>
            </a:lstStyle>
            <a:p>
              <a:r>
                <a:rPr sz="196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grpSp>
          <p:nvGrpSpPr>
            <p:cNvPr id="127" name="Group">
              <a:extLst>
                <a:ext uri="{FF2B5EF4-FFF2-40B4-BE49-F238E27FC236}">
                  <a16:creationId xmlns:a16="http://schemas.microsoft.com/office/drawing/2014/main" id="{4A360405-96D0-F049-8C22-AAF06574E8B4}"/>
                </a:ext>
              </a:extLst>
            </p:cNvPr>
            <p:cNvGrpSpPr/>
            <p:nvPr/>
          </p:nvGrpSpPr>
          <p:grpSpPr>
            <a:xfrm>
              <a:off x="9452223" y="839794"/>
              <a:ext cx="3059651" cy="2249614"/>
              <a:chOff x="0" y="0"/>
              <a:chExt cx="3059649" cy="2249612"/>
            </a:xfrm>
          </p:grpSpPr>
          <p:sp>
            <p:nvSpPr>
              <p:cNvPr id="129" name="Shape 274">
                <a:extLst>
                  <a:ext uri="{FF2B5EF4-FFF2-40B4-BE49-F238E27FC236}">
                    <a16:creationId xmlns:a16="http://schemas.microsoft.com/office/drawing/2014/main" id="{533437B2-8367-6249-BF51-71E50DE0A56E}"/>
                  </a:ext>
                </a:extLst>
              </p:cNvPr>
              <p:cNvSpPr/>
              <p:nvPr/>
            </p:nvSpPr>
            <p:spPr>
              <a:xfrm>
                <a:off x="0" y="549296"/>
                <a:ext cx="2184069" cy="1700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54" extrusionOk="0">
                    <a:moveTo>
                      <a:pt x="0" y="8648"/>
                    </a:moveTo>
                    <a:cubicBezTo>
                      <a:pt x="1189" y="17763"/>
                      <a:pt x="3584" y="21600"/>
                      <a:pt x="7184" y="20159"/>
                    </a:cubicBezTo>
                    <a:cubicBezTo>
                      <a:pt x="10784" y="18717"/>
                      <a:pt x="15589" y="1199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1125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0" name="Shape 270">
                <a:extLst>
                  <a:ext uri="{FF2B5EF4-FFF2-40B4-BE49-F238E27FC236}">
                    <a16:creationId xmlns:a16="http://schemas.microsoft.com/office/drawing/2014/main" id="{3B9A721A-60EF-1E4E-9F3F-8BE409FEB3AD}"/>
                  </a:ext>
                </a:extLst>
              </p:cNvPr>
              <p:cNvSpPr txBox="1"/>
              <p:nvPr/>
            </p:nvSpPr>
            <p:spPr>
              <a:xfrm>
                <a:off x="1721650" y="0"/>
                <a:ext cx="1338000" cy="65658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3000"/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F93CD0E-DAA4-484C-8440-928B8954FD80}"/>
              </a:ext>
            </a:extLst>
          </p:cNvPr>
          <p:cNvGrpSpPr/>
          <p:nvPr/>
        </p:nvGrpSpPr>
        <p:grpSpPr>
          <a:xfrm>
            <a:off x="95620" y="4097575"/>
            <a:ext cx="5034671" cy="1404626"/>
            <a:chOff x="135993" y="5827662"/>
            <a:chExt cx="7160421" cy="199769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BA65538-A5D0-F24E-A51A-CC5FB9C05EB9}"/>
                </a:ext>
              </a:extLst>
            </p:cNvPr>
            <p:cNvGrpSpPr/>
            <p:nvPr/>
          </p:nvGrpSpPr>
          <p:grpSpPr>
            <a:xfrm>
              <a:off x="135993" y="6198628"/>
              <a:ext cx="7160421" cy="861901"/>
              <a:chOff x="343555" y="6516146"/>
              <a:chExt cx="5154302" cy="861901"/>
            </a:xfrm>
          </p:grpSpPr>
          <p:sp>
            <p:nvSpPr>
              <p:cNvPr id="13" name="Shape 129">
                <a:extLst>
                  <a:ext uri="{FF2B5EF4-FFF2-40B4-BE49-F238E27FC236}">
                    <a16:creationId xmlns:a16="http://schemas.microsoft.com/office/drawing/2014/main" id="{81BDC353-5C8F-894A-8FA8-AC620DFFB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43555" y="6636397"/>
                <a:ext cx="1352654" cy="60656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CQ =</a:t>
                </a:r>
              </a:p>
            </p:txBody>
          </p:sp>
          <p:sp>
            <p:nvSpPr>
              <p:cNvPr id="76" name="Shape 129">
                <a:extLst>
                  <a:ext uri="{FF2B5EF4-FFF2-40B4-BE49-F238E27FC236}">
                    <a16:creationId xmlns:a16="http://schemas.microsoft.com/office/drawing/2014/main" id="{9CB68752-6E1D-9F49-B98A-35CF935F5F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60593" y="6516146"/>
                <a:ext cx="1937264" cy="74938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-US" sz="1969" b="1" dirty="0">
                    <a:solidFill>
                      <a:schemeClr val="accent5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VC</a:t>
                </a: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) </a:t>
                </a:r>
              </a:p>
            </p:txBody>
          </p:sp>
          <p:sp>
            <p:nvSpPr>
              <p:cNvPr id="77" name="Shape 129">
                <a:extLst>
                  <a:ext uri="{FF2B5EF4-FFF2-40B4-BE49-F238E27FC236}">
                    <a16:creationId xmlns:a16="http://schemas.microsoft.com/office/drawing/2014/main" id="{9CCB560A-2894-0042-B877-7B8E75FBBD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3714" y="6593131"/>
                <a:ext cx="1344042" cy="67239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(</a:t>
                </a:r>
                <a:r>
                  <a:rPr lang="en-US" sz="1969" b="1" dirty="0">
                    <a:solidFill>
                      <a:srgbClr val="7030A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QE</a:t>
                </a: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 +  </a:t>
                </a:r>
                <a:r>
                  <a:rPr lang="en-US" sz="1969" b="1" dirty="0">
                    <a:solidFill>
                      <a:schemeClr val="accent5">
                        <a:lumMod val="50000"/>
                      </a:schemeClr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EV</a:t>
                </a:r>
                <a:r>
                  <a:rPr lang="en-US" sz="1969" b="1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)</a:t>
                </a:r>
              </a:p>
            </p:txBody>
          </p:sp>
          <p:sp>
            <p:nvSpPr>
              <p:cNvPr id="79" name="Shape 129">
                <a:extLst>
                  <a:ext uri="{FF2B5EF4-FFF2-40B4-BE49-F238E27FC236}">
                    <a16:creationId xmlns:a16="http://schemas.microsoft.com/office/drawing/2014/main" id="{B44192C7-7B27-2647-93E6-31047C85B7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41321" y="6593131"/>
                <a:ext cx="668082" cy="78491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+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72C1BBE-0D17-BE45-B243-3E7F16E6E7C0}"/>
                </a:ext>
              </a:extLst>
            </p:cNvPr>
            <p:cNvGrpSpPr/>
            <p:nvPr/>
          </p:nvGrpSpPr>
          <p:grpSpPr>
            <a:xfrm>
              <a:off x="1890842" y="5827662"/>
              <a:ext cx="5182733" cy="1997690"/>
              <a:chOff x="1890842" y="5827662"/>
              <a:chExt cx="5182733" cy="1997690"/>
            </a:xfrm>
          </p:grpSpPr>
          <p:sp>
            <p:nvSpPr>
              <p:cNvPr id="68" name="Shape 129">
                <a:extLst>
                  <a:ext uri="{FF2B5EF4-FFF2-40B4-BE49-F238E27FC236}">
                    <a16:creationId xmlns:a16="http://schemas.microsoft.com/office/drawing/2014/main" id="{6BD9C376-BB3D-F94A-98DB-2E1BA75A90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79666" y="7172982"/>
                <a:ext cx="2612496" cy="65237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algn="just"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Partly Covered</a:t>
                </a:r>
              </a:p>
            </p:txBody>
          </p:sp>
          <p:sp>
            <p:nvSpPr>
              <p:cNvPr id="69" name="Shape 129">
                <a:extLst>
                  <a:ext uri="{FF2B5EF4-FFF2-40B4-BE49-F238E27FC236}">
                    <a16:creationId xmlns:a16="http://schemas.microsoft.com/office/drawing/2014/main" id="{BF322054-1012-E440-9229-9A58C5551E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90842" y="6769410"/>
                <a:ext cx="1640724" cy="49892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algn="just"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Covered</a:t>
                </a:r>
              </a:p>
            </p:txBody>
          </p:sp>
          <p:sp>
            <p:nvSpPr>
              <p:cNvPr id="70" name="Shape 129">
                <a:extLst>
                  <a:ext uri="{FF2B5EF4-FFF2-40B4-BE49-F238E27FC236}">
                    <a16:creationId xmlns:a16="http://schemas.microsoft.com/office/drawing/2014/main" id="{3A888883-AC3A-A047-9AF9-F0A591F051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82967" y="6782783"/>
                <a:ext cx="1640724" cy="49892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normAutofit fontScale="92500"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1pPr>
                <a:lvl2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2pPr>
                <a:lvl3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3pPr>
                <a:lvl4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4pPr>
                <a:lvl5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5pPr>
                <a:lvl6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6pPr>
                <a:lvl7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7pPr>
                <a:lvl8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8pPr>
                <a:lvl9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Helvetica Light"/>
                    <a:ea typeface="Helvetica Light"/>
                    <a:cs typeface="Helvetica Light"/>
                    <a:sym typeface="Helvetica Light"/>
                  </a:defRPr>
                </a:lvl9pPr>
              </a:lstStyle>
              <a:p>
                <a:pPr algn="just" hangingPunct="1">
                  <a:defRPr sz="4400" b="1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rPr lang="en-US" sz="1969" b="1" dirty="0">
                    <a:solidFill>
                      <a:schemeClr val="accent5">
                        <a:lumMod val="50000"/>
                      </a:schemeClr>
                    </a:solidFill>
                    <a:latin typeface="Times New Roman" panose="02020603050405020304" pitchFamily="18" charset="0"/>
                    <a:ea typeface="Times New Roman"/>
                    <a:cs typeface="Times New Roman" panose="02020603050405020304" pitchFamily="18" charset="0"/>
                    <a:sym typeface="Times New Roman"/>
                  </a:rPr>
                  <a:t>Uncovered</a:t>
                </a:r>
              </a:p>
            </p:txBody>
          </p:sp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961371EC-C6AE-E64B-80F5-3684F8D08263}"/>
                  </a:ext>
                </a:extLst>
              </p:cNvPr>
              <p:cNvGrpSpPr/>
              <p:nvPr/>
            </p:nvGrpSpPr>
            <p:grpSpPr>
              <a:xfrm>
                <a:off x="2332311" y="5827662"/>
                <a:ext cx="4741264" cy="1986771"/>
                <a:chOff x="2332311" y="5827662"/>
                <a:chExt cx="4741264" cy="1986771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2DFB0760-8A8F-6044-A4E5-CFA4A00602F0}"/>
                    </a:ext>
                  </a:extLst>
                </p:cNvPr>
                <p:cNvGrpSpPr/>
                <p:nvPr/>
              </p:nvGrpSpPr>
              <p:grpSpPr>
                <a:xfrm>
                  <a:off x="2332311" y="5953498"/>
                  <a:ext cx="4741264" cy="1860935"/>
                  <a:chOff x="2569458" y="6489350"/>
                  <a:chExt cx="4741264" cy="1860935"/>
                </a:xfrm>
              </p:grpSpPr>
              <p:sp>
                <p:nvSpPr>
                  <p:cNvPr id="74" name="Shape 129">
                    <a:extLst>
                      <a:ext uri="{FF2B5EF4-FFF2-40B4-BE49-F238E27FC236}">
                        <a16:creationId xmlns:a16="http://schemas.microsoft.com/office/drawing/2014/main" id="{3DA06884-9A04-9948-B883-5010F942C59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2569458" y="6489350"/>
                    <a:ext cx="1889095" cy="595448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0" tIns="0" rIns="0" bIns="0" anchor="ctr">
                    <a:norm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1pPr>
                    <a:lvl2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2pPr>
                    <a:lvl3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3pPr>
                    <a:lvl4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4pPr>
                    <a:lvl5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5pPr>
                    <a:lvl6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6pPr>
                    <a:lvl7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7pPr>
                    <a:lvl8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8pPr>
                    <a:lvl9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9pPr>
                  </a:lstStyle>
                  <a:p>
                    <a:pPr algn="just" hangingPunct="1">
                      <a:defRPr sz="4400" b="1"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r>
                      <a:rPr lang="en-US" sz="1969" b="1" dirty="0"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a:t>      </a:t>
                    </a:r>
                    <a:r>
                      <a:rPr lang="en-US" sz="1969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a:t>OPEX</a:t>
                    </a:r>
                  </a:p>
                </p:txBody>
              </p:sp>
              <p:sp>
                <p:nvSpPr>
                  <p:cNvPr id="75" name="Shape 129">
                    <a:extLst>
                      <a:ext uri="{FF2B5EF4-FFF2-40B4-BE49-F238E27FC236}">
                        <a16:creationId xmlns:a16="http://schemas.microsoft.com/office/drawing/2014/main" id="{F7BC662D-771B-BB41-BAEE-C4EAF973420F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5065128" y="7203923"/>
                    <a:ext cx="2245594" cy="1146362"/>
                  </a:xfrm>
                  <a:prstGeom prst="rect">
                    <a:avLst/>
                  </a:prstGeom>
                  <a:ln w="12700">
                    <a:miter lim="400000"/>
                  </a:ln>
                  <a:extLst>
                    <a:ext uri="{C572A759-6A51-4108-AA02-DFA0A04FC94B}">
  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  </a:ext>
                  </a:extLst>
                </p:spPr>
                <p:txBody>
                  <a:bodyPr lIns="0" tIns="0" rIns="0" bIns="0" anchor="ctr">
                    <a:noAutofit/>
                  </a:bodyPr>
                  <a:lstStyle>
                    <a:lvl1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1pPr>
                    <a:lvl2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2pPr>
                    <a:lvl3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3pPr>
                    <a:lvl4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4pPr>
                    <a:lvl5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5pPr>
                    <a:lvl6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6pPr>
                    <a:lvl7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7pPr>
                    <a:lvl8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8pPr>
                    <a:lvl9pPr marL="0" marR="0" indent="0" algn="ctr" defTabSz="584200" rtl="0" latinLnBrk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8000" b="0" i="0" u="none" strike="noStrike" cap="none" spc="0" baseline="0">
                        <a:solidFill>
                          <a:srgbClr val="000000"/>
                        </a:solidFill>
                        <a:uFillTx/>
                        <a:latin typeface="Helvetica Light"/>
                        <a:ea typeface="Helvetica Light"/>
                        <a:cs typeface="Helvetica Light"/>
                        <a:sym typeface="Helvetica Light"/>
                      </a:defRPr>
                    </a:lvl9pPr>
                  </a:lstStyle>
                  <a:p>
                    <a:pPr hangingPunct="1">
                      <a:defRPr sz="4400" b="1">
                        <a:latin typeface="Times New Roman"/>
                        <a:ea typeface="Times New Roman"/>
                        <a:cs typeface="Times New Roman"/>
                        <a:sym typeface="Times New Roman"/>
                      </a:defRPr>
                    </a:pPr>
                    <a:r>
                      <a:rPr lang="en-US" sz="1969" b="1" dirty="0">
                        <a:solidFill>
                          <a:schemeClr val="accent5"/>
                        </a:solidFill>
                        <a:latin typeface="Times New Roman" panose="02020603050405020304" pitchFamily="18" charset="0"/>
                        <a:ea typeface="Times New Roman"/>
                        <a:cs typeface="Times New Roman" panose="02020603050405020304" pitchFamily="18" charset="0"/>
                        <a:sym typeface="Times New Roman"/>
                      </a:rPr>
                      <a:t>Fully Uncovered</a:t>
                    </a:r>
                  </a:p>
                </p:txBody>
              </p:sp>
            </p:grpSp>
            <p:sp>
              <p:nvSpPr>
                <p:cNvPr id="71" name="Shape 129">
                  <a:extLst>
                    <a:ext uri="{FF2B5EF4-FFF2-40B4-BE49-F238E27FC236}">
                      <a16:creationId xmlns:a16="http://schemas.microsoft.com/office/drawing/2014/main" id="{F60720A3-9C67-5140-BBE9-DD634498B4CB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982632" y="5827662"/>
                  <a:ext cx="2071665" cy="560296"/>
                </a:xfrm>
                <a:prstGeom prst="rect">
                  <a:avLst/>
                </a:prstGeom>
                <a:ln w="12700">
                  <a:miter lim="400000"/>
                </a:ln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lIns="0" tIns="0" rIns="0" bIns="0" anchor="ctr">
                  <a:noAutofit/>
                </a:bodyPr>
                <a:lstStyle>
                  <a:lvl1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1pPr>
                  <a:lvl2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2pPr>
                  <a:lvl3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3pPr>
                  <a:lvl4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4pPr>
                  <a:lvl5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5pPr>
                  <a:lvl6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6pPr>
                  <a:lvl7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7pPr>
                  <a:lvl8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8pPr>
                  <a:lvl9pPr marL="0" marR="0" indent="0" algn="ctr" defTabSz="584200" rtl="0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sz="8000" b="0" i="0" u="none" strike="noStrike" cap="none" spc="0" baseline="0">
                      <a:solidFill>
                        <a:srgbClr val="000000"/>
                      </a:solidFill>
                      <a:uFillTx/>
                      <a:latin typeface="Helvetica Light"/>
                      <a:ea typeface="Helvetica Light"/>
                      <a:cs typeface="Helvetica Light"/>
                      <a:sym typeface="Helvetica Light"/>
                    </a:defRPr>
                  </a:lvl9pPr>
                </a:lstStyle>
                <a:p>
                  <a:pPr hangingPunct="1">
                    <a:defRPr sz="4400" b="1">
                      <a:latin typeface="Times New Roman"/>
                      <a:ea typeface="Times New Roman"/>
                      <a:cs typeface="Times New Roman"/>
                      <a:sym typeface="Times New Roman"/>
                    </a:defRPr>
                  </a:pPr>
                  <a:r>
                    <a:rPr lang="en-US" sz="1969" b="1" dirty="0">
                      <a:solidFill>
                        <a:schemeClr val="accent2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Times New Roman"/>
                      <a:cs typeface="Times New Roman" panose="02020603050405020304" pitchFamily="18" charset="0"/>
                      <a:sym typeface="Times New Roman"/>
                    </a:rPr>
                    <a:t>CAPEX 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00002089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132"/>
          <p:cNvSpPr/>
          <p:nvPr/>
        </p:nvSpPr>
        <p:spPr>
          <a:xfrm flipV="1">
            <a:off x="419561" y="1697483"/>
            <a:ext cx="1" cy="294762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1" name="Shape 133"/>
          <p:cNvSpPr/>
          <p:nvPr/>
        </p:nvSpPr>
        <p:spPr>
          <a:xfrm>
            <a:off x="424034" y="4636712"/>
            <a:ext cx="1183750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Shape 147"/>
          <p:cNvSpPr txBox="1"/>
          <p:nvPr/>
        </p:nvSpPr>
        <p:spPr>
          <a:xfrm>
            <a:off x="166606" y="1706413"/>
            <a:ext cx="244883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389076">
              <a:defRPr sz="1110"/>
            </a:lvl1pPr>
          </a:lstStyle>
          <a:p>
            <a:r>
              <a:rPr sz="78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393" name="Shape 148"/>
          <p:cNvSpPr txBox="1"/>
          <p:nvPr/>
        </p:nvSpPr>
        <p:spPr>
          <a:xfrm>
            <a:off x="1311269" y="4656173"/>
            <a:ext cx="390394" cy="205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1518">
              <a:defRPr sz="1100"/>
            </a:lvl1pPr>
          </a:lstStyle>
          <a:p>
            <a:r>
              <a:rPr sz="773">
                <a:latin typeface="Times New Roman" panose="02020603050405020304" pitchFamily="18" charset="0"/>
                <a:cs typeface="Times New Roman" panose="02020603050405020304" pitchFamily="18" charset="0"/>
              </a:rPr>
              <a:t>Qd, Qs</a:t>
            </a:r>
          </a:p>
        </p:txBody>
      </p:sp>
      <p:sp>
        <p:nvSpPr>
          <p:cNvPr id="394" name="Shape 137"/>
          <p:cNvSpPr/>
          <p:nvPr/>
        </p:nvSpPr>
        <p:spPr>
          <a:xfrm flipH="1" flipV="1">
            <a:off x="690104" y="2385145"/>
            <a:ext cx="651611" cy="1743753"/>
          </a:xfrm>
          <a:prstGeom prst="line">
            <a:avLst/>
          </a:prstGeom>
          <a:ln w="63500">
            <a:solidFill>
              <a:srgbClr val="861001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Shape 151"/>
          <p:cNvSpPr txBox="1"/>
          <p:nvPr/>
        </p:nvSpPr>
        <p:spPr>
          <a:xfrm>
            <a:off x="1324751" y="4042887"/>
            <a:ext cx="237239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500">
                <a:solidFill>
                  <a:srgbClr val="924607"/>
                </a:solidFill>
              </a:defRPr>
            </a:lvl1pPr>
          </a:lstStyle>
          <a:p>
            <a:r>
              <a:rPr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96" name="Shape 136"/>
          <p:cNvSpPr/>
          <p:nvPr/>
        </p:nvSpPr>
        <p:spPr>
          <a:xfrm flipV="1">
            <a:off x="639849" y="2384557"/>
            <a:ext cx="708464" cy="1744929"/>
          </a:xfrm>
          <a:prstGeom prst="line">
            <a:avLst/>
          </a:prstGeom>
          <a:ln w="63500">
            <a:solidFill>
              <a:srgbClr val="153197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7" name="Shape 152"/>
          <p:cNvSpPr txBox="1"/>
          <p:nvPr/>
        </p:nvSpPr>
        <p:spPr>
          <a:xfrm>
            <a:off x="1324751" y="2441039"/>
            <a:ext cx="117706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500">
                <a:solidFill>
                  <a:srgbClr val="002452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98" name="Shape 138"/>
          <p:cNvSpPr/>
          <p:nvPr/>
        </p:nvSpPr>
        <p:spPr>
          <a:xfrm flipV="1">
            <a:off x="416019" y="3239163"/>
            <a:ext cx="606565" cy="13345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" name="Shape 153"/>
          <p:cNvSpPr txBox="1"/>
          <p:nvPr/>
        </p:nvSpPr>
        <p:spPr>
          <a:xfrm>
            <a:off x="293783" y="3072738"/>
            <a:ext cx="11770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500"/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400" name="Shape 155"/>
          <p:cNvSpPr txBox="1"/>
          <p:nvPr/>
        </p:nvSpPr>
        <p:spPr>
          <a:xfrm>
            <a:off x="914894" y="2751238"/>
            <a:ext cx="158374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500"/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Ei</a:t>
            </a:r>
          </a:p>
        </p:txBody>
      </p:sp>
      <p:sp>
        <p:nvSpPr>
          <p:cNvPr id="401" name="Shape 163"/>
          <p:cNvSpPr txBox="1"/>
          <p:nvPr/>
        </p:nvSpPr>
        <p:spPr>
          <a:xfrm>
            <a:off x="528128" y="910173"/>
            <a:ext cx="982065" cy="227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defTabSz="425880">
              <a:defRPr sz="1215"/>
            </a:lvl1pPr>
          </a:lstStyle>
          <a:p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grpSp>
        <p:nvGrpSpPr>
          <p:cNvPr id="423" name="Group"/>
          <p:cNvGrpSpPr/>
          <p:nvPr/>
        </p:nvGrpSpPr>
        <p:grpSpPr>
          <a:xfrm>
            <a:off x="1802815" y="708670"/>
            <a:ext cx="1962179" cy="4173899"/>
            <a:chOff x="0" y="-756649"/>
            <a:chExt cx="2790652" cy="5936211"/>
          </a:xfrm>
        </p:grpSpPr>
        <p:sp>
          <p:nvSpPr>
            <p:cNvPr id="402" name="Shape 134"/>
            <p:cNvSpPr/>
            <p:nvPr/>
          </p:nvSpPr>
          <p:spPr>
            <a:xfrm flipV="1">
              <a:off x="360976" y="666088"/>
              <a:ext cx="1" cy="414289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3" name="Shape 135"/>
            <p:cNvSpPr/>
            <p:nvPr/>
          </p:nvSpPr>
          <p:spPr>
            <a:xfrm>
              <a:off x="365721" y="4796281"/>
              <a:ext cx="172102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4" name="Shape 144"/>
            <p:cNvSpPr/>
            <p:nvPr/>
          </p:nvSpPr>
          <p:spPr>
            <a:xfrm>
              <a:off x="371317" y="2072554"/>
              <a:ext cx="774188" cy="693933"/>
            </a:xfrm>
            <a:prstGeom prst="rect">
              <a:avLst/>
            </a:prstGeom>
            <a:solidFill>
              <a:schemeClr val="accent5">
                <a:satOff val="-30358"/>
                <a:lumOff val="29803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2400" b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8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5" name="Shape 149"/>
            <p:cNvSpPr txBox="1"/>
            <p:nvPr/>
          </p:nvSpPr>
          <p:spPr>
            <a:xfrm>
              <a:off x="1785859" y="4849360"/>
              <a:ext cx="348277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400"/>
              </a:lvl1pPr>
            </a:lstStyle>
            <a:p>
              <a:r>
                <a:rPr sz="984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406" name="Shape 150"/>
            <p:cNvSpPr txBox="1"/>
            <p:nvPr/>
          </p:nvSpPr>
          <p:spPr>
            <a:xfrm>
              <a:off x="0" y="696544"/>
              <a:ext cx="348276" cy="609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67359">
                <a:defRPr sz="1200"/>
              </a:lvl1pPr>
            </a:lstStyle>
            <a:p>
              <a:r>
                <a:rPr sz="844">
                  <a:latin typeface="Times New Roman" panose="02020603050405020304" pitchFamily="18" charset="0"/>
                  <a:cs typeface="Times New Roman" panose="02020603050405020304" pitchFamily="18" charset="0"/>
                </a:rPr>
                <a:t>Rev, Cost</a:t>
              </a:r>
            </a:p>
          </p:txBody>
        </p:sp>
        <p:sp>
          <p:nvSpPr>
            <p:cNvPr id="407" name="Shape 154"/>
            <p:cNvSpPr txBox="1"/>
            <p:nvPr/>
          </p:nvSpPr>
          <p:spPr>
            <a:xfrm>
              <a:off x="120615" y="2820450"/>
              <a:ext cx="25163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08" name="Shape 140"/>
            <p:cNvSpPr/>
            <p:nvPr/>
          </p:nvSpPr>
          <p:spPr>
            <a:xfrm>
              <a:off x="352862" y="2807112"/>
              <a:ext cx="1326483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9" name="Shape 146"/>
            <p:cNvSpPr/>
            <p:nvPr/>
          </p:nvSpPr>
          <p:spPr>
            <a:xfrm>
              <a:off x="679237" y="189578"/>
              <a:ext cx="914734" cy="185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12"/>
                  </a:moveTo>
                  <a:cubicBezTo>
                    <a:pt x="15994" y="21600"/>
                    <a:pt x="8794" y="21596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0" name="Shape 157"/>
            <p:cNvSpPr txBox="1"/>
            <p:nvPr/>
          </p:nvSpPr>
          <p:spPr>
            <a:xfrm>
              <a:off x="1606917" y="0"/>
              <a:ext cx="156709" cy="2652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45363">
                <a:defRPr sz="839">
                  <a:solidFill>
                    <a:srgbClr val="BD5B0C"/>
                  </a:solidFill>
                </a:defRPr>
              </a:lvl1pPr>
            </a:lstStyle>
            <a:p>
              <a:r>
                <a:rPr sz="59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  <p:sp>
          <p:nvSpPr>
            <p:cNvPr id="411" name="Shape 145"/>
            <p:cNvSpPr/>
            <p:nvPr/>
          </p:nvSpPr>
          <p:spPr>
            <a:xfrm>
              <a:off x="625311" y="1251458"/>
              <a:ext cx="625399" cy="27980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2" name="Shape 158"/>
            <p:cNvSpPr txBox="1"/>
            <p:nvPr/>
          </p:nvSpPr>
          <p:spPr>
            <a:xfrm>
              <a:off x="1083912" y="1033719"/>
              <a:ext cx="368058" cy="29514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29006">
                <a:defRPr sz="839"/>
              </a:lvl1pPr>
            </a:lstStyle>
            <a:p>
              <a:r>
                <a:rPr sz="59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sp>
          <p:nvSpPr>
            <p:cNvPr id="413" name="Shape 142"/>
            <p:cNvSpPr/>
            <p:nvPr/>
          </p:nvSpPr>
          <p:spPr>
            <a:xfrm flipH="1">
              <a:off x="1165349" y="2109527"/>
              <a:ext cx="1" cy="2642574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4" name="Shape 159"/>
            <p:cNvSpPr txBox="1"/>
            <p:nvPr/>
          </p:nvSpPr>
          <p:spPr>
            <a:xfrm>
              <a:off x="1050737" y="4862121"/>
              <a:ext cx="229225" cy="279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415" name="Shape 161"/>
            <p:cNvSpPr txBox="1"/>
            <p:nvPr/>
          </p:nvSpPr>
          <p:spPr>
            <a:xfrm>
              <a:off x="1178508" y="2841776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16" name="Shape 160"/>
            <p:cNvSpPr txBox="1"/>
            <p:nvPr/>
          </p:nvSpPr>
          <p:spPr>
            <a:xfrm>
              <a:off x="1279962" y="2082587"/>
              <a:ext cx="116061" cy="386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17" name="Shape 143"/>
            <p:cNvSpPr/>
            <p:nvPr/>
          </p:nvSpPr>
          <p:spPr>
            <a:xfrm>
              <a:off x="378428" y="2095287"/>
              <a:ext cx="83932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8" name="Shape 162"/>
            <p:cNvSpPr txBox="1"/>
            <p:nvPr/>
          </p:nvSpPr>
          <p:spPr>
            <a:xfrm>
              <a:off x="153823" y="1926865"/>
              <a:ext cx="170772" cy="336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19" name="Shape 164"/>
            <p:cNvSpPr txBox="1"/>
            <p:nvPr/>
          </p:nvSpPr>
          <p:spPr>
            <a:xfrm>
              <a:off x="174138" y="-756649"/>
              <a:ext cx="2500700" cy="6105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1500"/>
              </a:lvl1pPr>
            </a:lstStyle>
            <a:p>
              <a:r>
                <a:rPr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Firm</a:t>
              </a:r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1</a:t>
              </a:r>
            </a:p>
            <a:p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 NP - Shutdown</a:t>
              </a:r>
              <a:endParaRPr sz="140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0" name="Shape 274"/>
            <p:cNvSpPr/>
            <p:nvPr/>
          </p:nvSpPr>
          <p:spPr>
            <a:xfrm>
              <a:off x="768667" y="793331"/>
              <a:ext cx="1506171" cy="17003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454" extrusionOk="0">
                  <a:moveTo>
                    <a:pt x="0" y="8648"/>
                  </a:moveTo>
                  <a:cubicBezTo>
                    <a:pt x="1190" y="17763"/>
                    <a:pt x="3584" y="21600"/>
                    <a:pt x="7184" y="20159"/>
                  </a:cubicBezTo>
                  <a:cubicBezTo>
                    <a:pt x="10784" y="18717"/>
                    <a:pt x="15589" y="11998"/>
                    <a:pt x="21600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1" name="Shape 270"/>
            <p:cNvSpPr txBox="1"/>
            <p:nvPr/>
          </p:nvSpPr>
          <p:spPr>
            <a:xfrm>
              <a:off x="1951330" y="461091"/>
              <a:ext cx="839322" cy="4122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>
              <a:lvl1pPr>
                <a:defRPr sz="1000"/>
              </a:lvl1pPr>
            </a:lstStyle>
            <a:p>
              <a:r>
                <a:rPr sz="703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  <p:sp>
          <p:nvSpPr>
            <p:cNvPr id="422" name="Shape 161"/>
            <p:cNvSpPr txBox="1"/>
            <p:nvPr/>
          </p:nvSpPr>
          <p:spPr>
            <a:xfrm>
              <a:off x="1197042" y="2488241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446" name="Group"/>
          <p:cNvGrpSpPr/>
          <p:nvPr/>
        </p:nvGrpSpPr>
        <p:grpSpPr>
          <a:xfrm>
            <a:off x="3603811" y="666681"/>
            <a:ext cx="1991611" cy="4229913"/>
            <a:chOff x="0" y="-876319"/>
            <a:chExt cx="2832511" cy="6015874"/>
          </a:xfrm>
        </p:grpSpPr>
        <p:sp>
          <p:nvSpPr>
            <p:cNvPr id="424" name="Shape 134"/>
            <p:cNvSpPr/>
            <p:nvPr/>
          </p:nvSpPr>
          <p:spPr>
            <a:xfrm flipH="1" flipV="1">
              <a:off x="360977" y="546181"/>
              <a:ext cx="4446" cy="4242372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5" name="Shape 135"/>
            <p:cNvSpPr/>
            <p:nvPr/>
          </p:nvSpPr>
          <p:spPr>
            <a:xfrm>
              <a:off x="359222" y="4788554"/>
              <a:ext cx="172102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6" name="Shape 144"/>
            <p:cNvSpPr/>
            <p:nvPr/>
          </p:nvSpPr>
          <p:spPr>
            <a:xfrm>
              <a:off x="350180" y="2387384"/>
              <a:ext cx="839323" cy="371106"/>
            </a:xfrm>
            <a:prstGeom prst="rect">
              <a:avLst/>
            </a:prstGeom>
            <a:solidFill>
              <a:schemeClr val="accent5">
                <a:lumOff val="-8078"/>
              </a:schemeClr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2400" b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8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7" name="Shape 149"/>
            <p:cNvSpPr txBox="1"/>
            <p:nvPr/>
          </p:nvSpPr>
          <p:spPr>
            <a:xfrm>
              <a:off x="1795585" y="4809353"/>
              <a:ext cx="348277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400"/>
              </a:lvl1pPr>
            </a:lstStyle>
            <a:p>
              <a:r>
                <a:rPr sz="984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428" name="Shape 150"/>
            <p:cNvSpPr txBox="1"/>
            <p:nvPr/>
          </p:nvSpPr>
          <p:spPr>
            <a:xfrm>
              <a:off x="0" y="576637"/>
              <a:ext cx="348276" cy="609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67359">
                <a:defRPr sz="1200"/>
              </a:lvl1pPr>
            </a:lstStyle>
            <a:p>
              <a:r>
                <a:rPr sz="844">
                  <a:latin typeface="Times New Roman" panose="02020603050405020304" pitchFamily="18" charset="0"/>
                  <a:cs typeface="Times New Roman" panose="02020603050405020304" pitchFamily="18" charset="0"/>
                </a:rPr>
                <a:t>Rev, Cost</a:t>
              </a:r>
            </a:p>
          </p:txBody>
        </p:sp>
        <p:sp>
          <p:nvSpPr>
            <p:cNvPr id="429" name="Shape 154"/>
            <p:cNvSpPr txBox="1"/>
            <p:nvPr/>
          </p:nvSpPr>
          <p:spPr>
            <a:xfrm>
              <a:off x="139098" y="2826126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30" name="Shape 140"/>
            <p:cNvSpPr/>
            <p:nvPr/>
          </p:nvSpPr>
          <p:spPr>
            <a:xfrm>
              <a:off x="360980" y="2747511"/>
              <a:ext cx="1864657" cy="3585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1" name="Shape 146"/>
            <p:cNvSpPr/>
            <p:nvPr/>
          </p:nvSpPr>
          <p:spPr>
            <a:xfrm>
              <a:off x="640218" y="546490"/>
              <a:ext cx="914734" cy="185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12"/>
                  </a:moveTo>
                  <a:cubicBezTo>
                    <a:pt x="15994" y="21600"/>
                    <a:pt x="8794" y="21596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2" name="Shape 157"/>
            <p:cNvSpPr txBox="1"/>
            <p:nvPr/>
          </p:nvSpPr>
          <p:spPr>
            <a:xfrm>
              <a:off x="1574703" y="414697"/>
              <a:ext cx="156709" cy="2652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45363">
                <a:defRPr sz="839">
                  <a:solidFill>
                    <a:srgbClr val="BD5B0C"/>
                  </a:solidFill>
                </a:defRPr>
              </a:lvl1pPr>
            </a:lstStyle>
            <a:p>
              <a:r>
                <a:rPr sz="59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  <p:sp>
          <p:nvSpPr>
            <p:cNvPr id="433" name="Shape 145"/>
            <p:cNvSpPr/>
            <p:nvPr/>
          </p:nvSpPr>
          <p:spPr>
            <a:xfrm>
              <a:off x="625311" y="1131551"/>
              <a:ext cx="625399" cy="2798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4" name="Shape 158"/>
            <p:cNvSpPr txBox="1"/>
            <p:nvPr/>
          </p:nvSpPr>
          <p:spPr>
            <a:xfrm>
              <a:off x="1078389" y="931613"/>
              <a:ext cx="354572" cy="3273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29006">
                <a:defRPr sz="839"/>
              </a:lvl1pPr>
            </a:lstStyle>
            <a:p>
              <a:r>
                <a:rPr sz="59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sp>
          <p:nvSpPr>
            <p:cNvPr id="435" name="Shape 142"/>
            <p:cNvSpPr/>
            <p:nvPr/>
          </p:nvSpPr>
          <p:spPr>
            <a:xfrm flipH="1">
              <a:off x="1165150" y="2644567"/>
              <a:ext cx="200" cy="2132318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6" name="Shape 159"/>
            <p:cNvSpPr txBox="1"/>
            <p:nvPr/>
          </p:nvSpPr>
          <p:spPr>
            <a:xfrm>
              <a:off x="1056303" y="4800223"/>
              <a:ext cx="229225" cy="279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437" name="Shape 161"/>
            <p:cNvSpPr txBox="1"/>
            <p:nvPr/>
          </p:nvSpPr>
          <p:spPr>
            <a:xfrm>
              <a:off x="1213715" y="2830184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38" name="Shape 160"/>
            <p:cNvSpPr txBox="1"/>
            <p:nvPr/>
          </p:nvSpPr>
          <p:spPr>
            <a:xfrm>
              <a:off x="1240778" y="2301016"/>
              <a:ext cx="116062" cy="386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39" name="Shape 143"/>
            <p:cNvSpPr/>
            <p:nvPr/>
          </p:nvSpPr>
          <p:spPr>
            <a:xfrm>
              <a:off x="370167" y="2415237"/>
              <a:ext cx="83932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0" name="Shape 162"/>
            <p:cNvSpPr txBox="1"/>
            <p:nvPr/>
          </p:nvSpPr>
          <p:spPr>
            <a:xfrm>
              <a:off x="120159" y="2361411"/>
              <a:ext cx="170771" cy="3368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41" name="Shape 164"/>
            <p:cNvSpPr txBox="1"/>
            <p:nvPr/>
          </p:nvSpPr>
          <p:spPr>
            <a:xfrm>
              <a:off x="473602" y="-876319"/>
              <a:ext cx="2358909" cy="801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1500"/>
              </a:lvl1pPr>
            </a:lstStyle>
            <a:p>
              <a:r>
                <a:rPr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Firm</a:t>
              </a:r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2</a:t>
              </a:r>
            </a:p>
            <a:p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 NP - Continue</a:t>
              </a:r>
              <a:endParaRPr sz="140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44" name="Group"/>
            <p:cNvGrpSpPr/>
            <p:nvPr/>
          </p:nvGrpSpPr>
          <p:grpSpPr>
            <a:xfrm>
              <a:off x="690983" y="1572788"/>
              <a:ext cx="1574288" cy="1979264"/>
              <a:chOff x="0" y="0"/>
              <a:chExt cx="1574287" cy="1979262"/>
            </a:xfrm>
          </p:grpSpPr>
          <p:sp>
            <p:nvSpPr>
              <p:cNvPr id="442" name="Shape 274"/>
              <p:cNvSpPr/>
              <p:nvPr/>
            </p:nvSpPr>
            <p:spPr>
              <a:xfrm>
                <a:off x="0" y="278946"/>
                <a:ext cx="1093843" cy="1700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54" extrusionOk="0">
                    <a:moveTo>
                      <a:pt x="0" y="8648"/>
                    </a:moveTo>
                    <a:cubicBezTo>
                      <a:pt x="1189" y="17763"/>
                      <a:pt x="3584" y="21600"/>
                      <a:pt x="7184" y="20159"/>
                    </a:cubicBezTo>
                    <a:cubicBezTo>
                      <a:pt x="10784" y="18717"/>
                      <a:pt x="15590" y="1199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3" name="Shape 270"/>
              <p:cNvSpPr txBox="1"/>
              <p:nvPr/>
            </p:nvSpPr>
            <p:spPr>
              <a:xfrm>
                <a:off x="734965" y="0"/>
                <a:ext cx="839323" cy="4122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1000"/>
                </a:lvl1pPr>
              </a:lstStyle>
              <a:p>
                <a:r>
                  <a:rPr sz="70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  <p:sp>
          <p:nvSpPr>
            <p:cNvPr id="445" name="Shape 161"/>
            <p:cNvSpPr txBox="1"/>
            <p:nvPr/>
          </p:nvSpPr>
          <p:spPr>
            <a:xfrm>
              <a:off x="1235931" y="3394409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465" name="Group"/>
          <p:cNvGrpSpPr/>
          <p:nvPr/>
        </p:nvGrpSpPr>
        <p:grpSpPr>
          <a:xfrm>
            <a:off x="5168411" y="642494"/>
            <a:ext cx="1980667" cy="4286167"/>
            <a:chOff x="0" y="-1036225"/>
            <a:chExt cx="2816947" cy="6095880"/>
          </a:xfrm>
        </p:grpSpPr>
        <p:sp>
          <p:nvSpPr>
            <p:cNvPr id="447" name="Shape 134"/>
            <p:cNvSpPr/>
            <p:nvPr/>
          </p:nvSpPr>
          <p:spPr>
            <a:xfrm flipV="1">
              <a:off x="360976" y="546182"/>
              <a:ext cx="1" cy="414289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8" name="Shape 135"/>
            <p:cNvSpPr/>
            <p:nvPr/>
          </p:nvSpPr>
          <p:spPr>
            <a:xfrm>
              <a:off x="365721" y="4676375"/>
              <a:ext cx="172102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9" name="Shape 149"/>
            <p:cNvSpPr txBox="1"/>
            <p:nvPr/>
          </p:nvSpPr>
          <p:spPr>
            <a:xfrm>
              <a:off x="1785859" y="4729453"/>
              <a:ext cx="348277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400"/>
              </a:lvl1pPr>
            </a:lstStyle>
            <a:p>
              <a:r>
                <a:rPr sz="984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450" name="Shape 150"/>
            <p:cNvSpPr txBox="1"/>
            <p:nvPr/>
          </p:nvSpPr>
          <p:spPr>
            <a:xfrm>
              <a:off x="0" y="576637"/>
              <a:ext cx="348276" cy="609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67359">
                <a:defRPr sz="1200"/>
              </a:lvl1pPr>
            </a:lstStyle>
            <a:p>
              <a:r>
                <a:rPr sz="844">
                  <a:latin typeface="Times New Roman" panose="02020603050405020304" pitchFamily="18" charset="0"/>
                  <a:cs typeface="Times New Roman" panose="02020603050405020304" pitchFamily="18" charset="0"/>
                </a:rPr>
                <a:t>Rev, Cost</a:t>
              </a:r>
            </a:p>
          </p:txBody>
        </p:sp>
        <p:sp>
          <p:nvSpPr>
            <p:cNvPr id="451" name="Shape 154"/>
            <p:cNvSpPr txBox="1"/>
            <p:nvPr/>
          </p:nvSpPr>
          <p:spPr>
            <a:xfrm>
              <a:off x="159225" y="2749972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52" name="Shape 140"/>
            <p:cNvSpPr/>
            <p:nvPr/>
          </p:nvSpPr>
          <p:spPr>
            <a:xfrm>
              <a:off x="352862" y="2687206"/>
              <a:ext cx="1326483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Shape 146"/>
            <p:cNvSpPr/>
            <p:nvPr/>
          </p:nvSpPr>
          <p:spPr>
            <a:xfrm>
              <a:off x="634743" y="867352"/>
              <a:ext cx="914734" cy="185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12"/>
                  </a:moveTo>
                  <a:cubicBezTo>
                    <a:pt x="15994" y="21600"/>
                    <a:pt x="8794" y="21596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4" name="Shape 157"/>
            <p:cNvSpPr txBox="1"/>
            <p:nvPr/>
          </p:nvSpPr>
          <p:spPr>
            <a:xfrm>
              <a:off x="1543801" y="781427"/>
              <a:ext cx="156709" cy="265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45363">
                <a:defRPr sz="839">
                  <a:solidFill>
                    <a:srgbClr val="BD5B0C"/>
                  </a:solidFill>
                </a:defRPr>
              </a:lvl1pPr>
            </a:lstStyle>
            <a:p>
              <a:r>
                <a:rPr sz="59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  <p:sp>
          <p:nvSpPr>
            <p:cNvPr id="455" name="Shape 145"/>
            <p:cNvSpPr/>
            <p:nvPr/>
          </p:nvSpPr>
          <p:spPr>
            <a:xfrm>
              <a:off x="625311" y="1131551"/>
              <a:ext cx="625400" cy="2798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6" name="Shape 158"/>
            <p:cNvSpPr txBox="1"/>
            <p:nvPr/>
          </p:nvSpPr>
          <p:spPr>
            <a:xfrm>
              <a:off x="1120837" y="951087"/>
              <a:ext cx="293096" cy="25561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29006">
                <a:defRPr sz="839"/>
              </a:lvl1pPr>
            </a:lstStyle>
            <a:p>
              <a:r>
                <a:rPr sz="59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sp>
          <p:nvSpPr>
            <p:cNvPr id="457" name="Shape 142"/>
            <p:cNvSpPr/>
            <p:nvPr/>
          </p:nvSpPr>
          <p:spPr>
            <a:xfrm flipH="1">
              <a:off x="1165350" y="2644568"/>
              <a:ext cx="1" cy="1987627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8" name="Shape 159"/>
            <p:cNvSpPr txBox="1"/>
            <p:nvPr/>
          </p:nvSpPr>
          <p:spPr>
            <a:xfrm>
              <a:off x="1080299" y="4683847"/>
              <a:ext cx="229225" cy="279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459" name="Shape 161"/>
            <p:cNvSpPr txBox="1"/>
            <p:nvPr/>
          </p:nvSpPr>
          <p:spPr>
            <a:xfrm>
              <a:off x="1195862" y="2674506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60" name="Shape 164"/>
            <p:cNvSpPr txBox="1"/>
            <p:nvPr/>
          </p:nvSpPr>
          <p:spPr>
            <a:xfrm>
              <a:off x="745768" y="-1036225"/>
              <a:ext cx="2071179" cy="679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1500"/>
              </a:lvl1pPr>
            </a:lstStyle>
            <a:p>
              <a:r>
                <a:rPr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Firm</a:t>
              </a:r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3</a:t>
              </a:r>
            </a:p>
            <a:p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Profit</a:t>
              </a:r>
              <a:endParaRPr sz="140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63" name="Group"/>
            <p:cNvGrpSpPr/>
            <p:nvPr/>
          </p:nvGrpSpPr>
          <p:grpSpPr>
            <a:xfrm>
              <a:off x="745767" y="1458145"/>
              <a:ext cx="1574288" cy="1979263"/>
              <a:chOff x="0" y="0"/>
              <a:chExt cx="1574287" cy="1979262"/>
            </a:xfrm>
          </p:grpSpPr>
          <p:sp>
            <p:nvSpPr>
              <p:cNvPr id="461" name="Shape 274"/>
              <p:cNvSpPr/>
              <p:nvPr/>
            </p:nvSpPr>
            <p:spPr>
              <a:xfrm>
                <a:off x="0" y="278946"/>
                <a:ext cx="1093843" cy="1700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54" extrusionOk="0">
                    <a:moveTo>
                      <a:pt x="0" y="8648"/>
                    </a:moveTo>
                    <a:cubicBezTo>
                      <a:pt x="1189" y="17763"/>
                      <a:pt x="3584" y="21600"/>
                      <a:pt x="7184" y="20159"/>
                    </a:cubicBezTo>
                    <a:cubicBezTo>
                      <a:pt x="10784" y="18717"/>
                      <a:pt x="15590" y="1199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62" name="Shape 270"/>
              <p:cNvSpPr txBox="1"/>
              <p:nvPr/>
            </p:nvSpPr>
            <p:spPr>
              <a:xfrm>
                <a:off x="734965" y="0"/>
                <a:ext cx="839323" cy="4122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1000"/>
                </a:lvl1pPr>
              </a:lstStyle>
              <a:p>
                <a:r>
                  <a:rPr sz="70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  <p:sp>
          <p:nvSpPr>
            <p:cNvPr id="464" name="Shape 161"/>
            <p:cNvSpPr txBox="1"/>
            <p:nvPr/>
          </p:nvSpPr>
          <p:spPr>
            <a:xfrm>
              <a:off x="1236132" y="3305509"/>
              <a:ext cx="167404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489" name="Group"/>
          <p:cNvGrpSpPr/>
          <p:nvPr/>
        </p:nvGrpSpPr>
        <p:grpSpPr>
          <a:xfrm>
            <a:off x="6876415" y="636793"/>
            <a:ext cx="1819660" cy="4313805"/>
            <a:chOff x="0" y="-788840"/>
            <a:chExt cx="2587960" cy="6135187"/>
          </a:xfrm>
        </p:grpSpPr>
        <p:sp>
          <p:nvSpPr>
            <p:cNvPr id="466" name="Shape 134"/>
            <p:cNvSpPr/>
            <p:nvPr/>
          </p:nvSpPr>
          <p:spPr>
            <a:xfrm flipH="1" flipV="1">
              <a:off x="360977" y="546181"/>
              <a:ext cx="27580" cy="4398388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7" name="Shape 135"/>
            <p:cNvSpPr/>
            <p:nvPr/>
          </p:nvSpPr>
          <p:spPr>
            <a:xfrm>
              <a:off x="377369" y="4944568"/>
              <a:ext cx="1721025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8" name="Shape 144"/>
            <p:cNvSpPr/>
            <p:nvPr/>
          </p:nvSpPr>
          <p:spPr>
            <a:xfrm>
              <a:off x="375100" y="2970282"/>
              <a:ext cx="774188" cy="320091"/>
            </a:xfrm>
            <a:prstGeom prst="rect">
              <a:avLst/>
            </a:prstGeom>
            <a:solidFill>
              <a:srgbClr val="FEFA8B"/>
            </a:solidFill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2400" b="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68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Shape 149"/>
            <p:cNvSpPr txBox="1"/>
            <p:nvPr/>
          </p:nvSpPr>
          <p:spPr>
            <a:xfrm>
              <a:off x="1798144" y="5016145"/>
              <a:ext cx="348277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400"/>
              </a:lvl1pPr>
            </a:lstStyle>
            <a:p>
              <a:r>
                <a:rPr sz="984"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470" name="Shape 150"/>
            <p:cNvSpPr txBox="1"/>
            <p:nvPr/>
          </p:nvSpPr>
          <p:spPr>
            <a:xfrm>
              <a:off x="0" y="576638"/>
              <a:ext cx="348276" cy="6096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467359">
                <a:defRPr sz="1200"/>
              </a:lvl1pPr>
            </a:lstStyle>
            <a:p>
              <a:r>
                <a:rPr sz="844">
                  <a:latin typeface="Times New Roman" panose="02020603050405020304" pitchFamily="18" charset="0"/>
                  <a:cs typeface="Times New Roman" panose="02020603050405020304" pitchFamily="18" charset="0"/>
                </a:rPr>
                <a:t>Rev, Cost</a:t>
              </a:r>
            </a:p>
          </p:txBody>
        </p:sp>
        <p:sp>
          <p:nvSpPr>
            <p:cNvPr id="471" name="Shape 154"/>
            <p:cNvSpPr txBox="1"/>
            <p:nvPr/>
          </p:nvSpPr>
          <p:spPr>
            <a:xfrm>
              <a:off x="146853" y="3037341"/>
              <a:ext cx="251636" cy="2707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472" name="Shape 140"/>
            <p:cNvSpPr/>
            <p:nvPr/>
          </p:nvSpPr>
          <p:spPr>
            <a:xfrm>
              <a:off x="354318" y="2975097"/>
              <a:ext cx="1326483" cy="3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3" name="Shape 146"/>
            <p:cNvSpPr/>
            <p:nvPr/>
          </p:nvSpPr>
          <p:spPr>
            <a:xfrm>
              <a:off x="560885" y="1489918"/>
              <a:ext cx="914734" cy="18557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extrusionOk="0">
                  <a:moveTo>
                    <a:pt x="21600" y="12"/>
                  </a:moveTo>
                  <a:cubicBezTo>
                    <a:pt x="15994" y="21600"/>
                    <a:pt x="8794" y="21596"/>
                    <a:pt x="0" y="0"/>
                  </a:cubicBezTo>
                </a:path>
              </a:pathLst>
            </a:custGeom>
            <a:noFill/>
            <a:ln w="25400" cap="flat">
              <a:solidFill>
                <a:srgbClr val="BD5B0C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4" name="Shape 157"/>
            <p:cNvSpPr txBox="1"/>
            <p:nvPr/>
          </p:nvSpPr>
          <p:spPr>
            <a:xfrm>
              <a:off x="1479917" y="1220145"/>
              <a:ext cx="156709" cy="2652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45363">
                <a:defRPr sz="839">
                  <a:solidFill>
                    <a:srgbClr val="BD5B0C"/>
                  </a:solidFill>
                </a:defRPr>
              </a:lvl1pPr>
            </a:lstStyle>
            <a:p>
              <a:r>
                <a:rPr sz="59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  <p:sp>
          <p:nvSpPr>
            <p:cNvPr id="475" name="Shape 145"/>
            <p:cNvSpPr/>
            <p:nvPr/>
          </p:nvSpPr>
          <p:spPr>
            <a:xfrm>
              <a:off x="625312" y="1131551"/>
              <a:ext cx="625399" cy="279808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44" extrusionOk="0">
                  <a:moveTo>
                    <a:pt x="21600" y="0"/>
                  </a:moveTo>
                  <a:cubicBezTo>
                    <a:pt x="16714" y="17857"/>
                    <a:pt x="9514" y="21600"/>
                    <a:pt x="0" y="11228"/>
                  </a:cubicBezTo>
                </a:path>
              </a:pathLst>
            </a:custGeom>
            <a:noFill/>
            <a:ln w="25400" cap="flat">
              <a:solidFill>
                <a:srgbClr val="0B5D18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6" name="Shape 158"/>
            <p:cNvSpPr txBox="1"/>
            <p:nvPr/>
          </p:nvSpPr>
          <p:spPr>
            <a:xfrm>
              <a:off x="1042101" y="950724"/>
              <a:ext cx="417220" cy="2282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229006">
                <a:defRPr sz="839"/>
              </a:lvl1pPr>
            </a:lstStyle>
            <a:p>
              <a:r>
                <a:rPr sz="59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  <p:sp>
          <p:nvSpPr>
            <p:cNvPr id="477" name="Shape 142"/>
            <p:cNvSpPr/>
            <p:nvPr/>
          </p:nvSpPr>
          <p:spPr>
            <a:xfrm>
              <a:off x="1147049" y="2992843"/>
              <a:ext cx="16362" cy="1951725"/>
            </a:xfrm>
            <a:prstGeom prst="line">
              <a:avLst/>
            </a:prstGeom>
            <a:noFill/>
            <a:ln w="38100" cap="rnd">
              <a:solidFill>
                <a:srgbClr val="000000"/>
              </a:solidFill>
              <a:custDash>
                <a:ds d="100000" sp="200000"/>
              </a:custDash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8" name="Shape 159"/>
            <p:cNvSpPr txBox="1"/>
            <p:nvPr/>
          </p:nvSpPr>
          <p:spPr>
            <a:xfrm>
              <a:off x="1067131" y="4944823"/>
              <a:ext cx="229225" cy="279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479" name="Shape 161"/>
            <p:cNvSpPr txBox="1"/>
            <p:nvPr/>
          </p:nvSpPr>
          <p:spPr>
            <a:xfrm>
              <a:off x="921760" y="2742328"/>
              <a:ext cx="231183" cy="2770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480" name="Shape 160"/>
            <p:cNvSpPr txBox="1"/>
            <p:nvPr/>
          </p:nvSpPr>
          <p:spPr>
            <a:xfrm>
              <a:off x="1188791" y="3109426"/>
              <a:ext cx="195657" cy="3861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481" name="Shape 143"/>
            <p:cNvSpPr/>
            <p:nvPr/>
          </p:nvSpPr>
          <p:spPr>
            <a:xfrm>
              <a:off x="392212" y="3001451"/>
              <a:ext cx="839322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2" name="Shape 162"/>
            <p:cNvSpPr txBox="1"/>
            <p:nvPr/>
          </p:nvSpPr>
          <p:spPr>
            <a:xfrm>
              <a:off x="100562" y="3301064"/>
              <a:ext cx="342180" cy="3636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483" name="Shape 164"/>
            <p:cNvSpPr txBox="1"/>
            <p:nvPr/>
          </p:nvSpPr>
          <p:spPr>
            <a:xfrm>
              <a:off x="598701" y="-788840"/>
              <a:ext cx="1851337" cy="77863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1500"/>
              </a:lvl1pPr>
            </a:lstStyle>
            <a:p>
              <a:r>
                <a:rPr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Firm</a:t>
              </a:r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4</a:t>
              </a:r>
            </a:p>
            <a:p>
              <a:r>
                <a:rPr lang="en-US"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 NP</a:t>
              </a:r>
              <a:endParaRPr sz="1406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86" name="Group"/>
            <p:cNvGrpSpPr/>
            <p:nvPr/>
          </p:nvGrpSpPr>
          <p:grpSpPr>
            <a:xfrm>
              <a:off x="719870" y="1724517"/>
              <a:ext cx="1574288" cy="1979263"/>
              <a:chOff x="0" y="0"/>
              <a:chExt cx="1574287" cy="1979262"/>
            </a:xfrm>
          </p:grpSpPr>
          <p:sp>
            <p:nvSpPr>
              <p:cNvPr id="484" name="Shape 274"/>
              <p:cNvSpPr/>
              <p:nvPr/>
            </p:nvSpPr>
            <p:spPr>
              <a:xfrm>
                <a:off x="0" y="278946"/>
                <a:ext cx="1093843" cy="170031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454" extrusionOk="0">
                    <a:moveTo>
                      <a:pt x="0" y="8648"/>
                    </a:moveTo>
                    <a:cubicBezTo>
                      <a:pt x="1189" y="17763"/>
                      <a:pt x="3584" y="21600"/>
                      <a:pt x="7184" y="20159"/>
                    </a:cubicBezTo>
                    <a:cubicBezTo>
                      <a:pt x="10784" y="18717"/>
                      <a:pt x="15590" y="11998"/>
                      <a:pt x="21600" y="0"/>
                    </a:cubicBezTo>
                  </a:path>
                </a:pathLst>
              </a:custGeom>
              <a:noFill/>
              <a:ln w="25400" cap="flat">
                <a:solidFill>
                  <a:schemeClr val="accent1"/>
                </a:solidFill>
                <a:prstDash val="solid"/>
                <a:round/>
              </a:ln>
              <a:effectLst>
                <a:outerShdw blurRad="38100" dist="25400" dir="5400000" rotWithShape="0">
                  <a:srgbClr val="000000">
                    <a:alpha val="50000"/>
                  </a:srgbClr>
                </a:outerShdw>
              </a:effectLst>
            </p:spPr>
            <p:txBody>
              <a:bodyPr wrap="square" lIns="35719" tIns="35719" rIns="35719" bIns="35719" numCol="1" anchor="ctr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85" name="Shape 270"/>
              <p:cNvSpPr txBox="1"/>
              <p:nvPr/>
            </p:nvSpPr>
            <p:spPr>
              <a:xfrm>
                <a:off x="734965" y="0"/>
                <a:ext cx="839323" cy="41223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35719" tIns="35719" rIns="35719" bIns="35719" numCol="1" anchor="ctr">
                <a:noAutofit/>
              </a:bodyPr>
              <a:lstStyle>
                <a:lvl1pPr>
                  <a:defRPr sz="1000"/>
                </a:lvl1pPr>
              </a:lstStyle>
              <a:p>
                <a:r>
                  <a:rPr sz="703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AVC</a:t>
                </a:r>
              </a:p>
            </p:txBody>
          </p:sp>
        </p:grpSp>
        <p:sp>
          <p:nvSpPr>
            <p:cNvPr id="487" name="Shape 161"/>
            <p:cNvSpPr txBox="1"/>
            <p:nvPr/>
          </p:nvSpPr>
          <p:spPr>
            <a:xfrm>
              <a:off x="1201451" y="3591863"/>
              <a:ext cx="167403" cy="3302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</a:p>
          </p:txBody>
        </p:sp>
        <p:sp>
          <p:nvSpPr>
            <p:cNvPr id="488" name="Shape 156"/>
            <p:cNvSpPr txBox="1"/>
            <p:nvPr/>
          </p:nvSpPr>
          <p:spPr>
            <a:xfrm>
              <a:off x="1813773" y="2547537"/>
              <a:ext cx="774187" cy="2793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 sz="1500"/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AR / MR  </a:t>
              </a:r>
            </a:p>
          </p:txBody>
        </p:sp>
      </p:grpSp>
      <p:sp>
        <p:nvSpPr>
          <p:cNvPr id="492" name="Connection Line"/>
          <p:cNvSpPr/>
          <p:nvPr/>
        </p:nvSpPr>
        <p:spPr>
          <a:xfrm>
            <a:off x="1093205" y="2210017"/>
            <a:ext cx="7688076" cy="1086903"/>
          </a:xfrm>
          <a:custGeom>
            <a:avLst/>
            <a:gdLst>
              <a:gd name="connsiteX0" fmla="*/ 21600 w 21600"/>
              <a:gd name="connsiteY0" fmla="*/ 19806 h 20625"/>
              <a:gd name="connsiteX1" fmla="*/ 0 w 21600"/>
              <a:gd name="connsiteY1" fmla="*/ 0 h 2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600" h="20625" extrusionOk="0">
                <a:moveTo>
                  <a:pt x="21600" y="19806"/>
                </a:moveTo>
                <a:cubicBezTo>
                  <a:pt x="14225" y="23275"/>
                  <a:pt x="7025" y="15556"/>
                  <a:pt x="0" y="0"/>
                </a:cubicBezTo>
              </a:path>
            </a:pathLst>
          </a:custGeom>
          <a:ln w="76200">
            <a:solidFill>
              <a:schemeClr val="accent1"/>
            </a:solidFill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sz="126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" name="Shape 152"/>
          <p:cNvSpPr txBox="1"/>
          <p:nvPr/>
        </p:nvSpPr>
        <p:spPr>
          <a:xfrm>
            <a:off x="1056801" y="1970499"/>
            <a:ext cx="390394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500">
                <a:solidFill>
                  <a:srgbClr val="002452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LAC</a:t>
            </a:r>
          </a:p>
        </p:txBody>
      </p:sp>
      <p:sp>
        <p:nvSpPr>
          <p:cNvPr id="104" name="Shape 138">
            <a:extLst>
              <a:ext uri="{FF2B5EF4-FFF2-40B4-BE49-F238E27FC236}">
                <a16:creationId xmlns:a16="http://schemas.microsoft.com/office/drawing/2014/main" id="{C9E969EE-F02F-C64C-BC72-1D311F68E596}"/>
              </a:ext>
            </a:extLst>
          </p:cNvPr>
          <p:cNvSpPr/>
          <p:nvPr/>
        </p:nvSpPr>
        <p:spPr>
          <a:xfrm flipV="1">
            <a:off x="1018153" y="3238574"/>
            <a:ext cx="589632" cy="10317"/>
          </a:xfrm>
          <a:prstGeom prst="line">
            <a:avLst/>
          </a:prstGeom>
          <a:ln w="25400">
            <a:solidFill>
              <a:srgbClr val="000000"/>
            </a:solidFill>
            <a:prstDash val="dash"/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Shape 138">
            <a:extLst>
              <a:ext uri="{FF2B5EF4-FFF2-40B4-BE49-F238E27FC236}">
                <a16:creationId xmlns:a16="http://schemas.microsoft.com/office/drawing/2014/main" id="{ECDD8967-5780-BF4E-B0D6-1693C0ADC5F6}"/>
              </a:ext>
            </a:extLst>
          </p:cNvPr>
          <p:cNvSpPr/>
          <p:nvPr/>
        </p:nvSpPr>
        <p:spPr>
          <a:xfrm flipV="1">
            <a:off x="1676362" y="3214440"/>
            <a:ext cx="342692" cy="10245"/>
          </a:xfrm>
          <a:prstGeom prst="line">
            <a:avLst/>
          </a:prstGeom>
          <a:ln w="25400">
            <a:solidFill>
              <a:srgbClr val="000000"/>
            </a:solidFill>
            <a:prstDash val="dash"/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EB7045-1895-8C40-AADE-5005524A423B}"/>
              </a:ext>
            </a:extLst>
          </p:cNvPr>
          <p:cNvCxnSpPr>
            <a:cxnSpLocks/>
          </p:cNvCxnSpPr>
          <p:nvPr/>
        </p:nvCxnSpPr>
        <p:spPr>
          <a:xfrm>
            <a:off x="2077671" y="3189593"/>
            <a:ext cx="6693232" cy="126563"/>
          </a:xfrm>
          <a:prstGeom prst="line">
            <a:avLst/>
          </a:prstGeom>
          <a:noFill/>
          <a:ln w="25400" cap="flat">
            <a:solidFill>
              <a:schemeClr val="accent6">
                <a:lumMod val="50000"/>
              </a:schemeClr>
            </a:solidFill>
            <a:prstDash val="dash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576A96-F0DB-0E4B-A404-D923C6716C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859040" y="6201366"/>
            <a:ext cx="249426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22</a:t>
            </a:fld>
            <a:endParaRPr lang="en-IN" dirty="0"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" grpId="0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" name="Shape 982"/>
          <p:cNvSpPr txBox="1">
            <a:spLocks noGrp="1"/>
          </p:cNvSpPr>
          <p:nvPr>
            <p:ph type="title"/>
          </p:nvPr>
        </p:nvSpPr>
        <p:spPr>
          <a:xfrm>
            <a:off x="351199" y="2536251"/>
            <a:ext cx="8441603" cy="1785498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406644">
              <a:defRPr sz="4356" b="1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531" dirty="0"/>
              <a:t>PRODUCTION EFFICIENCY </a:t>
            </a:r>
            <a:br>
              <a:rPr sz="2531" dirty="0"/>
            </a:br>
            <a:r>
              <a:rPr sz="2531" dirty="0"/>
              <a:t>UNDER </a:t>
            </a:r>
            <a:br>
              <a:rPr sz="2531" dirty="0"/>
            </a:br>
            <a:r>
              <a:rPr sz="2531" dirty="0"/>
              <a:t>PERFECT COMPETITION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AD30A8-D54A-B74E-809D-E8833CA656D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37376" y="6400413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111906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Shape 984"/>
          <p:cNvSpPr txBox="1"/>
          <p:nvPr/>
        </p:nvSpPr>
        <p:spPr>
          <a:xfrm>
            <a:off x="3112868" y="1675213"/>
            <a:ext cx="787850" cy="3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normAutofit/>
          </a:bodyPr>
          <a:lstStyle>
            <a:lvl1pPr defTabSz="40894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1627" name="Shape 985"/>
          <p:cNvSpPr/>
          <p:nvPr/>
        </p:nvSpPr>
        <p:spPr>
          <a:xfrm flipV="1">
            <a:off x="811690" y="1371025"/>
            <a:ext cx="1" cy="3917689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8" name="Shape 987"/>
          <p:cNvSpPr/>
          <p:nvPr/>
        </p:nvSpPr>
        <p:spPr>
          <a:xfrm flipV="1">
            <a:off x="5709628" y="1454555"/>
            <a:ext cx="1" cy="381428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9" name="Shape 988"/>
          <p:cNvSpPr/>
          <p:nvPr/>
        </p:nvSpPr>
        <p:spPr>
          <a:xfrm>
            <a:off x="5719871" y="5258594"/>
            <a:ext cx="306525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0" name="Shape 990"/>
          <p:cNvSpPr/>
          <p:nvPr/>
        </p:nvSpPr>
        <p:spPr>
          <a:xfrm flipH="1" flipV="1">
            <a:off x="1781193" y="4824420"/>
            <a:ext cx="2" cy="45663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1" name="Shape 991"/>
          <p:cNvSpPr txBox="1"/>
          <p:nvPr/>
        </p:nvSpPr>
        <p:spPr>
          <a:xfrm>
            <a:off x="8519320" y="5301380"/>
            <a:ext cx="751726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</a:t>
            </a:r>
          </a:p>
        </p:txBody>
      </p:sp>
      <p:sp>
        <p:nvSpPr>
          <p:cNvPr id="1632" name="Shape 992"/>
          <p:cNvSpPr txBox="1"/>
          <p:nvPr/>
        </p:nvSpPr>
        <p:spPr>
          <a:xfrm>
            <a:off x="8108603" y="1768439"/>
            <a:ext cx="733446" cy="44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15262">
              <a:lnSpc>
                <a:spcPct val="90000"/>
              </a:lnSpc>
              <a:defRPr sz="3400">
                <a:solidFill>
                  <a:srgbClr val="A2110D"/>
                </a:solidFill>
              </a:defRPr>
            </a:lvl1pPr>
          </a:lstStyle>
          <a:p>
            <a:r>
              <a:rPr sz="23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633" name="Shape 994"/>
          <p:cNvSpPr txBox="1"/>
          <p:nvPr/>
        </p:nvSpPr>
        <p:spPr>
          <a:xfrm>
            <a:off x="5276656" y="1464424"/>
            <a:ext cx="62945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634" name="Shape 995"/>
          <p:cNvSpPr txBox="1"/>
          <p:nvPr/>
        </p:nvSpPr>
        <p:spPr>
          <a:xfrm>
            <a:off x="436355" y="1380342"/>
            <a:ext cx="629458" cy="428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735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635" name="Shape 996"/>
          <p:cNvSpPr txBox="1"/>
          <p:nvPr/>
        </p:nvSpPr>
        <p:spPr>
          <a:xfrm>
            <a:off x="3723506" y="3713839"/>
            <a:ext cx="816790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chemeClr val="accent6">
                    <a:lumOff val="-8549"/>
                  </a:schemeClr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AR2 / MR2  </a:t>
            </a:r>
          </a:p>
        </p:txBody>
      </p:sp>
      <p:sp>
        <p:nvSpPr>
          <p:cNvPr id="1636" name="Shape 1000"/>
          <p:cNvSpPr/>
          <p:nvPr/>
        </p:nvSpPr>
        <p:spPr>
          <a:xfrm>
            <a:off x="811689" y="4838029"/>
            <a:ext cx="3028821" cy="1"/>
          </a:xfrm>
          <a:prstGeom prst="line">
            <a:avLst/>
          </a:prstGeom>
          <a:ln w="76200">
            <a:solidFill>
              <a:srgbClr val="630F2C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7" name="Shape 1001"/>
          <p:cNvSpPr txBox="1"/>
          <p:nvPr/>
        </p:nvSpPr>
        <p:spPr>
          <a:xfrm>
            <a:off x="592471" y="4708333"/>
            <a:ext cx="428922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42081F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P0</a:t>
            </a:r>
          </a:p>
        </p:txBody>
      </p:sp>
      <p:grpSp>
        <p:nvGrpSpPr>
          <p:cNvPr id="1640" name="Group"/>
          <p:cNvGrpSpPr/>
          <p:nvPr/>
        </p:nvGrpSpPr>
        <p:grpSpPr>
          <a:xfrm>
            <a:off x="389152" y="2478623"/>
            <a:ext cx="3329673" cy="440648"/>
            <a:chOff x="60998" y="17840"/>
            <a:chExt cx="4735534" cy="626699"/>
          </a:xfrm>
        </p:grpSpPr>
        <p:sp>
          <p:nvSpPr>
            <p:cNvPr id="1638" name="Shape 999"/>
            <p:cNvSpPr/>
            <p:nvPr/>
          </p:nvSpPr>
          <p:spPr>
            <a:xfrm>
              <a:off x="648200" y="158679"/>
              <a:ext cx="4148332" cy="1"/>
            </a:xfrm>
            <a:prstGeom prst="line">
              <a:avLst/>
            </a:prstGeom>
            <a:noFill/>
            <a:ln w="63500" cap="flat">
              <a:solidFill>
                <a:schemeClr val="accent1">
                  <a:lumOff val="-7647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" name="Shape 1002"/>
            <p:cNvSpPr txBox="1"/>
            <p:nvPr/>
          </p:nvSpPr>
          <p:spPr>
            <a:xfrm>
              <a:off x="60998" y="17840"/>
              <a:ext cx="626699" cy="626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</a:p>
          </p:txBody>
        </p:sp>
      </p:grpSp>
      <p:sp>
        <p:nvSpPr>
          <p:cNvPr id="1641" name="Shape 1003"/>
          <p:cNvSpPr txBox="1"/>
          <p:nvPr/>
        </p:nvSpPr>
        <p:spPr>
          <a:xfrm>
            <a:off x="3818279" y="2617958"/>
            <a:ext cx="939128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chemeClr val="accent1">
                    <a:lumOff val="-7647"/>
                  </a:schemeClr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AR3 / MR3</a:t>
            </a:r>
          </a:p>
        </p:txBody>
      </p:sp>
      <p:sp>
        <p:nvSpPr>
          <p:cNvPr id="1642" name="Shape 1004"/>
          <p:cNvSpPr txBox="1"/>
          <p:nvPr/>
        </p:nvSpPr>
        <p:spPr>
          <a:xfrm>
            <a:off x="3639993" y="4891285"/>
            <a:ext cx="975449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rgbClr val="42081F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AR0 / MR0  </a:t>
            </a:r>
          </a:p>
        </p:txBody>
      </p:sp>
      <p:sp>
        <p:nvSpPr>
          <p:cNvPr id="1645" name="Shape 1007"/>
          <p:cNvSpPr/>
          <p:nvPr/>
        </p:nvSpPr>
        <p:spPr>
          <a:xfrm flipH="1" flipV="1">
            <a:off x="2788561" y="3705233"/>
            <a:ext cx="3" cy="155725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6" name="Shape 1008"/>
          <p:cNvSpPr/>
          <p:nvPr/>
        </p:nvSpPr>
        <p:spPr>
          <a:xfrm flipV="1">
            <a:off x="3297753" y="2603259"/>
            <a:ext cx="2" cy="2657749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50" name="Group 1019"/>
          <p:cNvGrpSpPr/>
          <p:nvPr/>
        </p:nvGrpSpPr>
        <p:grpSpPr>
          <a:xfrm>
            <a:off x="1158814" y="2143006"/>
            <a:ext cx="2259379" cy="2677633"/>
            <a:chOff x="-1" y="-1"/>
            <a:chExt cx="3213337" cy="3808187"/>
          </a:xfrm>
        </p:grpSpPr>
        <p:sp>
          <p:nvSpPr>
            <p:cNvPr id="1648" name="Shape 1017"/>
            <p:cNvSpPr/>
            <p:nvPr/>
          </p:nvSpPr>
          <p:spPr>
            <a:xfrm>
              <a:off x="909894" y="-2"/>
              <a:ext cx="2303443" cy="38002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577" y="9112"/>
                    <a:pt x="10377" y="16312"/>
                    <a:pt x="0" y="21600"/>
                  </a:cubicBezTo>
                </a:path>
              </a:pathLst>
            </a:custGeom>
            <a:noFill/>
            <a:ln w="50800" cap="flat">
              <a:solidFill>
                <a:schemeClr val="accent2">
                  <a:lumOff val="-5333"/>
                </a:schemeClr>
              </a:solidFill>
              <a:prstDash val="solid"/>
              <a:bevel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49" name="Shape 1018"/>
            <p:cNvSpPr/>
            <p:nvPr/>
          </p:nvSpPr>
          <p:spPr>
            <a:xfrm>
              <a:off x="-2" y="2416716"/>
              <a:ext cx="901979" cy="13914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342" extrusionOk="0">
                  <a:moveTo>
                    <a:pt x="0" y="0"/>
                  </a:moveTo>
                  <a:cubicBezTo>
                    <a:pt x="5556" y="14884"/>
                    <a:pt x="12756" y="21600"/>
                    <a:pt x="21600" y="20149"/>
                  </a:cubicBezTo>
                </a:path>
              </a:pathLst>
            </a:custGeom>
            <a:noFill/>
            <a:ln w="25400" cap="flat">
              <a:solidFill>
                <a:schemeClr val="accent3">
                  <a:lumOff val="-9999"/>
                </a:schemeClr>
              </a:solidFill>
              <a:prstDash val="solid"/>
              <a:bevel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51" name="Shape 1020"/>
          <p:cNvSpPr/>
          <p:nvPr/>
        </p:nvSpPr>
        <p:spPr>
          <a:xfrm>
            <a:off x="6441508" y="2233168"/>
            <a:ext cx="1667095" cy="25872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cubicBezTo>
                  <a:pt x="17577" y="9112"/>
                  <a:pt x="10377" y="16312"/>
                  <a:pt x="0" y="21600"/>
                </a:cubicBezTo>
              </a:path>
            </a:pathLst>
          </a:custGeom>
          <a:ln w="50800">
            <a:solidFill>
              <a:srgbClr val="263E0F"/>
            </a:solidFill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5719" tIns="35719" rIns="35719" bIns="35719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2" name="Shape 1021"/>
          <p:cNvSpPr txBox="1"/>
          <p:nvPr/>
        </p:nvSpPr>
        <p:spPr>
          <a:xfrm>
            <a:off x="3840509" y="5320430"/>
            <a:ext cx="751726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653" name="Shape 1022"/>
          <p:cNvSpPr txBox="1"/>
          <p:nvPr/>
        </p:nvSpPr>
        <p:spPr>
          <a:xfrm>
            <a:off x="2528093" y="3361697"/>
            <a:ext cx="726389" cy="604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1654" name="Shape 1023"/>
          <p:cNvSpPr txBox="1"/>
          <p:nvPr/>
        </p:nvSpPr>
        <p:spPr>
          <a:xfrm>
            <a:off x="1599062" y="4536092"/>
            <a:ext cx="529374" cy="28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E0</a:t>
            </a:r>
          </a:p>
        </p:txBody>
      </p:sp>
      <p:sp>
        <p:nvSpPr>
          <p:cNvPr id="1655" name="Shape 1024"/>
          <p:cNvSpPr txBox="1"/>
          <p:nvPr/>
        </p:nvSpPr>
        <p:spPr>
          <a:xfrm>
            <a:off x="3030527" y="2338418"/>
            <a:ext cx="726390" cy="2678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6D577C-C347-1141-B7A7-806B2F842E70}"/>
              </a:ext>
            </a:extLst>
          </p:cNvPr>
          <p:cNvGrpSpPr/>
          <p:nvPr/>
        </p:nvGrpSpPr>
        <p:grpSpPr>
          <a:xfrm>
            <a:off x="3767159" y="2294792"/>
            <a:ext cx="2263997" cy="282860"/>
            <a:chOff x="5133802" y="3245042"/>
            <a:chExt cx="3219907" cy="402290"/>
          </a:xfrm>
        </p:grpSpPr>
        <p:sp>
          <p:nvSpPr>
            <p:cNvPr id="1643" name="Shape 1005"/>
            <p:cNvSpPr txBox="1"/>
            <p:nvPr/>
          </p:nvSpPr>
          <p:spPr>
            <a:xfrm>
              <a:off x="7608816" y="3245042"/>
              <a:ext cx="744893" cy="3302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</a:p>
          </p:txBody>
        </p:sp>
        <p:sp>
          <p:nvSpPr>
            <p:cNvPr id="1656" name="Shape 1028"/>
            <p:cNvSpPr/>
            <p:nvPr/>
          </p:nvSpPr>
          <p:spPr>
            <a:xfrm>
              <a:off x="5133802" y="3647329"/>
              <a:ext cx="2679314" cy="3"/>
            </a:xfrm>
            <a:prstGeom prst="line">
              <a:avLst/>
            </a:prstGeom>
            <a:ln w="63500">
              <a:solidFill>
                <a:schemeClr val="accent1">
                  <a:lumOff val="-7647"/>
                </a:schemeClr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61" name="Group"/>
          <p:cNvGrpSpPr/>
          <p:nvPr/>
        </p:nvGrpSpPr>
        <p:grpSpPr>
          <a:xfrm>
            <a:off x="5653415" y="2338417"/>
            <a:ext cx="2789614" cy="2940833"/>
            <a:chOff x="0" y="113287"/>
            <a:chExt cx="3967449" cy="4182515"/>
          </a:xfrm>
        </p:grpSpPr>
        <p:sp>
          <p:nvSpPr>
            <p:cNvPr id="1657" name="Shape 1010"/>
            <p:cNvSpPr/>
            <p:nvPr/>
          </p:nvSpPr>
          <p:spPr>
            <a:xfrm flipV="1">
              <a:off x="3349658" y="449675"/>
              <a:ext cx="2" cy="3846127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60" name="Group"/>
            <p:cNvGrpSpPr/>
            <p:nvPr/>
          </p:nvGrpSpPr>
          <p:grpSpPr>
            <a:xfrm>
              <a:off x="0" y="113287"/>
              <a:ext cx="3967449" cy="381003"/>
              <a:chOff x="0" y="113287"/>
              <a:chExt cx="3967448" cy="381002"/>
            </a:xfrm>
          </p:grpSpPr>
          <p:sp>
            <p:nvSpPr>
              <p:cNvPr id="1658" name="Shape 1027"/>
              <p:cNvSpPr txBox="1"/>
              <p:nvPr/>
            </p:nvSpPr>
            <p:spPr>
              <a:xfrm>
                <a:off x="2934361" y="113287"/>
                <a:ext cx="1033087" cy="3810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normAutofit lnSpcReduction="10000"/>
              </a:bodyPr>
              <a:lstStyle>
                <a:lvl1pPr>
                  <a:defRPr sz="2500"/>
                </a:lvl1pPr>
              </a:lstStyle>
              <a:p>
                <a:r>
                  <a:rPr sz="175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</a:p>
            </p:txBody>
          </p:sp>
          <p:sp>
            <p:nvSpPr>
              <p:cNvPr id="1659" name="Shape 1029"/>
              <p:cNvSpPr/>
              <p:nvPr/>
            </p:nvSpPr>
            <p:spPr>
              <a:xfrm>
                <a:off x="0" y="453528"/>
                <a:ext cx="3323712" cy="1"/>
              </a:xfrm>
              <a:prstGeom prst="line">
                <a:avLst/>
              </a:prstGeom>
              <a:noFill/>
              <a:ln w="63500" cap="flat">
                <a:solidFill>
                  <a:schemeClr val="accent1">
                    <a:lumOff val="-7647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96ECAE6-2F07-544A-B444-D478E75FD594}"/>
              </a:ext>
            </a:extLst>
          </p:cNvPr>
          <p:cNvGrpSpPr/>
          <p:nvPr/>
        </p:nvGrpSpPr>
        <p:grpSpPr>
          <a:xfrm>
            <a:off x="3792035" y="3381885"/>
            <a:ext cx="2065376" cy="283807"/>
            <a:chOff x="5169182" y="4791126"/>
            <a:chExt cx="2937424" cy="403636"/>
          </a:xfrm>
        </p:grpSpPr>
        <p:sp>
          <p:nvSpPr>
            <p:cNvPr id="1644" name="Shape 1006"/>
            <p:cNvSpPr txBox="1"/>
            <p:nvPr/>
          </p:nvSpPr>
          <p:spPr>
            <a:xfrm>
              <a:off x="7592720" y="4791126"/>
              <a:ext cx="513886" cy="3302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</a:p>
          </p:txBody>
        </p:sp>
        <p:sp>
          <p:nvSpPr>
            <p:cNvPr id="1662" name="Shape 1030"/>
            <p:cNvSpPr/>
            <p:nvPr/>
          </p:nvSpPr>
          <p:spPr>
            <a:xfrm>
              <a:off x="5169182" y="5194760"/>
              <a:ext cx="2704627" cy="2"/>
            </a:xfrm>
            <a:prstGeom prst="line">
              <a:avLst/>
            </a:prstGeom>
            <a:ln w="76200">
              <a:solidFill>
                <a:schemeClr val="accent6">
                  <a:lumOff val="-8549"/>
                </a:schemeClr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66" name="Group"/>
          <p:cNvGrpSpPr/>
          <p:nvPr/>
        </p:nvGrpSpPr>
        <p:grpSpPr>
          <a:xfrm>
            <a:off x="5693725" y="3384839"/>
            <a:ext cx="2280041" cy="1882686"/>
            <a:chOff x="0" y="43864"/>
            <a:chExt cx="3242722" cy="2677596"/>
          </a:xfrm>
        </p:grpSpPr>
        <p:sp>
          <p:nvSpPr>
            <p:cNvPr id="1663" name="Shape 1011"/>
            <p:cNvSpPr/>
            <p:nvPr/>
          </p:nvSpPr>
          <p:spPr>
            <a:xfrm flipV="1">
              <a:off x="2544467" y="470560"/>
              <a:ext cx="2" cy="22509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4" name="Shape 1026"/>
            <p:cNvSpPr txBox="1"/>
            <p:nvPr/>
          </p:nvSpPr>
          <p:spPr>
            <a:xfrm>
              <a:off x="2209635" y="43864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1665" name="Shape 1031"/>
            <p:cNvSpPr/>
            <p:nvPr/>
          </p:nvSpPr>
          <p:spPr>
            <a:xfrm>
              <a:off x="0" y="461433"/>
              <a:ext cx="2529702" cy="2"/>
            </a:xfrm>
            <a:prstGeom prst="line">
              <a:avLst/>
            </a:prstGeom>
            <a:noFill/>
            <a:ln w="76200" cap="flat">
              <a:solidFill>
                <a:schemeClr val="accent6">
                  <a:lumOff val="-8549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41A60E8-0833-9940-A72F-DCD66CE882EE}"/>
              </a:ext>
            </a:extLst>
          </p:cNvPr>
          <p:cNvGrpSpPr/>
          <p:nvPr/>
        </p:nvGrpSpPr>
        <p:grpSpPr>
          <a:xfrm>
            <a:off x="3886941" y="4569605"/>
            <a:ext cx="2060791" cy="271892"/>
            <a:chOff x="5304159" y="6480335"/>
            <a:chExt cx="2930902" cy="386691"/>
          </a:xfrm>
        </p:grpSpPr>
        <p:sp>
          <p:nvSpPr>
            <p:cNvPr id="1647" name="Shape 1009"/>
            <p:cNvSpPr txBox="1"/>
            <p:nvPr/>
          </p:nvSpPr>
          <p:spPr>
            <a:xfrm>
              <a:off x="7625039" y="6480335"/>
              <a:ext cx="610022" cy="3302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rgbClr val="42081F"/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1667" name="Shape 1032"/>
            <p:cNvSpPr/>
            <p:nvPr/>
          </p:nvSpPr>
          <p:spPr>
            <a:xfrm>
              <a:off x="5304159" y="6867025"/>
              <a:ext cx="2592267" cy="1"/>
            </a:xfrm>
            <a:prstGeom prst="line">
              <a:avLst/>
            </a:prstGeom>
            <a:ln w="76200">
              <a:solidFill>
                <a:srgbClr val="630F2C"/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72" name="Group"/>
          <p:cNvGrpSpPr/>
          <p:nvPr/>
        </p:nvGrpSpPr>
        <p:grpSpPr>
          <a:xfrm>
            <a:off x="5733271" y="4526453"/>
            <a:ext cx="1243224" cy="721900"/>
            <a:chOff x="0" y="43536"/>
            <a:chExt cx="1768140" cy="1026702"/>
          </a:xfrm>
        </p:grpSpPr>
        <p:sp>
          <p:nvSpPr>
            <p:cNvPr id="1668" name="Shape 1025"/>
            <p:cNvSpPr txBox="1"/>
            <p:nvPr/>
          </p:nvSpPr>
          <p:spPr>
            <a:xfrm>
              <a:off x="703465" y="43536"/>
              <a:ext cx="1064675" cy="3926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S0</a:t>
              </a:r>
            </a:p>
          </p:txBody>
        </p:sp>
        <p:grpSp>
          <p:nvGrpSpPr>
            <p:cNvPr id="1671" name="Group"/>
            <p:cNvGrpSpPr/>
            <p:nvPr/>
          </p:nvGrpSpPr>
          <p:grpSpPr>
            <a:xfrm>
              <a:off x="0" y="457987"/>
              <a:ext cx="1065716" cy="612251"/>
              <a:chOff x="0" y="0"/>
              <a:chExt cx="1065715" cy="612249"/>
            </a:xfrm>
          </p:grpSpPr>
          <p:sp>
            <p:nvSpPr>
              <p:cNvPr id="1669" name="Shape 1012"/>
              <p:cNvSpPr/>
              <p:nvPr/>
            </p:nvSpPr>
            <p:spPr>
              <a:xfrm>
                <a:off x="1065714" y="27809"/>
                <a:ext cx="2" cy="584441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70" name="Shape 1033"/>
              <p:cNvSpPr/>
              <p:nvPr/>
            </p:nvSpPr>
            <p:spPr>
              <a:xfrm>
                <a:off x="0" y="0"/>
                <a:ext cx="1053593" cy="0"/>
              </a:xfrm>
              <a:prstGeom prst="line">
                <a:avLst/>
              </a:prstGeom>
              <a:noFill/>
              <a:ln w="76200" cap="flat">
                <a:solidFill>
                  <a:srgbClr val="630F2C"/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673" name="Shape 1034"/>
          <p:cNvSpPr txBox="1"/>
          <p:nvPr/>
        </p:nvSpPr>
        <p:spPr>
          <a:xfrm>
            <a:off x="1428244" y="335974"/>
            <a:ext cx="7131728" cy="428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4000">
                <a:solidFill>
                  <a:srgbClr val="000000"/>
                </a:solidFill>
              </a:defRPr>
            </a:lvl1pPr>
          </a:lstStyle>
          <a:p>
            <a:r>
              <a:rPr sz="2812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a Firm's Supply Curve </a:t>
            </a:r>
          </a:p>
        </p:txBody>
      </p:sp>
      <p:grpSp>
        <p:nvGrpSpPr>
          <p:cNvPr id="1676" name="Group"/>
          <p:cNvGrpSpPr/>
          <p:nvPr/>
        </p:nvGrpSpPr>
        <p:grpSpPr>
          <a:xfrm>
            <a:off x="614261" y="4149137"/>
            <a:ext cx="3217322" cy="483127"/>
            <a:chOff x="202068" y="49884"/>
            <a:chExt cx="4575744" cy="687113"/>
          </a:xfrm>
        </p:grpSpPr>
        <p:sp>
          <p:nvSpPr>
            <p:cNvPr id="1674" name="Shape 993"/>
            <p:cNvSpPr txBox="1"/>
            <p:nvPr/>
          </p:nvSpPr>
          <p:spPr>
            <a:xfrm>
              <a:off x="202068" y="49884"/>
              <a:ext cx="502386" cy="6871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</a:p>
          </p:txBody>
        </p:sp>
        <p:sp>
          <p:nvSpPr>
            <p:cNvPr id="1675" name="Shape 1000"/>
            <p:cNvSpPr/>
            <p:nvPr/>
          </p:nvSpPr>
          <p:spPr>
            <a:xfrm>
              <a:off x="470155" y="250360"/>
              <a:ext cx="4307657" cy="1"/>
            </a:xfrm>
            <a:prstGeom prst="line">
              <a:avLst/>
            </a:prstGeom>
            <a:noFill/>
            <a:ln w="76200" cap="flat">
              <a:solidFill>
                <a:srgbClr val="630F2C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79" name="Group"/>
          <p:cNvGrpSpPr/>
          <p:nvPr/>
        </p:nvGrpSpPr>
        <p:grpSpPr>
          <a:xfrm>
            <a:off x="551581" y="3573008"/>
            <a:ext cx="3195004" cy="281662"/>
            <a:chOff x="283447" y="92011"/>
            <a:chExt cx="4544005" cy="400585"/>
          </a:xfrm>
        </p:grpSpPr>
        <p:sp>
          <p:nvSpPr>
            <p:cNvPr id="1677" name="Shape 989"/>
            <p:cNvSpPr/>
            <p:nvPr/>
          </p:nvSpPr>
          <p:spPr>
            <a:xfrm>
              <a:off x="653379" y="238392"/>
              <a:ext cx="4174073" cy="1"/>
            </a:xfrm>
            <a:prstGeom prst="line">
              <a:avLst/>
            </a:prstGeom>
            <a:noFill/>
            <a:ln w="76200" cap="flat">
              <a:solidFill>
                <a:schemeClr val="accent6">
                  <a:lumOff val="-8549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8" name="Shape 1002"/>
            <p:cNvSpPr txBox="1"/>
            <p:nvPr/>
          </p:nvSpPr>
          <p:spPr>
            <a:xfrm>
              <a:off x="283447" y="92011"/>
              <a:ext cx="626253" cy="4005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A129A4E-0011-3344-91D3-CFFC5997151F}"/>
              </a:ext>
            </a:extLst>
          </p:cNvPr>
          <p:cNvGrpSpPr/>
          <p:nvPr/>
        </p:nvGrpSpPr>
        <p:grpSpPr>
          <a:xfrm>
            <a:off x="3831581" y="4007992"/>
            <a:ext cx="2058710" cy="275979"/>
            <a:chOff x="5225424" y="5681595"/>
            <a:chExt cx="2927943" cy="392503"/>
          </a:xfrm>
        </p:grpSpPr>
        <p:sp>
          <p:nvSpPr>
            <p:cNvPr id="1680" name="Shape 1030"/>
            <p:cNvSpPr/>
            <p:nvPr/>
          </p:nvSpPr>
          <p:spPr>
            <a:xfrm>
              <a:off x="5225424" y="6074095"/>
              <a:ext cx="2704627" cy="3"/>
            </a:xfrm>
            <a:prstGeom prst="line">
              <a:avLst/>
            </a:prstGeom>
            <a:ln w="76200">
              <a:solidFill>
                <a:schemeClr val="accent6">
                  <a:lumOff val="-8549"/>
                </a:schemeClr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1" name="Shape 1006"/>
            <p:cNvSpPr txBox="1"/>
            <p:nvPr/>
          </p:nvSpPr>
          <p:spPr>
            <a:xfrm>
              <a:off x="7639481" y="5681595"/>
              <a:ext cx="513886" cy="3302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</a:p>
          </p:txBody>
        </p:sp>
      </p:grpSp>
      <p:sp>
        <p:nvSpPr>
          <p:cNvPr id="1682" name="Shape 1022"/>
          <p:cNvSpPr txBox="1"/>
          <p:nvPr/>
        </p:nvSpPr>
        <p:spPr>
          <a:xfrm>
            <a:off x="2100264" y="3932034"/>
            <a:ext cx="726389" cy="4785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1683" name="Shape 1007"/>
          <p:cNvSpPr/>
          <p:nvPr/>
        </p:nvSpPr>
        <p:spPr>
          <a:xfrm flipV="1">
            <a:off x="2336925" y="4257183"/>
            <a:ext cx="1" cy="1010342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89" name="Group"/>
          <p:cNvGrpSpPr/>
          <p:nvPr/>
        </p:nvGrpSpPr>
        <p:grpSpPr>
          <a:xfrm>
            <a:off x="825421" y="5274792"/>
            <a:ext cx="3633820" cy="295669"/>
            <a:chOff x="0" y="8470"/>
            <a:chExt cx="5168097" cy="420505"/>
          </a:xfrm>
        </p:grpSpPr>
        <p:sp>
          <p:nvSpPr>
            <p:cNvPr id="1684" name="Shape 986"/>
            <p:cNvSpPr/>
            <p:nvPr/>
          </p:nvSpPr>
          <p:spPr>
            <a:xfrm>
              <a:off x="0" y="14571"/>
              <a:ext cx="516809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5" name="Shape 1014"/>
            <p:cNvSpPr txBox="1"/>
            <p:nvPr/>
          </p:nvSpPr>
          <p:spPr>
            <a:xfrm>
              <a:off x="3340914" y="27618"/>
              <a:ext cx="1033087" cy="381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Q3</a:t>
              </a:r>
            </a:p>
          </p:txBody>
        </p:sp>
        <p:sp>
          <p:nvSpPr>
            <p:cNvPr id="1686" name="Shape 1015"/>
            <p:cNvSpPr txBox="1"/>
            <p:nvPr/>
          </p:nvSpPr>
          <p:spPr>
            <a:xfrm>
              <a:off x="2634008" y="8470"/>
              <a:ext cx="1033087" cy="3810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Q2</a:t>
              </a:r>
            </a:p>
          </p:txBody>
        </p:sp>
        <p:sp>
          <p:nvSpPr>
            <p:cNvPr id="1687" name="Shape 1016"/>
            <p:cNvSpPr txBox="1"/>
            <p:nvPr/>
          </p:nvSpPr>
          <p:spPr>
            <a:xfrm>
              <a:off x="1190279" y="47973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Q0</a:t>
              </a:r>
            </a:p>
          </p:txBody>
        </p:sp>
        <p:sp>
          <p:nvSpPr>
            <p:cNvPr id="1688" name="Shape 1015"/>
            <p:cNvSpPr txBox="1"/>
            <p:nvPr/>
          </p:nvSpPr>
          <p:spPr>
            <a:xfrm>
              <a:off x="1972790" y="27617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Q1</a:t>
              </a:r>
            </a:p>
          </p:txBody>
        </p:sp>
      </p:grpSp>
      <p:sp>
        <p:nvSpPr>
          <p:cNvPr id="1690" name="Shape 996"/>
          <p:cNvSpPr txBox="1"/>
          <p:nvPr/>
        </p:nvSpPr>
        <p:spPr>
          <a:xfrm>
            <a:off x="3568012" y="4355624"/>
            <a:ext cx="816790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chemeClr val="accent6">
                    <a:lumOff val="-8549"/>
                  </a:schemeClr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AR1 / MR1  </a:t>
            </a:r>
          </a:p>
        </p:txBody>
      </p:sp>
      <p:grpSp>
        <p:nvGrpSpPr>
          <p:cNvPr id="1693" name="Group"/>
          <p:cNvGrpSpPr/>
          <p:nvPr/>
        </p:nvGrpSpPr>
        <p:grpSpPr>
          <a:xfrm>
            <a:off x="1624572" y="1560282"/>
            <a:ext cx="3426050" cy="2688501"/>
            <a:chOff x="0" y="31778"/>
            <a:chExt cx="4872602" cy="3823645"/>
          </a:xfrm>
        </p:grpSpPr>
        <p:sp>
          <p:nvSpPr>
            <p:cNvPr id="1691" name="Shape 270"/>
            <p:cNvSpPr txBox="1"/>
            <p:nvPr/>
          </p:nvSpPr>
          <p:spPr>
            <a:xfrm>
              <a:off x="3287684" y="31778"/>
              <a:ext cx="1584918" cy="625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>
                  <a:solidFill>
                    <a:srgbClr val="164F86"/>
                  </a:solidFill>
                </a:defRPr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  <p:sp>
          <p:nvSpPr>
            <p:cNvPr id="1692" name="Shape 274"/>
            <p:cNvSpPr/>
            <p:nvPr/>
          </p:nvSpPr>
          <p:spPr>
            <a:xfrm>
              <a:off x="0" y="487022"/>
              <a:ext cx="3651309" cy="3368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437" extrusionOk="0">
                  <a:moveTo>
                    <a:pt x="0" y="6950"/>
                  </a:moveTo>
                  <a:cubicBezTo>
                    <a:pt x="2379" y="21600"/>
                    <a:pt x="9579" y="19283"/>
                    <a:pt x="21600" y="0"/>
                  </a:cubicBezTo>
                </a:path>
              </a:pathLst>
            </a:custGeom>
            <a:noFill/>
            <a:ln w="76200" cap="flat">
              <a:solidFill>
                <a:srgbClr val="164F86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97" name="Group"/>
          <p:cNvGrpSpPr/>
          <p:nvPr/>
        </p:nvGrpSpPr>
        <p:grpSpPr>
          <a:xfrm>
            <a:off x="5718558" y="4003249"/>
            <a:ext cx="1810805" cy="1285466"/>
            <a:chOff x="0" y="69340"/>
            <a:chExt cx="2575365" cy="1828216"/>
          </a:xfrm>
        </p:grpSpPr>
        <p:sp>
          <p:nvSpPr>
            <p:cNvPr id="1694" name="Shape 1031"/>
            <p:cNvSpPr/>
            <p:nvPr/>
          </p:nvSpPr>
          <p:spPr>
            <a:xfrm>
              <a:off x="0" y="468589"/>
              <a:ext cx="1909600" cy="1"/>
            </a:xfrm>
            <a:prstGeom prst="line">
              <a:avLst/>
            </a:prstGeom>
            <a:noFill/>
            <a:ln w="76200" cap="flat">
              <a:solidFill>
                <a:schemeClr val="accent6">
                  <a:lumOff val="-8549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5" name="Shape 1011"/>
            <p:cNvSpPr/>
            <p:nvPr/>
          </p:nvSpPr>
          <p:spPr>
            <a:xfrm flipV="1">
              <a:off x="1890548" y="436493"/>
              <a:ext cx="1" cy="1461063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6" name="Shape 1025"/>
            <p:cNvSpPr txBox="1"/>
            <p:nvPr/>
          </p:nvSpPr>
          <p:spPr>
            <a:xfrm>
              <a:off x="1542276" y="69340"/>
              <a:ext cx="1033089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</p:grpSp>
      <p:grpSp>
        <p:nvGrpSpPr>
          <p:cNvPr id="1700" name="Group"/>
          <p:cNvGrpSpPr/>
          <p:nvPr/>
        </p:nvGrpSpPr>
        <p:grpSpPr>
          <a:xfrm>
            <a:off x="2299533" y="2063648"/>
            <a:ext cx="5831292" cy="2251148"/>
            <a:chOff x="0" y="0"/>
            <a:chExt cx="8293392" cy="3201631"/>
          </a:xfrm>
        </p:grpSpPr>
        <p:sp>
          <p:nvSpPr>
            <p:cNvPr id="1698" name="Shape 1020"/>
            <p:cNvSpPr/>
            <p:nvPr/>
          </p:nvSpPr>
          <p:spPr>
            <a:xfrm>
              <a:off x="0" y="0"/>
              <a:ext cx="1650237" cy="3114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577" y="9112"/>
                    <a:pt x="10377" y="16312"/>
                    <a:pt x="0" y="21600"/>
                  </a:cubicBezTo>
                </a:path>
              </a:pathLst>
            </a:custGeom>
            <a:noFill/>
            <a:ln w="139700" cap="flat">
              <a:solidFill>
                <a:schemeClr val="accent5">
                  <a:lumOff val="-8078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9" name="Shape 1020"/>
            <p:cNvSpPr/>
            <p:nvPr/>
          </p:nvSpPr>
          <p:spPr>
            <a:xfrm>
              <a:off x="6711498" y="59009"/>
              <a:ext cx="1581895" cy="3142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577" y="9112"/>
                    <a:pt x="10377" y="16312"/>
                    <a:pt x="0" y="21600"/>
                  </a:cubicBezTo>
                </a:path>
              </a:pathLst>
            </a:custGeom>
            <a:noFill/>
            <a:ln w="139700" cap="flat">
              <a:solidFill>
                <a:schemeClr val="accent5">
                  <a:lumOff val="-8078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06" name="Group"/>
          <p:cNvGrpSpPr/>
          <p:nvPr/>
        </p:nvGrpSpPr>
        <p:grpSpPr>
          <a:xfrm>
            <a:off x="5709628" y="5252408"/>
            <a:ext cx="3075497" cy="401930"/>
            <a:chOff x="8332" y="176567"/>
            <a:chExt cx="4315387" cy="571632"/>
          </a:xfrm>
        </p:grpSpPr>
        <p:sp>
          <p:nvSpPr>
            <p:cNvPr id="1701" name="Shape 986"/>
            <p:cNvSpPr/>
            <p:nvPr/>
          </p:nvSpPr>
          <p:spPr>
            <a:xfrm>
              <a:off x="8332" y="208239"/>
              <a:ext cx="4315387" cy="0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2" name="Shape 1014"/>
            <p:cNvSpPr txBox="1"/>
            <p:nvPr/>
          </p:nvSpPr>
          <p:spPr>
            <a:xfrm>
              <a:off x="3110729" y="176567"/>
              <a:ext cx="862632" cy="542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Q3</a:t>
              </a:r>
            </a:p>
          </p:txBody>
        </p:sp>
        <p:sp>
          <p:nvSpPr>
            <p:cNvPr id="1703" name="Shape 1015"/>
            <p:cNvSpPr txBox="1"/>
            <p:nvPr/>
          </p:nvSpPr>
          <p:spPr>
            <a:xfrm>
              <a:off x="2367183" y="205336"/>
              <a:ext cx="862633" cy="5428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Q2</a:t>
              </a:r>
            </a:p>
          </p:txBody>
        </p:sp>
        <p:sp>
          <p:nvSpPr>
            <p:cNvPr id="1704" name="Shape 1016"/>
            <p:cNvSpPr txBox="1"/>
            <p:nvPr/>
          </p:nvSpPr>
          <p:spPr>
            <a:xfrm>
              <a:off x="933018" y="181737"/>
              <a:ext cx="813805" cy="4591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Q0</a:t>
              </a:r>
            </a:p>
          </p:txBody>
        </p:sp>
        <p:sp>
          <p:nvSpPr>
            <p:cNvPr id="1705" name="Shape 1015"/>
            <p:cNvSpPr txBox="1"/>
            <p:nvPr/>
          </p:nvSpPr>
          <p:spPr>
            <a:xfrm>
              <a:off x="1706618" y="188552"/>
              <a:ext cx="862633" cy="5428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Q1</a:t>
              </a:r>
            </a:p>
          </p:txBody>
        </p:sp>
      </p:grpSp>
      <p:grpSp>
        <p:nvGrpSpPr>
          <p:cNvPr id="1711" name="Group"/>
          <p:cNvGrpSpPr/>
          <p:nvPr/>
        </p:nvGrpSpPr>
        <p:grpSpPr>
          <a:xfrm>
            <a:off x="585273" y="5115097"/>
            <a:ext cx="5173712" cy="868234"/>
            <a:chOff x="0" y="0"/>
            <a:chExt cx="7358167" cy="1234821"/>
          </a:xfrm>
        </p:grpSpPr>
        <p:sp>
          <p:nvSpPr>
            <p:cNvPr id="1712" name="Connection Line"/>
            <p:cNvSpPr/>
            <p:nvPr/>
          </p:nvSpPr>
          <p:spPr>
            <a:xfrm>
              <a:off x="3150599" y="240879"/>
              <a:ext cx="4207569" cy="99394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912" extrusionOk="0">
                  <a:moveTo>
                    <a:pt x="0" y="11031"/>
                  </a:moveTo>
                  <a:cubicBezTo>
                    <a:pt x="3624" y="21600"/>
                    <a:pt x="10824" y="17923"/>
                    <a:pt x="21600" y="0"/>
                  </a:cubicBezTo>
                </a:path>
              </a:pathLst>
            </a:custGeom>
            <a:noFill/>
            <a:ln w="88900" cap="flat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/>
            <a:lstStyle/>
            <a:p>
              <a:endParaRPr sz="1266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10" name="Oval"/>
            <p:cNvSpPr/>
            <p:nvPr/>
          </p:nvSpPr>
          <p:spPr>
            <a:xfrm>
              <a:off x="0" y="0"/>
              <a:ext cx="5642733" cy="879286"/>
            </a:xfrm>
            <a:prstGeom prst="ellipse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ctr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5A4D89-F82D-514F-B9C1-863F252ECC3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25466" y="6424679"/>
            <a:ext cx="246220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0F71DE-61F5-F641-96E0-02787139785D}"/>
              </a:ext>
            </a:extLst>
          </p:cNvPr>
          <p:cNvSpPr txBox="1"/>
          <p:nvPr/>
        </p:nvSpPr>
        <p:spPr>
          <a:xfrm>
            <a:off x="9674936" y="-369420"/>
            <a:ext cx="72200" cy="31021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algn="ctr" defTabSz="373783"/>
            <a:endParaRPr lang="en-US" sz="1547" b="1" dirty="0">
              <a:solidFill>
                <a:srgbClr val="0B5D18"/>
              </a:solidFill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944500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2" grpId="0" animBg="1" advAuto="0"/>
      <p:bldP spid="1651" grpId="0" animBg="1" advAuto="0"/>
      <p:bldP spid="1661" grpId="0" animBg="1" advAuto="0"/>
      <p:bldP spid="1666" grpId="0" animBg="1" advAuto="0"/>
      <p:bldP spid="1672" grpId="0" animBg="1" advAuto="0"/>
      <p:bldP spid="1693" grpId="0" animBg="1" advAuto="0"/>
      <p:bldP spid="1697" grpId="0" animBg="1" advAuto="0"/>
      <p:bldP spid="1700" grpId="0" animBg="1" advAuto="0"/>
      <p:bldP spid="1706" grpId="0" animBg="1" advAuto="0"/>
      <p:bldP spid="1711" grpId="0" animBg="1" advAuto="0"/>
      <p:bldP spid="1711" grpId="1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Shape 984"/>
          <p:cNvSpPr txBox="1"/>
          <p:nvPr/>
        </p:nvSpPr>
        <p:spPr>
          <a:xfrm>
            <a:off x="3395865" y="1800427"/>
            <a:ext cx="787850" cy="3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b">
            <a:normAutofit/>
          </a:bodyPr>
          <a:lstStyle>
            <a:lvl1pPr defTabSz="40894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1627" name="Shape 985"/>
          <p:cNvSpPr/>
          <p:nvPr/>
        </p:nvSpPr>
        <p:spPr>
          <a:xfrm flipV="1">
            <a:off x="972726" y="1482341"/>
            <a:ext cx="1" cy="3917689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8" name="Shape 987"/>
          <p:cNvSpPr/>
          <p:nvPr/>
        </p:nvSpPr>
        <p:spPr>
          <a:xfrm flipV="1">
            <a:off x="5870664" y="1565871"/>
            <a:ext cx="1" cy="381428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9" name="Shape 988"/>
          <p:cNvSpPr/>
          <p:nvPr/>
        </p:nvSpPr>
        <p:spPr>
          <a:xfrm>
            <a:off x="5872664" y="5369910"/>
            <a:ext cx="306525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1" name="Shape 991"/>
          <p:cNvSpPr txBox="1"/>
          <p:nvPr/>
        </p:nvSpPr>
        <p:spPr>
          <a:xfrm>
            <a:off x="8728533" y="5380264"/>
            <a:ext cx="751726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Qs</a:t>
            </a:r>
          </a:p>
        </p:txBody>
      </p:sp>
      <p:sp>
        <p:nvSpPr>
          <p:cNvPr id="1632" name="Shape 992"/>
          <p:cNvSpPr txBox="1"/>
          <p:nvPr/>
        </p:nvSpPr>
        <p:spPr>
          <a:xfrm>
            <a:off x="8314216" y="1882122"/>
            <a:ext cx="733446" cy="440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15262">
              <a:lnSpc>
                <a:spcPct val="90000"/>
              </a:lnSpc>
              <a:defRPr sz="3400">
                <a:solidFill>
                  <a:srgbClr val="A2110D"/>
                </a:solidFill>
              </a:defRPr>
            </a:lvl1pPr>
          </a:lstStyle>
          <a:p>
            <a:r>
              <a:rPr sz="239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633" name="Shape 994"/>
          <p:cNvSpPr txBox="1"/>
          <p:nvPr/>
        </p:nvSpPr>
        <p:spPr>
          <a:xfrm>
            <a:off x="5497360" y="1588174"/>
            <a:ext cx="629457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634" name="Shape 995"/>
          <p:cNvSpPr txBox="1"/>
          <p:nvPr/>
        </p:nvSpPr>
        <p:spPr>
          <a:xfrm>
            <a:off x="546481" y="1440411"/>
            <a:ext cx="629458" cy="428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6735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635" name="Shape 996"/>
          <p:cNvSpPr txBox="1"/>
          <p:nvPr/>
        </p:nvSpPr>
        <p:spPr>
          <a:xfrm>
            <a:off x="3884542" y="3825155"/>
            <a:ext cx="816790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chemeClr val="accent6">
                    <a:lumOff val="-8549"/>
                  </a:schemeClr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AR2 / MR2  </a:t>
            </a:r>
          </a:p>
        </p:txBody>
      </p:sp>
      <p:grpSp>
        <p:nvGrpSpPr>
          <p:cNvPr id="1640" name="Group"/>
          <p:cNvGrpSpPr/>
          <p:nvPr/>
        </p:nvGrpSpPr>
        <p:grpSpPr>
          <a:xfrm>
            <a:off x="721195" y="2619687"/>
            <a:ext cx="3158666" cy="440649"/>
            <a:chOff x="304209" y="60147"/>
            <a:chExt cx="4492323" cy="626699"/>
          </a:xfrm>
        </p:grpSpPr>
        <p:sp>
          <p:nvSpPr>
            <p:cNvPr id="1638" name="Shape 999"/>
            <p:cNvSpPr/>
            <p:nvPr/>
          </p:nvSpPr>
          <p:spPr>
            <a:xfrm>
              <a:off x="648200" y="158679"/>
              <a:ext cx="4148332" cy="1"/>
            </a:xfrm>
            <a:prstGeom prst="line">
              <a:avLst/>
            </a:prstGeom>
            <a:noFill/>
            <a:ln w="63500" cap="flat">
              <a:solidFill>
                <a:schemeClr val="accent1">
                  <a:lumOff val="-7647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39" name="Shape 1002"/>
            <p:cNvSpPr txBox="1"/>
            <p:nvPr/>
          </p:nvSpPr>
          <p:spPr>
            <a:xfrm>
              <a:off x="304209" y="60147"/>
              <a:ext cx="626699" cy="6266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</a:p>
          </p:txBody>
        </p:sp>
      </p:grpSp>
      <p:sp>
        <p:nvSpPr>
          <p:cNvPr id="1641" name="Shape 1003"/>
          <p:cNvSpPr txBox="1"/>
          <p:nvPr/>
        </p:nvSpPr>
        <p:spPr>
          <a:xfrm>
            <a:off x="4001545" y="2705737"/>
            <a:ext cx="939128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chemeClr val="accent1">
                    <a:lumOff val="-7647"/>
                  </a:schemeClr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AR3 / MR3</a:t>
            </a:r>
          </a:p>
        </p:txBody>
      </p:sp>
      <p:sp>
        <p:nvSpPr>
          <p:cNvPr id="1645" name="Shape 1007"/>
          <p:cNvSpPr/>
          <p:nvPr/>
        </p:nvSpPr>
        <p:spPr>
          <a:xfrm flipV="1">
            <a:off x="2945939" y="3816548"/>
            <a:ext cx="3658" cy="1576304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6" name="Shape 1008"/>
          <p:cNvSpPr/>
          <p:nvPr/>
        </p:nvSpPr>
        <p:spPr>
          <a:xfrm flipV="1">
            <a:off x="3455134" y="2714574"/>
            <a:ext cx="3658" cy="2673363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2" name="Shape 1021"/>
          <p:cNvSpPr txBox="1"/>
          <p:nvPr/>
        </p:nvSpPr>
        <p:spPr>
          <a:xfrm>
            <a:off x="4352162" y="5414507"/>
            <a:ext cx="751726" cy="232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653" name="Shape 1022"/>
          <p:cNvSpPr txBox="1"/>
          <p:nvPr/>
        </p:nvSpPr>
        <p:spPr>
          <a:xfrm>
            <a:off x="2592041" y="3518702"/>
            <a:ext cx="363196" cy="2575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E2</a:t>
            </a:r>
          </a:p>
        </p:txBody>
      </p:sp>
      <p:sp>
        <p:nvSpPr>
          <p:cNvPr id="1655" name="Shape 1024"/>
          <p:cNvSpPr txBox="1"/>
          <p:nvPr/>
        </p:nvSpPr>
        <p:spPr>
          <a:xfrm>
            <a:off x="3152000" y="2419728"/>
            <a:ext cx="444009" cy="272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E3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6D577C-C347-1141-B7A7-806B2F842E70}"/>
              </a:ext>
            </a:extLst>
          </p:cNvPr>
          <p:cNvGrpSpPr/>
          <p:nvPr/>
        </p:nvGrpSpPr>
        <p:grpSpPr>
          <a:xfrm>
            <a:off x="3928196" y="2446548"/>
            <a:ext cx="2257422" cy="242419"/>
            <a:chOff x="5133802" y="3302558"/>
            <a:chExt cx="3210555" cy="344774"/>
          </a:xfrm>
        </p:grpSpPr>
        <p:sp>
          <p:nvSpPr>
            <p:cNvPr id="1643" name="Shape 1005"/>
            <p:cNvSpPr txBox="1"/>
            <p:nvPr/>
          </p:nvSpPr>
          <p:spPr>
            <a:xfrm>
              <a:off x="7599464" y="3302558"/>
              <a:ext cx="744893" cy="3302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P3</a:t>
              </a:r>
            </a:p>
          </p:txBody>
        </p:sp>
        <p:sp>
          <p:nvSpPr>
            <p:cNvPr id="1656" name="Shape 1028"/>
            <p:cNvSpPr/>
            <p:nvPr/>
          </p:nvSpPr>
          <p:spPr>
            <a:xfrm>
              <a:off x="5133802" y="3647329"/>
              <a:ext cx="2679314" cy="3"/>
            </a:xfrm>
            <a:prstGeom prst="line">
              <a:avLst/>
            </a:prstGeom>
            <a:ln w="63500">
              <a:solidFill>
                <a:schemeClr val="accent1">
                  <a:lumOff val="-7647"/>
                </a:schemeClr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61" name="Group"/>
          <p:cNvGrpSpPr/>
          <p:nvPr/>
        </p:nvGrpSpPr>
        <p:grpSpPr>
          <a:xfrm>
            <a:off x="5814452" y="2428687"/>
            <a:ext cx="2768301" cy="2944720"/>
            <a:chOff x="0" y="83355"/>
            <a:chExt cx="3937139" cy="4188043"/>
          </a:xfrm>
        </p:grpSpPr>
        <p:sp>
          <p:nvSpPr>
            <p:cNvPr id="1657" name="Shape 1010"/>
            <p:cNvSpPr/>
            <p:nvPr/>
          </p:nvSpPr>
          <p:spPr>
            <a:xfrm flipH="1" flipV="1">
              <a:off x="3349660" y="449673"/>
              <a:ext cx="4720" cy="3821725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60" name="Group"/>
            <p:cNvGrpSpPr/>
            <p:nvPr/>
          </p:nvGrpSpPr>
          <p:grpSpPr>
            <a:xfrm>
              <a:off x="0" y="83355"/>
              <a:ext cx="3937139" cy="381003"/>
              <a:chOff x="0" y="83355"/>
              <a:chExt cx="3937138" cy="381002"/>
            </a:xfrm>
          </p:grpSpPr>
          <p:sp>
            <p:nvSpPr>
              <p:cNvPr id="1658" name="Shape 1027"/>
              <p:cNvSpPr txBox="1"/>
              <p:nvPr/>
            </p:nvSpPr>
            <p:spPr>
              <a:xfrm>
                <a:off x="2904050" y="83355"/>
                <a:ext cx="1033088" cy="38100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normAutofit lnSpcReduction="10000"/>
              </a:bodyPr>
              <a:lstStyle>
                <a:lvl1pPr>
                  <a:defRPr sz="2500"/>
                </a:lvl1pPr>
              </a:lstStyle>
              <a:p>
                <a:r>
                  <a:rPr sz="175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S3</a:t>
                </a:r>
              </a:p>
            </p:txBody>
          </p:sp>
          <p:sp>
            <p:nvSpPr>
              <p:cNvPr id="1659" name="Shape 1029"/>
              <p:cNvSpPr/>
              <p:nvPr/>
            </p:nvSpPr>
            <p:spPr>
              <a:xfrm>
                <a:off x="0" y="453528"/>
                <a:ext cx="3323712" cy="1"/>
              </a:xfrm>
              <a:prstGeom prst="line">
                <a:avLst/>
              </a:prstGeom>
              <a:noFill/>
              <a:ln w="63500" cap="flat">
                <a:solidFill>
                  <a:schemeClr val="accent1">
                    <a:lumOff val="-7647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596ECAE6-2F07-544A-B444-D478E75FD594}"/>
              </a:ext>
            </a:extLst>
          </p:cNvPr>
          <p:cNvGrpSpPr/>
          <p:nvPr/>
        </p:nvGrpSpPr>
        <p:grpSpPr>
          <a:xfrm>
            <a:off x="3958687" y="3511802"/>
            <a:ext cx="2049023" cy="281730"/>
            <a:chOff x="5177171" y="4817582"/>
            <a:chExt cx="2914166" cy="400682"/>
          </a:xfrm>
        </p:grpSpPr>
        <p:sp>
          <p:nvSpPr>
            <p:cNvPr id="1644" name="Shape 1006"/>
            <p:cNvSpPr txBox="1"/>
            <p:nvPr/>
          </p:nvSpPr>
          <p:spPr>
            <a:xfrm>
              <a:off x="7577451" y="4817582"/>
              <a:ext cx="513886" cy="33020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</a:p>
          </p:txBody>
        </p:sp>
        <p:sp>
          <p:nvSpPr>
            <p:cNvPr id="1662" name="Shape 1030"/>
            <p:cNvSpPr/>
            <p:nvPr/>
          </p:nvSpPr>
          <p:spPr>
            <a:xfrm flipV="1">
              <a:off x="5177171" y="5194761"/>
              <a:ext cx="2696638" cy="23503"/>
            </a:xfrm>
            <a:prstGeom prst="line">
              <a:avLst/>
            </a:prstGeom>
            <a:ln w="76200">
              <a:solidFill>
                <a:schemeClr val="accent6">
                  <a:lumOff val="-8549"/>
                </a:schemeClr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66" name="Group"/>
          <p:cNvGrpSpPr/>
          <p:nvPr/>
        </p:nvGrpSpPr>
        <p:grpSpPr>
          <a:xfrm>
            <a:off x="5854761" y="3541554"/>
            <a:ext cx="2257144" cy="1837286"/>
            <a:chOff x="0" y="108432"/>
            <a:chExt cx="3210157" cy="2613028"/>
          </a:xfrm>
        </p:grpSpPr>
        <p:sp>
          <p:nvSpPr>
            <p:cNvPr id="1663" name="Shape 1011"/>
            <p:cNvSpPr/>
            <p:nvPr/>
          </p:nvSpPr>
          <p:spPr>
            <a:xfrm flipV="1">
              <a:off x="2544467" y="470560"/>
              <a:ext cx="2" cy="225090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4" name="Shape 1026"/>
            <p:cNvSpPr txBox="1"/>
            <p:nvPr/>
          </p:nvSpPr>
          <p:spPr>
            <a:xfrm>
              <a:off x="2177070" y="108432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S2</a:t>
              </a:r>
            </a:p>
          </p:txBody>
        </p:sp>
        <p:sp>
          <p:nvSpPr>
            <p:cNvPr id="1665" name="Shape 1031"/>
            <p:cNvSpPr/>
            <p:nvPr/>
          </p:nvSpPr>
          <p:spPr>
            <a:xfrm>
              <a:off x="0" y="461433"/>
              <a:ext cx="2529702" cy="2"/>
            </a:xfrm>
            <a:prstGeom prst="line">
              <a:avLst/>
            </a:prstGeom>
            <a:noFill/>
            <a:ln w="76200" cap="flat">
              <a:solidFill>
                <a:schemeClr val="accent6">
                  <a:lumOff val="-8549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73" name="Shape 1034"/>
          <p:cNvSpPr txBox="1"/>
          <p:nvPr/>
        </p:nvSpPr>
        <p:spPr>
          <a:xfrm>
            <a:off x="1093562" y="133375"/>
            <a:ext cx="7131728" cy="4286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4000">
                <a:solidFill>
                  <a:srgbClr val="000000"/>
                </a:solidFill>
              </a:defRPr>
            </a:lvl1pPr>
          </a:lstStyle>
          <a:p>
            <a:r>
              <a:rPr sz="25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a Firm's Supply Curve </a:t>
            </a:r>
          </a:p>
        </p:txBody>
      </p:sp>
      <p:grpSp>
        <p:nvGrpSpPr>
          <p:cNvPr id="1676" name="Group"/>
          <p:cNvGrpSpPr/>
          <p:nvPr/>
        </p:nvGrpSpPr>
        <p:grpSpPr>
          <a:xfrm>
            <a:off x="769107" y="4236250"/>
            <a:ext cx="3223512" cy="483127"/>
            <a:chOff x="193264" y="15464"/>
            <a:chExt cx="4584548" cy="687113"/>
          </a:xfrm>
        </p:grpSpPr>
        <p:sp>
          <p:nvSpPr>
            <p:cNvPr id="1674" name="Shape 993"/>
            <p:cNvSpPr txBox="1"/>
            <p:nvPr/>
          </p:nvSpPr>
          <p:spPr>
            <a:xfrm>
              <a:off x="193264" y="15464"/>
              <a:ext cx="502386" cy="68711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</a:p>
          </p:txBody>
        </p:sp>
        <p:sp>
          <p:nvSpPr>
            <p:cNvPr id="1675" name="Shape 1000"/>
            <p:cNvSpPr/>
            <p:nvPr/>
          </p:nvSpPr>
          <p:spPr>
            <a:xfrm>
              <a:off x="470155" y="250360"/>
              <a:ext cx="4307657" cy="1"/>
            </a:xfrm>
            <a:prstGeom prst="line">
              <a:avLst/>
            </a:prstGeom>
            <a:noFill/>
            <a:ln w="76200" cap="flat">
              <a:solidFill>
                <a:srgbClr val="630F2C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79" name="Group"/>
          <p:cNvGrpSpPr/>
          <p:nvPr/>
        </p:nvGrpSpPr>
        <p:grpSpPr>
          <a:xfrm>
            <a:off x="732429" y="3644436"/>
            <a:ext cx="3175192" cy="281662"/>
            <a:chOff x="311624" y="35281"/>
            <a:chExt cx="4515828" cy="400585"/>
          </a:xfrm>
        </p:grpSpPr>
        <p:sp>
          <p:nvSpPr>
            <p:cNvPr id="1677" name="Shape 989"/>
            <p:cNvSpPr/>
            <p:nvPr/>
          </p:nvSpPr>
          <p:spPr>
            <a:xfrm>
              <a:off x="653379" y="238392"/>
              <a:ext cx="4174073" cy="1"/>
            </a:xfrm>
            <a:prstGeom prst="line">
              <a:avLst/>
            </a:prstGeom>
            <a:noFill/>
            <a:ln w="76200" cap="flat">
              <a:solidFill>
                <a:schemeClr val="accent6">
                  <a:lumOff val="-8549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78" name="Shape 1002"/>
            <p:cNvSpPr txBox="1"/>
            <p:nvPr/>
          </p:nvSpPr>
          <p:spPr>
            <a:xfrm>
              <a:off x="311624" y="35281"/>
              <a:ext cx="626253" cy="40058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 defTabSz="525779">
                <a:defRPr>
                  <a:solidFill>
                    <a:schemeClr val="accent1">
                      <a:lumOff val="-7647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P2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A129A4E-0011-3344-91D3-CFFC5997151F}"/>
              </a:ext>
            </a:extLst>
          </p:cNvPr>
          <p:cNvGrpSpPr/>
          <p:nvPr/>
        </p:nvGrpSpPr>
        <p:grpSpPr>
          <a:xfrm>
            <a:off x="4001544" y="4109286"/>
            <a:ext cx="2056043" cy="297826"/>
            <a:chOff x="5238122" y="5667344"/>
            <a:chExt cx="2924150" cy="423575"/>
          </a:xfrm>
        </p:grpSpPr>
        <p:sp>
          <p:nvSpPr>
            <p:cNvPr id="1680" name="Shape 1030"/>
            <p:cNvSpPr/>
            <p:nvPr/>
          </p:nvSpPr>
          <p:spPr>
            <a:xfrm flipV="1">
              <a:off x="5238122" y="6074096"/>
              <a:ext cx="2691929" cy="16823"/>
            </a:xfrm>
            <a:prstGeom prst="line">
              <a:avLst/>
            </a:prstGeom>
            <a:ln w="76200">
              <a:solidFill>
                <a:schemeClr val="accent5">
                  <a:lumMod val="50000"/>
                </a:schemeClr>
              </a:solidFill>
              <a:custDash>
                <a:ds d="200000" sp="200000"/>
              </a:custDash>
              <a:miter lim="400000"/>
              <a:headEnd type="none" w="med" len="med"/>
              <a:tailEnd type="arrow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1" name="Shape 1006"/>
            <p:cNvSpPr txBox="1"/>
            <p:nvPr/>
          </p:nvSpPr>
          <p:spPr>
            <a:xfrm>
              <a:off x="7648386" y="5667344"/>
              <a:ext cx="513886" cy="3302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P1</a:t>
              </a:r>
            </a:p>
          </p:txBody>
        </p:sp>
      </p:grpSp>
      <p:sp>
        <p:nvSpPr>
          <p:cNvPr id="1682" name="Shape 1022"/>
          <p:cNvSpPr txBox="1"/>
          <p:nvPr/>
        </p:nvSpPr>
        <p:spPr>
          <a:xfrm>
            <a:off x="2251168" y="4038197"/>
            <a:ext cx="295900" cy="2802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</a:t>
            </a:r>
          </a:p>
        </p:txBody>
      </p:sp>
      <p:sp>
        <p:nvSpPr>
          <p:cNvPr id="1683" name="Shape 1007"/>
          <p:cNvSpPr/>
          <p:nvPr/>
        </p:nvSpPr>
        <p:spPr>
          <a:xfrm flipV="1">
            <a:off x="2497961" y="4368497"/>
            <a:ext cx="1" cy="102435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89" name="Group"/>
          <p:cNvGrpSpPr/>
          <p:nvPr/>
        </p:nvGrpSpPr>
        <p:grpSpPr>
          <a:xfrm>
            <a:off x="986457" y="5390397"/>
            <a:ext cx="3633820" cy="296221"/>
            <a:chOff x="0" y="14571"/>
            <a:chExt cx="5168097" cy="421289"/>
          </a:xfrm>
        </p:grpSpPr>
        <p:sp>
          <p:nvSpPr>
            <p:cNvPr id="1684" name="Shape 986"/>
            <p:cNvSpPr/>
            <p:nvPr/>
          </p:nvSpPr>
          <p:spPr>
            <a:xfrm>
              <a:off x="0" y="14571"/>
              <a:ext cx="5168097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  <a:headEnd type="none" w="med" len="med"/>
              <a:tailEnd type="triangle" w="med" len="med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85" name="Shape 1014"/>
            <p:cNvSpPr txBox="1"/>
            <p:nvPr/>
          </p:nvSpPr>
          <p:spPr>
            <a:xfrm>
              <a:off x="3309889" y="23468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Q3</a:t>
              </a:r>
            </a:p>
          </p:txBody>
        </p:sp>
        <p:sp>
          <p:nvSpPr>
            <p:cNvPr id="1686" name="Shape 1015"/>
            <p:cNvSpPr txBox="1"/>
            <p:nvPr/>
          </p:nvSpPr>
          <p:spPr>
            <a:xfrm>
              <a:off x="2512056" y="28398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Q2</a:t>
              </a:r>
            </a:p>
          </p:txBody>
        </p:sp>
        <p:sp>
          <p:nvSpPr>
            <p:cNvPr id="1688" name="Shape 1015"/>
            <p:cNvSpPr txBox="1"/>
            <p:nvPr/>
          </p:nvSpPr>
          <p:spPr>
            <a:xfrm>
              <a:off x="1958999" y="54858"/>
              <a:ext cx="1033087" cy="381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Q1</a:t>
              </a:r>
            </a:p>
          </p:txBody>
        </p:sp>
      </p:grpSp>
      <p:sp>
        <p:nvSpPr>
          <p:cNvPr id="1690" name="Shape 996"/>
          <p:cNvSpPr txBox="1"/>
          <p:nvPr/>
        </p:nvSpPr>
        <p:spPr>
          <a:xfrm>
            <a:off x="3729048" y="4466940"/>
            <a:ext cx="816790" cy="1964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1800">
                <a:solidFill>
                  <a:schemeClr val="accent6">
                    <a:lumOff val="-8549"/>
                  </a:schemeClr>
                </a:solidFill>
              </a:defRPr>
            </a:lvl1pPr>
          </a:lstStyle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AR1 / MR1  </a:t>
            </a:r>
          </a:p>
        </p:txBody>
      </p:sp>
      <p:grpSp>
        <p:nvGrpSpPr>
          <p:cNvPr id="1693" name="Group"/>
          <p:cNvGrpSpPr/>
          <p:nvPr/>
        </p:nvGrpSpPr>
        <p:grpSpPr>
          <a:xfrm>
            <a:off x="1785609" y="1751102"/>
            <a:ext cx="3495671" cy="2608997"/>
            <a:chOff x="0" y="144851"/>
            <a:chExt cx="4971619" cy="3710572"/>
          </a:xfrm>
        </p:grpSpPr>
        <p:sp>
          <p:nvSpPr>
            <p:cNvPr id="1691" name="Shape 270"/>
            <p:cNvSpPr txBox="1"/>
            <p:nvPr/>
          </p:nvSpPr>
          <p:spPr>
            <a:xfrm>
              <a:off x="3386701" y="144851"/>
              <a:ext cx="1584918" cy="62553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>
                  <a:solidFill>
                    <a:srgbClr val="164F86"/>
                  </a:solidFill>
                </a:defRPr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AVC</a:t>
              </a:r>
            </a:p>
          </p:txBody>
        </p:sp>
        <p:sp>
          <p:nvSpPr>
            <p:cNvPr id="1692" name="Shape 274"/>
            <p:cNvSpPr/>
            <p:nvPr/>
          </p:nvSpPr>
          <p:spPr>
            <a:xfrm>
              <a:off x="0" y="487022"/>
              <a:ext cx="3651309" cy="33684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437" extrusionOk="0">
                  <a:moveTo>
                    <a:pt x="0" y="6950"/>
                  </a:moveTo>
                  <a:cubicBezTo>
                    <a:pt x="2379" y="21600"/>
                    <a:pt x="9579" y="19283"/>
                    <a:pt x="21600" y="0"/>
                  </a:cubicBezTo>
                </a:path>
              </a:pathLst>
            </a:custGeom>
            <a:noFill/>
            <a:ln w="76200" cap="flat">
              <a:solidFill>
                <a:srgbClr val="164F86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97" name="Group"/>
          <p:cNvGrpSpPr/>
          <p:nvPr/>
        </p:nvGrpSpPr>
        <p:grpSpPr>
          <a:xfrm>
            <a:off x="5879594" y="4102304"/>
            <a:ext cx="1798196" cy="1264102"/>
            <a:chOff x="0" y="51903"/>
            <a:chExt cx="2557431" cy="1797831"/>
          </a:xfrm>
        </p:grpSpPr>
        <p:sp>
          <p:nvSpPr>
            <p:cNvPr id="1694" name="Shape 1031"/>
            <p:cNvSpPr/>
            <p:nvPr/>
          </p:nvSpPr>
          <p:spPr>
            <a:xfrm>
              <a:off x="0" y="468589"/>
              <a:ext cx="1909600" cy="1"/>
            </a:xfrm>
            <a:prstGeom prst="line">
              <a:avLst/>
            </a:prstGeom>
            <a:noFill/>
            <a:ln w="76200" cap="flat">
              <a:solidFill>
                <a:schemeClr val="accent6">
                  <a:lumOff val="-8549"/>
                </a:schemeClr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5" name="Shape 1011"/>
            <p:cNvSpPr/>
            <p:nvPr/>
          </p:nvSpPr>
          <p:spPr>
            <a:xfrm flipV="1">
              <a:off x="1890548" y="436492"/>
              <a:ext cx="1" cy="141324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2145" tIns="32145" rIns="32145" bIns="32145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6" name="Shape 1025"/>
            <p:cNvSpPr txBox="1"/>
            <p:nvPr/>
          </p:nvSpPr>
          <p:spPr>
            <a:xfrm>
              <a:off x="1524343" y="51903"/>
              <a:ext cx="1033088" cy="381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 lnSpcReduction="10000"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</a:p>
          </p:txBody>
        </p:sp>
      </p:grpSp>
      <p:grpSp>
        <p:nvGrpSpPr>
          <p:cNvPr id="1700" name="Group"/>
          <p:cNvGrpSpPr/>
          <p:nvPr/>
        </p:nvGrpSpPr>
        <p:grpSpPr>
          <a:xfrm>
            <a:off x="2460569" y="2174964"/>
            <a:ext cx="5831292" cy="2251148"/>
            <a:chOff x="0" y="0"/>
            <a:chExt cx="8293392" cy="3201631"/>
          </a:xfrm>
        </p:grpSpPr>
        <p:sp>
          <p:nvSpPr>
            <p:cNvPr id="1698" name="Shape 1020"/>
            <p:cNvSpPr/>
            <p:nvPr/>
          </p:nvSpPr>
          <p:spPr>
            <a:xfrm>
              <a:off x="0" y="0"/>
              <a:ext cx="1650237" cy="3114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577" y="9112"/>
                    <a:pt x="10377" y="16312"/>
                    <a:pt x="0" y="21600"/>
                  </a:cubicBezTo>
                </a:path>
              </a:pathLst>
            </a:custGeom>
            <a:noFill/>
            <a:ln w="139700" cap="flat">
              <a:solidFill>
                <a:schemeClr val="accent5">
                  <a:lumOff val="-8078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9" name="Shape 1020"/>
            <p:cNvSpPr/>
            <p:nvPr/>
          </p:nvSpPr>
          <p:spPr>
            <a:xfrm>
              <a:off x="6711498" y="59009"/>
              <a:ext cx="1581895" cy="314262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7577" y="9112"/>
                    <a:pt x="10377" y="16312"/>
                    <a:pt x="0" y="21600"/>
                  </a:cubicBezTo>
                </a:path>
              </a:pathLst>
            </a:custGeom>
            <a:noFill/>
            <a:ln w="139700" cap="flat">
              <a:solidFill>
                <a:schemeClr val="accent5">
                  <a:lumOff val="-8078"/>
                </a:schemeClr>
              </a:solidFill>
              <a:prstDash val="solid"/>
              <a:round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9" tIns="35719" rIns="35719" bIns="35719" numCol="1" anchor="t">
              <a:noAutofit/>
            </a:bodyPr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06" name="Group"/>
          <p:cNvGrpSpPr/>
          <p:nvPr/>
        </p:nvGrpSpPr>
        <p:grpSpPr>
          <a:xfrm>
            <a:off x="7068386" y="5366406"/>
            <a:ext cx="1582144" cy="405693"/>
            <a:chOff x="1711758" y="-4984"/>
            <a:chExt cx="2250160" cy="576984"/>
          </a:xfrm>
        </p:grpSpPr>
        <p:sp>
          <p:nvSpPr>
            <p:cNvPr id="1702" name="Shape 1014"/>
            <p:cNvSpPr txBox="1"/>
            <p:nvPr/>
          </p:nvSpPr>
          <p:spPr>
            <a:xfrm>
              <a:off x="3099286" y="-4984"/>
              <a:ext cx="862632" cy="5428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Q3</a:t>
              </a:r>
            </a:p>
          </p:txBody>
        </p:sp>
        <p:sp>
          <p:nvSpPr>
            <p:cNvPr id="1703" name="Shape 1015"/>
            <p:cNvSpPr txBox="1"/>
            <p:nvPr/>
          </p:nvSpPr>
          <p:spPr>
            <a:xfrm>
              <a:off x="2362046" y="4973"/>
              <a:ext cx="862635" cy="542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Q2</a:t>
              </a:r>
            </a:p>
          </p:txBody>
        </p:sp>
        <p:sp>
          <p:nvSpPr>
            <p:cNvPr id="1705" name="Shape 1015"/>
            <p:cNvSpPr txBox="1"/>
            <p:nvPr/>
          </p:nvSpPr>
          <p:spPr>
            <a:xfrm>
              <a:off x="1711758" y="29137"/>
              <a:ext cx="862635" cy="5428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rmAutofit/>
            </a:bodyPr>
            <a:lstStyle>
              <a:lvl1pPr>
                <a:defRPr sz="2500"/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Q1</a:t>
              </a: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20C3-5DB7-7743-A6E1-B9B0498DA8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625471" y="6342289"/>
            <a:ext cx="246220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55169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Shape 1062"/>
          <p:cNvSpPr txBox="1"/>
          <p:nvPr/>
        </p:nvSpPr>
        <p:spPr>
          <a:xfrm>
            <a:off x="6359893" y="601561"/>
            <a:ext cx="2555820" cy="308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410751">
              <a:defRPr sz="2000">
                <a:solidFill>
                  <a:srgbClr val="4C1066"/>
                </a:solidFill>
              </a:defRPr>
            </a:pP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solidFill>
                  <a:schemeClr val="accent2">
                    <a:lumOff val="-5333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solidFill>
                  <a:srgbClr val="534F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Qb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solidFill>
                  <a:schemeClr val="accent1">
                    <a:lumOff val="-7647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</a:t>
            </a:r>
            <a:endParaRPr sz="1406" dirty="0">
              <a:solidFill>
                <a:schemeClr val="accent1">
                  <a:lumOff val="-7647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" name="Shape 1063"/>
          <p:cNvSpPr txBox="1"/>
          <p:nvPr/>
        </p:nvSpPr>
        <p:spPr>
          <a:xfrm>
            <a:off x="1250302" y="182688"/>
            <a:ext cx="7131728" cy="258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354888">
              <a:defRPr sz="2400">
                <a:solidFill>
                  <a:srgbClr val="000000"/>
                </a:solidFill>
              </a:defRPr>
            </a:pPr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the industry's </a:t>
            </a:r>
            <a:r>
              <a:rPr lang="en-US"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upply curve </a:t>
            </a:r>
            <a:r>
              <a:rPr sz="1687" dirty="0">
                <a:solidFill>
                  <a:srgbClr val="661D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EQUALLY EFFICIENT FIRMS </a:t>
            </a:r>
          </a:p>
        </p:txBody>
      </p:sp>
      <p:sp>
        <p:nvSpPr>
          <p:cNvPr id="1741" name="Shape 1064"/>
          <p:cNvSpPr/>
          <p:nvPr/>
        </p:nvSpPr>
        <p:spPr>
          <a:xfrm flipV="1">
            <a:off x="654235" y="1357902"/>
            <a:ext cx="3" cy="1491345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2" name="Shape 1065"/>
          <p:cNvSpPr/>
          <p:nvPr/>
        </p:nvSpPr>
        <p:spPr>
          <a:xfrm>
            <a:off x="629455" y="2858174"/>
            <a:ext cx="1367725" cy="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3" name="Shape 1066"/>
          <p:cNvSpPr txBox="1"/>
          <p:nvPr/>
        </p:nvSpPr>
        <p:spPr>
          <a:xfrm>
            <a:off x="1732735" y="2884529"/>
            <a:ext cx="751726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44" name="Shape 1067"/>
          <p:cNvSpPr txBox="1"/>
          <p:nvPr/>
        </p:nvSpPr>
        <p:spPr>
          <a:xfrm>
            <a:off x="129800" y="1431579"/>
            <a:ext cx="533367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745" name="Shape 1068"/>
          <p:cNvSpPr/>
          <p:nvPr/>
        </p:nvSpPr>
        <p:spPr>
          <a:xfrm flipV="1">
            <a:off x="2932795" y="1355418"/>
            <a:ext cx="2" cy="1491346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6" name="Shape 1069"/>
          <p:cNvSpPr/>
          <p:nvPr/>
        </p:nvSpPr>
        <p:spPr>
          <a:xfrm>
            <a:off x="2908014" y="2855691"/>
            <a:ext cx="1367725" cy="2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7" name="Shape 1070"/>
          <p:cNvSpPr txBox="1"/>
          <p:nvPr/>
        </p:nvSpPr>
        <p:spPr>
          <a:xfrm>
            <a:off x="4071678" y="2896007"/>
            <a:ext cx="751726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48" name="Shape 1071"/>
          <p:cNvSpPr txBox="1"/>
          <p:nvPr/>
        </p:nvSpPr>
        <p:spPr>
          <a:xfrm>
            <a:off x="2408361" y="1429095"/>
            <a:ext cx="533365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749" name="Shape 1072"/>
          <p:cNvSpPr/>
          <p:nvPr/>
        </p:nvSpPr>
        <p:spPr>
          <a:xfrm flipV="1">
            <a:off x="4894337" y="1355418"/>
            <a:ext cx="2" cy="1491346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0" name="Shape 1073"/>
          <p:cNvSpPr/>
          <p:nvPr/>
        </p:nvSpPr>
        <p:spPr>
          <a:xfrm>
            <a:off x="4869556" y="2855691"/>
            <a:ext cx="1367726" cy="2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1" name="Shape 1074"/>
          <p:cNvSpPr txBox="1"/>
          <p:nvPr/>
        </p:nvSpPr>
        <p:spPr>
          <a:xfrm>
            <a:off x="6083551" y="2884529"/>
            <a:ext cx="751726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52" name="Shape 1075"/>
          <p:cNvSpPr txBox="1"/>
          <p:nvPr/>
        </p:nvSpPr>
        <p:spPr>
          <a:xfrm>
            <a:off x="4369904" y="1429095"/>
            <a:ext cx="533365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823AE14-FFA6-C84B-A7E6-7DE56F636D9A}"/>
              </a:ext>
            </a:extLst>
          </p:cNvPr>
          <p:cNvGrpSpPr/>
          <p:nvPr/>
        </p:nvGrpSpPr>
        <p:grpSpPr>
          <a:xfrm>
            <a:off x="876487" y="1186125"/>
            <a:ext cx="1338428" cy="1537267"/>
            <a:chOff x="1246560" y="1686933"/>
            <a:chExt cx="1903542" cy="2186335"/>
          </a:xfrm>
        </p:grpSpPr>
        <p:sp>
          <p:nvSpPr>
            <p:cNvPr id="1753" name="Shape 1076"/>
            <p:cNvSpPr/>
            <p:nvPr/>
          </p:nvSpPr>
          <p:spPr>
            <a:xfrm>
              <a:off x="1246560" y="2083542"/>
              <a:ext cx="1124221" cy="17897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10" y="7445"/>
                    <a:pt x="10810" y="14645"/>
                    <a:pt x="0" y="21600"/>
                  </a:cubicBezTo>
                </a:path>
              </a:pathLst>
            </a:custGeom>
            <a:ln w="50800">
              <a:solidFill>
                <a:schemeClr val="accent2">
                  <a:lumOff val="-5333"/>
                </a:schemeClr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4" name="Shape 1077"/>
            <p:cNvSpPr txBox="1"/>
            <p:nvPr/>
          </p:nvSpPr>
          <p:spPr>
            <a:xfrm>
              <a:off x="2052964" y="1686933"/>
              <a:ext cx="1097138" cy="4046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500">
                  <a:solidFill>
                    <a:srgbClr val="1D2D0D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SA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2DE6670-4409-DA4D-AE4C-DE0FCF97F30A}"/>
              </a:ext>
            </a:extLst>
          </p:cNvPr>
          <p:cNvGrpSpPr/>
          <p:nvPr/>
        </p:nvGrpSpPr>
        <p:grpSpPr>
          <a:xfrm>
            <a:off x="3141169" y="1106373"/>
            <a:ext cx="1316818" cy="1520658"/>
            <a:chOff x="4467440" y="1573508"/>
            <a:chExt cx="1872808" cy="2162713"/>
          </a:xfrm>
        </p:grpSpPr>
        <p:sp>
          <p:nvSpPr>
            <p:cNvPr id="1755" name="Shape 1078"/>
            <p:cNvSpPr/>
            <p:nvPr/>
          </p:nvSpPr>
          <p:spPr>
            <a:xfrm>
              <a:off x="4467440" y="1946499"/>
              <a:ext cx="1093487" cy="178972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10" y="7445"/>
                    <a:pt x="10810" y="14645"/>
                    <a:pt x="0" y="21600"/>
                  </a:cubicBezTo>
                </a:path>
              </a:pathLst>
            </a:custGeom>
            <a:ln w="50800">
              <a:solidFill>
                <a:schemeClr val="accent3">
                  <a:lumOff val="-9999"/>
                </a:schemeClr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56" name="Shape 1079"/>
            <p:cNvSpPr txBox="1"/>
            <p:nvPr/>
          </p:nvSpPr>
          <p:spPr>
            <a:xfrm>
              <a:off x="5307160" y="1573508"/>
              <a:ext cx="1033088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84200">
                <a:defRPr sz="2500">
                  <a:solidFill>
                    <a:srgbClr val="7A7414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SB</a:t>
              </a:r>
            </a:p>
          </p:txBody>
        </p:sp>
      </p:grpSp>
      <p:sp>
        <p:nvSpPr>
          <p:cNvPr id="1757" name="Shape 1080"/>
          <p:cNvSpPr/>
          <p:nvPr/>
        </p:nvSpPr>
        <p:spPr>
          <a:xfrm flipV="1">
            <a:off x="6777149" y="1349133"/>
            <a:ext cx="1" cy="1491346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8" name="Shape 1081"/>
          <p:cNvSpPr/>
          <p:nvPr/>
        </p:nvSpPr>
        <p:spPr>
          <a:xfrm>
            <a:off x="6752368" y="2849405"/>
            <a:ext cx="2071308" cy="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9" name="Shape 1082"/>
          <p:cNvSpPr txBox="1"/>
          <p:nvPr/>
        </p:nvSpPr>
        <p:spPr>
          <a:xfrm>
            <a:off x="8469236" y="2859259"/>
            <a:ext cx="589999" cy="32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defTabSz="369675">
              <a:defRPr sz="1500">
                <a:solidFill>
                  <a:srgbClr val="000000"/>
                </a:solidFill>
              </a:defRPr>
            </a:pPr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Qty </a:t>
            </a:r>
            <a:endParaRPr sz="1266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9675">
              <a:defRPr sz="1500">
                <a:solidFill>
                  <a:srgbClr val="000000"/>
                </a:solidFill>
              </a:defRPr>
            </a:pPr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(100)</a:t>
            </a:r>
          </a:p>
        </p:txBody>
      </p:sp>
      <p:sp>
        <p:nvSpPr>
          <p:cNvPr id="1760" name="Shape 1083"/>
          <p:cNvSpPr txBox="1"/>
          <p:nvPr/>
        </p:nvSpPr>
        <p:spPr>
          <a:xfrm>
            <a:off x="6252715" y="1422810"/>
            <a:ext cx="533366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982D03C-FB73-E541-B5B4-D3DEACBAE5CA}"/>
              </a:ext>
            </a:extLst>
          </p:cNvPr>
          <p:cNvGrpSpPr/>
          <p:nvPr/>
        </p:nvGrpSpPr>
        <p:grpSpPr>
          <a:xfrm>
            <a:off x="7569531" y="1001322"/>
            <a:ext cx="1316817" cy="1574195"/>
            <a:chOff x="10765556" y="1424102"/>
            <a:chExt cx="1872806" cy="2238855"/>
          </a:xfrm>
        </p:grpSpPr>
        <p:sp>
          <p:nvSpPr>
            <p:cNvPr id="1761" name="Shape 1084"/>
            <p:cNvSpPr/>
            <p:nvPr/>
          </p:nvSpPr>
          <p:spPr>
            <a:xfrm>
              <a:off x="10765556" y="1797092"/>
              <a:ext cx="1093486" cy="186586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041" y="7372"/>
                    <a:pt x="10841" y="14572"/>
                    <a:pt x="0" y="21600"/>
                  </a:cubicBezTo>
                </a:path>
              </a:pathLst>
            </a:custGeom>
            <a:ln w="50800">
              <a:solidFill>
                <a:srgbClr val="4C1066"/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2" name="Shape 1085"/>
            <p:cNvSpPr txBox="1"/>
            <p:nvPr/>
          </p:nvSpPr>
          <p:spPr>
            <a:xfrm>
              <a:off x="11605275" y="1424102"/>
              <a:ext cx="1033087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84200">
                <a:defRPr sz="2500">
                  <a:solidFill>
                    <a:srgbClr val="4C1066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B4831B7-8013-BA41-BE47-ADDCE17B46A1}"/>
              </a:ext>
            </a:extLst>
          </p:cNvPr>
          <p:cNvGrpSpPr/>
          <p:nvPr/>
        </p:nvGrpSpPr>
        <p:grpSpPr>
          <a:xfrm>
            <a:off x="396484" y="2145531"/>
            <a:ext cx="7541759" cy="907791"/>
            <a:chOff x="563888" y="3051419"/>
            <a:chExt cx="10726057" cy="1291079"/>
          </a:xfrm>
        </p:grpSpPr>
        <p:sp>
          <p:nvSpPr>
            <p:cNvPr id="1765" name="Shape 1088"/>
            <p:cNvSpPr/>
            <p:nvPr/>
          </p:nvSpPr>
          <p:spPr>
            <a:xfrm flipV="1">
              <a:off x="11095348" y="3267392"/>
              <a:ext cx="2" cy="781339"/>
            </a:xfrm>
            <a:prstGeom prst="line">
              <a:avLst/>
            </a:prstGeom>
            <a:ln w="38100">
              <a:solidFill>
                <a:srgbClr val="000000"/>
              </a:solidFill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D505D15-788E-1844-9A5B-9D500F0D84F9}"/>
                </a:ext>
              </a:extLst>
            </p:cNvPr>
            <p:cNvGrpSpPr/>
            <p:nvPr/>
          </p:nvGrpSpPr>
          <p:grpSpPr>
            <a:xfrm>
              <a:off x="563888" y="3051419"/>
              <a:ext cx="10726057" cy="1291079"/>
              <a:chOff x="563888" y="3051419"/>
              <a:chExt cx="10726057" cy="1291079"/>
            </a:xfrm>
          </p:grpSpPr>
          <p:sp>
            <p:nvSpPr>
              <p:cNvPr id="1737" name="Shape 1060"/>
              <p:cNvSpPr/>
              <p:nvPr/>
            </p:nvSpPr>
            <p:spPr>
              <a:xfrm>
                <a:off x="914990" y="3260948"/>
                <a:ext cx="10161307" cy="1"/>
              </a:xfrm>
              <a:prstGeom prst="line">
                <a:avLst/>
              </a:prstGeom>
              <a:ln w="25400">
                <a:solidFill>
                  <a:srgbClr val="000000"/>
                </a:solidFill>
                <a:prstDash val="sysDot"/>
                <a:miter lim="400000"/>
              </a:ln>
            </p:spPr>
            <p:txBody>
              <a:bodyPr lIns="32145" tIns="32145" rIns="32145" bIns="32145"/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38" name="Shape 1061"/>
              <p:cNvSpPr/>
              <p:nvPr/>
            </p:nvSpPr>
            <p:spPr>
              <a:xfrm flipV="1">
                <a:off x="1827009" y="3244716"/>
                <a:ext cx="3" cy="832587"/>
              </a:xfrm>
              <a:prstGeom prst="line">
                <a:avLst/>
              </a:prstGeom>
              <a:ln w="38100">
                <a:solidFill>
                  <a:srgbClr val="000000"/>
                </a:solidFill>
                <a:miter lim="400000"/>
              </a:ln>
            </p:spPr>
            <p:txBody>
              <a:bodyPr lIns="32145" tIns="32145" rIns="32145" bIns="32145"/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3" name="Shape 1086"/>
              <p:cNvSpPr/>
              <p:nvPr/>
            </p:nvSpPr>
            <p:spPr>
              <a:xfrm flipV="1">
                <a:off x="4901748" y="3259917"/>
                <a:ext cx="3" cy="782205"/>
              </a:xfrm>
              <a:prstGeom prst="line">
                <a:avLst/>
              </a:prstGeom>
              <a:ln w="38100">
                <a:solidFill>
                  <a:srgbClr val="000000"/>
                </a:solidFill>
                <a:miter lim="400000"/>
              </a:ln>
            </p:spPr>
            <p:txBody>
              <a:bodyPr lIns="32145" tIns="32145" rIns="32145" bIns="32145"/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4" name="Shape 1087"/>
              <p:cNvSpPr/>
              <p:nvPr/>
            </p:nvSpPr>
            <p:spPr>
              <a:xfrm flipV="1">
                <a:off x="7777004" y="3273647"/>
                <a:ext cx="3" cy="808325"/>
              </a:xfrm>
              <a:prstGeom prst="line">
                <a:avLst/>
              </a:prstGeom>
              <a:ln w="38100">
                <a:solidFill>
                  <a:srgbClr val="000000"/>
                </a:solidFill>
                <a:miter lim="400000"/>
              </a:ln>
            </p:spPr>
            <p:txBody>
              <a:bodyPr lIns="32145" tIns="32145" rIns="32145" bIns="32145"/>
              <a:lstStyle/>
              <a:p>
                <a:pPr defTabSz="410751">
                  <a:defRPr sz="3600" b="0">
                    <a:solidFill>
                      <a:srgbClr val="000000"/>
                    </a:solidFill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66" name="Shape 1089"/>
              <p:cNvSpPr txBox="1"/>
              <p:nvPr/>
            </p:nvSpPr>
            <p:spPr>
              <a:xfrm>
                <a:off x="563888" y="3051419"/>
                <a:ext cx="256943" cy="241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394333">
                  <a:defRPr sz="16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1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1767" name="Shape 1090"/>
              <p:cNvSpPr txBox="1"/>
              <p:nvPr/>
            </p:nvSpPr>
            <p:spPr>
              <a:xfrm>
                <a:off x="3881875" y="3293126"/>
                <a:ext cx="256946" cy="241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394333">
                  <a:defRPr sz="16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1768" name="Shape 1091"/>
              <p:cNvSpPr txBox="1"/>
              <p:nvPr/>
            </p:nvSpPr>
            <p:spPr>
              <a:xfrm>
                <a:off x="6635032" y="3259918"/>
                <a:ext cx="256943" cy="241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394333">
                  <a:defRPr sz="16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1769" name="Shape 1092"/>
              <p:cNvSpPr txBox="1"/>
              <p:nvPr/>
            </p:nvSpPr>
            <p:spPr>
              <a:xfrm>
                <a:off x="9288981" y="3281712"/>
                <a:ext cx="256943" cy="241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394333">
                  <a:defRPr sz="16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12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P0</a:t>
                </a:r>
              </a:p>
            </p:txBody>
          </p:sp>
          <p:sp>
            <p:nvSpPr>
              <p:cNvPr id="1770" name="Shape 1093"/>
              <p:cNvSpPr txBox="1"/>
              <p:nvPr/>
            </p:nvSpPr>
            <p:spPr>
              <a:xfrm>
                <a:off x="1713014" y="4113896"/>
                <a:ext cx="427292" cy="2286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525779">
                  <a:defRPr sz="15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055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Qa</a:t>
                </a:r>
                <a:endParaRPr sz="105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1" name="Shape 1094"/>
              <p:cNvSpPr txBox="1"/>
              <p:nvPr/>
            </p:nvSpPr>
            <p:spPr>
              <a:xfrm>
                <a:off x="4800537" y="4102105"/>
                <a:ext cx="427292" cy="2286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525779">
                  <a:defRPr sz="15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055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Qb</a:t>
                </a:r>
                <a:endParaRPr sz="1055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72" name="Shape 1095"/>
              <p:cNvSpPr txBox="1"/>
              <p:nvPr/>
            </p:nvSpPr>
            <p:spPr>
              <a:xfrm>
                <a:off x="7676003" y="4102441"/>
                <a:ext cx="427292" cy="2286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525779">
                  <a:defRPr sz="15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0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Qc</a:t>
                </a:r>
              </a:p>
            </p:txBody>
          </p:sp>
          <p:sp>
            <p:nvSpPr>
              <p:cNvPr id="1773" name="Shape 1096"/>
              <p:cNvSpPr txBox="1"/>
              <p:nvPr/>
            </p:nvSpPr>
            <p:spPr>
              <a:xfrm>
                <a:off x="10862653" y="4105873"/>
                <a:ext cx="427292" cy="2286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>
                <a:normAutofit lnSpcReduction="10000"/>
              </a:bodyPr>
              <a:lstStyle>
                <a:lvl1pPr defTabSz="525779">
                  <a:defRPr sz="1500">
                    <a:solidFill>
                      <a:schemeClr val="accent6">
                        <a:lumOff val="-8549"/>
                      </a:schemeClr>
                    </a:solidFill>
                  </a:defRPr>
                </a:lvl1pPr>
              </a:lstStyle>
              <a:p>
                <a:r>
                  <a:rPr sz="1055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</a:t>
                </a:r>
              </a:p>
            </p:txBody>
          </p:sp>
        </p:grpSp>
      </p:grpSp>
      <p:sp>
        <p:nvSpPr>
          <p:cNvPr id="1774" name="Shape 1097"/>
          <p:cNvSpPr/>
          <p:nvPr/>
        </p:nvSpPr>
        <p:spPr>
          <a:xfrm>
            <a:off x="836149" y="728560"/>
            <a:ext cx="589566" cy="257673"/>
          </a:xfrm>
          <a:prstGeom prst="rect">
            <a:avLst/>
          </a:prstGeom>
          <a:solidFill>
            <a:srgbClr val="88CB5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Firm A</a:t>
            </a:r>
          </a:p>
        </p:txBody>
      </p:sp>
      <p:sp>
        <p:nvSpPr>
          <p:cNvPr id="1775" name="Shape 1098"/>
          <p:cNvSpPr/>
          <p:nvPr/>
        </p:nvSpPr>
        <p:spPr>
          <a:xfrm>
            <a:off x="3167477" y="734048"/>
            <a:ext cx="558745" cy="259715"/>
          </a:xfrm>
          <a:prstGeom prst="rect">
            <a:avLst/>
          </a:prstGeom>
          <a:solidFill>
            <a:srgbClr val="FDF6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B</a:t>
            </a:r>
          </a:p>
        </p:txBody>
      </p:sp>
      <p:sp>
        <p:nvSpPr>
          <p:cNvPr id="1776" name="Shape 1099"/>
          <p:cNvSpPr/>
          <p:nvPr/>
        </p:nvSpPr>
        <p:spPr>
          <a:xfrm>
            <a:off x="4988665" y="755975"/>
            <a:ext cx="558745" cy="259716"/>
          </a:xfrm>
          <a:prstGeom prst="rect">
            <a:avLst/>
          </a:prstGeom>
          <a:solidFill>
            <a:srgbClr val="99B8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Firm C</a:t>
            </a:r>
          </a:p>
        </p:txBody>
      </p:sp>
      <p:sp>
        <p:nvSpPr>
          <p:cNvPr id="1777" name="Shape 1100"/>
          <p:cNvSpPr/>
          <p:nvPr/>
        </p:nvSpPr>
        <p:spPr>
          <a:xfrm>
            <a:off x="7146843" y="943020"/>
            <a:ext cx="759680" cy="259715"/>
          </a:xfrm>
          <a:prstGeom prst="rect">
            <a:avLst/>
          </a:prstGeom>
          <a:solidFill>
            <a:srgbClr val="C440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sp>
        <p:nvSpPr>
          <p:cNvPr id="1780" name="Shape 1103"/>
          <p:cNvSpPr/>
          <p:nvPr/>
        </p:nvSpPr>
        <p:spPr>
          <a:xfrm flipV="1">
            <a:off x="631718" y="4326579"/>
            <a:ext cx="2" cy="149134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1" name="Shape 1104"/>
          <p:cNvSpPr/>
          <p:nvPr/>
        </p:nvSpPr>
        <p:spPr>
          <a:xfrm>
            <a:off x="606938" y="5826851"/>
            <a:ext cx="1367725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2" name="Shape 1105"/>
          <p:cNvSpPr txBox="1"/>
          <p:nvPr/>
        </p:nvSpPr>
        <p:spPr>
          <a:xfrm>
            <a:off x="1786369" y="5865626"/>
            <a:ext cx="751726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83" name="Shape 1106"/>
          <p:cNvSpPr txBox="1"/>
          <p:nvPr/>
        </p:nvSpPr>
        <p:spPr>
          <a:xfrm>
            <a:off x="107283" y="4400255"/>
            <a:ext cx="533367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784" name="Shape 1107"/>
          <p:cNvSpPr/>
          <p:nvPr/>
        </p:nvSpPr>
        <p:spPr>
          <a:xfrm flipV="1">
            <a:off x="2910276" y="4324095"/>
            <a:ext cx="3" cy="149134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5" name="Shape 1108"/>
          <p:cNvSpPr/>
          <p:nvPr/>
        </p:nvSpPr>
        <p:spPr>
          <a:xfrm>
            <a:off x="2885497" y="5824367"/>
            <a:ext cx="1367725" cy="2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6" name="Shape 1109"/>
          <p:cNvSpPr txBox="1"/>
          <p:nvPr/>
        </p:nvSpPr>
        <p:spPr>
          <a:xfrm>
            <a:off x="4071677" y="5851236"/>
            <a:ext cx="751727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87" name="Shape 1110"/>
          <p:cNvSpPr txBox="1"/>
          <p:nvPr/>
        </p:nvSpPr>
        <p:spPr>
          <a:xfrm>
            <a:off x="2385843" y="4397771"/>
            <a:ext cx="533365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788" name="Shape 1111"/>
          <p:cNvSpPr/>
          <p:nvPr/>
        </p:nvSpPr>
        <p:spPr>
          <a:xfrm flipV="1">
            <a:off x="4871819" y="4324095"/>
            <a:ext cx="2" cy="149134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9" name="Shape 1112"/>
          <p:cNvSpPr/>
          <p:nvPr/>
        </p:nvSpPr>
        <p:spPr>
          <a:xfrm>
            <a:off x="4847039" y="5824367"/>
            <a:ext cx="1367725" cy="2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0" name="Shape 1113"/>
          <p:cNvSpPr txBox="1"/>
          <p:nvPr/>
        </p:nvSpPr>
        <p:spPr>
          <a:xfrm>
            <a:off x="5986074" y="5858533"/>
            <a:ext cx="751726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91" name="Shape 1114"/>
          <p:cNvSpPr txBox="1"/>
          <p:nvPr/>
        </p:nvSpPr>
        <p:spPr>
          <a:xfrm>
            <a:off x="4347385" y="4397771"/>
            <a:ext cx="533365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0DEA14D-E696-7346-8C0C-0F1372DD4608}"/>
              </a:ext>
            </a:extLst>
          </p:cNvPr>
          <p:cNvGrpSpPr/>
          <p:nvPr/>
        </p:nvGrpSpPr>
        <p:grpSpPr>
          <a:xfrm>
            <a:off x="875581" y="4343738"/>
            <a:ext cx="1331165" cy="1348330"/>
            <a:chOff x="1245270" y="6177760"/>
            <a:chExt cx="1893213" cy="1917625"/>
          </a:xfrm>
        </p:grpSpPr>
        <p:sp>
          <p:nvSpPr>
            <p:cNvPr id="1792" name="Shape 1115"/>
            <p:cNvSpPr/>
            <p:nvPr/>
          </p:nvSpPr>
          <p:spPr>
            <a:xfrm>
              <a:off x="1245270" y="6664114"/>
              <a:ext cx="1178428" cy="14312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579" y="7528"/>
                    <a:pt x="9379" y="14728"/>
                    <a:pt x="0" y="21600"/>
                  </a:cubicBezTo>
                </a:path>
              </a:pathLst>
            </a:custGeom>
            <a:ln w="50800">
              <a:solidFill>
                <a:schemeClr val="accent2">
                  <a:lumOff val="-5333"/>
                </a:schemeClr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3" name="Shape 1116"/>
            <p:cNvSpPr txBox="1"/>
            <p:nvPr/>
          </p:nvSpPr>
          <p:spPr>
            <a:xfrm>
              <a:off x="2105395" y="6177760"/>
              <a:ext cx="1033088" cy="45623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500">
                  <a:solidFill>
                    <a:srgbClr val="1D2D0D"/>
                  </a:solidFill>
                </a:defRPr>
              </a:lvl1pPr>
            </a:lstStyle>
            <a:p>
              <a:r>
                <a:rPr sz="175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F85622A-5CF0-1348-83A3-F4C5B1DE8F1A}"/>
              </a:ext>
            </a:extLst>
          </p:cNvPr>
          <p:cNvGrpSpPr/>
          <p:nvPr/>
        </p:nvGrpSpPr>
        <p:grpSpPr>
          <a:xfrm>
            <a:off x="5017626" y="4156231"/>
            <a:ext cx="726390" cy="1535835"/>
            <a:chOff x="7136179" y="5911084"/>
            <a:chExt cx="1033088" cy="2184299"/>
          </a:xfrm>
        </p:grpSpPr>
        <p:sp>
          <p:nvSpPr>
            <p:cNvPr id="1795" name="Shape 1118"/>
            <p:cNvSpPr/>
            <p:nvPr/>
          </p:nvSpPr>
          <p:spPr>
            <a:xfrm>
              <a:off x="7206994" y="6344322"/>
              <a:ext cx="584533" cy="175106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21040" y="7048"/>
                    <a:pt x="13840" y="14248"/>
                    <a:pt x="0" y="21600"/>
                  </a:cubicBezTo>
                </a:path>
              </a:pathLst>
            </a:custGeom>
            <a:ln w="50800">
              <a:solidFill>
                <a:schemeClr val="accent1">
                  <a:lumOff val="-7647"/>
                </a:schemeClr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96" name="Shape 1119"/>
            <p:cNvSpPr txBox="1"/>
            <p:nvPr/>
          </p:nvSpPr>
          <p:spPr>
            <a:xfrm>
              <a:off x="7136179" y="5911084"/>
              <a:ext cx="1033088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84200">
                <a:defRPr sz="2500">
                  <a:solidFill>
                    <a:srgbClr val="2A1680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</p:grpSp>
      <p:sp>
        <p:nvSpPr>
          <p:cNvPr id="1797" name="Shape 1120"/>
          <p:cNvSpPr/>
          <p:nvPr/>
        </p:nvSpPr>
        <p:spPr>
          <a:xfrm flipV="1">
            <a:off x="6754632" y="4317810"/>
            <a:ext cx="1" cy="149134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8" name="Shape 1121"/>
          <p:cNvSpPr/>
          <p:nvPr/>
        </p:nvSpPr>
        <p:spPr>
          <a:xfrm>
            <a:off x="6729850" y="5818081"/>
            <a:ext cx="2071307" cy="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99" name="Shape 1122"/>
          <p:cNvSpPr txBox="1"/>
          <p:nvPr/>
        </p:nvSpPr>
        <p:spPr>
          <a:xfrm>
            <a:off x="8446718" y="5827935"/>
            <a:ext cx="589999" cy="32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/>
          <a:p>
            <a:pPr defTabSz="369675">
              <a:defRPr sz="1500">
                <a:solidFill>
                  <a:srgbClr val="000000"/>
                </a:solidFill>
              </a:defRPr>
            </a:pPr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Qty </a:t>
            </a:r>
            <a:endParaRPr sz="1266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369675">
              <a:defRPr sz="1500">
                <a:solidFill>
                  <a:srgbClr val="000000"/>
                </a:solidFill>
              </a:defRPr>
            </a:pPr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(100)</a:t>
            </a:r>
          </a:p>
        </p:txBody>
      </p:sp>
      <p:sp>
        <p:nvSpPr>
          <p:cNvPr id="1800" name="Shape 1123"/>
          <p:cNvSpPr txBox="1"/>
          <p:nvPr/>
        </p:nvSpPr>
        <p:spPr>
          <a:xfrm>
            <a:off x="6230197" y="4391486"/>
            <a:ext cx="533365" cy="160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525779">
              <a:defRPr sz="1500">
                <a:solidFill>
                  <a:srgbClr val="000000"/>
                </a:solidFill>
              </a:defRPr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B2D1CF8-C4E4-C048-9A0A-13DA0D34095E}"/>
              </a:ext>
            </a:extLst>
          </p:cNvPr>
          <p:cNvGrpSpPr/>
          <p:nvPr/>
        </p:nvGrpSpPr>
        <p:grpSpPr>
          <a:xfrm>
            <a:off x="373966" y="5114206"/>
            <a:ext cx="7241065" cy="925640"/>
            <a:chOff x="531862" y="7273538"/>
            <a:chExt cx="10298404" cy="1316466"/>
          </a:xfrm>
        </p:grpSpPr>
        <p:sp>
          <p:nvSpPr>
            <p:cNvPr id="1778" name="Shape 1101"/>
            <p:cNvSpPr/>
            <p:nvPr/>
          </p:nvSpPr>
          <p:spPr>
            <a:xfrm>
              <a:off x="882962" y="7483065"/>
              <a:ext cx="9742789" cy="1"/>
            </a:xfrm>
            <a:prstGeom prst="line">
              <a:avLst/>
            </a:prstGeom>
            <a:ln w="25400">
              <a:solidFill>
                <a:srgbClr val="000000"/>
              </a:solidFill>
              <a:prstDash val="sysDot"/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9" name="Shape 1102"/>
            <p:cNvSpPr/>
            <p:nvPr/>
          </p:nvSpPr>
          <p:spPr>
            <a:xfrm flipV="1">
              <a:off x="1794985" y="7466833"/>
              <a:ext cx="3" cy="832946"/>
            </a:xfrm>
            <a:prstGeom prst="line">
              <a:avLst/>
            </a:prstGeom>
            <a:ln w="38100">
              <a:solidFill>
                <a:srgbClr val="000000"/>
              </a:solidFill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2" name="Shape 1125"/>
            <p:cNvSpPr/>
            <p:nvPr/>
          </p:nvSpPr>
          <p:spPr>
            <a:xfrm flipV="1">
              <a:off x="5046911" y="7475612"/>
              <a:ext cx="3" cy="832037"/>
            </a:xfrm>
            <a:prstGeom prst="line">
              <a:avLst/>
            </a:prstGeom>
            <a:ln w="38100">
              <a:solidFill>
                <a:srgbClr val="000000"/>
              </a:solidFill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3" name="Shape 1126"/>
            <p:cNvSpPr/>
            <p:nvPr/>
          </p:nvSpPr>
          <p:spPr>
            <a:xfrm flipV="1">
              <a:off x="7544374" y="7435701"/>
              <a:ext cx="2" cy="894888"/>
            </a:xfrm>
            <a:prstGeom prst="line">
              <a:avLst/>
            </a:prstGeom>
            <a:ln w="38100">
              <a:solidFill>
                <a:srgbClr val="000000"/>
              </a:solidFill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4" name="Shape 1127"/>
            <p:cNvSpPr/>
            <p:nvPr/>
          </p:nvSpPr>
          <p:spPr>
            <a:xfrm flipV="1">
              <a:off x="10635668" y="7519774"/>
              <a:ext cx="2" cy="765337"/>
            </a:xfrm>
            <a:prstGeom prst="line">
              <a:avLst/>
            </a:prstGeom>
            <a:ln w="38100">
              <a:solidFill>
                <a:srgbClr val="000000"/>
              </a:solidFill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5" name="Shape 1128"/>
            <p:cNvSpPr txBox="1"/>
            <p:nvPr/>
          </p:nvSpPr>
          <p:spPr>
            <a:xfrm>
              <a:off x="531862" y="7273538"/>
              <a:ext cx="256946" cy="241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394333">
                <a:defRPr sz="16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12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1806" name="Shape 1129"/>
            <p:cNvSpPr txBox="1"/>
            <p:nvPr/>
          </p:nvSpPr>
          <p:spPr>
            <a:xfrm>
              <a:off x="3849849" y="7515244"/>
              <a:ext cx="256946" cy="241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394333">
                <a:defRPr sz="16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1807" name="Shape 1130"/>
            <p:cNvSpPr txBox="1"/>
            <p:nvPr/>
          </p:nvSpPr>
          <p:spPr>
            <a:xfrm>
              <a:off x="6603009" y="7482034"/>
              <a:ext cx="256943" cy="2413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394333">
                <a:defRPr sz="16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1808" name="Shape 1131"/>
            <p:cNvSpPr txBox="1"/>
            <p:nvPr/>
          </p:nvSpPr>
          <p:spPr>
            <a:xfrm>
              <a:off x="9256955" y="7503830"/>
              <a:ext cx="256943" cy="2413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394333">
                <a:defRPr sz="16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125">
                  <a:latin typeface="Times New Roman" panose="02020603050405020304" pitchFamily="18" charset="0"/>
                  <a:cs typeface="Times New Roman" panose="02020603050405020304" pitchFamily="18" charset="0"/>
                </a:rPr>
                <a:t>P0</a:t>
              </a:r>
            </a:p>
          </p:txBody>
        </p:sp>
        <p:sp>
          <p:nvSpPr>
            <p:cNvPr id="1809" name="Shape 1132"/>
            <p:cNvSpPr txBox="1"/>
            <p:nvPr/>
          </p:nvSpPr>
          <p:spPr>
            <a:xfrm>
              <a:off x="1600390" y="8361402"/>
              <a:ext cx="427292" cy="2286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25779">
                <a:defRPr sz="15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Qa</a:t>
              </a:r>
            </a:p>
          </p:txBody>
        </p:sp>
        <p:sp>
          <p:nvSpPr>
            <p:cNvPr id="1810" name="Shape 1133"/>
            <p:cNvSpPr txBox="1"/>
            <p:nvPr/>
          </p:nvSpPr>
          <p:spPr>
            <a:xfrm>
              <a:off x="4911900" y="8299418"/>
              <a:ext cx="427292" cy="2286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25779">
                <a:defRPr sz="15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Qb</a:t>
              </a:r>
            </a:p>
          </p:txBody>
        </p:sp>
        <p:sp>
          <p:nvSpPr>
            <p:cNvPr id="1811" name="Shape 1134"/>
            <p:cNvSpPr txBox="1"/>
            <p:nvPr/>
          </p:nvSpPr>
          <p:spPr>
            <a:xfrm>
              <a:off x="7434195" y="8333219"/>
              <a:ext cx="557365" cy="2286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25779">
                <a:defRPr sz="15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055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Qc</a:t>
              </a:r>
            </a:p>
          </p:txBody>
        </p:sp>
        <p:sp>
          <p:nvSpPr>
            <p:cNvPr id="1812" name="Shape 1135"/>
            <p:cNvSpPr txBox="1"/>
            <p:nvPr/>
          </p:nvSpPr>
          <p:spPr>
            <a:xfrm>
              <a:off x="10402974" y="8302589"/>
              <a:ext cx="427292" cy="2286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25779">
                <a:defRPr sz="1500">
                  <a:solidFill>
                    <a:schemeClr val="accent6">
                      <a:lumOff val="-8549"/>
                    </a:schemeClr>
                  </a:solidFill>
                </a:defRPr>
              </a:lvl1pPr>
            </a:lstStyle>
            <a:p>
              <a:r>
                <a:rPr sz="1055">
                  <a:latin typeface="Times New Roman" panose="02020603050405020304" pitchFamily="18" charset="0"/>
                  <a:cs typeface="Times New Roman" panose="02020603050405020304" pitchFamily="18" charset="0"/>
                </a:rPr>
                <a:t>Qi</a:t>
              </a:r>
            </a:p>
          </p:txBody>
        </p:sp>
      </p:grpSp>
      <p:sp>
        <p:nvSpPr>
          <p:cNvPr id="1813" name="Shape 1136"/>
          <p:cNvSpPr/>
          <p:nvPr/>
        </p:nvSpPr>
        <p:spPr>
          <a:xfrm>
            <a:off x="813632" y="3697238"/>
            <a:ext cx="567173" cy="257673"/>
          </a:xfrm>
          <a:prstGeom prst="rect">
            <a:avLst/>
          </a:prstGeom>
          <a:solidFill>
            <a:srgbClr val="88CB5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Firm A</a:t>
            </a:r>
          </a:p>
        </p:txBody>
      </p:sp>
      <p:sp>
        <p:nvSpPr>
          <p:cNvPr id="1814" name="Shape 1137"/>
          <p:cNvSpPr/>
          <p:nvPr/>
        </p:nvSpPr>
        <p:spPr>
          <a:xfrm>
            <a:off x="3144960" y="3702724"/>
            <a:ext cx="512270" cy="259715"/>
          </a:xfrm>
          <a:prstGeom prst="rect">
            <a:avLst/>
          </a:prstGeom>
          <a:solidFill>
            <a:srgbClr val="FDF666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Firm B</a:t>
            </a:r>
          </a:p>
        </p:txBody>
      </p:sp>
      <p:sp>
        <p:nvSpPr>
          <p:cNvPr id="1815" name="Shape 1138"/>
          <p:cNvSpPr/>
          <p:nvPr/>
        </p:nvSpPr>
        <p:spPr>
          <a:xfrm>
            <a:off x="4966149" y="3724651"/>
            <a:ext cx="512270" cy="259715"/>
          </a:xfrm>
          <a:prstGeom prst="rect">
            <a:avLst/>
          </a:prstGeom>
          <a:solidFill>
            <a:srgbClr val="99B8FC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Firm C</a:t>
            </a:r>
          </a:p>
        </p:txBody>
      </p:sp>
      <p:sp>
        <p:nvSpPr>
          <p:cNvPr id="1816" name="Shape 1139"/>
          <p:cNvSpPr/>
          <p:nvPr/>
        </p:nvSpPr>
        <p:spPr>
          <a:xfrm>
            <a:off x="7055132" y="3954910"/>
            <a:ext cx="759680" cy="259715"/>
          </a:xfrm>
          <a:prstGeom prst="rect">
            <a:avLst/>
          </a:prstGeom>
          <a:solidFill>
            <a:srgbClr val="C440F9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 sz="2000">
                <a:solidFill>
                  <a:srgbClr val="000000"/>
                </a:solidFill>
              </a:defRPr>
            </a:lvl1pPr>
          </a:lstStyle>
          <a:p>
            <a:r>
              <a:rPr sz="1406"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</a:p>
        </p:txBody>
      </p:sp>
      <p:sp>
        <p:nvSpPr>
          <p:cNvPr id="1817" name="Shape 1140"/>
          <p:cNvSpPr txBox="1"/>
          <p:nvPr/>
        </p:nvSpPr>
        <p:spPr>
          <a:xfrm>
            <a:off x="395357" y="3259665"/>
            <a:ext cx="7131729" cy="250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340101">
              <a:defRPr sz="2300">
                <a:solidFill>
                  <a:srgbClr val="000000"/>
                </a:solidFill>
              </a:defRPr>
            </a:pPr>
            <a:r>
              <a:rPr sz="16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Derivation of the industry's </a:t>
            </a:r>
            <a:r>
              <a:rPr lang="en-US" sz="16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6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upply curve </a:t>
            </a:r>
            <a:r>
              <a:rPr sz="1617" dirty="0">
                <a:solidFill>
                  <a:srgbClr val="1D2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UNEQUALLY EFFICIENT FIRMS </a:t>
            </a:r>
          </a:p>
        </p:txBody>
      </p:sp>
      <p:sp>
        <p:nvSpPr>
          <p:cNvPr id="1818" name="Shape 1141"/>
          <p:cNvSpPr txBox="1"/>
          <p:nvPr/>
        </p:nvSpPr>
        <p:spPr>
          <a:xfrm>
            <a:off x="6683542" y="3575598"/>
            <a:ext cx="2375693" cy="313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pPr defTabSz="410751">
              <a:defRPr sz="2000">
                <a:solidFill>
                  <a:srgbClr val="4C1066"/>
                </a:solidFill>
              </a:defRPr>
            </a:pP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solidFill>
                  <a:schemeClr val="accent2">
                    <a:lumOff val="-5333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Qa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solidFill>
                  <a:srgbClr val="534F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Qb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1406" dirty="0" err="1">
                <a:solidFill>
                  <a:schemeClr val="accent1">
                    <a:lumOff val="-7647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Qc</a:t>
            </a:r>
            <a:endParaRPr sz="1406" dirty="0">
              <a:solidFill>
                <a:schemeClr val="accent1">
                  <a:lumOff val="-7647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652A448-7785-BF48-8447-0414BE5E2DE7}"/>
              </a:ext>
            </a:extLst>
          </p:cNvPr>
          <p:cNvGrpSpPr/>
          <p:nvPr/>
        </p:nvGrpSpPr>
        <p:grpSpPr>
          <a:xfrm>
            <a:off x="3172851" y="4118513"/>
            <a:ext cx="1279761" cy="1334931"/>
            <a:chOff x="4512500" y="5857440"/>
            <a:chExt cx="1820104" cy="1898569"/>
          </a:xfrm>
        </p:grpSpPr>
        <p:sp>
          <p:nvSpPr>
            <p:cNvPr id="1794" name="Shape 1117"/>
            <p:cNvSpPr/>
            <p:nvPr/>
          </p:nvSpPr>
          <p:spPr>
            <a:xfrm>
              <a:off x="4512500" y="6418774"/>
              <a:ext cx="1283267" cy="13372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00" extrusionOk="0">
                  <a:moveTo>
                    <a:pt x="21600" y="0"/>
                  </a:moveTo>
                  <a:cubicBezTo>
                    <a:pt x="12568" y="14503"/>
                    <a:pt x="5368" y="21600"/>
                    <a:pt x="0" y="21290"/>
                  </a:cubicBezTo>
                </a:path>
              </a:pathLst>
            </a:custGeom>
            <a:ln w="50800">
              <a:solidFill>
                <a:schemeClr val="accent3">
                  <a:lumOff val="-9999"/>
                </a:schemeClr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19" name="Shape 1142"/>
            <p:cNvSpPr txBox="1"/>
            <p:nvPr/>
          </p:nvSpPr>
          <p:spPr>
            <a:xfrm>
              <a:off x="5299516" y="5857440"/>
              <a:ext cx="1033088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84200">
                <a:defRPr sz="2500">
                  <a:solidFill>
                    <a:srgbClr val="7A7414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SB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85E912E-09D0-B647-BC96-40427326251F}"/>
              </a:ext>
            </a:extLst>
          </p:cNvPr>
          <p:cNvGrpSpPr/>
          <p:nvPr/>
        </p:nvGrpSpPr>
        <p:grpSpPr>
          <a:xfrm>
            <a:off x="7155006" y="4335654"/>
            <a:ext cx="1278363" cy="1109886"/>
            <a:chOff x="10176008" y="6166263"/>
            <a:chExt cx="1818116" cy="1578505"/>
          </a:xfrm>
        </p:grpSpPr>
        <p:sp>
          <p:nvSpPr>
            <p:cNvPr id="1801" name="Shape 1124"/>
            <p:cNvSpPr/>
            <p:nvPr/>
          </p:nvSpPr>
          <p:spPr>
            <a:xfrm>
              <a:off x="10176008" y="6323091"/>
              <a:ext cx="1801974" cy="14216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6439" y="8383"/>
                    <a:pt x="9239" y="15583"/>
                    <a:pt x="0" y="21600"/>
                  </a:cubicBezTo>
                </a:path>
              </a:pathLst>
            </a:custGeom>
            <a:ln w="50800">
              <a:solidFill>
                <a:srgbClr val="4C1066"/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0" name="Shape 1143"/>
            <p:cNvSpPr txBox="1"/>
            <p:nvPr/>
          </p:nvSpPr>
          <p:spPr>
            <a:xfrm>
              <a:off x="11095348" y="6166263"/>
              <a:ext cx="898776" cy="38100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 lnSpcReduction="10000"/>
            </a:bodyPr>
            <a:lstStyle>
              <a:lvl1pPr defTabSz="584200">
                <a:defRPr sz="2500">
                  <a:solidFill>
                    <a:srgbClr val="4C1066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SI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7127E46-C386-B347-B8C1-1C3A39E4B55C}"/>
              </a:ext>
            </a:extLst>
          </p:cNvPr>
          <p:cNvGrpSpPr/>
          <p:nvPr/>
        </p:nvGrpSpPr>
        <p:grpSpPr>
          <a:xfrm>
            <a:off x="5066027" y="1112156"/>
            <a:ext cx="1053851" cy="1610343"/>
            <a:chOff x="7205016" y="1581733"/>
            <a:chExt cx="1498810" cy="2290265"/>
          </a:xfrm>
        </p:grpSpPr>
        <p:sp>
          <p:nvSpPr>
            <p:cNvPr id="1821" name="Shape 1144"/>
            <p:cNvSpPr/>
            <p:nvPr/>
          </p:nvSpPr>
          <p:spPr>
            <a:xfrm>
              <a:off x="7205016" y="1981777"/>
              <a:ext cx="1236739" cy="189022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cubicBezTo>
                    <a:pt x="18690" y="7539"/>
                    <a:pt x="11490" y="14739"/>
                    <a:pt x="0" y="21600"/>
                  </a:cubicBezTo>
                </a:path>
              </a:pathLst>
            </a:custGeom>
            <a:ln w="50800">
              <a:solidFill>
                <a:schemeClr val="accent1">
                  <a:lumOff val="-7647"/>
                </a:schemeClr>
              </a:solidFill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lIns="35719" tIns="35719" rIns="35719" bIns="35719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22" name="Shape 1145"/>
            <p:cNvSpPr txBox="1"/>
            <p:nvPr/>
          </p:nvSpPr>
          <p:spPr>
            <a:xfrm>
              <a:off x="8143398" y="1581733"/>
              <a:ext cx="560428" cy="63003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500">
                  <a:solidFill>
                    <a:srgbClr val="021543"/>
                  </a:solidFill>
                </a:defRPr>
              </a:lvl1pPr>
            </a:lstStyle>
            <a:p>
              <a:r>
                <a:rPr sz="1758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BCA79-9CCB-F447-8B4A-9C6B16C8683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306981" y="6217852"/>
            <a:ext cx="246220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617603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9" grpId="0" animBg="1"/>
      <p:bldP spid="1740" grpId="0" animBg="1"/>
      <p:bldP spid="1817" grpId="0" animBg="1"/>
      <p:bldP spid="181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ctrTitle"/>
          </p:nvPr>
        </p:nvSpPr>
        <p:spPr>
          <a:xfrm>
            <a:off x="2053724" y="2557347"/>
            <a:ext cx="4753582" cy="871653"/>
          </a:xfrm>
          <a:prstGeom prst="rect">
            <a:avLst/>
          </a:prstGeom>
        </p:spPr>
        <p:txBody>
          <a:bodyPr/>
          <a:lstStyle>
            <a:lvl1pPr>
              <a:defRPr sz="5000" b="1"/>
            </a:lvl1pPr>
          </a:lstStyle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Monopoly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18">
            <a:extLst>
              <a:ext uri="{FF2B5EF4-FFF2-40B4-BE49-F238E27FC236}">
                <a16:creationId xmlns:a16="http://schemas.microsoft.com/office/drawing/2014/main" id="{54BF8DE9-F069-074C-90FD-F03403517E6D}"/>
              </a:ext>
            </a:extLst>
          </p:cNvPr>
          <p:cNvSpPr txBox="1">
            <a:spLocks/>
          </p:cNvSpPr>
          <p:nvPr/>
        </p:nvSpPr>
        <p:spPr>
          <a:xfrm>
            <a:off x="431722" y="2181497"/>
            <a:ext cx="8189764" cy="4246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algn="just" hangingPunct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457200" indent="-457200" algn="just" hangingPunct="1">
              <a:buAutoNum type="arabicPeriod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Seller  (= single owner)</a:t>
            </a:r>
          </a:p>
          <a:p>
            <a:pPr marL="457200" indent="-457200" algn="just" hangingPunct="1">
              <a:buAutoNum type="arabicPeriod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close substitutes</a:t>
            </a:r>
          </a:p>
          <a:p>
            <a:pPr marL="457200" indent="-457200" algn="just" hangingPunct="1">
              <a:buAutoNum type="arabicPeriod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Firm and industry are concurrent (= price maker and price taker)</a:t>
            </a:r>
          </a:p>
          <a:p>
            <a:pPr marL="457200" indent="-457200" algn="just" hangingPunct="1">
              <a:buAutoNum type="arabicPeriod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Mon. Firm cannot determine both: the Price as well as the Qty to be sold  due to the constraint of the dd function</a:t>
            </a:r>
          </a:p>
          <a:p>
            <a:pPr marL="457200" indent="-457200" algn="just" hangingPunct="1">
              <a:buAutoNum type="arabicPeriod"/>
            </a:pP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 of </a:t>
            </a:r>
            <a:r>
              <a:rPr lang="en-US" sz="24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Edp</a:t>
            </a:r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if prices are rising then  RIE</a:t>
            </a:r>
          </a:p>
          <a:p>
            <a:pPr algn="just" hangingPunct="1"/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if prices are falling then RE</a:t>
            </a:r>
          </a:p>
          <a:p>
            <a:pPr algn="just" hangingPunct="1"/>
            <a:r>
              <a:rPr lang="en-US" sz="2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Objectives:  Profit Max;  Sales Max; Breakeven ??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A96A45-E1A3-A24D-82BE-4C93DFDD876C}"/>
              </a:ext>
            </a:extLst>
          </p:cNvPr>
          <p:cNvGrpSpPr/>
          <p:nvPr/>
        </p:nvGrpSpPr>
        <p:grpSpPr>
          <a:xfrm>
            <a:off x="431722" y="644482"/>
            <a:ext cx="8189764" cy="1478374"/>
            <a:chOff x="431722" y="644482"/>
            <a:chExt cx="8189764" cy="1478374"/>
          </a:xfrm>
        </p:grpSpPr>
        <p:sp>
          <p:nvSpPr>
            <p:cNvPr id="3" name="Shape 118">
              <a:extLst>
                <a:ext uri="{FF2B5EF4-FFF2-40B4-BE49-F238E27FC236}">
                  <a16:creationId xmlns:a16="http://schemas.microsoft.com/office/drawing/2014/main" id="{1706BF1D-E6FF-834F-9F29-294B76FC5FBB}"/>
                </a:ext>
              </a:extLst>
            </p:cNvPr>
            <p:cNvSpPr txBox="1">
              <a:spLocks/>
            </p:cNvSpPr>
            <p:nvPr/>
          </p:nvSpPr>
          <p:spPr>
            <a:xfrm>
              <a:off x="431722" y="644482"/>
              <a:ext cx="8189764" cy="10915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45718" tIns="45718" rIns="45718" bIns="45718" anchor="ctr">
              <a:normAutofit lnSpcReduction="10000"/>
            </a:bodyPr>
            <a:lstStyle>
              <a:lvl1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5000" b="1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1pPr>
              <a:lvl2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2pPr>
              <a:lvl3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3pPr>
              <a:lvl4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4pPr>
              <a:lvl5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5pPr>
              <a:lvl6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6pPr>
              <a:lvl7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7pPr>
              <a:lvl8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8pPr>
              <a:lvl9pPr marL="0" marR="0" indent="0" algn="ctr" defTabSz="914400" rtl="0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4400" b="0" i="0" u="none" strike="noStrike" cap="none" spc="0" baseline="0">
                  <a:solidFill>
                    <a:srgbClr val="000000"/>
                  </a:solidFill>
                  <a:uFillTx/>
                  <a:latin typeface="Calibri"/>
                  <a:ea typeface="Calibri"/>
                  <a:cs typeface="Calibri"/>
                  <a:sym typeface="Calibri"/>
                </a:defRPr>
              </a:lvl9pPr>
            </a:lstStyle>
            <a:p>
              <a:pPr algn="just" hangingPunct="1"/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Definition:</a:t>
              </a:r>
            </a:p>
            <a:p>
              <a:pPr algn="just" hangingPunct="1"/>
              <a:r>
                <a: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 Monopoly firm is a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SELLER </a:t>
              </a:r>
              <a:r>
                <a:rPr lang="en-US" sz="24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situation, in which there are</a:t>
              </a:r>
              <a:r>
                <a: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 CLOSE SUBSTITUTE</a:t>
              </a:r>
            </a:p>
          </p:txBody>
        </p:sp>
        <p:sp>
          <p:nvSpPr>
            <p:cNvPr id="5" name="Shape 123">
              <a:extLst>
                <a:ext uri="{FF2B5EF4-FFF2-40B4-BE49-F238E27FC236}">
                  <a16:creationId xmlns:a16="http://schemas.microsoft.com/office/drawing/2014/main" id="{2955EC38-D1AF-2D4A-903C-DB679E20EF26}"/>
                </a:ext>
              </a:extLst>
            </p:cNvPr>
            <p:cNvSpPr txBox="1"/>
            <p:nvPr/>
          </p:nvSpPr>
          <p:spPr>
            <a:xfrm>
              <a:off x="3121048" y="1736026"/>
              <a:ext cx="907033" cy="38683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8" tIns="45718" rIns="45718" bIns="45718"/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T.I.N.A. 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4914342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EC48B1D-FC6E-FC49-9B6A-C472E509EA55}"/>
              </a:ext>
            </a:extLst>
          </p:cNvPr>
          <p:cNvCxnSpPr/>
          <p:nvPr/>
        </p:nvCxnSpPr>
        <p:spPr>
          <a:xfrm>
            <a:off x="2343974" y="1017262"/>
            <a:ext cx="0" cy="4236484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47DAA-4671-6C44-B099-077717751494}"/>
              </a:ext>
            </a:extLst>
          </p:cNvPr>
          <p:cNvCxnSpPr>
            <a:cxnSpLocks/>
          </p:cNvCxnSpPr>
          <p:nvPr/>
        </p:nvCxnSpPr>
        <p:spPr>
          <a:xfrm flipH="1">
            <a:off x="2137865" y="5072146"/>
            <a:ext cx="5967087" cy="17222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EF72DFE-6676-814E-9C08-FEEF2C25DED1}"/>
              </a:ext>
            </a:extLst>
          </p:cNvPr>
          <p:cNvCxnSpPr>
            <a:cxnSpLocks/>
          </p:cNvCxnSpPr>
          <p:nvPr/>
        </p:nvCxnSpPr>
        <p:spPr>
          <a:xfrm>
            <a:off x="2876841" y="1811135"/>
            <a:ext cx="3596840" cy="2631514"/>
          </a:xfrm>
          <a:prstGeom prst="line">
            <a:avLst/>
          </a:prstGeom>
          <a:noFill/>
          <a:ln w="57150" cap="flat">
            <a:solidFill>
              <a:srgbClr val="FF0000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A57EF3-021C-A449-B502-931B06D06522}"/>
              </a:ext>
            </a:extLst>
          </p:cNvPr>
          <p:cNvCxnSpPr>
            <a:cxnSpLocks/>
          </p:cNvCxnSpPr>
          <p:nvPr/>
        </p:nvCxnSpPr>
        <p:spPr>
          <a:xfrm flipH="1">
            <a:off x="2315051" y="2556966"/>
            <a:ext cx="1760262" cy="0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5DF0190-8B97-8C43-BE11-7B22CB537AB6}"/>
              </a:ext>
            </a:extLst>
          </p:cNvPr>
          <p:cNvCxnSpPr>
            <a:cxnSpLocks/>
          </p:cNvCxnSpPr>
          <p:nvPr/>
        </p:nvCxnSpPr>
        <p:spPr>
          <a:xfrm flipV="1">
            <a:off x="5391543" y="2556966"/>
            <a:ext cx="0" cy="2532404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D6C28B-6940-B147-8335-61328B619FA9}"/>
              </a:ext>
            </a:extLst>
          </p:cNvPr>
          <p:cNvCxnSpPr>
            <a:cxnSpLocks/>
          </p:cNvCxnSpPr>
          <p:nvPr/>
        </p:nvCxnSpPr>
        <p:spPr>
          <a:xfrm flipH="1" flipV="1">
            <a:off x="3965193" y="2556968"/>
            <a:ext cx="35989" cy="2532399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7E8159-30CE-2243-98C2-490384D444EA}"/>
              </a:ext>
            </a:extLst>
          </p:cNvPr>
          <p:cNvCxnSpPr>
            <a:cxnSpLocks/>
          </p:cNvCxnSpPr>
          <p:nvPr/>
        </p:nvCxnSpPr>
        <p:spPr>
          <a:xfrm flipH="1">
            <a:off x="4020390" y="2556966"/>
            <a:ext cx="1384146" cy="0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6034EAC-72CC-7840-8175-4AAF7D6740C3}"/>
              </a:ext>
            </a:extLst>
          </p:cNvPr>
          <p:cNvCxnSpPr>
            <a:cxnSpLocks/>
          </p:cNvCxnSpPr>
          <p:nvPr/>
        </p:nvCxnSpPr>
        <p:spPr>
          <a:xfrm flipH="1">
            <a:off x="2329120" y="3590459"/>
            <a:ext cx="3108419" cy="0"/>
          </a:xfrm>
          <a:prstGeom prst="line">
            <a:avLst/>
          </a:prstGeom>
          <a:noFill/>
          <a:ln w="57150" cap="flat">
            <a:solidFill>
              <a:schemeClr val="tx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Shape 118">
            <a:extLst>
              <a:ext uri="{FF2B5EF4-FFF2-40B4-BE49-F238E27FC236}">
                <a16:creationId xmlns:a16="http://schemas.microsoft.com/office/drawing/2014/main" id="{B64F06D3-BDEB-564D-9842-714C09175F87}"/>
              </a:ext>
            </a:extLst>
          </p:cNvPr>
          <p:cNvSpPr txBox="1">
            <a:spLocks/>
          </p:cNvSpPr>
          <p:nvPr/>
        </p:nvSpPr>
        <p:spPr>
          <a:xfrm>
            <a:off x="1456200" y="1867726"/>
            <a:ext cx="1260577" cy="130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4" name="Shape 118">
            <a:extLst>
              <a:ext uri="{FF2B5EF4-FFF2-40B4-BE49-F238E27FC236}">
                <a16:creationId xmlns:a16="http://schemas.microsoft.com/office/drawing/2014/main" id="{58861737-CD48-AD44-A529-DBF245D9CF3A}"/>
              </a:ext>
            </a:extLst>
          </p:cNvPr>
          <p:cNvSpPr txBox="1">
            <a:spLocks/>
          </p:cNvSpPr>
          <p:nvPr/>
        </p:nvSpPr>
        <p:spPr>
          <a:xfrm>
            <a:off x="1474271" y="2935866"/>
            <a:ext cx="1260577" cy="130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" name="Shape 118">
            <a:extLst>
              <a:ext uri="{FF2B5EF4-FFF2-40B4-BE49-F238E27FC236}">
                <a16:creationId xmlns:a16="http://schemas.microsoft.com/office/drawing/2014/main" id="{FD00CB1F-CCC5-1D43-BC8C-D85D93D284BA}"/>
              </a:ext>
            </a:extLst>
          </p:cNvPr>
          <p:cNvSpPr txBox="1">
            <a:spLocks/>
          </p:cNvSpPr>
          <p:nvPr/>
        </p:nvSpPr>
        <p:spPr>
          <a:xfrm>
            <a:off x="3414684" y="4602041"/>
            <a:ext cx="1260577" cy="130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" name="Shape 118">
            <a:extLst>
              <a:ext uri="{FF2B5EF4-FFF2-40B4-BE49-F238E27FC236}">
                <a16:creationId xmlns:a16="http://schemas.microsoft.com/office/drawing/2014/main" id="{AA4DD988-6A02-7D41-B87C-F9CA419598AD}"/>
              </a:ext>
            </a:extLst>
          </p:cNvPr>
          <p:cNvSpPr txBox="1">
            <a:spLocks/>
          </p:cNvSpPr>
          <p:nvPr/>
        </p:nvSpPr>
        <p:spPr>
          <a:xfrm>
            <a:off x="4821412" y="4587282"/>
            <a:ext cx="1260577" cy="130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0" name="Shape 118">
            <a:extLst>
              <a:ext uri="{FF2B5EF4-FFF2-40B4-BE49-F238E27FC236}">
                <a16:creationId xmlns:a16="http://schemas.microsoft.com/office/drawing/2014/main" id="{0CF20642-94AC-8A4B-B3FE-CCF63FCD2ACB}"/>
              </a:ext>
            </a:extLst>
          </p:cNvPr>
          <p:cNvSpPr txBox="1">
            <a:spLocks/>
          </p:cNvSpPr>
          <p:nvPr/>
        </p:nvSpPr>
        <p:spPr>
          <a:xfrm>
            <a:off x="3409495" y="1666502"/>
            <a:ext cx="1260577" cy="130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1" name="Shape 118">
            <a:extLst>
              <a:ext uri="{FF2B5EF4-FFF2-40B4-BE49-F238E27FC236}">
                <a16:creationId xmlns:a16="http://schemas.microsoft.com/office/drawing/2014/main" id="{F336D71B-10DB-AB4A-8A96-46E9775D8270}"/>
              </a:ext>
            </a:extLst>
          </p:cNvPr>
          <p:cNvSpPr txBox="1">
            <a:spLocks/>
          </p:cNvSpPr>
          <p:nvPr/>
        </p:nvSpPr>
        <p:spPr>
          <a:xfrm>
            <a:off x="4997192" y="2863106"/>
            <a:ext cx="1260577" cy="130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2" name="Shape 118">
            <a:extLst>
              <a:ext uri="{FF2B5EF4-FFF2-40B4-BE49-F238E27FC236}">
                <a16:creationId xmlns:a16="http://schemas.microsoft.com/office/drawing/2014/main" id="{25D777D2-9A3F-6345-9DE4-A53FF199E82C}"/>
              </a:ext>
            </a:extLst>
          </p:cNvPr>
          <p:cNvSpPr txBox="1">
            <a:spLocks/>
          </p:cNvSpPr>
          <p:nvPr/>
        </p:nvSpPr>
        <p:spPr>
          <a:xfrm>
            <a:off x="1456200" y="822345"/>
            <a:ext cx="1192209" cy="4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23" name="Shape 118">
            <a:extLst>
              <a:ext uri="{FF2B5EF4-FFF2-40B4-BE49-F238E27FC236}">
                <a16:creationId xmlns:a16="http://schemas.microsoft.com/office/drawing/2014/main" id="{389E035E-1A4E-9B49-B4FD-A525A2DA8B67}"/>
              </a:ext>
            </a:extLst>
          </p:cNvPr>
          <p:cNvSpPr txBox="1">
            <a:spLocks/>
          </p:cNvSpPr>
          <p:nvPr/>
        </p:nvSpPr>
        <p:spPr>
          <a:xfrm>
            <a:off x="7009255" y="5091145"/>
            <a:ext cx="1192209" cy="4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4" name="Shape 118">
            <a:extLst>
              <a:ext uri="{FF2B5EF4-FFF2-40B4-BE49-F238E27FC236}">
                <a16:creationId xmlns:a16="http://schemas.microsoft.com/office/drawing/2014/main" id="{4320F1EA-2706-7146-AFC1-ED8D7DF5A2C0}"/>
              </a:ext>
            </a:extLst>
          </p:cNvPr>
          <p:cNvSpPr txBox="1">
            <a:spLocks/>
          </p:cNvSpPr>
          <p:nvPr/>
        </p:nvSpPr>
        <p:spPr>
          <a:xfrm>
            <a:off x="6203137" y="4177362"/>
            <a:ext cx="1192209" cy="4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5" name="Shape 118">
            <a:extLst>
              <a:ext uri="{FF2B5EF4-FFF2-40B4-BE49-F238E27FC236}">
                <a16:creationId xmlns:a16="http://schemas.microsoft.com/office/drawing/2014/main" id="{A916372E-A2A0-854F-81C3-E8DC3EDC07CD}"/>
              </a:ext>
            </a:extLst>
          </p:cNvPr>
          <p:cNvSpPr txBox="1">
            <a:spLocks/>
          </p:cNvSpPr>
          <p:nvPr/>
        </p:nvSpPr>
        <p:spPr>
          <a:xfrm>
            <a:off x="2280736" y="1430804"/>
            <a:ext cx="1192209" cy="4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6" name="Shape 118">
            <a:extLst>
              <a:ext uri="{FF2B5EF4-FFF2-40B4-BE49-F238E27FC236}">
                <a16:creationId xmlns:a16="http://schemas.microsoft.com/office/drawing/2014/main" id="{6F3DABD9-A085-8142-9EF7-8847E87CC213}"/>
              </a:ext>
            </a:extLst>
          </p:cNvPr>
          <p:cNvSpPr txBox="1">
            <a:spLocks/>
          </p:cNvSpPr>
          <p:nvPr/>
        </p:nvSpPr>
        <p:spPr>
          <a:xfrm>
            <a:off x="4889780" y="2210754"/>
            <a:ext cx="1192209" cy="4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27" name="Shape 118">
            <a:extLst>
              <a:ext uri="{FF2B5EF4-FFF2-40B4-BE49-F238E27FC236}">
                <a16:creationId xmlns:a16="http://schemas.microsoft.com/office/drawing/2014/main" id="{64C421C3-DE11-2A48-9E47-F33D0E6DAA0E}"/>
              </a:ext>
            </a:extLst>
          </p:cNvPr>
          <p:cNvSpPr txBox="1">
            <a:spLocks/>
          </p:cNvSpPr>
          <p:nvPr/>
        </p:nvSpPr>
        <p:spPr>
          <a:xfrm>
            <a:off x="3231749" y="3478169"/>
            <a:ext cx="1192209" cy="40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hangingPunct="1"/>
            <a:r>
              <a:rPr lang="en-IN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56863783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1"/>
          <p:cNvSpPr/>
          <p:nvPr/>
        </p:nvSpPr>
        <p:spPr>
          <a:xfrm flipH="1">
            <a:off x="2806453" y="1469883"/>
            <a:ext cx="1" cy="4393694"/>
          </a:xfrm>
          <a:prstGeom prst="line">
            <a:avLst/>
          </a:prstGeom>
          <a:ln w="28575">
            <a:solidFill>
              <a:srgbClr val="000000"/>
            </a:solidFill>
            <a:bevel/>
            <a:headEnd type="triangle" w="med" len="med"/>
            <a:tailEnd type="none" w="med" len="med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Shape 122"/>
          <p:cNvSpPr/>
          <p:nvPr/>
        </p:nvSpPr>
        <p:spPr>
          <a:xfrm flipH="1" flipV="1">
            <a:off x="2789918" y="5847653"/>
            <a:ext cx="4788939" cy="2"/>
          </a:xfrm>
          <a:prstGeom prst="line">
            <a:avLst/>
          </a:prstGeom>
          <a:ln w="28575">
            <a:solidFill>
              <a:srgbClr val="000000"/>
            </a:solidFill>
            <a:bevel/>
            <a:headEnd type="triangle" w="med" len="med"/>
            <a:tailEnd type="none" w="med" len="med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Shape 123"/>
          <p:cNvSpPr txBox="1"/>
          <p:nvPr/>
        </p:nvSpPr>
        <p:spPr>
          <a:xfrm>
            <a:off x="7029131" y="5889073"/>
            <a:ext cx="696522" cy="386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23" name="Shape 124"/>
          <p:cNvSpPr txBox="1"/>
          <p:nvPr/>
        </p:nvSpPr>
        <p:spPr>
          <a:xfrm>
            <a:off x="2295700" y="1398085"/>
            <a:ext cx="759324" cy="658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24" name="Shape 131"/>
          <p:cNvSpPr txBox="1"/>
          <p:nvPr/>
        </p:nvSpPr>
        <p:spPr>
          <a:xfrm>
            <a:off x="3840274" y="4996747"/>
            <a:ext cx="291264" cy="386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127" name="Group"/>
          <p:cNvGrpSpPr/>
          <p:nvPr/>
        </p:nvGrpSpPr>
        <p:grpSpPr>
          <a:xfrm>
            <a:off x="2838365" y="2363682"/>
            <a:ext cx="1614770" cy="3333888"/>
            <a:chOff x="0" y="31912"/>
            <a:chExt cx="1614769" cy="3333886"/>
          </a:xfrm>
        </p:grpSpPr>
        <p:sp>
          <p:nvSpPr>
            <p:cNvPr id="125" name="Shape 128"/>
            <p:cNvSpPr txBox="1"/>
            <p:nvPr/>
          </p:nvSpPr>
          <p:spPr>
            <a:xfrm>
              <a:off x="1078147" y="2978970"/>
              <a:ext cx="536623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C7711B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MR</a:t>
              </a:r>
            </a:p>
          </p:txBody>
        </p:sp>
        <p:sp>
          <p:nvSpPr>
            <p:cNvPr id="126" name="Shape 133"/>
            <p:cNvSpPr/>
            <p:nvPr/>
          </p:nvSpPr>
          <p:spPr>
            <a:xfrm>
              <a:off x="-1" y="31912"/>
              <a:ext cx="1091896" cy="3132487"/>
            </a:xfrm>
            <a:prstGeom prst="line">
              <a:avLst/>
            </a:prstGeom>
            <a:noFill/>
            <a:ln w="28575" cap="flat">
              <a:solidFill>
                <a:srgbClr val="C7711B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0" name="Group"/>
          <p:cNvGrpSpPr/>
          <p:nvPr/>
        </p:nvGrpSpPr>
        <p:grpSpPr>
          <a:xfrm>
            <a:off x="3172071" y="2097966"/>
            <a:ext cx="2352962" cy="2268893"/>
            <a:chOff x="0" y="163696"/>
            <a:chExt cx="2352961" cy="2268891"/>
          </a:xfrm>
        </p:grpSpPr>
        <p:sp>
          <p:nvSpPr>
            <p:cNvPr id="128" name="Shape 145"/>
            <p:cNvSpPr/>
            <p:nvPr/>
          </p:nvSpPr>
          <p:spPr>
            <a:xfrm>
              <a:off x="0" y="436575"/>
              <a:ext cx="1900893" cy="19960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3" extrusionOk="0">
                  <a:moveTo>
                    <a:pt x="21600" y="0"/>
                  </a:moveTo>
                  <a:cubicBezTo>
                    <a:pt x="13860" y="21320"/>
                    <a:pt x="6660" y="21600"/>
                    <a:pt x="0" y="839"/>
                  </a:cubicBezTo>
                </a:path>
              </a:pathLst>
            </a:custGeom>
            <a:noFill/>
            <a:ln w="25400" cap="flat">
              <a:solidFill>
                <a:srgbClr val="A2110D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9" name="Shape 136"/>
            <p:cNvSpPr txBox="1"/>
            <p:nvPr/>
          </p:nvSpPr>
          <p:spPr>
            <a:xfrm>
              <a:off x="1775955" y="163696"/>
              <a:ext cx="577006" cy="43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84143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133" name="Group"/>
          <p:cNvGrpSpPr/>
          <p:nvPr/>
        </p:nvGrpSpPr>
        <p:grpSpPr>
          <a:xfrm>
            <a:off x="2845649" y="2381827"/>
            <a:ext cx="3452701" cy="3254431"/>
            <a:chOff x="0" y="149549"/>
            <a:chExt cx="3452700" cy="3254430"/>
          </a:xfrm>
        </p:grpSpPr>
        <p:sp>
          <p:nvSpPr>
            <p:cNvPr id="131" name="Shape 126"/>
            <p:cNvSpPr/>
            <p:nvPr/>
          </p:nvSpPr>
          <p:spPr>
            <a:xfrm>
              <a:off x="-1" y="149549"/>
              <a:ext cx="2955464" cy="3126368"/>
            </a:xfrm>
            <a:prstGeom prst="line">
              <a:avLst/>
            </a:prstGeom>
            <a:noFill/>
            <a:ln w="28575" cap="flat">
              <a:solidFill>
                <a:srgbClr val="651A8C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Shape 138"/>
            <p:cNvSpPr txBox="1"/>
            <p:nvPr/>
          </p:nvSpPr>
          <p:spPr>
            <a:xfrm>
              <a:off x="2941522" y="3017150"/>
              <a:ext cx="511179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651A8C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AR</a:t>
              </a:r>
            </a:p>
          </p:txBody>
        </p:sp>
      </p:grpSp>
      <p:grpSp>
        <p:nvGrpSpPr>
          <p:cNvPr id="138" name="Group"/>
          <p:cNvGrpSpPr/>
          <p:nvPr/>
        </p:nvGrpSpPr>
        <p:grpSpPr>
          <a:xfrm>
            <a:off x="3686168" y="3084541"/>
            <a:ext cx="363252" cy="3120247"/>
            <a:chOff x="0" y="0"/>
            <a:chExt cx="363251" cy="3120246"/>
          </a:xfrm>
        </p:grpSpPr>
        <p:sp>
          <p:nvSpPr>
            <p:cNvPr id="134" name="Shape 129"/>
            <p:cNvSpPr/>
            <p:nvPr/>
          </p:nvSpPr>
          <p:spPr>
            <a:xfrm flipH="1">
              <a:off x="107462" y="307228"/>
              <a:ext cx="1" cy="2421714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Shape 132"/>
            <p:cNvSpPr txBox="1"/>
            <p:nvPr/>
          </p:nvSpPr>
          <p:spPr>
            <a:xfrm>
              <a:off x="0" y="2733820"/>
              <a:ext cx="268821" cy="3864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36" name="Shape 139"/>
            <p:cNvSpPr txBox="1"/>
            <p:nvPr/>
          </p:nvSpPr>
          <p:spPr>
            <a:xfrm>
              <a:off x="107462" y="953453"/>
              <a:ext cx="220777" cy="3864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37" name="Shape 140"/>
            <p:cNvSpPr txBox="1"/>
            <p:nvPr/>
          </p:nvSpPr>
          <p:spPr>
            <a:xfrm>
              <a:off x="53014" y="0"/>
              <a:ext cx="310238" cy="3864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grpSp>
        <p:nvGrpSpPr>
          <p:cNvPr id="141" name="Group"/>
          <p:cNvGrpSpPr/>
          <p:nvPr/>
        </p:nvGrpSpPr>
        <p:grpSpPr>
          <a:xfrm>
            <a:off x="2592866" y="3186428"/>
            <a:ext cx="1228473" cy="386830"/>
            <a:chOff x="0" y="0"/>
            <a:chExt cx="1228471" cy="386829"/>
          </a:xfrm>
        </p:grpSpPr>
        <p:sp>
          <p:nvSpPr>
            <p:cNvPr id="139" name="Shape 130"/>
            <p:cNvSpPr/>
            <p:nvPr/>
          </p:nvSpPr>
          <p:spPr>
            <a:xfrm>
              <a:off x="260909" y="179125"/>
              <a:ext cx="967563" cy="3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Shape 141"/>
            <p:cNvSpPr txBox="1"/>
            <p:nvPr/>
          </p:nvSpPr>
          <p:spPr>
            <a:xfrm>
              <a:off x="0" y="0"/>
              <a:ext cx="315624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144" name="Group"/>
          <p:cNvGrpSpPr/>
          <p:nvPr/>
        </p:nvGrpSpPr>
        <p:grpSpPr>
          <a:xfrm>
            <a:off x="2535871" y="3990022"/>
            <a:ext cx="1261263" cy="386830"/>
            <a:chOff x="0" y="0"/>
            <a:chExt cx="1261262" cy="386829"/>
          </a:xfrm>
        </p:grpSpPr>
        <p:sp>
          <p:nvSpPr>
            <p:cNvPr id="142" name="Shape 137"/>
            <p:cNvSpPr/>
            <p:nvPr/>
          </p:nvSpPr>
          <p:spPr>
            <a:xfrm flipV="1">
              <a:off x="288625" y="207703"/>
              <a:ext cx="972638" cy="1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Shape 142"/>
            <p:cNvSpPr txBox="1"/>
            <p:nvPr/>
          </p:nvSpPr>
          <p:spPr>
            <a:xfrm>
              <a:off x="0" y="0"/>
              <a:ext cx="395856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</p:grpSp>
      <p:sp>
        <p:nvSpPr>
          <p:cNvPr id="145" name="Shape 143"/>
          <p:cNvSpPr/>
          <p:nvPr/>
        </p:nvSpPr>
        <p:spPr>
          <a:xfrm>
            <a:off x="2836595" y="3384605"/>
            <a:ext cx="955777" cy="789830"/>
          </a:xfrm>
          <a:prstGeom prst="rect">
            <a:avLst/>
          </a:prstGeom>
          <a:solidFill>
            <a:srgbClr val="1F43C9">
              <a:alpha val="30000"/>
            </a:srgbClr>
          </a:solidFill>
          <a:ln>
            <a:solidFill>
              <a:srgbClr val="46AAC4">
                <a:alpha val="30000"/>
              </a:srgbClr>
            </a:solidFill>
            <a:bevel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8" name="Group"/>
          <p:cNvGrpSpPr/>
          <p:nvPr/>
        </p:nvGrpSpPr>
        <p:grpSpPr>
          <a:xfrm>
            <a:off x="2965273" y="2147335"/>
            <a:ext cx="1976116" cy="3442665"/>
            <a:chOff x="179810" y="125335"/>
            <a:chExt cx="1976114" cy="3442664"/>
          </a:xfrm>
        </p:grpSpPr>
        <p:sp>
          <p:nvSpPr>
            <p:cNvPr id="146" name="Shape 146"/>
            <p:cNvSpPr/>
            <p:nvPr/>
          </p:nvSpPr>
          <p:spPr>
            <a:xfrm rot="377111">
              <a:off x="179810" y="333796"/>
              <a:ext cx="1307349" cy="32342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879" extrusionOk="0">
                  <a:moveTo>
                    <a:pt x="21600" y="0"/>
                  </a:moveTo>
                  <a:cubicBezTo>
                    <a:pt x="18044" y="17991"/>
                    <a:pt x="10844" y="21600"/>
                    <a:pt x="0" y="10828"/>
                  </a:cubicBezTo>
                </a:path>
              </a:pathLst>
            </a:custGeom>
            <a:noFill/>
            <a:ln w="25400" cap="flat">
              <a:solidFill>
                <a:srgbClr val="578C2E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Shape 127"/>
            <p:cNvSpPr/>
            <p:nvPr/>
          </p:nvSpPr>
          <p:spPr>
            <a:xfrm rot="36445">
              <a:off x="1478136" y="125335"/>
              <a:ext cx="677788" cy="38757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" y="41"/>
                  </a:moveTo>
                  <a:lnTo>
                    <a:pt x="21600" y="0"/>
                  </a:lnTo>
                  <a:lnTo>
                    <a:pt x="21585" y="21559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40682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sp>
        <p:nvSpPr>
          <p:cNvPr id="169" name="Shape 125"/>
          <p:cNvSpPr txBox="1"/>
          <p:nvPr/>
        </p:nvSpPr>
        <p:spPr>
          <a:xfrm>
            <a:off x="1903701" y="123095"/>
            <a:ext cx="5821952" cy="477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 b="1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Monopoly: </a:t>
            </a:r>
            <a:r>
              <a:rPr sz="250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Super-Normal Profit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(short-run)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 animBg="1" advAuto="0"/>
      <p:bldP spid="127" grpId="0" animBg="1" advAuto="0"/>
      <p:bldP spid="130" grpId="0" animBg="1" advAuto="0"/>
      <p:bldP spid="133" grpId="0" animBg="1" advAuto="0"/>
      <p:bldP spid="138" grpId="0" animBg="1" advAuto="0"/>
      <p:bldP spid="141" grpId="0" animBg="1" advAuto="0"/>
      <p:bldP spid="144" grpId="0" animBg="1" advAuto="0"/>
      <p:bldP spid="145" grpId="0" animBg="1" advAuto="0"/>
      <p:bldP spid="148" grpId="0" animBg="1" advAuto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21"/>
          <p:cNvSpPr/>
          <p:nvPr/>
        </p:nvSpPr>
        <p:spPr>
          <a:xfrm flipH="1">
            <a:off x="2653061" y="1119507"/>
            <a:ext cx="2" cy="4393694"/>
          </a:xfrm>
          <a:prstGeom prst="line">
            <a:avLst/>
          </a:prstGeom>
          <a:ln w="28575">
            <a:solidFill>
              <a:srgbClr val="000000"/>
            </a:solidFill>
            <a:bevel/>
            <a:headEnd type="triangle" w="med" len="med"/>
            <a:tailEnd type="none" w="med" len="med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Shape 122"/>
          <p:cNvSpPr/>
          <p:nvPr/>
        </p:nvSpPr>
        <p:spPr>
          <a:xfrm flipH="1" flipV="1">
            <a:off x="2653062" y="5498911"/>
            <a:ext cx="4788939" cy="2"/>
          </a:xfrm>
          <a:prstGeom prst="line">
            <a:avLst/>
          </a:prstGeom>
          <a:ln w="28575">
            <a:solidFill>
              <a:srgbClr val="000000"/>
            </a:solidFill>
            <a:bevel/>
            <a:headEnd type="triangle" w="med" len="med"/>
            <a:tailEnd type="none" w="med" len="med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Shape 123"/>
          <p:cNvSpPr txBox="1"/>
          <p:nvPr/>
        </p:nvSpPr>
        <p:spPr>
          <a:xfrm>
            <a:off x="6840145" y="5538553"/>
            <a:ext cx="696522" cy="386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74" name="Shape 124"/>
          <p:cNvSpPr txBox="1"/>
          <p:nvPr/>
        </p:nvSpPr>
        <p:spPr>
          <a:xfrm>
            <a:off x="2106714" y="1047565"/>
            <a:ext cx="759324" cy="658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175" name="Shape 131"/>
          <p:cNvSpPr txBox="1"/>
          <p:nvPr/>
        </p:nvSpPr>
        <p:spPr>
          <a:xfrm>
            <a:off x="3698043" y="4556177"/>
            <a:ext cx="291264" cy="386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178" name="Group"/>
          <p:cNvGrpSpPr/>
          <p:nvPr/>
        </p:nvGrpSpPr>
        <p:grpSpPr>
          <a:xfrm>
            <a:off x="2642847" y="1967435"/>
            <a:ext cx="1614770" cy="3333888"/>
            <a:chOff x="0" y="31912"/>
            <a:chExt cx="1614769" cy="3333886"/>
          </a:xfrm>
        </p:grpSpPr>
        <p:sp>
          <p:nvSpPr>
            <p:cNvPr id="176" name="Shape 128"/>
            <p:cNvSpPr txBox="1"/>
            <p:nvPr/>
          </p:nvSpPr>
          <p:spPr>
            <a:xfrm>
              <a:off x="1078147" y="2978970"/>
              <a:ext cx="536623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C7711B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MR</a:t>
              </a:r>
            </a:p>
          </p:txBody>
        </p:sp>
        <p:sp>
          <p:nvSpPr>
            <p:cNvPr id="177" name="Shape 133"/>
            <p:cNvSpPr/>
            <p:nvPr/>
          </p:nvSpPr>
          <p:spPr>
            <a:xfrm>
              <a:off x="-1" y="31912"/>
              <a:ext cx="1091896" cy="3132487"/>
            </a:xfrm>
            <a:prstGeom prst="line">
              <a:avLst/>
            </a:prstGeom>
            <a:noFill/>
            <a:ln w="28575" cap="flat">
              <a:solidFill>
                <a:srgbClr val="C7711B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1" name="Group"/>
          <p:cNvGrpSpPr/>
          <p:nvPr/>
        </p:nvGrpSpPr>
        <p:grpSpPr>
          <a:xfrm>
            <a:off x="3165573" y="1806627"/>
            <a:ext cx="2578107" cy="1492891"/>
            <a:chOff x="0" y="0"/>
            <a:chExt cx="2578105" cy="1492890"/>
          </a:xfrm>
        </p:grpSpPr>
        <p:sp>
          <p:nvSpPr>
            <p:cNvPr id="179" name="Shape 145"/>
            <p:cNvSpPr/>
            <p:nvPr/>
          </p:nvSpPr>
          <p:spPr>
            <a:xfrm>
              <a:off x="0" y="267928"/>
              <a:ext cx="2085816" cy="12249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3" extrusionOk="0">
                  <a:moveTo>
                    <a:pt x="21600" y="0"/>
                  </a:moveTo>
                  <a:cubicBezTo>
                    <a:pt x="13860" y="21320"/>
                    <a:pt x="6660" y="21600"/>
                    <a:pt x="0" y="839"/>
                  </a:cubicBezTo>
                </a:path>
              </a:pathLst>
            </a:custGeom>
            <a:noFill/>
            <a:ln w="25400" cap="flat">
              <a:solidFill>
                <a:srgbClr val="A2110D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0" name="Shape 136"/>
            <p:cNvSpPr txBox="1"/>
            <p:nvPr/>
          </p:nvSpPr>
          <p:spPr>
            <a:xfrm>
              <a:off x="1944968" y="0"/>
              <a:ext cx="633138" cy="26708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84143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184" name="Group"/>
          <p:cNvGrpSpPr/>
          <p:nvPr/>
        </p:nvGrpSpPr>
        <p:grpSpPr>
          <a:xfrm>
            <a:off x="2617468" y="1967436"/>
            <a:ext cx="3452701" cy="3254431"/>
            <a:chOff x="0" y="149549"/>
            <a:chExt cx="3452700" cy="3254430"/>
          </a:xfrm>
        </p:grpSpPr>
        <p:sp>
          <p:nvSpPr>
            <p:cNvPr id="182" name="Shape 126"/>
            <p:cNvSpPr/>
            <p:nvPr/>
          </p:nvSpPr>
          <p:spPr>
            <a:xfrm>
              <a:off x="-1" y="149549"/>
              <a:ext cx="2955464" cy="3126368"/>
            </a:xfrm>
            <a:prstGeom prst="line">
              <a:avLst/>
            </a:prstGeom>
            <a:noFill/>
            <a:ln w="28575" cap="flat">
              <a:solidFill>
                <a:srgbClr val="651A8C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Shape 138"/>
            <p:cNvSpPr txBox="1"/>
            <p:nvPr/>
          </p:nvSpPr>
          <p:spPr>
            <a:xfrm>
              <a:off x="2941522" y="3017150"/>
              <a:ext cx="511179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651A8C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AR</a:t>
              </a:r>
            </a:p>
          </p:txBody>
        </p:sp>
      </p:grpSp>
      <p:grpSp>
        <p:nvGrpSpPr>
          <p:cNvPr id="188" name="Group"/>
          <p:cNvGrpSpPr/>
          <p:nvPr/>
        </p:nvGrpSpPr>
        <p:grpSpPr>
          <a:xfrm>
            <a:off x="3480423" y="2734021"/>
            <a:ext cx="726504" cy="3120247"/>
            <a:chOff x="0" y="0"/>
            <a:chExt cx="726502" cy="3120246"/>
          </a:xfrm>
        </p:grpSpPr>
        <p:sp>
          <p:nvSpPr>
            <p:cNvPr id="185" name="Shape 129"/>
            <p:cNvSpPr/>
            <p:nvPr/>
          </p:nvSpPr>
          <p:spPr>
            <a:xfrm flipH="1">
              <a:off x="120315" y="307228"/>
              <a:ext cx="1" cy="2426593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6" name="Shape 132"/>
            <p:cNvSpPr txBox="1"/>
            <p:nvPr/>
          </p:nvSpPr>
          <p:spPr>
            <a:xfrm>
              <a:off x="0" y="2733820"/>
              <a:ext cx="537641" cy="3864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87" name="Shape 140"/>
            <p:cNvSpPr txBox="1"/>
            <p:nvPr/>
          </p:nvSpPr>
          <p:spPr>
            <a:xfrm>
              <a:off x="106028" y="0"/>
              <a:ext cx="620475" cy="3864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 = C</a:t>
              </a:r>
            </a:p>
          </p:txBody>
        </p:sp>
      </p:grpSp>
      <p:grpSp>
        <p:nvGrpSpPr>
          <p:cNvPr id="191" name="Group"/>
          <p:cNvGrpSpPr/>
          <p:nvPr/>
        </p:nvGrpSpPr>
        <p:grpSpPr>
          <a:xfrm>
            <a:off x="2075067" y="2940439"/>
            <a:ext cx="1557286" cy="416459"/>
            <a:chOff x="0" y="0"/>
            <a:chExt cx="1557284" cy="416458"/>
          </a:xfrm>
        </p:grpSpPr>
        <p:sp>
          <p:nvSpPr>
            <p:cNvPr id="189" name="Shape 130"/>
            <p:cNvSpPr/>
            <p:nvPr/>
          </p:nvSpPr>
          <p:spPr>
            <a:xfrm flipV="1">
              <a:off x="620480" y="115775"/>
              <a:ext cx="936805" cy="1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Shape 141"/>
            <p:cNvSpPr txBox="1"/>
            <p:nvPr/>
          </p:nvSpPr>
          <p:spPr>
            <a:xfrm>
              <a:off x="0" y="0"/>
              <a:ext cx="620481" cy="4164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 P= T</a:t>
              </a:r>
            </a:p>
          </p:txBody>
        </p:sp>
      </p:grpSp>
      <p:grpSp>
        <p:nvGrpSpPr>
          <p:cNvPr id="194" name="Group"/>
          <p:cNvGrpSpPr/>
          <p:nvPr/>
        </p:nvGrpSpPr>
        <p:grpSpPr>
          <a:xfrm>
            <a:off x="2776429" y="1505854"/>
            <a:ext cx="2142176" cy="3437459"/>
            <a:chOff x="0" y="0"/>
            <a:chExt cx="2142174" cy="3437458"/>
          </a:xfrm>
        </p:grpSpPr>
        <p:sp>
          <p:nvSpPr>
            <p:cNvPr id="192" name="Shape 146"/>
            <p:cNvSpPr/>
            <p:nvPr/>
          </p:nvSpPr>
          <p:spPr>
            <a:xfrm rot="377111">
              <a:off x="163677" y="312036"/>
              <a:ext cx="1317563" cy="30625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884" extrusionOk="0">
                  <a:moveTo>
                    <a:pt x="21600" y="0"/>
                  </a:moveTo>
                  <a:cubicBezTo>
                    <a:pt x="17745" y="17980"/>
                    <a:pt x="10545" y="21600"/>
                    <a:pt x="0" y="10860"/>
                  </a:cubicBezTo>
                </a:path>
              </a:pathLst>
            </a:custGeom>
            <a:noFill/>
            <a:ln w="25400" cap="flat">
              <a:solidFill>
                <a:srgbClr val="578C2E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Shape 127"/>
            <p:cNvSpPr/>
            <p:nvPr/>
          </p:nvSpPr>
          <p:spPr>
            <a:xfrm rot="36445">
              <a:off x="1462839" y="3580"/>
              <a:ext cx="677411" cy="3666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2" y="64"/>
                  </a:moveTo>
                  <a:lnTo>
                    <a:pt x="21600" y="0"/>
                  </a:lnTo>
                  <a:lnTo>
                    <a:pt x="21578" y="21536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40682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sp>
        <p:nvSpPr>
          <p:cNvPr id="215" name="Shape 125"/>
          <p:cNvSpPr txBox="1"/>
          <p:nvPr/>
        </p:nvSpPr>
        <p:spPr>
          <a:xfrm>
            <a:off x="1753395" y="71539"/>
            <a:ext cx="4959432" cy="477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 b="1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Monopoly: </a:t>
            </a:r>
            <a:r>
              <a:rPr sz="250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Profit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(short-run)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 animBg="1" advAuto="0"/>
      <p:bldP spid="178" grpId="0" animBg="1" advAuto="0"/>
      <p:bldP spid="181" grpId="0" animBg="1" advAuto="0"/>
      <p:bldP spid="184" grpId="0" animBg="1" advAuto="0"/>
      <p:bldP spid="188" grpId="0" animBg="1" advAuto="0"/>
      <p:bldP spid="191" grpId="0" animBg="1" advAuto="0"/>
      <p:bldP spid="194" grpId="0" animBg="1" advAuto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143"/>
          <p:cNvSpPr/>
          <p:nvPr/>
        </p:nvSpPr>
        <p:spPr>
          <a:xfrm>
            <a:off x="2875790" y="2664909"/>
            <a:ext cx="955777" cy="618732"/>
          </a:xfrm>
          <a:prstGeom prst="rect">
            <a:avLst/>
          </a:prstGeom>
          <a:solidFill>
            <a:schemeClr val="accent2">
              <a:lumOff val="11813"/>
            </a:schemeClr>
          </a:solidFill>
          <a:ln>
            <a:solidFill>
              <a:srgbClr val="BE4B48"/>
            </a:solidFill>
            <a:bevel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latin typeface="Calibri"/>
                <a:ea typeface="Calibri"/>
                <a:cs typeface="Calibri"/>
                <a:sym typeface="Calibri"/>
              </a:defRPr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Shape 121"/>
          <p:cNvSpPr/>
          <p:nvPr/>
        </p:nvSpPr>
        <p:spPr>
          <a:xfrm flipH="1">
            <a:off x="2845648" y="1378587"/>
            <a:ext cx="35596" cy="4393550"/>
          </a:xfrm>
          <a:prstGeom prst="line">
            <a:avLst/>
          </a:prstGeom>
          <a:ln w="28575">
            <a:solidFill>
              <a:srgbClr val="000000"/>
            </a:solidFill>
            <a:bevel/>
            <a:headEnd type="triangle" w="med" len="med"/>
            <a:tailEnd type="none" w="med" len="med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9" name="Shape 122"/>
          <p:cNvSpPr/>
          <p:nvPr/>
        </p:nvSpPr>
        <p:spPr>
          <a:xfrm flipH="1" flipV="1">
            <a:off x="2829113" y="5756213"/>
            <a:ext cx="4788939" cy="2"/>
          </a:xfrm>
          <a:prstGeom prst="line">
            <a:avLst/>
          </a:prstGeom>
          <a:ln w="28575">
            <a:solidFill>
              <a:srgbClr val="000000"/>
            </a:solidFill>
            <a:bevel/>
            <a:headEnd type="triangle" w="med" len="med"/>
            <a:tailEnd type="none" w="med" len="med"/>
          </a:ln>
        </p:spPr>
        <p:txBody>
          <a:bodyPr lIns="45718" tIns="45718" rIns="45718" bIns="45718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Shape 123"/>
          <p:cNvSpPr txBox="1"/>
          <p:nvPr/>
        </p:nvSpPr>
        <p:spPr>
          <a:xfrm>
            <a:off x="7068326" y="5797633"/>
            <a:ext cx="696522" cy="386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221" name="Shape 124"/>
          <p:cNvSpPr txBox="1"/>
          <p:nvPr/>
        </p:nvSpPr>
        <p:spPr>
          <a:xfrm>
            <a:off x="2334895" y="1306645"/>
            <a:ext cx="759324" cy="658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Rev, Cost</a:t>
            </a:r>
          </a:p>
        </p:txBody>
      </p:sp>
      <p:sp>
        <p:nvSpPr>
          <p:cNvPr id="222" name="Shape 131"/>
          <p:cNvSpPr txBox="1"/>
          <p:nvPr/>
        </p:nvSpPr>
        <p:spPr>
          <a:xfrm>
            <a:off x="3926224" y="4815257"/>
            <a:ext cx="291264" cy="386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/>
          <a:lstStyle>
            <a:lvl1pPr>
              <a:defRPr sz="15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grpSp>
        <p:nvGrpSpPr>
          <p:cNvPr id="225" name="Group"/>
          <p:cNvGrpSpPr/>
          <p:nvPr/>
        </p:nvGrpSpPr>
        <p:grpSpPr>
          <a:xfrm>
            <a:off x="2871027" y="2226515"/>
            <a:ext cx="1614772" cy="3333890"/>
            <a:chOff x="-1" y="31912"/>
            <a:chExt cx="1614771" cy="3333888"/>
          </a:xfrm>
        </p:grpSpPr>
        <p:sp>
          <p:nvSpPr>
            <p:cNvPr id="223" name="Shape 128"/>
            <p:cNvSpPr txBox="1"/>
            <p:nvPr/>
          </p:nvSpPr>
          <p:spPr>
            <a:xfrm>
              <a:off x="1078147" y="2978970"/>
              <a:ext cx="536623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C7711B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MR</a:t>
              </a:r>
            </a:p>
          </p:txBody>
        </p:sp>
        <p:sp>
          <p:nvSpPr>
            <p:cNvPr id="224" name="Shape 133"/>
            <p:cNvSpPr/>
            <p:nvPr/>
          </p:nvSpPr>
          <p:spPr>
            <a:xfrm>
              <a:off x="-1" y="31912"/>
              <a:ext cx="1091896" cy="3132487"/>
            </a:xfrm>
            <a:prstGeom prst="line">
              <a:avLst/>
            </a:prstGeom>
            <a:noFill/>
            <a:ln w="28575" cap="flat">
              <a:solidFill>
                <a:srgbClr val="C7711B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8" name="Group"/>
          <p:cNvGrpSpPr/>
          <p:nvPr/>
        </p:nvGrpSpPr>
        <p:grpSpPr>
          <a:xfrm>
            <a:off x="3485004" y="785831"/>
            <a:ext cx="1843591" cy="2311515"/>
            <a:chOff x="0" y="-95391"/>
            <a:chExt cx="1843589" cy="2311514"/>
          </a:xfrm>
        </p:grpSpPr>
        <p:sp>
          <p:nvSpPr>
            <p:cNvPr id="226" name="Shape 145"/>
            <p:cNvSpPr/>
            <p:nvPr/>
          </p:nvSpPr>
          <p:spPr>
            <a:xfrm>
              <a:off x="0" y="220110"/>
              <a:ext cx="1506817" cy="19960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3" extrusionOk="0">
                  <a:moveTo>
                    <a:pt x="21600" y="0"/>
                  </a:moveTo>
                  <a:cubicBezTo>
                    <a:pt x="13860" y="21320"/>
                    <a:pt x="6660" y="21600"/>
                    <a:pt x="0" y="839"/>
                  </a:cubicBezTo>
                </a:path>
              </a:pathLst>
            </a:custGeom>
            <a:noFill/>
            <a:ln w="25400" cap="flat">
              <a:solidFill>
                <a:srgbClr val="A2110D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7" name="Shape 136"/>
            <p:cNvSpPr txBox="1"/>
            <p:nvPr/>
          </p:nvSpPr>
          <p:spPr>
            <a:xfrm>
              <a:off x="1386203" y="-95391"/>
              <a:ext cx="457386" cy="43519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84143F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</a:t>
              </a:r>
            </a:p>
          </p:txBody>
        </p:sp>
      </p:grpSp>
      <p:grpSp>
        <p:nvGrpSpPr>
          <p:cNvPr id="231" name="Group"/>
          <p:cNvGrpSpPr/>
          <p:nvPr/>
        </p:nvGrpSpPr>
        <p:grpSpPr>
          <a:xfrm>
            <a:off x="2845649" y="2226516"/>
            <a:ext cx="3452701" cy="3254431"/>
            <a:chOff x="0" y="149549"/>
            <a:chExt cx="3452700" cy="3254430"/>
          </a:xfrm>
        </p:grpSpPr>
        <p:sp>
          <p:nvSpPr>
            <p:cNvPr id="229" name="Shape 126"/>
            <p:cNvSpPr/>
            <p:nvPr/>
          </p:nvSpPr>
          <p:spPr>
            <a:xfrm>
              <a:off x="-1" y="149549"/>
              <a:ext cx="2955464" cy="3126368"/>
            </a:xfrm>
            <a:prstGeom prst="line">
              <a:avLst/>
            </a:prstGeom>
            <a:noFill/>
            <a:ln w="28575" cap="flat">
              <a:solidFill>
                <a:srgbClr val="651A8C"/>
              </a:solidFill>
              <a:prstDash val="solid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0" name="Shape 138"/>
            <p:cNvSpPr txBox="1"/>
            <p:nvPr/>
          </p:nvSpPr>
          <p:spPr>
            <a:xfrm>
              <a:off x="2941522" y="3017150"/>
              <a:ext cx="511179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651A8C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AR</a:t>
              </a:r>
            </a:p>
          </p:txBody>
        </p:sp>
      </p:grpSp>
      <p:grpSp>
        <p:nvGrpSpPr>
          <p:cNvPr id="236" name="Group"/>
          <p:cNvGrpSpPr/>
          <p:nvPr/>
        </p:nvGrpSpPr>
        <p:grpSpPr>
          <a:xfrm>
            <a:off x="3708604" y="2535995"/>
            <a:ext cx="486882" cy="3577353"/>
            <a:chOff x="0" y="0"/>
            <a:chExt cx="486881" cy="3577352"/>
          </a:xfrm>
        </p:grpSpPr>
        <p:sp>
          <p:nvSpPr>
            <p:cNvPr id="232" name="Shape 129"/>
            <p:cNvSpPr/>
            <p:nvPr/>
          </p:nvSpPr>
          <p:spPr>
            <a:xfrm flipH="1">
              <a:off x="107462" y="122221"/>
              <a:ext cx="1" cy="3068706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Shape 132"/>
            <p:cNvSpPr txBox="1"/>
            <p:nvPr/>
          </p:nvSpPr>
          <p:spPr>
            <a:xfrm>
              <a:off x="0" y="3190926"/>
              <a:ext cx="268821" cy="3864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34" name="Shape 139"/>
            <p:cNvSpPr txBox="1"/>
            <p:nvPr/>
          </p:nvSpPr>
          <p:spPr>
            <a:xfrm>
              <a:off x="121750" y="0"/>
              <a:ext cx="314863" cy="3864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235" name="Shape 140"/>
            <p:cNvSpPr txBox="1"/>
            <p:nvPr/>
          </p:nvSpPr>
          <p:spPr>
            <a:xfrm>
              <a:off x="107462" y="540123"/>
              <a:ext cx="379420" cy="3864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</a:p>
          </p:txBody>
        </p:sp>
      </p:grpSp>
      <p:grpSp>
        <p:nvGrpSpPr>
          <p:cNvPr id="239" name="Group"/>
          <p:cNvGrpSpPr/>
          <p:nvPr/>
        </p:nvGrpSpPr>
        <p:grpSpPr>
          <a:xfrm>
            <a:off x="2632061" y="3094988"/>
            <a:ext cx="1228473" cy="386830"/>
            <a:chOff x="0" y="0"/>
            <a:chExt cx="1228471" cy="386829"/>
          </a:xfrm>
        </p:grpSpPr>
        <p:sp>
          <p:nvSpPr>
            <p:cNvPr id="237" name="Shape 130"/>
            <p:cNvSpPr/>
            <p:nvPr/>
          </p:nvSpPr>
          <p:spPr>
            <a:xfrm>
              <a:off x="260909" y="179125"/>
              <a:ext cx="967563" cy="3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8" name="Shape 141"/>
            <p:cNvSpPr txBox="1"/>
            <p:nvPr/>
          </p:nvSpPr>
          <p:spPr>
            <a:xfrm>
              <a:off x="0" y="0"/>
              <a:ext cx="315624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grpSp>
        <p:nvGrpSpPr>
          <p:cNvPr id="242" name="Group"/>
          <p:cNvGrpSpPr/>
          <p:nvPr/>
        </p:nvGrpSpPr>
        <p:grpSpPr>
          <a:xfrm>
            <a:off x="2599270" y="2466732"/>
            <a:ext cx="1261264" cy="386830"/>
            <a:chOff x="0" y="0"/>
            <a:chExt cx="1261262" cy="386829"/>
          </a:xfrm>
        </p:grpSpPr>
        <p:sp>
          <p:nvSpPr>
            <p:cNvPr id="240" name="Shape 137"/>
            <p:cNvSpPr/>
            <p:nvPr/>
          </p:nvSpPr>
          <p:spPr>
            <a:xfrm flipV="1">
              <a:off x="288625" y="207703"/>
              <a:ext cx="972638" cy="1"/>
            </a:xfrm>
            <a:prstGeom prst="line">
              <a:avLst/>
            </a:prstGeom>
            <a:noFill/>
            <a:ln w="28575" cap="flat">
              <a:solidFill>
                <a:srgbClr val="4A7EBB"/>
              </a:solidFill>
              <a:prstDash val="dash"/>
              <a:bevel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1" name="Shape 142"/>
            <p:cNvSpPr txBox="1"/>
            <p:nvPr/>
          </p:nvSpPr>
          <p:spPr>
            <a:xfrm>
              <a:off x="0" y="0"/>
              <a:ext cx="395856" cy="386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</a:p>
          </p:txBody>
        </p:sp>
      </p:grpSp>
      <p:grpSp>
        <p:nvGrpSpPr>
          <p:cNvPr id="245" name="Group"/>
          <p:cNvGrpSpPr/>
          <p:nvPr/>
        </p:nvGrpSpPr>
        <p:grpSpPr>
          <a:xfrm>
            <a:off x="2983137" y="1989283"/>
            <a:ext cx="1588863" cy="3513150"/>
            <a:chOff x="0" y="0"/>
            <a:chExt cx="1588862" cy="3513149"/>
          </a:xfrm>
        </p:grpSpPr>
        <p:sp>
          <p:nvSpPr>
            <p:cNvPr id="243" name="Shape 146"/>
            <p:cNvSpPr/>
            <p:nvPr/>
          </p:nvSpPr>
          <p:spPr>
            <a:xfrm rot="377111">
              <a:off x="175019" y="220305"/>
              <a:ext cx="959924" cy="32500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859" extrusionOk="0">
                  <a:moveTo>
                    <a:pt x="21600" y="0"/>
                  </a:moveTo>
                  <a:cubicBezTo>
                    <a:pt x="19872" y="18035"/>
                    <a:pt x="12672" y="21600"/>
                    <a:pt x="0" y="10695"/>
                  </a:cubicBezTo>
                </a:path>
              </a:pathLst>
            </a:custGeom>
            <a:noFill/>
            <a:ln w="25400" cap="flat">
              <a:solidFill>
                <a:srgbClr val="578C2E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4" name="Shape 127"/>
            <p:cNvSpPr/>
            <p:nvPr/>
          </p:nvSpPr>
          <p:spPr>
            <a:xfrm rot="36445">
              <a:off x="1053463" y="2807"/>
              <a:ext cx="532501" cy="549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559" y="28"/>
                  </a:lnTo>
                  <a:lnTo>
                    <a:pt x="21600" y="21600"/>
                  </a:lnTo>
                  <a:lnTo>
                    <a:pt x="41" y="21572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solidFill>
                    <a:srgbClr val="406823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MC</a:t>
              </a:r>
            </a:p>
          </p:txBody>
        </p:sp>
      </p:grpSp>
      <p:sp>
        <p:nvSpPr>
          <p:cNvPr id="266" name="Shape 125"/>
          <p:cNvSpPr txBox="1"/>
          <p:nvPr/>
        </p:nvSpPr>
        <p:spPr>
          <a:xfrm>
            <a:off x="1657714" y="41645"/>
            <a:ext cx="5821952" cy="477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000" b="1"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Monopoly: </a:t>
            </a:r>
            <a:r>
              <a:rPr sz="2500">
                <a:solidFill>
                  <a:srgbClr val="E224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Sub-Normal Profit </a:t>
            </a: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(short-run)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 animBg="1" advAuto="0"/>
      <p:bldP spid="222" grpId="0" animBg="1" advAuto="0"/>
      <p:bldP spid="225" grpId="0" animBg="1" advAuto="0"/>
      <p:bldP spid="228" grpId="0" animBg="1" advAuto="0"/>
      <p:bldP spid="231" grpId="0" animBg="1" advAuto="0"/>
      <p:bldP spid="236" grpId="0" animBg="1" advAuto="0"/>
      <p:bldP spid="239" grpId="0" animBg="1" advAuto="0"/>
      <p:bldP spid="242" grpId="0" animBg="1" advAuto="0"/>
      <p:bldP spid="245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125"/>
          <p:cNvSpPr txBox="1"/>
          <p:nvPr/>
        </p:nvSpPr>
        <p:spPr>
          <a:xfrm>
            <a:off x="768478" y="139304"/>
            <a:ext cx="2611272" cy="44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/>
          <a:lstStyle>
            <a:lvl1pPr>
              <a:defRPr sz="2000" b="1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Monopoly: short-run</a:t>
            </a:r>
          </a:p>
        </p:txBody>
      </p:sp>
      <p:grpSp>
        <p:nvGrpSpPr>
          <p:cNvPr id="301" name="Group"/>
          <p:cNvGrpSpPr/>
          <p:nvPr/>
        </p:nvGrpSpPr>
        <p:grpSpPr>
          <a:xfrm>
            <a:off x="223178" y="857694"/>
            <a:ext cx="2930171" cy="4196461"/>
            <a:chOff x="0" y="0"/>
            <a:chExt cx="2930170" cy="4196460"/>
          </a:xfrm>
        </p:grpSpPr>
        <p:grpSp>
          <p:nvGrpSpPr>
            <p:cNvPr id="299" name="Group"/>
            <p:cNvGrpSpPr/>
            <p:nvPr/>
          </p:nvGrpSpPr>
          <p:grpSpPr>
            <a:xfrm>
              <a:off x="0" y="-1"/>
              <a:ext cx="2930171" cy="4196462"/>
              <a:chOff x="0" y="0"/>
              <a:chExt cx="2930170" cy="4196460"/>
            </a:xfrm>
          </p:grpSpPr>
          <p:sp>
            <p:nvSpPr>
              <p:cNvPr id="269" name="Shape 121"/>
              <p:cNvSpPr/>
              <p:nvPr/>
            </p:nvSpPr>
            <p:spPr>
              <a:xfrm flipH="1">
                <a:off x="310634" y="62682"/>
                <a:ext cx="1" cy="3835886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bevel/>
                <a:headEnd type="triangle" w="med" len="med"/>
                <a:tailEnd type="non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0" name="Shape 131"/>
              <p:cNvSpPr txBox="1"/>
              <p:nvPr/>
            </p:nvSpPr>
            <p:spPr>
              <a:xfrm>
                <a:off x="1144694" y="3063170"/>
                <a:ext cx="224816" cy="33772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</a:p>
            </p:txBody>
          </p:sp>
          <p:grpSp>
            <p:nvGrpSpPr>
              <p:cNvPr id="273" name="Group"/>
              <p:cNvGrpSpPr/>
              <p:nvPr/>
            </p:nvGrpSpPr>
            <p:grpSpPr>
              <a:xfrm>
                <a:off x="335266" y="843008"/>
                <a:ext cx="1246386" cy="2910629"/>
                <a:chOff x="11563" y="0"/>
                <a:chExt cx="1246384" cy="2910628"/>
              </a:xfrm>
            </p:grpSpPr>
            <p:sp>
              <p:nvSpPr>
                <p:cNvPr id="271" name="Shape 128"/>
                <p:cNvSpPr txBox="1"/>
                <p:nvPr/>
              </p:nvSpPr>
              <p:spPr>
                <a:xfrm>
                  <a:off x="843748" y="2572909"/>
                  <a:ext cx="414201" cy="33772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solidFill>
                        <a:srgbClr val="C7711B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MR</a:t>
                  </a:r>
                </a:p>
              </p:txBody>
            </p:sp>
            <p:sp>
              <p:nvSpPr>
                <p:cNvPr id="272" name="Shape 133"/>
                <p:cNvSpPr/>
                <p:nvPr/>
              </p:nvSpPr>
              <p:spPr>
                <a:xfrm>
                  <a:off x="11563" y="-1"/>
                  <a:ext cx="842797" cy="2734798"/>
                </a:xfrm>
                <a:prstGeom prst="line">
                  <a:avLst/>
                </a:prstGeom>
                <a:noFill/>
                <a:ln w="28575" cap="flat">
                  <a:solidFill>
                    <a:srgbClr val="C7711B"/>
                  </a:solidFill>
                  <a:prstDash val="solid"/>
                  <a:bevel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76" name="Group"/>
              <p:cNvGrpSpPr/>
              <p:nvPr/>
            </p:nvGrpSpPr>
            <p:grpSpPr>
              <a:xfrm>
                <a:off x="592842" y="468112"/>
                <a:ext cx="1813528" cy="2123756"/>
                <a:chOff x="0" y="0"/>
                <a:chExt cx="1813527" cy="2123754"/>
              </a:xfrm>
            </p:grpSpPr>
            <p:sp>
              <p:nvSpPr>
                <p:cNvPr id="274" name="Shape 145"/>
                <p:cNvSpPr/>
                <p:nvPr/>
              </p:nvSpPr>
              <p:spPr>
                <a:xfrm>
                  <a:off x="0" y="381149"/>
                  <a:ext cx="1467234" cy="174260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203" extrusionOk="0">
                      <a:moveTo>
                        <a:pt x="21600" y="0"/>
                      </a:moveTo>
                      <a:cubicBezTo>
                        <a:pt x="13860" y="21320"/>
                        <a:pt x="6660" y="21600"/>
                        <a:pt x="0" y="839"/>
                      </a:cubicBezTo>
                    </a:path>
                  </a:pathLst>
                </a:custGeom>
                <a:noFill/>
                <a:ln w="25400" cap="flat">
                  <a:solidFill>
                    <a:srgbClr val="A2110D"/>
                  </a:solidFill>
                  <a:prstDash val="solid"/>
                  <a:bevel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5" name="Shape 136"/>
                <p:cNvSpPr txBox="1"/>
                <p:nvPr/>
              </p:nvSpPr>
              <p:spPr>
                <a:xfrm>
                  <a:off x="1368156" y="0"/>
                  <a:ext cx="445372" cy="37994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solidFill>
                        <a:srgbClr val="84143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</a:t>
                  </a:r>
                </a:p>
              </p:txBody>
            </p:sp>
          </p:grpSp>
          <p:grpSp>
            <p:nvGrpSpPr>
              <p:cNvPr id="279" name="Group"/>
              <p:cNvGrpSpPr/>
              <p:nvPr/>
            </p:nvGrpSpPr>
            <p:grpSpPr>
              <a:xfrm>
                <a:off x="340888" y="858849"/>
                <a:ext cx="2281220" cy="2864027"/>
                <a:chOff x="19981" y="0"/>
                <a:chExt cx="2281219" cy="2864026"/>
              </a:xfrm>
            </p:grpSpPr>
            <p:sp>
              <p:nvSpPr>
                <p:cNvPr id="277" name="Shape 126"/>
                <p:cNvSpPr/>
                <p:nvPr/>
              </p:nvSpPr>
              <p:spPr>
                <a:xfrm>
                  <a:off x="19981" y="-1"/>
                  <a:ext cx="2281221" cy="2729456"/>
                </a:xfrm>
                <a:prstGeom prst="line">
                  <a:avLst/>
                </a:prstGeom>
                <a:noFill/>
                <a:ln w="28575" cap="flat">
                  <a:solidFill>
                    <a:srgbClr val="651A8C"/>
                  </a:solidFill>
                  <a:prstDash val="solid"/>
                  <a:bevel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8" name="Shape 138"/>
                <p:cNvSpPr txBox="1"/>
                <p:nvPr/>
              </p:nvSpPr>
              <p:spPr>
                <a:xfrm>
                  <a:off x="1896329" y="2526307"/>
                  <a:ext cx="394562" cy="33772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solidFill>
                        <a:srgbClr val="651A8C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AR</a:t>
                  </a:r>
                </a:p>
              </p:txBody>
            </p:sp>
          </p:grpSp>
          <p:grpSp>
            <p:nvGrpSpPr>
              <p:cNvPr id="284" name="Group"/>
              <p:cNvGrpSpPr/>
              <p:nvPr/>
            </p:nvGrpSpPr>
            <p:grpSpPr>
              <a:xfrm>
                <a:off x="989656" y="1472348"/>
                <a:ext cx="280382" cy="2724113"/>
                <a:chOff x="0" y="0"/>
                <a:chExt cx="280381" cy="2724111"/>
              </a:xfrm>
            </p:grpSpPr>
            <p:sp>
              <p:nvSpPr>
                <p:cNvPr id="280" name="Shape 129"/>
                <p:cNvSpPr/>
                <p:nvPr/>
              </p:nvSpPr>
              <p:spPr>
                <a:xfrm flipH="1">
                  <a:off x="82946" y="268223"/>
                  <a:ext cx="1" cy="2114262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dash"/>
                  <a:bevel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1" name="Shape 132"/>
                <p:cNvSpPr txBox="1"/>
                <p:nvPr/>
              </p:nvSpPr>
              <p:spPr>
                <a:xfrm>
                  <a:off x="0" y="2386744"/>
                  <a:ext cx="207494" cy="33736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</a:t>
                  </a:r>
                </a:p>
              </p:txBody>
            </p:sp>
            <p:sp>
              <p:nvSpPr>
                <p:cNvPr id="282" name="Shape 139"/>
                <p:cNvSpPr txBox="1"/>
                <p:nvPr/>
              </p:nvSpPr>
              <p:spPr>
                <a:xfrm>
                  <a:off x="82946" y="832406"/>
                  <a:ext cx="170411" cy="3373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283" name="Shape 140"/>
                <p:cNvSpPr txBox="1"/>
                <p:nvPr/>
              </p:nvSpPr>
              <p:spPr>
                <a:xfrm>
                  <a:off x="40919" y="0"/>
                  <a:ext cx="239463" cy="3373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</a:t>
                  </a:r>
                </a:p>
              </p:txBody>
            </p:sp>
          </p:grpSp>
          <p:grpSp>
            <p:nvGrpSpPr>
              <p:cNvPr id="287" name="Group"/>
              <p:cNvGrpSpPr/>
              <p:nvPr/>
            </p:nvGrpSpPr>
            <p:grpSpPr>
              <a:xfrm>
                <a:off x="145774" y="1561301"/>
                <a:ext cx="948216" cy="337719"/>
                <a:chOff x="0" y="0"/>
                <a:chExt cx="948215" cy="337718"/>
              </a:xfrm>
            </p:grpSpPr>
            <p:sp>
              <p:nvSpPr>
                <p:cNvPr id="285" name="Shape 130"/>
                <p:cNvSpPr/>
                <p:nvPr/>
              </p:nvSpPr>
              <p:spPr>
                <a:xfrm>
                  <a:off x="201387" y="156384"/>
                  <a:ext cx="746829" cy="2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dash"/>
                  <a:bevel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6" name="Shape 141"/>
                <p:cNvSpPr txBox="1"/>
                <p:nvPr/>
              </p:nvSpPr>
              <p:spPr>
                <a:xfrm>
                  <a:off x="0" y="0"/>
                  <a:ext cx="243620" cy="3377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</a:t>
                  </a:r>
                </a:p>
              </p:txBody>
            </p:sp>
          </p:grpSp>
          <p:grpSp>
            <p:nvGrpSpPr>
              <p:cNvPr id="290" name="Group"/>
              <p:cNvGrpSpPr/>
              <p:nvPr/>
            </p:nvGrpSpPr>
            <p:grpSpPr>
              <a:xfrm>
                <a:off x="101781" y="2262873"/>
                <a:ext cx="973526" cy="337720"/>
                <a:chOff x="0" y="0"/>
                <a:chExt cx="973525" cy="337718"/>
              </a:xfrm>
            </p:grpSpPr>
            <p:sp>
              <p:nvSpPr>
                <p:cNvPr id="288" name="Shape 137"/>
                <p:cNvSpPr/>
                <p:nvPr/>
              </p:nvSpPr>
              <p:spPr>
                <a:xfrm flipV="1">
                  <a:off x="222780" y="181333"/>
                  <a:ext cx="750746" cy="1"/>
                </a:xfrm>
                <a:prstGeom prst="line">
                  <a:avLst/>
                </a:prstGeom>
                <a:noFill/>
                <a:ln w="28575" cap="flat">
                  <a:solidFill>
                    <a:srgbClr val="4A7EBB"/>
                  </a:solidFill>
                  <a:prstDash val="dash"/>
                  <a:bevel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9" name="Shape 142"/>
                <p:cNvSpPr txBox="1"/>
                <p:nvPr/>
              </p:nvSpPr>
              <p:spPr>
                <a:xfrm>
                  <a:off x="0" y="0"/>
                  <a:ext cx="305548" cy="33771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</a:t>
                  </a:r>
                </a:p>
              </p:txBody>
            </p:sp>
          </p:grpSp>
          <p:grpSp>
            <p:nvGrpSpPr>
              <p:cNvPr id="293" name="Group"/>
              <p:cNvGrpSpPr/>
              <p:nvPr/>
            </p:nvGrpSpPr>
            <p:grpSpPr>
              <a:xfrm>
                <a:off x="286139" y="544707"/>
                <a:ext cx="1674002" cy="3157867"/>
                <a:chOff x="0" y="0"/>
                <a:chExt cx="1674001" cy="3157865"/>
              </a:xfrm>
            </p:grpSpPr>
            <p:sp>
              <p:nvSpPr>
                <p:cNvPr id="291" name="Shape 146"/>
                <p:cNvSpPr/>
                <p:nvPr/>
              </p:nvSpPr>
              <p:spPr>
                <a:xfrm rot="377111">
                  <a:off x="150977" y="299854"/>
                  <a:ext cx="987841" cy="28123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6869" extrusionOk="0">
                      <a:moveTo>
                        <a:pt x="21600" y="0"/>
                      </a:moveTo>
                      <a:cubicBezTo>
                        <a:pt x="18792" y="18013"/>
                        <a:pt x="11592" y="21600"/>
                        <a:pt x="0" y="10763"/>
                      </a:cubicBezTo>
                    </a:path>
                  </a:pathLst>
                </a:custGeom>
                <a:noFill/>
                <a:ln w="25400" cap="flat">
                  <a:solidFill>
                    <a:srgbClr val="578C2E"/>
                  </a:solidFill>
                  <a:prstDash val="solid"/>
                  <a:bevel/>
                </a:ln>
                <a:effectLst>
                  <a:outerShdw blurRad="38100" dist="20000" dir="5400000" rotWithShape="0">
                    <a:srgbClr val="000000">
                      <a:alpha val="38000"/>
                    </a:srgbClr>
                  </a:outerShdw>
                </a:effectLst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pPr>
                    <a:defRPr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2" name="Shape 127"/>
                <p:cNvSpPr txBox="1"/>
                <p:nvPr/>
              </p:nvSpPr>
              <p:spPr>
                <a:xfrm rot="36445">
                  <a:off x="1149367" y="2762"/>
                  <a:ext cx="522859" cy="33780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500" b="1">
                      <a:solidFill>
                        <a:srgbClr val="406823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MC</a:t>
                  </a:r>
                </a:p>
              </p:txBody>
            </p:sp>
          </p:grpSp>
          <p:grpSp>
            <p:nvGrpSpPr>
              <p:cNvPr id="298" name="Group"/>
              <p:cNvGrpSpPr/>
              <p:nvPr/>
            </p:nvGrpSpPr>
            <p:grpSpPr>
              <a:xfrm>
                <a:off x="0" y="-1"/>
                <a:ext cx="2930171" cy="4161179"/>
                <a:chOff x="0" y="0"/>
                <a:chExt cx="2930170" cy="4161177"/>
              </a:xfrm>
            </p:grpSpPr>
            <p:sp>
              <p:nvSpPr>
                <p:cNvPr id="294" name="Shape 122"/>
                <p:cNvSpPr/>
                <p:nvPr/>
              </p:nvSpPr>
              <p:spPr>
                <a:xfrm flipH="1">
                  <a:off x="292609" y="3884666"/>
                  <a:ext cx="2447204" cy="1"/>
                </a:xfrm>
                <a:prstGeom prst="line">
                  <a:avLst/>
                </a:prstGeom>
                <a:noFill/>
                <a:ln w="28575" cap="flat">
                  <a:solidFill>
                    <a:srgbClr val="000000"/>
                  </a:solidFill>
                  <a:prstDash val="solid"/>
                  <a:bevel/>
                  <a:headEnd type="triangle" w="med" len="med"/>
                  <a:tailEnd type="none" w="med" len="med"/>
                </a:ln>
                <a:effectLst/>
              </p:spPr>
              <p:txBody>
                <a:bodyPr wrap="square" lIns="45718" tIns="45718" rIns="45718" bIns="45718" numCol="1" anchor="t">
                  <a:noAutofit/>
                </a:bodyPr>
                <a:lstStyle/>
                <a:p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95" name="Shape 123"/>
                <p:cNvSpPr txBox="1"/>
                <p:nvPr/>
              </p:nvSpPr>
              <p:spPr>
                <a:xfrm>
                  <a:off x="2446909" y="3930385"/>
                  <a:ext cx="483262" cy="23079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0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Qty</a:t>
                  </a:r>
                </a:p>
              </p:txBody>
            </p:sp>
            <p:sp>
              <p:nvSpPr>
                <p:cNvPr id="296" name="Shape 124"/>
                <p:cNvSpPr txBox="1"/>
                <p:nvPr/>
              </p:nvSpPr>
              <p:spPr>
                <a:xfrm>
                  <a:off x="0" y="0"/>
                  <a:ext cx="286261" cy="41237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  </a:ext>
                </a:extLst>
              </p:spPr>
              <p:txBody>
                <a:bodyPr wrap="square" lIns="45718" tIns="45718" rIns="45718" bIns="45718" numCol="1" anchor="t">
                  <a:noAutofit/>
                </a:bodyPr>
                <a:lstStyle>
                  <a:lvl1pPr>
                    <a:defRPr sz="1000" b="1">
                      <a:latin typeface="Calibri"/>
                      <a:ea typeface="Calibri"/>
                      <a:cs typeface="Calibri"/>
                      <a:sym typeface="Calibri"/>
                    </a:defRPr>
                  </a:lvl1pPr>
                </a:lstStyle>
                <a:p>
                  <a:r>
                    <a:rPr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R, C</a:t>
                  </a:r>
                </a:p>
              </p:txBody>
            </p:sp>
            <p:sp>
              <p:nvSpPr>
                <p:cNvPr id="297" name="Shape 143"/>
                <p:cNvSpPr/>
                <p:nvPr/>
              </p:nvSpPr>
              <p:spPr>
                <a:xfrm>
                  <a:off x="328001" y="1734318"/>
                  <a:ext cx="724700" cy="689556"/>
                </a:xfrm>
                <a:prstGeom prst="rect">
                  <a:avLst/>
                </a:prstGeom>
                <a:solidFill>
                  <a:srgbClr val="1F43C9">
                    <a:alpha val="30000"/>
                  </a:srgbClr>
                </a:solidFill>
                <a:ln w="9525" cap="flat">
                  <a:solidFill>
                    <a:srgbClr val="46AAC4">
                      <a:alpha val="30000"/>
                    </a:srgbClr>
                  </a:solidFill>
                  <a:prstDash val="solid"/>
                  <a:bevel/>
                </a:ln>
                <a:effectLst>
                  <a:outerShdw blurRad="355600" rotWithShape="0">
                    <a:srgbClr val="000000">
                      <a:alpha val="75000"/>
                    </a:srgbClr>
                  </a:outerShdw>
                </a:effectLst>
              </p:spPr>
              <p:txBody>
                <a:bodyPr wrap="square" lIns="45718" tIns="45718" rIns="45718" bIns="45718" numCol="1" anchor="ctr">
                  <a:noAutofit/>
                </a:bodyPr>
                <a:lstStyle/>
                <a:p>
                  <a:pPr>
                    <a:defRPr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defRPr>
                  </a:pPr>
                  <a:endParaRPr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300" name="Shape 125"/>
            <p:cNvSpPr txBox="1"/>
            <p:nvPr/>
          </p:nvSpPr>
          <p:spPr>
            <a:xfrm>
              <a:off x="387663" y="157414"/>
              <a:ext cx="1188359" cy="447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20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Super-NP</a:t>
              </a:r>
            </a:p>
          </p:txBody>
        </p:sp>
      </p:grpSp>
      <p:grpSp>
        <p:nvGrpSpPr>
          <p:cNvPr id="328" name="Group"/>
          <p:cNvGrpSpPr/>
          <p:nvPr/>
        </p:nvGrpSpPr>
        <p:grpSpPr>
          <a:xfrm>
            <a:off x="2882548" y="938090"/>
            <a:ext cx="2903790" cy="4129923"/>
            <a:chOff x="-292518" y="0"/>
            <a:chExt cx="2903789" cy="4129922"/>
          </a:xfrm>
        </p:grpSpPr>
        <p:sp>
          <p:nvSpPr>
            <p:cNvPr id="302" name="Shape 121"/>
            <p:cNvSpPr/>
            <p:nvPr/>
          </p:nvSpPr>
          <p:spPr>
            <a:xfrm flipH="1">
              <a:off x="324952" y="61811"/>
              <a:ext cx="2" cy="3775064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bevel/>
              <a:headEnd type="triangle" w="med" len="med"/>
              <a:tailEnd type="non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06" name="Group"/>
            <p:cNvGrpSpPr/>
            <p:nvPr/>
          </p:nvGrpSpPr>
          <p:grpSpPr>
            <a:xfrm>
              <a:off x="57665" y="0"/>
              <a:ext cx="2553606" cy="4086715"/>
              <a:chOff x="0" y="0"/>
              <a:chExt cx="2553604" cy="4086715"/>
            </a:xfrm>
          </p:grpSpPr>
          <p:sp>
            <p:nvSpPr>
              <p:cNvPr id="303" name="Shape 122"/>
              <p:cNvSpPr/>
              <p:nvPr/>
            </p:nvSpPr>
            <p:spPr>
              <a:xfrm flipH="1">
                <a:off x="267287" y="3824597"/>
                <a:ext cx="2225756" cy="2"/>
              </a:xfrm>
              <a:prstGeom prst="line">
                <a:avLst/>
              </a:prstGeom>
              <a:noFill/>
              <a:ln w="28575" cap="flat">
                <a:solidFill>
                  <a:srgbClr val="000000"/>
                </a:solidFill>
                <a:prstDash val="solid"/>
                <a:bevel/>
                <a:headEnd type="triangle" w="med" len="med"/>
                <a:tailEnd type="none" w="med" len="med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4" name="Shape 123"/>
              <p:cNvSpPr txBox="1"/>
              <p:nvPr/>
            </p:nvSpPr>
            <p:spPr>
              <a:xfrm>
                <a:off x="2080686" y="3853275"/>
                <a:ext cx="472919" cy="23344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0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Qty</a:t>
                </a:r>
              </a:p>
            </p:txBody>
          </p:sp>
          <p:sp>
            <p:nvSpPr>
              <p:cNvPr id="305" name="Shape 124"/>
              <p:cNvSpPr txBox="1"/>
              <p:nvPr/>
            </p:nvSpPr>
            <p:spPr>
              <a:xfrm>
                <a:off x="-1" y="0"/>
                <a:ext cx="250532" cy="357821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0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R, C</a:t>
                </a:r>
              </a:p>
            </p:txBody>
          </p:sp>
        </p:grpSp>
        <p:sp>
          <p:nvSpPr>
            <p:cNvPr id="307" name="Shape 131"/>
            <p:cNvSpPr txBox="1"/>
            <p:nvPr/>
          </p:nvSpPr>
          <p:spPr>
            <a:xfrm>
              <a:off x="998591" y="3014600"/>
              <a:ext cx="187761" cy="3323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310" name="Group"/>
            <p:cNvGrpSpPr/>
            <p:nvPr/>
          </p:nvGrpSpPr>
          <p:grpSpPr>
            <a:xfrm>
              <a:off x="318368" y="790351"/>
              <a:ext cx="1223347" cy="2899420"/>
              <a:chOff x="125741" y="-1"/>
              <a:chExt cx="1223346" cy="2899418"/>
            </a:xfrm>
          </p:grpSpPr>
          <p:sp>
            <p:nvSpPr>
              <p:cNvPr id="308" name="Shape 128"/>
              <p:cNvSpPr txBox="1"/>
              <p:nvPr/>
            </p:nvSpPr>
            <p:spPr>
              <a:xfrm>
                <a:off x="820760" y="2532113"/>
                <a:ext cx="528327" cy="36730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C7711B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</a:t>
                </a:r>
              </a:p>
            </p:txBody>
          </p:sp>
          <p:sp>
            <p:nvSpPr>
              <p:cNvPr id="309" name="Shape 133"/>
              <p:cNvSpPr/>
              <p:nvPr/>
            </p:nvSpPr>
            <p:spPr>
              <a:xfrm>
                <a:off x="125741" y="-1"/>
                <a:ext cx="703881" cy="2691434"/>
              </a:xfrm>
              <a:prstGeom prst="line">
                <a:avLst/>
              </a:prstGeom>
              <a:noFill/>
              <a:ln w="28575" cap="flat">
                <a:solidFill>
                  <a:srgbClr val="C7711B"/>
                </a:solidFill>
                <a:prstDash val="solid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13" name="Group"/>
            <p:cNvGrpSpPr/>
            <p:nvPr/>
          </p:nvGrpSpPr>
          <p:grpSpPr>
            <a:xfrm>
              <a:off x="655339" y="559563"/>
              <a:ext cx="1672343" cy="1375317"/>
              <a:chOff x="0" y="-92623"/>
              <a:chExt cx="1672342" cy="1375315"/>
            </a:xfrm>
          </p:grpSpPr>
          <p:sp>
            <p:nvSpPr>
              <p:cNvPr id="311" name="Shape 145"/>
              <p:cNvSpPr/>
              <p:nvPr/>
            </p:nvSpPr>
            <p:spPr>
              <a:xfrm>
                <a:off x="0" y="230204"/>
                <a:ext cx="1344604" cy="105248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3" extrusionOk="0">
                    <a:moveTo>
                      <a:pt x="21600" y="0"/>
                    </a:moveTo>
                    <a:cubicBezTo>
                      <a:pt x="13860" y="21320"/>
                      <a:pt x="6660" y="21600"/>
                      <a:pt x="0" y="839"/>
                    </a:cubicBezTo>
                  </a:path>
                </a:pathLst>
              </a:custGeom>
              <a:noFill/>
              <a:ln w="25400" cap="flat">
                <a:solidFill>
                  <a:srgbClr val="A2110D"/>
                </a:solidFill>
                <a:prstDash val="solid"/>
                <a:bevel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2" name="Shape 136"/>
              <p:cNvSpPr txBox="1"/>
              <p:nvPr/>
            </p:nvSpPr>
            <p:spPr>
              <a:xfrm>
                <a:off x="1253546" y="-92623"/>
                <a:ext cx="418796" cy="34292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84143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</a:t>
                </a:r>
              </a:p>
            </p:txBody>
          </p:sp>
        </p:grpSp>
        <p:grpSp>
          <p:nvGrpSpPr>
            <p:cNvPr id="316" name="Group"/>
            <p:cNvGrpSpPr/>
            <p:nvPr/>
          </p:nvGrpSpPr>
          <p:grpSpPr>
            <a:xfrm>
              <a:off x="302007" y="790351"/>
              <a:ext cx="1937004" cy="2882884"/>
              <a:chOff x="217273" y="-1"/>
              <a:chExt cx="1937002" cy="2882882"/>
            </a:xfrm>
          </p:grpSpPr>
          <p:sp>
            <p:nvSpPr>
              <p:cNvPr id="314" name="Shape 126"/>
              <p:cNvSpPr/>
              <p:nvPr/>
            </p:nvSpPr>
            <p:spPr>
              <a:xfrm>
                <a:off x="217273" y="-1"/>
                <a:ext cx="1905216" cy="2686178"/>
              </a:xfrm>
              <a:prstGeom prst="line">
                <a:avLst/>
              </a:prstGeom>
              <a:noFill/>
              <a:ln w="28575" cap="flat">
                <a:solidFill>
                  <a:srgbClr val="651A8C"/>
                </a:solidFill>
                <a:prstDash val="solid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5" name="Shape 138"/>
              <p:cNvSpPr txBox="1"/>
              <p:nvPr/>
            </p:nvSpPr>
            <p:spPr>
              <a:xfrm>
                <a:off x="1708442" y="2507634"/>
                <a:ext cx="445833" cy="37524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651A8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</a:t>
                </a:r>
              </a:p>
            </p:txBody>
          </p:sp>
        </p:grpSp>
        <p:grpSp>
          <p:nvGrpSpPr>
            <p:cNvPr id="320" name="Group"/>
            <p:cNvGrpSpPr/>
            <p:nvPr/>
          </p:nvGrpSpPr>
          <p:grpSpPr>
            <a:xfrm>
              <a:off x="858304" y="1410038"/>
              <a:ext cx="618845" cy="2719884"/>
              <a:chOff x="0" y="93861"/>
              <a:chExt cx="618843" cy="2719882"/>
            </a:xfrm>
          </p:grpSpPr>
          <p:sp>
            <p:nvSpPr>
              <p:cNvPr id="317" name="Shape 129"/>
              <p:cNvSpPr/>
              <p:nvPr/>
            </p:nvSpPr>
            <p:spPr>
              <a:xfrm flipH="1">
                <a:off x="77560" y="396796"/>
                <a:ext cx="1" cy="2084930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8" name="Shape 132"/>
              <p:cNvSpPr txBox="1"/>
              <p:nvPr/>
            </p:nvSpPr>
            <p:spPr>
              <a:xfrm>
                <a:off x="0" y="2481725"/>
                <a:ext cx="346586" cy="33201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19" name="Shape 140"/>
              <p:cNvSpPr txBox="1"/>
              <p:nvPr/>
            </p:nvSpPr>
            <p:spPr>
              <a:xfrm>
                <a:off x="40302" y="93861"/>
                <a:ext cx="578541" cy="34399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2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= C</a:t>
                </a:r>
              </a:p>
            </p:txBody>
          </p:sp>
        </p:grpSp>
        <p:grpSp>
          <p:nvGrpSpPr>
            <p:cNvPr id="323" name="Group"/>
            <p:cNvGrpSpPr/>
            <p:nvPr/>
          </p:nvGrpSpPr>
          <p:grpSpPr>
            <a:xfrm>
              <a:off x="-292518" y="1626357"/>
              <a:ext cx="1248764" cy="308524"/>
              <a:chOff x="-292518" y="0"/>
              <a:chExt cx="1248763" cy="308522"/>
            </a:xfrm>
          </p:grpSpPr>
          <p:sp>
            <p:nvSpPr>
              <p:cNvPr id="321" name="Shape 130"/>
              <p:cNvSpPr/>
              <p:nvPr/>
            </p:nvSpPr>
            <p:spPr>
              <a:xfrm flipV="1">
                <a:off x="352341" y="99474"/>
                <a:ext cx="603904" cy="1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2" name="Shape 141"/>
              <p:cNvSpPr txBox="1"/>
              <p:nvPr/>
            </p:nvSpPr>
            <p:spPr>
              <a:xfrm>
                <a:off x="-292518" y="0"/>
                <a:ext cx="556371" cy="30852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1200" b="1"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</p:txBody>
          </p:sp>
        </p:grpSp>
        <p:grpSp>
          <p:nvGrpSpPr>
            <p:cNvPr id="326" name="Group"/>
            <p:cNvGrpSpPr/>
            <p:nvPr/>
          </p:nvGrpSpPr>
          <p:grpSpPr>
            <a:xfrm>
              <a:off x="377488" y="394698"/>
              <a:ext cx="1408321" cy="2928929"/>
              <a:chOff x="0" y="0"/>
              <a:chExt cx="1408320" cy="2928927"/>
            </a:xfrm>
          </p:grpSpPr>
          <p:sp>
            <p:nvSpPr>
              <p:cNvPr id="324" name="Shape 146"/>
              <p:cNvSpPr/>
              <p:nvPr/>
            </p:nvSpPr>
            <p:spPr>
              <a:xfrm rot="377111">
                <a:off x="140309" y="285041"/>
                <a:ext cx="806756" cy="26075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861" extrusionOk="0">
                    <a:moveTo>
                      <a:pt x="21600" y="0"/>
                    </a:moveTo>
                    <a:cubicBezTo>
                      <a:pt x="19564" y="18030"/>
                      <a:pt x="12364" y="21600"/>
                      <a:pt x="0" y="10712"/>
                    </a:cubicBezTo>
                  </a:path>
                </a:pathLst>
              </a:custGeom>
              <a:noFill/>
              <a:ln w="25400" cap="flat">
                <a:solidFill>
                  <a:srgbClr val="578C2E"/>
                </a:solidFill>
                <a:prstDash val="solid"/>
                <a:bevel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5" name="Shape 127"/>
              <p:cNvSpPr/>
              <p:nvPr/>
            </p:nvSpPr>
            <p:spPr>
              <a:xfrm rot="36445">
                <a:off x="970021" y="2305"/>
                <a:ext cx="436644" cy="31470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581" y="42"/>
                    </a:lnTo>
                    <a:lnTo>
                      <a:pt x="21600" y="21600"/>
                    </a:lnTo>
                    <a:lnTo>
                      <a:pt x="19" y="21558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406823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</p:grpSp>
        <p:sp>
          <p:nvSpPr>
            <p:cNvPr id="327" name="Shape 125"/>
            <p:cNvSpPr txBox="1"/>
            <p:nvPr/>
          </p:nvSpPr>
          <p:spPr>
            <a:xfrm>
              <a:off x="459218" y="77018"/>
              <a:ext cx="1875431" cy="447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20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Normal Profits</a:t>
              </a:r>
            </a:p>
          </p:txBody>
        </p:sp>
      </p:grpSp>
      <p:grpSp>
        <p:nvGrpSpPr>
          <p:cNvPr id="359" name="Group"/>
          <p:cNvGrpSpPr/>
          <p:nvPr/>
        </p:nvGrpSpPr>
        <p:grpSpPr>
          <a:xfrm>
            <a:off x="6177983" y="283113"/>
            <a:ext cx="2435560" cy="4826597"/>
            <a:chOff x="0" y="-175377"/>
            <a:chExt cx="2435558" cy="4826596"/>
          </a:xfrm>
        </p:grpSpPr>
        <p:sp>
          <p:nvSpPr>
            <p:cNvPr id="329" name="Shape 143"/>
            <p:cNvSpPr/>
            <p:nvPr/>
          </p:nvSpPr>
          <p:spPr>
            <a:xfrm>
              <a:off x="241468" y="1581694"/>
              <a:ext cx="716865" cy="548664"/>
            </a:xfrm>
            <a:prstGeom prst="rect">
              <a:avLst/>
            </a:prstGeom>
            <a:solidFill>
              <a:schemeClr val="accent2">
                <a:lumOff val="11813"/>
              </a:schemeClr>
            </a:solidFill>
            <a:ln w="9525" cap="flat">
              <a:solidFill>
                <a:srgbClr val="BE4B48"/>
              </a:solidFill>
              <a:prstDash val="solid"/>
              <a:bevel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Shape 121"/>
            <p:cNvSpPr/>
            <p:nvPr/>
          </p:nvSpPr>
          <p:spPr>
            <a:xfrm flipH="1">
              <a:off x="218860" y="441040"/>
              <a:ext cx="26699" cy="3896005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bevel/>
              <a:headEnd type="triangle" w="med" len="med"/>
              <a:tailEnd type="non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Shape 122"/>
            <p:cNvSpPr/>
            <p:nvPr/>
          </p:nvSpPr>
          <p:spPr>
            <a:xfrm flipH="1">
              <a:off x="206459" y="4322925"/>
              <a:ext cx="2220145" cy="1"/>
            </a:xfrm>
            <a:prstGeom prst="line">
              <a:avLst/>
            </a:prstGeom>
            <a:noFill/>
            <a:ln w="28575" cap="flat">
              <a:solidFill>
                <a:srgbClr val="000000"/>
              </a:solidFill>
              <a:prstDash val="solid"/>
              <a:bevel/>
              <a:headEnd type="triangle" w="med" len="med"/>
              <a:tailEnd type="none" w="med" len="med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Shape 123"/>
            <p:cNvSpPr txBox="1"/>
            <p:nvPr/>
          </p:nvSpPr>
          <p:spPr>
            <a:xfrm>
              <a:off x="2113299" y="4379069"/>
              <a:ext cx="306659" cy="27215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0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333" name="Shape 124"/>
            <p:cNvSpPr txBox="1"/>
            <p:nvPr/>
          </p:nvSpPr>
          <p:spPr>
            <a:xfrm>
              <a:off x="0" y="263969"/>
              <a:ext cx="306658" cy="583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 sz="1000" b="1">
                  <a:latin typeface="Calibri"/>
                  <a:ea typeface="Calibri"/>
                  <a:cs typeface="Calibri"/>
                  <a:sym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R,</a:t>
              </a:r>
            </a:p>
            <a:p>
              <a:pPr>
                <a:defRPr sz="1000" b="1">
                  <a:latin typeface="Calibri"/>
                  <a:ea typeface="Calibri"/>
                  <a:cs typeface="Calibri"/>
                  <a:sym typeface="Calibri"/>
                </a:defRPr>
              </a:pPr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34" name="Shape 131"/>
            <p:cNvSpPr txBox="1"/>
            <p:nvPr/>
          </p:nvSpPr>
          <p:spPr>
            <a:xfrm>
              <a:off x="1029329" y="3488526"/>
              <a:ext cx="218457" cy="3430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15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</a:p>
          </p:txBody>
        </p:sp>
        <p:grpSp>
          <p:nvGrpSpPr>
            <p:cNvPr id="337" name="Group"/>
            <p:cNvGrpSpPr/>
            <p:nvPr/>
          </p:nvGrpSpPr>
          <p:grpSpPr>
            <a:xfrm>
              <a:off x="237896" y="1192945"/>
              <a:ext cx="1314909" cy="3046761"/>
              <a:chOff x="45516" y="-1"/>
              <a:chExt cx="1314908" cy="3046760"/>
            </a:xfrm>
          </p:grpSpPr>
          <p:sp>
            <p:nvSpPr>
              <p:cNvPr id="335" name="Shape 128"/>
              <p:cNvSpPr txBox="1"/>
              <p:nvPr/>
            </p:nvSpPr>
            <p:spPr>
              <a:xfrm>
                <a:off x="854162" y="2613319"/>
                <a:ext cx="506262" cy="4334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C7711B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MR</a:t>
                </a:r>
              </a:p>
            </p:txBody>
          </p:sp>
          <p:sp>
            <p:nvSpPr>
              <p:cNvPr id="336" name="Shape 133"/>
              <p:cNvSpPr/>
              <p:nvPr/>
            </p:nvSpPr>
            <p:spPr>
              <a:xfrm>
                <a:off x="45516" y="-1"/>
                <a:ext cx="818958" cy="2777751"/>
              </a:xfrm>
              <a:prstGeom prst="line">
                <a:avLst/>
              </a:prstGeom>
              <a:noFill/>
              <a:ln w="28575" cap="flat">
                <a:solidFill>
                  <a:srgbClr val="C7711B"/>
                </a:solidFill>
                <a:prstDash val="solid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340" name="Group"/>
            <p:cNvGrpSpPr/>
            <p:nvPr/>
          </p:nvGrpSpPr>
          <p:grpSpPr>
            <a:xfrm>
              <a:off x="698399" y="-57389"/>
              <a:ext cx="1568229" cy="2022549"/>
              <a:chOff x="0" y="-57388"/>
              <a:chExt cx="1568227" cy="2022547"/>
            </a:xfrm>
          </p:grpSpPr>
          <p:sp>
            <p:nvSpPr>
              <p:cNvPr id="338" name="Shape 145"/>
              <p:cNvSpPr/>
              <p:nvPr/>
            </p:nvSpPr>
            <p:spPr>
              <a:xfrm>
                <a:off x="0" y="195184"/>
                <a:ext cx="1130163" cy="17699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203" extrusionOk="0">
                    <a:moveTo>
                      <a:pt x="21600" y="0"/>
                    </a:moveTo>
                    <a:cubicBezTo>
                      <a:pt x="13860" y="21320"/>
                      <a:pt x="6660" y="21600"/>
                      <a:pt x="0" y="839"/>
                    </a:cubicBezTo>
                  </a:path>
                </a:pathLst>
              </a:custGeom>
              <a:noFill/>
              <a:ln w="25400" cap="flat">
                <a:solidFill>
                  <a:srgbClr val="A2110D"/>
                </a:solidFill>
                <a:prstDash val="solid"/>
                <a:bevel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9" name="Shape 136"/>
              <p:cNvSpPr txBox="1"/>
              <p:nvPr/>
            </p:nvSpPr>
            <p:spPr>
              <a:xfrm>
                <a:off x="1036841" y="-57388"/>
                <a:ext cx="531386" cy="271778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84143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</a:t>
                </a:r>
              </a:p>
            </p:txBody>
          </p:sp>
        </p:grpSp>
        <p:grpSp>
          <p:nvGrpSpPr>
            <p:cNvPr id="343" name="Group"/>
            <p:cNvGrpSpPr/>
            <p:nvPr/>
          </p:nvGrpSpPr>
          <p:grpSpPr>
            <a:xfrm>
              <a:off x="218861" y="1192945"/>
              <a:ext cx="2216697" cy="2932241"/>
              <a:chOff x="78649" y="-1"/>
              <a:chExt cx="2216696" cy="2932239"/>
            </a:xfrm>
          </p:grpSpPr>
          <p:sp>
            <p:nvSpPr>
              <p:cNvPr id="341" name="Shape 126"/>
              <p:cNvSpPr/>
              <p:nvPr/>
            </p:nvSpPr>
            <p:spPr>
              <a:xfrm>
                <a:off x="78649" y="-1"/>
                <a:ext cx="2216696" cy="2772325"/>
              </a:xfrm>
              <a:prstGeom prst="line">
                <a:avLst/>
              </a:prstGeom>
              <a:noFill/>
              <a:ln w="28575" cap="flat">
                <a:solidFill>
                  <a:srgbClr val="651A8C"/>
                </a:solidFill>
                <a:prstDash val="solid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2" name="Shape 138"/>
              <p:cNvSpPr txBox="1"/>
              <p:nvPr/>
            </p:nvSpPr>
            <p:spPr>
              <a:xfrm>
                <a:off x="1891368" y="2589214"/>
                <a:ext cx="383401" cy="34302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651A8C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</a:t>
                </a:r>
              </a:p>
            </p:txBody>
          </p:sp>
        </p:grpSp>
        <p:grpSp>
          <p:nvGrpSpPr>
            <p:cNvPr id="348" name="Group"/>
            <p:cNvGrpSpPr/>
            <p:nvPr/>
          </p:nvGrpSpPr>
          <p:grpSpPr>
            <a:xfrm>
              <a:off x="866106" y="1467379"/>
              <a:ext cx="365178" cy="3172237"/>
              <a:chOff x="0" y="0"/>
              <a:chExt cx="365177" cy="3172236"/>
            </a:xfrm>
          </p:grpSpPr>
          <p:sp>
            <p:nvSpPr>
              <p:cNvPr id="344" name="Shape 129"/>
              <p:cNvSpPr/>
              <p:nvPr/>
            </p:nvSpPr>
            <p:spPr>
              <a:xfrm flipH="1">
                <a:off x="80600" y="108380"/>
                <a:ext cx="1" cy="2721193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5" name="Shape 132"/>
              <p:cNvSpPr txBox="1"/>
              <p:nvPr/>
            </p:nvSpPr>
            <p:spPr>
              <a:xfrm>
                <a:off x="0" y="2829571"/>
                <a:ext cx="201625" cy="342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</a:t>
                </a:r>
              </a:p>
            </p:txBody>
          </p:sp>
          <p:sp>
            <p:nvSpPr>
              <p:cNvPr id="346" name="Shape 139"/>
              <p:cNvSpPr txBox="1"/>
              <p:nvPr/>
            </p:nvSpPr>
            <p:spPr>
              <a:xfrm>
                <a:off x="91316" y="0"/>
                <a:ext cx="236159" cy="342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347" name="Shape 140"/>
              <p:cNvSpPr txBox="1"/>
              <p:nvPr/>
            </p:nvSpPr>
            <p:spPr>
              <a:xfrm>
                <a:off x="80600" y="478957"/>
                <a:ext cx="284578" cy="34266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</a:p>
            </p:txBody>
          </p:sp>
        </p:grpSp>
        <p:grpSp>
          <p:nvGrpSpPr>
            <p:cNvPr id="351" name="Group"/>
            <p:cNvGrpSpPr/>
            <p:nvPr/>
          </p:nvGrpSpPr>
          <p:grpSpPr>
            <a:xfrm>
              <a:off x="58663" y="1963069"/>
              <a:ext cx="921396" cy="343024"/>
              <a:chOff x="0" y="0"/>
              <a:chExt cx="921395" cy="343022"/>
            </a:xfrm>
          </p:grpSpPr>
          <p:sp>
            <p:nvSpPr>
              <p:cNvPr id="349" name="Shape 130"/>
              <p:cNvSpPr/>
              <p:nvPr/>
            </p:nvSpPr>
            <p:spPr>
              <a:xfrm>
                <a:off x="195691" y="158840"/>
                <a:ext cx="725705" cy="2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0" name="Shape 141"/>
              <p:cNvSpPr txBox="1"/>
              <p:nvPr/>
            </p:nvSpPr>
            <p:spPr>
              <a:xfrm>
                <a:off x="0" y="0"/>
                <a:ext cx="236729" cy="3430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</a:p>
            </p:txBody>
          </p:sp>
        </p:grpSp>
        <p:grpSp>
          <p:nvGrpSpPr>
            <p:cNvPr id="354" name="Group"/>
            <p:cNvGrpSpPr/>
            <p:nvPr/>
          </p:nvGrpSpPr>
          <p:grpSpPr>
            <a:xfrm>
              <a:off x="34069" y="1405959"/>
              <a:ext cx="945990" cy="343024"/>
              <a:chOff x="0" y="0"/>
              <a:chExt cx="945989" cy="343022"/>
            </a:xfrm>
          </p:grpSpPr>
          <p:sp>
            <p:nvSpPr>
              <p:cNvPr id="352" name="Shape 137"/>
              <p:cNvSpPr/>
              <p:nvPr/>
            </p:nvSpPr>
            <p:spPr>
              <a:xfrm flipV="1">
                <a:off x="216478" y="184181"/>
                <a:ext cx="729512" cy="1"/>
              </a:xfrm>
              <a:prstGeom prst="line">
                <a:avLst/>
              </a:prstGeom>
              <a:noFill/>
              <a:ln w="28575" cap="flat">
                <a:solidFill>
                  <a:srgbClr val="4A7EBB"/>
                </a:solidFill>
                <a:prstDash val="dash"/>
                <a:bevel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3" name="Shape 142"/>
              <p:cNvSpPr txBox="1"/>
              <p:nvPr/>
            </p:nvSpPr>
            <p:spPr>
              <a:xfrm>
                <a:off x="0" y="0"/>
                <a:ext cx="296905" cy="343023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</a:p>
            </p:txBody>
          </p:sp>
        </p:grpSp>
        <p:grpSp>
          <p:nvGrpSpPr>
            <p:cNvPr id="357" name="Group"/>
            <p:cNvGrpSpPr/>
            <p:nvPr/>
          </p:nvGrpSpPr>
          <p:grpSpPr>
            <a:xfrm>
              <a:off x="458581" y="984915"/>
              <a:ext cx="1096456" cy="3072182"/>
              <a:chOff x="155042" y="2336"/>
              <a:chExt cx="1096454" cy="3072181"/>
            </a:xfrm>
          </p:grpSpPr>
          <p:sp>
            <p:nvSpPr>
              <p:cNvPr id="355" name="Shape 146"/>
              <p:cNvSpPr/>
              <p:nvPr/>
            </p:nvSpPr>
            <p:spPr>
              <a:xfrm rot="377111">
                <a:off x="155042" y="204168"/>
                <a:ext cx="690874" cy="28703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16849" extrusionOk="0">
                    <a:moveTo>
                      <a:pt x="21600" y="0"/>
                    </a:moveTo>
                    <a:cubicBezTo>
                      <a:pt x="21412" y="18058"/>
                      <a:pt x="14212" y="21600"/>
                      <a:pt x="0" y="10628"/>
                    </a:cubicBezTo>
                  </a:path>
                </a:pathLst>
              </a:custGeom>
              <a:noFill/>
              <a:ln w="25400" cap="flat">
                <a:solidFill>
                  <a:srgbClr val="578C2E"/>
                </a:solidFill>
                <a:prstDash val="solid"/>
                <a:bevel/>
              </a:ln>
              <a:effectLst>
                <a:outerShdw blurRad="38100" dist="20000" dir="5400000" rotWithShape="0">
                  <a:srgbClr val="000000">
                    <a:alpha val="38000"/>
                  </a:srgbClr>
                </a:outerShdw>
              </a:effectLst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>
                    <a:latin typeface="Calibri"/>
                    <a:ea typeface="Calibri"/>
                    <a:cs typeface="Calibri"/>
                    <a:sym typeface="Calibri"/>
                  </a:defRPr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6" name="Shape 127"/>
              <p:cNvSpPr/>
              <p:nvPr/>
            </p:nvSpPr>
            <p:spPr>
              <a:xfrm rot="36445">
                <a:off x="808540" y="2336"/>
                <a:ext cx="442956" cy="41870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21516" y="62"/>
                    </a:lnTo>
                    <a:lnTo>
                      <a:pt x="21600" y="21600"/>
                    </a:lnTo>
                    <a:lnTo>
                      <a:pt x="84" y="21538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Autofit/>
              </a:bodyPr>
              <a:lstStyle>
                <a:lvl1pPr>
                  <a:defRPr sz="1500" b="1">
                    <a:solidFill>
                      <a:srgbClr val="406823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</a:p>
            </p:txBody>
          </p:sp>
        </p:grpSp>
        <p:sp>
          <p:nvSpPr>
            <p:cNvPr id="358" name="Shape 125"/>
            <p:cNvSpPr txBox="1"/>
            <p:nvPr/>
          </p:nvSpPr>
          <p:spPr>
            <a:xfrm>
              <a:off x="658065" y="-175377"/>
              <a:ext cx="982664" cy="447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noAutofit/>
            </a:bodyPr>
            <a:lstStyle>
              <a:lvl1pPr>
                <a:defRPr sz="2000" b="1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r>
                <a:rPr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Sub-NP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5549472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" grpId="0" animBg="1" advAuto="0"/>
      <p:bldP spid="328" grpId="0" animBg="1" advAuto="0"/>
      <p:bldP spid="359" grpId="0" animBg="1" advAuto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Monopolistic Competition"/>
          <p:cNvSpPr txBox="1">
            <a:spLocks noGrp="1"/>
          </p:cNvSpPr>
          <p:nvPr>
            <p:ph type="ctrTitle"/>
          </p:nvPr>
        </p:nvSpPr>
        <p:spPr>
          <a:xfrm>
            <a:off x="685800" y="2748505"/>
            <a:ext cx="7772400" cy="1360991"/>
          </a:xfrm>
          <a:prstGeom prst="rect">
            <a:avLst/>
          </a:prstGeom>
        </p:spPr>
        <p:txBody>
          <a:bodyPr>
            <a:normAutofit/>
          </a:bodyPr>
          <a:lstStyle>
            <a:lvl1pPr defTabSz="768095">
              <a:defRPr sz="5040" b="1"/>
            </a:lvl1pPr>
          </a:lstStyle>
          <a:p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Monopolistic Competition</a:t>
            </a:r>
          </a:p>
        </p:txBody>
      </p:sp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187944" y="6286750"/>
            <a:ext cx="356955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34</a:t>
            </a:fld>
            <a:endParaRPr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oined by E.H. Chamberlain (USA - early1939)"/>
          <p:cNvSpPr txBox="1">
            <a:spLocks noGrp="1"/>
          </p:cNvSpPr>
          <p:nvPr>
            <p:ph type="ctrTitle"/>
          </p:nvPr>
        </p:nvSpPr>
        <p:spPr>
          <a:xfrm>
            <a:off x="400536" y="672899"/>
            <a:ext cx="8435463" cy="1274739"/>
          </a:xfrm>
          <a:prstGeom prst="rect">
            <a:avLst/>
          </a:prstGeom>
        </p:spPr>
        <p:txBody>
          <a:bodyPr/>
          <a:lstStyle/>
          <a:p>
            <a:pPr algn="just">
              <a:defRPr sz="3500" b="1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Coined by </a:t>
            </a:r>
            <a:r>
              <a:rPr sz="2800" dirty="0">
                <a:solidFill>
                  <a:srgbClr val="7A21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E.H. Chamberlin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(USA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1939)</a:t>
            </a:r>
          </a:p>
        </p:txBody>
      </p:sp>
      <p:sp>
        <p:nvSpPr>
          <p:cNvPr id="1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187944" y="6286750"/>
            <a:ext cx="356955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35</a:t>
            </a:fld>
            <a:endParaRPr/>
          </a:p>
        </p:txBody>
      </p:sp>
      <p:sp>
        <p:nvSpPr>
          <p:cNvPr id="114" name="It is a blending of :…"/>
          <p:cNvSpPr txBox="1"/>
          <p:nvPr/>
        </p:nvSpPr>
        <p:spPr>
          <a:xfrm>
            <a:off x="459563" y="2143480"/>
            <a:ext cx="8085336" cy="1285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 algn="just">
              <a:defRPr sz="3500" b="1"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is a blending of :</a:t>
            </a:r>
          </a:p>
          <a:p>
            <a:pPr algn="just">
              <a:defRPr sz="3500" b="1"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sz="2800">
                <a:solidFill>
                  <a:srgbClr val="012F7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Monopoly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2800">
                <a:solidFill>
                  <a:srgbClr val="7A219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Competition</a:t>
            </a:r>
          </a:p>
        </p:txBody>
      </p:sp>
      <p:sp>
        <p:nvSpPr>
          <p:cNvPr id="115" name="Most practiced market format currently"/>
          <p:cNvSpPr txBox="1"/>
          <p:nvPr/>
        </p:nvSpPr>
        <p:spPr>
          <a:xfrm>
            <a:off x="349188" y="3867426"/>
            <a:ext cx="8375894" cy="708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>
            <a:lvl1pPr algn="just">
              <a:defRPr sz="3500" b="1"/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Most practiced market format currently </a:t>
            </a:r>
          </a:p>
        </p:txBody>
      </p:sp>
      <p:sp>
        <p:nvSpPr>
          <p:cNvPr id="116" name="‘Imperfect Competition’ put forth by Joan Robinson (UK, late 1939):"/>
          <p:cNvSpPr txBox="1"/>
          <p:nvPr/>
        </p:nvSpPr>
        <p:spPr>
          <a:xfrm>
            <a:off x="349188" y="5193065"/>
            <a:ext cx="8342928" cy="122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pPr algn="just">
              <a:defRPr sz="3500" b="1"/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‘Imperfect Competition’ put forth by </a:t>
            </a:r>
            <a:r>
              <a:rPr sz="2800">
                <a:solidFill>
                  <a:srgbClr val="A968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Joan Robinson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 (UK, late 1939):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" grpId="0" animBg="1" advAuto="0"/>
      <p:bldP spid="115" grpId="0" animBg="1" advAuto="0"/>
      <p:bldP spid="116" grpId="0" animBg="1" advAuto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Monopolistic Competition"/>
          <p:cNvSpPr txBox="1">
            <a:spLocks noGrp="1"/>
          </p:cNvSpPr>
          <p:nvPr>
            <p:ph type="ctrTitle"/>
          </p:nvPr>
        </p:nvSpPr>
        <p:spPr>
          <a:xfrm>
            <a:off x="868024" y="186009"/>
            <a:ext cx="7772401" cy="600895"/>
          </a:xfrm>
          <a:prstGeom prst="rect">
            <a:avLst/>
          </a:prstGeom>
        </p:spPr>
        <p:txBody>
          <a:bodyPr>
            <a:normAutofit/>
          </a:bodyPr>
          <a:lstStyle>
            <a:lvl1pPr defTabSz="713231">
              <a:defRPr sz="3432"/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Monopolistic Competition</a:t>
            </a:r>
          </a:p>
        </p:txBody>
      </p:sp>
      <p:sp>
        <p:nvSpPr>
          <p:cNvPr id="119" name="Collective"/>
          <p:cNvSpPr txBox="1">
            <a:spLocks noGrp="1"/>
          </p:cNvSpPr>
          <p:nvPr>
            <p:ph type="subTitle" sz="quarter" idx="1"/>
          </p:nvPr>
        </p:nvSpPr>
        <p:spPr>
          <a:xfrm>
            <a:off x="297666" y="930990"/>
            <a:ext cx="2431526" cy="647403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153197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Collective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187944" y="6286750"/>
            <a:ext cx="356955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36</a:t>
            </a:fld>
            <a:endParaRPr/>
          </a:p>
        </p:txBody>
      </p:sp>
      <p:sp>
        <p:nvSpPr>
          <p:cNvPr id="121" name="Commodity"/>
          <p:cNvSpPr txBox="1"/>
          <p:nvPr/>
        </p:nvSpPr>
        <p:spPr>
          <a:xfrm>
            <a:off x="3164434" y="930990"/>
            <a:ext cx="2431527" cy="647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>
              <a:spcBef>
                <a:spcPts val="700"/>
              </a:spcBef>
              <a:defRPr sz="3200" b="1">
                <a:solidFill>
                  <a:srgbClr val="406823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Commodity</a:t>
            </a:r>
          </a:p>
        </p:txBody>
      </p:sp>
      <p:sp>
        <p:nvSpPr>
          <p:cNvPr id="122" name="Demand Curves"/>
          <p:cNvSpPr txBox="1"/>
          <p:nvPr/>
        </p:nvSpPr>
        <p:spPr>
          <a:xfrm>
            <a:off x="6102426" y="969092"/>
            <a:ext cx="2644472" cy="60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786384">
              <a:spcBef>
                <a:spcPts val="600"/>
              </a:spcBef>
              <a:defRPr sz="2752" b="1">
                <a:solidFill>
                  <a:srgbClr val="965612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Demand Curves</a:t>
            </a:r>
          </a:p>
        </p:txBody>
      </p:sp>
      <p:sp>
        <p:nvSpPr>
          <p:cNvPr id="123" name="Number of…"/>
          <p:cNvSpPr txBox="1"/>
          <p:nvPr/>
        </p:nvSpPr>
        <p:spPr>
          <a:xfrm>
            <a:off x="128888" y="1578392"/>
            <a:ext cx="2529081" cy="966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/>
          <a:p>
            <a:pPr algn="ctr" defTabSz="768095">
              <a:spcBef>
                <a:spcPts val="600"/>
              </a:spcBef>
              <a:defRPr sz="2688" b="1">
                <a:solidFill>
                  <a:srgbClr val="1F43C9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Number of </a:t>
            </a:r>
          </a:p>
          <a:p>
            <a:pPr algn="ctr" defTabSz="768095">
              <a:spcBef>
                <a:spcPts val="600"/>
              </a:spcBef>
              <a:defRPr sz="2688" b="1">
                <a:solidFill>
                  <a:srgbClr val="1F43C9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Sellers</a:t>
            </a:r>
          </a:p>
        </p:txBody>
      </p:sp>
      <p:sp>
        <p:nvSpPr>
          <p:cNvPr id="124" name="Group Concept"/>
          <p:cNvSpPr txBox="1"/>
          <p:nvPr/>
        </p:nvSpPr>
        <p:spPr>
          <a:xfrm>
            <a:off x="177665" y="2601570"/>
            <a:ext cx="2431527" cy="647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fontScale="92500"/>
          </a:bodyPr>
          <a:lstStyle>
            <a:lvl1pPr algn="ctr" defTabSz="749808">
              <a:spcBef>
                <a:spcPts val="600"/>
              </a:spcBef>
              <a:defRPr sz="2624" b="1">
                <a:solidFill>
                  <a:srgbClr val="1F43C9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Group Concept</a:t>
            </a:r>
          </a:p>
        </p:txBody>
      </p:sp>
      <p:sp>
        <p:nvSpPr>
          <p:cNvPr id="125" name="Interdependence among Sellers"/>
          <p:cNvSpPr txBox="1"/>
          <p:nvPr/>
        </p:nvSpPr>
        <p:spPr>
          <a:xfrm>
            <a:off x="128888" y="3258338"/>
            <a:ext cx="3035547" cy="895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lnSpcReduction="10000"/>
          </a:bodyPr>
          <a:lstStyle>
            <a:lvl1pPr algn="ctr" defTabSz="804672">
              <a:spcBef>
                <a:spcPts val="600"/>
              </a:spcBef>
              <a:defRPr sz="2816" b="1">
                <a:solidFill>
                  <a:srgbClr val="1F43C9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Interdependence among Sellers</a:t>
            </a:r>
          </a:p>
        </p:txBody>
      </p:sp>
      <p:sp>
        <p:nvSpPr>
          <p:cNvPr id="126" name="Product Differentiation"/>
          <p:cNvSpPr txBox="1"/>
          <p:nvPr/>
        </p:nvSpPr>
        <p:spPr>
          <a:xfrm>
            <a:off x="3164434" y="1578392"/>
            <a:ext cx="2431527" cy="806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Autofit/>
          </a:bodyPr>
          <a:lstStyle>
            <a:lvl1pPr algn="ctr" defTabSz="704087">
              <a:spcBef>
                <a:spcPts val="500"/>
              </a:spcBef>
              <a:defRPr sz="2464" b="1">
                <a:solidFill>
                  <a:srgbClr val="578C2E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Product Differentiation</a:t>
            </a:r>
          </a:p>
        </p:txBody>
      </p:sp>
      <p:sp>
        <p:nvSpPr>
          <p:cNvPr id="127" name="Selling Cost"/>
          <p:cNvSpPr txBox="1"/>
          <p:nvPr/>
        </p:nvSpPr>
        <p:spPr>
          <a:xfrm>
            <a:off x="3256552" y="2544597"/>
            <a:ext cx="2067078" cy="647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822959">
              <a:spcBef>
                <a:spcPts val="600"/>
              </a:spcBef>
              <a:defRPr sz="2880" b="1">
                <a:solidFill>
                  <a:srgbClr val="578C2E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Selling Cost</a:t>
            </a:r>
          </a:p>
        </p:txBody>
      </p:sp>
      <p:sp>
        <p:nvSpPr>
          <p:cNvPr id="128" name="aspirational…"/>
          <p:cNvSpPr txBox="1"/>
          <p:nvPr/>
        </p:nvSpPr>
        <p:spPr>
          <a:xfrm>
            <a:off x="6208898" y="1600210"/>
            <a:ext cx="2431527" cy="10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50000"/>
              </a:lnSpc>
              <a:spcBef>
                <a:spcPts val="700"/>
              </a:spcBef>
              <a:defRPr sz="3200" b="1">
                <a:solidFill>
                  <a:srgbClr val="C7711B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aspirational</a:t>
            </a:r>
          </a:p>
          <a:p>
            <a:pPr algn="ctr">
              <a:lnSpc>
                <a:spcPct val="50000"/>
              </a:lnSpc>
              <a:spcBef>
                <a:spcPts val="700"/>
              </a:spcBef>
              <a:defRPr sz="3200" b="1">
                <a:solidFill>
                  <a:srgbClr val="C7711B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drives</a:t>
            </a:r>
          </a:p>
        </p:txBody>
      </p:sp>
      <p:sp>
        <p:nvSpPr>
          <p:cNvPr id="129" name="Constraining…"/>
          <p:cNvSpPr txBox="1"/>
          <p:nvPr/>
        </p:nvSpPr>
        <p:spPr>
          <a:xfrm>
            <a:off x="6208898" y="2544597"/>
            <a:ext cx="2431527" cy="903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pPr algn="ctr">
              <a:lnSpc>
                <a:spcPct val="50000"/>
              </a:lnSpc>
              <a:spcBef>
                <a:spcPts val="700"/>
              </a:spcBef>
              <a:defRPr sz="3200" b="1">
                <a:solidFill>
                  <a:srgbClr val="D71A16"/>
                </a:solidFill>
              </a:defRPr>
            </a:pPr>
            <a:r>
              <a:rPr sz="2800" cap="small">
                <a:latin typeface="Times New Roman" panose="02020603050405020304" pitchFamily="18" charset="0"/>
                <a:cs typeface="Times New Roman" panose="02020603050405020304" pitchFamily="18" charset="0"/>
              </a:rPr>
              <a:t>Constraining</a:t>
            </a: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50000"/>
              </a:lnSpc>
              <a:spcBef>
                <a:spcPts val="700"/>
              </a:spcBef>
              <a:defRPr sz="3200" b="1" cap="small">
                <a:solidFill>
                  <a:srgbClr val="D71A16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</a:p>
        </p:txBody>
      </p:sp>
      <p:sp>
        <p:nvSpPr>
          <p:cNvPr id="130" name="and"/>
          <p:cNvSpPr txBox="1"/>
          <p:nvPr/>
        </p:nvSpPr>
        <p:spPr>
          <a:xfrm>
            <a:off x="6707753" y="2148570"/>
            <a:ext cx="1433815" cy="333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 fontScale="62500" lnSpcReduction="20000"/>
          </a:bodyPr>
          <a:lstStyle>
            <a:lvl1pPr algn="ctr" defTabSz="466344">
              <a:spcBef>
                <a:spcPts val="300"/>
              </a:spcBef>
              <a:defRPr sz="1632" b="1">
                <a:solidFill>
                  <a:srgbClr val="38571A"/>
                </a:solidFill>
              </a:defRPr>
            </a:lvl1pPr>
          </a:lstStyle>
          <a:p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</p:txBody>
      </p:sp>
      <p:sp>
        <p:nvSpPr>
          <p:cNvPr id="131" name="Competition…"/>
          <p:cNvSpPr txBox="1"/>
          <p:nvPr/>
        </p:nvSpPr>
        <p:spPr>
          <a:xfrm>
            <a:off x="3164434" y="3191999"/>
            <a:ext cx="2353373" cy="961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Autofit/>
          </a:bodyPr>
          <a:lstStyle/>
          <a:p>
            <a:pPr algn="ctr" defTabSz="768095">
              <a:spcBef>
                <a:spcPts val="600"/>
              </a:spcBef>
              <a:defRPr sz="2688" b="1">
                <a:solidFill>
                  <a:srgbClr val="578C2E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 Competition</a:t>
            </a:r>
          </a:p>
          <a:p>
            <a:pPr algn="ctr" defTabSz="768095">
              <a:spcBef>
                <a:spcPts val="600"/>
              </a:spcBef>
              <a:defRPr sz="2688" b="1">
                <a:solidFill>
                  <a:srgbClr val="578C2E"/>
                </a:solidFill>
              </a:defRPr>
            </a:pPr>
            <a:r>
              <a:rPr sz="2800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</a:p>
        </p:txBody>
      </p:sp>
      <p:sp>
        <p:nvSpPr>
          <p:cNvPr id="132" name="Different objectives &amp;  Pricing strategies possible"/>
          <p:cNvSpPr txBox="1"/>
          <p:nvPr/>
        </p:nvSpPr>
        <p:spPr>
          <a:xfrm>
            <a:off x="128888" y="4385448"/>
            <a:ext cx="3035547" cy="895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algn="ctr" defTabSz="539495">
              <a:spcBef>
                <a:spcPts val="400"/>
              </a:spcBef>
              <a:defRPr sz="1887" b="1">
                <a:solidFill>
                  <a:srgbClr val="1F43C9"/>
                </a:solidFill>
              </a:defRPr>
            </a:lvl1pPr>
          </a:lstStyle>
          <a:p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Different objectives &amp;  Pricing strategies possible</a:t>
            </a:r>
          </a:p>
        </p:txBody>
      </p:sp>
      <p:sp>
        <p:nvSpPr>
          <p:cNvPr id="133" name="R"/>
          <p:cNvSpPr txBox="1"/>
          <p:nvPr/>
        </p:nvSpPr>
        <p:spPr>
          <a:xfrm>
            <a:off x="7162876" y="4498634"/>
            <a:ext cx="287671" cy="2914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>
              <a:defRPr sz="2000" b="1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>
              <a:defRPr b="0"/>
            </a:pP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grpSp>
        <p:nvGrpSpPr>
          <p:cNvPr id="136" name="Group"/>
          <p:cNvGrpSpPr/>
          <p:nvPr/>
        </p:nvGrpSpPr>
        <p:grpSpPr>
          <a:xfrm>
            <a:off x="6102426" y="4416029"/>
            <a:ext cx="2566555" cy="797087"/>
            <a:chOff x="0" y="0"/>
            <a:chExt cx="2566554" cy="797086"/>
          </a:xfrm>
        </p:grpSpPr>
        <p:sp>
          <p:nvSpPr>
            <p:cNvPr id="134" name="Shape"/>
            <p:cNvSpPr/>
            <p:nvPr/>
          </p:nvSpPr>
          <p:spPr>
            <a:xfrm>
              <a:off x="0" y="0"/>
              <a:ext cx="2291444" cy="797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" y="0"/>
                  </a:moveTo>
                  <a:lnTo>
                    <a:pt x="21600" y="21221"/>
                  </a:lnTo>
                  <a:lnTo>
                    <a:pt x="21466" y="21600"/>
                  </a:lnTo>
                  <a:lnTo>
                    <a:pt x="0" y="379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953735"/>
            </a:solidFill>
            <a:ln w="3175" cap="flat">
              <a:solidFill>
                <a:srgbClr val="95373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d"/>
            <p:cNvSpPr txBox="1"/>
            <p:nvPr/>
          </p:nvSpPr>
          <p:spPr>
            <a:xfrm>
              <a:off x="2292554" y="538393"/>
              <a:ext cx="274001" cy="247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20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/>
              </a:pPr>
              <a:r>
                <a:rPr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39" name="Group"/>
          <p:cNvGrpSpPr/>
          <p:nvPr/>
        </p:nvGrpSpPr>
        <p:grpSpPr>
          <a:xfrm>
            <a:off x="6760017" y="3630821"/>
            <a:ext cx="805719" cy="2306553"/>
            <a:chOff x="0" y="0"/>
            <a:chExt cx="805718" cy="2306552"/>
          </a:xfrm>
        </p:grpSpPr>
        <p:sp>
          <p:nvSpPr>
            <p:cNvPr id="137" name="Shape"/>
            <p:cNvSpPr/>
            <p:nvPr/>
          </p:nvSpPr>
          <p:spPr>
            <a:xfrm>
              <a:off x="42185" y="285223"/>
              <a:ext cx="763534" cy="2021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" y="0"/>
                  </a:moveTo>
                  <a:lnTo>
                    <a:pt x="3567" y="2424"/>
                  </a:lnTo>
                  <a:lnTo>
                    <a:pt x="2260" y="2497"/>
                  </a:lnTo>
                  <a:lnTo>
                    <a:pt x="0" y="58"/>
                  </a:lnTo>
                  <a:lnTo>
                    <a:pt x="1306" y="0"/>
                  </a:lnTo>
                  <a:close/>
                  <a:moveTo>
                    <a:pt x="4420" y="3339"/>
                  </a:moveTo>
                  <a:lnTo>
                    <a:pt x="6731" y="5777"/>
                  </a:lnTo>
                  <a:lnTo>
                    <a:pt x="5425" y="5835"/>
                  </a:lnTo>
                  <a:lnTo>
                    <a:pt x="3114" y="3411"/>
                  </a:lnTo>
                  <a:lnTo>
                    <a:pt x="4420" y="3339"/>
                  </a:lnTo>
                  <a:close/>
                  <a:moveTo>
                    <a:pt x="7585" y="6677"/>
                  </a:moveTo>
                  <a:lnTo>
                    <a:pt x="9896" y="9116"/>
                  </a:lnTo>
                  <a:lnTo>
                    <a:pt x="8590" y="9189"/>
                  </a:lnTo>
                  <a:lnTo>
                    <a:pt x="6279" y="6750"/>
                  </a:lnTo>
                  <a:lnTo>
                    <a:pt x="7585" y="6677"/>
                  </a:lnTo>
                  <a:close/>
                  <a:moveTo>
                    <a:pt x="10750" y="10031"/>
                  </a:moveTo>
                  <a:lnTo>
                    <a:pt x="13010" y="12455"/>
                  </a:lnTo>
                  <a:lnTo>
                    <a:pt x="11704" y="12527"/>
                  </a:lnTo>
                  <a:lnTo>
                    <a:pt x="9444" y="10089"/>
                  </a:lnTo>
                  <a:lnTo>
                    <a:pt x="10750" y="10031"/>
                  </a:lnTo>
                  <a:close/>
                  <a:moveTo>
                    <a:pt x="13864" y="13369"/>
                  </a:moveTo>
                  <a:lnTo>
                    <a:pt x="16175" y="15808"/>
                  </a:lnTo>
                  <a:lnTo>
                    <a:pt x="14869" y="15866"/>
                  </a:lnTo>
                  <a:lnTo>
                    <a:pt x="12558" y="13442"/>
                  </a:lnTo>
                  <a:lnTo>
                    <a:pt x="13864" y="13369"/>
                  </a:lnTo>
                  <a:close/>
                  <a:moveTo>
                    <a:pt x="17029" y="16708"/>
                  </a:moveTo>
                  <a:lnTo>
                    <a:pt x="19340" y="19147"/>
                  </a:lnTo>
                  <a:lnTo>
                    <a:pt x="18033" y="19205"/>
                  </a:lnTo>
                  <a:lnTo>
                    <a:pt x="15723" y="16781"/>
                  </a:lnTo>
                  <a:lnTo>
                    <a:pt x="17029" y="16708"/>
                  </a:lnTo>
                  <a:close/>
                  <a:moveTo>
                    <a:pt x="20193" y="20061"/>
                  </a:moveTo>
                  <a:lnTo>
                    <a:pt x="21600" y="21542"/>
                  </a:lnTo>
                  <a:lnTo>
                    <a:pt x="20294" y="21600"/>
                  </a:lnTo>
                  <a:lnTo>
                    <a:pt x="18887" y="20119"/>
                  </a:lnTo>
                  <a:lnTo>
                    <a:pt x="20193" y="20061"/>
                  </a:lnTo>
                  <a:close/>
                </a:path>
              </a:pathLst>
            </a:custGeom>
            <a:solidFill>
              <a:srgbClr val="5B6313"/>
            </a:solidFill>
            <a:ln w="3175" cap="flat">
              <a:solidFill>
                <a:srgbClr val="17375E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D"/>
            <p:cNvSpPr txBox="1"/>
            <p:nvPr/>
          </p:nvSpPr>
          <p:spPr>
            <a:xfrm>
              <a:off x="0" y="0"/>
              <a:ext cx="423951" cy="283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20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/>
              </a:pPr>
              <a:r>
                <a:rPr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</a:p>
          </p:txBody>
        </p:sp>
      </p:grpSp>
      <p:grpSp>
        <p:nvGrpSpPr>
          <p:cNvPr id="144" name="Group"/>
          <p:cNvGrpSpPr/>
          <p:nvPr/>
        </p:nvGrpSpPr>
        <p:grpSpPr>
          <a:xfrm>
            <a:off x="5703808" y="3506945"/>
            <a:ext cx="3229092" cy="2947678"/>
            <a:chOff x="0" y="0"/>
            <a:chExt cx="3229090" cy="2947677"/>
          </a:xfrm>
        </p:grpSpPr>
        <p:sp>
          <p:nvSpPr>
            <p:cNvPr id="140" name="P"/>
            <p:cNvSpPr txBox="1"/>
            <p:nvPr/>
          </p:nvSpPr>
          <p:spPr>
            <a:xfrm>
              <a:off x="0" y="239690"/>
              <a:ext cx="266884" cy="231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20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/>
              </a:pPr>
              <a:r>
                <a:rPr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141" name="Qty"/>
            <p:cNvSpPr txBox="1"/>
            <p:nvPr/>
          </p:nvSpPr>
          <p:spPr>
            <a:xfrm>
              <a:off x="2241355" y="2645968"/>
              <a:ext cx="485562" cy="301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16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Qty</a:t>
              </a:r>
            </a:p>
          </p:txBody>
        </p:sp>
        <p:sp>
          <p:nvSpPr>
            <p:cNvPr id="142" name="Line"/>
            <p:cNvSpPr/>
            <p:nvPr/>
          </p:nvSpPr>
          <p:spPr>
            <a:xfrm>
              <a:off x="266884" y="2645968"/>
              <a:ext cx="2962207" cy="1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bevel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Line"/>
            <p:cNvSpPr/>
            <p:nvPr/>
          </p:nvSpPr>
          <p:spPr>
            <a:xfrm flipV="1">
              <a:off x="266883" y="-1"/>
              <a:ext cx="1" cy="266930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bevel/>
              <a:tailEnd type="triangle" w="med" len="med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457200">
                <a:defRPr sz="1200">
                  <a:latin typeface="+mn-lt"/>
                  <a:ea typeface="+mn-ea"/>
                  <a:cs typeface="+mn-cs"/>
                  <a:sym typeface="Helvetica"/>
                </a:defRPr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7" name="Group"/>
          <p:cNvGrpSpPr/>
          <p:nvPr/>
        </p:nvGrpSpPr>
        <p:grpSpPr>
          <a:xfrm>
            <a:off x="6035077" y="4814572"/>
            <a:ext cx="2566555" cy="797088"/>
            <a:chOff x="0" y="0"/>
            <a:chExt cx="2566554" cy="797086"/>
          </a:xfrm>
        </p:grpSpPr>
        <p:sp>
          <p:nvSpPr>
            <p:cNvPr id="145" name="Shape"/>
            <p:cNvSpPr/>
            <p:nvPr/>
          </p:nvSpPr>
          <p:spPr>
            <a:xfrm>
              <a:off x="0" y="0"/>
              <a:ext cx="2291444" cy="7970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4" y="0"/>
                  </a:moveTo>
                  <a:lnTo>
                    <a:pt x="21600" y="21221"/>
                  </a:lnTo>
                  <a:lnTo>
                    <a:pt x="21466" y="21600"/>
                  </a:lnTo>
                  <a:lnTo>
                    <a:pt x="0" y="379"/>
                  </a:lnTo>
                  <a:lnTo>
                    <a:pt x="134" y="0"/>
                  </a:lnTo>
                  <a:close/>
                </a:path>
              </a:pathLst>
            </a:custGeom>
            <a:solidFill>
              <a:srgbClr val="953735"/>
            </a:solidFill>
            <a:ln w="50800" cap="flat">
              <a:solidFill>
                <a:srgbClr val="0056D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d1"/>
            <p:cNvSpPr txBox="1"/>
            <p:nvPr/>
          </p:nvSpPr>
          <p:spPr>
            <a:xfrm>
              <a:off x="2292554" y="538393"/>
              <a:ext cx="274001" cy="24746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20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r>
                <a:rPr>
                  <a:latin typeface="Times New Roman" panose="02020603050405020304" pitchFamily="18" charset="0"/>
                  <a:cs typeface="Times New Roman" panose="02020603050405020304" pitchFamily="18" charset="0"/>
                </a:rPr>
                <a:t>d1</a:t>
              </a:r>
            </a:p>
          </p:txBody>
        </p:sp>
      </p:grpSp>
      <p:grpSp>
        <p:nvGrpSpPr>
          <p:cNvPr id="150" name="Group"/>
          <p:cNvGrpSpPr/>
          <p:nvPr/>
        </p:nvGrpSpPr>
        <p:grpSpPr>
          <a:xfrm>
            <a:off x="7229542" y="3506945"/>
            <a:ext cx="805720" cy="2306553"/>
            <a:chOff x="0" y="0"/>
            <a:chExt cx="805718" cy="2306552"/>
          </a:xfrm>
        </p:grpSpPr>
        <p:sp>
          <p:nvSpPr>
            <p:cNvPr id="148" name="Shape"/>
            <p:cNvSpPr/>
            <p:nvPr/>
          </p:nvSpPr>
          <p:spPr>
            <a:xfrm>
              <a:off x="42185" y="285223"/>
              <a:ext cx="763534" cy="2021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06" y="0"/>
                  </a:moveTo>
                  <a:lnTo>
                    <a:pt x="3567" y="2424"/>
                  </a:lnTo>
                  <a:lnTo>
                    <a:pt x="2260" y="2497"/>
                  </a:lnTo>
                  <a:lnTo>
                    <a:pt x="0" y="58"/>
                  </a:lnTo>
                  <a:lnTo>
                    <a:pt x="1306" y="0"/>
                  </a:lnTo>
                  <a:close/>
                  <a:moveTo>
                    <a:pt x="4420" y="3339"/>
                  </a:moveTo>
                  <a:lnTo>
                    <a:pt x="6731" y="5777"/>
                  </a:lnTo>
                  <a:lnTo>
                    <a:pt x="5425" y="5835"/>
                  </a:lnTo>
                  <a:lnTo>
                    <a:pt x="3114" y="3411"/>
                  </a:lnTo>
                  <a:lnTo>
                    <a:pt x="4420" y="3339"/>
                  </a:lnTo>
                  <a:close/>
                  <a:moveTo>
                    <a:pt x="7585" y="6677"/>
                  </a:moveTo>
                  <a:lnTo>
                    <a:pt x="9896" y="9116"/>
                  </a:lnTo>
                  <a:lnTo>
                    <a:pt x="8590" y="9189"/>
                  </a:lnTo>
                  <a:lnTo>
                    <a:pt x="6279" y="6750"/>
                  </a:lnTo>
                  <a:lnTo>
                    <a:pt x="7585" y="6677"/>
                  </a:lnTo>
                  <a:close/>
                  <a:moveTo>
                    <a:pt x="10750" y="10031"/>
                  </a:moveTo>
                  <a:lnTo>
                    <a:pt x="13010" y="12455"/>
                  </a:lnTo>
                  <a:lnTo>
                    <a:pt x="11704" y="12527"/>
                  </a:lnTo>
                  <a:lnTo>
                    <a:pt x="9444" y="10089"/>
                  </a:lnTo>
                  <a:lnTo>
                    <a:pt x="10750" y="10031"/>
                  </a:lnTo>
                  <a:close/>
                  <a:moveTo>
                    <a:pt x="13864" y="13369"/>
                  </a:moveTo>
                  <a:lnTo>
                    <a:pt x="16175" y="15808"/>
                  </a:lnTo>
                  <a:lnTo>
                    <a:pt x="14869" y="15866"/>
                  </a:lnTo>
                  <a:lnTo>
                    <a:pt x="12558" y="13442"/>
                  </a:lnTo>
                  <a:lnTo>
                    <a:pt x="13864" y="13369"/>
                  </a:lnTo>
                  <a:close/>
                  <a:moveTo>
                    <a:pt x="17029" y="16708"/>
                  </a:moveTo>
                  <a:lnTo>
                    <a:pt x="19340" y="19147"/>
                  </a:lnTo>
                  <a:lnTo>
                    <a:pt x="18033" y="19205"/>
                  </a:lnTo>
                  <a:lnTo>
                    <a:pt x="15723" y="16781"/>
                  </a:lnTo>
                  <a:lnTo>
                    <a:pt x="17029" y="16708"/>
                  </a:lnTo>
                  <a:close/>
                  <a:moveTo>
                    <a:pt x="20193" y="20061"/>
                  </a:moveTo>
                  <a:lnTo>
                    <a:pt x="21600" y="21542"/>
                  </a:lnTo>
                  <a:lnTo>
                    <a:pt x="20294" y="21600"/>
                  </a:lnTo>
                  <a:lnTo>
                    <a:pt x="18887" y="20119"/>
                  </a:lnTo>
                  <a:lnTo>
                    <a:pt x="20193" y="20061"/>
                  </a:lnTo>
                  <a:close/>
                </a:path>
              </a:pathLst>
            </a:custGeom>
            <a:solidFill>
              <a:srgbClr val="5B6313"/>
            </a:solidFill>
            <a:ln w="50800" cap="flat">
              <a:solidFill>
                <a:srgbClr val="61187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2800"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9" name="D1"/>
            <p:cNvSpPr txBox="1"/>
            <p:nvPr/>
          </p:nvSpPr>
          <p:spPr>
            <a:xfrm>
              <a:off x="0" y="0"/>
              <a:ext cx="423951" cy="2836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noAutofit/>
            </a:bodyPr>
            <a:lstStyle>
              <a:lvl1pPr>
                <a:defRPr sz="2000" b="1"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>
                <a:defRPr b="0"/>
              </a:pPr>
              <a:r>
                <a:rPr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D1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 advAuto="0"/>
      <p:bldP spid="121" grpId="0" animBg="1" advAuto="0"/>
      <p:bldP spid="122" grpId="0" animBg="1" advAuto="0"/>
      <p:bldP spid="123" grpId="0" animBg="1" advAuto="0"/>
      <p:bldP spid="124" grpId="0" animBg="1" advAuto="0"/>
      <p:bldP spid="125" grpId="0" animBg="1" advAuto="0"/>
      <p:bldP spid="126" grpId="0" animBg="1" advAuto="0"/>
      <p:bldP spid="127" grpId="0" animBg="1" advAuto="0"/>
      <p:bldP spid="128" grpId="0" animBg="1" advAuto="0"/>
      <p:bldP spid="129" grpId="0" animBg="1" advAuto="0"/>
      <p:bldP spid="130" grpId="0" animBg="1" advAuto="0"/>
      <p:bldP spid="131" grpId="0" animBg="1" advAuto="0"/>
      <p:bldP spid="132" grpId="0" animBg="1" advAuto="0"/>
      <p:bldP spid="133" grpId="0" animBg="1" advAuto="0"/>
      <p:bldP spid="136" grpId="0" animBg="1" advAuto="0"/>
      <p:bldP spid="139" grpId="0" animBg="1" advAuto="0"/>
      <p:bldP spid="144" grpId="0" animBg="1" advAuto="0"/>
      <p:bldP spid="147" grpId="0" animBg="1" advAuto="0"/>
      <p:bldP spid="150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82000" y="6177280"/>
            <a:ext cx="304800" cy="358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>
            <a:lvl1pPr>
              <a:defRPr sz="1800" b="1"/>
            </a:lvl1pPr>
          </a:lstStyle>
          <a:p>
            <a:pPr>
              <a:defRPr sz="1200" b="0"/>
            </a:pPr>
            <a:fld id="{86CB4B4D-7CA3-9044-876B-883B54F8677D}" type="slidenum">
              <a:rPr sz="1800" b="1"/>
              <a:t>37</a:t>
            </a:fld>
            <a:endParaRPr sz="1800" b="1"/>
          </a:p>
        </p:txBody>
      </p:sp>
      <p:sp>
        <p:nvSpPr>
          <p:cNvPr id="157" name="Shape"/>
          <p:cNvSpPr/>
          <p:nvPr/>
        </p:nvSpPr>
        <p:spPr>
          <a:xfrm>
            <a:off x="1413510" y="1922346"/>
            <a:ext cx="112713" cy="3856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77" y="21600"/>
                </a:moveTo>
                <a:lnTo>
                  <a:pt x="12777" y="427"/>
                </a:lnTo>
                <a:lnTo>
                  <a:pt x="9127" y="427"/>
                </a:lnTo>
                <a:lnTo>
                  <a:pt x="9127" y="21600"/>
                </a:lnTo>
                <a:lnTo>
                  <a:pt x="12777" y="21600"/>
                </a:lnTo>
                <a:close/>
                <a:moveTo>
                  <a:pt x="21600" y="507"/>
                </a:moveTo>
                <a:lnTo>
                  <a:pt x="10952" y="0"/>
                </a:lnTo>
                <a:lnTo>
                  <a:pt x="0" y="507"/>
                </a:lnTo>
                <a:lnTo>
                  <a:pt x="21600" y="507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 sz="2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Shape"/>
          <p:cNvSpPr/>
          <p:nvPr/>
        </p:nvSpPr>
        <p:spPr>
          <a:xfrm>
            <a:off x="1470660" y="5732345"/>
            <a:ext cx="5481638" cy="92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8938"/>
                </a:moveTo>
                <a:lnTo>
                  <a:pt x="21237" y="8938"/>
                </a:lnTo>
                <a:lnTo>
                  <a:pt x="21237" y="12662"/>
                </a:lnTo>
                <a:lnTo>
                  <a:pt x="0" y="12662"/>
                </a:lnTo>
                <a:lnTo>
                  <a:pt x="0" y="8938"/>
                </a:lnTo>
                <a:close/>
                <a:moveTo>
                  <a:pt x="21162" y="0"/>
                </a:moveTo>
                <a:lnTo>
                  <a:pt x="21600" y="10800"/>
                </a:lnTo>
                <a:lnTo>
                  <a:pt x="21162" y="21600"/>
                </a:lnTo>
                <a:lnTo>
                  <a:pt x="21162" y="0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 sz="2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D2"/>
          <p:cNvSpPr txBox="1"/>
          <p:nvPr/>
        </p:nvSpPr>
        <p:spPr>
          <a:xfrm>
            <a:off x="2820431" y="1933458"/>
            <a:ext cx="464693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0" name="Price"/>
          <p:cNvSpPr txBox="1"/>
          <p:nvPr/>
        </p:nvSpPr>
        <p:spPr>
          <a:xfrm>
            <a:off x="565058" y="1921498"/>
            <a:ext cx="681277" cy="3693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/>
            </a:lvl1pPr>
          </a:lstStyle>
          <a:p>
            <a:pPr>
              <a:defRPr b="0"/>
            </a:pP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61" name="Qty"/>
          <p:cNvSpPr txBox="1"/>
          <p:nvPr/>
        </p:nvSpPr>
        <p:spPr>
          <a:xfrm>
            <a:off x="6069647" y="5832357"/>
            <a:ext cx="578685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62" name="Shape"/>
          <p:cNvSpPr/>
          <p:nvPr/>
        </p:nvSpPr>
        <p:spPr>
          <a:xfrm>
            <a:off x="2425541" y="2736579"/>
            <a:ext cx="3571876" cy="17208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" y="0"/>
                </a:moveTo>
                <a:lnTo>
                  <a:pt x="21600" y="21221"/>
                </a:lnTo>
                <a:lnTo>
                  <a:pt x="21466" y="21600"/>
                </a:lnTo>
                <a:lnTo>
                  <a:pt x="0" y="379"/>
                </a:lnTo>
                <a:lnTo>
                  <a:pt x="134" y="0"/>
                </a:lnTo>
                <a:close/>
              </a:path>
            </a:pathLst>
          </a:custGeom>
          <a:solidFill>
            <a:srgbClr val="953735"/>
          </a:solidFill>
          <a:ln w="3175">
            <a:solidFill>
              <a:srgbClr val="953735"/>
            </a:solidFill>
          </a:ln>
        </p:spPr>
        <p:txBody>
          <a:bodyPr lIns="45719" rIns="45719"/>
          <a:lstStyle/>
          <a:p>
            <a:pPr>
              <a:defRPr sz="2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Shape"/>
          <p:cNvSpPr/>
          <p:nvPr/>
        </p:nvSpPr>
        <p:spPr>
          <a:xfrm>
            <a:off x="3108665" y="2352069"/>
            <a:ext cx="836908" cy="2896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" y="0"/>
                </a:moveTo>
                <a:lnTo>
                  <a:pt x="3567" y="2424"/>
                </a:lnTo>
                <a:lnTo>
                  <a:pt x="2260" y="2497"/>
                </a:lnTo>
                <a:lnTo>
                  <a:pt x="0" y="58"/>
                </a:lnTo>
                <a:lnTo>
                  <a:pt x="1306" y="0"/>
                </a:lnTo>
                <a:close/>
                <a:moveTo>
                  <a:pt x="4420" y="3339"/>
                </a:moveTo>
                <a:lnTo>
                  <a:pt x="6731" y="5777"/>
                </a:lnTo>
                <a:lnTo>
                  <a:pt x="5425" y="5835"/>
                </a:lnTo>
                <a:lnTo>
                  <a:pt x="3114" y="3411"/>
                </a:lnTo>
                <a:lnTo>
                  <a:pt x="4420" y="3339"/>
                </a:lnTo>
                <a:close/>
                <a:moveTo>
                  <a:pt x="7585" y="6677"/>
                </a:moveTo>
                <a:lnTo>
                  <a:pt x="9896" y="9116"/>
                </a:lnTo>
                <a:lnTo>
                  <a:pt x="8590" y="9189"/>
                </a:lnTo>
                <a:lnTo>
                  <a:pt x="6279" y="6750"/>
                </a:lnTo>
                <a:lnTo>
                  <a:pt x="7585" y="6677"/>
                </a:lnTo>
                <a:close/>
                <a:moveTo>
                  <a:pt x="10750" y="10031"/>
                </a:moveTo>
                <a:lnTo>
                  <a:pt x="13010" y="12455"/>
                </a:lnTo>
                <a:lnTo>
                  <a:pt x="11704" y="12527"/>
                </a:lnTo>
                <a:lnTo>
                  <a:pt x="9444" y="10089"/>
                </a:lnTo>
                <a:lnTo>
                  <a:pt x="10750" y="10031"/>
                </a:lnTo>
                <a:close/>
                <a:moveTo>
                  <a:pt x="13864" y="13369"/>
                </a:moveTo>
                <a:lnTo>
                  <a:pt x="16175" y="15808"/>
                </a:lnTo>
                <a:lnTo>
                  <a:pt x="14869" y="15866"/>
                </a:lnTo>
                <a:lnTo>
                  <a:pt x="12558" y="13442"/>
                </a:lnTo>
                <a:lnTo>
                  <a:pt x="13864" y="13369"/>
                </a:lnTo>
                <a:close/>
                <a:moveTo>
                  <a:pt x="17029" y="16708"/>
                </a:moveTo>
                <a:lnTo>
                  <a:pt x="19340" y="19147"/>
                </a:lnTo>
                <a:lnTo>
                  <a:pt x="18033" y="19205"/>
                </a:lnTo>
                <a:lnTo>
                  <a:pt x="15723" y="16781"/>
                </a:lnTo>
                <a:lnTo>
                  <a:pt x="17029" y="16708"/>
                </a:lnTo>
                <a:close/>
                <a:moveTo>
                  <a:pt x="20193" y="20061"/>
                </a:moveTo>
                <a:lnTo>
                  <a:pt x="21600" y="21542"/>
                </a:lnTo>
                <a:lnTo>
                  <a:pt x="20294" y="21600"/>
                </a:lnTo>
                <a:lnTo>
                  <a:pt x="18887" y="20119"/>
                </a:lnTo>
                <a:lnTo>
                  <a:pt x="20193" y="20061"/>
                </a:lnTo>
                <a:close/>
              </a:path>
            </a:pathLst>
          </a:custGeom>
          <a:solidFill>
            <a:srgbClr val="D71A16"/>
          </a:solidFill>
          <a:ln w="3175">
            <a:solidFill>
              <a:srgbClr val="17375E"/>
            </a:solidFill>
          </a:ln>
        </p:spPr>
        <p:txBody>
          <a:bodyPr lIns="45719" rIns="45719"/>
          <a:lstStyle/>
          <a:p>
            <a:pPr>
              <a:defRPr sz="2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" name="R1"/>
          <p:cNvSpPr txBox="1"/>
          <p:nvPr/>
        </p:nvSpPr>
        <p:spPr>
          <a:xfrm>
            <a:off x="4138545" y="3175801"/>
            <a:ext cx="394126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5" name="MONOPOLISTIC COMPETITION - GROUP DYNAMICS"/>
          <p:cNvSpPr txBox="1">
            <a:spLocks noGrp="1"/>
          </p:cNvSpPr>
          <p:nvPr>
            <p:ph type="ctrTitle"/>
          </p:nvPr>
        </p:nvSpPr>
        <p:spPr>
          <a:xfrm>
            <a:off x="1969864" y="140225"/>
            <a:ext cx="5356672" cy="521407"/>
          </a:xfrm>
          <a:prstGeom prst="rect">
            <a:avLst/>
          </a:prstGeom>
        </p:spPr>
        <p:txBody>
          <a:bodyPr/>
          <a:lstStyle>
            <a:lvl1pPr>
              <a:defRPr sz="1500" b="1"/>
            </a:lvl1pPr>
          </a:lstStyle>
          <a:p>
            <a:pPr>
              <a:defRPr b="0"/>
            </a:pPr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MONOPOLISTIC COMPETITION - GROUP DYNAMICS</a:t>
            </a:r>
          </a:p>
        </p:txBody>
      </p:sp>
      <p:sp>
        <p:nvSpPr>
          <p:cNvPr id="166" name="Shape"/>
          <p:cNvSpPr/>
          <p:nvPr/>
        </p:nvSpPr>
        <p:spPr>
          <a:xfrm>
            <a:off x="2161154" y="3431800"/>
            <a:ext cx="3512451" cy="16506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" y="0"/>
                </a:moveTo>
                <a:lnTo>
                  <a:pt x="21600" y="21221"/>
                </a:lnTo>
                <a:lnTo>
                  <a:pt x="21466" y="21600"/>
                </a:lnTo>
                <a:lnTo>
                  <a:pt x="0" y="379"/>
                </a:lnTo>
                <a:lnTo>
                  <a:pt x="134" y="0"/>
                </a:lnTo>
                <a:close/>
              </a:path>
            </a:pathLst>
          </a:custGeom>
          <a:solidFill>
            <a:srgbClr val="1F43C9"/>
          </a:solidFill>
          <a:ln w="3175">
            <a:solidFill>
              <a:srgbClr val="953735"/>
            </a:solidFill>
          </a:ln>
        </p:spPr>
        <p:txBody>
          <a:bodyPr lIns="45719" rIns="45719"/>
          <a:lstStyle/>
          <a:p>
            <a:pPr>
              <a:defRPr sz="2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7" name="d1"/>
          <p:cNvSpPr txBox="1"/>
          <p:nvPr/>
        </p:nvSpPr>
        <p:spPr>
          <a:xfrm>
            <a:off x="6069647" y="4131412"/>
            <a:ext cx="427108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8" name="d2"/>
          <p:cNvSpPr txBox="1"/>
          <p:nvPr/>
        </p:nvSpPr>
        <p:spPr>
          <a:xfrm>
            <a:off x="5785141" y="4844932"/>
            <a:ext cx="427108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69" name="Shape"/>
          <p:cNvSpPr/>
          <p:nvPr/>
        </p:nvSpPr>
        <p:spPr>
          <a:xfrm>
            <a:off x="3720093" y="2277317"/>
            <a:ext cx="836909" cy="2896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" y="0"/>
                </a:moveTo>
                <a:lnTo>
                  <a:pt x="3567" y="2424"/>
                </a:lnTo>
                <a:lnTo>
                  <a:pt x="2260" y="2497"/>
                </a:lnTo>
                <a:lnTo>
                  <a:pt x="0" y="58"/>
                </a:lnTo>
                <a:lnTo>
                  <a:pt x="1306" y="0"/>
                </a:lnTo>
                <a:close/>
                <a:moveTo>
                  <a:pt x="4420" y="3339"/>
                </a:moveTo>
                <a:lnTo>
                  <a:pt x="6731" y="5777"/>
                </a:lnTo>
                <a:lnTo>
                  <a:pt x="5425" y="5835"/>
                </a:lnTo>
                <a:lnTo>
                  <a:pt x="3114" y="3411"/>
                </a:lnTo>
                <a:lnTo>
                  <a:pt x="4420" y="3339"/>
                </a:lnTo>
                <a:close/>
                <a:moveTo>
                  <a:pt x="7585" y="6677"/>
                </a:moveTo>
                <a:lnTo>
                  <a:pt x="9896" y="9116"/>
                </a:lnTo>
                <a:lnTo>
                  <a:pt x="8590" y="9189"/>
                </a:lnTo>
                <a:lnTo>
                  <a:pt x="6279" y="6750"/>
                </a:lnTo>
                <a:lnTo>
                  <a:pt x="7585" y="6677"/>
                </a:lnTo>
                <a:close/>
                <a:moveTo>
                  <a:pt x="10750" y="10031"/>
                </a:moveTo>
                <a:lnTo>
                  <a:pt x="13010" y="12455"/>
                </a:lnTo>
                <a:lnTo>
                  <a:pt x="11704" y="12527"/>
                </a:lnTo>
                <a:lnTo>
                  <a:pt x="9444" y="10089"/>
                </a:lnTo>
                <a:lnTo>
                  <a:pt x="10750" y="10031"/>
                </a:lnTo>
                <a:close/>
                <a:moveTo>
                  <a:pt x="13864" y="13369"/>
                </a:moveTo>
                <a:lnTo>
                  <a:pt x="16175" y="15808"/>
                </a:lnTo>
                <a:lnTo>
                  <a:pt x="14869" y="15866"/>
                </a:lnTo>
                <a:lnTo>
                  <a:pt x="12558" y="13442"/>
                </a:lnTo>
                <a:lnTo>
                  <a:pt x="13864" y="13369"/>
                </a:lnTo>
                <a:close/>
                <a:moveTo>
                  <a:pt x="17029" y="16708"/>
                </a:moveTo>
                <a:lnTo>
                  <a:pt x="19340" y="19147"/>
                </a:lnTo>
                <a:lnTo>
                  <a:pt x="18033" y="19205"/>
                </a:lnTo>
                <a:lnTo>
                  <a:pt x="15723" y="16781"/>
                </a:lnTo>
                <a:lnTo>
                  <a:pt x="17029" y="16708"/>
                </a:lnTo>
                <a:close/>
                <a:moveTo>
                  <a:pt x="20193" y="20061"/>
                </a:moveTo>
                <a:lnTo>
                  <a:pt x="21600" y="21542"/>
                </a:lnTo>
                <a:lnTo>
                  <a:pt x="20294" y="21600"/>
                </a:lnTo>
                <a:lnTo>
                  <a:pt x="18887" y="20119"/>
                </a:lnTo>
                <a:lnTo>
                  <a:pt x="20193" y="20061"/>
                </a:lnTo>
                <a:close/>
              </a:path>
            </a:pathLst>
          </a:custGeom>
          <a:solidFill>
            <a:srgbClr val="5B6313"/>
          </a:solidFill>
          <a:ln w="3175">
            <a:solidFill>
              <a:srgbClr val="17375E"/>
            </a:solidFill>
          </a:ln>
        </p:spPr>
        <p:txBody>
          <a:bodyPr lIns="45719" rIns="45719"/>
          <a:lstStyle/>
          <a:p>
            <a:pPr>
              <a:defRPr sz="2800"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D1"/>
          <p:cNvSpPr txBox="1"/>
          <p:nvPr/>
        </p:nvSpPr>
        <p:spPr>
          <a:xfrm>
            <a:off x="3452688" y="1869347"/>
            <a:ext cx="46469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1" name="R4"/>
          <p:cNvSpPr txBox="1"/>
          <p:nvPr/>
        </p:nvSpPr>
        <p:spPr>
          <a:xfrm>
            <a:off x="4361469" y="4052461"/>
            <a:ext cx="394126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2" name="R3"/>
          <p:cNvSpPr txBox="1"/>
          <p:nvPr/>
        </p:nvSpPr>
        <p:spPr>
          <a:xfrm>
            <a:off x="3633702" y="3669455"/>
            <a:ext cx="504845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3" name="R2"/>
          <p:cNvSpPr txBox="1"/>
          <p:nvPr/>
        </p:nvSpPr>
        <p:spPr>
          <a:xfrm>
            <a:off x="3406899" y="2769401"/>
            <a:ext cx="556271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4" name="Arrow"/>
          <p:cNvSpPr/>
          <p:nvPr/>
        </p:nvSpPr>
        <p:spPr>
          <a:xfrm>
            <a:off x="5327471" y="680755"/>
            <a:ext cx="725600" cy="234584"/>
          </a:xfrm>
          <a:prstGeom prst="rightArrow">
            <a:avLst>
              <a:gd name="adj1" fmla="val 32000"/>
              <a:gd name="adj2" fmla="val 197961"/>
            </a:avLst>
          </a:prstGeom>
          <a:solidFill>
            <a:srgbClr val="B6B024"/>
          </a:solidFill>
          <a:ln w="25400">
            <a:solidFill>
              <a:schemeClr val="accent1"/>
            </a:solidFill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1"/>
          <p:cNvSpPr txBox="1"/>
          <p:nvPr/>
        </p:nvSpPr>
        <p:spPr>
          <a:xfrm>
            <a:off x="4917085" y="594756"/>
            <a:ext cx="394126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76" name="R2"/>
          <p:cNvSpPr txBox="1"/>
          <p:nvPr/>
        </p:nvSpPr>
        <p:spPr>
          <a:xfrm>
            <a:off x="6056180" y="539813"/>
            <a:ext cx="40706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7" name="R3"/>
          <p:cNvSpPr txBox="1"/>
          <p:nvPr/>
        </p:nvSpPr>
        <p:spPr>
          <a:xfrm>
            <a:off x="7394974" y="613408"/>
            <a:ext cx="394126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78" name="R4"/>
          <p:cNvSpPr txBox="1"/>
          <p:nvPr/>
        </p:nvSpPr>
        <p:spPr>
          <a:xfrm>
            <a:off x="8425673" y="668260"/>
            <a:ext cx="457132" cy="4308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r>
              <a:rPr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b="1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79" name="Arrow"/>
          <p:cNvSpPr/>
          <p:nvPr/>
        </p:nvSpPr>
        <p:spPr>
          <a:xfrm>
            <a:off x="6571147" y="706465"/>
            <a:ext cx="725600" cy="2275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776" y="7344"/>
                </a:moveTo>
                <a:lnTo>
                  <a:pt x="7776" y="0"/>
                </a:lnTo>
                <a:lnTo>
                  <a:pt x="21600" y="10800"/>
                </a:lnTo>
                <a:lnTo>
                  <a:pt x="7776" y="21600"/>
                </a:lnTo>
                <a:lnTo>
                  <a:pt x="7776" y="14256"/>
                </a:lnTo>
                <a:lnTo>
                  <a:pt x="0" y="14256"/>
                </a:lnTo>
                <a:lnTo>
                  <a:pt x="0" y="7344"/>
                </a:lnTo>
                <a:close/>
              </a:path>
            </a:pathLst>
          </a:custGeom>
          <a:solidFill>
            <a:srgbClr val="B6B024"/>
          </a:solidFill>
          <a:ln w="25400">
            <a:solidFill>
              <a:schemeClr val="accent1"/>
            </a:solidFill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0" name="Arrow"/>
          <p:cNvSpPr/>
          <p:nvPr/>
        </p:nvSpPr>
        <p:spPr>
          <a:xfrm>
            <a:off x="7842090" y="706045"/>
            <a:ext cx="580246" cy="3017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42" y="7344"/>
                </a:moveTo>
                <a:lnTo>
                  <a:pt x="6342" y="0"/>
                </a:lnTo>
                <a:lnTo>
                  <a:pt x="21600" y="10800"/>
                </a:lnTo>
                <a:lnTo>
                  <a:pt x="6342" y="21600"/>
                </a:lnTo>
                <a:lnTo>
                  <a:pt x="6342" y="14256"/>
                </a:lnTo>
                <a:lnTo>
                  <a:pt x="0" y="14256"/>
                </a:lnTo>
                <a:lnTo>
                  <a:pt x="0" y="7344"/>
                </a:lnTo>
                <a:close/>
              </a:path>
            </a:pathLst>
          </a:custGeom>
          <a:solidFill>
            <a:srgbClr val="B6B024"/>
          </a:solidFill>
          <a:ln w="25400">
            <a:solidFill>
              <a:schemeClr val="accent1"/>
            </a:solidFill>
            <a:bevel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ion Line"/>
          <p:cNvSpPr/>
          <p:nvPr/>
        </p:nvSpPr>
        <p:spPr>
          <a:xfrm>
            <a:off x="5159232" y="1044295"/>
            <a:ext cx="3194995" cy="476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352" extrusionOk="0">
                <a:moveTo>
                  <a:pt x="0" y="0"/>
                </a:moveTo>
                <a:cubicBezTo>
                  <a:pt x="6030" y="19703"/>
                  <a:pt x="13230" y="21600"/>
                  <a:pt x="21600" y="5691"/>
                </a:cubicBezTo>
              </a:path>
            </a:pathLst>
          </a:custGeom>
          <a:ln w="76200">
            <a:solidFill>
              <a:srgbClr val="406823"/>
            </a:solidFill>
            <a:prstDash val="sysDot"/>
            <a:bevel/>
            <a:head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" grpId="0" animBg="1" advAuto="0"/>
      <p:bldP spid="162" grpId="0" animBg="1" advAuto="0"/>
      <p:bldP spid="163" grpId="0" animBg="1" advAuto="0"/>
      <p:bldP spid="164" grpId="0" animBg="1" advAuto="0"/>
      <p:bldP spid="166" grpId="0" animBg="1" advAuto="0"/>
      <p:bldP spid="167" grpId="0" animBg="1" advAuto="0"/>
      <p:bldP spid="168" grpId="0" animBg="1" advAuto="0"/>
      <p:bldP spid="169" grpId="0" animBg="1" advAuto="0"/>
      <p:bldP spid="170" grpId="0" animBg="1" advAuto="0"/>
      <p:bldP spid="171" grpId="0" animBg="1" advAuto="0"/>
      <p:bldP spid="172" grpId="0" animBg="1" advAuto="0"/>
      <p:bldP spid="173" grpId="0" animBg="1" advAuto="0"/>
      <p:bldP spid="174" grpId="0" animBg="1" advAuto="0"/>
      <p:bldP spid="175" grpId="0" animBg="1" advAuto="0"/>
      <p:bldP spid="176" grpId="0" animBg="1" advAuto="0"/>
      <p:bldP spid="177" grpId="0" animBg="1" advAuto="0"/>
      <p:bldP spid="178" grpId="0" animBg="1" advAuto="0"/>
      <p:bldP spid="179" grpId="0" animBg="1" advAuto="0"/>
      <p:bldP spid="180" grpId="0" animBg="1" advAuto="0"/>
      <p:bldP spid="182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382000" y="6177280"/>
            <a:ext cx="304800" cy="3581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>
            <a:lvl1pPr>
              <a:defRPr sz="1800" b="1"/>
            </a:lvl1pPr>
          </a:lstStyle>
          <a:p>
            <a:pPr>
              <a:defRPr sz="1200" b="0"/>
            </a:pPr>
            <a:fld id="{86CB4B4D-7CA3-9044-876B-883B54F8677D}" type="slidenum">
              <a:rPr sz="1800" b="1"/>
              <a:t>38</a:t>
            </a:fld>
            <a:endParaRPr sz="1800" b="1"/>
          </a:p>
        </p:txBody>
      </p:sp>
      <p:sp>
        <p:nvSpPr>
          <p:cNvPr id="185" name="Shape"/>
          <p:cNvSpPr/>
          <p:nvPr/>
        </p:nvSpPr>
        <p:spPr>
          <a:xfrm>
            <a:off x="2343150" y="1433512"/>
            <a:ext cx="112713" cy="3856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777" y="21600"/>
                </a:moveTo>
                <a:lnTo>
                  <a:pt x="12777" y="427"/>
                </a:lnTo>
                <a:lnTo>
                  <a:pt x="9127" y="427"/>
                </a:lnTo>
                <a:lnTo>
                  <a:pt x="9127" y="21600"/>
                </a:lnTo>
                <a:lnTo>
                  <a:pt x="12777" y="21600"/>
                </a:lnTo>
                <a:close/>
                <a:moveTo>
                  <a:pt x="21600" y="507"/>
                </a:moveTo>
                <a:lnTo>
                  <a:pt x="10952" y="0"/>
                </a:lnTo>
                <a:lnTo>
                  <a:pt x="0" y="507"/>
                </a:lnTo>
                <a:lnTo>
                  <a:pt x="21600" y="507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86" name="Shape"/>
          <p:cNvSpPr/>
          <p:nvPr/>
        </p:nvSpPr>
        <p:spPr>
          <a:xfrm>
            <a:off x="2400300" y="5243511"/>
            <a:ext cx="5481638" cy="92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8938"/>
                </a:moveTo>
                <a:lnTo>
                  <a:pt x="21237" y="8938"/>
                </a:lnTo>
                <a:lnTo>
                  <a:pt x="21237" y="12662"/>
                </a:lnTo>
                <a:lnTo>
                  <a:pt x="0" y="12662"/>
                </a:lnTo>
                <a:lnTo>
                  <a:pt x="0" y="8938"/>
                </a:lnTo>
                <a:close/>
                <a:moveTo>
                  <a:pt x="21162" y="0"/>
                </a:moveTo>
                <a:lnTo>
                  <a:pt x="21600" y="10800"/>
                </a:lnTo>
                <a:lnTo>
                  <a:pt x="21162" y="21600"/>
                </a:lnTo>
                <a:lnTo>
                  <a:pt x="21162" y="0"/>
                </a:lnTo>
                <a:close/>
              </a:path>
            </a:pathLst>
          </a:cu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87" name="Shape"/>
          <p:cNvSpPr/>
          <p:nvPr/>
        </p:nvSpPr>
        <p:spPr>
          <a:xfrm>
            <a:off x="3295724" y="1742198"/>
            <a:ext cx="3111448" cy="2024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2" y="0"/>
                </a:moveTo>
                <a:lnTo>
                  <a:pt x="287" y="1207"/>
                </a:lnTo>
                <a:lnTo>
                  <a:pt x="392" y="2398"/>
                </a:lnTo>
                <a:lnTo>
                  <a:pt x="516" y="3589"/>
                </a:lnTo>
                <a:lnTo>
                  <a:pt x="631" y="4747"/>
                </a:lnTo>
                <a:lnTo>
                  <a:pt x="765" y="5906"/>
                </a:lnTo>
                <a:lnTo>
                  <a:pt x="908" y="7048"/>
                </a:lnTo>
                <a:lnTo>
                  <a:pt x="984" y="7602"/>
                </a:lnTo>
                <a:lnTo>
                  <a:pt x="1061" y="8141"/>
                </a:lnTo>
                <a:lnTo>
                  <a:pt x="1137" y="8695"/>
                </a:lnTo>
                <a:lnTo>
                  <a:pt x="1223" y="9218"/>
                </a:lnTo>
                <a:lnTo>
                  <a:pt x="1319" y="9756"/>
                </a:lnTo>
                <a:lnTo>
                  <a:pt x="1405" y="10262"/>
                </a:lnTo>
                <a:lnTo>
                  <a:pt x="1501" y="10767"/>
                </a:lnTo>
                <a:lnTo>
                  <a:pt x="1606" y="11273"/>
                </a:lnTo>
                <a:lnTo>
                  <a:pt x="1711" y="11763"/>
                </a:lnTo>
                <a:lnTo>
                  <a:pt x="1825" y="12236"/>
                </a:lnTo>
                <a:lnTo>
                  <a:pt x="1950" y="12692"/>
                </a:lnTo>
                <a:lnTo>
                  <a:pt x="2064" y="13149"/>
                </a:lnTo>
                <a:lnTo>
                  <a:pt x="2198" y="13573"/>
                </a:lnTo>
                <a:lnTo>
                  <a:pt x="2332" y="13998"/>
                </a:lnTo>
                <a:lnTo>
                  <a:pt x="2619" y="14813"/>
                </a:lnTo>
                <a:lnTo>
                  <a:pt x="2781" y="15189"/>
                </a:lnTo>
                <a:lnTo>
                  <a:pt x="3106" y="15906"/>
                </a:lnTo>
                <a:lnTo>
                  <a:pt x="3469" y="16559"/>
                </a:lnTo>
                <a:lnTo>
                  <a:pt x="3871" y="17179"/>
                </a:lnTo>
                <a:lnTo>
                  <a:pt x="4081" y="17489"/>
                </a:lnTo>
                <a:lnTo>
                  <a:pt x="4301" y="17799"/>
                </a:lnTo>
                <a:lnTo>
                  <a:pt x="4530" y="18092"/>
                </a:lnTo>
                <a:lnTo>
                  <a:pt x="4760" y="18370"/>
                </a:lnTo>
                <a:lnTo>
                  <a:pt x="5008" y="18663"/>
                </a:lnTo>
                <a:lnTo>
                  <a:pt x="5247" y="18924"/>
                </a:lnTo>
                <a:lnTo>
                  <a:pt x="5505" y="19185"/>
                </a:lnTo>
                <a:lnTo>
                  <a:pt x="5763" y="19430"/>
                </a:lnTo>
                <a:lnTo>
                  <a:pt x="6031" y="19675"/>
                </a:lnTo>
                <a:lnTo>
                  <a:pt x="6298" y="19903"/>
                </a:lnTo>
                <a:lnTo>
                  <a:pt x="6566" y="20099"/>
                </a:lnTo>
                <a:lnTo>
                  <a:pt x="6843" y="20311"/>
                </a:lnTo>
                <a:lnTo>
                  <a:pt x="7130" y="20491"/>
                </a:lnTo>
                <a:lnTo>
                  <a:pt x="7407" y="20654"/>
                </a:lnTo>
                <a:lnTo>
                  <a:pt x="7694" y="20817"/>
                </a:lnTo>
                <a:lnTo>
                  <a:pt x="7990" y="20947"/>
                </a:lnTo>
                <a:lnTo>
                  <a:pt x="8277" y="21062"/>
                </a:lnTo>
                <a:lnTo>
                  <a:pt x="8573" y="21160"/>
                </a:lnTo>
                <a:lnTo>
                  <a:pt x="8860" y="21241"/>
                </a:lnTo>
                <a:lnTo>
                  <a:pt x="9156" y="21306"/>
                </a:lnTo>
                <a:lnTo>
                  <a:pt x="9452" y="21355"/>
                </a:lnTo>
                <a:lnTo>
                  <a:pt x="9739" y="21372"/>
                </a:lnTo>
                <a:lnTo>
                  <a:pt x="10035" y="21372"/>
                </a:lnTo>
                <a:lnTo>
                  <a:pt x="10332" y="21339"/>
                </a:lnTo>
                <a:lnTo>
                  <a:pt x="10618" y="21306"/>
                </a:lnTo>
                <a:lnTo>
                  <a:pt x="10905" y="21225"/>
                </a:lnTo>
                <a:lnTo>
                  <a:pt x="11192" y="21127"/>
                </a:lnTo>
                <a:lnTo>
                  <a:pt x="11479" y="21013"/>
                </a:lnTo>
                <a:lnTo>
                  <a:pt x="11765" y="20866"/>
                </a:lnTo>
                <a:lnTo>
                  <a:pt x="11909" y="20784"/>
                </a:lnTo>
                <a:lnTo>
                  <a:pt x="12042" y="20686"/>
                </a:lnTo>
                <a:lnTo>
                  <a:pt x="12329" y="20491"/>
                </a:lnTo>
                <a:lnTo>
                  <a:pt x="12616" y="20262"/>
                </a:lnTo>
                <a:lnTo>
                  <a:pt x="12903" y="20001"/>
                </a:lnTo>
                <a:lnTo>
                  <a:pt x="13199" y="19724"/>
                </a:lnTo>
                <a:lnTo>
                  <a:pt x="13486" y="19414"/>
                </a:lnTo>
                <a:lnTo>
                  <a:pt x="13782" y="19088"/>
                </a:lnTo>
                <a:lnTo>
                  <a:pt x="14078" y="18745"/>
                </a:lnTo>
                <a:lnTo>
                  <a:pt x="14375" y="18370"/>
                </a:lnTo>
                <a:lnTo>
                  <a:pt x="14967" y="17554"/>
                </a:lnTo>
                <a:lnTo>
                  <a:pt x="15579" y="16673"/>
                </a:lnTo>
                <a:lnTo>
                  <a:pt x="15875" y="16200"/>
                </a:lnTo>
                <a:lnTo>
                  <a:pt x="16487" y="15221"/>
                </a:lnTo>
                <a:lnTo>
                  <a:pt x="17098" y="14177"/>
                </a:lnTo>
                <a:lnTo>
                  <a:pt x="17404" y="13622"/>
                </a:lnTo>
                <a:lnTo>
                  <a:pt x="17720" y="13068"/>
                </a:lnTo>
                <a:lnTo>
                  <a:pt x="18025" y="12513"/>
                </a:lnTo>
                <a:lnTo>
                  <a:pt x="18341" y="11942"/>
                </a:lnTo>
                <a:lnTo>
                  <a:pt x="18647" y="11355"/>
                </a:lnTo>
                <a:lnTo>
                  <a:pt x="18962" y="10767"/>
                </a:lnTo>
                <a:lnTo>
                  <a:pt x="19268" y="10164"/>
                </a:lnTo>
                <a:lnTo>
                  <a:pt x="19583" y="9560"/>
                </a:lnTo>
                <a:lnTo>
                  <a:pt x="20205" y="8320"/>
                </a:lnTo>
                <a:lnTo>
                  <a:pt x="20835" y="7080"/>
                </a:lnTo>
                <a:lnTo>
                  <a:pt x="21457" y="5840"/>
                </a:lnTo>
                <a:lnTo>
                  <a:pt x="21600" y="5971"/>
                </a:lnTo>
                <a:lnTo>
                  <a:pt x="20969" y="7227"/>
                </a:lnTo>
                <a:lnTo>
                  <a:pt x="20348" y="8467"/>
                </a:lnTo>
                <a:lnTo>
                  <a:pt x="19717" y="9691"/>
                </a:lnTo>
                <a:lnTo>
                  <a:pt x="19411" y="10294"/>
                </a:lnTo>
                <a:lnTo>
                  <a:pt x="19096" y="10898"/>
                </a:lnTo>
                <a:lnTo>
                  <a:pt x="18781" y="11485"/>
                </a:lnTo>
                <a:lnTo>
                  <a:pt x="18475" y="12073"/>
                </a:lnTo>
                <a:lnTo>
                  <a:pt x="18159" y="12644"/>
                </a:lnTo>
                <a:lnTo>
                  <a:pt x="17853" y="13215"/>
                </a:lnTo>
                <a:lnTo>
                  <a:pt x="17538" y="13769"/>
                </a:lnTo>
                <a:lnTo>
                  <a:pt x="17232" y="14324"/>
                </a:lnTo>
                <a:lnTo>
                  <a:pt x="16621" y="15368"/>
                </a:lnTo>
                <a:lnTo>
                  <a:pt x="16315" y="15874"/>
                </a:lnTo>
                <a:lnTo>
                  <a:pt x="15999" y="16363"/>
                </a:lnTo>
                <a:lnTo>
                  <a:pt x="15703" y="16820"/>
                </a:lnTo>
                <a:lnTo>
                  <a:pt x="15397" y="17277"/>
                </a:lnTo>
                <a:lnTo>
                  <a:pt x="15091" y="17717"/>
                </a:lnTo>
                <a:lnTo>
                  <a:pt x="14785" y="18141"/>
                </a:lnTo>
                <a:lnTo>
                  <a:pt x="14489" y="18533"/>
                </a:lnTo>
                <a:lnTo>
                  <a:pt x="14193" y="18908"/>
                </a:lnTo>
                <a:lnTo>
                  <a:pt x="13887" y="19267"/>
                </a:lnTo>
                <a:lnTo>
                  <a:pt x="13591" y="19610"/>
                </a:lnTo>
                <a:lnTo>
                  <a:pt x="13295" y="19920"/>
                </a:lnTo>
                <a:lnTo>
                  <a:pt x="12998" y="20197"/>
                </a:lnTo>
                <a:lnTo>
                  <a:pt x="12702" y="20458"/>
                </a:lnTo>
                <a:lnTo>
                  <a:pt x="12406" y="20703"/>
                </a:lnTo>
                <a:lnTo>
                  <a:pt x="11976" y="20996"/>
                </a:lnTo>
                <a:lnTo>
                  <a:pt x="11823" y="21078"/>
                </a:lnTo>
                <a:lnTo>
                  <a:pt x="11526" y="21241"/>
                </a:lnTo>
                <a:lnTo>
                  <a:pt x="11240" y="21355"/>
                </a:lnTo>
                <a:lnTo>
                  <a:pt x="10934" y="21453"/>
                </a:lnTo>
                <a:lnTo>
                  <a:pt x="10638" y="21535"/>
                </a:lnTo>
                <a:lnTo>
                  <a:pt x="10341" y="21584"/>
                </a:lnTo>
                <a:lnTo>
                  <a:pt x="10035" y="21600"/>
                </a:lnTo>
                <a:lnTo>
                  <a:pt x="9739" y="21600"/>
                </a:lnTo>
                <a:lnTo>
                  <a:pt x="9433" y="21584"/>
                </a:lnTo>
                <a:lnTo>
                  <a:pt x="9127" y="21535"/>
                </a:lnTo>
                <a:lnTo>
                  <a:pt x="8831" y="21469"/>
                </a:lnTo>
                <a:lnTo>
                  <a:pt x="8525" y="21388"/>
                </a:lnTo>
                <a:lnTo>
                  <a:pt x="8229" y="21290"/>
                </a:lnTo>
                <a:lnTo>
                  <a:pt x="7636" y="21029"/>
                </a:lnTo>
                <a:lnTo>
                  <a:pt x="7350" y="20866"/>
                </a:lnTo>
                <a:lnTo>
                  <a:pt x="7053" y="20703"/>
                </a:lnTo>
                <a:lnTo>
                  <a:pt x="6767" y="20507"/>
                </a:lnTo>
                <a:lnTo>
                  <a:pt x="6490" y="20311"/>
                </a:lnTo>
                <a:lnTo>
                  <a:pt x="6212" y="20099"/>
                </a:lnTo>
                <a:lnTo>
                  <a:pt x="5935" y="19871"/>
                </a:lnTo>
                <a:lnTo>
                  <a:pt x="5668" y="19626"/>
                </a:lnTo>
                <a:lnTo>
                  <a:pt x="5410" y="19365"/>
                </a:lnTo>
                <a:lnTo>
                  <a:pt x="5152" y="19104"/>
                </a:lnTo>
                <a:lnTo>
                  <a:pt x="4893" y="18827"/>
                </a:lnTo>
                <a:lnTo>
                  <a:pt x="4655" y="18549"/>
                </a:lnTo>
                <a:lnTo>
                  <a:pt x="4177" y="17962"/>
                </a:lnTo>
                <a:lnTo>
                  <a:pt x="3957" y="17652"/>
                </a:lnTo>
                <a:lnTo>
                  <a:pt x="3747" y="17342"/>
                </a:lnTo>
                <a:lnTo>
                  <a:pt x="3536" y="17016"/>
                </a:lnTo>
                <a:lnTo>
                  <a:pt x="3336" y="16689"/>
                </a:lnTo>
                <a:lnTo>
                  <a:pt x="3154" y="16363"/>
                </a:lnTo>
                <a:lnTo>
                  <a:pt x="2963" y="16021"/>
                </a:lnTo>
                <a:lnTo>
                  <a:pt x="2791" y="15678"/>
                </a:lnTo>
                <a:lnTo>
                  <a:pt x="2628" y="15303"/>
                </a:lnTo>
                <a:lnTo>
                  <a:pt x="2322" y="14520"/>
                </a:lnTo>
                <a:lnTo>
                  <a:pt x="2179" y="14095"/>
                </a:lnTo>
                <a:lnTo>
                  <a:pt x="2045" y="13671"/>
                </a:lnTo>
                <a:lnTo>
                  <a:pt x="1912" y="13231"/>
                </a:lnTo>
                <a:lnTo>
                  <a:pt x="1787" y="12774"/>
                </a:lnTo>
                <a:lnTo>
                  <a:pt x="1663" y="12301"/>
                </a:lnTo>
                <a:lnTo>
                  <a:pt x="1558" y="11828"/>
                </a:lnTo>
                <a:lnTo>
                  <a:pt x="1443" y="11338"/>
                </a:lnTo>
                <a:lnTo>
                  <a:pt x="1348" y="10833"/>
                </a:lnTo>
                <a:lnTo>
                  <a:pt x="1242" y="10327"/>
                </a:lnTo>
                <a:lnTo>
                  <a:pt x="1147" y="9805"/>
                </a:lnTo>
                <a:lnTo>
                  <a:pt x="1061" y="9266"/>
                </a:lnTo>
                <a:lnTo>
                  <a:pt x="975" y="8744"/>
                </a:lnTo>
                <a:lnTo>
                  <a:pt x="889" y="8190"/>
                </a:lnTo>
                <a:lnTo>
                  <a:pt x="736" y="7080"/>
                </a:lnTo>
                <a:lnTo>
                  <a:pt x="602" y="5938"/>
                </a:lnTo>
                <a:lnTo>
                  <a:pt x="468" y="4780"/>
                </a:lnTo>
                <a:lnTo>
                  <a:pt x="344" y="3605"/>
                </a:lnTo>
                <a:lnTo>
                  <a:pt x="229" y="2431"/>
                </a:lnTo>
                <a:lnTo>
                  <a:pt x="115" y="1240"/>
                </a:lnTo>
                <a:lnTo>
                  <a:pt x="0" y="33"/>
                </a:lnTo>
                <a:lnTo>
                  <a:pt x="172" y="0"/>
                </a:lnTo>
                <a:close/>
              </a:path>
            </a:pathLst>
          </a:custGeom>
          <a:solidFill>
            <a:srgbClr val="953735"/>
          </a:solidFill>
          <a:ln w="3175">
            <a:solidFill>
              <a:srgbClr val="953735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88" name="Shape"/>
          <p:cNvSpPr/>
          <p:nvPr/>
        </p:nvSpPr>
        <p:spPr>
          <a:xfrm>
            <a:off x="3675261" y="1655527"/>
            <a:ext cx="1945987" cy="33069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92"/>
                </a:moveTo>
                <a:lnTo>
                  <a:pt x="20403" y="1809"/>
                </a:lnTo>
                <a:lnTo>
                  <a:pt x="19192" y="3526"/>
                </a:lnTo>
                <a:lnTo>
                  <a:pt x="18010" y="5217"/>
                </a:lnTo>
                <a:lnTo>
                  <a:pt x="16827" y="6881"/>
                </a:lnTo>
                <a:lnTo>
                  <a:pt x="15659" y="8506"/>
                </a:lnTo>
                <a:lnTo>
                  <a:pt x="14520" y="10079"/>
                </a:lnTo>
                <a:lnTo>
                  <a:pt x="13958" y="10839"/>
                </a:lnTo>
                <a:lnTo>
                  <a:pt x="13410" y="11586"/>
                </a:lnTo>
                <a:lnTo>
                  <a:pt x="12862" y="12320"/>
                </a:lnTo>
                <a:lnTo>
                  <a:pt x="12314" y="13028"/>
                </a:lnTo>
                <a:lnTo>
                  <a:pt x="11781" y="13723"/>
                </a:lnTo>
                <a:lnTo>
                  <a:pt x="11261" y="14404"/>
                </a:lnTo>
                <a:lnTo>
                  <a:pt x="10757" y="15047"/>
                </a:lnTo>
                <a:lnTo>
                  <a:pt x="10252" y="15676"/>
                </a:lnTo>
                <a:lnTo>
                  <a:pt x="9747" y="16279"/>
                </a:lnTo>
                <a:lnTo>
                  <a:pt x="9272" y="16855"/>
                </a:lnTo>
                <a:lnTo>
                  <a:pt x="8810" y="17393"/>
                </a:lnTo>
                <a:lnTo>
                  <a:pt x="8349" y="17917"/>
                </a:lnTo>
                <a:lnTo>
                  <a:pt x="7902" y="18402"/>
                </a:lnTo>
                <a:lnTo>
                  <a:pt x="7469" y="18861"/>
                </a:lnTo>
                <a:lnTo>
                  <a:pt x="7051" y="19293"/>
                </a:lnTo>
                <a:lnTo>
                  <a:pt x="6633" y="19686"/>
                </a:lnTo>
                <a:lnTo>
                  <a:pt x="6244" y="20040"/>
                </a:lnTo>
                <a:lnTo>
                  <a:pt x="5869" y="20368"/>
                </a:lnTo>
                <a:lnTo>
                  <a:pt x="5508" y="20656"/>
                </a:lnTo>
                <a:lnTo>
                  <a:pt x="5162" y="20905"/>
                </a:lnTo>
                <a:lnTo>
                  <a:pt x="4989" y="21010"/>
                </a:lnTo>
                <a:lnTo>
                  <a:pt x="4830" y="21115"/>
                </a:lnTo>
                <a:lnTo>
                  <a:pt x="4672" y="21194"/>
                </a:lnTo>
                <a:lnTo>
                  <a:pt x="4513" y="21285"/>
                </a:lnTo>
                <a:lnTo>
                  <a:pt x="4355" y="21351"/>
                </a:lnTo>
                <a:lnTo>
                  <a:pt x="4210" y="21417"/>
                </a:lnTo>
                <a:lnTo>
                  <a:pt x="4066" y="21469"/>
                </a:lnTo>
                <a:lnTo>
                  <a:pt x="3778" y="21548"/>
                </a:lnTo>
                <a:lnTo>
                  <a:pt x="3634" y="21574"/>
                </a:lnTo>
                <a:lnTo>
                  <a:pt x="3504" y="21600"/>
                </a:lnTo>
                <a:lnTo>
                  <a:pt x="3115" y="21600"/>
                </a:lnTo>
                <a:lnTo>
                  <a:pt x="2985" y="21574"/>
                </a:lnTo>
                <a:lnTo>
                  <a:pt x="2869" y="21548"/>
                </a:lnTo>
                <a:lnTo>
                  <a:pt x="2740" y="21521"/>
                </a:lnTo>
                <a:lnTo>
                  <a:pt x="2624" y="21482"/>
                </a:lnTo>
                <a:lnTo>
                  <a:pt x="2523" y="21430"/>
                </a:lnTo>
                <a:lnTo>
                  <a:pt x="2408" y="21377"/>
                </a:lnTo>
                <a:lnTo>
                  <a:pt x="2307" y="21312"/>
                </a:lnTo>
                <a:lnTo>
                  <a:pt x="2206" y="21233"/>
                </a:lnTo>
                <a:lnTo>
                  <a:pt x="2120" y="21167"/>
                </a:lnTo>
                <a:lnTo>
                  <a:pt x="2033" y="21076"/>
                </a:lnTo>
                <a:lnTo>
                  <a:pt x="1947" y="20997"/>
                </a:lnTo>
                <a:lnTo>
                  <a:pt x="1860" y="20892"/>
                </a:lnTo>
                <a:lnTo>
                  <a:pt x="1774" y="20800"/>
                </a:lnTo>
                <a:lnTo>
                  <a:pt x="1701" y="20696"/>
                </a:lnTo>
                <a:lnTo>
                  <a:pt x="1543" y="20460"/>
                </a:lnTo>
                <a:lnTo>
                  <a:pt x="1413" y="20224"/>
                </a:lnTo>
                <a:lnTo>
                  <a:pt x="1283" y="19949"/>
                </a:lnTo>
                <a:lnTo>
                  <a:pt x="1154" y="19660"/>
                </a:lnTo>
                <a:lnTo>
                  <a:pt x="1038" y="19359"/>
                </a:lnTo>
                <a:lnTo>
                  <a:pt x="937" y="19044"/>
                </a:lnTo>
                <a:lnTo>
                  <a:pt x="836" y="18717"/>
                </a:lnTo>
                <a:lnTo>
                  <a:pt x="735" y="18363"/>
                </a:lnTo>
                <a:lnTo>
                  <a:pt x="649" y="18009"/>
                </a:lnTo>
                <a:lnTo>
                  <a:pt x="562" y="17642"/>
                </a:lnTo>
                <a:lnTo>
                  <a:pt x="490" y="17262"/>
                </a:lnTo>
                <a:lnTo>
                  <a:pt x="404" y="16868"/>
                </a:lnTo>
                <a:lnTo>
                  <a:pt x="332" y="16475"/>
                </a:lnTo>
                <a:lnTo>
                  <a:pt x="274" y="16082"/>
                </a:lnTo>
                <a:lnTo>
                  <a:pt x="130" y="15269"/>
                </a:lnTo>
                <a:lnTo>
                  <a:pt x="0" y="14444"/>
                </a:lnTo>
                <a:lnTo>
                  <a:pt x="260" y="14417"/>
                </a:lnTo>
                <a:lnTo>
                  <a:pt x="389" y="15243"/>
                </a:lnTo>
                <a:lnTo>
                  <a:pt x="519" y="16056"/>
                </a:lnTo>
                <a:lnTo>
                  <a:pt x="591" y="16449"/>
                </a:lnTo>
                <a:lnTo>
                  <a:pt x="663" y="16842"/>
                </a:lnTo>
                <a:lnTo>
                  <a:pt x="735" y="17235"/>
                </a:lnTo>
                <a:lnTo>
                  <a:pt x="822" y="17602"/>
                </a:lnTo>
                <a:lnTo>
                  <a:pt x="908" y="17983"/>
                </a:lnTo>
                <a:lnTo>
                  <a:pt x="995" y="18336"/>
                </a:lnTo>
                <a:lnTo>
                  <a:pt x="1081" y="18677"/>
                </a:lnTo>
                <a:lnTo>
                  <a:pt x="1182" y="19005"/>
                </a:lnTo>
                <a:lnTo>
                  <a:pt x="1283" y="19319"/>
                </a:lnTo>
                <a:lnTo>
                  <a:pt x="1399" y="19608"/>
                </a:lnTo>
                <a:lnTo>
                  <a:pt x="1514" y="19883"/>
                </a:lnTo>
                <a:lnTo>
                  <a:pt x="1644" y="20145"/>
                </a:lnTo>
                <a:lnTo>
                  <a:pt x="1774" y="20381"/>
                </a:lnTo>
                <a:lnTo>
                  <a:pt x="1918" y="20604"/>
                </a:lnTo>
                <a:lnTo>
                  <a:pt x="2062" y="20787"/>
                </a:lnTo>
                <a:lnTo>
                  <a:pt x="2148" y="20879"/>
                </a:lnTo>
                <a:lnTo>
                  <a:pt x="2235" y="20958"/>
                </a:lnTo>
                <a:lnTo>
                  <a:pt x="2307" y="21036"/>
                </a:lnTo>
                <a:lnTo>
                  <a:pt x="2480" y="21167"/>
                </a:lnTo>
                <a:lnTo>
                  <a:pt x="2653" y="21272"/>
                </a:lnTo>
                <a:lnTo>
                  <a:pt x="2740" y="21312"/>
                </a:lnTo>
                <a:lnTo>
                  <a:pt x="2841" y="21351"/>
                </a:lnTo>
                <a:lnTo>
                  <a:pt x="2927" y="21377"/>
                </a:lnTo>
                <a:lnTo>
                  <a:pt x="3230" y="21417"/>
                </a:lnTo>
                <a:lnTo>
                  <a:pt x="3461" y="21417"/>
                </a:lnTo>
                <a:lnTo>
                  <a:pt x="3576" y="21390"/>
                </a:lnTo>
                <a:lnTo>
                  <a:pt x="3691" y="21377"/>
                </a:lnTo>
                <a:lnTo>
                  <a:pt x="3951" y="21299"/>
                </a:lnTo>
                <a:lnTo>
                  <a:pt x="4081" y="21246"/>
                </a:lnTo>
                <a:lnTo>
                  <a:pt x="4225" y="21194"/>
                </a:lnTo>
                <a:lnTo>
                  <a:pt x="4369" y="21128"/>
                </a:lnTo>
                <a:lnTo>
                  <a:pt x="4513" y="21050"/>
                </a:lnTo>
                <a:lnTo>
                  <a:pt x="4672" y="20971"/>
                </a:lnTo>
                <a:lnTo>
                  <a:pt x="4989" y="20761"/>
                </a:lnTo>
                <a:lnTo>
                  <a:pt x="5321" y="20525"/>
                </a:lnTo>
                <a:lnTo>
                  <a:pt x="5681" y="20250"/>
                </a:lnTo>
                <a:lnTo>
                  <a:pt x="6056" y="19922"/>
                </a:lnTo>
                <a:lnTo>
                  <a:pt x="6431" y="19568"/>
                </a:lnTo>
                <a:lnTo>
                  <a:pt x="6835" y="19188"/>
                </a:lnTo>
                <a:lnTo>
                  <a:pt x="7253" y="18756"/>
                </a:lnTo>
                <a:lnTo>
                  <a:pt x="7685" y="18297"/>
                </a:lnTo>
                <a:lnTo>
                  <a:pt x="8132" y="17812"/>
                </a:lnTo>
                <a:lnTo>
                  <a:pt x="8579" y="17301"/>
                </a:lnTo>
                <a:lnTo>
                  <a:pt x="9055" y="16750"/>
                </a:lnTo>
                <a:lnTo>
                  <a:pt x="9531" y="16174"/>
                </a:lnTo>
                <a:lnTo>
                  <a:pt x="10021" y="15584"/>
                </a:lnTo>
                <a:lnTo>
                  <a:pt x="10526" y="14955"/>
                </a:lnTo>
                <a:lnTo>
                  <a:pt x="11045" y="14313"/>
                </a:lnTo>
                <a:lnTo>
                  <a:pt x="11564" y="13631"/>
                </a:lnTo>
                <a:lnTo>
                  <a:pt x="12098" y="12936"/>
                </a:lnTo>
                <a:lnTo>
                  <a:pt x="12631" y="12229"/>
                </a:lnTo>
                <a:lnTo>
                  <a:pt x="13179" y="11495"/>
                </a:lnTo>
                <a:lnTo>
                  <a:pt x="13742" y="10748"/>
                </a:lnTo>
                <a:lnTo>
                  <a:pt x="14304" y="9987"/>
                </a:lnTo>
                <a:lnTo>
                  <a:pt x="15443" y="8415"/>
                </a:lnTo>
                <a:lnTo>
                  <a:pt x="16597" y="6789"/>
                </a:lnTo>
                <a:lnTo>
                  <a:pt x="17779" y="5125"/>
                </a:lnTo>
                <a:lnTo>
                  <a:pt x="18976" y="3434"/>
                </a:lnTo>
                <a:lnTo>
                  <a:pt x="20172" y="1730"/>
                </a:lnTo>
                <a:lnTo>
                  <a:pt x="21384" y="0"/>
                </a:lnTo>
                <a:lnTo>
                  <a:pt x="21600" y="92"/>
                </a:lnTo>
                <a:close/>
              </a:path>
            </a:pathLst>
          </a:custGeom>
          <a:solidFill>
            <a:srgbClr val="00B050"/>
          </a:solidFill>
          <a:ln w="3175">
            <a:solidFill>
              <a:srgbClr val="00B050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89" name="MC"/>
          <p:cNvSpPr txBox="1"/>
          <p:nvPr/>
        </p:nvSpPr>
        <p:spPr>
          <a:xfrm>
            <a:off x="5622716" y="1247779"/>
            <a:ext cx="49522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MC</a:t>
            </a:r>
          </a:p>
        </p:txBody>
      </p:sp>
      <p:sp>
        <p:nvSpPr>
          <p:cNvPr id="190" name="AC"/>
          <p:cNvSpPr txBox="1"/>
          <p:nvPr/>
        </p:nvSpPr>
        <p:spPr>
          <a:xfrm>
            <a:off x="6408428" y="1851024"/>
            <a:ext cx="45546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AC</a:t>
            </a:r>
          </a:p>
        </p:txBody>
      </p:sp>
      <p:sp>
        <p:nvSpPr>
          <p:cNvPr id="191" name="AR"/>
          <p:cNvSpPr txBox="1"/>
          <p:nvPr/>
        </p:nvSpPr>
        <p:spPr>
          <a:xfrm>
            <a:off x="6472237" y="4114798"/>
            <a:ext cx="45511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AR</a:t>
            </a:r>
          </a:p>
        </p:txBody>
      </p:sp>
      <p:sp>
        <p:nvSpPr>
          <p:cNvPr id="192" name="D"/>
          <p:cNvSpPr txBox="1"/>
          <p:nvPr/>
        </p:nvSpPr>
        <p:spPr>
          <a:xfrm>
            <a:off x="4094162" y="2043111"/>
            <a:ext cx="24120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D</a:t>
            </a:r>
          </a:p>
        </p:txBody>
      </p:sp>
      <p:sp>
        <p:nvSpPr>
          <p:cNvPr id="193" name="Rev/Cost"/>
          <p:cNvSpPr txBox="1"/>
          <p:nvPr/>
        </p:nvSpPr>
        <p:spPr>
          <a:xfrm>
            <a:off x="798240" y="1647824"/>
            <a:ext cx="147347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Rev/Cost</a:t>
            </a:r>
          </a:p>
        </p:txBody>
      </p:sp>
      <p:sp>
        <p:nvSpPr>
          <p:cNvPr id="194" name="Output"/>
          <p:cNvSpPr txBox="1"/>
          <p:nvPr/>
        </p:nvSpPr>
        <p:spPr>
          <a:xfrm>
            <a:off x="6999287" y="5343523"/>
            <a:ext cx="117204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Output</a:t>
            </a:r>
          </a:p>
        </p:txBody>
      </p:sp>
      <p:sp>
        <p:nvSpPr>
          <p:cNvPr id="195" name="Shape"/>
          <p:cNvSpPr/>
          <p:nvPr/>
        </p:nvSpPr>
        <p:spPr>
          <a:xfrm>
            <a:off x="2835275" y="2644774"/>
            <a:ext cx="3571876" cy="1720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" y="0"/>
                </a:moveTo>
                <a:lnTo>
                  <a:pt x="21600" y="21221"/>
                </a:lnTo>
                <a:lnTo>
                  <a:pt x="21466" y="21600"/>
                </a:lnTo>
                <a:lnTo>
                  <a:pt x="0" y="379"/>
                </a:lnTo>
                <a:lnTo>
                  <a:pt x="134" y="0"/>
                </a:lnTo>
                <a:close/>
              </a:path>
            </a:pathLst>
          </a:custGeom>
          <a:solidFill>
            <a:srgbClr val="953735"/>
          </a:solidFill>
          <a:ln w="3175">
            <a:solidFill>
              <a:srgbClr val="953735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96" name="Shape"/>
          <p:cNvSpPr/>
          <p:nvPr/>
        </p:nvSpPr>
        <p:spPr>
          <a:xfrm>
            <a:off x="4192587" y="2397124"/>
            <a:ext cx="682626" cy="23622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06" y="0"/>
                </a:moveTo>
                <a:lnTo>
                  <a:pt x="3567" y="2424"/>
                </a:lnTo>
                <a:lnTo>
                  <a:pt x="2260" y="2497"/>
                </a:lnTo>
                <a:lnTo>
                  <a:pt x="0" y="58"/>
                </a:lnTo>
                <a:lnTo>
                  <a:pt x="1306" y="0"/>
                </a:lnTo>
                <a:close/>
                <a:moveTo>
                  <a:pt x="4420" y="3339"/>
                </a:moveTo>
                <a:lnTo>
                  <a:pt x="6731" y="5777"/>
                </a:lnTo>
                <a:lnTo>
                  <a:pt x="5425" y="5835"/>
                </a:lnTo>
                <a:lnTo>
                  <a:pt x="3114" y="3411"/>
                </a:lnTo>
                <a:lnTo>
                  <a:pt x="4420" y="3339"/>
                </a:lnTo>
                <a:close/>
                <a:moveTo>
                  <a:pt x="7585" y="6677"/>
                </a:moveTo>
                <a:lnTo>
                  <a:pt x="9896" y="9116"/>
                </a:lnTo>
                <a:lnTo>
                  <a:pt x="8590" y="9189"/>
                </a:lnTo>
                <a:lnTo>
                  <a:pt x="6279" y="6750"/>
                </a:lnTo>
                <a:lnTo>
                  <a:pt x="7585" y="6677"/>
                </a:lnTo>
                <a:close/>
                <a:moveTo>
                  <a:pt x="10750" y="10031"/>
                </a:moveTo>
                <a:lnTo>
                  <a:pt x="13010" y="12455"/>
                </a:lnTo>
                <a:lnTo>
                  <a:pt x="11704" y="12527"/>
                </a:lnTo>
                <a:lnTo>
                  <a:pt x="9444" y="10089"/>
                </a:lnTo>
                <a:lnTo>
                  <a:pt x="10750" y="10031"/>
                </a:lnTo>
                <a:close/>
                <a:moveTo>
                  <a:pt x="13864" y="13369"/>
                </a:moveTo>
                <a:lnTo>
                  <a:pt x="16175" y="15808"/>
                </a:lnTo>
                <a:lnTo>
                  <a:pt x="14869" y="15866"/>
                </a:lnTo>
                <a:lnTo>
                  <a:pt x="12558" y="13442"/>
                </a:lnTo>
                <a:lnTo>
                  <a:pt x="13864" y="13369"/>
                </a:lnTo>
                <a:close/>
                <a:moveTo>
                  <a:pt x="17029" y="16708"/>
                </a:moveTo>
                <a:lnTo>
                  <a:pt x="19340" y="19147"/>
                </a:lnTo>
                <a:lnTo>
                  <a:pt x="18033" y="19205"/>
                </a:lnTo>
                <a:lnTo>
                  <a:pt x="15723" y="16781"/>
                </a:lnTo>
                <a:lnTo>
                  <a:pt x="17029" y="16708"/>
                </a:lnTo>
                <a:close/>
                <a:moveTo>
                  <a:pt x="20193" y="20061"/>
                </a:moveTo>
                <a:lnTo>
                  <a:pt x="21600" y="21542"/>
                </a:lnTo>
                <a:lnTo>
                  <a:pt x="20294" y="21600"/>
                </a:lnTo>
                <a:lnTo>
                  <a:pt x="18887" y="20119"/>
                </a:lnTo>
                <a:lnTo>
                  <a:pt x="20193" y="20061"/>
                </a:lnTo>
                <a:close/>
              </a:path>
            </a:pathLst>
          </a:custGeom>
          <a:solidFill>
            <a:srgbClr val="17375E"/>
          </a:solidFill>
          <a:ln w="3175">
            <a:solidFill>
              <a:srgbClr val="17375E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97" name="R"/>
          <p:cNvSpPr txBox="1"/>
          <p:nvPr/>
        </p:nvSpPr>
        <p:spPr>
          <a:xfrm>
            <a:off x="4495800" y="3047999"/>
            <a:ext cx="22991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R</a:t>
            </a:r>
          </a:p>
        </p:txBody>
      </p:sp>
      <p:sp>
        <p:nvSpPr>
          <p:cNvPr id="198" name="Rectangle"/>
          <p:cNvSpPr/>
          <p:nvPr/>
        </p:nvSpPr>
        <p:spPr>
          <a:xfrm>
            <a:off x="4479925" y="3465511"/>
            <a:ext cx="14288" cy="1781175"/>
          </a:xfrm>
          <a:prstGeom prst="rect">
            <a:avLst/>
          </a:prstGeom>
          <a:solidFill>
            <a:srgbClr val="000000"/>
          </a:solidFill>
          <a:ln w="3175">
            <a:solidFill>
              <a:srgbClr val="000000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199" name="Q"/>
          <p:cNvSpPr txBox="1"/>
          <p:nvPr/>
        </p:nvSpPr>
        <p:spPr>
          <a:xfrm>
            <a:off x="4324350" y="5368923"/>
            <a:ext cx="26481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Q</a:t>
            </a:r>
          </a:p>
        </p:txBody>
      </p:sp>
      <p:sp>
        <p:nvSpPr>
          <p:cNvPr id="200" name="MONOPOLISTIC COMPETITION (SHORT RUN) - SUPERNORMAL PROFITS"/>
          <p:cNvSpPr txBox="1">
            <a:spLocks noGrp="1"/>
          </p:cNvSpPr>
          <p:nvPr>
            <p:ph type="ctrTitle"/>
          </p:nvPr>
        </p:nvSpPr>
        <p:spPr>
          <a:xfrm>
            <a:off x="762000" y="457200"/>
            <a:ext cx="7772400" cy="521407"/>
          </a:xfrm>
          <a:prstGeom prst="rect">
            <a:avLst/>
          </a:prstGeom>
        </p:spPr>
        <p:txBody>
          <a:bodyPr/>
          <a:lstStyle>
            <a:lvl1pPr>
              <a:defRPr sz="1500" b="1"/>
            </a:lvl1pPr>
          </a:lstStyle>
          <a:p>
            <a:pPr>
              <a:defRPr b="0"/>
            </a:pPr>
            <a:r>
              <a:rPr b="1"/>
              <a:t>MONOPOLISTIC COMPETITION (SHORT RUN) - SUPERNORMAL PROFITS</a:t>
            </a:r>
          </a:p>
        </p:txBody>
      </p:sp>
      <p:sp>
        <p:nvSpPr>
          <p:cNvPr id="201" name="Shape"/>
          <p:cNvSpPr/>
          <p:nvPr/>
        </p:nvSpPr>
        <p:spPr>
          <a:xfrm>
            <a:off x="2579138" y="2714955"/>
            <a:ext cx="2739267" cy="210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" y="0"/>
                </a:moveTo>
                <a:lnTo>
                  <a:pt x="21600" y="21221"/>
                </a:lnTo>
                <a:lnTo>
                  <a:pt x="21466" y="21600"/>
                </a:lnTo>
                <a:lnTo>
                  <a:pt x="0" y="379"/>
                </a:lnTo>
                <a:lnTo>
                  <a:pt x="134" y="0"/>
                </a:lnTo>
                <a:close/>
              </a:path>
            </a:pathLst>
          </a:custGeom>
          <a:solidFill>
            <a:srgbClr val="953735"/>
          </a:solidFill>
          <a:ln w="3175">
            <a:solidFill>
              <a:srgbClr val="953735"/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202" name="Rectangle"/>
          <p:cNvSpPr/>
          <p:nvPr/>
        </p:nvSpPr>
        <p:spPr>
          <a:xfrm>
            <a:off x="2401099" y="3430587"/>
            <a:ext cx="2075652" cy="295274"/>
          </a:xfrm>
          <a:prstGeom prst="rect">
            <a:avLst/>
          </a:prstGeom>
          <a:solidFill>
            <a:srgbClr val="E46C0A">
              <a:alpha val="57000"/>
            </a:srgbClr>
          </a:solidFill>
          <a:ln w="63500">
            <a:solidFill>
              <a:srgbClr val="000000">
                <a:alpha val="57000"/>
              </a:srgbClr>
            </a:solidFill>
          </a:ln>
        </p:spPr>
        <p:txBody>
          <a:bodyPr lIns="45719" rIns="45719"/>
          <a:lstStyle/>
          <a:p>
            <a:pPr>
              <a:defRPr sz="2800"/>
            </a:pPr>
            <a:endParaRPr/>
          </a:p>
        </p:txBody>
      </p:sp>
      <p:sp>
        <p:nvSpPr>
          <p:cNvPr id="203" name="P"/>
          <p:cNvSpPr txBox="1"/>
          <p:nvPr/>
        </p:nvSpPr>
        <p:spPr>
          <a:xfrm>
            <a:off x="2120401" y="3158700"/>
            <a:ext cx="22140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P</a:t>
            </a:r>
          </a:p>
        </p:txBody>
      </p:sp>
      <p:sp>
        <p:nvSpPr>
          <p:cNvPr id="204" name="T"/>
          <p:cNvSpPr txBox="1"/>
          <p:nvPr/>
        </p:nvSpPr>
        <p:spPr>
          <a:xfrm>
            <a:off x="2092020" y="3565100"/>
            <a:ext cx="2302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T</a:t>
            </a:r>
          </a:p>
        </p:txBody>
      </p:sp>
      <p:sp>
        <p:nvSpPr>
          <p:cNvPr id="205" name="C"/>
          <p:cNvSpPr txBox="1"/>
          <p:nvPr/>
        </p:nvSpPr>
        <p:spPr>
          <a:xfrm>
            <a:off x="4214763" y="3642578"/>
            <a:ext cx="31913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C</a:t>
            </a:r>
          </a:p>
        </p:txBody>
      </p:sp>
      <p:sp>
        <p:nvSpPr>
          <p:cNvPr id="206" name="MR"/>
          <p:cNvSpPr txBox="1"/>
          <p:nvPr/>
        </p:nvSpPr>
        <p:spPr>
          <a:xfrm>
            <a:off x="5440327" y="4760892"/>
            <a:ext cx="49487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MR</a:t>
            </a:r>
          </a:p>
        </p:txBody>
      </p:sp>
      <p:sp>
        <p:nvSpPr>
          <p:cNvPr id="207" name="E"/>
          <p:cNvSpPr txBox="1"/>
          <p:nvPr/>
        </p:nvSpPr>
        <p:spPr>
          <a:xfrm>
            <a:off x="4094162" y="4114798"/>
            <a:ext cx="280170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E</a:t>
            </a:r>
          </a:p>
        </p:txBody>
      </p:sp>
      <p:sp>
        <p:nvSpPr>
          <p:cNvPr id="208" name="= d"/>
          <p:cNvSpPr txBox="1"/>
          <p:nvPr/>
        </p:nvSpPr>
        <p:spPr>
          <a:xfrm>
            <a:off x="6927353" y="4163857"/>
            <a:ext cx="53464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800" b="1"/>
            </a:lvl1pPr>
          </a:lstStyle>
          <a:p>
            <a:pPr>
              <a:defRPr sz="1800" b="0"/>
            </a:pPr>
            <a:r>
              <a:rPr sz="2800" b="1"/>
              <a:t>= 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" grpId="0" animBg="1" advAuto="0"/>
      <p:bldP spid="188" grpId="0" animBg="1" advAuto="0"/>
      <p:bldP spid="189" grpId="0" animBg="1" advAuto="0"/>
      <p:bldP spid="190" grpId="0" animBg="1" advAuto="0"/>
      <p:bldP spid="191" grpId="0" animBg="1" advAuto="0"/>
      <p:bldP spid="192" grpId="0" animBg="1" advAuto="0"/>
      <p:bldP spid="195" grpId="0" animBg="1" advAuto="0"/>
      <p:bldP spid="196" grpId="0" animBg="1" advAuto="0"/>
      <p:bldP spid="197" grpId="0" animBg="1" advAuto="0"/>
      <p:bldP spid="198" grpId="0" animBg="1" advAuto="0"/>
      <p:bldP spid="199" grpId="0" animBg="1" advAuto="0"/>
      <p:bldP spid="201" grpId="0" animBg="1" advAuto="0"/>
      <p:bldP spid="202" grpId="0" animBg="1" advAuto="0"/>
      <p:bldP spid="203" grpId="0" animBg="1" advAuto="0"/>
      <p:bldP spid="204" grpId="0" animBg="1" advAuto="0"/>
      <p:bldP spid="205" grpId="0" animBg="1" advAuto="0"/>
      <p:bldP spid="206" grpId="0" animBg="1" advAuto="0"/>
      <p:bldP spid="207" grpId="0" animBg="1" advAuto="0"/>
      <p:bldP spid="208" grpId="0" animBg="1" advAuto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rice Leadership Models"/>
          <p:cNvSpPr txBox="1">
            <a:spLocks noGrp="1"/>
          </p:cNvSpPr>
          <p:nvPr>
            <p:ph type="ctrTitle"/>
          </p:nvPr>
        </p:nvSpPr>
        <p:spPr>
          <a:xfrm>
            <a:off x="892969" y="2985110"/>
            <a:ext cx="7358063" cy="88778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z="60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en-US" sz="28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Oligopoly</a:t>
            </a:r>
            <a:br>
              <a:rPr lang="en-US" sz="2812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8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Leadership Models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"/>
          <p:cNvSpPr/>
          <p:nvPr/>
        </p:nvSpPr>
        <p:spPr>
          <a:xfrm>
            <a:off x="5085187" y="3638760"/>
            <a:ext cx="804606" cy="446593"/>
          </a:xfrm>
          <a:prstGeom prst="rect">
            <a:avLst/>
          </a:prstGeom>
          <a:solidFill>
            <a:srgbClr val="00FFAA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Line"/>
          <p:cNvSpPr/>
          <p:nvPr/>
        </p:nvSpPr>
        <p:spPr>
          <a:xfrm flipV="1">
            <a:off x="871383" y="1007615"/>
            <a:ext cx="1" cy="5067638"/>
          </a:xfrm>
          <a:prstGeom prst="line">
            <a:avLst/>
          </a:prstGeom>
          <a:ln w="635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Line"/>
          <p:cNvSpPr/>
          <p:nvPr/>
        </p:nvSpPr>
        <p:spPr>
          <a:xfrm>
            <a:off x="391302" y="5754377"/>
            <a:ext cx="382907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Line"/>
          <p:cNvSpPr/>
          <p:nvPr/>
        </p:nvSpPr>
        <p:spPr>
          <a:xfrm flipV="1">
            <a:off x="5062862" y="1126212"/>
            <a:ext cx="1" cy="4830444"/>
          </a:xfrm>
          <a:prstGeom prst="line">
            <a:avLst/>
          </a:prstGeom>
          <a:ln w="635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Line"/>
          <p:cNvSpPr/>
          <p:nvPr/>
        </p:nvSpPr>
        <p:spPr>
          <a:xfrm>
            <a:off x="4582781" y="5650799"/>
            <a:ext cx="3829072" cy="1"/>
          </a:xfrm>
          <a:prstGeom prst="line">
            <a:avLst/>
          </a:prstGeom>
          <a:ln w="63500">
            <a:solidFill>
              <a:srgbClr val="000000"/>
            </a:solidFill>
            <a:miter lim="400000"/>
            <a:headEnd type="triangle" w="med" len="med"/>
            <a:tailEnd type="triangle" w="med" len="med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Line"/>
          <p:cNvSpPr/>
          <p:nvPr/>
        </p:nvSpPr>
        <p:spPr>
          <a:xfrm flipV="1">
            <a:off x="900021" y="1695826"/>
            <a:ext cx="3189265" cy="3262319"/>
          </a:xfrm>
          <a:prstGeom prst="line">
            <a:avLst/>
          </a:prstGeom>
          <a:ln w="88900">
            <a:solidFill>
              <a:srgbClr val="C7711B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Line"/>
          <p:cNvSpPr/>
          <p:nvPr/>
        </p:nvSpPr>
        <p:spPr>
          <a:xfrm flipH="1" flipV="1">
            <a:off x="895037" y="1275216"/>
            <a:ext cx="3798731" cy="4080311"/>
          </a:xfrm>
          <a:prstGeom prst="line">
            <a:avLst/>
          </a:prstGeom>
          <a:ln w="88900">
            <a:solidFill>
              <a:srgbClr val="406823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Line"/>
          <p:cNvSpPr/>
          <p:nvPr/>
        </p:nvSpPr>
        <p:spPr>
          <a:xfrm>
            <a:off x="849058" y="3175523"/>
            <a:ext cx="1830364" cy="1"/>
          </a:xfrm>
          <a:prstGeom prst="line">
            <a:avLst/>
          </a:prstGeom>
          <a:ln w="88900">
            <a:solidFill>
              <a:srgbClr val="1F43C9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Line"/>
          <p:cNvSpPr/>
          <p:nvPr/>
        </p:nvSpPr>
        <p:spPr>
          <a:xfrm>
            <a:off x="2679421" y="3175523"/>
            <a:ext cx="2361117" cy="1"/>
          </a:xfrm>
          <a:prstGeom prst="line">
            <a:avLst/>
          </a:prstGeom>
          <a:ln w="88900">
            <a:solidFill>
              <a:srgbClr val="C440F9"/>
            </a:solidFill>
            <a:custDash>
              <a:ds d="200000" sp="200000"/>
            </a:custDash>
            <a:miter lim="400000"/>
            <a:tailEnd type="stealth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Line"/>
          <p:cNvSpPr/>
          <p:nvPr/>
        </p:nvSpPr>
        <p:spPr>
          <a:xfrm>
            <a:off x="5085186" y="3175522"/>
            <a:ext cx="3194802" cy="1908821"/>
          </a:xfrm>
          <a:prstGeom prst="line">
            <a:avLst/>
          </a:prstGeom>
          <a:ln w="88900">
            <a:solidFill>
              <a:srgbClr val="8A982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Line"/>
          <p:cNvSpPr/>
          <p:nvPr/>
        </p:nvSpPr>
        <p:spPr>
          <a:xfrm>
            <a:off x="5097332" y="3227360"/>
            <a:ext cx="1225728" cy="2194429"/>
          </a:xfrm>
          <a:prstGeom prst="line">
            <a:avLst/>
          </a:prstGeom>
          <a:ln w="88900">
            <a:solidFill>
              <a:srgbClr val="8A9822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7" name="Connection Line"/>
          <p:cNvSpPr/>
          <p:nvPr/>
        </p:nvSpPr>
        <p:spPr>
          <a:xfrm>
            <a:off x="5473626" y="2436824"/>
            <a:ext cx="1173702" cy="1794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0" extrusionOk="0">
                <a:moveTo>
                  <a:pt x="21600" y="233"/>
                </a:moveTo>
                <a:cubicBezTo>
                  <a:pt x="13579" y="21600"/>
                  <a:pt x="6379" y="21522"/>
                  <a:pt x="0" y="0"/>
                </a:cubicBezTo>
              </a:path>
            </a:pathLst>
          </a:custGeom>
          <a:ln w="63500">
            <a:solidFill>
              <a:srgbClr val="000000"/>
            </a:solidFill>
            <a:miter lim="400000"/>
          </a:ln>
        </p:spPr>
        <p:txBody>
          <a:bodyPr/>
          <a:lstStyle/>
          <a:p>
            <a:endParaRPr sz="126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Connection Line"/>
          <p:cNvSpPr/>
          <p:nvPr/>
        </p:nvSpPr>
        <p:spPr>
          <a:xfrm>
            <a:off x="5441698" y="2815843"/>
            <a:ext cx="897225" cy="25419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765" extrusionOk="0">
                <a:moveTo>
                  <a:pt x="0" y="14832"/>
                </a:moveTo>
                <a:cubicBezTo>
                  <a:pt x="1229" y="21600"/>
                  <a:pt x="8429" y="16656"/>
                  <a:pt x="21600" y="0"/>
                </a:cubicBezTo>
              </a:path>
            </a:pathLst>
          </a:custGeom>
          <a:ln w="63500">
            <a:solidFill>
              <a:srgbClr val="DA2668"/>
            </a:solidFill>
            <a:miter lim="400000"/>
          </a:ln>
        </p:spPr>
        <p:txBody>
          <a:bodyPr/>
          <a:lstStyle/>
          <a:p>
            <a:endParaRPr sz="1266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Line"/>
          <p:cNvSpPr/>
          <p:nvPr/>
        </p:nvSpPr>
        <p:spPr>
          <a:xfrm flipV="1">
            <a:off x="5880862" y="3635729"/>
            <a:ext cx="1" cy="2046743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Line"/>
          <p:cNvSpPr/>
          <p:nvPr/>
        </p:nvSpPr>
        <p:spPr>
          <a:xfrm flipH="1">
            <a:off x="5062862" y="3648398"/>
            <a:ext cx="79809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Line"/>
          <p:cNvSpPr/>
          <p:nvPr/>
        </p:nvSpPr>
        <p:spPr>
          <a:xfrm>
            <a:off x="5062862" y="4085353"/>
            <a:ext cx="826931" cy="1"/>
          </a:xfrm>
          <a:prstGeom prst="line">
            <a:avLst/>
          </a:prstGeom>
          <a:ln w="25400">
            <a:solidFill>
              <a:srgbClr val="4C1066"/>
            </a:solidFill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Price"/>
          <p:cNvSpPr txBox="1"/>
          <p:nvPr/>
        </p:nvSpPr>
        <p:spPr>
          <a:xfrm>
            <a:off x="241054" y="779757"/>
            <a:ext cx="608005" cy="459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147" name="Qd, Qs"/>
          <p:cNvSpPr txBox="1"/>
          <p:nvPr/>
        </p:nvSpPr>
        <p:spPr>
          <a:xfrm>
            <a:off x="3642673" y="5786050"/>
            <a:ext cx="776704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1266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, Q</a:t>
            </a:r>
            <a:r>
              <a:rPr sz="1266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48" name="R, C"/>
          <p:cNvSpPr txBox="1"/>
          <p:nvPr/>
        </p:nvSpPr>
        <p:spPr>
          <a:xfrm>
            <a:off x="4396118" y="1007615"/>
            <a:ext cx="644420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R, C</a:t>
            </a:r>
          </a:p>
        </p:txBody>
      </p:sp>
      <p:sp>
        <p:nvSpPr>
          <p:cNvPr id="149" name="Qty"/>
          <p:cNvSpPr txBox="1"/>
          <p:nvPr/>
        </p:nvSpPr>
        <p:spPr>
          <a:xfrm>
            <a:off x="7909402" y="5548980"/>
            <a:ext cx="741172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Qty</a:t>
            </a:r>
          </a:p>
        </p:txBody>
      </p:sp>
      <p:sp>
        <p:nvSpPr>
          <p:cNvPr id="150" name="D"/>
          <p:cNvSpPr txBox="1"/>
          <p:nvPr/>
        </p:nvSpPr>
        <p:spPr>
          <a:xfrm>
            <a:off x="4436308" y="5183266"/>
            <a:ext cx="496939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151" name="SF"/>
          <p:cNvSpPr txBox="1"/>
          <p:nvPr/>
        </p:nvSpPr>
        <p:spPr>
          <a:xfrm>
            <a:off x="4021369" y="1659857"/>
            <a:ext cx="398007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266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152" name="Es"/>
          <p:cNvSpPr txBox="1"/>
          <p:nvPr/>
        </p:nvSpPr>
        <p:spPr>
          <a:xfrm>
            <a:off x="2528796" y="2678573"/>
            <a:ext cx="543077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1266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53" name="P"/>
          <p:cNvSpPr txBox="1"/>
          <p:nvPr/>
        </p:nvSpPr>
        <p:spPr>
          <a:xfrm>
            <a:off x="633602" y="2953731"/>
            <a:ext cx="478224" cy="459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54" name="P1"/>
          <p:cNvSpPr txBox="1"/>
          <p:nvPr/>
        </p:nvSpPr>
        <p:spPr>
          <a:xfrm>
            <a:off x="582281" y="3378049"/>
            <a:ext cx="478224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266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5" name="P2"/>
          <p:cNvSpPr txBox="1"/>
          <p:nvPr/>
        </p:nvSpPr>
        <p:spPr>
          <a:xfrm>
            <a:off x="565457" y="4700100"/>
            <a:ext cx="586059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266" baseline="-5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56" name="S1"/>
          <p:cNvSpPr txBox="1"/>
          <p:nvPr/>
        </p:nvSpPr>
        <p:spPr>
          <a:xfrm>
            <a:off x="1822300" y="3219865"/>
            <a:ext cx="478225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1266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7" name="D1"/>
          <p:cNvSpPr txBox="1"/>
          <p:nvPr/>
        </p:nvSpPr>
        <p:spPr>
          <a:xfrm>
            <a:off x="3000719" y="3201129"/>
            <a:ext cx="478224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266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8" name="P1"/>
          <p:cNvSpPr txBox="1"/>
          <p:nvPr/>
        </p:nvSpPr>
        <p:spPr>
          <a:xfrm>
            <a:off x="4793912" y="3612744"/>
            <a:ext cx="326382" cy="32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pPr>
              <a:defRPr sz="1500"/>
            </a:pPr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1055" baseline="-5999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59" name="A"/>
          <p:cNvSpPr txBox="1"/>
          <p:nvPr/>
        </p:nvSpPr>
        <p:spPr>
          <a:xfrm>
            <a:off x="4846072" y="2722223"/>
            <a:ext cx="478225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160" name="AR"/>
          <p:cNvSpPr txBox="1"/>
          <p:nvPr/>
        </p:nvSpPr>
        <p:spPr>
          <a:xfrm>
            <a:off x="8184479" y="4700100"/>
            <a:ext cx="478224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AR</a:t>
            </a:r>
          </a:p>
        </p:txBody>
      </p:sp>
      <p:grpSp>
        <p:nvGrpSpPr>
          <p:cNvPr id="163" name="Group"/>
          <p:cNvGrpSpPr/>
          <p:nvPr/>
        </p:nvGrpSpPr>
        <p:grpSpPr>
          <a:xfrm>
            <a:off x="858487" y="4589526"/>
            <a:ext cx="5939488" cy="459940"/>
            <a:chOff x="0" y="96742"/>
            <a:chExt cx="8447271" cy="654136"/>
          </a:xfrm>
        </p:grpSpPr>
        <p:sp>
          <p:nvSpPr>
            <p:cNvPr id="161" name="Line"/>
            <p:cNvSpPr/>
            <p:nvPr/>
          </p:nvSpPr>
          <p:spPr>
            <a:xfrm>
              <a:off x="0" y="654134"/>
              <a:ext cx="8447271" cy="3866"/>
            </a:xfrm>
            <a:prstGeom prst="line">
              <a:avLst/>
            </a:prstGeom>
            <a:noFill/>
            <a:ln w="25400" cap="flat">
              <a:solidFill>
                <a:srgbClr val="4C1066"/>
              </a:solidFill>
              <a:prstDash val="solid"/>
              <a:miter lim="400000"/>
            </a:ln>
            <a:effectLst/>
          </p:spPr>
          <p:txBody>
            <a:bodyPr wrap="square" lIns="35719" tIns="35719" rIns="35719" bIns="35719" numCol="1" anchor="ctr">
              <a:noAutofit/>
            </a:bodyPr>
            <a:lstStyle/>
            <a:p>
              <a:pPr>
                <a:defRPr sz="2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547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2" name="P2"/>
            <p:cNvSpPr txBox="1"/>
            <p:nvPr/>
          </p:nvSpPr>
          <p:spPr>
            <a:xfrm>
              <a:off x="4913212" y="96742"/>
              <a:ext cx="833507" cy="6541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35719" tIns="35719" rIns="35719" bIns="35719" numCol="1" anchor="ctr">
              <a:noAutofit/>
            </a:bodyPr>
            <a:lstStyle/>
            <a:p>
              <a:r>
                <a:rPr lang="en-US" sz="126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r>
                <a:rPr sz="1266" baseline="-599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164" name="MR"/>
          <p:cNvSpPr txBox="1"/>
          <p:nvPr/>
        </p:nvSpPr>
        <p:spPr>
          <a:xfrm>
            <a:off x="6319751" y="4994112"/>
            <a:ext cx="478224" cy="459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MR</a:t>
            </a:r>
          </a:p>
        </p:txBody>
      </p:sp>
      <p:sp>
        <p:nvSpPr>
          <p:cNvPr id="165" name="AC"/>
          <p:cNvSpPr txBox="1"/>
          <p:nvPr/>
        </p:nvSpPr>
        <p:spPr>
          <a:xfrm>
            <a:off x="6558862" y="2119796"/>
            <a:ext cx="601315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AC</a:t>
            </a:r>
          </a:p>
        </p:txBody>
      </p:sp>
      <p:sp>
        <p:nvSpPr>
          <p:cNvPr id="166" name="MC"/>
          <p:cNvSpPr txBox="1"/>
          <p:nvPr/>
        </p:nvSpPr>
        <p:spPr>
          <a:xfrm>
            <a:off x="6131739" y="2503376"/>
            <a:ext cx="478224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</a:t>
            </a:r>
          </a:p>
        </p:txBody>
      </p:sp>
      <p:sp>
        <p:nvSpPr>
          <p:cNvPr id="167" name="E"/>
          <p:cNvSpPr txBox="1"/>
          <p:nvPr/>
        </p:nvSpPr>
        <p:spPr>
          <a:xfrm>
            <a:off x="5943852" y="4406999"/>
            <a:ext cx="256737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68" name="Q"/>
          <p:cNvSpPr txBox="1"/>
          <p:nvPr/>
        </p:nvSpPr>
        <p:spPr>
          <a:xfrm>
            <a:off x="5791012" y="5548980"/>
            <a:ext cx="478224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</a:p>
        </p:txBody>
      </p:sp>
      <p:sp>
        <p:nvSpPr>
          <p:cNvPr id="169" name="Dominant Firm"/>
          <p:cNvSpPr txBox="1"/>
          <p:nvPr/>
        </p:nvSpPr>
        <p:spPr>
          <a:xfrm>
            <a:off x="6146528" y="319818"/>
            <a:ext cx="2121441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Dominant Firm</a:t>
            </a:r>
          </a:p>
        </p:txBody>
      </p:sp>
      <p:sp>
        <p:nvSpPr>
          <p:cNvPr id="170" name="T"/>
          <p:cNvSpPr txBox="1"/>
          <p:nvPr/>
        </p:nvSpPr>
        <p:spPr>
          <a:xfrm>
            <a:off x="4833377" y="3936078"/>
            <a:ext cx="215670" cy="32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1500"/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171" name="C"/>
          <p:cNvSpPr txBox="1"/>
          <p:nvPr/>
        </p:nvSpPr>
        <p:spPr>
          <a:xfrm>
            <a:off x="5710196" y="3862055"/>
            <a:ext cx="478224" cy="32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1500"/>
            </a:lvl1pPr>
          </a:lstStyle>
          <a:p>
            <a:r>
              <a:rPr sz="1055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172" name="R"/>
          <p:cNvSpPr txBox="1"/>
          <p:nvPr/>
        </p:nvSpPr>
        <p:spPr>
          <a:xfrm>
            <a:off x="5860020" y="3389707"/>
            <a:ext cx="239112" cy="32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1500"/>
            </a:lvl1pPr>
          </a:lstStyle>
          <a:p>
            <a:r>
              <a:rPr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173" name="Line"/>
          <p:cNvSpPr/>
          <p:nvPr/>
        </p:nvSpPr>
        <p:spPr>
          <a:xfrm flipH="1" flipV="1">
            <a:off x="864553" y="3661067"/>
            <a:ext cx="4192245" cy="1"/>
          </a:xfrm>
          <a:prstGeom prst="line">
            <a:avLst/>
          </a:prstGeom>
          <a:ln w="76200">
            <a:solidFill>
              <a:srgbClr val="000000"/>
            </a:solidFill>
            <a:prstDash val="sysDot"/>
            <a:miter lim="400000"/>
            <a:tailEnd type="stealth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Shared Market"/>
          <p:cNvSpPr txBox="1"/>
          <p:nvPr/>
        </p:nvSpPr>
        <p:spPr>
          <a:xfrm>
            <a:off x="1738539" y="409876"/>
            <a:ext cx="2121441" cy="459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/>
          <a:p>
            <a:r>
              <a:rPr sz="1266">
                <a:latin typeface="Times New Roman" panose="02020603050405020304" pitchFamily="18" charset="0"/>
                <a:cs typeface="Times New Roman" panose="02020603050405020304" pitchFamily="18" charset="0"/>
              </a:rPr>
              <a:t>Shared Market</a:t>
            </a:r>
          </a:p>
        </p:txBody>
      </p:sp>
      <p:sp>
        <p:nvSpPr>
          <p:cNvPr id="175" name="Line"/>
          <p:cNvSpPr/>
          <p:nvPr/>
        </p:nvSpPr>
        <p:spPr>
          <a:xfrm flipV="1">
            <a:off x="872792" y="3936077"/>
            <a:ext cx="5039323" cy="553"/>
          </a:xfrm>
          <a:prstGeom prst="line">
            <a:avLst/>
          </a:prstGeom>
          <a:ln w="76200" cap="rnd">
            <a:solidFill>
              <a:srgbClr val="F12922"/>
            </a:solidFill>
            <a:custDash>
              <a:ds d="100000" sp="200000"/>
            </a:custDash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Rectangle"/>
          <p:cNvSpPr/>
          <p:nvPr/>
        </p:nvSpPr>
        <p:spPr>
          <a:xfrm>
            <a:off x="5085187" y="3944786"/>
            <a:ext cx="826928" cy="199389"/>
          </a:xfrm>
          <a:prstGeom prst="rect">
            <a:avLst/>
          </a:prstGeom>
          <a:solidFill>
            <a:schemeClr val="accent6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">
            <a:extLst>
              <a:ext uri="{FF2B5EF4-FFF2-40B4-BE49-F238E27FC236}">
                <a16:creationId xmlns:a16="http://schemas.microsoft.com/office/drawing/2014/main" id="{A590AC53-D2FF-0921-9A62-7BECE5473AA7}"/>
              </a:ext>
            </a:extLst>
          </p:cNvPr>
          <p:cNvSpPr txBox="1"/>
          <p:nvPr/>
        </p:nvSpPr>
        <p:spPr>
          <a:xfrm>
            <a:off x="5864118" y="3894368"/>
            <a:ext cx="239112" cy="32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ctr"/>
          <a:lstStyle>
            <a:lvl1pPr>
              <a:defRPr sz="1500"/>
            </a:lvl1pPr>
          </a:lstStyle>
          <a:p>
            <a:r>
              <a:rPr lang="en-US" sz="10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sz="10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4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8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2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6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4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4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 animBg="1" advAuto="0"/>
      <p:bldP spid="130" grpId="1" animBg="1" advAuto="0"/>
      <p:bldP spid="135" grpId="0" animBg="1" advAuto="0"/>
      <p:bldP spid="136" grpId="0" animBg="1" advAuto="0"/>
      <p:bldP spid="137" grpId="0" animBg="1" advAuto="0"/>
      <p:bldP spid="138" grpId="0" animBg="1" advAuto="0"/>
      <p:bldP spid="139" grpId="0" animBg="1" advAuto="0"/>
      <p:bldP spid="140" grpId="0" animBg="1" advAuto="0"/>
      <p:bldP spid="177" grpId="0" animBg="1" advAuto="0"/>
      <p:bldP spid="178" grpId="0" animBg="1" advAuto="0"/>
      <p:bldP spid="143" grpId="0" animBg="1" advAuto="0"/>
      <p:bldP spid="144" grpId="0" animBg="1" advAuto="0"/>
      <p:bldP spid="145" grpId="0" animBg="1" advAuto="0"/>
      <p:bldP spid="150" grpId="0" animBg="1" advAuto="0"/>
      <p:bldP spid="151" grpId="0" animBg="1" advAuto="0"/>
      <p:bldP spid="152" grpId="0" animBg="1" advAuto="0"/>
      <p:bldP spid="153" grpId="0" animBg="1" advAuto="0"/>
      <p:bldP spid="154" grpId="0" animBg="1" advAuto="0"/>
      <p:bldP spid="155" grpId="0" animBg="1" advAuto="0"/>
      <p:bldP spid="156" grpId="0" animBg="1" advAuto="0"/>
      <p:bldP spid="157" grpId="0" animBg="1" advAuto="0"/>
      <p:bldP spid="158" grpId="0" animBg="1" advAuto="0"/>
      <p:bldP spid="159" grpId="0" animBg="1" advAuto="0"/>
      <p:bldP spid="160" grpId="0" animBg="1" advAuto="0"/>
      <p:bldP spid="163" grpId="0" animBg="1" advAuto="0"/>
      <p:bldP spid="164" grpId="0" animBg="1" advAuto="0"/>
      <p:bldP spid="165" grpId="0" animBg="1" advAuto="0"/>
      <p:bldP spid="166" grpId="0" animBg="1" advAuto="0"/>
      <p:bldP spid="167" grpId="0" animBg="1" advAuto="0"/>
      <p:bldP spid="168" grpId="0" animBg="1" advAuto="0"/>
      <p:bldP spid="170" grpId="0" animBg="1" advAuto="0"/>
      <p:bldP spid="171" grpId="0" animBg="1" advAuto="0"/>
      <p:bldP spid="172" grpId="0" animBg="1" advAuto="0"/>
      <p:bldP spid="173" grpId="0" animBg="1" advAuto="0"/>
      <p:bldP spid="175" grpId="0" animBg="1" advAuto="0"/>
      <p:bldP spid="176" grpId="0" animBg="1" advAuto="0"/>
      <p:bldP spid="176" grpId="1" animBg="1" advAuto="0"/>
      <p:bldP spid="2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rice Leadership Models"/>
          <p:cNvSpPr txBox="1">
            <a:spLocks noGrp="1"/>
          </p:cNvSpPr>
          <p:nvPr>
            <p:ph type="ctrTitle"/>
          </p:nvPr>
        </p:nvSpPr>
        <p:spPr>
          <a:xfrm>
            <a:off x="450056" y="427647"/>
            <a:ext cx="4121944" cy="87251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en-US" sz="28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Firm’s Traits</a:t>
            </a:r>
            <a:endParaRPr sz="28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Price Leadership Models">
            <a:extLst>
              <a:ext uri="{FF2B5EF4-FFF2-40B4-BE49-F238E27FC236}">
                <a16:creationId xmlns:a16="http://schemas.microsoft.com/office/drawing/2014/main" id="{1F4354D3-5D16-C345-B3B2-79205905D4EF}"/>
              </a:ext>
            </a:extLst>
          </p:cNvPr>
          <p:cNvSpPr txBox="1">
            <a:spLocks/>
          </p:cNvSpPr>
          <p:nvPr/>
        </p:nvSpPr>
        <p:spPr>
          <a:xfrm>
            <a:off x="450056" y="1434916"/>
            <a:ext cx="8577311" cy="87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just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Deep Pockets =  cross financializing to support Sub-Normal Profits  </a:t>
            </a:r>
          </a:p>
        </p:txBody>
      </p:sp>
      <p:sp>
        <p:nvSpPr>
          <p:cNvPr id="4" name="Price Leadership Models">
            <a:extLst>
              <a:ext uri="{FF2B5EF4-FFF2-40B4-BE49-F238E27FC236}">
                <a16:creationId xmlns:a16="http://schemas.microsoft.com/office/drawing/2014/main" id="{B6C3EF42-53FD-A54D-9A49-DBFC4F463D81}"/>
              </a:ext>
            </a:extLst>
          </p:cNvPr>
          <p:cNvSpPr txBox="1">
            <a:spLocks/>
          </p:cNvSpPr>
          <p:nvPr/>
        </p:nvSpPr>
        <p:spPr>
          <a:xfrm>
            <a:off x="450054" y="2493752"/>
            <a:ext cx="8446100" cy="872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just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Able to create entry barrier = IPR, Predatory Pricing  </a:t>
            </a:r>
          </a:p>
        </p:txBody>
      </p:sp>
      <p:sp>
        <p:nvSpPr>
          <p:cNvPr id="5" name="Price Leadership Models">
            <a:extLst>
              <a:ext uri="{FF2B5EF4-FFF2-40B4-BE49-F238E27FC236}">
                <a16:creationId xmlns:a16="http://schemas.microsoft.com/office/drawing/2014/main" id="{1962DE05-B5F2-BC4F-B86D-1F3130347455}"/>
              </a:ext>
            </a:extLst>
          </p:cNvPr>
          <p:cNvSpPr txBox="1">
            <a:spLocks/>
          </p:cNvSpPr>
          <p:nvPr/>
        </p:nvSpPr>
        <p:spPr>
          <a:xfrm>
            <a:off x="450054" y="3402000"/>
            <a:ext cx="8446100" cy="1079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just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Able to  sustain the feeding of large market sizes at 40 % of the total market</a:t>
            </a:r>
          </a:p>
        </p:txBody>
      </p:sp>
      <p:sp>
        <p:nvSpPr>
          <p:cNvPr id="6" name="Price Leadership Models">
            <a:extLst>
              <a:ext uri="{FF2B5EF4-FFF2-40B4-BE49-F238E27FC236}">
                <a16:creationId xmlns:a16="http://schemas.microsoft.com/office/drawing/2014/main" id="{20C1384D-40C4-7145-B22C-DD9CCF42C63B}"/>
              </a:ext>
            </a:extLst>
          </p:cNvPr>
          <p:cNvSpPr txBox="1">
            <a:spLocks/>
          </p:cNvSpPr>
          <p:nvPr/>
        </p:nvSpPr>
        <p:spPr>
          <a:xfrm>
            <a:off x="450054" y="4824218"/>
            <a:ext cx="8078708" cy="8982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0" b="1" i="0" u="none" strike="noStrike" cap="none" spc="0" baseline="0"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algn="just" hangingPunct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Capable of operating like a cartel by being price-leaders </a:t>
            </a:r>
          </a:p>
        </p:txBody>
      </p:sp>
    </p:spTree>
    <p:extLst>
      <p:ext uri="{BB962C8B-B14F-4D97-AF65-F5344CB8AC3E}">
        <p14:creationId xmlns:p14="http://schemas.microsoft.com/office/powerpoint/2010/main" val="17241945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30507-D977-073E-7881-935E2F849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rice Leadership Models">
            <a:extLst>
              <a:ext uri="{FF2B5EF4-FFF2-40B4-BE49-F238E27FC236}">
                <a16:creationId xmlns:a16="http://schemas.microsoft.com/office/drawing/2014/main" id="{E3C6A6E8-2E55-7B29-260C-87CEC46331D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92969" y="2985110"/>
            <a:ext cx="7358063" cy="88778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6000" b="1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en-US" sz="2812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Numericals</a:t>
            </a:r>
            <a:endParaRPr sz="28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4653037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 txBox="1">
            <a:spLocks noGrp="1"/>
          </p:cNvSpPr>
          <p:nvPr>
            <p:ph type="ctrTitle"/>
          </p:nvPr>
        </p:nvSpPr>
        <p:spPr>
          <a:xfrm>
            <a:off x="406301" y="1042997"/>
            <a:ext cx="7228582" cy="4462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b="1"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 algn="just"/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Breakeven:  TR = TC,      Pie = 0          AR = AC (Full Cost)</a:t>
            </a:r>
            <a:endParaRPr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2ADB33-9A14-C046-B87E-75585AB449A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43</a:t>
            </a:fld>
            <a:endParaRPr lang="en-IN"/>
          </a:p>
        </p:txBody>
      </p:sp>
      <p:sp>
        <p:nvSpPr>
          <p:cNvPr id="4" name="Shape 137">
            <a:extLst>
              <a:ext uri="{FF2B5EF4-FFF2-40B4-BE49-F238E27FC236}">
                <a16:creationId xmlns:a16="http://schemas.microsoft.com/office/drawing/2014/main" id="{36FC98A2-C094-D941-9C5D-8C40913E0B3E}"/>
              </a:ext>
            </a:extLst>
          </p:cNvPr>
          <p:cNvSpPr txBox="1">
            <a:spLocks/>
          </p:cNvSpPr>
          <p:nvPr/>
        </p:nvSpPr>
        <p:spPr>
          <a:xfrm>
            <a:off x="285750" y="370825"/>
            <a:ext cx="7228582" cy="44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Starting </a:t>
            </a:r>
            <a:r>
              <a:rPr lang="en-US" sz="1969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196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1969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numericals</a:t>
            </a:r>
            <a:endParaRPr lang="en-US" sz="1969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137">
            <a:extLst>
              <a:ext uri="{FF2B5EF4-FFF2-40B4-BE49-F238E27FC236}">
                <a16:creationId xmlns:a16="http://schemas.microsoft.com/office/drawing/2014/main" id="{ED65618A-AD51-9F47-B978-D8E463643E67}"/>
              </a:ext>
            </a:extLst>
          </p:cNvPr>
          <p:cNvSpPr txBox="1">
            <a:spLocks/>
          </p:cNvSpPr>
          <p:nvPr/>
        </p:nvSpPr>
        <p:spPr>
          <a:xfrm>
            <a:off x="406301" y="1616517"/>
            <a:ext cx="7737574" cy="4462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Pie (Max):   {MC = MR &amp; MC’ &gt; MR’}    or     {pie’ = 0 and pie’’ &lt; 0} </a:t>
            </a:r>
          </a:p>
        </p:txBody>
      </p:sp>
      <p:sp>
        <p:nvSpPr>
          <p:cNvPr id="6" name="Shape 137">
            <a:extLst>
              <a:ext uri="{FF2B5EF4-FFF2-40B4-BE49-F238E27FC236}">
                <a16:creationId xmlns:a16="http://schemas.microsoft.com/office/drawing/2014/main" id="{7CC46C4C-26D9-B942-AC55-9D2A24CF0228}"/>
              </a:ext>
            </a:extLst>
          </p:cNvPr>
          <p:cNvSpPr txBox="1">
            <a:spLocks/>
          </p:cNvSpPr>
          <p:nvPr/>
        </p:nvSpPr>
        <p:spPr>
          <a:xfrm>
            <a:off x="500063" y="2299638"/>
            <a:ext cx="7228582" cy="446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(Max):   {TR’ = 0   and TR’’ &lt; 0}      or    MR = 0 </a:t>
            </a:r>
          </a:p>
        </p:txBody>
      </p:sp>
      <p:sp>
        <p:nvSpPr>
          <p:cNvPr id="7" name="Shape 137">
            <a:extLst>
              <a:ext uri="{FF2B5EF4-FFF2-40B4-BE49-F238E27FC236}">
                <a16:creationId xmlns:a16="http://schemas.microsoft.com/office/drawing/2014/main" id="{CAEF7A77-E973-084E-BDD7-10692A5D4CF3}"/>
              </a:ext>
            </a:extLst>
          </p:cNvPr>
          <p:cNvSpPr txBox="1">
            <a:spLocks/>
          </p:cNvSpPr>
          <p:nvPr/>
        </p:nvSpPr>
        <p:spPr>
          <a:xfrm>
            <a:off x="500063" y="2936213"/>
            <a:ext cx="7228582" cy="4462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 pricing :        MC = AR</a:t>
            </a:r>
          </a:p>
        </p:txBody>
      </p:sp>
      <p:sp>
        <p:nvSpPr>
          <p:cNvPr id="8" name="Shape 137">
            <a:extLst>
              <a:ext uri="{FF2B5EF4-FFF2-40B4-BE49-F238E27FC236}">
                <a16:creationId xmlns:a16="http://schemas.microsoft.com/office/drawing/2014/main" id="{186C142A-6EF0-E544-984D-893F4C086A0E}"/>
              </a:ext>
            </a:extLst>
          </p:cNvPr>
          <p:cNvSpPr txBox="1">
            <a:spLocks/>
          </p:cNvSpPr>
          <p:nvPr/>
        </p:nvSpPr>
        <p:spPr>
          <a:xfrm>
            <a:off x="593824" y="4073593"/>
            <a:ext cx="7228582" cy="4462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 fontScale="92500"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output pricing:   find Optimum Qty      sub. the Qty in AR</a:t>
            </a:r>
          </a:p>
        </p:txBody>
      </p:sp>
      <p:sp>
        <p:nvSpPr>
          <p:cNvPr id="9" name="Shape 137">
            <a:extLst>
              <a:ext uri="{FF2B5EF4-FFF2-40B4-BE49-F238E27FC236}">
                <a16:creationId xmlns:a16="http://schemas.microsoft.com/office/drawing/2014/main" id="{64E84A96-8310-064F-A0C7-0667E4F1894E}"/>
              </a:ext>
            </a:extLst>
          </p:cNvPr>
          <p:cNvSpPr txBox="1">
            <a:spLocks/>
          </p:cNvSpPr>
          <p:nvPr/>
        </p:nvSpPr>
        <p:spPr>
          <a:xfrm>
            <a:off x="500063" y="3504903"/>
            <a:ext cx="7228582" cy="4462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Optimum Output:     {AC’ = 0 and AC’’ &gt; 0}      or   MC = AC</a:t>
            </a:r>
          </a:p>
        </p:txBody>
      </p:sp>
      <p:sp>
        <p:nvSpPr>
          <p:cNvPr id="10" name="Shape 137">
            <a:extLst>
              <a:ext uri="{FF2B5EF4-FFF2-40B4-BE49-F238E27FC236}">
                <a16:creationId xmlns:a16="http://schemas.microsoft.com/office/drawing/2014/main" id="{7A697C49-3051-704D-AC06-9AAD36FBEFDC}"/>
              </a:ext>
            </a:extLst>
          </p:cNvPr>
          <p:cNvSpPr txBox="1">
            <a:spLocks/>
          </p:cNvSpPr>
          <p:nvPr/>
        </p:nvSpPr>
        <p:spPr>
          <a:xfrm>
            <a:off x="660797" y="4675861"/>
            <a:ext cx="7228582" cy="4462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Helvetica"/>
              </a:defRPr>
            </a:lvl1pPr>
            <a:lvl2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2pPr>
            <a:lvl3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3pPr>
            <a:lvl4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4pPr>
            <a:lvl5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5pPr>
            <a:lvl6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6pPr>
            <a:lvl7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7pPr>
            <a:lvl8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8pPr>
            <a:lvl9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Helvetica Light"/>
                <a:ea typeface="Helvetica Light"/>
                <a:cs typeface="Helvetica Light"/>
                <a:sym typeface="Helvetica Light"/>
              </a:defRPr>
            </a:lvl9pPr>
          </a:lstStyle>
          <a:p>
            <a:pPr algn="just" hangingPunct="1"/>
            <a:r>
              <a:rPr lang="en-US" sz="1969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Edp</a:t>
            </a:r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   (m)(Price /Qty)      =      A / {A – M}   =  (L Seg) / (U Seg) </a:t>
            </a:r>
          </a:p>
        </p:txBody>
      </p:sp>
    </p:spTree>
    <p:extLst>
      <p:ext uri="{BB962C8B-B14F-4D97-AF65-F5344CB8AC3E}">
        <p14:creationId xmlns:p14="http://schemas.microsoft.com/office/powerpoint/2010/main" val="24673394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" grpId="0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44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blipFill>
                <a:blip r:embed="rId3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of AC Curve">
            <a:extLst>
              <a:ext uri="{FF2B5EF4-FFF2-40B4-BE49-F238E27FC236}">
                <a16:creationId xmlns:a16="http://schemas.microsoft.com/office/drawing/2014/main" id="{094BF657-4064-5941-91B7-BE3BB2DB0A9D}"/>
              </a:ext>
            </a:extLst>
          </p:cNvPr>
          <p:cNvSpPr txBox="1">
            <a:spLocks/>
          </p:cNvSpPr>
          <p:nvPr/>
        </p:nvSpPr>
        <p:spPr>
          <a:xfrm>
            <a:off x="4697088" y="859573"/>
            <a:ext cx="4186570" cy="50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5q</a:t>
            </a:r>
            <a:r>
              <a:rPr lang="en-US" sz="1969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2q</a:t>
            </a:r>
            <a:r>
              <a:rPr lang="en-US" sz="1969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+ 7q + 100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621340" y="138596"/>
                <a:ext cx="5151703" cy="465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𝑷𝒊𝒆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𝒔𝒕𝒂𝒕𝒖𝒔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𝒗𝒊𝒂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𝒑𝒊𝒆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𝑴𝒂𝒙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𝑷𝒓𝒊𝒏𝒄𝒊𝒑𝒍𝒆𝒔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969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38596"/>
                <a:ext cx="5151703" cy="465258"/>
              </a:xfrm>
              <a:prstGeom prst="rect">
                <a:avLst/>
              </a:prstGeom>
              <a:blipFill>
                <a:blip r:embed="rId4"/>
                <a:stretch>
                  <a:fillRect l="-737" b="-270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17. Hence,   edp  =   AR / (AR - MR)">
                <a:extLst>
                  <a:ext uri="{FF2B5EF4-FFF2-40B4-BE49-F238E27FC236}">
                    <a16:creationId xmlns:a16="http://schemas.microsoft.com/office/drawing/2014/main" id="{0EA7B572-0202-5140-8880-811F4AC3E724}"/>
                  </a:ext>
                </a:extLst>
              </p:cNvPr>
              <p:cNvSpPr txBox="1"/>
              <p:nvPr/>
            </p:nvSpPr>
            <p:spPr>
              <a:xfrm>
                <a:off x="678462" y="1425808"/>
                <a:ext cx="3657628" cy="8244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𝑻𝑹</m:t>
                          </m:r>
                        </m:num>
                        <m:den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17. Hence,   edp  =   AR / (AR - MR)">
                <a:extLst>
                  <a:ext uri="{FF2B5EF4-FFF2-40B4-BE49-F238E27FC236}">
                    <a16:creationId xmlns:a16="http://schemas.microsoft.com/office/drawing/2014/main" id="{0EA7B572-0202-5140-8880-811F4AC3E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1425808"/>
                <a:ext cx="3657628" cy="824473"/>
              </a:xfrm>
              <a:prstGeom prst="rect">
                <a:avLst/>
              </a:prstGeom>
              <a:blipFill>
                <a:blip r:embed="rId5"/>
                <a:stretch>
                  <a:fillRect l="-1384" b="-606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17. Hence,   edp  =   AR / (AR - MR)">
                <a:extLst>
                  <a:ext uri="{FF2B5EF4-FFF2-40B4-BE49-F238E27FC236}">
                    <a16:creationId xmlns:a16="http://schemas.microsoft.com/office/drawing/2014/main" id="{8D691E01-C4B5-E44C-8116-0F57EB84ABD4}"/>
                  </a:ext>
                </a:extLst>
              </p:cNvPr>
              <p:cNvSpPr txBox="1"/>
              <p:nvPr/>
            </p:nvSpPr>
            <p:spPr>
              <a:xfrm>
                <a:off x="678462" y="2312412"/>
                <a:ext cx="3657628" cy="5540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17. Hence,   edp  =   AR / (AR - MR)">
                <a:extLst>
                  <a:ext uri="{FF2B5EF4-FFF2-40B4-BE49-F238E27FC236}">
                    <a16:creationId xmlns:a16="http://schemas.microsoft.com/office/drawing/2014/main" id="{8D691E01-C4B5-E44C-8116-0F57EB84A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2312412"/>
                <a:ext cx="3657628" cy="554018"/>
              </a:xfrm>
              <a:prstGeom prst="rect">
                <a:avLst/>
              </a:prstGeom>
              <a:blipFill>
                <a:blip r:embed="rId6"/>
                <a:stretch>
                  <a:fillRect l="-1384" b="-2222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hape of AC Curve">
                <a:extLst>
                  <a:ext uri="{FF2B5EF4-FFF2-40B4-BE49-F238E27FC236}">
                    <a16:creationId xmlns:a16="http://schemas.microsoft.com/office/drawing/2014/main" id="{10EDE947-0FF5-0A48-A563-0888A3B056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7088" y="1585993"/>
                <a:ext cx="4186570" cy="50410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𝑻𝑪</m:t>
                        </m:r>
                      </m:num>
                      <m:den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den>
                    </m:f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5q</a:t>
                </a:r>
                <a:r>
                  <a:rPr lang="en-US" sz="1969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2q + 7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𝟏𝟎𝟎</m:t>
                        </m:r>
                      </m:num>
                      <m:den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den>
                    </m:f>
                  </m:oMath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Shape of AC Curve">
                <a:extLst>
                  <a:ext uri="{FF2B5EF4-FFF2-40B4-BE49-F238E27FC236}">
                    <a16:creationId xmlns:a16="http://schemas.microsoft.com/office/drawing/2014/main" id="{10EDE947-0FF5-0A48-A563-0888A3B05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088" y="1585993"/>
                <a:ext cx="4186570" cy="504104"/>
              </a:xfrm>
              <a:prstGeom prst="rect">
                <a:avLst/>
              </a:prstGeom>
              <a:blipFill>
                <a:blip r:embed="rId7"/>
                <a:stretch>
                  <a:fillRect l="-3030" t="-2439" b="-731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of AC Curve">
            <a:extLst>
              <a:ext uri="{FF2B5EF4-FFF2-40B4-BE49-F238E27FC236}">
                <a16:creationId xmlns:a16="http://schemas.microsoft.com/office/drawing/2014/main" id="{4B873E60-E370-AD4D-9AD7-F83095C1D724}"/>
              </a:ext>
            </a:extLst>
          </p:cNvPr>
          <p:cNvSpPr txBox="1">
            <a:spLocks/>
          </p:cNvSpPr>
          <p:nvPr/>
        </p:nvSpPr>
        <p:spPr>
          <a:xfrm>
            <a:off x="4807912" y="2268445"/>
            <a:ext cx="4186570" cy="50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TC’ = 15q</a:t>
            </a:r>
            <a:r>
              <a:rPr lang="en-US" sz="1969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4q + 7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17. Hence,   edp  =   AR / (AR - MR)">
                <a:extLst>
                  <a:ext uri="{FF2B5EF4-FFF2-40B4-BE49-F238E27FC236}">
                    <a16:creationId xmlns:a16="http://schemas.microsoft.com/office/drawing/2014/main" id="{540D0E98-8B08-4E45-90E7-A3281DA79D39}"/>
                  </a:ext>
                </a:extLst>
              </p:cNvPr>
              <p:cNvSpPr txBox="1"/>
              <p:nvPr/>
            </p:nvSpPr>
            <p:spPr>
              <a:xfrm>
                <a:off x="900906" y="3643331"/>
                <a:ext cx="6399114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=−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5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3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𝟏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𝟖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𝒒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–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100            </m:t>
                      </m:r>
                    </m:oMath>
                  </m:oMathPara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Helvetica Neue Medium"/>
                </a:endParaRPr>
              </a:p>
            </p:txBody>
          </p:sp>
        </mc:Choice>
        <mc:Fallback xmlns="">
          <p:sp>
            <p:nvSpPr>
              <p:cNvPr id="29" name="17. Hence,   edp  =   AR / (AR - MR)">
                <a:extLst>
                  <a:ext uri="{FF2B5EF4-FFF2-40B4-BE49-F238E27FC236}">
                    <a16:creationId xmlns:a16="http://schemas.microsoft.com/office/drawing/2014/main" id="{540D0E98-8B08-4E45-90E7-A3281DA79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6" y="3643331"/>
                <a:ext cx="6399114" cy="581475"/>
              </a:xfrm>
              <a:prstGeom prst="rect">
                <a:avLst/>
              </a:prstGeom>
              <a:blipFill>
                <a:blip r:embed="rId8"/>
                <a:stretch>
                  <a:fillRect l="-594" b="-1739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17. Hence,   edp  =   AR / (AR - MR)">
                <a:extLst>
                  <a:ext uri="{FF2B5EF4-FFF2-40B4-BE49-F238E27FC236}">
                    <a16:creationId xmlns:a16="http://schemas.microsoft.com/office/drawing/2014/main" id="{D2A00C5B-EB46-0B40-B5DA-640F83A9FAF3}"/>
                  </a:ext>
                </a:extLst>
              </p:cNvPr>
              <p:cNvSpPr txBox="1"/>
              <p:nvPr/>
            </p:nvSpPr>
            <p:spPr>
              <a:xfrm>
                <a:off x="900906" y="2994865"/>
                <a:ext cx="6399114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𝑻𝑪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5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^3 + 2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^2 − 7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− 100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17. Hence,   edp  =   AR / (AR - MR)">
                <a:extLst>
                  <a:ext uri="{FF2B5EF4-FFF2-40B4-BE49-F238E27FC236}">
                    <a16:creationId xmlns:a16="http://schemas.microsoft.com/office/drawing/2014/main" id="{D2A00C5B-EB46-0B40-B5DA-640F83A9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6" y="2994865"/>
                <a:ext cx="6399114" cy="581475"/>
              </a:xfrm>
              <a:prstGeom prst="rect">
                <a:avLst/>
              </a:prstGeom>
              <a:blipFill>
                <a:blip r:embed="rId9"/>
                <a:stretch>
                  <a:fillRect l="-59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17. Hence,   edp  =   AR / (AR - MR)">
                <a:extLst>
                  <a:ext uri="{FF2B5EF4-FFF2-40B4-BE49-F238E27FC236}">
                    <a16:creationId xmlns:a16="http://schemas.microsoft.com/office/drawing/2014/main" id="{0F594DFA-A16A-6649-A161-6209DF4D3BEA}"/>
                  </a:ext>
                </a:extLst>
              </p:cNvPr>
              <p:cNvSpPr txBox="1"/>
              <p:nvPr/>
            </p:nvSpPr>
            <p:spPr>
              <a:xfrm>
                <a:off x="900906" y="4397677"/>
                <a:ext cx="6399114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𝟏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5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2</m:t>
                    </m:r>
                    <m:r>
                      <a:rPr lang="en-US" sz="1969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𝟑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𝟔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 = 0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q1 = 1.22         </a:t>
                </a:r>
                <a:r>
                  <a:rPr lang="en-US" sz="1969" strike="sngStrik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q2 = - 0.98 </a:t>
                </a:r>
                <a:endParaRPr lang="ar-AE" sz="1969" strike="sngStrik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17. Hence,   edp  =   AR / (AR - MR)">
                <a:extLst>
                  <a:ext uri="{FF2B5EF4-FFF2-40B4-BE49-F238E27FC236}">
                    <a16:creationId xmlns:a16="http://schemas.microsoft.com/office/drawing/2014/main" id="{0F594DFA-A16A-6649-A161-6209DF4D3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6" y="4397677"/>
                <a:ext cx="6399114" cy="581475"/>
              </a:xfrm>
              <a:prstGeom prst="rect">
                <a:avLst/>
              </a:prstGeom>
              <a:blipFill>
                <a:blip r:embed="rId10"/>
                <a:stretch>
                  <a:fillRect l="-594" r="-396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17. Hence,   edp  =   AR / (AR - MR)">
                <a:extLst>
                  <a:ext uri="{FF2B5EF4-FFF2-40B4-BE49-F238E27FC236}">
                    <a16:creationId xmlns:a16="http://schemas.microsoft.com/office/drawing/2014/main" id="{AB51B2ED-C661-B549-AB0B-66C6A20A6F6D}"/>
                  </a:ext>
                </a:extLst>
              </p:cNvPr>
              <p:cNvSpPr txBox="1"/>
              <p:nvPr/>
            </p:nvSpPr>
            <p:spPr>
              <a:xfrm>
                <a:off x="150812" y="5169457"/>
                <a:ext cx="8180587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𝑽</m:t>
                      </m:r>
                      <m:d>
                        <m:dPr>
                          <m:ctrlP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Helvetica Neue Medium"/>
                                </a:rPr>
                                <m:t>𝝅</m:t>
                              </m:r>
                            </m:e>
                            <m:sub>
                              <m: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𝒒</m:t>
                              </m:r>
                              <m: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1969" b="1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</m:e>
                      </m:d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𝟏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5(1.22)</m:t>
                      </m:r>
                      <m:r>
                        <m:rPr>
                          <m:nor/>
                        </m:rPr>
                        <a:rPr lang="en-US" sz="1969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2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𝟔</m:t>
                      </m:r>
                      <m:d>
                        <m:d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</m:ctrlPr>
                        </m:d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𝟏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.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𝟐𝟐</m:t>
                          </m:r>
                        </m:e>
                      </m:d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𝑹𝒔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𝟎𝟔𝟔</m:t>
                      </m:r>
                    </m:oMath>
                  </m:oMathPara>
                </a14:m>
                <a:endParaRPr lang="ar-AE" sz="1969" strike="sngStrik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17. Hence,   edp  =   AR / (AR - MR)">
                <a:extLst>
                  <a:ext uri="{FF2B5EF4-FFF2-40B4-BE49-F238E27FC236}">
                    <a16:creationId xmlns:a16="http://schemas.microsoft.com/office/drawing/2014/main" id="{AB51B2ED-C661-B549-AB0B-66C6A20A6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2" y="5169457"/>
                <a:ext cx="8180587" cy="581475"/>
              </a:xfrm>
              <a:prstGeom prst="rect">
                <a:avLst/>
              </a:prstGeom>
              <a:blipFill>
                <a:blip r:embed="rId11"/>
                <a:stretch>
                  <a:fillRect l="-620" b="-1521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17. Hence,   edp  =   AR / (AR - MR)">
                <a:extLst>
                  <a:ext uri="{FF2B5EF4-FFF2-40B4-BE49-F238E27FC236}">
                    <a16:creationId xmlns:a16="http://schemas.microsoft.com/office/drawing/2014/main" id="{76024EAC-87B7-A043-A6C2-FE3C3802C264}"/>
                  </a:ext>
                </a:extLst>
              </p:cNvPr>
              <p:cNvSpPr txBox="1"/>
              <p:nvPr/>
            </p:nvSpPr>
            <p:spPr>
              <a:xfrm>
                <a:off x="150812" y="5837367"/>
                <a:ext cx="8180587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ctrlP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969" b="1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𝟐𝟐</m:t>
                          </m:r>
                        </m:e>
                      </m:d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𝟐</m:t>
                      </m:r>
                      <m:d>
                        <m:d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</m:ctrlPr>
                        </m:d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𝟏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.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𝟐𝟐</m:t>
                          </m:r>
                        </m:e>
                      </m:d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𝑹𝒔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𝟕𝟔</m:t>
                      </m:r>
                    </m:oMath>
                  </m:oMathPara>
                </a14:m>
                <a:endParaRPr lang="ar-AE" sz="1969" strike="sngStrik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17. Hence,   edp  =   AR / (AR - MR)">
                <a:extLst>
                  <a:ext uri="{FF2B5EF4-FFF2-40B4-BE49-F238E27FC236}">
                    <a16:creationId xmlns:a16="http://schemas.microsoft.com/office/drawing/2014/main" id="{76024EAC-87B7-A043-A6C2-FE3C3802C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812" y="5837367"/>
                <a:ext cx="8180587" cy="581475"/>
              </a:xfrm>
              <a:prstGeom prst="rect">
                <a:avLst/>
              </a:prstGeom>
              <a:blipFill>
                <a:blip r:embed="rId12"/>
                <a:stretch>
                  <a:fillRect l="-620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7821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4" grpId="0" animBg="1"/>
      <p:bldP spid="3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 baseline="30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blipFill>
                <a:blip r:embed="rId3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of AC Curve">
            <a:extLst>
              <a:ext uri="{FF2B5EF4-FFF2-40B4-BE49-F238E27FC236}">
                <a16:creationId xmlns:a16="http://schemas.microsoft.com/office/drawing/2014/main" id="{094BF657-4064-5941-91B7-BE3BB2DB0A9D}"/>
              </a:ext>
            </a:extLst>
          </p:cNvPr>
          <p:cNvSpPr txBox="1">
            <a:spLocks/>
          </p:cNvSpPr>
          <p:nvPr/>
        </p:nvSpPr>
        <p:spPr>
          <a:xfrm>
            <a:off x="4697088" y="859573"/>
            <a:ext cx="4186570" cy="50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5q</a:t>
            </a:r>
            <a:r>
              <a:rPr lang="en-US" sz="1969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2q</a:t>
            </a:r>
            <a:r>
              <a:rPr lang="en-US" sz="1969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+ 7q + 100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621340" y="138596"/>
                <a:ext cx="5151703" cy="46525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𝑷𝒊𝒆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𝒔𝒕𝒂𝒕𝒖𝒔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𝒗𝒊𝒂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𝒑𝒊𝒆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𝑴𝒂𝒙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𝑷𝒓𝒊𝒏𝒄𝒊𝒑𝒍𝒆𝒔</m:t>
                      </m:r>
                      <m:r>
                        <a:rPr lang="en-US" sz="1969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1969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38596"/>
                <a:ext cx="5151703" cy="465258"/>
              </a:xfrm>
              <a:prstGeom prst="rect">
                <a:avLst/>
              </a:prstGeom>
              <a:blipFill>
                <a:blip r:embed="rId4"/>
                <a:stretch>
                  <a:fillRect l="-737" b="-2702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17. Hence,   edp  =   AR / (AR - MR)">
                <a:extLst>
                  <a:ext uri="{FF2B5EF4-FFF2-40B4-BE49-F238E27FC236}">
                    <a16:creationId xmlns:a16="http://schemas.microsoft.com/office/drawing/2014/main" id="{0EA7B572-0202-5140-8880-811F4AC3E724}"/>
                  </a:ext>
                </a:extLst>
              </p:cNvPr>
              <p:cNvSpPr txBox="1"/>
              <p:nvPr/>
            </p:nvSpPr>
            <p:spPr>
              <a:xfrm>
                <a:off x="678462" y="1425808"/>
                <a:ext cx="3657628" cy="824473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𝑻𝑹</m:t>
                          </m:r>
                        </m:num>
                        <m:den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den>
                      </m:f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17. Hence,   edp  =   AR / (AR - MR)">
                <a:extLst>
                  <a:ext uri="{FF2B5EF4-FFF2-40B4-BE49-F238E27FC236}">
                    <a16:creationId xmlns:a16="http://schemas.microsoft.com/office/drawing/2014/main" id="{0EA7B572-0202-5140-8880-811F4AC3E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1425808"/>
                <a:ext cx="3657628" cy="824473"/>
              </a:xfrm>
              <a:prstGeom prst="rect">
                <a:avLst/>
              </a:prstGeom>
              <a:blipFill>
                <a:blip r:embed="rId5"/>
                <a:stretch>
                  <a:fillRect l="-1384" b="-606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17. Hence,   edp  =   AR / (AR - MR)">
                <a:extLst>
                  <a:ext uri="{FF2B5EF4-FFF2-40B4-BE49-F238E27FC236}">
                    <a16:creationId xmlns:a16="http://schemas.microsoft.com/office/drawing/2014/main" id="{8D691E01-C4B5-E44C-8116-0F57EB84ABD4}"/>
                  </a:ext>
                </a:extLst>
              </p:cNvPr>
              <p:cNvSpPr txBox="1"/>
              <p:nvPr/>
            </p:nvSpPr>
            <p:spPr>
              <a:xfrm>
                <a:off x="678462" y="2312412"/>
                <a:ext cx="3657628" cy="554018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17. Hence,   edp  =   AR / (AR - MR)">
                <a:extLst>
                  <a:ext uri="{FF2B5EF4-FFF2-40B4-BE49-F238E27FC236}">
                    <a16:creationId xmlns:a16="http://schemas.microsoft.com/office/drawing/2014/main" id="{8D691E01-C4B5-E44C-8116-0F57EB84A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2312412"/>
                <a:ext cx="3657628" cy="554018"/>
              </a:xfrm>
              <a:prstGeom prst="rect">
                <a:avLst/>
              </a:prstGeom>
              <a:blipFill>
                <a:blip r:embed="rId6"/>
                <a:stretch>
                  <a:fillRect l="-1384" b="-2222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hape of AC Curve">
                <a:extLst>
                  <a:ext uri="{FF2B5EF4-FFF2-40B4-BE49-F238E27FC236}">
                    <a16:creationId xmlns:a16="http://schemas.microsoft.com/office/drawing/2014/main" id="{10EDE947-0FF5-0A48-A563-0888A3B056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97088" y="1585993"/>
                <a:ext cx="4186570" cy="50410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𝑻𝑪</m:t>
                        </m:r>
                      </m:num>
                      <m:den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den>
                    </m:f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5q</a:t>
                </a:r>
                <a:r>
                  <a:rPr lang="en-US" sz="1969" b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– 2q + 7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𝟏𝟎𝟎</m:t>
                        </m:r>
                      </m:num>
                      <m:den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𝒒</m:t>
                        </m:r>
                      </m:den>
                    </m:f>
                  </m:oMath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Shape of AC Curve">
                <a:extLst>
                  <a:ext uri="{FF2B5EF4-FFF2-40B4-BE49-F238E27FC236}">
                    <a16:creationId xmlns:a16="http://schemas.microsoft.com/office/drawing/2014/main" id="{10EDE947-0FF5-0A48-A563-0888A3B05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7088" y="1585993"/>
                <a:ext cx="4186570" cy="504104"/>
              </a:xfrm>
              <a:prstGeom prst="rect">
                <a:avLst/>
              </a:prstGeom>
              <a:blipFill>
                <a:blip r:embed="rId7"/>
                <a:stretch>
                  <a:fillRect l="-3030" t="-2439" b="-731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of AC Curve">
            <a:extLst>
              <a:ext uri="{FF2B5EF4-FFF2-40B4-BE49-F238E27FC236}">
                <a16:creationId xmlns:a16="http://schemas.microsoft.com/office/drawing/2014/main" id="{4B873E60-E370-AD4D-9AD7-F83095C1D724}"/>
              </a:ext>
            </a:extLst>
          </p:cNvPr>
          <p:cNvSpPr txBox="1">
            <a:spLocks/>
          </p:cNvSpPr>
          <p:nvPr/>
        </p:nvSpPr>
        <p:spPr>
          <a:xfrm>
            <a:off x="4807912" y="2268445"/>
            <a:ext cx="4186570" cy="50410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TC’ = 15q</a:t>
            </a:r>
            <a:r>
              <a:rPr lang="en-US" sz="1969" b="1" baseline="30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4q + 7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17. Hence,   edp  =   AR / (AR - MR)">
                <a:extLst>
                  <a:ext uri="{FF2B5EF4-FFF2-40B4-BE49-F238E27FC236}">
                    <a16:creationId xmlns:a16="http://schemas.microsoft.com/office/drawing/2014/main" id="{540D0E98-8B08-4E45-90E7-A3281DA79D39}"/>
                  </a:ext>
                </a:extLst>
              </p:cNvPr>
              <p:cNvSpPr txBox="1"/>
              <p:nvPr/>
            </p:nvSpPr>
            <p:spPr>
              <a:xfrm>
                <a:off x="900906" y="3643331"/>
                <a:ext cx="6399114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=−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5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baseline="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3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𝟏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𝟖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𝒒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Helvetica Neue Medium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Helvetica Neue Medium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𝟏𝟖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− 100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17. Hence,   edp  =   AR / (AR - MR)">
                <a:extLst>
                  <a:ext uri="{FF2B5EF4-FFF2-40B4-BE49-F238E27FC236}">
                    <a16:creationId xmlns:a16="http://schemas.microsoft.com/office/drawing/2014/main" id="{540D0E98-8B08-4E45-90E7-A3281DA79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6" y="3643331"/>
                <a:ext cx="6399114" cy="581475"/>
              </a:xfrm>
              <a:prstGeom prst="rect">
                <a:avLst/>
              </a:prstGeom>
              <a:blipFill>
                <a:blip r:embed="rId8"/>
                <a:stretch>
                  <a:fillRect l="-594" b="-217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17. Hence,   edp  =   AR / (AR - MR)">
                <a:extLst>
                  <a:ext uri="{FF2B5EF4-FFF2-40B4-BE49-F238E27FC236}">
                    <a16:creationId xmlns:a16="http://schemas.microsoft.com/office/drawing/2014/main" id="{D2A00C5B-EB46-0B40-B5DA-640F83A9FAF3}"/>
                  </a:ext>
                </a:extLst>
              </p:cNvPr>
              <p:cNvSpPr txBox="1"/>
              <p:nvPr/>
            </p:nvSpPr>
            <p:spPr>
              <a:xfrm>
                <a:off x="900906" y="2994865"/>
                <a:ext cx="6399114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𝝅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𝑻𝑪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5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^3 + 2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^2 − 7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q</m:t>
                      </m:r>
                      <m:r>
                        <m:rPr>
                          <m:nor/>
                        </m:rPr>
                        <a:rPr lang="en-US" sz="1969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− 100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17. Hence,   edp  =   AR / (AR - MR)">
                <a:extLst>
                  <a:ext uri="{FF2B5EF4-FFF2-40B4-BE49-F238E27FC236}">
                    <a16:creationId xmlns:a16="http://schemas.microsoft.com/office/drawing/2014/main" id="{D2A00C5B-EB46-0B40-B5DA-640F83A9FA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6" y="2994865"/>
                <a:ext cx="6399114" cy="581475"/>
              </a:xfrm>
              <a:prstGeom prst="rect">
                <a:avLst/>
              </a:prstGeom>
              <a:blipFill>
                <a:blip r:embed="rId9"/>
                <a:stretch>
                  <a:fillRect l="-59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17. Hence,   edp  =   AR / (AR - MR)">
                <a:extLst>
                  <a:ext uri="{FF2B5EF4-FFF2-40B4-BE49-F238E27FC236}">
                    <a16:creationId xmlns:a16="http://schemas.microsoft.com/office/drawing/2014/main" id="{0F594DFA-A16A-6649-A161-6209DF4D3BEA}"/>
                  </a:ext>
                </a:extLst>
              </p:cNvPr>
              <p:cNvSpPr txBox="1"/>
              <p:nvPr/>
            </p:nvSpPr>
            <p:spPr>
              <a:xfrm>
                <a:off x="900906" y="4397677"/>
                <a:ext cx="6399114" cy="5814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e>
                      <m:sup>
                        <m:r>
                          <a:rPr lang="en-US" sz="1969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𝟏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5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2</m:t>
                    </m:r>
                    <m:r>
                      <a:rPr lang="en-US" sz="1969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𝟑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𝟔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 = 0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q1 = 1.22         </a:t>
                </a:r>
                <a:r>
                  <a:rPr lang="en-US" sz="1969" strike="sngStrike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q2 = - 0.98 </a:t>
                </a:r>
                <a:endParaRPr lang="ar-AE" sz="1969" strike="sngStrike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17. Hence,   edp  =   AR / (AR - MR)">
                <a:extLst>
                  <a:ext uri="{FF2B5EF4-FFF2-40B4-BE49-F238E27FC236}">
                    <a16:creationId xmlns:a16="http://schemas.microsoft.com/office/drawing/2014/main" id="{0F594DFA-A16A-6649-A161-6209DF4D3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906" y="4397677"/>
                <a:ext cx="6399114" cy="581475"/>
              </a:xfrm>
              <a:prstGeom prst="rect">
                <a:avLst/>
              </a:prstGeom>
              <a:blipFill>
                <a:blip r:embed="rId10"/>
                <a:stretch>
                  <a:fillRect l="-594" r="-396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7. Hence,   edp  =   AR / (AR - MR)">
                <a:extLst>
                  <a:ext uri="{FF2B5EF4-FFF2-40B4-BE49-F238E27FC236}">
                    <a16:creationId xmlns:a16="http://schemas.microsoft.com/office/drawing/2014/main" id="{1AAB8C32-4175-B544-A224-C66EEB103E19}"/>
                  </a:ext>
                </a:extLst>
              </p:cNvPr>
              <p:cNvSpPr txBox="1"/>
              <p:nvPr/>
            </p:nvSpPr>
            <p:spPr>
              <a:xfrm>
                <a:off x="442834" y="5086748"/>
                <a:ext cx="4606904" cy="55401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;    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𝟔𝟐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17. Hence,   edp  =   AR / (AR - MR)">
                <a:extLst>
                  <a:ext uri="{FF2B5EF4-FFF2-40B4-BE49-F238E27FC236}">
                    <a16:creationId xmlns:a16="http://schemas.microsoft.com/office/drawing/2014/main" id="{1AAB8C32-4175-B544-A224-C66EEB103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834" y="5086748"/>
                <a:ext cx="4606904" cy="554018"/>
              </a:xfrm>
              <a:prstGeom prst="rect">
                <a:avLst/>
              </a:prstGeom>
              <a:blipFill>
                <a:blip r:embed="rId11"/>
                <a:stretch>
                  <a:fillRect l="-1377" b="-2222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F1CAB-9743-D549-9251-142BAC349F5F}"/>
                  </a:ext>
                </a:extLst>
              </p:cNvPr>
              <p:cNvSpPr txBox="1"/>
              <p:nvPr/>
            </p:nvSpPr>
            <p:spPr>
              <a:xfrm>
                <a:off x="439095" y="5691323"/>
                <a:ext cx="4254254" cy="39536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𝟔𝟐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sz="1969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AAF1CAB-9743-D549-9251-142BAC349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95" y="5691323"/>
                <a:ext cx="4254254" cy="395365"/>
              </a:xfrm>
              <a:prstGeom prst="rect">
                <a:avLst/>
              </a:prstGeom>
              <a:blipFill>
                <a:blip r:embed="rId12"/>
                <a:stretch>
                  <a:fillRect b="-15625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B02F48-EF05-FA4D-9E29-E7A4BDA7B716}"/>
                  </a:ext>
                </a:extLst>
              </p:cNvPr>
              <p:cNvSpPr txBox="1"/>
              <p:nvPr/>
            </p:nvSpPr>
            <p:spPr>
              <a:xfrm>
                <a:off x="439096" y="6172040"/>
                <a:ext cx="6860924" cy="4022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12700" cap="flat">
                <a:noFill/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wrap="square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sz="1969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  <m:r>
                      <a:rPr lang="en-US" sz="1969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=−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5(62.5)</m:t>
                    </m:r>
                    <m:r>
                      <m:rPr>
                        <m:nor/>
                      </m:rPr>
                      <a:rPr lang="en-US" sz="1969" b="1" baseline="30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3</m:t>
                    </m:r>
                    <m:r>
                      <a:rPr lang="en-US" sz="1969" b="1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𝟏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𝟖</m:t>
                    </m:r>
                    <m:sSup>
                      <m:sSup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Neue Medium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969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Neue Medium"/>
                              </a:rPr>
                            </m:ctrlPr>
                          </m:dPr>
                          <m:e>
                            <m:r>
                              <a:rPr lang="en-US" sz="1969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Neue Medium"/>
                              </a:rPr>
                              <m:t>𝟔𝟐</m:t>
                            </m:r>
                            <m:r>
                              <a:rPr lang="en-US" sz="1969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Neue Medium"/>
                              </a:rPr>
                              <m:t>.</m:t>
                            </m:r>
                            <m:r>
                              <a:rPr lang="en-US" sz="1969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Helvetica Neue Medium"/>
                              </a:rPr>
                              <m:t>𝟓</m:t>
                            </m:r>
                          </m:e>
                        </m:d>
                      </m:e>
                      <m:sup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Helvetica Neue Medium"/>
                          </a:rPr>
                          <m:t>𝟐</m:t>
                        </m:r>
                      </m:sup>
                    </m:sSup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− 100 = −1147412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8B02F48-EF05-FA4D-9E29-E7A4BDA7B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096" y="6172040"/>
                <a:ext cx="6860924" cy="402290"/>
              </a:xfrm>
              <a:prstGeom prst="rect">
                <a:avLst/>
              </a:prstGeom>
              <a:blipFill>
                <a:blip r:embed="rId13"/>
                <a:stretch>
                  <a:fillRect t="-3030" b="-30303"/>
                </a:stretch>
              </a:blipFill>
              <a:ln w="12700" cap="flat">
                <a:noFill/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051636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46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hape of AC Curve">
                <a:extLst>
                  <a:ext uri="{FF2B5EF4-FFF2-40B4-BE49-F238E27FC236}">
                    <a16:creationId xmlns:a16="http://schemas.microsoft.com/office/drawing/2014/main" id="{094BF657-4064-5941-91B7-BE3BB2DB0A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0518" y="430948"/>
                <a:ext cx="8142350" cy="504104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𝒚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𝟐𝟓</m:t>
                      </m:r>
                    </m:oMath>
                  </m:oMathPara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Shape of AC Curve">
                <a:extLst>
                  <a:ext uri="{FF2B5EF4-FFF2-40B4-BE49-F238E27FC236}">
                    <a16:creationId xmlns:a16="http://schemas.microsoft.com/office/drawing/2014/main" id="{094BF657-4064-5941-91B7-BE3BB2DB0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18" y="430948"/>
                <a:ext cx="8142350" cy="504104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hape of AC Curve">
                <a:extLst>
                  <a:ext uri="{FF2B5EF4-FFF2-40B4-BE49-F238E27FC236}">
                    <a16:creationId xmlns:a16="http://schemas.microsoft.com/office/drawing/2014/main" id="{763CA2A3-4623-EA41-B20A-61FA16A102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0518" y="1194436"/>
                <a:ext cx="8142350" cy="80134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𝒅𝒚</m:t>
                          </m:r>
                        </m:num>
                        <m:den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𝒅𝒙</m:t>
                          </m:r>
                        </m:den>
                      </m:f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𝟐𝟖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𝟗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𝟏𝟎</m:t>
                      </m:r>
                    </m:oMath>
                  </m:oMathPara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Shape of AC Curve">
                <a:extLst>
                  <a:ext uri="{FF2B5EF4-FFF2-40B4-BE49-F238E27FC236}">
                    <a16:creationId xmlns:a16="http://schemas.microsoft.com/office/drawing/2014/main" id="{763CA2A3-4623-EA41-B20A-61FA16A10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18" y="1194436"/>
                <a:ext cx="8142350" cy="801349"/>
              </a:xfrm>
              <a:prstGeom prst="rect">
                <a:avLst/>
              </a:prstGeom>
              <a:blipFill>
                <a:blip r:embed="rId4"/>
                <a:stretch>
                  <a:fillRect b="-793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hape of AC Curve">
                <a:extLst>
                  <a:ext uri="{FF2B5EF4-FFF2-40B4-BE49-F238E27FC236}">
                    <a16:creationId xmlns:a16="http://schemas.microsoft.com/office/drawing/2014/main" id="{3CE1D302-D90A-C644-A423-2A85DCA7B4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0518" y="2388449"/>
                <a:ext cx="8142350" cy="80134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𝟖𝟒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𝟏𝟖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𝟒</m:t>
                      </m:r>
                    </m:oMath>
                  </m:oMathPara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Shape of AC Curve">
                <a:extLst>
                  <a:ext uri="{FF2B5EF4-FFF2-40B4-BE49-F238E27FC236}">
                    <a16:creationId xmlns:a16="http://schemas.microsoft.com/office/drawing/2014/main" id="{3CE1D302-D90A-C644-A423-2A85DCA7B4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18" y="2388449"/>
                <a:ext cx="8142350" cy="801349"/>
              </a:xfrm>
              <a:prstGeom prst="rect">
                <a:avLst/>
              </a:prstGeom>
              <a:blipFill>
                <a:blip r:embed="rId5"/>
                <a:stretch>
                  <a:fillRect b="-1093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hape of AC Curve">
                <a:extLst>
                  <a:ext uri="{FF2B5EF4-FFF2-40B4-BE49-F238E27FC236}">
                    <a16:creationId xmlns:a16="http://schemas.microsoft.com/office/drawing/2014/main" id="{5F816B4C-C572-9041-8248-7FCC10EA36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912" y="3359644"/>
                <a:ext cx="8142350" cy="80134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′′′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𝟏𝟔𝟖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𝒙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𝟏𝟖</m:t>
                      </m:r>
                    </m:oMath>
                  </m:oMathPara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Shape of AC Curve">
                <a:extLst>
                  <a:ext uri="{FF2B5EF4-FFF2-40B4-BE49-F238E27FC236}">
                    <a16:creationId xmlns:a16="http://schemas.microsoft.com/office/drawing/2014/main" id="{5F816B4C-C572-9041-8248-7FCC10EA3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12" y="3359644"/>
                <a:ext cx="8142350" cy="801349"/>
              </a:xfrm>
              <a:prstGeom prst="rect">
                <a:avLst/>
              </a:prstGeom>
              <a:blipFill>
                <a:blip r:embed="rId6"/>
                <a:stretch>
                  <a:fillRect b="-125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Shape of AC Curve">
                <a:extLst>
                  <a:ext uri="{FF2B5EF4-FFF2-40B4-BE49-F238E27FC236}">
                    <a16:creationId xmlns:a16="http://schemas.microsoft.com/office/drawing/2014/main" id="{5F740264-11BB-2648-BC25-9471526529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5912" y="4420377"/>
                <a:ext cx="8142350" cy="801349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′′′′</m:t>
                          </m:r>
                        </m:sup>
                      </m:sSup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𝟏𝟔𝟖</m:t>
                      </m:r>
                    </m:oMath>
                  </m:oMathPara>
                </a14:m>
                <a:endParaRPr lang="en-US" sz="1969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Shape of AC Curve">
                <a:extLst>
                  <a:ext uri="{FF2B5EF4-FFF2-40B4-BE49-F238E27FC236}">
                    <a16:creationId xmlns:a16="http://schemas.microsoft.com/office/drawing/2014/main" id="{5F740264-11BB-2648-BC25-947152652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912" y="4420377"/>
                <a:ext cx="8142350" cy="801349"/>
              </a:xfrm>
              <a:prstGeom prst="rect">
                <a:avLst/>
              </a:prstGeom>
              <a:blipFill>
                <a:blip r:embed="rId7"/>
                <a:stretch>
                  <a:fillRect b="-1093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046192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515923" y="6400413"/>
            <a:ext cx="170878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47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/>
              <p:nvPr/>
            </p:nvSpPr>
            <p:spPr>
              <a:xfrm>
                <a:off x="621341" y="1239415"/>
                <a:ext cx="3014691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1" y="1239415"/>
                <a:ext cx="3014691" cy="581475"/>
              </a:xfrm>
              <a:prstGeom prst="rect">
                <a:avLst/>
              </a:prstGeom>
              <a:blipFill>
                <a:blip r:embed="rId3"/>
                <a:stretch>
                  <a:fillRect l="-1255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blipFill>
                <a:blip r:embed="rId4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/>
              <p:nvPr/>
            </p:nvSpPr>
            <p:spPr>
              <a:xfrm>
                <a:off x="621340" y="1820890"/>
                <a:ext cx="3657628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820890"/>
                <a:ext cx="3657628" cy="581475"/>
              </a:xfrm>
              <a:prstGeom prst="rect">
                <a:avLst/>
              </a:prstGeom>
              <a:blipFill>
                <a:blip r:embed="rId5"/>
                <a:stretch>
                  <a:fillRect l="-1038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of AC Curve">
            <a:extLst>
              <a:ext uri="{FF2B5EF4-FFF2-40B4-BE49-F238E27FC236}">
                <a16:creationId xmlns:a16="http://schemas.microsoft.com/office/drawing/2014/main" id="{094BF657-4064-5941-91B7-BE3BB2DB0A9D}"/>
              </a:ext>
            </a:extLst>
          </p:cNvPr>
          <p:cNvSpPr txBox="1">
            <a:spLocks/>
          </p:cNvSpPr>
          <p:nvPr/>
        </p:nvSpPr>
        <p:spPr>
          <a:xfrm>
            <a:off x="4336090" y="859573"/>
            <a:ext cx="4186570" cy="504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5q^3 – 2q^2 + 7q + 100</a:t>
            </a:r>
          </a:p>
        </p:txBody>
      </p:sp>
      <p:sp>
        <p:nvSpPr>
          <p:cNvPr id="11" name="Shape of AC Curve">
            <a:extLst>
              <a:ext uri="{FF2B5EF4-FFF2-40B4-BE49-F238E27FC236}">
                <a16:creationId xmlns:a16="http://schemas.microsoft.com/office/drawing/2014/main" id="{92560501-B511-DD4D-AB76-7593CF4DA199}"/>
              </a:ext>
            </a:extLst>
          </p:cNvPr>
          <p:cNvSpPr txBox="1">
            <a:spLocks/>
          </p:cNvSpPr>
          <p:nvPr/>
        </p:nvSpPr>
        <p:spPr>
          <a:xfrm>
            <a:off x="4336089" y="1363677"/>
            <a:ext cx="4186570" cy="504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= 5q^2 – 2q + 7 + 100/q</a:t>
            </a:r>
          </a:p>
        </p:txBody>
      </p:sp>
      <p:sp>
        <p:nvSpPr>
          <p:cNvPr id="12" name="Shape of AC Curve">
            <a:extLst>
              <a:ext uri="{FF2B5EF4-FFF2-40B4-BE49-F238E27FC236}">
                <a16:creationId xmlns:a16="http://schemas.microsoft.com/office/drawing/2014/main" id="{25A5DAF5-A860-3548-B94F-9C6711C7E93A}"/>
              </a:ext>
            </a:extLst>
          </p:cNvPr>
          <p:cNvSpPr txBox="1">
            <a:spLocks/>
          </p:cNvSpPr>
          <p:nvPr/>
        </p:nvSpPr>
        <p:spPr>
          <a:xfrm>
            <a:off x="4479296" y="1945152"/>
            <a:ext cx="4043363" cy="504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TC’  = 15q^2 – 4q + 7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621340" y="138596"/>
                <a:ext cx="6409934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𝑷𝒊𝒆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𝒔𝒕𝒂𝒕𝒖𝒔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𝒗𝒊𝒂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𝒑𝒊𝒆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𝑴𝒂𝒙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𝑷𝒓𝒊𝒏𝒄𝒊𝒑𝒍𝒆𝒔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sz="253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38596"/>
                <a:ext cx="6409934" cy="581475"/>
              </a:xfrm>
              <a:prstGeom prst="rect">
                <a:avLst/>
              </a:prstGeom>
              <a:blipFill>
                <a:blip r:embed="rId6"/>
                <a:stretch>
                  <a:fillRect l="-988" b="-260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hape of AC Curve">
                <a:extLst>
                  <a:ext uri="{FF2B5EF4-FFF2-40B4-BE49-F238E27FC236}">
                    <a16:creationId xmlns:a16="http://schemas.microsoft.com/office/drawing/2014/main" id="{C0AEB81F-06DA-6346-8A56-30F67D2EFB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76752" y="2581606"/>
                <a:ext cx="6776878" cy="504104"/>
              </a:xfrm>
              <a:prstGeom prst="rect">
                <a:avLst/>
              </a:prstGeom>
              <a:noFill/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Pie = </a:t>
                </a: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^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- 5q^3 + 2q^2 - 7q - 100</a:t>
                </a:r>
              </a:p>
            </p:txBody>
          </p:sp>
        </mc:Choice>
        <mc:Fallback xmlns="">
          <p:sp>
            <p:nvSpPr>
              <p:cNvPr id="20" name="Shape of AC Curve">
                <a:extLst>
                  <a:ext uri="{FF2B5EF4-FFF2-40B4-BE49-F238E27FC236}">
                    <a16:creationId xmlns:a16="http://schemas.microsoft.com/office/drawing/2014/main" id="{C0AEB81F-06DA-6346-8A56-30F67D2E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6752" y="2581606"/>
                <a:ext cx="6776878" cy="504104"/>
              </a:xfrm>
              <a:prstGeom prst="rect">
                <a:avLst/>
              </a:prstGeom>
              <a:blipFill>
                <a:blip r:embed="rId7"/>
                <a:stretch>
                  <a:fillRect l="-1682" b="-25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hape of AC Curve">
                <a:extLst>
                  <a:ext uri="{FF2B5EF4-FFF2-40B4-BE49-F238E27FC236}">
                    <a16:creationId xmlns:a16="http://schemas.microsoft.com/office/drawing/2014/main" id="{1830E2C2-22AC-8448-BE2D-D4206F1934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6647" y="3124007"/>
                <a:ext cx="4924627" cy="504104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Pie = - 5q^3 </a:t>
                </a:r>
                <a14:m>
                  <m:oMath xmlns:m="http://schemas.openxmlformats.org/officeDocument/2006/math"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p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- 100</a:t>
                </a:r>
              </a:p>
            </p:txBody>
          </p:sp>
        </mc:Choice>
        <mc:Fallback xmlns="">
          <p:sp>
            <p:nvSpPr>
              <p:cNvPr id="21" name="Shape of AC Curve">
                <a:extLst>
                  <a:ext uri="{FF2B5EF4-FFF2-40B4-BE49-F238E27FC236}">
                    <a16:creationId xmlns:a16="http://schemas.microsoft.com/office/drawing/2014/main" id="{1830E2C2-22AC-8448-BE2D-D4206F193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647" y="3124007"/>
                <a:ext cx="4924627" cy="504104"/>
              </a:xfrm>
              <a:prstGeom prst="rect">
                <a:avLst/>
              </a:prstGeom>
              <a:blipFill>
                <a:blip r:embed="rId8"/>
                <a:stretch>
                  <a:fillRect l="-2577" b="-2682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of AC Curve">
                <a:extLst>
                  <a:ext uri="{FF2B5EF4-FFF2-40B4-BE49-F238E27FC236}">
                    <a16:creationId xmlns:a16="http://schemas.microsoft.com/office/drawing/2014/main" id="{02A71E75-4A91-884F-A502-581DBF62A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05221" y="3645012"/>
                <a:ext cx="5910979" cy="5041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Pie’ = - 15q^2 </a:t>
                </a:r>
                <a14:m>
                  <m:oMath xmlns:m="http://schemas.openxmlformats.org/officeDocument/2006/math"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</m:t>
                    </m:r>
                    <m:sSup>
                      <m:sSup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p/>
                    </m:sSup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q = 1.22  units</a:t>
                </a:r>
              </a:p>
            </p:txBody>
          </p:sp>
        </mc:Choice>
        <mc:Fallback xmlns="">
          <p:sp>
            <p:nvSpPr>
              <p:cNvPr id="13" name="Shape of AC Curve">
                <a:extLst>
                  <a:ext uri="{FF2B5EF4-FFF2-40B4-BE49-F238E27FC236}">
                    <a16:creationId xmlns:a16="http://schemas.microsoft.com/office/drawing/2014/main" id="{02A71E75-4A91-884F-A502-581DBF62A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221" y="3645012"/>
                <a:ext cx="5910979" cy="504104"/>
              </a:xfrm>
              <a:prstGeom prst="rect">
                <a:avLst/>
              </a:prstGeom>
              <a:blipFill>
                <a:blip r:embed="rId9"/>
                <a:stretch>
                  <a:fillRect l="-1927" b="-25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hape of AC Curve">
                <a:extLst>
                  <a:ext uri="{FF2B5EF4-FFF2-40B4-BE49-F238E27FC236}">
                    <a16:creationId xmlns:a16="http://schemas.microsoft.com/office/drawing/2014/main" id="{AEFD7D92-40A2-4C4A-97EC-90DFAFA978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991" y="4254422"/>
                <a:ext cx="8856813" cy="5041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V(Pie) </a:t>
                </a:r>
                <a:r>
                  <a:rPr lang="en-US" sz="1969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(@q =1.22)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- 5(1.22)^3 </a:t>
                </a:r>
                <a14:m>
                  <m:oMath xmlns:m="http://schemas.openxmlformats.org/officeDocument/2006/math"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100 = Rs -84.44  Sub NP</a:t>
                </a:r>
              </a:p>
            </p:txBody>
          </p:sp>
        </mc:Choice>
        <mc:Fallback xmlns="">
          <p:sp>
            <p:nvSpPr>
              <p:cNvPr id="14" name="Shape of AC Curve">
                <a:extLst>
                  <a:ext uri="{FF2B5EF4-FFF2-40B4-BE49-F238E27FC236}">
                    <a16:creationId xmlns:a16="http://schemas.microsoft.com/office/drawing/2014/main" id="{AEFD7D92-40A2-4C4A-97EC-90DFAFA97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1" y="4254422"/>
                <a:ext cx="8856813" cy="504104"/>
              </a:xfrm>
              <a:prstGeom prst="rect">
                <a:avLst/>
              </a:prstGeom>
              <a:blipFill>
                <a:blip r:embed="rId10"/>
                <a:stretch>
                  <a:fillRect l="-1433" b="-250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7. Hence,   edp  =   AR / (AR - MR)">
                <a:extLst>
                  <a:ext uri="{FF2B5EF4-FFF2-40B4-BE49-F238E27FC236}">
                    <a16:creationId xmlns:a16="http://schemas.microsoft.com/office/drawing/2014/main" id="{A969EEBE-74A3-554D-A126-97B59614B871}"/>
                  </a:ext>
                </a:extLst>
              </p:cNvPr>
              <p:cNvSpPr txBox="1"/>
              <p:nvPr/>
            </p:nvSpPr>
            <p:spPr>
              <a:xfrm>
                <a:off x="157991" y="4712194"/>
                <a:ext cx="5584132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(@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 =1.22) =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d>
                      <m:d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e>
                    </m:d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Rs </a:t>
                </a:r>
                <a:r>
                  <a:rPr lang="en-US" sz="1969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Medium"/>
                  </a:rPr>
                  <a:t>(@q =1.22)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Medium"/>
                  </a:rPr>
                  <a:t> = </a:t>
                </a:r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24.76 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17. Hence,   edp  =   AR / (AR - MR)">
                <a:extLst>
                  <a:ext uri="{FF2B5EF4-FFF2-40B4-BE49-F238E27FC236}">
                    <a16:creationId xmlns:a16="http://schemas.microsoft.com/office/drawing/2014/main" id="{A969EEBE-74A3-554D-A126-97B59614B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1" y="4712194"/>
                <a:ext cx="5584132" cy="581475"/>
              </a:xfrm>
              <a:prstGeom prst="rect">
                <a:avLst/>
              </a:prstGeom>
              <a:blipFill>
                <a:blip r:embed="rId11"/>
                <a:stretch>
                  <a:fillRect l="-907" b="-217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17. Hence,   edp  =   AR / (AR - MR)">
                <a:extLst>
                  <a:ext uri="{FF2B5EF4-FFF2-40B4-BE49-F238E27FC236}">
                    <a16:creationId xmlns:a16="http://schemas.microsoft.com/office/drawing/2014/main" id="{B12D7DF8-EF2D-804E-BBB2-AC7E9F4CD077}"/>
                  </a:ext>
                </a:extLst>
              </p:cNvPr>
              <p:cNvSpPr txBox="1"/>
              <p:nvPr/>
            </p:nvSpPr>
            <p:spPr>
              <a:xfrm>
                <a:off x="157991" y="5317998"/>
                <a:ext cx="6052512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d>
                      <m:d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𝑻𝑹</m:t>
                        </m:r>
                      </m:e>
                    </m:d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(@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 =1.22</m:t>
                    </m:r>
                    <m:r>
                      <a:rPr lang="en-US" sz="1969" b="1" i="1" baseline="-250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  <a:sym typeface="Helvetica Neue Medium"/>
                      </a:rPr>
                      <m:t> 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)^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Rs  30.20 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17. Hence,   edp  =   AR / (AR - MR)">
                <a:extLst>
                  <a:ext uri="{FF2B5EF4-FFF2-40B4-BE49-F238E27FC236}">
                    <a16:creationId xmlns:a16="http://schemas.microsoft.com/office/drawing/2014/main" id="{B12D7DF8-EF2D-804E-BBB2-AC7E9F4CD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1" y="5317998"/>
                <a:ext cx="6052512" cy="581475"/>
              </a:xfrm>
              <a:prstGeom prst="rect">
                <a:avLst/>
              </a:prstGeom>
              <a:blipFill>
                <a:blip r:embed="rId12"/>
                <a:stretch>
                  <a:fillRect l="-837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Shape of AC Curve">
                <a:extLst>
                  <a:ext uri="{FF2B5EF4-FFF2-40B4-BE49-F238E27FC236}">
                    <a16:creationId xmlns:a16="http://schemas.microsoft.com/office/drawing/2014/main" id="{9BE9449D-6AED-BB48-8C85-E94160823E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991" y="5936716"/>
                <a:ext cx="7967645" cy="5041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V(TC)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(@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 =1.22)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5(1.22)^3 – 2(1.22)^2 + 7(1.22) + 100 = Rs 114.64</a:t>
                </a:r>
              </a:p>
            </p:txBody>
          </p:sp>
        </mc:Choice>
        <mc:Fallback xmlns="">
          <p:sp>
            <p:nvSpPr>
              <p:cNvPr id="24" name="Shape of AC Curve">
                <a:extLst>
                  <a:ext uri="{FF2B5EF4-FFF2-40B4-BE49-F238E27FC236}">
                    <a16:creationId xmlns:a16="http://schemas.microsoft.com/office/drawing/2014/main" id="{9BE9449D-6AED-BB48-8C85-E94160823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991" y="5936716"/>
                <a:ext cx="7967645" cy="504104"/>
              </a:xfrm>
              <a:prstGeom prst="rect">
                <a:avLst/>
              </a:prstGeom>
              <a:blipFill>
                <a:blip r:embed="rId13"/>
                <a:stretch>
                  <a:fillRect l="-1592" b="-243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5722444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37376" y="6400413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48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/>
              <p:nvPr/>
            </p:nvSpPr>
            <p:spPr>
              <a:xfrm>
                <a:off x="621341" y="1239415"/>
                <a:ext cx="3014691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1" y="1239415"/>
                <a:ext cx="3014691" cy="581475"/>
              </a:xfrm>
              <a:prstGeom prst="rect">
                <a:avLst/>
              </a:prstGeom>
              <a:blipFill>
                <a:blip r:embed="rId2"/>
                <a:stretch>
                  <a:fillRect l="-1255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blipFill>
                <a:blip r:embed="rId3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/>
              <p:nvPr/>
            </p:nvSpPr>
            <p:spPr>
              <a:xfrm>
                <a:off x="492384" y="1820890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accent5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4" y="1820890"/>
                <a:ext cx="3657628" cy="581475"/>
              </a:xfrm>
              <a:prstGeom prst="rect">
                <a:avLst/>
              </a:prstGeom>
              <a:blipFill>
                <a:blip r:embed="rId4"/>
                <a:stretch>
                  <a:fillRect l="-1038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of AC Curve">
            <a:extLst>
              <a:ext uri="{FF2B5EF4-FFF2-40B4-BE49-F238E27FC236}">
                <a16:creationId xmlns:a16="http://schemas.microsoft.com/office/drawing/2014/main" id="{094BF657-4064-5941-91B7-BE3BB2DB0A9D}"/>
              </a:ext>
            </a:extLst>
          </p:cNvPr>
          <p:cNvSpPr txBox="1">
            <a:spLocks/>
          </p:cNvSpPr>
          <p:nvPr/>
        </p:nvSpPr>
        <p:spPr>
          <a:xfrm>
            <a:off x="4336090" y="859573"/>
            <a:ext cx="4186570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5q^3 – 2q^2 + 7q +100</a:t>
            </a:r>
          </a:p>
        </p:txBody>
      </p:sp>
      <p:sp>
        <p:nvSpPr>
          <p:cNvPr id="11" name="Shape of AC Curve">
            <a:extLst>
              <a:ext uri="{FF2B5EF4-FFF2-40B4-BE49-F238E27FC236}">
                <a16:creationId xmlns:a16="http://schemas.microsoft.com/office/drawing/2014/main" id="{92560501-B511-DD4D-AB76-7593CF4DA199}"/>
              </a:ext>
            </a:extLst>
          </p:cNvPr>
          <p:cNvSpPr txBox="1">
            <a:spLocks/>
          </p:cNvSpPr>
          <p:nvPr/>
        </p:nvSpPr>
        <p:spPr>
          <a:xfrm>
            <a:off x="4336089" y="1363677"/>
            <a:ext cx="4186570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= 5q^2 – 2q + 7 + 100/q</a:t>
            </a:r>
          </a:p>
        </p:txBody>
      </p:sp>
      <p:sp>
        <p:nvSpPr>
          <p:cNvPr id="12" name="Shape of AC Curve">
            <a:extLst>
              <a:ext uri="{FF2B5EF4-FFF2-40B4-BE49-F238E27FC236}">
                <a16:creationId xmlns:a16="http://schemas.microsoft.com/office/drawing/2014/main" id="{25A5DAF5-A860-3548-B94F-9C6711C7E93A}"/>
              </a:ext>
            </a:extLst>
          </p:cNvPr>
          <p:cNvSpPr txBox="1">
            <a:spLocks/>
          </p:cNvSpPr>
          <p:nvPr/>
        </p:nvSpPr>
        <p:spPr>
          <a:xfrm>
            <a:off x="4479296" y="1945152"/>
            <a:ext cx="4043363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TC’  = 15q^2 – 4q + 7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621340" y="138596"/>
                <a:ext cx="6409934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𝑺𝒂𝒍𝒆𝒔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𝒎𝒂𝒙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531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𝑵𝒖𝒎𝒆𝒓𝒊𝒄𝒂𝒍𝒔</m:t>
                      </m:r>
                    </m:oMath>
                  </m:oMathPara>
                </a14:m>
                <a:endParaRPr lang="ar-AE" sz="253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38596"/>
                <a:ext cx="6409934" cy="581475"/>
              </a:xfrm>
              <a:prstGeom prst="rect">
                <a:avLst/>
              </a:prstGeom>
              <a:blipFill>
                <a:blip r:embed="rId5"/>
                <a:stretch>
                  <a:fillRect l="-1186" b="-260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17. Hence,   edp  =   AR / (AR - MR)">
                <a:extLst>
                  <a:ext uri="{FF2B5EF4-FFF2-40B4-BE49-F238E27FC236}">
                    <a16:creationId xmlns:a16="http://schemas.microsoft.com/office/drawing/2014/main" id="{C2E5304B-162B-7742-96CE-293C04E95F7F}"/>
                  </a:ext>
                </a:extLst>
              </p:cNvPr>
              <p:cNvSpPr txBox="1"/>
              <p:nvPr/>
            </p:nvSpPr>
            <p:spPr>
              <a:xfrm>
                <a:off x="657027" y="1615730"/>
                <a:ext cx="3657628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lang="en-US" sz="1969" b="1" dirty="0">
                    <a:solidFill>
                      <a:schemeClr val="tx1"/>
                    </a:solidFill>
                  </a:rPr>
                  <a:t>0 </a:t>
                </a: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q = 62.5 units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17. Hence,   edp  =   AR / (AR - MR)">
                <a:extLst>
                  <a:ext uri="{FF2B5EF4-FFF2-40B4-BE49-F238E27FC236}">
                    <a16:creationId xmlns:a16="http://schemas.microsoft.com/office/drawing/2014/main" id="{C2E5304B-162B-7742-96CE-293C04E95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027" y="1615730"/>
                <a:ext cx="3657628" cy="581475"/>
              </a:xfrm>
              <a:prstGeom prst="rect">
                <a:avLst/>
              </a:prstGeom>
              <a:blipFill>
                <a:blip r:embed="rId6"/>
                <a:stretch>
                  <a:fillRect l="-3114" r="-346" b="-1956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17. Hence,   edp  =   AR / (AR - MR)">
                <a:extLst>
                  <a:ext uri="{FF2B5EF4-FFF2-40B4-BE49-F238E27FC236}">
                    <a16:creationId xmlns:a16="http://schemas.microsoft.com/office/drawing/2014/main" id="{F1D02E21-85E8-6843-8737-C1A8D0749AC4}"/>
                  </a:ext>
                </a:extLst>
              </p:cNvPr>
              <p:cNvSpPr txBox="1"/>
              <p:nvPr/>
            </p:nvSpPr>
            <p:spPr>
              <a:xfrm>
                <a:off x="678462" y="2739633"/>
                <a:ext cx="5149015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𝟔𝟐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Rs 12.50  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17. Hence,   edp  =   AR / (AR - MR)">
                <a:extLst>
                  <a:ext uri="{FF2B5EF4-FFF2-40B4-BE49-F238E27FC236}">
                    <a16:creationId xmlns:a16="http://schemas.microsoft.com/office/drawing/2014/main" id="{F1D02E21-85E8-6843-8737-C1A8D0749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2739633"/>
                <a:ext cx="5149015" cy="581475"/>
              </a:xfrm>
              <a:prstGeom prst="rect">
                <a:avLst/>
              </a:prstGeom>
              <a:blipFill>
                <a:blip r:embed="rId7"/>
                <a:stretch>
                  <a:fillRect l="-1232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7. Hence,   edp  =   AR / (AR - MR)">
                <a:extLst>
                  <a:ext uri="{FF2B5EF4-FFF2-40B4-BE49-F238E27FC236}">
                    <a16:creationId xmlns:a16="http://schemas.microsoft.com/office/drawing/2014/main" id="{E22C18B0-60A2-1945-9A4D-235B7C72E25D}"/>
                  </a:ext>
                </a:extLst>
              </p:cNvPr>
              <p:cNvSpPr txBox="1"/>
              <p:nvPr/>
            </p:nvSpPr>
            <p:spPr>
              <a:xfrm>
                <a:off x="678462" y="3778321"/>
                <a:ext cx="5819311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𝑻𝑹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 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𝟐𝟓</m:t>
                    </m:r>
                    <m:d>
                      <m:d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𝟔𝟐</m:t>
                        </m:r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e>
                    </m:d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𝟐𝟗𝟔𝟐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)^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 Rs 781.25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17. Hence,   edp  =   AR / (AR - MR)">
                <a:extLst>
                  <a:ext uri="{FF2B5EF4-FFF2-40B4-BE49-F238E27FC236}">
                    <a16:creationId xmlns:a16="http://schemas.microsoft.com/office/drawing/2014/main" id="{E22C18B0-60A2-1945-9A4D-235B7C72E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3778321"/>
                <a:ext cx="5819311" cy="581475"/>
              </a:xfrm>
              <a:prstGeom prst="rect">
                <a:avLst/>
              </a:prstGeom>
              <a:blipFill>
                <a:blip r:embed="rId8"/>
                <a:stretch>
                  <a:fillRect l="-871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of AC Curve">
            <a:extLst>
              <a:ext uri="{FF2B5EF4-FFF2-40B4-BE49-F238E27FC236}">
                <a16:creationId xmlns:a16="http://schemas.microsoft.com/office/drawing/2014/main" id="{58012F4B-F004-B54A-9807-2C9787D91EB3}"/>
              </a:ext>
            </a:extLst>
          </p:cNvPr>
          <p:cNvSpPr txBox="1">
            <a:spLocks/>
          </p:cNvSpPr>
          <p:nvPr/>
        </p:nvSpPr>
        <p:spPr>
          <a:xfrm>
            <a:off x="804493" y="4697063"/>
            <a:ext cx="7020193" cy="50410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5(62.5)^3 – 2(62.5)^2 + 7(62.5) + 100  = Rs 1213428.13</a:t>
            </a:r>
          </a:p>
        </p:txBody>
      </p:sp>
    </p:spTree>
    <p:extLst>
      <p:ext uri="{BB962C8B-B14F-4D97-AF65-F5344CB8AC3E}">
        <p14:creationId xmlns:p14="http://schemas.microsoft.com/office/powerpoint/2010/main" val="3969809471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37376" y="6400413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49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/>
              <p:nvPr/>
            </p:nvSpPr>
            <p:spPr>
              <a:xfrm>
                <a:off x="621341" y="1239415"/>
                <a:ext cx="3014691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1" y="1239415"/>
                <a:ext cx="3014691" cy="581475"/>
              </a:xfrm>
              <a:prstGeom prst="rect">
                <a:avLst/>
              </a:prstGeom>
              <a:blipFill>
                <a:blip r:embed="rId2"/>
                <a:stretch>
                  <a:fillRect l="-1255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462" y="782202"/>
                <a:ext cx="3657628" cy="581475"/>
              </a:xfrm>
              <a:prstGeom prst="rect">
                <a:avLst/>
              </a:prstGeom>
              <a:blipFill>
                <a:blip r:embed="rId3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/>
              <p:nvPr/>
            </p:nvSpPr>
            <p:spPr>
              <a:xfrm>
                <a:off x="492384" y="1820890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accent3">
                              <a:lumMod val="20000"/>
                              <a:lumOff val="80000"/>
                            </a:schemeClr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accent3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84" y="1820890"/>
                <a:ext cx="3657628" cy="581475"/>
              </a:xfrm>
              <a:prstGeom prst="rect">
                <a:avLst/>
              </a:prstGeom>
              <a:blipFill>
                <a:blip r:embed="rId4"/>
                <a:stretch>
                  <a:fillRect l="-1038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of AC Curve">
            <a:extLst>
              <a:ext uri="{FF2B5EF4-FFF2-40B4-BE49-F238E27FC236}">
                <a16:creationId xmlns:a16="http://schemas.microsoft.com/office/drawing/2014/main" id="{094BF657-4064-5941-91B7-BE3BB2DB0A9D}"/>
              </a:ext>
            </a:extLst>
          </p:cNvPr>
          <p:cNvSpPr txBox="1">
            <a:spLocks/>
          </p:cNvSpPr>
          <p:nvPr/>
        </p:nvSpPr>
        <p:spPr>
          <a:xfrm>
            <a:off x="4336090" y="859573"/>
            <a:ext cx="4186570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5q^3 – 2q^2 + 7q +100</a:t>
            </a:r>
          </a:p>
        </p:txBody>
      </p:sp>
      <p:sp>
        <p:nvSpPr>
          <p:cNvPr id="11" name="Shape of AC Curve">
            <a:extLst>
              <a:ext uri="{FF2B5EF4-FFF2-40B4-BE49-F238E27FC236}">
                <a16:creationId xmlns:a16="http://schemas.microsoft.com/office/drawing/2014/main" id="{92560501-B511-DD4D-AB76-7593CF4DA199}"/>
              </a:ext>
            </a:extLst>
          </p:cNvPr>
          <p:cNvSpPr txBox="1">
            <a:spLocks/>
          </p:cNvSpPr>
          <p:nvPr/>
        </p:nvSpPr>
        <p:spPr>
          <a:xfrm>
            <a:off x="4336089" y="1363677"/>
            <a:ext cx="4186570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= 5q^2 – 2q + 7 + 100/q</a:t>
            </a:r>
          </a:p>
        </p:txBody>
      </p:sp>
      <p:sp>
        <p:nvSpPr>
          <p:cNvPr id="12" name="Shape of AC Curve">
            <a:extLst>
              <a:ext uri="{FF2B5EF4-FFF2-40B4-BE49-F238E27FC236}">
                <a16:creationId xmlns:a16="http://schemas.microsoft.com/office/drawing/2014/main" id="{25A5DAF5-A860-3548-B94F-9C6711C7E93A}"/>
              </a:ext>
            </a:extLst>
          </p:cNvPr>
          <p:cNvSpPr txBox="1">
            <a:spLocks/>
          </p:cNvSpPr>
          <p:nvPr/>
        </p:nvSpPr>
        <p:spPr>
          <a:xfrm>
            <a:off x="4479296" y="1945152"/>
            <a:ext cx="4043363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TC’  = 15q^2 – 4q + 7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621340" y="138596"/>
                <a:ext cx="827034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𝑷𝒓𝒊𝒄𝒊𝒏𝒈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𝒔𝒕𝒓𝒂𝒕𝒆𝒈𝒊𝒆𝒔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𝑵𝒖𝒎𝒆𝒓𝒊𝒄𝒂𝒍𝒔</m:t>
                    </m:r>
                  </m:oMath>
                </a14:m>
                <a:r>
                  <a:rPr lang="en-US" sz="253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BEP, MC pricing</a:t>
                </a:r>
                <a:endParaRPr lang="ar-AE" sz="253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38596"/>
                <a:ext cx="8270348" cy="581475"/>
              </a:xfrm>
              <a:prstGeom prst="rect">
                <a:avLst/>
              </a:prstGeom>
              <a:blipFill>
                <a:blip r:embed="rId5"/>
                <a:stretch>
                  <a:fillRect l="-1378" b="-260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17. Hence,   edp  =   AR / (AR - MR)">
                <a:extLst>
                  <a:ext uri="{FF2B5EF4-FFF2-40B4-BE49-F238E27FC236}">
                    <a16:creationId xmlns:a16="http://schemas.microsoft.com/office/drawing/2014/main" id="{1E998C40-8562-D547-B9A5-4E04D6BC5E71}"/>
                  </a:ext>
                </a:extLst>
              </p:cNvPr>
              <p:cNvSpPr txBox="1"/>
              <p:nvPr/>
            </p:nvSpPr>
            <p:spPr>
              <a:xfrm>
                <a:off x="690769" y="1979745"/>
                <a:ext cx="6439572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= 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Medium"/>
                  </a:rPr>
                  <a:t>5q^2 – 2q + 7 + 100/q - </a:t>
                </a: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𝟐𝟓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𝟎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 </m:t>
                    </m:r>
                  </m:oMath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17. Hence,   edp  =   AR / (AR - MR)">
                <a:extLst>
                  <a:ext uri="{FF2B5EF4-FFF2-40B4-BE49-F238E27FC236}">
                    <a16:creationId xmlns:a16="http://schemas.microsoft.com/office/drawing/2014/main" id="{1E998C40-8562-D547-B9A5-4E04D6BC5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69" y="1979745"/>
                <a:ext cx="6439572" cy="581475"/>
              </a:xfrm>
              <a:prstGeom prst="rect">
                <a:avLst/>
              </a:prstGeom>
              <a:blipFill>
                <a:blip r:embed="rId6"/>
                <a:stretch>
                  <a:fillRect l="-1772" b="-217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17. Hence,   edp  =   AR / (AR - MR)">
                <a:extLst>
                  <a:ext uri="{FF2B5EF4-FFF2-40B4-BE49-F238E27FC236}">
                    <a16:creationId xmlns:a16="http://schemas.microsoft.com/office/drawing/2014/main" id="{C95B6B60-893A-A54C-B5B3-DE1D6815289F}"/>
                  </a:ext>
                </a:extLst>
              </p:cNvPr>
              <p:cNvSpPr txBox="1"/>
              <p:nvPr/>
            </p:nvSpPr>
            <p:spPr>
              <a:xfrm>
                <a:off x="875466" y="2727695"/>
                <a:ext cx="6439572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= 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Medium"/>
                  </a:rPr>
                  <a:t>5q^2 – 1.8q  + 100/q - </a:t>
                </a: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 </m:t>
                    </m:r>
                  </m:oMath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17. Hence,   edp  =   AR / (AR - MR)">
                <a:extLst>
                  <a:ext uri="{FF2B5EF4-FFF2-40B4-BE49-F238E27FC236}">
                    <a16:creationId xmlns:a16="http://schemas.microsoft.com/office/drawing/2014/main" id="{C95B6B60-893A-A54C-B5B3-DE1D68152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66" y="2727695"/>
                <a:ext cx="6439572" cy="581475"/>
              </a:xfrm>
              <a:prstGeom prst="rect">
                <a:avLst/>
              </a:prstGeom>
              <a:blipFill>
                <a:blip r:embed="rId7"/>
                <a:stretch>
                  <a:fillRect l="-1972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17. Hence,   edp  =   AR / (AR - MR)">
                <a:extLst>
                  <a:ext uri="{FF2B5EF4-FFF2-40B4-BE49-F238E27FC236}">
                    <a16:creationId xmlns:a16="http://schemas.microsoft.com/office/drawing/2014/main" id="{12104B91-80EB-6B4A-A42D-C98F4C637DB0}"/>
                  </a:ext>
                </a:extLst>
              </p:cNvPr>
              <p:cNvSpPr txBox="1"/>
              <p:nvPr/>
            </p:nvSpPr>
            <p:spPr>
              <a:xfrm>
                <a:off x="875466" y="3351383"/>
                <a:ext cx="6439572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 = </a:t>
                </a:r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Medium"/>
                  </a:rPr>
                  <a:t>5q^3 – 1.8q^2 - </a:t>
                </a: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Helvetica Neue Medium"/>
                  </a:rPr>
                  <a:t> + 100</a:t>
                </a:r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17. Hence,   edp  =   AR / (AR - MR)">
                <a:extLst>
                  <a:ext uri="{FF2B5EF4-FFF2-40B4-BE49-F238E27FC236}">
                    <a16:creationId xmlns:a16="http://schemas.microsoft.com/office/drawing/2014/main" id="{12104B91-80EB-6B4A-A42D-C98F4C637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66" y="3351383"/>
                <a:ext cx="6439572" cy="581475"/>
              </a:xfrm>
              <a:prstGeom prst="rect">
                <a:avLst/>
              </a:prstGeom>
              <a:blipFill>
                <a:blip r:embed="rId8"/>
                <a:stretch>
                  <a:fillRect l="-1972" b="-217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17. Hence,   edp  =   AR / (AR - MR)">
            <a:extLst>
              <a:ext uri="{FF2B5EF4-FFF2-40B4-BE49-F238E27FC236}">
                <a16:creationId xmlns:a16="http://schemas.microsoft.com/office/drawing/2014/main" id="{B2C94D61-50A9-D74F-9B08-A094427E68DC}"/>
              </a:ext>
            </a:extLst>
          </p:cNvPr>
          <p:cNvSpPr txBox="1"/>
          <p:nvPr/>
        </p:nvSpPr>
        <p:spPr>
          <a:xfrm>
            <a:off x="875466" y="4191676"/>
            <a:ext cx="6439572" cy="581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:m="http://schemas.openxmlformats.org/officeDocument/2006/math" xmlns:ma14="http://schemas.microsoft.com/office/mac/drawingml/2011/main" xmlns="" val="1"/>
            </a:ext>
          </a:extLst>
        </p:spPr>
        <p:txBody>
          <a:bodyPr lIns="35719" tIns="35719" rIns="35719" bIns="35719" anchor="b">
            <a:noAutofit/>
          </a:bodyPr>
          <a:lstStyle/>
          <a:p>
            <a:pPr algn="just" defTabSz="349138">
              <a:defRPr sz="2550" b="0">
                <a:latin typeface="+mn-lt"/>
                <a:ea typeface="+mn-ea"/>
                <a:cs typeface="+mn-cs"/>
                <a:sym typeface="Helvetica Neue Medium"/>
              </a:defRPr>
            </a:pPr>
            <a:r>
              <a:rPr lang="en-US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 = -</a:t>
            </a:r>
            <a:r>
              <a:rPr lang="en-US" sz="1969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</a:t>
            </a:r>
            <a:endParaRPr lang="ar-AE" sz="1969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17. Hence,   edp  =   AR / (AR - MR)">
                <a:extLst>
                  <a:ext uri="{FF2B5EF4-FFF2-40B4-BE49-F238E27FC236}">
                    <a16:creationId xmlns:a16="http://schemas.microsoft.com/office/drawing/2014/main" id="{1F78C57C-AC79-D34C-B74D-70CAA3EED62B}"/>
                  </a:ext>
                </a:extLst>
              </p:cNvPr>
              <p:cNvSpPr txBox="1"/>
              <p:nvPr/>
            </p:nvSpPr>
            <p:spPr>
              <a:xfrm>
                <a:off x="667226" y="4978898"/>
                <a:ext cx="4079616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𝑴𝑪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𝒑𝒓𝒊𝒄𝒊𝒏𝒈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𝒔𝒕𝒓𝒂𝒕𝒆𝒈𝒚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𝒖𝒔𝒆𝒅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17. Hence,   edp  =   AR / (AR - MR)">
                <a:extLst>
                  <a:ext uri="{FF2B5EF4-FFF2-40B4-BE49-F238E27FC236}">
                    <a16:creationId xmlns:a16="http://schemas.microsoft.com/office/drawing/2014/main" id="{1F78C57C-AC79-D34C-B74D-70CAA3EED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26" y="4978898"/>
                <a:ext cx="4079616" cy="581475"/>
              </a:xfrm>
              <a:prstGeom prst="rect">
                <a:avLst/>
              </a:prstGeom>
              <a:blipFill>
                <a:blip r:embed="rId9"/>
                <a:stretch>
                  <a:fillRect l="-1242" b="-217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17. Hence,   edp  =   AR / (AR - MR)">
                <a:extLst>
                  <a:ext uri="{FF2B5EF4-FFF2-40B4-BE49-F238E27FC236}">
                    <a16:creationId xmlns:a16="http://schemas.microsoft.com/office/drawing/2014/main" id="{516714FE-C156-584F-BBCF-98EC79F201EE}"/>
                  </a:ext>
                </a:extLst>
              </p:cNvPr>
              <p:cNvSpPr txBox="1"/>
              <p:nvPr/>
            </p:nvSpPr>
            <p:spPr>
              <a:xfrm>
                <a:off x="617472" y="5600061"/>
                <a:ext cx="4079616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0 = 15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^2 – 3.8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q</m:t>
                    </m:r>
                    <m:r>
                      <m:rPr>
                        <m:nor/>
                      </m:rPr>
                      <a:rPr lang="en-US" sz="1969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Helvetica Neue Medium"/>
                      </a:rPr>
                      <m:t> </m:t>
                    </m:r>
                  </m:oMath>
                </a14:m>
                <a:r>
                  <a:rPr lang="en-US" sz="1969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Helvetica Neue Medium"/>
                      </a:rPr>
                      <m:t> </m:t>
                    </m:r>
                  </m:oMath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17. Hence,   edp  =   AR / (AR - MR)">
                <a:extLst>
                  <a:ext uri="{FF2B5EF4-FFF2-40B4-BE49-F238E27FC236}">
                    <a16:creationId xmlns:a16="http://schemas.microsoft.com/office/drawing/2014/main" id="{516714FE-C156-584F-BBCF-98EC79F20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72" y="5600061"/>
                <a:ext cx="4079616" cy="581475"/>
              </a:xfrm>
              <a:prstGeom prst="rect">
                <a:avLst/>
              </a:prstGeom>
              <a:blipFill>
                <a:blip r:embed="rId10"/>
                <a:stretch>
                  <a:fillRect l="-1238" b="-2173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17. Hence,   edp  =   AR / (AR - MR)">
                <a:extLst>
                  <a:ext uri="{FF2B5EF4-FFF2-40B4-BE49-F238E27FC236}">
                    <a16:creationId xmlns:a16="http://schemas.microsoft.com/office/drawing/2014/main" id="{BE2D2811-1804-B747-B0A2-860BA472862D}"/>
                  </a:ext>
                </a:extLst>
              </p:cNvPr>
              <p:cNvSpPr txBox="1"/>
              <p:nvPr/>
            </p:nvSpPr>
            <p:spPr>
              <a:xfrm>
                <a:off x="617472" y="1351689"/>
                <a:ext cx="4079616" cy="5814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𝑩𝑬𝑷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𝒑𝒓𝒊𝒄𝒊𝒏𝒈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𝒔𝒕𝒓𝒂𝒕𝒆𝒈𝒚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 </m:t>
                      </m:r>
                      <m:r>
                        <a:rPr lang="en-US" sz="1969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  <a:sym typeface="Helvetica Neue Medium"/>
                        </a:rPr>
                        <m:t>𝒖𝒔𝒆𝒅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17. Hence,   edp  =   AR / (AR - MR)">
                <a:extLst>
                  <a:ext uri="{FF2B5EF4-FFF2-40B4-BE49-F238E27FC236}">
                    <a16:creationId xmlns:a16="http://schemas.microsoft.com/office/drawing/2014/main" id="{BE2D2811-1804-B747-B0A2-860BA47286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72" y="1351689"/>
                <a:ext cx="4079616" cy="581475"/>
              </a:xfrm>
              <a:prstGeom prst="rect">
                <a:avLst/>
              </a:prstGeom>
              <a:blipFill>
                <a:blip r:embed="rId11"/>
                <a:stretch>
                  <a:fillRect l="-1238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071210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98454" y="6349342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50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/>
              <p:nvPr/>
            </p:nvSpPr>
            <p:spPr>
              <a:xfrm>
                <a:off x="595946" y="1000151"/>
                <a:ext cx="3014691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46" y="1000151"/>
                <a:ext cx="3014691" cy="581475"/>
              </a:xfrm>
              <a:prstGeom prst="rect">
                <a:avLst/>
              </a:prstGeom>
              <a:blipFill>
                <a:blip r:embed="rId2"/>
                <a:stretch>
                  <a:fillRect l="-1681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53067" y="542938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67" y="542938"/>
                <a:ext cx="3657628" cy="581475"/>
              </a:xfrm>
              <a:prstGeom prst="rect">
                <a:avLst/>
              </a:prstGeom>
              <a:blipFill>
                <a:blip r:embed="rId3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/>
              <p:nvPr/>
            </p:nvSpPr>
            <p:spPr>
              <a:xfrm>
                <a:off x="466990" y="1581626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90" y="1581626"/>
                <a:ext cx="3657628" cy="581475"/>
              </a:xfrm>
              <a:prstGeom prst="rect">
                <a:avLst/>
              </a:prstGeom>
              <a:blipFill>
                <a:blip r:embed="rId4"/>
                <a:stretch>
                  <a:fillRect l="-1384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of AC Curve">
            <a:extLst>
              <a:ext uri="{FF2B5EF4-FFF2-40B4-BE49-F238E27FC236}">
                <a16:creationId xmlns:a16="http://schemas.microsoft.com/office/drawing/2014/main" id="{094BF657-4064-5941-91B7-BE3BB2DB0A9D}"/>
              </a:ext>
            </a:extLst>
          </p:cNvPr>
          <p:cNvSpPr txBox="1">
            <a:spLocks/>
          </p:cNvSpPr>
          <p:nvPr/>
        </p:nvSpPr>
        <p:spPr>
          <a:xfrm>
            <a:off x="4732479" y="616475"/>
            <a:ext cx="4186570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5q^3 – 2q^2 + 7q +100</a:t>
            </a:r>
          </a:p>
        </p:txBody>
      </p:sp>
      <p:sp>
        <p:nvSpPr>
          <p:cNvPr id="11" name="Shape of AC Curve">
            <a:extLst>
              <a:ext uri="{FF2B5EF4-FFF2-40B4-BE49-F238E27FC236}">
                <a16:creationId xmlns:a16="http://schemas.microsoft.com/office/drawing/2014/main" id="{92560501-B511-DD4D-AB76-7593CF4DA199}"/>
              </a:ext>
            </a:extLst>
          </p:cNvPr>
          <p:cNvSpPr txBox="1">
            <a:spLocks/>
          </p:cNvSpPr>
          <p:nvPr/>
        </p:nvSpPr>
        <p:spPr>
          <a:xfrm>
            <a:off x="4732478" y="1120579"/>
            <a:ext cx="4186570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= 5q^2 – 2q + 7 + 100/q</a:t>
            </a:r>
          </a:p>
        </p:txBody>
      </p:sp>
      <p:sp>
        <p:nvSpPr>
          <p:cNvPr id="12" name="Shape of AC Curve">
            <a:extLst>
              <a:ext uri="{FF2B5EF4-FFF2-40B4-BE49-F238E27FC236}">
                <a16:creationId xmlns:a16="http://schemas.microsoft.com/office/drawing/2014/main" id="{25A5DAF5-A860-3548-B94F-9C6711C7E93A}"/>
              </a:ext>
            </a:extLst>
          </p:cNvPr>
          <p:cNvSpPr txBox="1">
            <a:spLocks/>
          </p:cNvSpPr>
          <p:nvPr/>
        </p:nvSpPr>
        <p:spPr>
          <a:xfrm>
            <a:off x="4875685" y="1702055"/>
            <a:ext cx="4043363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TC’  = 15q^2 – 4q + 7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621340" y="138596"/>
                <a:ext cx="829770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𝑷𝒓𝒊𝒄𝒊𝒏𝒈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𝒔𝒕𝒓𝒂𝒕𝒆𝒈𝒊𝒆𝒔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𝑵𝒖𝒎𝒆𝒓𝒊𝒄𝒂𝒍𝒔</m:t>
                    </m:r>
                  </m:oMath>
                </a14:m>
                <a:r>
                  <a:rPr lang="en-US" sz="253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optimum qty pricing</a:t>
                </a:r>
                <a:endParaRPr lang="ar-AE" sz="253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40" y="138596"/>
                <a:ext cx="8297708" cy="581475"/>
              </a:xfrm>
              <a:prstGeom prst="rect">
                <a:avLst/>
              </a:prstGeom>
              <a:blipFill>
                <a:blip r:embed="rId5"/>
                <a:stretch>
                  <a:fillRect l="-1374" b="-2608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of AC Curve">
            <a:extLst>
              <a:ext uri="{FF2B5EF4-FFF2-40B4-BE49-F238E27FC236}">
                <a16:creationId xmlns:a16="http://schemas.microsoft.com/office/drawing/2014/main" id="{FD8282F7-7A33-4348-9169-D901E53B8B0A}"/>
              </a:ext>
            </a:extLst>
          </p:cNvPr>
          <p:cNvSpPr txBox="1">
            <a:spLocks/>
          </p:cNvSpPr>
          <p:nvPr/>
        </p:nvSpPr>
        <p:spPr>
          <a:xfrm>
            <a:off x="970925" y="2811513"/>
            <a:ext cx="6990557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AC’ = 10q – 2 - 100/(q^2) = 0        10q^3 – 2q^2 -100 = 0 </a:t>
            </a:r>
          </a:p>
        </p:txBody>
      </p:sp>
      <p:sp>
        <p:nvSpPr>
          <p:cNvPr id="13" name="Shape of AC Curve">
            <a:extLst>
              <a:ext uri="{FF2B5EF4-FFF2-40B4-BE49-F238E27FC236}">
                <a16:creationId xmlns:a16="http://schemas.microsoft.com/office/drawing/2014/main" id="{DF2D52C3-E975-4C49-A007-4ECD7E6E7637}"/>
              </a:ext>
            </a:extLst>
          </p:cNvPr>
          <p:cNvSpPr txBox="1">
            <a:spLocks/>
          </p:cNvSpPr>
          <p:nvPr/>
        </p:nvSpPr>
        <p:spPr>
          <a:xfrm>
            <a:off x="2096125" y="3336263"/>
            <a:ext cx="4015456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2.19 units, NRN, NRN</a:t>
            </a:r>
          </a:p>
        </p:txBody>
      </p:sp>
      <p:sp>
        <p:nvSpPr>
          <p:cNvPr id="14" name="Shape of AC Curve">
            <a:extLst>
              <a:ext uri="{FF2B5EF4-FFF2-40B4-BE49-F238E27FC236}">
                <a16:creationId xmlns:a16="http://schemas.microsoft.com/office/drawing/2014/main" id="{1174F44A-91A2-EF42-805E-771EB32EE2E5}"/>
              </a:ext>
            </a:extLst>
          </p:cNvPr>
          <p:cNvSpPr txBox="1">
            <a:spLocks/>
          </p:cNvSpPr>
          <p:nvPr/>
        </p:nvSpPr>
        <p:spPr>
          <a:xfrm>
            <a:off x="556544" y="3697253"/>
            <a:ext cx="4015456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Cost:</a:t>
            </a:r>
          </a:p>
        </p:txBody>
      </p:sp>
      <p:sp>
        <p:nvSpPr>
          <p:cNvPr id="15" name="Shape of AC Curve">
            <a:extLst>
              <a:ext uri="{FF2B5EF4-FFF2-40B4-BE49-F238E27FC236}">
                <a16:creationId xmlns:a16="http://schemas.microsoft.com/office/drawing/2014/main" id="{4EB0598E-F2F8-CF49-8B4E-420C56FD947C}"/>
              </a:ext>
            </a:extLst>
          </p:cNvPr>
          <p:cNvSpPr txBox="1">
            <a:spLocks/>
          </p:cNvSpPr>
          <p:nvPr/>
        </p:nvSpPr>
        <p:spPr>
          <a:xfrm>
            <a:off x="442427" y="4252049"/>
            <a:ext cx="8246348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= 5(2.19)^2 – 2(2.19) + 7 + 100/(2.19)  = Rs 72.26</a:t>
            </a:r>
          </a:p>
        </p:txBody>
      </p:sp>
      <p:sp>
        <p:nvSpPr>
          <p:cNvPr id="20" name="Shape of AC Curve">
            <a:extLst>
              <a:ext uri="{FF2B5EF4-FFF2-40B4-BE49-F238E27FC236}">
                <a16:creationId xmlns:a16="http://schemas.microsoft.com/office/drawing/2014/main" id="{7157C457-F23B-8A4B-80A2-7874E7C1B0F4}"/>
              </a:ext>
            </a:extLst>
          </p:cNvPr>
          <p:cNvSpPr txBox="1">
            <a:spLocks/>
          </p:cNvSpPr>
          <p:nvPr/>
        </p:nvSpPr>
        <p:spPr>
          <a:xfrm>
            <a:off x="499548" y="4813024"/>
            <a:ext cx="4015456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Cost price: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3701C86-3AFB-2247-B654-B3C5502159F8}"/>
                  </a:ext>
                </a:extLst>
              </p:cNvPr>
              <p:cNvSpPr/>
              <p:nvPr/>
            </p:nvSpPr>
            <p:spPr>
              <a:xfrm>
                <a:off x="816162" y="5353140"/>
                <a:ext cx="4084918" cy="3953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969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𝟏𝟗</m:t>
                          </m:r>
                        </m:e>
                      </m:d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𝑹𝒔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𝟓𝟔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13701C86-3AFB-2247-B654-B3C5502159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62" y="5353140"/>
                <a:ext cx="4084918" cy="395365"/>
              </a:xfrm>
              <a:prstGeom prst="rect">
                <a:avLst/>
              </a:prstGeom>
              <a:blipFill>
                <a:blip r:embed="rId6"/>
                <a:stretch>
                  <a:fillRect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of AC Curve">
            <a:extLst>
              <a:ext uri="{FF2B5EF4-FFF2-40B4-BE49-F238E27FC236}">
                <a16:creationId xmlns:a16="http://schemas.microsoft.com/office/drawing/2014/main" id="{E866E47E-38F7-F74E-822D-1FA46B28768F}"/>
              </a:ext>
            </a:extLst>
          </p:cNvPr>
          <p:cNvSpPr txBox="1">
            <a:spLocks/>
          </p:cNvSpPr>
          <p:nvPr/>
        </p:nvSpPr>
        <p:spPr>
          <a:xfrm>
            <a:off x="492385" y="5669904"/>
            <a:ext cx="4015456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Cost profit status: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hape of AC Curve">
                <a:extLst>
                  <a:ext uri="{FF2B5EF4-FFF2-40B4-BE49-F238E27FC236}">
                    <a16:creationId xmlns:a16="http://schemas.microsoft.com/office/drawing/2014/main" id="{97DBD430-0B9C-804F-A0D2-7C18634362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8381" y="2206936"/>
                <a:ext cx="4924627" cy="5041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Pie = - 5q^3 </a:t>
                </a:r>
                <a14:m>
                  <m:oMath xmlns:m="http://schemas.openxmlformats.org/officeDocument/2006/math"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𝐪</m:t>
                        </m:r>
                      </m:e>
                      <m:sup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𝒒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- 100</a:t>
                </a:r>
              </a:p>
            </p:txBody>
          </p:sp>
        </mc:Choice>
        <mc:Fallback xmlns="">
          <p:sp>
            <p:nvSpPr>
              <p:cNvPr id="22" name="Shape of AC Curve">
                <a:extLst>
                  <a:ext uri="{FF2B5EF4-FFF2-40B4-BE49-F238E27FC236}">
                    <a16:creationId xmlns:a16="http://schemas.microsoft.com/office/drawing/2014/main" id="{97DBD430-0B9C-804F-A0D2-7C1863436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8381" y="2206936"/>
                <a:ext cx="4924627" cy="504104"/>
              </a:xfrm>
              <a:prstGeom prst="rect">
                <a:avLst/>
              </a:prstGeom>
              <a:blipFill>
                <a:blip r:embed="rId7"/>
                <a:stretch>
                  <a:fillRect l="-2314" b="-2439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Shape of AC Curve">
                <a:extLst>
                  <a:ext uri="{FF2B5EF4-FFF2-40B4-BE49-F238E27FC236}">
                    <a16:creationId xmlns:a16="http://schemas.microsoft.com/office/drawing/2014/main" id="{ABACCD6F-1AFB-C941-ABC1-3930FD41FC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6162" y="6215300"/>
                <a:ext cx="6894163" cy="50410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>
                <a:lvl1pPr marL="0" marR="0" indent="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1pPr>
                <a:lvl2pPr marL="0" marR="0" indent="228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2pPr>
                <a:lvl3pPr marL="0" marR="0" indent="457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3pPr>
                <a:lvl4pPr marL="0" marR="0" indent="685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4pPr>
                <a:lvl5pPr marL="0" marR="0" indent="9144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5pPr>
                <a:lvl6pPr marL="0" marR="0" indent="11430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6pPr>
                <a:lvl7pPr marL="0" marR="0" indent="13716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7pPr>
                <a:lvl8pPr marL="0" marR="0" indent="16002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8pPr>
                <a:lvl9pPr marL="0" marR="0" indent="1828800" algn="ctr" defTabSz="584200" rtl="0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8000" b="0" i="0" u="none" strike="noStrike" cap="none" spc="0" baseline="0">
                    <a:solidFill>
                      <a:srgbClr val="000000"/>
                    </a:solidFill>
                    <a:uFillTx/>
                    <a:latin typeface="+mn-lt"/>
                    <a:ea typeface="+mn-ea"/>
                    <a:cs typeface="+mn-cs"/>
                    <a:sym typeface="Helvetica Light"/>
                  </a:defRPr>
                </a:lvl9pPr>
              </a:lstStyle>
              <a:p>
                <a:pPr algn="just" hangingPunct="1"/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Pie = - 5(2.19)^3 </a:t>
                </a:r>
                <a14:m>
                  <m:oMath xmlns:m="http://schemas.openxmlformats.org/officeDocument/2006/math"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+ 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𝟖</m:t>
                    </m:r>
                    <m:sSup>
                      <m:sSupPr>
                        <m:ctrlPr>
                          <a:rPr lang="en-US" sz="1969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𝟏𝟗</m:t>
                        </m:r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969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sz="1969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𝟏𝟖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𝟏𝟗</m:t>
                    </m:r>
                    <m:r>
                      <a:rPr lang="en-US" sz="1969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969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– 100  = Rs -104.46</a:t>
                </a:r>
              </a:p>
            </p:txBody>
          </p:sp>
        </mc:Choice>
        <mc:Fallback xmlns="">
          <p:sp>
            <p:nvSpPr>
              <p:cNvPr id="34" name="Shape of AC Curve">
                <a:extLst>
                  <a:ext uri="{FF2B5EF4-FFF2-40B4-BE49-F238E27FC236}">
                    <a16:creationId xmlns:a16="http://schemas.microsoft.com/office/drawing/2014/main" id="{ABACCD6F-1AFB-C941-ABC1-3930FD41F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162" y="6215300"/>
                <a:ext cx="6894163" cy="504104"/>
              </a:xfrm>
              <a:prstGeom prst="rect">
                <a:avLst/>
              </a:prstGeom>
              <a:blipFill>
                <a:blip r:embed="rId8"/>
                <a:stretch>
                  <a:fillRect l="-1838" b="-275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782871"/>
      </p:ext>
    </p:extLst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D14FDA-EDCD-314D-BDEC-16FBEA8FBD1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698454" y="6349342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51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/>
              <p:nvPr/>
            </p:nvSpPr>
            <p:spPr>
              <a:xfrm>
                <a:off x="595946" y="1000151"/>
                <a:ext cx="3014691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17. Hence,   edp  =   AR / (AR - MR)">
                <a:extLst>
                  <a:ext uri="{FF2B5EF4-FFF2-40B4-BE49-F238E27FC236}">
                    <a16:creationId xmlns:a16="http://schemas.microsoft.com/office/drawing/2014/main" id="{0C39651A-F108-014A-9873-A479B5343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46" y="1000151"/>
                <a:ext cx="3014691" cy="581475"/>
              </a:xfrm>
              <a:prstGeom prst="rect">
                <a:avLst/>
              </a:prstGeom>
              <a:blipFill>
                <a:blip r:embed="rId2"/>
                <a:stretch>
                  <a:fillRect l="-1681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/>
              <p:nvPr/>
            </p:nvSpPr>
            <p:spPr>
              <a:xfrm>
                <a:off x="653067" y="542938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𝑻𝑹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^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17. Hence,   edp  =   AR / (AR - MR)">
                <a:extLst>
                  <a:ext uri="{FF2B5EF4-FFF2-40B4-BE49-F238E27FC236}">
                    <a16:creationId xmlns:a16="http://schemas.microsoft.com/office/drawing/2014/main" id="{5CDFE469-123C-C54E-B680-7103B7C5C0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067" y="542938"/>
                <a:ext cx="3657628" cy="581475"/>
              </a:xfrm>
              <a:prstGeom prst="rect">
                <a:avLst/>
              </a:prstGeom>
              <a:blipFill>
                <a:blip r:embed="rId3"/>
                <a:stretch>
                  <a:fillRect l="-1384" b="-2127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/>
              <p:nvPr/>
            </p:nvSpPr>
            <p:spPr>
              <a:xfrm>
                <a:off x="466990" y="1581626"/>
                <a:ext cx="3657628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algn="just"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𝑴𝑹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1969" b="1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𝒒</m:t>
                      </m:r>
                    </m:oMath>
                  </m:oMathPara>
                </a14:m>
                <a:endParaRPr lang="ar-AE" sz="1969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17. Hence,   edp  =   AR / (AR - MR)">
                <a:extLst>
                  <a:ext uri="{FF2B5EF4-FFF2-40B4-BE49-F238E27FC236}">
                    <a16:creationId xmlns:a16="http://schemas.microsoft.com/office/drawing/2014/main" id="{37F962A8-AE9A-0D42-82E6-760374A8F6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90" y="1581626"/>
                <a:ext cx="3657628" cy="581475"/>
              </a:xfrm>
              <a:prstGeom prst="rect">
                <a:avLst/>
              </a:prstGeom>
              <a:blipFill>
                <a:blip r:embed="rId4"/>
                <a:stretch>
                  <a:fillRect l="-1384" b="-1914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/>
              <p:nvPr/>
            </p:nvSpPr>
            <p:spPr>
              <a:xfrm>
                <a:off x="396388" y="97635"/>
                <a:ext cx="8522660" cy="58147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="http://schemas.openxmlformats.org/officeDocument/2006/math" xmlns:ma14="http://schemas.microsoft.com/office/mac/drawingml/2011/main" xmlns="" val="1"/>
                </a:ext>
              </a:extLst>
            </p:spPr>
            <p:txBody>
              <a:bodyPr lIns="35719" tIns="35719" rIns="35719" bIns="35719" anchor="b">
                <a:noAutofit/>
              </a:bodyPr>
              <a:lstStyle/>
              <a:p>
                <a:pPr defTabSz="349138">
                  <a:defRPr sz="2550" b="0">
                    <a:latin typeface="+mn-lt"/>
                    <a:ea typeface="+mn-ea"/>
                    <a:cs typeface="+mn-cs"/>
                    <a:sym typeface="Helvetica Neue Medium"/>
                  </a:defRPr>
                </a:pPr>
                <a14:m>
                  <m:oMath xmlns:m="http://schemas.openxmlformats.org/officeDocument/2006/math"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𝑬𝒍𝒂𝒔𝒕𝒊𝒄𝒊𝒕𝒚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531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𝑵𝒖𝒎𝒆𝒓𝒊𝒄𝒂𝒍𝒔</m:t>
                    </m:r>
                  </m:oMath>
                </a14:m>
                <a:r>
                  <a:rPr lang="en-US" sz="253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 / (A – M)   and   {L Seg / U Seg}</a:t>
                </a:r>
                <a:endParaRPr lang="ar-AE" sz="253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17. Hence,   edp  =   AR / (AR - MR)">
                <a:extLst>
                  <a:ext uri="{FF2B5EF4-FFF2-40B4-BE49-F238E27FC236}">
                    <a16:creationId xmlns:a16="http://schemas.microsoft.com/office/drawing/2014/main" id="{4FED6415-78A0-4B4D-9511-8393C8C1D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388" y="97635"/>
                <a:ext cx="8522660" cy="581475"/>
              </a:xfrm>
              <a:prstGeom prst="rect">
                <a:avLst/>
              </a:prstGeom>
              <a:blipFill>
                <a:blip r:embed="rId5"/>
                <a:stretch>
                  <a:fillRect l="-1339" r="-1339" b="-2553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a14="http://schemas.microsoft.com/office/mac/drawingml/2011/main" xmlns:m="http://schemas.openxmlformats.org/officeDocument/2006/math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of AC Curve">
            <a:extLst>
              <a:ext uri="{FF2B5EF4-FFF2-40B4-BE49-F238E27FC236}">
                <a16:creationId xmlns:a16="http://schemas.microsoft.com/office/drawing/2014/main" id="{97DBD430-0B9C-804F-A0D2-7C1863436216}"/>
              </a:ext>
            </a:extLst>
          </p:cNvPr>
          <p:cNvSpPr txBox="1">
            <a:spLocks/>
          </p:cNvSpPr>
          <p:nvPr/>
        </p:nvSpPr>
        <p:spPr>
          <a:xfrm>
            <a:off x="1848381" y="2484141"/>
            <a:ext cx="4924627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Edp</a:t>
            </a:r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24.76 / [24.76 – 24.52]  = RE</a:t>
            </a:r>
          </a:p>
        </p:txBody>
      </p:sp>
      <p:sp>
        <p:nvSpPr>
          <p:cNvPr id="14" name="Shape of AC Curve">
            <a:extLst>
              <a:ext uri="{FF2B5EF4-FFF2-40B4-BE49-F238E27FC236}">
                <a16:creationId xmlns:a16="http://schemas.microsoft.com/office/drawing/2014/main" id="{7B4CC801-FAE8-AE43-8F8E-6367464C29AE}"/>
              </a:ext>
            </a:extLst>
          </p:cNvPr>
          <p:cNvSpPr txBox="1">
            <a:spLocks/>
          </p:cNvSpPr>
          <p:nvPr/>
        </p:nvSpPr>
        <p:spPr>
          <a:xfrm>
            <a:off x="542469" y="3617703"/>
            <a:ext cx="4924627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price = Rs 42, the GST = 18%</a:t>
            </a:r>
          </a:p>
        </p:txBody>
      </p:sp>
      <p:sp>
        <p:nvSpPr>
          <p:cNvPr id="15" name="Shape of AC Curve">
            <a:extLst>
              <a:ext uri="{FF2B5EF4-FFF2-40B4-BE49-F238E27FC236}">
                <a16:creationId xmlns:a16="http://schemas.microsoft.com/office/drawing/2014/main" id="{A831CE90-A2BA-1D4C-ACAA-0D71830479FF}"/>
              </a:ext>
            </a:extLst>
          </p:cNvPr>
          <p:cNvSpPr txBox="1">
            <a:spLocks/>
          </p:cNvSpPr>
          <p:nvPr/>
        </p:nvSpPr>
        <p:spPr>
          <a:xfrm>
            <a:off x="595945" y="4289173"/>
            <a:ext cx="7351856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price = Rs (42 + 0.18*42)  = 42+ 7.56   = Rs 49.56</a:t>
            </a:r>
          </a:p>
        </p:txBody>
      </p:sp>
      <p:sp>
        <p:nvSpPr>
          <p:cNvPr id="20" name="Shape of AC Curve">
            <a:extLst>
              <a:ext uri="{FF2B5EF4-FFF2-40B4-BE49-F238E27FC236}">
                <a16:creationId xmlns:a16="http://schemas.microsoft.com/office/drawing/2014/main" id="{BBF6334A-2166-F644-B98C-14D3C3DA14B2}"/>
              </a:ext>
            </a:extLst>
          </p:cNvPr>
          <p:cNvSpPr txBox="1">
            <a:spLocks/>
          </p:cNvSpPr>
          <p:nvPr/>
        </p:nvSpPr>
        <p:spPr>
          <a:xfrm>
            <a:off x="254577" y="4955749"/>
            <a:ext cx="8664471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6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Net Super NP  =  Rs 46050303 - 0.22*(4605030) – 0.02* 46050303   =  34998230.28</a:t>
            </a:r>
          </a:p>
        </p:txBody>
      </p:sp>
      <p:sp>
        <p:nvSpPr>
          <p:cNvPr id="21" name="Shape of AC Curve">
            <a:extLst>
              <a:ext uri="{FF2B5EF4-FFF2-40B4-BE49-F238E27FC236}">
                <a16:creationId xmlns:a16="http://schemas.microsoft.com/office/drawing/2014/main" id="{F3927492-5061-4344-870A-44CDAC486E05}"/>
              </a:ext>
            </a:extLst>
          </p:cNvPr>
          <p:cNvSpPr txBox="1">
            <a:spLocks/>
          </p:cNvSpPr>
          <p:nvPr/>
        </p:nvSpPr>
        <p:spPr>
          <a:xfrm>
            <a:off x="239765" y="5549393"/>
            <a:ext cx="8664471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6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Distributed pie   =  34998230.28*0.25 = 8749557.57 </a:t>
            </a:r>
          </a:p>
        </p:txBody>
      </p:sp>
      <p:sp>
        <p:nvSpPr>
          <p:cNvPr id="24" name="Shape of AC Curve">
            <a:extLst>
              <a:ext uri="{FF2B5EF4-FFF2-40B4-BE49-F238E27FC236}">
                <a16:creationId xmlns:a16="http://schemas.microsoft.com/office/drawing/2014/main" id="{731D2B77-23B4-F54B-B3FC-F21193635BB8}"/>
              </a:ext>
            </a:extLst>
          </p:cNvPr>
          <p:cNvSpPr txBox="1">
            <a:spLocks/>
          </p:cNvSpPr>
          <p:nvPr/>
        </p:nvSpPr>
        <p:spPr>
          <a:xfrm>
            <a:off x="254577" y="6063816"/>
            <a:ext cx="8664471" cy="504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c="http://schemas.openxmlformats.org/markup-compatibility/2006" xmlns:a14="http://schemas.microsoft.com/office/drawing/2010/main" xmlns="" xmlns:m="http://schemas.openxmlformats.org/officeDocument/2006/math" xmlns:ma14="http://schemas.microsoft.com/office/mac/drawingml/2011/main" val="1"/>
            </a:ext>
          </a:extLst>
        </p:spPr>
        <p:txBody>
          <a:bodyPr lIns="35719" tIns="35719" rIns="35719" bIns="35719" anchor="b">
            <a:no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just" hangingPunct="1"/>
            <a:r>
              <a:rPr lang="en-US" sz="1687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of each dividend (1 lakh)   = 87. 50</a:t>
            </a:r>
          </a:p>
        </p:txBody>
      </p:sp>
    </p:spTree>
    <p:extLst>
      <p:ext uri="{BB962C8B-B14F-4D97-AF65-F5344CB8AC3E}">
        <p14:creationId xmlns:p14="http://schemas.microsoft.com/office/powerpoint/2010/main" val="638300321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The Total Cost function of a firm is:…"/>
          <p:cNvSpPr txBox="1"/>
          <p:nvPr/>
        </p:nvSpPr>
        <p:spPr>
          <a:xfrm>
            <a:off x="241102" y="413210"/>
            <a:ext cx="850552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defRPr sz="3600" b="0">
                <a:solidFill>
                  <a:srgbClr val="000000"/>
                </a:solidFill>
              </a:defRPr>
            </a:pPr>
            <a:r>
              <a:rPr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Cost function of a firm is:</a:t>
            </a: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(0.1)(q</a:t>
            </a:r>
            <a:r>
              <a:rPr lang="en-IN" sz="2250" baseline="3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3q</a:t>
            </a:r>
            <a:r>
              <a:rPr lang="en-IN" sz="2250" baseline="3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+ 50q + 100</a:t>
            </a:r>
            <a:endParaRPr sz="2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10751">
              <a:defRPr sz="3600" b="0">
                <a:solidFill>
                  <a:srgbClr val="000000"/>
                </a:solidFill>
              </a:defRPr>
            </a:pPr>
            <a:r>
              <a:rPr lang="en-US"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sz="22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 the supply function of this firm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8ABF90-26C9-FE43-A5A9-B2A6D2F6035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37376" y="6400413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52</a:t>
            </a:fld>
            <a:endParaRPr lang="en-IN"/>
          </a:p>
        </p:txBody>
      </p:sp>
      <p:sp>
        <p:nvSpPr>
          <p:cNvPr id="4" name="The Total Cost function of a firm is:…">
            <a:extLst>
              <a:ext uri="{FF2B5EF4-FFF2-40B4-BE49-F238E27FC236}">
                <a16:creationId xmlns:a16="http://schemas.microsoft.com/office/drawing/2014/main" id="{0502445D-97E8-4347-B634-B6BE6E76C74B}"/>
              </a:ext>
            </a:extLst>
          </p:cNvPr>
          <p:cNvSpPr txBox="1"/>
          <p:nvPr/>
        </p:nvSpPr>
        <p:spPr>
          <a:xfrm>
            <a:off x="397372" y="1342589"/>
            <a:ext cx="5574182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defRPr sz="3600" b="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 = 0.3q^2 – 6q + 50</a:t>
            </a:r>
            <a:endParaRPr sz="1969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he Total Cost function of a firm is:…">
            <a:extLst>
              <a:ext uri="{FF2B5EF4-FFF2-40B4-BE49-F238E27FC236}">
                <a16:creationId xmlns:a16="http://schemas.microsoft.com/office/drawing/2014/main" id="{8CEBCF96-10C9-A246-AFB3-390B3FF0D78C}"/>
              </a:ext>
            </a:extLst>
          </p:cNvPr>
          <p:cNvSpPr txBox="1"/>
          <p:nvPr/>
        </p:nvSpPr>
        <p:spPr>
          <a:xfrm>
            <a:off x="397372" y="1882471"/>
            <a:ext cx="5574182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defRPr sz="3600" b="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TV</a:t>
            </a:r>
            <a:r>
              <a:rPr sz="1969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= </a:t>
            </a:r>
            <a:r>
              <a:rPr lang="en-US" sz="1969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0.1q^3 - 3q^2 + 50q</a:t>
            </a:r>
            <a:endParaRPr sz="1969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he Total Cost function of a firm is:…">
            <a:extLst>
              <a:ext uri="{FF2B5EF4-FFF2-40B4-BE49-F238E27FC236}">
                <a16:creationId xmlns:a16="http://schemas.microsoft.com/office/drawing/2014/main" id="{7314F0DF-866C-AC41-8717-D6840CAC20B1}"/>
              </a:ext>
            </a:extLst>
          </p:cNvPr>
          <p:cNvSpPr txBox="1"/>
          <p:nvPr/>
        </p:nvSpPr>
        <p:spPr>
          <a:xfrm>
            <a:off x="476710" y="2356299"/>
            <a:ext cx="5574182" cy="3751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defRPr sz="3600" b="0">
                <a:solidFill>
                  <a:srgbClr val="000000"/>
                </a:solidFill>
              </a:defRPr>
            </a:pPr>
            <a:r>
              <a:rPr lang="en-US" sz="1969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AVC = 0.1q^2 – 3q + 50</a:t>
            </a:r>
          </a:p>
        </p:txBody>
      </p:sp>
      <p:sp>
        <p:nvSpPr>
          <p:cNvPr id="8" name="The Total Cost function of a firm is:…">
            <a:extLst>
              <a:ext uri="{FF2B5EF4-FFF2-40B4-BE49-F238E27FC236}">
                <a16:creationId xmlns:a16="http://schemas.microsoft.com/office/drawing/2014/main" id="{9C38A2BA-8CD1-7341-BD4B-CB4DF1858728}"/>
              </a:ext>
            </a:extLst>
          </p:cNvPr>
          <p:cNvSpPr txBox="1"/>
          <p:nvPr/>
        </p:nvSpPr>
        <p:spPr>
          <a:xfrm>
            <a:off x="397372" y="5740645"/>
            <a:ext cx="8505527" cy="7646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defRPr sz="3600" b="0">
                <a:solidFill>
                  <a:srgbClr val="000000"/>
                </a:solidFill>
              </a:defRPr>
            </a:pPr>
            <a:r>
              <a:rPr lang="en-US" sz="2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supply function of this firm</a:t>
            </a:r>
            <a:r>
              <a:rPr lang="en-US" sz="2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en-US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0.3q^2 – 6q + 50 </a:t>
            </a:r>
            <a:r>
              <a:rPr lang="en-US" sz="225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s.t.</a:t>
            </a:r>
            <a:r>
              <a:rPr lang="en-US" sz="225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qty is at least =15 units     OR the price should be at least Rs 27.5 (= Reservation Price) </a:t>
            </a:r>
            <a:endParaRPr sz="225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CE4889-FDA4-7742-A62C-323F553094AA}"/>
              </a:ext>
            </a:extLst>
          </p:cNvPr>
          <p:cNvSpPr/>
          <p:nvPr/>
        </p:nvSpPr>
        <p:spPr>
          <a:xfrm>
            <a:off x="397372" y="2568515"/>
            <a:ext cx="4572000" cy="27651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defTabSz="410751">
              <a:lnSpc>
                <a:spcPct val="150000"/>
              </a:lnSpc>
              <a:defRPr sz="3600" b="0">
                <a:solidFill>
                  <a:srgbClr val="000000"/>
                </a:solidFill>
              </a:defRPr>
            </a:pPr>
            <a:r>
              <a:rPr lang="en-IN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AVC = MC</a:t>
            </a:r>
          </a:p>
          <a:p>
            <a:pPr algn="just" defTabSz="410751">
              <a:lnSpc>
                <a:spcPct val="150000"/>
              </a:lnSpc>
              <a:defRPr sz="3600" b="0">
                <a:solidFill>
                  <a:srgbClr val="000000"/>
                </a:solidFill>
              </a:defRPr>
            </a:pPr>
            <a:r>
              <a:rPr lang="en-IN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0.1q^2 – 3q + 50 = 0.3q^2 – 6q + 50</a:t>
            </a:r>
          </a:p>
          <a:p>
            <a:pPr algn="just" defTabSz="410751">
              <a:lnSpc>
                <a:spcPct val="150000"/>
              </a:lnSpc>
              <a:defRPr sz="3600" b="0">
                <a:solidFill>
                  <a:srgbClr val="000000"/>
                </a:solidFill>
              </a:defRPr>
            </a:pPr>
            <a:r>
              <a:rPr lang="en-IN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0.1q^2 – 3q = 0.3q^2 – 6q</a:t>
            </a:r>
          </a:p>
          <a:p>
            <a:pPr algn="just" defTabSz="410751">
              <a:lnSpc>
                <a:spcPct val="150000"/>
              </a:lnSpc>
              <a:defRPr sz="3600" b="0">
                <a:solidFill>
                  <a:srgbClr val="000000"/>
                </a:solidFill>
              </a:defRPr>
            </a:pPr>
            <a:r>
              <a:rPr lang="en-IN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- 0.2q^2 = – 3q</a:t>
            </a:r>
          </a:p>
          <a:p>
            <a:pPr algn="just" defTabSz="410751">
              <a:lnSpc>
                <a:spcPct val="150000"/>
              </a:lnSpc>
              <a:defRPr sz="3600" b="0">
                <a:solidFill>
                  <a:srgbClr val="000000"/>
                </a:solidFill>
              </a:defRPr>
            </a:pPr>
            <a:r>
              <a:rPr lang="en-IN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- 0.2q = – 3</a:t>
            </a:r>
          </a:p>
          <a:p>
            <a:pPr algn="just" defTabSz="410751">
              <a:lnSpc>
                <a:spcPct val="150000"/>
              </a:lnSpc>
              <a:defRPr sz="3600" b="0">
                <a:solidFill>
                  <a:srgbClr val="000000"/>
                </a:solidFill>
              </a:defRPr>
            </a:pPr>
            <a:r>
              <a:rPr lang="en-IN" sz="196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q = 15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D5EAC4-F01B-024B-8BFA-F6551662A215}"/>
              </a:ext>
            </a:extLst>
          </p:cNvPr>
          <p:cNvSpPr/>
          <p:nvPr/>
        </p:nvSpPr>
        <p:spPr>
          <a:xfrm>
            <a:off x="1312291" y="1414999"/>
            <a:ext cx="2236510" cy="28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(0.1)(q</a:t>
            </a:r>
            <a:r>
              <a:rPr lang="en-IN" sz="1266" baseline="3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IN"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3q</a:t>
            </a:r>
            <a:r>
              <a:rPr lang="en-IN" sz="1266" baseline="319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+ 50q + 100</a:t>
            </a:r>
            <a:endParaRPr lang="en-US" sz="126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B2F852-61E4-A54E-82CB-8AFC1FD7327D}"/>
              </a:ext>
            </a:extLst>
          </p:cNvPr>
          <p:cNvSpPr/>
          <p:nvPr/>
        </p:nvSpPr>
        <p:spPr>
          <a:xfrm>
            <a:off x="1812388" y="1952184"/>
            <a:ext cx="1737976" cy="2871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C’ = (0.3)(q</a:t>
            </a:r>
            <a:r>
              <a:rPr lang="en-IN" sz="1266" baseline="3199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26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– 6q + 50</a:t>
            </a:r>
            <a:endParaRPr lang="en-US" sz="1266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1793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  <p:bldP spid="3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9" name="Find the % changes in price &amp; quantity when demand increases &amp; supply decreases, given the following extractable (shuffled) demand &amp; supply functions:…"/>
          <p:cNvSpPr txBox="1"/>
          <p:nvPr/>
        </p:nvSpPr>
        <p:spPr>
          <a:xfrm>
            <a:off x="505686" y="398157"/>
            <a:ext cx="8382801" cy="1110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defRPr sz="4000" b="0">
                <a:solidFill>
                  <a:srgbClr val="000000"/>
                </a:solidFill>
              </a:defRPr>
            </a:pP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% changes in price &amp; quantity when demand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supply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crease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given the following (shuffled) demand &amp; supply functions: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C1F5C-7F31-E747-85CE-5B6CE57209C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780066" y="6464021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53</a:t>
            </a:fld>
            <a:endParaRPr lang="en-IN"/>
          </a:p>
        </p:txBody>
      </p:sp>
      <p:sp>
        <p:nvSpPr>
          <p:cNvPr id="5" name="Find the % changes in price &amp; quantity when demand increases &amp; supply decreases, given the following extractable (shuffled) demand &amp; supply functions:…">
            <a:extLst>
              <a:ext uri="{FF2B5EF4-FFF2-40B4-BE49-F238E27FC236}">
                <a16:creationId xmlns:a16="http://schemas.microsoft.com/office/drawing/2014/main" id="{5D4118FE-9172-6348-9B88-AF397A7FFF1C}"/>
              </a:ext>
            </a:extLst>
          </p:cNvPr>
          <p:cNvSpPr txBox="1"/>
          <p:nvPr/>
        </p:nvSpPr>
        <p:spPr>
          <a:xfrm>
            <a:off x="3308314" y="1447709"/>
            <a:ext cx="2777546" cy="2087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100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10751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defRPr sz="5000">
                <a:solidFill>
                  <a:srgbClr val="263E0F"/>
                </a:solidFill>
              </a:defRPr>
            </a:pPr>
            <a:r>
              <a:rPr lang="en-IN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lang="en-IN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180 - 0.3q</a:t>
            </a:r>
            <a:r>
              <a:rPr lang="en-IN"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en-IN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defTabSz="410751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0.</a:t>
            </a:r>
            <a:r>
              <a:rPr lang="en-US"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sz="22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sz="225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FE8956-6793-314A-BAB8-434D19E194C6}"/>
              </a:ext>
            </a:extLst>
          </p:cNvPr>
          <p:cNvSpPr/>
          <p:nvPr/>
        </p:nvSpPr>
        <p:spPr>
          <a:xfrm>
            <a:off x="264681" y="3818962"/>
            <a:ext cx="2619628" cy="5494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22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25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dNEW</a:t>
            </a: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100 - 0.3q</a:t>
            </a:r>
            <a:r>
              <a:rPr lang="en-IN" sz="225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en-IN" sz="22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C09C4D4-EA61-704B-8E12-23CCA115B19E}"/>
              </a:ext>
            </a:extLst>
          </p:cNvPr>
          <p:cNvSpPr/>
          <p:nvPr/>
        </p:nvSpPr>
        <p:spPr>
          <a:xfrm>
            <a:off x="286323" y="4341040"/>
            <a:ext cx="2576346" cy="54944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263E0F"/>
                </a:solidFill>
              </a:defRPr>
            </a:pPr>
            <a:r>
              <a:rPr lang="en-IN" sz="22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25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dOLD</a:t>
            </a: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180 - 0.3q</a:t>
            </a:r>
            <a:r>
              <a:rPr lang="en-IN" sz="225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en-IN" sz="22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7FEAFF4-2195-F144-B9FE-587E09C60771}"/>
              </a:ext>
            </a:extLst>
          </p:cNvPr>
          <p:cNvSpPr/>
          <p:nvPr/>
        </p:nvSpPr>
        <p:spPr>
          <a:xfrm>
            <a:off x="5858412" y="3818962"/>
            <a:ext cx="2436886" cy="54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25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sOLD</a:t>
            </a: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60 + 0.7q</a:t>
            </a:r>
            <a:r>
              <a:rPr lang="en-IN" sz="225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endParaRPr lang="en-IN" sz="22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E75FD-F82C-8147-8527-431223E82AC0}"/>
              </a:ext>
            </a:extLst>
          </p:cNvPr>
          <p:cNvSpPr/>
          <p:nvPr/>
        </p:nvSpPr>
        <p:spPr>
          <a:xfrm>
            <a:off x="5912779" y="4457755"/>
            <a:ext cx="2480166" cy="54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250" b="1" baseline="-25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sNEW</a:t>
            </a: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40 + 0.7q</a:t>
            </a:r>
            <a:r>
              <a:rPr lang="en-IN" sz="225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endParaRPr lang="en-IN" sz="225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A90E59-7E7B-5A4B-A6EA-A712F4139A1C}"/>
              </a:ext>
            </a:extLst>
          </p:cNvPr>
          <p:cNvSpPr/>
          <p:nvPr/>
        </p:nvSpPr>
        <p:spPr>
          <a:xfrm>
            <a:off x="725667" y="5539175"/>
            <a:ext cx="1749197" cy="54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250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60 + 0.7q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E0DD1-7DD4-6D4C-A79F-09088236CC6B}"/>
              </a:ext>
            </a:extLst>
          </p:cNvPr>
          <p:cNvSpPr/>
          <p:nvPr/>
        </p:nvSpPr>
        <p:spPr>
          <a:xfrm>
            <a:off x="346815" y="6165120"/>
            <a:ext cx="2450939" cy="549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120, P = 144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99AA4-75DE-CC46-99BE-5CBAE4A22909}"/>
              </a:ext>
            </a:extLst>
          </p:cNvPr>
          <p:cNvSpPr/>
          <p:nvPr/>
        </p:nvSpPr>
        <p:spPr>
          <a:xfrm>
            <a:off x="3133049" y="5159291"/>
            <a:ext cx="1848583" cy="54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100 - 0.3q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F4136F-78CE-CF45-9EA6-E1C2C19901B7}"/>
              </a:ext>
            </a:extLst>
          </p:cNvPr>
          <p:cNvSpPr/>
          <p:nvPr/>
        </p:nvSpPr>
        <p:spPr>
          <a:xfrm>
            <a:off x="3135369" y="5588812"/>
            <a:ext cx="1773242" cy="54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40 + 0.7q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D9E7FB-2602-E642-BF4A-450294B29BCC}"/>
              </a:ext>
            </a:extLst>
          </p:cNvPr>
          <p:cNvSpPr/>
          <p:nvPr/>
        </p:nvSpPr>
        <p:spPr>
          <a:xfrm>
            <a:off x="3025722" y="6110890"/>
            <a:ext cx="2450939" cy="549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 = 60, P = 82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C8A55-D91C-4F46-A131-290666468C64}"/>
              </a:ext>
            </a:extLst>
          </p:cNvPr>
          <p:cNvSpPr/>
          <p:nvPr/>
        </p:nvSpPr>
        <p:spPr>
          <a:xfrm>
            <a:off x="5815131" y="5271080"/>
            <a:ext cx="2450939" cy="1068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delta Q = - 50%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651F19-4B59-1042-85FC-87AE15F6A5BF}"/>
              </a:ext>
            </a:extLst>
          </p:cNvPr>
          <p:cNvSpPr/>
          <p:nvPr/>
        </p:nvSpPr>
        <p:spPr>
          <a:xfrm>
            <a:off x="5828805" y="5904081"/>
            <a:ext cx="2748255" cy="549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583300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 delta P = - 43%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CF3D9C-23A2-F441-8565-121A52E66450}"/>
              </a:ext>
            </a:extLst>
          </p:cNvPr>
          <p:cNvSpPr/>
          <p:nvPr/>
        </p:nvSpPr>
        <p:spPr>
          <a:xfrm>
            <a:off x="735944" y="5231313"/>
            <a:ext cx="1848583" cy="5494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defRPr sz="5000">
                <a:solidFill>
                  <a:srgbClr val="263E0F"/>
                </a:solidFill>
              </a:defRPr>
            </a:pPr>
            <a:r>
              <a:rPr lang="en-IN" sz="225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= 180 - 0.3q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4E6E23-BF60-E647-8694-CF4DCBC97A87}"/>
              </a:ext>
            </a:extLst>
          </p:cNvPr>
          <p:cNvCxnSpPr>
            <a:cxnSpLocks/>
          </p:cNvCxnSpPr>
          <p:nvPr/>
        </p:nvCxnSpPr>
        <p:spPr>
          <a:xfrm flipV="1">
            <a:off x="0" y="2470972"/>
            <a:ext cx="2134005" cy="70988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6013EBF-D33C-0945-85F8-4AC73BBA77C8}"/>
              </a:ext>
            </a:extLst>
          </p:cNvPr>
          <p:cNvCxnSpPr>
            <a:cxnSpLocks/>
          </p:cNvCxnSpPr>
          <p:nvPr/>
        </p:nvCxnSpPr>
        <p:spPr>
          <a:xfrm flipV="1">
            <a:off x="55349" y="2904655"/>
            <a:ext cx="2446838" cy="79289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5C4555-22E2-C64F-AC41-33D49B8BCA4A}"/>
              </a:ext>
            </a:extLst>
          </p:cNvPr>
          <p:cNvCxnSpPr>
            <a:cxnSpLocks/>
          </p:cNvCxnSpPr>
          <p:nvPr/>
        </p:nvCxnSpPr>
        <p:spPr>
          <a:xfrm>
            <a:off x="5493" y="77131"/>
            <a:ext cx="2128513" cy="1278600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E22DB27-4269-AD4E-8315-694E77AC85D1}"/>
              </a:ext>
            </a:extLst>
          </p:cNvPr>
          <p:cNvCxnSpPr>
            <a:cxnSpLocks/>
          </p:cNvCxnSpPr>
          <p:nvPr/>
        </p:nvCxnSpPr>
        <p:spPr>
          <a:xfrm>
            <a:off x="5493" y="606994"/>
            <a:ext cx="2216186" cy="1328735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5B5F2F9-4E0B-1C4A-90D2-242105C036B4}"/>
              </a:ext>
            </a:extLst>
          </p:cNvPr>
          <p:cNvCxnSpPr>
            <a:cxnSpLocks/>
          </p:cNvCxnSpPr>
          <p:nvPr/>
        </p:nvCxnSpPr>
        <p:spPr>
          <a:xfrm flipV="1">
            <a:off x="5705823" y="1451225"/>
            <a:ext cx="2134005" cy="709885"/>
          </a:xfrm>
          <a:prstGeom prst="line">
            <a:avLst/>
          </a:prstGeom>
          <a:noFill/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968939-8814-8642-98BD-A849A2F18F96}"/>
              </a:ext>
            </a:extLst>
          </p:cNvPr>
          <p:cNvCxnSpPr>
            <a:cxnSpLocks/>
          </p:cNvCxnSpPr>
          <p:nvPr/>
        </p:nvCxnSpPr>
        <p:spPr>
          <a:xfrm flipV="1">
            <a:off x="5916654" y="2019621"/>
            <a:ext cx="2446838" cy="792899"/>
          </a:xfrm>
          <a:prstGeom prst="line">
            <a:avLst/>
          </a:prstGeom>
          <a:noFill/>
          <a:ln w="25400" cap="flat">
            <a:solidFill>
              <a:srgbClr val="FF0000"/>
            </a:solidFill>
            <a:prstDash val="solid"/>
            <a:round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061181415"/>
      </p:ext>
    </p:extLst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008F845-04AA-4B45-90A9-0B213B0C59A4}"/>
              </a:ext>
            </a:extLst>
          </p:cNvPr>
          <p:cNvGraphicFramePr>
            <a:graphicFrameLocks noGrp="1"/>
          </p:cNvGraphicFramePr>
          <p:nvPr/>
        </p:nvGraphicFramePr>
        <p:xfrm>
          <a:off x="277346" y="4109685"/>
          <a:ext cx="8609266" cy="11072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302">
                  <a:extLst>
                    <a:ext uri="{9D8B030D-6E8A-4147-A177-3AD203B41FA5}">
                      <a16:colId xmlns:a16="http://schemas.microsoft.com/office/drawing/2014/main" val="896156409"/>
                    </a:ext>
                  </a:extLst>
                </a:gridCol>
                <a:gridCol w="2341072">
                  <a:extLst>
                    <a:ext uri="{9D8B030D-6E8A-4147-A177-3AD203B41FA5}">
                      <a16:colId xmlns:a16="http://schemas.microsoft.com/office/drawing/2014/main" val="2362196524"/>
                    </a:ext>
                  </a:extLst>
                </a:gridCol>
                <a:gridCol w="2520171">
                  <a:extLst>
                    <a:ext uri="{9D8B030D-6E8A-4147-A177-3AD203B41FA5}">
                      <a16:colId xmlns:a16="http://schemas.microsoft.com/office/drawing/2014/main" val="262428599"/>
                    </a:ext>
                  </a:extLst>
                </a:gridCol>
                <a:gridCol w="1445581">
                  <a:extLst>
                    <a:ext uri="{9D8B030D-6E8A-4147-A177-3AD203B41FA5}">
                      <a16:colId xmlns:a16="http://schemas.microsoft.com/office/drawing/2014/main" val="550849836"/>
                    </a:ext>
                  </a:extLst>
                </a:gridCol>
                <a:gridCol w="1164140">
                  <a:extLst>
                    <a:ext uri="{9D8B030D-6E8A-4147-A177-3AD203B41FA5}">
                      <a16:colId xmlns:a16="http://schemas.microsoft.com/office/drawing/2014/main" val="1400127973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algn="ctr"/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Original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813561895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Demand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2000" b="0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r>
                        <a:rPr lang="en-I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90 - 0.7q</a:t>
                      </a:r>
                      <a:r>
                        <a:rPr lang="en-IN" sz="2000" b="0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d1</a:t>
                      </a:r>
                      <a:endParaRPr lang="en-IN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2000" b="0" baseline="-250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r>
                        <a:rPr lang="en-IN" sz="2000" b="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80 - 0.7q</a:t>
                      </a:r>
                      <a:r>
                        <a:rPr lang="en-IN" sz="2000" b="0" baseline="-250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d2</a:t>
                      </a:r>
                      <a:endParaRPr lang="en-IN" sz="2000" b="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xxx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xxx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4267368687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Supply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2000" b="0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r>
                        <a:rPr lang="en-IN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24 + 0.4q</a:t>
                      </a:r>
                      <a:r>
                        <a:rPr lang="en-IN" sz="2000" b="0" baseline="-25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s2</a:t>
                      </a:r>
                      <a:endParaRPr lang="en-US" sz="2000" b="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IN" sz="2000" b="0" baseline="-250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r>
                        <a:rPr lang="en-IN" sz="2000" b="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= 36 + 0.4q</a:t>
                      </a:r>
                      <a:r>
                        <a:rPr lang="en-IN" sz="2000" b="0" baseline="-250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</a:t>
                      </a:r>
                      <a:endParaRPr lang="en-US" sz="2000" b="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xxx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xxx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456752257"/>
                  </a:ext>
                </a:extLst>
              </a:tr>
            </a:tbl>
          </a:graphicData>
        </a:graphic>
      </p:graphicFrame>
      <p:sp>
        <p:nvSpPr>
          <p:cNvPr id="42" name="Shape 525">
            <a:extLst>
              <a:ext uri="{FF2B5EF4-FFF2-40B4-BE49-F238E27FC236}">
                <a16:creationId xmlns:a16="http://schemas.microsoft.com/office/drawing/2014/main" id="{4AD1FF54-8744-194A-AEE3-13A6E8DCFD44}"/>
              </a:ext>
            </a:extLst>
          </p:cNvPr>
          <p:cNvSpPr txBox="1"/>
          <p:nvPr/>
        </p:nvSpPr>
        <p:spPr>
          <a:xfrm>
            <a:off x="5852723" y="152618"/>
            <a:ext cx="3168221" cy="1512665"/>
          </a:xfrm>
          <a:prstGeom prst="rect">
            <a:avLst/>
          </a:prstGeom>
          <a:ln w="12700">
            <a:solidFill>
              <a:schemeClr val="tx1">
                <a:lumMod val="50000"/>
              </a:schemeClr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Key:</a:t>
            </a:r>
          </a:p>
          <a:p>
            <a:pPr>
              <a:lnSpc>
                <a:spcPct val="150000"/>
              </a:lnSpc>
            </a:pPr>
            <a:r>
              <a:rPr lang="en-US" sz="196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Eqn.</a:t>
            </a:r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Original Data</a:t>
            </a:r>
          </a:p>
          <a:p>
            <a:pPr>
              <a:lnSpc>
                <a:spcPct val="150000"/>
              </a:lnSpc>
            </a:pPr>
            <a:r>
              <a:rPr lang="en-US" sz="1969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PURPLE Eqn.</a:t>
            </a:r>
            <a:r>
              <a:rPr lang="en-US" sz="19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Data</a:t>
            </a:r>
          </a:p>
          <a:p>
            <a:endParaRPr lang="en-US"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520">
            <a:extLst>
              <a:ext uri="{FF2B5EF4-FFF2-40B4-BE49-F238E27FC236}">
                <a16:creationId xmlns:a16="http://schemas.microsoft.com/office/drawing/2014/main" id="{88E226FE-EB40-1E4B-9919-BC2DA1BFF61B}"/>
              </a:ext>
            </a:extLst>
          </p:cNvPr>
          <p:cNvSpPr/>
          <p:nvPr/>
        </p:nvSpPr>
        <p:spPr>
          <a:xfrm flipV="1">
            <a:off x="1190123" y="416779"/>
            <a:ext cx="2" cy="2947624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521">
            <a:extLst>
              <a:ext uri="{FF2B5EF4-FFF2-40B4-BE49-F238E27FC236}">
                <a16:creationId xmlns:a16="http://schemas.microsoft.com/office/drawing/2014/main" id="{601F9710-91AC-A94B-86C5-DA455BED2A79}"/>
              </a:ext>
            </a:extLst>
          </p:cNvPr>
          <p:cNvSpPr/>
          <p:nvPr/>
        </p:nvSpPr>
        <p:spPr>
          <a:xfrm>
            <a:off x="1202094" y="3356006"/>
            <a:ext cx="3167792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none" w="med" len="med"/>
            <a:tailEnd type="triangle" w="med" len="med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522">
            <a:extLst>
              <a:ext uri="{FF2B5EF4-FFF2-40B4-BE49-F238E27FC236}">
                <a16:creationId xmlns:a16="http://schemas.microsoft.com/office/drawing/2014/main" id="{889AEF97-0A5B-CF4D-BDF6-48D21A4AF2EA}"/>
              </a:ext>
            </a:extLst>
          </p:cNvPr>
          <p:cNvSpPr/>
          <p:nvPr/>
        </p:nvSpPr>
        <p:spPr>
          <a:xfrm flipV="1">
            <a:off x="1793259" y="1066434"/>
            <a:ext cx="1895893" cy="1744927"/>
          </a:xfrm>
          <a:prstGeom prst="line">
            <a:avLst/>
          </a:prstGeom>
          <a:ln w="63500">
            <a:solidFill>
              <a:srgbClr val="153197"/>
            </a:solidFill>
            <a:custDash>
              <a:ds d="200000" sp="200000"/>
            </a:custDash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523">
            <a:extLst>
              <a:ext uri="{FF2B5EF4-FFF2-40B4-BE49-F238E27FC236}">
                <a16:creationId xmlns:a16="http://schemas.microsoft.com/office/drawing/2014/main" id="{3B2F3ADD-3E79-274A-8A28-CD92DA49C2A6}"/>
              </a:ext>
            </a:extLst>
          </p:cNvPr>
          <p:cNvSpPr/>
          <p:nvPr/>
        </p:nvSpPr>
        <p:spPr>
          <a:xfrm flipH="1" flipV="1">
            <a:off x="2503029" y="757109"/>
            <a:ext cx="1743752" cy="1743753"/>
          </a:xfrm>
          <a:prstGeom prst="line">
            <a:avLst/>
          </a:prstGeom>
          <a:ln w="63500">
            <a:solidFill>
              <a:srgbClr val="851001"/>
            </a:solidFill>
            <a:custDash>
              <a:ds d="200000" sp="200000"/>
            </a:custDash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524">
            <a:extLst>
              <a:ext uri="{FF2B5EF4-FFF2-40B4-BE49-F238E27FC236}">
                <a16:creationId xmlns:a16="http://schemas.microsoft.com/office/drawing/2014/main" id="{B53CBED1-F6E1-9D43-AB16-92E00391ECB4}"/>
              </a:ext>
            </a:extLst>
          </p:cNvPr>
          <p:cNvSpPr/>
          <p:nvPr/>
        </p:nvSpPr>
        <p:spPr>
          <a:xfrm>
            <a:off x="1208600" y="1504155"/>
            <a:ext cx="2001513" cy="2640"/>
          </a:xfrm>
          <a:prstGeom prst="line">
            <a:avLst/>
          </a:prstGeom>
          <a:ln w="50800">
            <a:solidFill>
              <a:srgbClr val="FA694E"/>
            </a:solidFill>
            <a:prstDash val="sysDot"/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525">
            <a:extLst>
              <a:ext uri="{FF2B5EF4-FFF2-40B4-BE49-F238E27FC236}">
                <a16:creationId xmlns:a16="http://schemas.microsoft.com/office/drawing/2014/main" id="{8DBC31FE-3C04-8E41-96AA-56B7CBAEA182}"/>
              </a:ext>
            </a:extLst>
          </p:cNvPr>
          <p:cNvSpPr txBox="1"/>
          <p:nvPr/>
        </p:nvSpPr>
        <p:spPr>
          <a:xfrm>
            <a:off x="525876" y="416779"/>
            <a:ext cx="655320" cy="314445"/>
          </a:xfrm>
          <a:prstGeom prst="rect">
            <a:avLst/>
          </a:prstGeom>
          <a:ln w="12700">
            <a:noFill/>
            <a:miter lim="400000"/>
            <a:headEnd type="none" w="med" len="med"/>
            <a:tailEnd type="triangle" w="med" len="med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</p:txBody>
      </p:sp>
      <p:sp>
        <p:nvSpPr>
          <p:cNvPr id="49" name="Shape 526">
            <a:extLst>
              <a:ext uri="{FF2B5EF4-FFF2-40B4-BE49-F238E27FC236}">
                <a16:creationId xmlns:a16="http://schemas.microsoft.com/office/drawing/2014/main" id="{A7DAD019-93E7-1E49-B903-1243A01C2BC0}"/>
              </a:ext>
            </a:extLst>
          </p:cNvPr>
          <p:cNvSpPr txBox="1"/>
          <p:nvPr/>
        </p:nvSpPr>
        <p:spPr>
          <a:xfrm>
            <a:off x="3815816" y="3381010"/>
            <a:ext cx="655320" cy="314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61518">
              <a:defRPr sz="1900">
                <a:solidFill>
                  <a:srgbClr val="000000"/>
                </a:solidFill>
              </a:defRPr>
            </a:lvl1pPr>
          </a:lstStyle>
          <a:p>
            <a:r>
              <a:rPr sz="140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Qd</a:t>
            </a:r>
            <a:r>
              <a:rPr sz="140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Qs</a:t>
            </a:r>
          </a:p>
        </p:txBody>
      </p:sp>
      <p:sp>
        <p:nvSpPr>
          <p:cNvPr id="50" name="Shape 527">
            <a:extLst>
              <a:ext uri="{FF2B5EF4-FFF2-40B4-BE49-F238E27FC236}">
                <a16:creationId xmlns:a16="http://schemas.microsoft.com/office/drawing/2014/main" id="{8B6BB245-51D8-0646-A835-CBF7C2526393}"/>
              </a:ext>
            </a:extLst>
          </p:cNvPr>
          <p:cNvSpPr txBox="1"/>
          <p:nvPr/>
        </p:nvSpPr>
        <p:spPr>
          <a:xfrm>
            <a:off x="2321583" y="399046"/>
            <a:ext cx="291660" cy="332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73201">
              <a:defRPr sz="2000">
                <a:solidFill>
                  <a:srgbClr val="000000"/>
                </a:solidFill>
              </a:defRPr>
            </a:lvl1pPr>
          </a:lstStyle>
          <a:p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</p:txBody>
      </p:sp>
      <p:sp>
        <p:nvSpPr>
          <p:cNvPr id="51" name="Shape 528">
            <a:extLst>
              <a:ext uri="{FF2B5EF4-FFF2-40B4-BE49-F238E27FC236}">
                <a16:creationId xmlns:a16="http://schemas.microsoft.com/office/drawing/2014/main" id="{49C5D277-4750-7A43-BC40-462F5912A2DC}"/>
              </a:ext>
            </a:extLst>
          </p:cNvPr>
          <p:cNvSpPr txBox="1"/>
          <p:nvPr/>
        </p:nvSpPr>
        <p:spPr>
          <a:xfrm>
            <a:off x="1363498" y="2750041"/>
            <a:ext cx="457039" cy="323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54990">
              <a:defRPr sz="2300">
                <a:solidFill>
                  <a:srgbClr val="000000"/>
                </a:solidFill>
              </a:defRPr>
            </a:lvl1pPr>
          </a:lstStyle>
          <a:p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</a:p>
        </p:txBody>
      </p:sp>
      <p:sp>
        <p:nvSpPr>
          <p:cNvPr id="52" name="Shape 529">
            <a:extLst>
              <a:ext uri="{FF2B5EF4-FFF2-40B4-BE49-F238E27FC236}">
                <a16:creationId xmlns:a16="http://schemas.microsoft.com/office/drawing/2014/main" id="{31C5C975-597A-F54D-B336-C1F11410CA2A}"/>
              </a:ext>
            </a:extLst>
          </p:cNvPr>
          <p:cNvSpPr txBox="1"/>
          <p:nvPr/>
        </p:nvSpPr>
        <p:spPr>
          <a:xfrm>
            <a:off x="881428" y="1365946"/>
            <a:ext cx="314988" cy="314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96569">
              <a:defRPr sz="2100">
                <a:solidFill>
                  <a:srgbClr val="000000"/>
                </a:solidFill>
              </a:defRPr>
            </a:lvl1pPr>
          </a:lstStyle>
          <a:p>
            <a:r>
              <a:rPr sz="1687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</a:t>
            </a:r>
          </a:p>
        </p:txBody>
      </p:sp>
      <p:sp>
        <p:nvSpPr>
          <p:cNvPr id="53" name="Shape 530">
            <a:extLst>
              <a:ext uri="{FF2B5EF4-FFF2-40B4-BE49-F238E27FC236}">
                <a16:creationId xmlns:a16="http://schemas.microsoft.com/office/drawing/2014/main" id="{7DF830D4-FEDD-D04F-BB11-6FA87E12E6FC}"/>
              </a:ext>
            </a:extLst>
          </p:cNvPr>
          <p:cNvSpPr txBox="1"/>
          <p:nvPr/>
        </p:nvSpPr>
        <p:spPr>
          <a:xfrm>
            <a:off x="3280774" y="1360811"/>
            <a:ext cx="423817" cy="4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>
                <a:latin typeface="Times New Roman" panose="02020603050405020304" pitchFamily="18" charset="0"/>
                <a:cs typeface="Times New Roman" panose="02020603050405020304" pitchFamily="18" charset="0"/>
              </a:rPr>
              <a:t>Eo</a:t>
            </a:r>
          </a:p>
        </p:txBody>
      </p:sp>
      <p:sp>
        <p:nvSpPr>
          <p:cNvPr id="54" name="Shape 531">
            <a:extLst>
              <a:ext uri="{FF2B5EF4-FFF2-40B4-BE49-F238E27FC236}">
                <a16:creationId xmlns:a16="http://schemas.microsoft.com/office/drawing/2014/main" id="{BCCA6718-7516-7343-8BA8-4AEBF6E22322}"/>
              </a:ext>
            </a:extLst>
          </p:cNvPr>
          <p:cNvSpPr/>
          <p:nvPr/>
        </p:nvSpPr>
        <p:spPr>
          <a:xfrm flipH="1" flipV="1">
            <a:off x="3234479" y="1504156"/>
            <a:ext cx="1027" cy="1845714"/>
          </a:xfrm>
          <a:prstGeom prst="line">
            <a:avLst/>
          </a:prstGeom>
          <a:ln w="50800">
            <a:solidFill>
              <a:srgbClr val="FA694E"/>
            </a:solidFill>
            <a:prstDash val="sysDot"/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hape 532">
            <a:extLst>
              <a:ext uri="{FF2B5EF4-FFF2-40B4-BE49-F238E27FC236}">
                <a16:creationId xmlns:a16="http://schemas.microsoft.com/office/drawing/2014/main" id="{106A34FA-D9E2-524B-BA55-F07ECBD9A379}"/>
              </a:ext>
            </a:extLst>
          </p:cNvPr>
          <p:cNvSpPr txBox="1"/>
          <p:nvPr/>
        </p:nvSpPr>
        <p:spPr>
          <a:xfrm>
            <a:off x="3069745" y="3402623"/>
            <a:ext cx="436778" cy="318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54990">
              <a:defRPr sz="2300">
                <a:solidFill>
                  <a:srgbClr val="000000"/>
                </a:solidFill>
              </a:defRPr>
            </a:lvl1pPr>
          </a:lstStyle>
          <a:p>
            <a:r>
              <a:rPr sz="175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endParaRPr sz="17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Shape 536">
            <a:extLst>
              <a:ext uri="{FF2B5EF4-FFF2-40B4-BE49-F238E27FC236}">
                <a16:creationId xmlns:a16="http://schemas.microsoft.com/office/drawing/2014/main" id="{DD45B17F-CEF6-4240-8663-FF433616A2A1}"/>
              </a:ext>
            </a:extLst>
          </p:cNvPr>
          <p:cNvSpPr txBox="1"/>
          <p:nvPr/>
        </p:nvSpPr>
        <p:spPr>
          <a:xfrm>
            <a:off x="2370631" y="969214"/>
            <a:ext cx="423816" cy="4200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584200">
              <a:defRPr sz="2500">
                <a:solidFill>
                  <a:srgbClr val="000000"/>
                </a:solidFill>
              </a:defRPr>
            </a:lvl1pPr>
          </a:lstStyle>
          <a:p>
            <a:r>
              <a:rPr sz="175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endParaRPr sz="175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7" name="Group">
            <a:extLst>
              <a:ext uri="{FF2B5EF4-FFF2-40B4-BE49-F238E27FC236}">
                <a16:creationId xmlns:a16="http://schemas.microsoft.com/office/drawing/2014/main" id="{0AA8A7F6-F06A-3240-907C-76A229CF53F2}"/>
              </a:ext>
            </a:extLst>
          </p:cNvPr>
          <p:cNvGrpSpPr/>
          <p:nvPr/>
        </p:nvGrpSpPr>
        <p:grpSpPr>
          <a:xfrm>
            <a:off x="892702" y="1043880"/>
            <a:ext cx="1861203" cy="2738877"/>
            <a:chOff x="719809" y="-126094"/>
            <a:chExt cx="2647043" cy="3895291"/>
          </a:xfrm>
        </p:grpSpPr>
        <p:grpSp>
          <p:nvGrpSpPr>
            <p:cNvPr id="58" name="Group">
              <a:extLst>
                <a:ext uri="{FF2B5EF4-FFF2-40B4-BE49-F238E27FC236}">
                  <a16:creationId xmlns:a16="http://schemas.microsoft.com/office/drawing/2014/main" id="{4AC3AD9D-9FF7-4F49-83A6-31104DAA7299}"/>
                </a:ext>
              </a:extLst>
            </p:cNvPr>
            <p:cNvGrpSpPr/>
            <p:nvPr/>
          </p:nvGrpSpPr>
          <p:grpSpPr>
            <a:xfrm>
              <a:off x="2804543" y="212002"/>
              <a:ext cx="562309" cy="3557195"/>
              <a:chOff x="24177" y="-1"/>
              <a:chExt cx="562308" cy="3557192"/>
            </a:xfrm>
          </p:grpSpPr>
          <p:sp>
            <p:nvSpPr>
              <p:cNvPr id="62" name="Shape 537">
                <a:extLst>
                  <a:ext uri="{FF2B5EF4-FFF2-40B4-BE49-F238E27FC236}">
                    <a16:creationId xmlns:a16="http://schemas.microsoft.com/office/drawing/2014/main" id="{B88179C4-119A-CB41-8248-00F59AE01AD6}"/>
                  </a:ext>
                </a:extLst>
              </p:cNvPr>
              <p:cNvSpPr/>
              <p:nvPr/>
            </p:nvSpPr>
            <p:spPr>
              <a:xfrm flipV="1">
                <a:off x="294035" y="-1"/>
                <a:ext cx="2270" cy="2914697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triangle" w="med" len="med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Shape 539">
                <a:extLst>
                  <a:ext uri="{FF2B5EF4-FFF2-40B4-BE49-F238E27FC236}">
                    <a16:creationId xmlns:a16="http://schemas.microsoft.com/office/drawing/2014/main" id="{EBE6A65A-5910-DA4D-9DEF-566A66390417}"/>
                  </a:ext>
                </a:extLst>
              </p:cNvPr>
              <p:cNvSpPr txBox="1"/>
              <p:nvPr/>
            </p:nvSpPr>
            <p:spPr>
              <a:xfrm>
                <a:off x="24177" y="2994883"/>
                <a:ext cx="562308" cy="562308"/>
              </a:xfrm>
              <a:prstGeom prst="rect">
                <a:avLst/>
              </a:prstGeom>
              <a:noFill/>
              <a:ln w="12700" cap="flat">
                <a:noFill/>
                <a:miter lim="400000"/>
                <a:headEnd type="none" w="med" len="med"/>
                <a:tailEnd type="triangle" w="med" len="med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84200">
                  <a:defRPr sz="25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1758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Qn</a:t>
                </a:r>
                <a:endParaRPr sz="1758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59" name="Group">
              <a:extLst>
                <a:ext uri="{FF2B5EF4-FFF2-40B4-BE49-F238E27FC236}">
                  <a16:creationId xmlns:a16="http://schemas.microsoft.com/office/drawing/2014/main" id="{FECC0E78-FBAD-B545-B3B4-AC880081AEC8}"/>
                </a:ext>
              </a:extLst>
            </p:cNvPr>
            <p:cNvGrpSpPr/>
            <p:nvPr/>
          </p:nvGrpSpPr>
          <p:grpSpPr>
            <a:xfrm>
              <a:off x="719809" y="-126094"/>
              <a:ext cx="2354592" cy="541830"/>
              <a:chOff x="719810" y="-126094"/>
              <a:chExt cx="2354590" cy="541829"/>
            </a:xfrm>
          </p:grpSpPr>
          <p:sp>
            <p:nvSpPr>
              <p:cNvPr id="60" name="Shape 538">
                <a:extLst>
                  <a:ext uri="{FF2B5EF4-FFF2-40B4-BE49-F238E27FC236}">
                    <a16:creationId xmlns:a16="http://schemas.microsoft.com/office/drawing/2014/main" id="{7B5439EC-53C7-FE47-83B4-E43EBC911962}"/>
                  </a:ext>
                </a:extLst>
              </p:cNvPr>
              <p:cNvSpPr/>
              <p:nvPr/>
            </p:nvSpPr>
            <p:spPr>
              <a:xfrm>
                <a:off x="1193463" y="176439"/>
                <a:ext cx="1880937" cy="26633"/>
              </a:xfrm>
              <a:prstGeom prst="line">
                <a:avLst/>
              </a:prstGeom>
              <a:noFill/>
              <a:ln w="25400" cap="flat">
                <a:solidFill>
                  <a:srgbClr val="000000"/>
                </a:solidFill>
                <a:prstDash val="solid"/>
                <a:miter lim="400000"/>
                <a:headEnd type="none" w="med" len="med"/>
                <a:tailEnd type="triangle" w="med" len="med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" name="Shape 540">
                <a:extLst>
                  <a:ext uri="{FF2B5EF4-FFF2-40B4-BE49-F238E27FC236}">
                    <a16:creationId xmlns:a16="http://schemas.microsoft.com/office/drawing/2014/main" id="{63418144-A99A-D545-AB3F-59D4BC87A43A}"/>
                  </a:ext>
                </a:extLst>
              </p:cNvPr>
              <p:cNvSpPr txBox="1"/>
              <p:nvPr/>
            </p:nvSpPr>
            <p:spPr>
              <a:xfrm>
                <a:off x="719810" y="-126094"/>
                <a:ext cx="481832" cy="541829"/>
              </a:xfrm>
              <a:prstGeom prst="rect">
                <a:avLst/>
              </a:prstGeom>
              <a:noFill/>
              <a:ln w="12700" cap="flat">
                <a:noFill/>
                <a:miter lim="400000"/>
                <a:headEnd type="none" w="med" len="med"/>
                <a:tailEnd type="triangle" w="med" len="med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43305">
                  <a:defRPr sz="2300">
                    <a:solidFill>
                      <a:srgbClr val="000000"/>
                    </a:solidFill>
                  </a:defRPr>
                </a:lvl1pPr>
              </a:lstStyle>
              <a:p>
                <a:r>
                  <a:rPr sz="1687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Pn</a:t>
                </a:r>
                <a:endParaRPr sz="168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4" name="Shape 543">
            <a:extLst>
              <a:ext uri="{FF2B5EF4-FFF2-40B4-BE49-F238E27FC236}">
                <a16:creationId xmlns:a16="http://schemas.microsoft.com/office/drawing/2014/main" id="{B2827FF7-F064-A040-95EF-3B1B053EB671}"/>
              </a:ext>
            </a:extLst>
          </p:cNvPr>
          <p:cNvSpPr/>
          <p:nvPr/>
        </p:nvSpPr>
        <p:spPr>
          <a:xfrm flipV="1">
            <a:off x="2107352" y="644298"/>
            <a:ext cx="289382" cy="286918"/>
          </a:xfrm>
          <a:prstGeom prst="line">
            <a:avLst/>
          </a:prstGeom>
          <a:ln w="76200">
            <a:solidFill>
              <a:schemeClr val="accent5"/>
            </a:solidFill>
            <a:miter lim="400000"/>
            <a:headEnd type="triangle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Shape 555">
            <a:extLst>
              <a:ext uri="{FF2B5EF4-FFF2-40B4-BE49-F238E27FC236}">
                <a16:creationId xmlns:a16="http://schemas.microsoft.com/office/drawing/2014/main" id="{018E5FF3-ADD1-6945-A231-CD796C96ED98}"/>
              </a:ext>
            </a:extLst>
          </p:cNvPr>
          <p:cNvSpPr/>
          <p:nvPr/>
        </p:nvSpPr>
        <p:spPr>
          <a:xfrm>
            <a:off x="1605172" y="2284659"/>
            <a:ext cx="257030" cy="319109"/>
          </a:xfrm>
          <a:prstGeom prst="line">
            <a:avLst/>
          </a:prstGeom>
          <a:ln w="76200">
            <a:solidFill>
              <a:srgbClr val="A37512"/>
            </a:solidFill>
            <a:miter lim="400000"/>
            <a:headEnd type="triangle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48E2F114-410F-7148-8BD2-A996D521BE77}"/>
              </a:ext>
            </a:extLst>
          </p:cNvPr>
          <p:cNvSpPr/>
          <p:nvPr/>
        </p:nvSpPr>
        <p:spPr>
          <a:xfrm>
            <a:off x="4270469" y="2211734"/>
            <a:ext cx="1584088" cy="4351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6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87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r>
              <a:rPr lang="en-IN" sz="16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90 - 0.7q</a:t>
            </a:r>
            <a:r>
              <a:rPr lang="en-IN" sz="1687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en-IN" sz="168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442014-E87D-C643-9C3F-0288E307D4A8}"/>
              </a:ext>
            </a:extLst>
          </p:cNvPr>
          <p:cNvGrpSpPr/>
          <p:nvPr/>
        </p:nvGrpSpPr>
        <p:grpSpPr>
          <a:xfrm>
            <a:off x="1840936" y="615235"/>
            <a:ext cx="3763326" cy="2314487"/>
            <a:chOff x="2618220" y="875001"/>
            <a:chExt cx="5352285" cy="3291715"/>
          </a:xfrm>
        </p:grpSpPr>
        <p:grpSp>
          <p:nvGrpSpPr>
            <p:cNvPr id="65" name="Group">
              <a:extLst>
                <a:ext uri="{FF2B5EF4-FFF2-40B4-BE49-F238E27FC236}">
                  <a16:creationId xmlns:a16="http://schemas.microsoft.com/office/drawing/2014/main" id="{487A41DD-B92B-7243-83DA-EDA640FDE2A7}"/>
                </a:ext>
              </a:extLst>
            </p:cNvPr>
            <p:cNvGrpSpPr/>
            <p:nvPr/>
          </p:nvGrpSpPr>
          <p:grpSpPr>
            <a:xfrm>
              <a:off x="2618220" y="875001"/>
              <a:ext cx="3057185" cy="2981087"/>
              <a:chOff x="-525492" y="-449396"/>
              <a:chExt cx="3057183" cy="2981086"/>
            </a:xfrm>
          </p:grpSpPr>
          <p:sp>
            <p:nvSpPr>
              <p:cNvPr id="66" name="Shape 546">
                <a:extLst>
                  <a:ext uri="{FF2B5EF4-FFF2-40B4-BE49-F238E27FC236}">
                    <a16:creationId xmlns:a16="http://schemas.microsoft.com/office/drawing/2014/main" id="{21CA002E-96A7-9342-9B32-C5A50D0810BD}"/>
                  </a:ext>
                </a:extLst>
              </p:cNvPr>
              <p:cNvSpPr/>
              <p:nvPr/>
            </p:nvSpPr>
            <p:spPr>
              <a:xfrm flipH="1" flipV="1">
                <a:off x="-1" y="0"/>
                <a:ext cx="2531692" cy="2531690"/>
              </a:xfrm>
              <a:prstGeom prst="line">
                <a:avLst/>
              </a:prstGeom>
              <a:noFill/>
              <a:ln w="63500" cap="flat">
                <a:solidFill>
                  <a:srgbClr val="4D4D4D"/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Shape 547">
                <a:extLst>
                  <a:ext uri="{FF2B5EF4-FFF2-40B4-BE49-F238E27FC236}">
                    <a16:creationId xmlns:a16="http://schemas.microsoft.com/office/drawing/2014/main" id="{C0B5D5F9-4CAE-8343-86B4-1090999147B6}"/>
                  </a:ext>
                </a:extLst>
              </p:cNvPr>
              <p:cNvSpPr txBox="1"/>
              <p:nvPr/>
            </p:nvSpPr>
            <p:spPr>
              <a:xfrm>
                <a:off x="-525492" y="-449396"/>
                <a:ext cx="474838" cy="5880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14094">
                  <a:defRPr>
                    <a:solidFill>
                      <a:srgbClr val="4D4D4D"/>
                    </a:solidFill>
                  </a:defRPr>
                </a:lvl1pPr>
              </a:lstStyle>
              <a:p>
                <a:r>
                  <a:rPr sz="1687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Dn</a:t>
                </a:r>
                <a:endParaRPr sz="1687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8E55698A-4852-B545-927A-A877EB635651}"/>
                </a:ext>
              </a:extLst>
            </p:cNvPr>
            <p:cNvSpPr/>
            <p:nvPr/>
          </p:nvSpPr>
          <p:spPr>
            <a:xfrm>
              <a:off x="5717580" y="3547880"/>
              <a:ext cx="2252925" cy="6188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 defTabSz="410751">
                <a:lnSpc>
                  <a:spcPct val="150000"/>
                </a:lnSpc>
                <a:defRPr sz="5000">
                  <a:solidFill>
                    <a:srgbClr val="263E0F"/>
                  </a:solidFill>
                </a:defRPr>
              </a:pPr>
              <a:r>
                <a:rPr lang="en-IN" sz="1687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IN" sz="1687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  <a:r>
                <a:rPr lang="en-IN" sz="1687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80 - 0.7q</a:t>
              </a:r>
              <a:r>
                <a:rPr lang="en-IN" sz="1687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</a:t>
              </a:r>
              <a:endParaRPr lang="en-IN" sz="1687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C089668B-E2B6-C247-AE00-9ED9D46D0D8A}"/>
              </a:ext>
            </a:extLst>
          </p:cNvPr>
          <p:cNvGrpSpPr/>
          <p:nvPr/>
        </p:nvGrpSpPr>
        <p:grpSpPr>
          <a:xfrm>
            <a:off x="1156072" y="369971"/>
            <a:ext cx="3769517" cy="2126896"/>
            <a:chOff x="1644190" y="526181"/>
            <a:chExt cx="5361092" cy="3024919"/>
          </a:xfrm>
        </p:grpSpPr>
        <p:grpSp>
          <p:nvGrpSpPr>
            <p:cNvPr id="68" name="Group">
              <a:extLst>
                <a:ext uri="{FF2B5EF4-FFF2-40B4-BE49-F238E27FC236}">
                  <a16:creationId xmlns:a16="http://schemas.microsoft.com/office/drawing/2014/main" id="{85827E0E-1C49-7A41-801A-0D39C990C4B4}"/>
                </a:ext>
              </a:extLst>
            </p:cNvPr>
            <p:cNvGrpSpPr/>
            <p:nvPr/>
          </p:nvGrpSpPr>
          <p:grpSpPr>
            <a:xfrm>
              <a:off x="1644190" y="965358"/>
              <a:ext cx="3032267" cy="2585742"/>
              <a:chOff x="-335886" y="231950"/>
              <a:chExt cx="3032265" cy="2585741"/>
            </a:xfrm>
          </p:grpSpPr>
          <p:sp>
            <p:nvSpPr>
              <p:cNvPr id="69" name="Shape 553">
                <a:extLst>
                  <a:ext uri="{FF2B5EF4-FFF2-40B4-BE49-F238E27FC236}">
                    <a16:creationId xmlns:a16="http://schemas.microsoft.com/office/drawing/2014/main" id="{FE4B6266-7EE2-714D-910E-7AA200438C30}"/>
                  </a:ext>
                </a:extLst>
              </p:cNvPr>
              <p:cNvSpPr/>
              <p:nvPr/>
            </p:nvSpPr>
            <p:spPr>
              <a:xfrm flipV="1">
                <a:off x="238183" y="231950"/>
                <a:ext cx="2458196" cy="2282958"/>
              </a:xfrm>
              <a:prstGeom prst="line">
                <a:avLst/>
              </a:prstGeom>
              <a:noFill/>
              <a:ln w="63500" cap="flat">
                <a:solidFill>
                  <a:srgbClr val="2B4617"/>
                </a:solidFill>
                <a:prstDash val="solid"/>
                <a:miter lim="400000"/>
              </a:ln>
              <a:effectLst/>
            </p:spPr>
            <p:txBody>
              <a:bodyPr wrap="square" lIns="32145" tIns="32145" rIns="32145" bIns="32145" numCol="1" anchor="t">
                <a:noAutofit/>
              </a:bodyPr>
              <a:lstStyle/>
              <a:p>
                <a:pPr defTabSz="410751">
                  <a:defRPr sz="3600" b="0">
                    <a:solidFill>
                      <a:srgbClr val="000000"/>
                    </a:solidFill>
                    <a:latin typeface="Helvetica Light"/>
                    <a:ea typeface="Helvetica Light"/>
                    <a:cs typeface="Helvetica Light"/>
                    <a:sym typeface="Helvetica Light"/>
                  </a:defRPr>
                </a:pPr>
                <a:endParaRPr sz="253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0" name="Shape 554">
                <a:extLst>
                  <a:ext uri="{FF2B5EF4-FFF2-40B4-BE49-F238E27FC236}">
                    <a16:creationId xmlns:a16="http://schemas.microsoft.com/office/drawing/2014/main" id="{86B2FB74-97C9-5E4C-81A4-D124124DDBC0}"/>
                  </a:ext>
                </a:extLst>
              </p:cNvPr>
              <p:cNvSpPr txBox="1"/>
              <p:nvPr/>
            </p:nvSpPr>
            <p:spPr>
              <a:xfrm>
                <a:off x="-335886" y="2400511"/>
                <a:ext cx="650011" cy="41718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t">
                <a:normAutofit/>
              </a:bodyPr>
              <a:lstStyle>
                <a:lvl1pPr defTabSz="554990">
                  <a:defRPr sz="2300">
                    <a:solidFill>
                      <a:srgbClr val="1D2D0D"/>
                    </a:solidFill>
                  </a:defRPr>
                </a:lvl1pPr>
              </a:lstStyle>
              <a:p>
                <a:r>
                  <a:rPr sz="1687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Sn</a:t>
                </a:r>
              </a:p>
            </p:txBody>
          </p:sp>
        </p:grp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9B06A308-02B7-C04C-907B-D241F31E884B}"/>
                </a:ext>
              </a:extLst>
            </p:cNvPr>
            <p:cNvSpPr/>
            <p:nvPr/>
          </p:nvSpPr>
          <p:spPr>
            <a:xfrm>
              <a:off x="4727279" y="526181"/>
              <a:ext cx="2278003" cy="61883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just" defTabSz="410751">
                <a:lnSpc>
                  <a:spcPct val="150000"/>
                </a:lnSpc>
                <a:defRPr sz="5000">
                  <a:solidFill>
                    <a:srgbClr val="583300"/>
                  </a:solidFill>
                </a:defRPr>
              </a:pPr>
              <a:r>
                <a:rPr lang="en-IN" sz="1687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IN" sz="1687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  <a:r>
                <a:rPr lang="en-IN" sz="1687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= 36 + 0.4q</a:t>
              </a:r>
              <a:r>
                <a:rPr lang="en-IN" sz="1687" baseline="-250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s1</a:t>
              </a:r>
              <a:endParaRPr lang="en-IN" sz="1687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3129EE7C-2D66-4F4F-B7CF-0AF9660C5799}"/>
              </a:ext>
            </a:extLst>
          </p:cNvPr>
          <p:cNvSpPr/>
          <p:nvPr/>
        </p:nvSpPr>
        <p:spPr>
          <a:xfrm>
            <a:off x="3640991" y="847901"/>
            <a:ext cx="1636987" cy="3519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687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IN" sz="16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24 + 0.4q</a:t>
            </a:r>
            <a:r>
              <a:rPr lang="en-IN" sz="1687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IN" sz="1687" baseline="-5999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266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540">
            <a:extLst>
              <a:ext uri="{FF2B5EF4-FFF2-40B4-BE49-F238E27FC236}">
                <a16:creationId xmlns:a16="http://schemas.microsoft.com/office/drawing/2014/main" id="{17066CC7-4CA9-F34F-9E24-6B9B13AB27FE}"/>
              </a:ext>
            </a:extLst>
          </p:cNvPr>
          <p:cNvSpPr txBox="1"/>
          <p:nvPr/>
        </p:nvSpPr>
        <p:spPr>
          <a:xfrm>
            <a:off x="520664" y="1045555"/>
            <a:ext cx="338789" cy="3809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rmAutofit/>
          </a:bodyPr>
          <a:lstStyle>
            <a:lvl1pPr defTabSz="543305">
              <a:defRPr sz="2300">
                <a:solidFill>
                  <a:srgbClr val="000000"/>
                </a:solidFill>
              </a:defRPr>
            </a:lvl1pPr>
          </a:lstStyle>
          <a:p>
            <a:r>
              <a:rPr lang="en-US" sz="1687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endParaRPr sz="1687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540">
            <a:extLst>
              <a:ext uri="{FF2B5EF4-FFF2-40B4-BE49-F238E27FC236}">
                <a16:creationId xmlns:a16="http://schemas.microsoft.com/office/drawing/2014/main" id="{9F2D991B-B75D-BA4C-ADBC-E32584C5B98A}"/>
              </a:ext>
            </a:extLst>
          </p:cNvPr>
          <p:cNvSpPr txBox="1"/>
          <p:nvPr/>
        </p:nvSpPr>
        <p:spPr>
          <a:xfrm>
            <a:off x="514373" y="1380353"/>
            <a:ext cx="338789" cy="3809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rmAutofit/>
          </a:bodyPr>
          <a:lstStyle>
            <a:lvl1pPr defTabSz="543305">
              <a:defRPr sz="2300">
                <a:solidFill>
                  <a:srgbClr val="000000"/>
                </a:solidFill>
              </a:defRPr>
            </a:lvl1pPr>
          </a:lstStyle>
          <a:p>
            <a:r>
              <a:rPr lang="en-US" sz="16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</a:t>
            </a:r>
            <a:endParaRPr sz="168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540">
            <a:extLst>
              <a:ext uri="{FF2B5EF4-FFF2-40B4-BE49-F238E27FC236}">
                <a16:creationId xmlns:a16="http://schemas.microsoft.com/office/drawing/2014/main" id="{C5BF6504-9259-714F-9936-C185BA0044F9}"/>
              </a:ext>
            </a:extLst>
          </p:cNvPr>
          <p:cNvSpPr txBox="1"/>
          <p:nvPr/>
        </p:nvSpPr>
        <p:spPr>
          <a:xfrm>
            <a:off x="2396735" y="3672742"/>
            <a:ext cx="338789" cy="3809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rmAutofit/>
          </a:bodyPr>
          <a:lstStyle>
            <a:lvl1pPr defTabSz="543305">
              <a:defRPr sz="2300">
                <a:solidFill>
                  <a:srgbClr val="000000"/>
                </a:solidFill>
              </a:defRPr>
            </a:lvl1pPr>
          </a:lstStyle>
          <a:p>
            <a:r>
              <a:rPr lang="en-US" sz="1687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sz="1687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540">
            <a:extLst>
              <a:ext uri="{FF2B5EF4-FFF2-40B4-BE49-F238E27FC236}">
                <a16:creationId xmlns:a16="http://schemas.microsoft.com/office/drawing/2014/main" id="{DA01E3C7-4956-CD4C-943D-0177C6826458}"/>
              </a:ext>
            </a:extLst>
          </p:cNvPr>
          <p:cNvSpPr txBox="1"/>
          <p:nvPr/>
        </p:nvSpPr>
        <p:spPr>
          <a:xfrm>
            <a:off x="3100398" y="3672742"/>
            <a:ext cx="338789" cy="3809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normAutofit/>
          </a:bodyPr>
          <a:lstStyle>
            <a:lvl1pPr defTabSz="543305">
              <a:defRPr sz="2300">
                <a:solidFill>
                  <a:srgbClr val="000000"/>
                </a:solidFill>
              </a:defRPr>
            </a:lvl1pPr>
          </a:lstStyle>
          <a:p>
            <a:r>
              <a:rPr lang="en-US" sz="1687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endParaRPr sz="1687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Shape 543">
            <a:extLst>
              <a:ext uri="{FF2B5EF4-FFF2-40B4-BE49-F238E27FC236}">
                <a16:creationId xmlns:a16="http://schemas.microsoft.com/office/drawing/2014/main" id="{269B5D30-0CCF-7646-AE64-0B6DE2E2EDDF}"/>
              </a:ext>
            </a:extLst>
          </p:cNvPr>
          <p:cNvSpPr/>
          <p:nvPr/>
        </p:nvSpPr>
        <p:spPr>
          <a:xfrm>
            <a:off x="475969" y="1105143"/>
            <a:ext cx="3082" cy="470684"/>
          </a:xfrm>
          <a:prstGeom prst="line">
            <a:avLst/>
          </a:prstGeom>
          <a:ln w="76200">
            <a:solidFill>
              <a:schemeClr val="accent5"/>
            </a:solidFill>
            <a:miter lim="400000"/>
            <a:headEnd type="triangle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Shape 543">
            <a:extLst>
              <a:ext uri="{FF2B5EF4-FFF2-40B4-BE49-F238E27FC236}">
                <a16:creationId xmlns:a16="http://schemas.microsoft.com/office/drawing/2014/main" id="{5041C0A5-9774-5746-9FB0-BA8C52610BE9}"/>
              </a:ext>
            </a:extLst>
          </p:cNvPr>
          <p:cNvSpPr/>
          <p:nvPr/>
        </p:nvSpPr>
        <p:spPr>
          <a:xfrm flipV="1">
            <a:off x="2689126" y="3807139"/>
            <a:ext cx="380618" cy="4402"/>
          </a:xfrm>
          <a:prstGeom prst="line">
            <a:avLst/>
          </a:prstGeom>
          <a:ln w="76200">
            <a:solidFill>
              <a:schemeClr val="accent5"/>
            </a:solidFill>
            <a:miter lim="400000"/>
            <a:headEnd type="triangle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9C66458B-91F6-9244-B082-2B82B7310B11}"/>
              </a:ext>
            </a:extLst>
          </p:cNvPr>
          <p:cNvGraphicFramePr>
            <a:graphicFrameLocks noGrp="1"/>
          </p:cNvGraphicFramePr>
          <p:nvPr/>
        </p:nvGraphicFramePr>
        <p:xfrm>
          <a:off x="277345" y="5207435"/>
          <a:ext cx="3479374" cy="738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8302">
                  <a:extLst>
                    <a:ext uri="{9D8B030D-6E8A-4147-A177-3AD203B41FA5}">
                      <a16:colId xmlns:a16="http://schemas.microsoft.com/office/drawing/2014/main" val="896156409"/>
                    </a:ext>
                  </a:extLst>
                </a:gridCol>
                <a:gridCol w="2341072">
                  <a:extLst>
                    <a:ext uri="{9D8B030D-6E8A-4147-A177-3AD203B41FA5}">
                      <a16:colId xmlns:a16="http://schemas.microsoft.com/office/drawing/2014/main" val="2362196524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2822122269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</a:p>
                  </a:txBody>
                  <a:tcPr marL="64294" marR="64294" marT="32147" marB="3214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306801342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E9A442E-51B3-B24E-8D17-D2CDFE031794}"/>
              </a:ext>
            </a:extLst>
          </p:cNvPr>
          <p:cNvGraphicFramePr>
            <a:graphicFrameLocks noGrp="1"/>
          </p:cNvGraphicFramePr>
          <p:nvPr/>
        </p:nvGraphicFramePr>
        <p:xfrm>
          <a:off x="3758767" y="5207435"/>
          <a:ext cx="2520171" cy="738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0171">
                  <a:extLst>
                    <a:ext uri="{9D8B030D-6E8A-4147-A177-3AD203B41FA5}">
                      <a16:colId xmlns:a16="http://schemas.microsoft.com/office/drawing/2014/main" val="262428599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3956202778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1291992013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832B803-7E02-C648-AB2F-B9A9F5E73273}"/>
              </a:ext>
            </a:extLst>
          </p:cNvPr>
          <p:cNvGraphicFramePr>
            <a:graphicFrameLocks noGrp="1"/>
          </p:cNvGraphicFramePr>
          <p:nvPr/>
        </p:nvGraphicFramePr>
        <p:xfrm>
          <a:off x="6278938" y="5202679"/>
          <a:ext cx="1445581" cy="738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5581">
                  <a:extLst>
                    <a:ext uri="{9D8B030D-6E8A-4147-A177-3AD203B41FA5}">
                      <a16:colId xmlns:a16="http://schemas.microsoft.com/office/drawing/2014/main" val="550849836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3956202778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- 20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1291992013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1A0ABC1B-E7BE-C745-9E6B-BE814408AD34}"/>
              </a:ext>
            </a:extLst>
          </p:cNvPr>
          <p:cNvGraphicFramePr>
            <a:graphicFrameLocks noGrp="1"/>
          </p:cNvGraphicFramePr>
          <p:nvPr/>
        </p:nvGraphicFramePr>
        <p:xfrm>
          <a:off x="7721449" y="5202679"/>
          <a:ext cx="1164140" cy="7381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4140">
                  <a:extLst>
                    <a:ext uri="{9D8B030D-6E8A-4147-A177-3AD203B41FA5}">
                      <a16:colId xmlns:a16="http://schemas.microsoft.com/office/drawing/2014/main" val="1400127973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8.33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3956202778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-33.3 %</a:t>
                      </a:r>
                    </a:p>
                  </a:txBody>
                  <a:tcPr marL="64294" marR="64294" marT="32147" marB="32147" anchor="ctr"/>
                </a:tc>
                <a:extLst>
                  <a:ext uri="{0D108BD9-81ED-4DB2-BD59-A6C34878D82A}">
                    <a16:rowId xmlns:a16="http://schemas.microsoft.com/office/drawing/2014/main" val="129199201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CD069-FCFF-C84F-A4A0-05450CFE9D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4438536" y="6500229"/>
            <a:ext cx="246219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2813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P spid="64" grpId="0" animBg="1"/>
      <p:bldP spid="71" grpId="0" animBg="1"/>
      <p:bldP spid="38" grpId="0"/>
      <p:bldP spid="39" grpId="0"/>
      <p:bldP spid="40" grpId="0"/>
      <p:bldP spid="41" grpId="0"/>
      <p:bldP spid="76" grpId="0" animBg="1"/>
      <p:bldP spid="7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525">
            <a:extLst>
              <a:ext uri="{FF2B5EF4-FFF2-40B4-BE49-F238E27FC236}">
                <a16:creationId xmlns:a16="http://schemas.microsoft.com/office/drawing/2014/main" id="{4AD1FF54-8744-194A-AEE3-13A6E8DCFD44}"/>
              </a:ext>
            </a:extLst>
          </p:cNvPr>
          <p:cNvSpPr txBox="1"/>
          <p:nvPr/>
        </p:nvSpPr>
        <p:spPr>
          <a:xfrm>
            <a:off x="4558606" y="1341172"/>
            <a:ext cx="4497623" cy="1012318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 defTabSz="525779">
              <a:defRPr>
                <a:solidFill>
                  <a:srgbClr val="00000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969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 EQN. = OBJECTIVE DD CURVE</a:t>
            </a:r>
          </a:p>
          <a:p>
            <a:pPr>
              <a:lnSpc>
                <a:spcPct val="150000"/>
              </a:lnSpc>
            </a:pPr>
            <a:r>
              <a:rPr lang="en-US" sz="1969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brown eqn. = subjective dd curve </a:t>
            </a:r>
          </a:p>
          <a:p>
            <a:endParaRPr lang="en-US"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96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00B90-B269-FA4A-AB5B-B08BF0CC1561}"/>
              </a:ext>
            </a:extLst>
          </p:cNvPr>
          <p:cNvGrpSpPr/>
          <p:nvPr/>
        </p:nvGrpSpPr>
        <p:grpSpPr>
          <a:xfrm>
            <a:off x="881318" y="1122767"/>
            <a:ext cx="6385341" cy="4977712"/>
            <a:chOff x="1253430" y="1596823"/>
            <a:chExt cx="9081374" cy="7079413"/>
          </a:xfrm>
        </p:grpSpPr>
        <p:sp>
          <p:nvSpPr>
            <p:cNvPr id="43" name="Shape 520">
              <a:extLst>
                <a:ext uri="{FF2B5EF4-FFF2-40B4-BE49-F238E27FC236}">
                  <a16:creationId xmlns:a16="http://schemas.microsoft.com/office/drawing/2014/main" id="{88E226FE-EB40-1E4B-9919-BC2DA1BFF61B}"/>
                </a:ext>
              </a:extLst>
            </p:cNvPr>
            <p:cNvSpPr/>
            <p:nvPr/>
          </p:nvSpPr>
          <p:spPr>
            <a:xfrm flipV="1">
              <a:off x="2350446" y="1596823"/>
              <a:ext cx="8615" cy="6559954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headEnd type="none" w="med" len="med"/>
              <a:tailEnd type="triangle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Shape 521">
              <a:extLst>
                <a:ext uri="{FF2B5EF4-FFF2-40B4-BE49-F238E27FC236}">
                  <a16:creationId xmlns:a16="http://schemas.microsoft.com/office/drawing/2014/main" id="{601F9710-91AC-A94B-86C5-DA455BED2A79}"/>
                </a:ext>
              </a:extLst>
            </p:cNvPr>
            <p:cNvSpPr/>
            <p:nvPr/>
          </p:nvSpPr>
          <p:spPr>
            <a:xfrm>
              <a:off x="2346207" y="8144836"/>
              <a:ext cx="7950614" cy="11941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headEnd type="none" w="med" len="med"/>
              <a:tailEnd type="triangle" w="med" len="med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253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Shape 525">
              <a:extLst>
                <a:ext uri="{FF2B5EF4-FFF2-40B4-BE49-F238E27FC236}">
                  <a16:creationId xmlns:a16="http://schemas.microsoft.com/office/drawing/2014/main" id="{8DBC31FE-3C04-8E41-96AA-56B7CBAEA182}"/>
                </a:ext>
              </a:extLst>
            </p:cNvPr>
            <p:cNvSpPr txBox="1"/>
            <p:nvPr/>
          </p:nvSpPr>
          <p:spPr>
            <a:xfrm>
              <a:off x="1253430" y="1642227"/>
              <a:ext cx="932011" cy="447210"/>
            </a:xfrm>
            <a:prstGeom prst="rect">
              <a:avLst/>
            </a:prstGeom>
            <a:ln w="12700">
              <a:noFill/>
              <a:miter lim="400000"/>
              <a:headEnd type="none" w="med" len="med"/>
              <a:tailEnd type="triangle" w="med" len="med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25779">
                <a:defRPr>
                  <a:solidFill>
                    <a:srgbClr val="000000"/>
                  </a:solidFill>
                </a:defRPr>
              </a:lvl1pPr>
            </a:lstStyle>
            <a:p>
              <a:r>
                <a:rPr sz="1687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</a:t>
              </a:r>
            </a:p>
          </p:txBody>
        </p:sp>
        <p:sp>
          <p:nvSpPr>
            <p:cNvPr id="49" name="Shape 526">
              <a:extLst>
                <a:ext uri="{FF2B5EF4-FFF2-40B4-BE49-F238E27FC236}">
                  <a16:creationId xmlns:a16="http://schemas.microsoft.com/office/drawing/2014/main" id="{A7DAD019-93E7-1E49-B903-1243A01C2BC0}"/>
                </a:ext>
              </a:extLst>
            </p:cNvPr>
            <p:cNvSpPr txBox="1"/>
            <p:nvPr/>
          </p:nvSpPr>
          <p:spPr>
            <a:xfrm>
              <a:off x="9402794" y="8229027"/>
              <a:ext cx="932010" cy="4472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461518">
                <a:defRPr sz="1900">
                  <a:solidFill>
                    <a:srgbClr val="000000"/>
                  </a:solidFill>
                </a:defRPr>
              </a:lvl1pPr>
            </a:lstStyle>
            <a:p>
              <a:r>
                <a:rPr sz="1406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Qd</a:t>
              </a:r>
              <a:r>
                <a:rPr sz="1406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Qs</a:t>
              </a: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48E2F114-410F-7148-8BD2-A996D521BE77}"/>
              </a:ext>
            </a:extLst>
          </p:cNvPr>
          <p:cNvSpPr/>
          <p:nvPr/>
        </p:nvSpPr>
        <p:spPr>
          <a:xfrm>
            <a:off x="4654594" y="4422136"/>
            <a:ext cx="186942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969" b="1" baseline="-25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r>
              <a:rPr lang="en-IN" sz="1969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90 - 1.7q</a:t>
            </a:r>
            <a:r>
              <a:rPr lang="en-IN" sz="1969" b="1" baseline="-250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en-IN" sz="1969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CD069-FCFF-C84F-A4A0-05450CFE9D0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4921891" y="7585185"/>
            <a:ext cx="246219" cy="276999"/>
          </a:xfrm>
        </p:spPr>
        <p:txBody>
          <a:bodyPr/>
          <a:lstStyle/>
          <a:p>
            <a:fld id="{86CB4B4D-7CA3-9044-876B-883B54F8677D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527">
            <a:extLst>
              <a:ext uri="{FF2B5EF4-FFF2-40B4-BE49-F238E27FC236}">
                <a16:creationId xmlns:a16="http://schemas.microsoft.com/office/drawing/2014/main" id="{8B6BB245-51D8-0646-A835-CBF7C2526393}"/>
              </a:ext>
            </a:extLst>
          </p:cNvPr>
          <p:cNvSpPr txBox="1"/>
          <p:nvPr/>
        </p:nvSpPr>
        <p:spPr>
          <a:xfrm>
            <a:off x="3901710" y="5148873"/>
            <a:ext cx="291660" cy="332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73201">
              <a:defRPr sz="2000">
                <a:solidFill>
                  <a:srgbClr val="000000"/>
                </a:solidFill>
              </a:defRPr>
            </a:lvl1pPr>
          </a:lstStyle>
          <a:p>
            <a:r>
              <a:rPr sz="1969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82" name="Shape 523">
            <a:extLst>
              <a:ext uri="{FF2B5EF4-FFF2-40B4-BE49-F238E27FC236}">
                <a16:creationId xmlns:a16="http://schemas.microsoft.com/office/drawing/2014/main" id="{19BFBC9A-928E-D94E-9473-7D5351CF86F2}"/>
              </a:ext>
            </a:extLst>
          </p:cNvPr>
          <p:cNvSpPr/>
          <p:nvPr/>
        </p:nvSpPr>
        <p:spPr>
          <a:xfrm flipH="1" flipV="1">
            <a:off x="2318405" y="3091532"/>
            <a:ext cx="1569910" cy="2314536"/>
          </a:xfrm>
          <a:prstGeom prst="line">
            <a:avLst/>
          </a:prstGeom>
          <a:ln w="63500">
            <a:solidFill>
              <a:schemeClr val="accent1"/>
            </a:solidFill>
            <a:prstDash val="solid"/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969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Shape 527">
            <a:extLst>
              <a:ext uri="{FF2B5EF4-FFF2-40B4-BE49-F238E27FC236}">
                <a16:creationId xmlns:a16="http://schemas.microsoft.com/office/drawing/2014/main" id="{BD0D7DE4-1B03-EC4D-B93D-1C015279AF00}"/>
              </a:ext>
            </a:extLst>
          </p:cNvPr>
          <p:cNvSpPr txBox="1"/>
          <p:nvPr/>
        </p:nvSpPr>
        <p:spPr>
          <a:xfrm>
            <a:off x="2349703" y="2965080"/>
            <a:ext cx="291660" cy="332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73201">
              <a:defRPr sz="2000">
                <a:solidFill>
                  <a:srgbClr val="000000"/>
                </a:solidFill>
              </a:defRPr>
            </a:lvl1pPr>
          </a:lstStyle>
          <a:p>
            <a:r>
              <a:rPr sz="1969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84" name="Shape 523">
            <a:extLst>
              <a:ext uri="{FF2B5EF4-FFF2-40B4-BE49-F238E27FC236}">
                <a16:creationId xmlns:a16="http://schemas.microsoft.com/office/drawing/2014/main" id="{9DC2DDDF-C656-0C46-A275-7D053995E125}"/>
              </a:ext>
            </a:extLst>
          </p:cNvPr>
          <p:cNvSpPr/>
          <p:nvPr/>
        </p:nvSpPr>
        <p:spPr>
          <a:xfrm flipH="1" flipV="1">
            <a:off x="2318405" y="3786743"/>
            <a:ext cx="2240201" cy="1240306"/>
          </a:xfrm>
          <a:prstGeom prst="line">
            <a:avLst/>
          </a:prstGeom>
          <a:ln w="63500">
            <a:solidFill>
              <a:schemeClr val="accent4">
                <a:lumMod val="50000"/>
              </a:schemeClr>
            </a:solidFill>
            <a:prstDash val="solid"/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969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Shape 527">
            <a:extLst>
              <a:ext uri="{FF2B5EF4-FFF2-40B4-BE49-F238E27FC236}">
                <a16:creationId xmlns:a16="http://schemas.microsoft.com/office/drawing/2014/main" id="{F0A5B723-771D-C741-A523-4A29A3489D95}"/>
              </a:ext>
            </a:extLst>
          </p:cNvPr>
          <p:cNvSpPr txBox="1"/>
          <p:nvPr/>
        </p:nvSpPr>
        <p:spPr>
          <a:xfrm>
            <a:off x="4389080" y="4678827"/>
            <a:ext cx="291660" cy="332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73201">
              <a:defRPr sz="2000">
                <a:solidFill>
                  <a:srgbClr val="000000"/>
                </a:solidFill>
              </a:defRPr>
            </a:lvl1pPr>
          </a:lstStyle>
          <a:p>
            <a:r>
              <a:rPr lang="en-US" sz="1969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1969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Shape 527">
            <a:extLst>
              <a:ext uri="{FF2B5EF4-FFF2-40B4-BE49-F238E27FC236}">
                <a16:creationId xmlns:a16="http://schemas.microsoft.com/office/drawing/2014/main" id="{AF841C87-D790-CB43-92C9-F7B31677E28D}"/>
              </a:ext>
            </a:extLst>
          </p:cNvPr>
          <p:cNvSpPr txBox="1"/>
          <p:nvPr/>
        </p:nvSpPr>
        <p:spPr>
          <a:xfrm>
            <a:off x="2277910" y="3530264"/>
            <a:ext cx="291660" cy="332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473201">
              <a:defRPr sz="2000">
                <a:solidFill>
                  <a:srgbClr val="000000"/>
                </a:solidFill>
              </a:defRPr>
            </a:lvl1pPr>
          </a:lstStyle>
          <a:p>
            <a:r>
              <a:rPr lang="en-US" sz="1969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sz="1969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9E2B4FC-30B1-3C4D-8B36-E8A57C4003EE}"/>
              </a:ext>
            </a:extLst>
          </p:cNvPr>
          <p:cNvGrpSpPr/>
          <p:nvPr/>
        </p:nvGrpSpPr>
        <p:grpSpPr>
          <a:xfrm>
            <a:off x="1297477" y="3984330"/>
            <a:ext cx="2141028" cy="2047458"/>
            <a:chOff x="1157862" y="4123553"/>
            <a:chExt cx="3045017" cy="2911940"/>
          </a:xfrm>
        </p:grpSpPr>
        <p:sp>
          <p:nvSpPr>
            <p:cNvPr id="52" name="Shape 529">
              <a:extLst>
                <a:ext uri="{FF2B5EF4-FFF2-40B4-BE49-F238E27FC236}">
                  <a16:creationId xmlns:a16="http://schemas.microsoft.com/office/drawing/2014/main" id="{31C5C975-597A-F54D-B336-C1F11410CA2A}"/>
                </a:ext>
              </a:extLst>
            </p:cNvPr>
            <p:cNvSpPr txBox="1"/>
            <p:nvPr/>
          </p:nvSpPr>
          <p:spPr>
            <a:xfrm>
              <a:off x="1157862" y="4303636"/>
              <a:ext cx="447983" cy="44798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496569">
                <a:defRPr sz="2100">
                  <a:solidFill>
                    <a:srgbClr val="000000"/>
                  </a:solidFill>
                </a:defRPr>
              </a:lvl1pPr>
            </a:lstStyle>
            <a:p>
              <a:r>
                <a:rPr sz="196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r>
                <a:rPr lang="en-US" sz="196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sz="196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Shape 532">
              <a:extLst>
                <a:ext uri="{FF2B5EF4-FFF2-40B4-BE49-F238E27FC236}">
                  <a16:creationId xmlns:a16="http://schemas.microsoft.com/office/drawing/2014/main" id="{106A34FA-D9E2-524B-BA55-F07ECBD9A379}"/>
                </a:ext>
              </a:extLst>
            </p:cNvPr>
            <p:cNvSpPr txBox="1"/>
            <p:nvPr/>
          </p:nvSpPr>
          <p:spPr>
            <a:xfrm>
              <a:off x="3513773" y="6581809"/>
              <a:ext cx="621195" cy="45368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54990">
                <a:defRPr sz="2300">
                  <a:solidFill>
                    <a:srgbClr val="000000"/>
                  </a:solidFill>
                </a:defRPr>
              </a:lvl1pPr>
            </a:lstStyle>
            <a:p>
              <a:r>
                <a:rPr sz="1969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sz="1969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sz="196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Shape 536">
              <a:extLst>
                <a:ext uri="{FF2B5EF4-FFF2-40B4-BE49-F238E27FC236}">
                  <a16:creationId xmlns:a16="http://schemas.microsoft.com/office/drawing/2014/main" id="{DD45B17F-CEF6-4240-8663-FF433616A2A1}"/>
                </a:ext>
              </a:extLst>
            </p:cNvPr>
            <p:cNvSpPr txBox="1"/>
            <p:nvPr/>
          </p:nvSpPr>
          <p:spPr>
            <a:xfrm>
              <a:off x="3600118" y="4123553"/>
              <a:ext cx="602761" cy="5974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>
              <a:normAutofit/>
            </a:bodyPr>
            <a:lstStyle>
              <a:lvl1pPr defTabSz="584200">
                <a:defRPr sz="2500">
                  <a:solidFill>
                    <a:srgbClr val="000000"/>
                  </a:solidFill>
                </a:defRPr>
              </a:lvl1pPr>
            </a:lstStyle>
            <a:p>
              <a:r>
                <a:rPr lang="en-US" sz="196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sz="1969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Shape 523">
              <a:extLst>
                <a:ext uri="{FF2B5EF4-FFF2-40B4-BE49-F238E27FC236}">
                  <a16:creationId xmlns:a16="http://schemas.microsoft.com/office/drawing/2014/main" id="{2440BC91-8F8D-144C-97B0-8469615AF164}"/>
                </a:ext>
              </a:extLst>
            </p:cNvPr>
            <p:cNvSpPr/>
            <p:nvPr/>
          </p:nvSpPr>
          <p:spPr>
            <a:xfrm flipH="1" flipV="1">
              <a:off x="3745279" y="4500877"/>
              <a:ext cx="61558" cy="2075747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969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Shape 523">
              <a:extLst>
                <a:ext uri="{FF2B5EF4-FFF2-40B4-BE49-F238E27FC236}">
                  <a16:creationId xmlns:a16="http://schemas.microsoft.com/office/drawing/2014/main" id="{81E757D5-00A1-EC43-8090-DF367F8DA428}"/>
                </a:ext>
              </a:extLst>
            </p:cNvPr>
            <p:cNvSpPr/>
            <p:nvPr/>
          </p:nvSpPr>
          <p:spPr>
            <a:xfrm>
              <a:off x="1650311" y="4496183"/>
              <a:ext cx="2145918" cy="2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  <a:miter lim="400000"/>
            </a:ln>
          </p:spPr>
          <p:txBody>
            <a:bodyPr lIns="32145" tIns="32145" rIns="32145" bIns="32145"/>
            <a:lstStyle/>
            <a:p>
              <a:pPr defTabSz="410751">
                <a:defRPr sz="3600" b="0">
                  <a:solidFill>
                    <a:srgbClr val="000000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1969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1" name="Rectangle 90">
            <a:extLst>
              <a:ext uri="{FF2B5EF4-FFF2-40B4-BE49-F238E27FC236}">
                <a16:creationId xmlns:a16="http://schemas.microsoft.com/office/drawing/2014/main" id="{5D57DDA4-5528-1D4A-A0AD-FC1CEF640DA9}"/>
              </a:ext>
            </a:extLst>
          </p:cNvPr>
          <p:cNvSpPr/>
          <p:nvPr/>
        </p:nvSpPr>
        <p:spPr>
          <a:xfrm>
            <a:off x="2655144" y="2721339"/>
            <a:ext cx="1926094" cy="946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969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lang="en-IN" sz="1969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120 - 0.7q</a:t>
            </a:r>
            <a:r>
              <a:rPr lang="en-IN" sz="1969" b="1" baseline="-25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en-IN" sz="1969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Shape 523">
            <a:extLst>
              <a:ext uri="{FF2B5EF4-FFF2-40B4-BE49-F238E27FC236}">
                <a16:creationId xmlns:a16="http://schemas.microsoft.com/office/drawing/2014/main" id="{BD2BC3A0-5F24-5A44-B2A9-4E9796ED3E7B}"/>
              </a:ext>
            </a:extLst>
          </p:cNvPr>
          <p:cNvSpPr/>
          <p:nvPr/>
        </p:nvSpPr>
        <p:spPr>
          <a:xfrm flipH="1" flipV="1">
            <a:off x="1643730" y="2175742"/>
            <a:ext cx="659723" cy="907723"/>
          </a:xfrm>
          <a:prstGeom prst="line">
            <a:avLst/>
          </a:prstGeom>
          <a:ln w="63500">
            <a:solidFill>
              <a:schemeClr val="accent1"/>
            </a:solidFill>
            <a:prstDash val="sysDash"/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07800BF6-EE9A-4F48-95FF-D068ED5DED9F}"/>
              </a:ext>
            </a:extLst>
          </p:cNvPr>
          <p:cNvSpPr/>
          <p:nvPr/>
        </p:nvSpPr>
        <p:spPr>
          <a:xfrm>
            <a:off x="1100506" y="1888579"/>
            <a:ext cx="56457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120</a:t>
            </a:r>
          </a:p>
        </p:txBody>
      </p:sp>
      <p:sp>
        <p:nvSpPr>
          <p:cNvPr id="46" name="Shape 523">
            <a:extLst>
              <a:ext uri="{FF2B5EF4-FFF2-40B4-BE49-F238E27FC236}">
                <a16:creationId xmlns:a16="http://schemas.microsoft.com/office/drawing/2014/main" id="{3B2F3ADD-3E79-274A-8A28-CD92DA49C2A6}"/>
              </a:ext>
            </a:extLst>
          </p:cNvPr>
          <p:cNvSpPr/>
          <p:nvPr/>
        </p:nvSpPr>
        <p:spPr>
          <a:xfrm flipH="1" flipV="1">
            <a:off x="1655386" y="3426114"/>
            <a:ext cx="989167" cy="554157"/>
          </a:xfrm>
          <a:prstGeom prst="line">
            <a:avLst/>
          </a:prstGeom>
          <a:ln w="63500">
            <a:solidFill>
              <a:srgbClr val="851001"/>
            </a:solidFill>
            <a:custDash>
              <a:ds d="200000" sp="200000"/>
            </a:custDash>
            <a:miter lim="400000"/>
          </a:ln>
        </p:spPr>
        <p:txBody>
          <a:bodyPr lIns="32145" tIns="32145" rIns="32145" bIns="32145"/>
          <a:lstStyle/>
          <a:p>
            <a:pPr defTabSz="410751">
              <a:defRPr sz="36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53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B647A96-93D4-E64E-9BC7-60E1CFD21E4F}"/>
              </a:ext>
            </a:extLst>
          </p:cNvPr>
          <p:cNvSpPr/>
          <p:nvPr/>
        </p:nvSpPr>
        <p:spPr>
          <a:xfrm>
            <a:off x="1235057" y="3035252"/>
            <a:ext cx="437940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FBD34602-4331-FE4C-863D-B5692575C782}"/>
              </a:ext>
            </a:extLst>
          </p:cNvPr>
          <p:cNvSpPr/>
          <p:nvPr/>
        </p:nvSpPr>
        <p:spPr>
          <a:xfrm>
            <a:off x="3509721" y="3066792"/>
            <a:ext cx="331754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/ Market DD curve</a:t>
            </a: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53F4F59C-D135-8341-B38E-33BE6AF09006}"/>
              </a:ext>
            </a:extLst>
          </p:cNvPr>
          <p:cNvSpPr/>
          <p:nvPr/>
        </p:nvSpPr>
        <p:spPr>
          <a:xfrm>
            <a:off x="5045975" y="4729180"/>
            <a:ext cx="3673337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Subjective / Individual dd curve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0A2FE54E-761E-CC4E-8353-0859D1B0038C}"/>
              </a:ext>
            </a:extLst>
          </p:cNvPr>
          <p:cNvSpPr/>
          <p:nvPr/>
        </p:nvSpPr>
        <p:spPr>
          <a:xfrm>
            <a:off x="193807" y="22818"/>
            <a:ext cx="186942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969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90 - 1.7q</a:t>
            </a:r>
            <a:r>
              <a:rPr lang="en-IN" sz="1969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</a:t>
            </a:r>
            <a:endParaRPr lang="en-IN" sz="196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199F620-ADC8-7048-A340-E567891F1BFF}"/>
              </a:ext>
            </a:extLst>
          </p:cNvPr>
          <p:cNvSpPr/>
          <p:nvPr/>
        </p:nvSpPr>
        <p:spPr>
          <a:xfrm>
            <a:off x="2608817" y="21614"/>
            <a:ext cx="1926094" cy="946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969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120 - 0.7q</a:t>
            </a:r>
            <a:r>
              <a:rPr lang="en-IN" sz="1969" b="1" baseline="-25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d2</a:t>
            </a:r>
            <a:endParaRPr lang="en-IN" sz="1969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3C4BF52-7733-A240-A8FA-9B3923DD85B5}"/>
              </a:ext>
            </a:extLst>
          </p:cNvPr>
          <p:cNvSpPr/>
          <p:nvPr/>
        </p:nvSpPr>
        <p:spPr>
          <a:xfrm>
            <a:off x="5168110" y="-1634"/>
            <a:ext cx="2419579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1969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 = ?? &amp; dd = ??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BEAA188-D98B-3349-A8E8-359B010B0BF4}"/>
              </a:ext>
            </a:extLst>
          </p:cNvPr>
          <p:cNvSpPr/>
          <p:nvPr/>
        </p:nvSpPr>
        <p:spPr>
          <a:xfrm>
            <a:off x="219954" y="6179923"/>
            <a:ext cx="8789785" cy="5494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10751">
              <a:lnSpc>
                <a:spcPct val="150000"/>
              </a:lnSpc>
              <a:defRPr sz="5100">
                <a:solidFill>
                  <a:srgbClr val="263E0F"/>
                </a:solidFill>
              </a:defRPr>
            </a:pPr>
            <a:r>
              <a:rPr lang="en-IN" sz="22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find </a:t>
            </a:r>
            <a:r>
              <a:rPr lang="en-IN" sz="22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</a:t>
            </a:r>
            <a:r>
              <a:rPr lang="en-IN" sz="22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2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Oqe</a:t>
            </a:r>
            <a:r>
              <a:rPr lang="en-IN" sz="22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solve the dd and DD equations simultaneously  </a:t>
            </a:r>
          </a:p>
        </p:txBody>
      </p:sp>
    </p:spTree>
    <p:extLst>
      <p:ext uri="{BB962C8B-B14F-4D97-AF65-F5344CB8AC3E}">
        <p14:creationId xmlns:p14="http://schemas.microsoft.com/office/powerpoint/2010/main" val="36050579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72" grpId="0"/>
      <p:bldP spid="50" grpId="0" animBg="1"/>
      <p:bldP spid="82" grpId="0" animBg="1"/>
      <p:bldP spid="86" grpId="0" animBg="1"/>
      <p:bldP spid="84" grpId="0" animBg="1"/>
      <p:bldP spid="87" grpId="0" animBg="1"/>
      <p:bldP spid="88" grpId="0" animBg="1"/>
      <p:bldP spid="91" grpId="0"/>
      <p:bldP spid="83" grpId="0" animBg="1"/>
      <p:bldP spid="92" grpId="0"/>
      <p:bldP spid="46" grpId="0" animBg="1"/>
      <p:bldP spid="93" grpId="0"/>
      <p:bldP spid="94" grpId="0"/>
      <p:bldP spid="95" grpId="0"/>
      <p:bldP spid="9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iven a firm’s  Total Revenue and Marginal Cost functions as:…"/>
          <p:cNvSpPr txBox="1"/>
          <p:nvPr/>
        </p:nvSpPr>
        <p:spPr>
          <a:xfrm>
            <a:off x="830751" y="673616"/>
            <a:ext cx="7934591" cy="5262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TR: R = 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30q – q</a:t>
            </a:r>
            <a:r>
              <a:rPr sz="2400" b="1" baseline="3199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3100"/>
            </a:pPr>
            <a:r>
              <a:rPr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TC:  C =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3q^3 - 20q^2 + 2q + 50</a:t>
            </a:r>
          </a:p>
          <a:p>
            <a:pPr algn="just">
              <a:defRPr sz="3100"/>
            </a:pP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4000" b="1">
                <a:solidFill>
                  <a:srgbClr val="61187C"/>
                </a:solidFill>
              </a:defRPr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sums:</a:t>
            </a:r>
          </a:p>
          <a:p>
            <a:pPr marL="361639" indent="-361639" algn="just">
              <a:buAutoNum type="arabicPeriod"/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Profit Max principle:  </a:t>
            </a:r>
          </a:p>
          <a:p>
            <a:pPr algn="just"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status, qty, profit value, price charged</a:t>
            </a:r>
          </a:p>
          <a:p>
            <a:pPr algn="just"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Sales Max: qty, profit value or status, price charged</a:t>
            </a:r>
          </a:p>
          <a:p>
            <a:pPr algn="just"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Breakeven: qty, price(s) charged</a:t>
            </a:r>
          </a:p>
          <a:p>
            <a:pPr algn="just"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Mkt Price = AR value + GST   {25 + (0.18 x 25)}</a:t>
            </a:r>
          </a:p>
          <a:p>
            <a:pPr algn="just">
              <a:defRPr sz="4000" b="1">
                <a:solidFill>
                  <a:srgbClr val="61187C"/>
                </a:solidFill>
              </a:defRPr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Net Profit =   Profit value – CIT (22%) – CSR (2%)</a:t>
            </a:r>
          </a:p>
          <a:p>
            <a:pPr algn="just">
              <a:defRPr sz="31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Regression: Trend line equation and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(R^2)</a:t>
            </a:r>
          </a:p>
          <a:p>
            <a:pPr algn="just">
              <a:defRPr sz="31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Elasticity</a:t>
            </a:r>
          </a:p>
          <a:p>
            <a:pPr algn="just">
              <a:defRPr sz="3100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 TPP, MPP, APP</a:t>
            </a:r>
            <a:endParaRPr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0442CE-97CE-6642-A778-9929129C5B6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37376" y="6400413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5214962"/>
      </p:ext>
    </p:extLst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iven a firm’s  Total Revenue and Marginal Cost functions as:…"/>
          <p:cNvSpPr txBox="1"/>
          <p:nvPr/>
        </p:nvSpPr>
        <p:spPr>
          <a:xfrm>
            <a:off x="830751" y="673616"/>
            <a:ext cx="27857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TR: R = 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30q – q</a:t>
            </a:r>
            <a:r>
              <a:rPr sz="2400" b="1" baseline="31999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0442CE-97CE-6642-A778-9929129C5B66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8437376" y="6400413"/>
            <a:ext cx="249425" cy="276999"/>
          </a:xfrm>
        </p:spPr>
        <p:txBody>
          <a:bodyPr/>
          <a:lstStyle/>
          <a:p>
            <a:fld id="{86CB4B4D-7CA3-9044-876B-883B54F8677D}" type="slidenum">
              <a:rPr lang="en-IN" smtClean="0"/>
              <a:t>57</a:t>
            </a:fld>
            <a:endParaRPr lang="en-IN"/>
          </a:p>
        </p:txBody>
      </p:sp>
      <p:sp>
        <p:nvSpPr>
          <p:cNvPr id="4" name="Given a firm’s  Total Revenue and Marginal Cost functions as:…">
            <a:extLst>
              <a:ext uri="{FF2B5EF4-FFF2-40B4-BE49-F238E27FC236}">
                <a16:creationId xmlns:a16="http://schemas.microsoft.com/office/drawing/2014/main" id="{EC15254F-8FD4-3945-A825-9CCF71F796A8}"/>
              </a:ext>
            </a:extLst>
          </p:cNvPr>
          <p:cNvSpPr txBox="1"/>
          <p:nvPr/>
        </p:nvSpPr>
        <p:spPr>
          <a:xfrm>
            <a:off x="4170526" y="677505"/>
            <a:ext cx="496908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TC:  C =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3q^3 - 20q^2 + 2q + 50</a:t>
            </a:r>
          </a:p>
        </p:txBody>
      </p:sp>
      <p:sp>
        <p:nvSpPr>
          <p:cNvPr id="5" name="Given a firm’s  Total Revenue and Marginal Cost functions as:…">
            <a:extLst>
              <a:ext uri="{FF2B5EF4-FFF2-40B4-BE49-F238E27FC236}">
                <a16:creationId xmlns:a16="http://schemas.microsoft.com/office/drawing/2014/main" id="{A0325652-C9D6-F647-8D11-292FD82C97B8}"/>
              </a:ext>
            </a:extLst>
          </p:cNvPr>
          <p:cNvSpPr txBox="1"/>
          <p:nvPr/>
        </p:nvSpPr>
        <p:spPr>
          <a:xfrm>
            <a:off x="830751" y="1107825"/>
            <a:ext cx="27857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AR: p = 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– q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iven a firm’s  Total Revenue and Marginal Cost functions as:…">
            <a:extLst>
              <a:ext uri="{FF2B5EF4-FFF2-40B4-BE49-F238E27FC236}">
                <a16:creationId xmlns:a16="http://schemas.microsoft.com/office/drawing/2014/main" id="{1936A048-0047-0249-ABB3-C4A3F1885285}"/>
              </a:ext>
            </a:extLst>
          </p:cNvPr>
          <p:cNvSpPr txBox="1"/>
          <p:nvPr/>
        </p:nvSpPr>
        <p:spPr>
          <a:xfrm>
            <a:off x="830751" y="1542033"/>
            <a:ext cx="2785773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MR: R’ = 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 –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Given a firm’s  Total Revenue and Marginal Cost functions as:…">
            <a:extLst>
              <a:ext uri="{FF2B5EF4-FFF2-40B4-BE49-F238E27FC236}">
                <a16:creationId xmlns:a16="http://schemas.microsoft.com/office/drawing/2014/main" id="{807A621C-2BF5-FD41-A3D7-2AE9F679E065}"/>
              </a:ext>
            </a:extLst>
          </p:cNvPr>
          <p:cNvSpPr txBox="1"/>
          <p:nvPr/>
        </p:nvSpPr>
        <p:spPr>
          <a:xfrm>
            <a:off x="4174919" y="1107825"/>
            <a:ext cx="496908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AC:  c =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3q^2 - 20q + 2 + 50/q</a:t>
            </a:r>
          </a:p>
        </p:txBody>
      </p:sp>
      <p:sp>
        <p:nvSpPr>
          <p:cNvPr id="8" name="Given a firm’s  Total Revenue and Marginal Cost functions as:…">
            <a:extLst>
              <a:ext uri="{FF2B5EF4-FFF2-40B4-BE49-F238E27FC236}">
                <a16:creationId xmlns:a16="http://schemas.microsoft.com/office/drawing/2014/main" id="{523BB105-8B16-B840-9D4C-1E0C1996CEC3}"/>
              </a:ext>
            </a:extLst>
          </p:cNvPr>
          <p:cNvSpPr txBox="1"/>
          <p:nvPr/>
        </p:nvSpPr>
        <p:spPr>
          <a:xfrm>
            <a:off x="4170526" y="1542033"/>
            <a:ext cx="496908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MC:  C’ = 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9q^2 – 40q + 2</a:t>
            </a:r>
          </a:p>
        </p:txBody>
      </p:sp>
      <p:sp>
        <p:nvSpPr>
          <p:cNvPr id="9" name="Given a firm’s  Total Revenue and Marginal Cost functions as:…">
            <a:extLst>
              <a:ext uri="{FF2B5EF4-FFF2-40B4-BE49-F238E27FC236}">
                <a16:creationId xmlns:a16="http://schemas.microsoft.com/office/drawing/2014/main" id="{B9A36C9C-2FCA-5940-AE46-DC71FB7B82B8}"/>
              </a:ext>
            </a:extLst>
          </p:cNvPr>
          <p:cNvSpPr txBox="1"/>
          <p:nvPr/>
        </p:nvSpPr>
        <p:spPr>
          <a:xfrm>
            <a:off x="2082995" y="2189456"/>
            <a:ext cx="496908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 = -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3q^3 + 19q^2 + 28q - 50</a:t>
            </a:r>
          </a:p>
        </p:txBody>
      </p:sp>
      <p:sp>
        <p:nvSpPr>
          <p:cNvPr id="19" name="Given a firm’s  Total Revenue and Marginal Cost functions as:…">
            <a:extLst>
              <a:ext uri="{FF2B5EF4-FFF2-40B4-BE49-F238E27FC236}">
                <a16:creationId xmlns:a16="http://schemas.microsoft.com/office/drawing/2014/main" id="{1CCF9269-A059-8741-87EF-E9E31104DE45}"/>
              </a:ext>
            </a:extLst>
          </p:cNvPr>
          <p:cNvSpPr txBox="1"/>
          <p:nvPr/>
        </p:nvSpPr>
        <p:spPr>
          <a:xfrm>
            <a:off x="2082995" y="2831526"/>
            <a:ext cx="4969081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V(Pie) = 91.88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Given a firm’s  Total Revenue and Marginal Cost functions as:…">
            <a:extLst>
              <a:ext uri="{FF2B5EF4-FFF2-40B4-BE49-F238E27FC236}">
                <a16:creationId xmlns:a16="http://schemas.microsoft.com/office/drawing/2014/main" id="{78D910FF-31E2-3C48-96B9-98D7F0695824}"/>
              </a:ext>
            </a:extLst>
          </p:cNvPr>
          <p:cNvSpPr txBox="1"/>
          <p:nvPr/>
        </p:nvSpPr>
        <p:spPr>
          <a:xfrm>
            <a:off x="830752" y="3490878"/>
            <a:ext cx="7062332" cy="4616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/>
          <a:p>
            <a:pPr algn="just">
              <a:defRPr sz="3100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V(Pie) = 91.88 – 91.88*0.22 – 91.88*0.02  =  Rs 69.83</a:t>
            </a:r>
            <a:endPara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14687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1882</TotalTime>
  <Words>3915</Words>
  <Application>Microsoft Macintosh PowerPoint</Application>
  <PresentationFormat>On-screen Show (4:3)</PresentationFormat>
  <Paragraphs>1089</Paragraphs>
  <Slides>57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Cambria Math</vt:lpstr>
      <vt:lpstr>Helvetica</vt:lpstr>
      <vt:lpstr>Times New Roman</vt:lpstr>
      <vt:lpstr>Office Theme</vt:lpstr>
      <vt:lpstr>Objectives of the Firm</vt:lpstr>
      <vt:lpstr>Profit Maximization   (Marginal Method)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Perfect Competition (Product Market)</vt:lpstr>
      <vt:lpstr>SHORT RUN DYNAMICS  UNDER  PERFECT COMPETITION</vt:lpstr>
      <vt:lpstr>PowerPoint Presentation</vt:lpstr>
      <vt:lpstr>PowerPoint Presentation</vt:lpstr>
      <vt:lpstr>PowerPoint Presentation</vt:lpstr>
      <vt:lpstr>Loss-making firms to CONTINUE</vt:lpstr>
      <vt:lpstr>PowerPoint Presentation</vt:lpstr>
      <vt:lpstr>Loss-making firms to SHUT DOWN</vt:lpstr>
      <vt:lpstr>PowerPoint Presentation</vt:lpstr>
      <vt:lpstr>PRODUCTION EFFICIENCY  UNDER  PERFECT COMPETITION</vt:lpstr>
      <vt:lpstr>PowerPoint Presentation</vt:lpstr>
      <vt:lpstr>PowerPoint Presentation</vt:lpstr>
      <vt:lpstr>PowerPoint Presentation</vt:lpstr>
      <vt:lpstr>Monopoly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Monopolistic Competition</vt:lpstr>
      <vt:lpstr>Coined by E.H. Chamberlin (USA – early 1939)</vt:lpstr>
      <vt:lpstr>Monopolistic Competition</vt:lpstr>
      <vt:lpstr>MONOPOLISTIC COMPETITION - GROUP DYNAMICS</vt:lpstr>
      <vt:lpstr>MONOPOLISTIC COMPETITION (SHORT RUN) - SUPERNORMAL PROFITS</vt:lpstr>
      <vt:lpstr>Oligopoly Price Leadership Models</vt:lpstr>
      <vt:lpstr>PowerPoint Presentation</vt:lpstr>
      <vt:lpstr>Dominant Firm’s Traits</vt:lpstr>
      <vt:lpstr>Numericals</vt:lpstr>
      <vt:lpstr>Breakeven:  TR = TC,      Pie = 0          AR = AC (Full Cost)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Objectives of the Firm</dc:title>
  <cp:lastModifiedBy>Aggie Menezes</cp:lastModifiedBy>
  <cp:revision>67</cp:revision>
  <dcterms:modified xsi:type="dcterms:W3CDTF">2025-10-27T15:36:24Z</dcterms:modified>
</cp:coreProperties>
</file>