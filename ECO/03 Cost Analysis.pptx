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82" r:id="rId3"/>
    <p:sldId id="318" r:id="rId4"/>
    <p:sldId id="315" r:id="rId5"/>
    <p:sldId id="320" r:id="rId6"/>
    <p:sldId id="333" r:id="rId7"/>
    <p:sldId id="285" r:id="rId8"/>
    <p:sldId id="299" r:id="rId9"/>
    <p:sldId id="316" r:id="rId10"/>
    <p:sldId id="313" r:id="rId11"/>
    <p:sldId id="257" r:id="rId12"/>
    <p:sldId id="258" r:id="rId13"/>
    <p:sldId id="259" r:id="rId14"/>
    <p:sldId id="303" r:id="rId15"/>
    <p:sldId id="300" r:id="rId16"/>
    <p:sldId id="334" r:id="rId17"/>
    <p:sldId id="265" r:id="rId18"/>
    <p:sldId id="304" r:id="rId19"/>
    <p:sldId id="266" r:id="rId20"/>
    <p:sldId id="267" r:id="rId21"/>
    <p:sldId id="275" r:id="rId22"/>
    <p:sldId id="309" r:id="rId23"/>
    <p:sldId id="312" r:id="rId24"/>
    <p:sldId id="311" r:id="rId25"/>
    <p:sldId id="335" r:id="rId26"/>
    <p:sldId id="321" r:id="rId27"/>
    <p:sldId id="338" r:id="rId28"/>
    <p:sldId id="339" r:id="rId29"/>
    <p:sldId id="306" r:id="rId30"/>
    <p:sldId id="291" r:id="rId31"/>
    <p:sldId id="340" r:id="rId32"/>
    <p:sldId id="337" r:id="rId33"/>
    <p:sldId id="290" r:id="rId34"/>
    <p:sldId id="336" r:id="rId35"/>
    <p:sldId id="288" r:id="rId36"/>
    <p:sldId id="301" r:id="rId37"/>
    <p:sldId id="324" r:id="rId38"/>
    <p:sldId id="261" r:id="rId39"/>
    <p:sldId id="284" r:id="rId40"/>
    <p:sldId id="273" r:id="rId41"/>
    <p:sldId id="325" r:id="rId42"/>
    <p:sldId id="286" r:id="rId43"/>
    <p:sldId id="329" r:id="rId44"/>
    <p:sldId id="287" r:id="rId45"/>
    <p:sldId id="326" r:id="rId46"/>
    <p:sldId id="289" r:id="rId47"/>
    <p:sldId id="327" r:id="rId48"/>
    <p:sldId id="328" r:id="rId49"/>
    <p:sldId id="330" r:id="rId50"/>
    <p:sldId id="292" r:id="rId5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22"/>
    <p:restoredTop sz="93471"/>
  </p:normalViewPr>
  <p:slideViewPr>
    <p:cSldViewPr snapToGrid="0" snapToObjects="1">
      <p:cViewPr>
        <p:scale>
          <a:sx n="73" d="100"/>
          <a:sy n="73" d="100"/>
        </p:scale>
        <p:origin x="112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32:46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24753 7866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2AA0-7347-7FF1-7567-8A43E584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C2520-38EC-896E-959D-19F7D932A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94A2D-E733-98A6-6C66-25B329346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17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24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975359" y="2623537"/>
            <a:ext cx="11054082" cy="2903503"/>
          </a:xfrm>
          <a:prstGeom prst="rect">
            <a:avLst/>
          </a:prstGeom>
        </p:spPr>
        <p:txBody>
          <a:bodyPr lIns="65023" tIns="65023" rIns="65023" bIns="65023"/>
          <a:lstStyle>
            <a:lvl1pPr defTabSz="1300480">
              <a:defRPr sz="6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950719" y="5527040"/>
            <a:ext cx="9103361" cy="4226561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0" indent="0" algn="ctr" defTabSz="1300480">
              <a:spcBef>
                <a:spcPts val="1000"/>
              </a:spcBef>
              <a:buSzTx/>
              <a:buNone/>
              <a:defRPr sz="4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457200" algn="ctr" defTabSz="1300480">
              <a:spcBef>
                <a:spcPts val="1000"/>
              </a:spcBef>
              <a:buSzTx/>
              <a:buNone/>
              <a:defRPr sz="4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914400" algn="ctr" defTabSz="1300480">
              <a:spcBef>
                <a:spcPts val="1000"/>
              </a:spcBef>
              <a:buSzTx/>
              <a:buNone/>
              <a:defRPr sz="4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1371600" algn="ctr" defTabSz="1300480">
              <a:spcBef>
                <a:spcPts val="1000"/>
              </a:spcBef>
              <a:buSzTx/>
              <a:buNone/>
              <a:defRPr sz="4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1828800" algn="ctr" defTabSz="1300480">
              <a:spcBef>
                <a:spcPts val="1000"/>
              </a:spcBef>
              <a:buSzTx/>
              <a:buNone/>
              <a:defRPr sz="4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/>
          <a:lstStyle>
            <a:lvl1pPr algn="r" defTabSz="130048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5344-E431-0B4A-97C5-58A69C2B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7F92-90FD-7148-A036-DD1A5219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DCF8E-B2F9-2644-AC67-3BC22370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AD529-5D89-0B48-BB63-17228E28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A88D-0F6B-2441-8733-1BF70CF5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0866" y="9251950"/>
            <a:ext cx="410369" cy="379591"/>
          </a:xfrm>
        </p:spPr>
        <p:txBody>
          <a:bodyPr/>
          <a:lstStyle/>
          <a:p>
            <a:fld id="{3D917019-A53D-5C43-B370-B39141378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18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290866" y="9251950"/>
            <a:ext cx="410369" cy="3795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65246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</p:sldLayoutIdLst>
  <p:transition spd="med"/>
  <p:hf hdr="0" ftr="0" dt="0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0.png"/><Relationship Id="rId7" Type="http://schemas.openxmlformats.org/officeDocument/2006/relationships/image" Target="../media/image2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1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5.png"/><Relationship Id="rId7" Type="http://schemas.openxmlformats.org/officeDocument/2006/relationships/image" Target="../media/image4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9.png"/><Relationship Id="rId4" Type="http://schemas.openxmlformats.org/officeDocument/2006/relationships/image" Target="../media/image36.png"/><Relationship Id="rId9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34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13" Type="http://schemas.openxmlformats.org/officeDocument/2006/relationships/image" Target="../media/image580.png"/><Relationship Id="rId3" Type="http://schemas.openxmlformats.org/officeDocument/2006/relationships/image" Target="../media/image480.png"/><Relationship Id="rId7" Type="http://schemas.openxmlformats.org/officeDocument/2006/relationships/image" Target="../media/image520.png"/><Relationship Id="rId12" Type="http://schemas.openxmlformats.org/officeDocument/2006/relationships/image" Target="../media/image57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0.png"/><Relationship Id="rId11" Type="http://schemas.openxmlformats.org/officeDocument/2006/relationships/image" Target="../media/image560.png"/><Relationship Id="rId5" Type="http://schemas.openxmlformats.org/officeDocument/2006/relationships/image" Target="../media/image500.png"/><Relationship Id="rId10" Type="http://schemas.openxmlformats.org/officeDocument/2006/relationships/image" Target="../media/image550.png"/><Relationship Id="rId4" Type="http://schemas.openxmlformats.org/officeDocument/2006/relationships/image" Target="../media/image490.png"/><Relationship Id="rId9" Type="http://schemas.openxmlformats.org/officeDocument/2006/relationships/image" Target="../media/image540.png"/><Relationship Id="rId14" Type="http://schemas.openxmlformats.org/officeDocument/2006/relationships/image" Target="../media/image59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40.png"/><Relationship Id="rId4" Type="http://schemas.openxmlformats.org/officeDocument/2006/relationships/image" Target="../media/image6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0.png"/><Relationship Id="rId4" Type="http://schemas.openxmlformats.org/officeDocument/2006/relationships/image" Target="../media/image6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of AC Curve"/>
          <p:cNvSpPr txBox="1">
            <a:spLocks noGrp="1"/>
          </p:cNvSpPr>
          <p:nvPr>
            <p:ph type="ctrTitle"/>
          </p:nvPr>
        </p:nvSpPr>
        <p:spPr>
          <a:xfrm>
            <a:off x="1263650" y="3715940"/>
            <a:ext cx="10464800" cy="66761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PRODUCTION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34E939-33CE-6A4C-9A29-A9193680ACE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of AC Curve"/>
          <p:cNvSpPr txBox="1">
            <a:spLocks noGrp="1"/>
          </p:cNvSpPr>
          <p:nvPr>
            <p:ph type="ctrTitle"/>
          </p:nvPr>
        </p:nvSpPr>
        <p:spPr>
          <a:xfrm>
            <a:off x="1270000" y="34350"/>
            <a:ext cx="10464800" cy="57672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Run Costs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of AC Curve">
            <a:extLst>
              <a:ext uri="{FF2B5EF4-FFF2-40B4-BE49-F238E27FC236}">
                <a16:creationId xmlns:a16="http://schemas.microsoft.com/office/drawing/2014/main" id="{4F8EA15F-73F8-E342-9BE3-3DA5EE7BBFB4}"/>
              </a:ext>
            </a:extLst>
          </p:cNvPr>
          <p:cNvSpPr txBox="1">
            <a:spLocks/>
          </p:cNvSpPr>
          <p:nvPr/>
        </p:nvSpPr>
        <p:spPr>
          <a:xfrm>
            <a:off x="450323" y="1080448"/>
            <a:ext cx="508597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COSTS</a:t>
            </a:r>
          </a:p>
        </p:txBody>
      </p:sp>
      <p:sp>
        <p:nvSpPr>
          <p:cNvPr id="4" name="Shape of AC Curve">
            <a:extLst>
              <a:ext uri="{FF2B5EF4-FFF2-40B4-BE49-F238E27FC236}">
                <a16:creationId xmlns:a16="http://schemas.microsoft.com/office/drawing/2014/main" id="{B4FAF14C-672A-624F-A37E-0B25599983C9}"/>
              </a:ext>
            </a:extLst>
          </p:cNvPr>
          <p:cNvSpPr txBox="1">
            <a:spLocks/>
          </p:cNvSpPr>
          <p:nvPr/>
        </p:nvSpPr>
        <p:spPr>
          <a:xfrm>
            <a:off x="7021418" y="1140209"/>
            <a:ext cx="508597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COSTS</a:t>
            </a:r>
          </a:p>
        </p:txBody>
      </p:sp>
      <p:sp>
        <p:nvSpPr>
          <p:cNvPr id="5" name="Shape of AC Curve">
            <a:extLst>
              <a:ext uri="{FF2B5EF4-FFF2-40B4-BE49-F238E27FC236}">
                <a16:creationId xmlns:a16="http://schemas.microsoft.com/office/drawing/2014/main" id="{D55E3AB1-8FE8-F24E-8D27-467870D9744C}"/>
              </a:ext>
            </a:extLst>
          </p:cNvPr>
          <p:cNvSpPr txBox="1">
            <a:spLocks/>
          </p:cNvSpPr>
          <p:nvPr/>
        </p:nvSpPr>
        <p:spPr>
          <a:xfrm>
            <a:off x="557899" y="2115197"/>
            <a:ext cx="508597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FIXED COSTS (TFC)</a:t>
            </a:r>
          </a:p>
        </p:txBody>
      </p:sp>
      <p:sp>
        <p:nvSpPr>
          <p:cNvPr id="6" name="Shape of AC Curve">
            <a:extLst>
              <a:ext uri="{FF2B5EF4-FFF2-40B4-BE49-F238E27FC236}">
                <a16:creationId xmlns:a16="http://schemas.microsoft.com/office/drawing/2014/main" id="{C46D5801-451D-C74B-8F1A-B34C8E53B63F}"/>
              </a:ext>
            </a:extLst>
          </p:cNvPr>
          <p:cNvSpPr txBox="1">
            <a:spLocks/>
          </p:cNvSpPr>
          <p:nvPr/>
        </p:nvSpPr>
        <p:spPr>
          <a:xfrm>
            <a:off x="7021418" y="2062140"/>
            <a:ext cx="5812933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VARIABLE COSTS (TVC)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6711" y="7379885"/>
                <a:ext cx="3194356" cy="81257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𝐓𝐅𝐂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711" y="7379885"/>
                <a:ext cx="3194356" cy="812571"/>
              </a:xfrm>
              <a:prstGeom prst="rect">
                <a:avLst/>
              </a:prstGeom>
              <a:blipFill>
                <a:blip r:embed="rId2"/>
                <a:stretch>
                  <a:fillRect b="-1384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2591" y="7633797"/>
                <a:ext cx="3754844" cy="67683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𝐓𝐕𝐂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591" y="7633797"/>
                <a:ext cx="3754844" cy="676832"/>
              </a:xfrm>
              <a:prstGeom prst="rect">
                <a:avLst/>
              </a:prstGeom>
              <a:blipFill>
                <a:blip r:embed="rId3"/>
                <a:stretch>
                  <a:fillRect b="-145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of AC Curve">
            <a:extLst>
              <a:ext uri="{FF2B5EF4-FFF2-40B4-BE49-F238E27FC236}">
                <a16:creationId xmlns:a16="http://schemas.microsoft.com/office/drawing/2014/main" id="{B3DA1615-B43D-8E4F-95A7-6D55D0B2190B}"/>
              </a:ext>
            </a:extLst>
          </p:cNvPr>
          <p:cNvSpPr txBox="1">
            <a:spLocks/>
          </p:cNvSpPr>
          <p:nvPr/>
        </p:nvSpPr>
        <p:spPr>
          <a:xfrm>
            <a:off x="557899" y="8324309"/>
            <a:ext cx="5671225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TFC curve has a vertical intercept</a:t>
            </a:r>
          </a:p>
        </p:txBody>
      </p:sp>
      <p:sp>
        <p:nvSpPr>
          <p:cNvPr id="34" name="Shape of AC Curve">
            <a:extLst>
              <a:ext uri="{FF2B5EF4-FFF2-40B4-BE49-F238E27FC236}">
                <a16:creationId xmlns:a16="http://schemas.microsoft.com/office/drawing/2014/main" id="{AE43BF86-FC87-C54F-9CE8-D3D50DCF0C28}"/>
              </a:ext>
            </a:extLst>
          </p:cNvPr>
          <p:cNvSpPr txBox="1">
            <a:spLocks/>
          </p:cNvSpPr>
          <p:nvPr/>
        </p:nvSpPr>
        <p:spPr>
          <a:xfrm>
            <a:off x="7201415" y="8429942"/>
            <a:ext cx="5671225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TVC curve begins at the origin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hape of AC Curve">
                <a:extLst>
                  <a:ext uri="{FF2B5EF4-FFF2-40B4-BE49-F238E27FC236}">
                    <a16:creationId xmlns:a16="http://schemas.microsoft.com/office/drawing/2014/main" id="{20AF14A7-9DFF-0D45-A161-13494BBC5F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0150" y="6699108"/>
                <a:ext cx="3189739" cy="7782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𝐓𝐅𝐂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𝑨𝑭𝑪</m:t>
                          </m:r>
                        </m:e>
                      </m:d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Shape of AC Curve">
                <a:extLst>
                  <a:ext uri="{FF2B5EF4-FFF2-40B4-BE49-F238E27FC236}">
                    <a16:creationId xmlns:a16="http://schemas.microsoft.com/office/drawing/2014/main" id="{20AF14A7-9DFF-0D45-A161-13494BBC5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150" y="6699108"/>
                <a:ext cx="3189739" cy="778274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606FC2E1-3BC0-F748-8287-C1AD85A9D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31406" y="6803105"/>
                <a:ext cx="3564965" cy="7976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𝐓𝐕𝐂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𝑨𝑽𝑪</m:t>
                          </m:r>
                        </m:e>
                      </m:d>
                      <m:d>
                        <m:d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606FC2E1-3BC0-F748-8287-C1AD85A9D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406" y="6803105"/>
                <a:ext cx="3564965" cy="797635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3B571C4-F025-0F49-8406-EBDEF4A845B5}"/>
              </a:ext>
            </a:extLst>
          </p:cNvPr>
          <p:cNvGrpSpPr/>
          <p:nvPr/>
        </p:nvGrpSpPr>
        <p:grpSpPr>
          <a:xfrm>
            <a:off x="421530" y="3954849"/>
            <a:ext cx="4614648" cy="2893484"/>
            <a:chOff x="457355" y="3573021"/>
            <a:chExt cx="4614648" cy="289348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19D6DE5-B0F9-3149-9BC8-D43D606C5ABF}"/>
                </a:ext>
              </a:extLst>
            </p:cNvPr>
            <p:cNvGrpSpPr/>
            <p:nvPr/>
          </p:nvGrpSpPr>
          <p:grpSpPr>
            <a:xfrm>
              <a:off x="1359613" y="3657602"/>
              <a:ext cx="3131671" cy="2366686"/>
              <a:chOff x="1270000" y="2581835"/>
              <a:chExt cx="3131671" cy="236668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28C6C78-121B-A547-AA6B-0673654F2C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0000" y="2581835"/>
                <a:ext cx="0" cy="236668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E89FF7C-8EBD-B340-A7B0-139869578B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000" y="4939552"/>
                <a:ext cx="3131671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1" name="Shape of AC Curve">
              <a:extLst>
                <a:ext uri="{FF2B5EF4-FFF2-40B4-BE49-F238E27FC236}">
                  <a16:creationId xmlns:a16="http://schemas.microsoft.com/office/drawing/2014/main" id="{2EF86E41-C1E0-F746-8D96-4EF7FF354A9D}"/>
                </a:ext>
              </a:extLst>
            </p:cNvPr>
            <p:cNvSpPr txBox="1">
              <a:spLocks/>
            </p:cNvSpPr>
            <p:nvPr/>
          </p:nvSpPr>
          <p:spPr>
            <a:xfrm>
              <a:off x="457355" y="3573021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TFC</a:t>
              </a:r>
            </a:p>
          </p:txBody>
        </p:sp>
        <p:sp>
          <p:nvSpPr>
            <p:cNvPr id="22" name="Shape of AC Curve">
              <a:extLst>
                <a:ext uri="{FF2B5EF4-FFF2-40B4-BE49-F238E27FC236}">
                  <a16:creationId xmlns:a16="http://schemas.microsoft.com/office/drawing/2014/main" id="{3A139F85-080F-6B4D-90D7-B52A41A03CBA}"/>
                </a:ext>
              </a:extLst>
            </p:cNvPr>
            <p:cNvSpPr txBox="1">
              <a:spLocks/>
            </p:cNvSpPr>
            <p:nvPr/>
          </p:nvSpPr>
          <p:spPr>
            <a:xfrm>
              <a:off x="4227826" y="6036203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BE69360-2336-3042-ADC1-044F3F9129DD}"/>
                </a:ext>
              </a:extLst>
            </p:cNvPr>
            <p:cNvGrpSpPr/>
            <p:nvPr/>
          </p:nvGrpSpPr>
          <p:grpSpPr>
            <a:xfrm>
              <a:off x="1359613" y="4705656"/>
              <a:ext cx="3526117" cy="430302"/>
              <a:chOff x="1270000" y="3629889"/>
              <a:chExt cx="3526117" cy="43030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2D3BA54-6834-1941-ACB0-96B9E654FE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0000" y="3872753"/>
                <a:ext cx="2817906" cy="0"/>
              </a:xfrm>
              <a:prstGeom prst="line">
                <a:avLst/>
              </a:prstGeom>
              <a:noFill/>
              <a:ln w="57150" cap="flat">
                <a:solidFill>
                  <a:schemeClr val="accent5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9" name="Shape of AC Curve">
                <a:extLst>
                  <a:ext uri="{FF2B5EF4-FFF2-40B4-BE49-F238E27FC236}">
                    <a16:creationId xmlns:a16="http://schemas.microsoft.com/office/drawing/2014/main" id="{5A038EC1-C01E-8240-A31D-2B3EAC3D54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1940" y="3629889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TFC</a:t>
                </a:r>
              </a:p>
            </p:txBody>
          </p:sp>
        </p:grpSp>
        <p:sp>
          <p:nvSpPr>
            <p:cNvPr id="29" name="Shape of AC Curve">
              <a:extLst>
                <a:ext uri="{FF2B5EF4-FFF2-40B4-BE49-F238E27FC236}">
                  <a16:creationId xmlns:a16="http://schemas.microsoft.com/office/drawing/2014/main" id="{38AA3172-6E4C-6B48-BDBF-7A152AE801CA}"/>
                </a:ext>
              </a:extLst>
            </p:cNvPr>
            <p:cNvSpPr txBox="1">
              <a:spLocks/>
            </p:cNvSpPr>
            <p:nvPr/>
          </p:nvSpPr>
          <p:spPr>
            <a:xfrm>
              <a:off x="763796" y="4787905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F0C84E-BA99-C843-9E8A-79E5DB2B6A0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6D74FA-6C5A-C844-AB45-D8FD0F0E7DC7}"/>
              </a:ext>
            </a:extLst>
          </p:cNvPr>
          <p:cNvGrpSpPr/>
          <p:nvPr/>
        </p:nvGrpSpPr>
        <p:grpSpPr>
          <a:xfrm>
            <a:off x="7976738" y="5517786"/>
            <a:ext cx="620363" cy="864825"/>
            <a:chOff x="8012597" y="4694444"/>
            <a:chExt cx="620363" cy="864825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AD6139E-1D30-6A4A-9883-067F6B5910AB}"/>
                </a:ext>
              </a:extLst>
            </p:cNvPr>
            <p:cNvCxnSpPr>
              <a:cxnSpLocks/>
            </p:cNvCxnSpPr>
            <p:nvPr/>
          </p:nvCxnSpPr>
          <p:spPr>
            <a:xfrm>
              <a:off x="8479310" y="4694444"/>
              <a:ext cx="0" cy="8648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DC2359D-4350-9246-9E91-04AD607134D8}"/>
                    </a:ext>
                  </a:extLst>
                </p:cNvPr>
                <p:cNvSpPr/>
                <p:nvPr/>
              </p:nvSpPr>
              <p:spPr>
                <a:xfrm>
                  <a:off x="8012597" y="4776693"/>
                  <a:ext cx="62036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DC2359D-4350-9246-9E91-04AD607134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2597" y="4776693"/>
                  <a:ext cx="620363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0F7E461-E0D6-0947-9B13-5031D1427B2C}"/>
              </a:ext>
            </a:extLst>
          </p:cNvPr>
          <p:cNvGrpSpPr/>
          <p:nvPr/>
        </p:nvGrpSpPr>
        <p:grpSpPr>
          <a:xfrm>
            <a:off x="8169849" y="3945102"/>
            <a:ext cx="873475" cy="2449261"/>
            <a:chOff x="8205708" y="3121760"/>
            <a:chExt cx="873475" cy="244926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D315567-08F9-F346-8E2B-4F0300794652}"/>
                </a:ext>
              </a:extLst>
            </p:cNvPr>
            <p:cNvCxnSpPr/>
            <p:nvPr/>
          </p:nvCxnSpPr>
          <p:spPr>
            <a:xfrm>
              <a:off x="9079183" y="3121760"/>
              <a:ext cx="0" cy="24492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27D7DDA-6CC5-5E4D-91F4-DC8BC04A7B83}"/>
                    </a:ext>
                  </a:extLst>
                </p:cNvPr>
                <p:cNvSpPr/>
                <p:nvPr/>
              </p:nvSpPr>
              <p:spPr>
                <a:xfrm>
                  <a:off x="8205708" y="3418406"/>
                  <a:ext cx="64761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27D7DDA-6CC5-5E4D-91F4-DC8BC04A7B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5708" y="3418406"/>
                  <a:ext cx="647613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C54866-05E8-0D44-B1F3-BB1387BBE7E1}"/>
              </a:ext>
            </a:extLst>
          </p:cNvPr>
          <p:cNvGrpSpPr/>
          <p:nvPr/>
        </p:nvGrpSpPr>
        <p:grpSpPr>
          <a:xfrm>
            <a:off x="9106315" y="3922890"/>
            <a:ext cx="647613" cy="2449261"/>
            <a:chOff x="9142174" y="3099548"/>
            <a:chExt cx="647613" cy="2449261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6FEAC3-524E-0044-8A00-E8EE31CA0C80}"/>
                </a:ext>
              </a:extLst>
            </p:cNvPr>
            <p:cNvCxnSpPr/>
            <p:nvPr/>
          </p:nvCxnSpPr>
          <p:spPr>
            <a:xfrm>
              <a:off x="9766604" y="3099548"/>
              <a:ext cx="0" cy="24492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86C96ED-D416-294A-A011-50F4EFCAB4ED}"/>
                    </a:ext>
                  </a:extLst>
                </p:cNvPr>
                <p:cNvSpPr/>
                <p:nvPr/>
              </p:nvSpPr>
              <p:spPr>
                <a:xfrm>
                  <a:off x="9142174" y="3435398"/>
                  <a:ext cx="64761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86C96ED-D416-294A-A011-50F4EFCAB4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2174" y="3435398"/>
                  <a:ext cx="647613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27C6B18-A7F7-5145-9600-87BD9BFBF66C}"/>
                  </a:ext>
                </a:extLst>
              </p:cNvPr>
              <p:cNvSpPr/>
              <p:nvPr/>
            </p:nvSpPr>
            <p:spPr>
              <a:xfrm>
                <a:off x="9833950" y="4219205"/>
                <a:ext cx="62196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27C6B18-A7F7-5145-9600-87BD9BFBF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950" y="4219205"/>
                <a:ext cx="62196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of AC Curve">
            <a:extLst>
              <a:ext uri="{FF2B5EF4-FFF2-40B4-BE49-F238E27FC236}">
                <a16:creationId xmlns:a16="http://schemas.microsoft.com/office/drawing/2014/main" id="{CDB46897-A815-8741-9F47-61CB2B854ABE}"/>
              </a:ext>
            </a:extLst>
          </p:cNvPr>
          <p:cNvSpPr txBox="1">
            <a:spLocks/>
          </p:cNvSpPr>
          <p:nvPr/>
        </p:nvSpPr>
        <p:spPr>
          <a:xfrm>
            <a:off x="795316" y="2853850"/>
            <a:ext cx="5671225" cy="74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total initial cost incurred in establishing the productive capacity</a:t>
            </a:r>
          </a:p>
        </p:txBody>
      </p:sp>
      <p:sp>
        <p:nvSpPr>
          <p:cNvPr id="47" name="Shape of AC Curve">
            <a:extLst>
              <a:ext uri="{FF2B5EF4-FFF2-40B4-BE49-F238E27FC236}">
                <a16:creationId xmlns:a16="http://schemas.microsoft.com/office/drawing/2014/main" id="{A60A9FFC-888D-E741-A511-74492FA47D78}"/>
              </a:ext>
            </a:extLst>
          </p:cNvPr>
          <p:cNvSpPr txBox="1">
            <a:spLocks/>
          </p:cNvSpPr>
          <p:nvPr/>
        </p:nvSpPr>
        <p:spPr>
          <a:xfrm>
            <a:off x="7021418" y="2827942"/>
            <a:ext cx="5671225" cy="74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total operational cost incurred in  producing a given level of output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7786E-8D85-3542-BD15-1C27BF6C0820}"/>
              </a:ext>
            </a:extLst>
          </p:cNvPr>
          <p:cNvGrpSpPr/>
          <p:nvPr/>
        </p:nvGrpSpPr>
        <p:grpSpPr>
          <a:xfrm>
            <a:off x="7209483" y="3600570"/>
            <a:ext cx="4451084" cy="3235848"/>
            <a:chOff x="7209483" y="3600570"/>
            <a:chExt cx="4451084" cy="323584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6FF07E-92F1-8344-B8B2-7476316A9033}"/>
                </a:ext>
              </a:extLst>
            </p:cNvPr>
            <p:cNvGrpSpPr/>
            <p:nvPr/>
          </p:nvGrpSpPr>
          <p:grpSpPr>
            <a:xfrm>
              <a:off x="7209483" y="3600570"/>
              <a:ext cx="4451084" cy="3235848"/>
              <a:chOff x="7245308" y="3218742"/>
              <a:chExt cx="4451084" cy="323584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8983747-942E-944B-8727-BDDA0F10199C}"/>
                  </a:ext>
                </a:extLst>
              </p:cNvPr>
              <p:cNvGrpSpPr/>
              <p:nvPr/>
            </p:nvGrpSpPr>
            <p:grpSpPr>
              <a:xfrm>
                <a:off x="8110037" y="3218742"/>
                <a:ext cx="3131671" cy="2805546"/>
                <a:chOff x="1270000" y="2142974"/>
                <a:chExt cx="3131671" cy="2805546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616C0E3A-1454-BD41-B323-F91570661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000" y="2142974"/>
                  <a:ext cx="9608" cy="2805546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9ED624B-E668-1040-B248-CBB8F7C79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000" y="4921623"/>
                  <a:ext cx="3131671" cy="0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23" name="Shape of AC Curve">
                <a:extLst>
                  <a:ext uri="{FF2B5EF4-FFF2-40B4-BE49-F238E27FC236}">
                    <a16:creationId xmlns:a16="http://schemas.microsoft.com/office/drawing/2014/main" id="{F640A297-C2BE-B943-9DF5-D1C90E2B61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45308" y="3301859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TVC</a:t>
                </a:r>
              </a:p>
            </p:txBody>
          </p:sp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66341092-324C-A34C-8990-73E14CCC12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19619" y="6024288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44" name="Shape of AC Curve">
                <a:extLst>
                  <a:ext uri="{FF2B5EF4-FFF2-40B4-BE49-F238E27FC236}">
                    <a16:creationId xmlns:a16="http://schemas.microsoft.com/office/drawing/2014/main" id="{BD26A51B-F6CD-4441-8F23-8E84E22BAB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66487" y="3386428"/>
                <a:ext cx="1029905" cy="4302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TVC</a:t>
                </a:r>
              </a:p>
            </p:txBody>
          </p:sp>
        </p:grp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2FB088BD-F7E6-E844-8C4F-95CE23E677F7}"/>
                </a:ext>
              </a:extLst>
            </p:cNvPr>
            <p:cNvSpPr/>
            <p:nvPr/>
          </p:nvSpPr>
          <p:spPr>
            <a:xfrm>
              <a:off x="8095666" y="3954849"/>
              <a:ext cx="2668913" cy="2417724"/>
            </a:xfrm>
            <a:custGeom>
              <a:avLst/>
              <a:gdLst>
                <a:gd name="connsiteX0" fmla="*/ 0 w 21600"/>
                <a:gd name="connsiteY0" fmla="*/ 21600 h 21600"/>
                <a:gd name="connsiteX1" fmla="*/ 3240 w 21600"/>
                <a:gd name="connsiteY1" fmla="*/ 18489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1600"/>
                <a:gd name="connsiteY0" fmla="*/ 21600 h 21600"/>
                <a:gd name="connsiteX1" fmla="*/ 3240 w 21600"/>
                <a:gd name="connsiteY1" fmla="*/ 18928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298 w 22958"/>
                <a:gd name="connsiteY2" fmla="*/ 1694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9083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58" h="21497" extrusionOk="0">
                  <a:moveTo>
                    <a:pt x="0" y="21497"/>
                  </a:moveTo>
                  <a:cubicBezTo>
                    <a:pt x="666" y="20290"/>
                    <a:pt x="1378" y="19954"/>
                    <a:pt x="3240" y="19083"/>
                  </a:cubicBezTo>
                  <a:cubicBezTo>
                    <a:pt x="5102" y="18212"/>
                    <a:pt x="8115" y="19355"/>
                    <a:pt x="11175" y="16273"/>
                  </a:cubicBezTo>
                  <a:cubicBezTo>
                    <a:pt x="14235" y="13192"/>
                    <a:pt x="19412" y="7170"/>
                    <a:pt x="22958" y="0"/>
                  </a:cubicBezTo>
                </a:path>
              </a:pathLst>
            </a:custGeom>
            <a:ln w="76200">
              <a:solidFill>
                <a:schemeClr val="accent6">
                  <a:lumMod val="60000"/>
                  <a:lumOff val="40000"/>
                </a:schemeClr>
              </a:solidFill>
              <a:bevel/>
            </a:ln>
          </p:spPr>
          <p:txBody>
            <a:bodyPr lIns="65023" tIns="65023" rIns="65023" bIns="65023" anchor="ctr"/>
            <a:lstStyle/>
            <a:p>
              <a:pPr defTabSz="1300480">
                <a:def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4665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46" grpId="0"/>
      <p:bldP spid="43" grpId="0" animBg="1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75FBBF0-DF93-324C-BE97-286D926FE695}"/>
              </a:ext>
            </a:extLst>
          </p:cNvPr>
          <p:cNvGrpSpPr/>
          <p:nvPr/>
        </p:nvGrpSpPr>
        <p:grpSpPr>
          <a:xfrm>
            <a:off x="2826588" y="728936"/>
            <a:ext cx="7085309" cy="7777248"/>
            <a:chOff x="2826588" y="728936"/>
            <a:chExt cx="7085309" cy="77772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CE7B58-738F-DC47-9A92-43E666F671C2}"/>
                </a:ext>
              </a:extLst>
            </p:cNvPr>
            <p:cNvGrpSpPr/>
            <p:nvPr/>
          </p:nvGrpSpPr>
          <p:grpSpPr>
            <a:xfrm>
              <a:off x="2826588" y="728936"/>
              <a:ext cx="7085309" cy="7777248"/>
              <a:chOff x="2826588" y="728936"/>
              <a:chExt cx="7085309" cy="7777248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AF02DC4D-F949-9C4D-9BF5-8AA835F8B29A}"/>
                  </a:ext>
                </a:extLst>
              </p:cNvPr>
              <p:cNvGrpSpPr/>
              <p:nvPr/>
            </p:nvGrpSpPr>
            <p:grpSpPr>
              <a:xfrm>
                <a:off x="2826588" y="4073431"/>
                <a:ext cx="7085309" cy="4432753"/>
                <a:chOff x="7209483" y="2791226"/>
                <a:chExt cx="4418488" cy="4045192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46FF07E-92F1-8344-B8B2-7476316A9033}"/>
                    </a:ext>
                  </a:extLst>
                </p:cNvPr>
                <p:cNvGrpSpPr/>
                <p:nvPr/>
              </p:nvGrpSpPr>
              <p:grpSpPr>
                <a:xfrm>
                  <a:off x="7209483" y="3355122"/>
                  <a:ext cx="4418488" cy="3481296"/>
                  <a:chOff x="7245308" y="2973294"/>
                  <a:chExt cx="4418488" cy="3481296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28983747-942E-944B-8727-BDDA0F10199C}"/>
                      </a:ext>
                    </a:extLst>
                  </p:cNvPr>
                  <p:cNvGrpSpPr/>
                  <p:nvPr/>
                </p:nvGrpSpPr>
                <p:grpSpPr>
                  <a:xfrm>
                    <a:off x="8110037" y="3218742"/>
                    <a:ext cx="3099079" cy="2805546"/>
                    <a:chOff x="1270000" y="2142974"/>
                    <a:chExt cx="3099079" cy="2805546"/>
                  </a:xfrm>
                </p:grpSpPr>
                <p:cxnSp>
                  <p:nvCxnSpPr>
                    <p:cNvPr id="15" name="Straight Connector 14">
                      <a:extLst>
                        <a:ext uri="{FF2B5EF4-FFF2-40B4-BE49-F238E27FC236}">
                          <a16:creationId xmlns:a16="http://schemas.microsoft.com/office/drawing/2014/main" id="{616C0E3A-1454-BD41-B323-F91570661F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270000" y="2142974"/>
                      <a:ext cx="9608" cy="2805546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0000"/>
                      </a:solidFill>
                      <a:prstDash val="solid"/>
                      <a:miter lim="400000"/>
                      <a:headEnd type="triangle" w="med" len="med"/>
                      <a:tailEnd type="none" w="med" len="med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99ED624B-E668-1040-B248-CBB8F7C792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270001" y="4876908"/>
                      <a:ext cx="3099078" cy="44715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0000"/>
                      </a:solidFill>
                      <a:prstDash val="solid"/>
                      <a:miter lim="400000"/>
                      <a:headEnd type="triangle" w="med" len="med"/>
                      <a:tailEnd type="none" w="med" len="med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</p:grpSp>
              <p:sp>
                <p:nvSpPr>
                  <p:cNvPr id="23" name="Shape of AC Curve">
                    <a:extLst>
                      <a:ext uri="{FF2B5EF4-FFF2-40B4-BE49-F238E27FC236}">
                        <a16:creationId xmlns:a16="http://schemas.microsoft.com/office/drawing/2014/main" id="{F640A297-C2BE-B943-9DF5-D1C90E2B61E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245308" y="3301859"/>
                    <a:ext cx="844177" cy="43030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TVC</a:t>
                    </a:r>
                  </a:p>
                </p:txBody>
              </p:sp>
              <p:sp>
                <p:nvSpPr>
                  <p:cNvPr id="24" name="Shape of AC Curve">
                    <a:extLst>
                      <a:ext uri="{FF2B5EF4-FFF2-40B4-BE49-F238E27FC236}">
                        <a16:creationId xmlns:a16="http://schemas.microsoft.com/office/drawing/2014/main" id="{66341092-324C-A34C-8990-73E14CCC12D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819619" y="6024288"/>
                    <a:ext cx="844177" cy="43030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QTY</a:t>
                    </a:r>
                  </a:p>
                </p:txBody>
              </p:sp>
              <p:sp>
                <p:nvSpPr>
                  <p:cNvPr id="44" name="Shape of AC Curve">
                    <a:extLst>
                      <a:ext uri="{FF2B5EF4-FFF2-40B4-BE49-F238E27FC236}">
                        <a16:creationId xmlns:a16="http://schemas.microsoft.com/office/drawing/2014/main" id="{BD26A51B-F6CD-4441-8F23-8E84E22BABE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0279496" y="2973294"/>
                    <a:ext cx="536205" cy="370361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TVC</a:t>
                    </a: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26D74FA-6C5A-C844-AB45-D8FD0F0E7DC7}"/>
                    </a:ext>
                  </a:extLst>
                </p:cNvPr>
                <p:cNvGrpSpPr/>
                <p:nvPr/>
              </p:nvGrpSpPr>
              <p:grpSpPr>
                <a:xfrm>
                  <a:off x="8046419" y="5632730"/>
                  <a:ext cx="386865" cy="762523"/>
                  <a:chOff x="8082278" y="4809388"/>
                  <a:chExt cx="386865" cy="762523"/>
                </a:xfrm>
              </p:grpSpPr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EAD6139E-1D30-6A4A-9883-067F6B5910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84270" y="4814812"/>
                    <a:ext cx="0" cy="757099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ysDash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1DC2359D-4350-9246-9E91-04AD607134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82278" y="4809388"/>
                        <a:ext cx="386865" cy="365128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1DC2359D-4350-9246-9E91-04AD607134D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82278" y="4809388"/>
                        <a:ext cx="386865" cy="365128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0F7E461-E0D6-0947-9B13-5031D1427B2C}"/>
                    </a:ext>
                  </a:extLst>
                </p:cNvPr>
                <p:cNvGrpSpPr/>
                <p:nvPr/>
              </p:nvGrpSpPr>
              <p:grpSpPr>
                <a:xfrm>
                  <a:off x="8251009" y="2791226"/>
                  <a:ext cx="768905" cy="3543278"/>
                  <a:chOff x="8286868" y="1967884"/>
                  <a:chExt cx="768905" cy="3543278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FD315567-08F9-F346-8E2B-4F03007946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39625" y="1967884"/>
                    <a:ext cx="16148" cy="3543278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ysDash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827D7DDA-6CC5-5E4D-91F4-DC8BC04A7B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86868" y="4176782"/>
                        <a:ext cx="393863" cy="365128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827D7DDA-6CC5-5E4D-91F4-DC8BC04A7B8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86868" y="4176782"/>
                        <a:ext cx="393863" cy="365128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B7C54866-05E8-0D44-B1F3-BB1387BBE7E1}"/>
                    </a:ext>
                  </a:extLst>
                </p:cNvPr>
                <p:cNvGrpSpPr/>
                <p:nvPr/>
              </p:nvGrpSpPr>
              <p:grpSpPr>
                <a:xfrm>
                  <a:off x="9176842" y="2993028"/>
                  <a:ext cx="691582" cy="3379376"/>
                  <a:chOff x="9212701" y="2169686"/>
                  <a:chExt cx="691582" cy="3379376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186FEAC3-524E-0044-8A00-E8EE31CA0C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900364" y="2169686"/>
                    <a:ext cx="3919" cy="3379376"/>
                  </a:xfrm>
                  <a:prstGeom prst="line">
                    <a:avLst/>
                  </a:prstGeom>
                  <a:noFill/>
                  <a:ln w="25400" cap="flat">
                    <a:solidFill>
                      <a:srgbClr val="000000"/>
                    </a:solidFill>
                    <a:prstDash val="sysDash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Rectangle 44">
                        <a:extLst>
                          <a:ext uri="{FF2B5EF4-FFF2-40B4-BE49-F238E27FC236}">
                            <a16:creationId xmlns:a16="http://schemas.microsoft.com/office/drawing/2014/main" id="{686C96ED-D416-294A-A011-50F4EFCAB4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12701" y="4139848"/>
                        <a:ext cx="403860" cy="365128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5" name="Rectangle 44">
                        <a:extLst>
                          <a:ext uri="{FF2B5EF4-FFF2-40B4-BE49-F238E27FC236}">
                            <a16:creationId xmlns:a16="http://schemas.microsoft.com/office/drawing/2014/main" id="{686C96ED-D416-294A-A011-50F4EFCAB4E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12701" y="4139848"/>
                        <a:ext cx="403860" cy="365128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627C6B18-A7F7-5145-9600-87BD9BFBF6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31360" y="4877400"/>
                      <a:ext cx="387865" cy="36512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</m:d>
                          </m:oMath>
                        </m:oMathPara>
                      </a14:m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627C6B18-A7F7-5145-9600-87BD9BFBF66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31360" y="4877400"/>
                      <a:ext cx="387865" cy="36512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8CB9383-58BF-D143-852D-868B77E12B2F}"/>
                  </a:ext>
                </a:extLst>
              </p:cNvPr>
              <p:cNvGrpSpPr/>
              <p:nvPr/>
            </p:nvGrpSpPr>
            <p:grpSpPr>
              <a:xfrm>
                <a:off x="3171656" y="728936"/>
                <a:ext cx="6170644" cy="3933630"/>
                <a:chOff x="386493" y="954217"/>
                <a:chExt cx="10602421" cy="7856835"/>
              </a:xfrm>
            </p:grpSpPr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57C9E078-A8C4-6C43-AEE1-099AD2513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36069" y="1073093"/>
                  <a:ext cx="2" cy="7307480"/>
                </a:xfrm>
                <a:prstGeom prst="straightConnector1">
                  <a:avLst/>
                </a:prstGeom>
                <a:noFill/>
                <a:ln w="38100" cap="flat">
                  <a:solidFill>
                    <a:schemeClr val="tx1"/>
                  </a:solidFill>
                  <a:prstDash val="solid"/>
                  <a:round/>
                  <a:headEnd type="triangle"/>
                  <a:tailEnd type="triangle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6D120F59-8319-124C-83C4-576ECB97D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73711" y="7895215"/>
                  <a:ext cx="9106959" cy="29501"/>
                </a:xfrm>
                <a:prstGeom prst="straightConnector1">
                  <a:avLst/>
                </a:prstGeom>
                <a:noFill/>
                <a:ln w="38100" cap="flat">
                  <a:solidFill>
                    <a:schemeClr val="tx1"/>
                  </a:solidFill>
                  <a:prstDash val="solid"/>
                  <a:round/>
                  <a:headEnd type="triangle"/>
                  <a:tailEnd type="triangle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66A4091D-E982-D54C-B66B-D48277471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33931" y="3302104"/>
                  <a:ext cx="46715" cy="4589400"/>
                </a:xfrm>
                <a:prstGeom prst="line">
                  <a:avLst/>
                </a:prstGeom>
                <a:noFill/>
                <a:ln w="25400" cap="flat">
                  <a:solidFill>
                    <a:schemeClr val="tx1"/>
                  </a:solidFill>
                  <a:prstDash val="lg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1BB36473-1738-5A4E-93D1-1C99304921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02275" y="1240524"/>
                  <a:ext cx="0" cy="6822277"/>
                </a:xfrm>
                <a:prstGeom prst="line">
                  <a:avLst/>
                </a:prstGeom>
                <a:noFill/>
                <a:ln w="25400" cap="flat">
                  <a:solidFill>
                    <a:schemeClr val="tx1"/>
                  </a:solidFill>
                  <a:prstDash val="lg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57" name="Arc 56">
                  <a:extLst>
                    <a:ext uri="{FF2B5EF4-FFF2-40B4-BE49-F238E27FC236}">
                      <a16:creationId xmlns:a16="http://schemas.microsoft.com/office/drawing/2014/main" id="{68048009-11E9-1340-9F04-7718FF648FF5}"/>
                    </a:ext>
                  </a:extLst>
                </p:cNvPr>
                <p:cNvSpPr/>
                <p:nvPr/>
              </p:nvSpPr>
              <p:spPr>
                <a:xfrm flipH="1">
                  <a:off x="4732045" y="1240524"/>
                  <a:ext cx="4568249" cy="3943643"/>
                </a:xfrm>
                <a:prstGeom prst="arc">
                  <a:avLst>
                    <a:gd name="adj1" fmla="val 16025725"/>
                    <a:gd name="adj2" fmla="val 200900"/>
                  </a:avLst>
                </a:prstGeom>
                <a:noFill/>
                <a:ln w="57150" cap="flat">
                  <a:solidFill>
                    <a:srgbClr val="0070C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130047" tIns="65023" rIns="130047" bIns="65023" numCol="1" spcCol="38100" rtlCol="0" anchor="t">
                  <a:noAutofit/>
                </a:bodyPr>
                <a:lstStyle/>
                <a:p>
                  <a:pPr algn="l" defTabSz="1300460" latinLnBrk="1"/>
                  <a:endPara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122A20B3-EB37-E04B-AC89-814EE970009F}"/>
                    </a:ext>
                  </a:extLst>
                </p:cNvPr>
                <p:cNvSpPr/>
                <p:nvPr/>
              </p:nvSpPr>
              <p:spPr>
                <a:xfrm>
                  <a:off x="2161540" y="3302104"/>
                  <a:ext cx="2570503" cy="4650879"/>
                </a:xfrm>
                <a:custGeom>
                  <a:avLst/>
                  <a:gdLst>
                    <a:gd name="connsiteX0" fmla="*/ 0 w 2074606"/>
                    <a:gd name="connsiteY0" fmla="*/ 3224981 h 3224981"/>
                    <a:gd name="connsiteX1" fmla="*/ 235974 w 2074606"/>
                    <a:gd name="connsiteY1" fmla="*/ 2930013 h 3224981"/>
                    <a:gd name="connsiteX2" fmla="*/ 589935 w 2074606"/>
                    <a:gd name="connsiteY2" fmla="*/ 2526890 h 3224981"/>
                    <a:gd name="connsiteX3" fmla="*/ 2074606 w 2074606"/>
                    <a:gd name="connsiteY3" fmla="*/ 0 h 3224981"/>
                    <a:gd name="connsiteX4" fmla="*/ 2074606 w 2074606"/>
                    <a:gd name="connsiteY4" fmla="*/ 0 h 3224981"/>
                    <a:gd name="connsiteX0" fmla="*/ 0 w 2074606"/>
                    <a:gd name="connsiteY0" fmla="*/ 3224981 h 3224981"/>
                    <a:gd name="connsiteX1" fmla="*/ 235974 w 2074606"/>
                    <a:gd name="connsiteY1" fmla="*/ 2930013 h 3224981"/>
                    <a:gd name="connsiteX2" fmla="*/ 589935 w 2074606"/>
                    <a:gd name="connsiteY2" fmla="*/ 2526890 h 3224981"/>
                    <a:gd name="connsiteX3" fmla="*/ 1317523 w 2074606"/>
                    <a:gd name="connsiteY3" fmla="*/ 1854090 h 3224981"/>
                    <a:gd name="connsiteX4" fmla="*/ 2074606 w 2074606"/>
                    <a:gd name="connsiteY4" fmla="*/ 0 h 3224981"/>
                    <a:gd name="connsiteX5" fmla="*/ 2074606 w 2074606"/>
                    <a:gd name="connsiteY5" fmla="*/ 0 h 3224981"/>
                    <a:gd name="connsiteX0" fmla="*/ 0 w 2074606"/>
                    <a:gd name="connsiteY0" fmla="*/ 3224981 h 3224981"/>
                    <a:gd name="connsiteX1" fmla="*/ 235974 w 2074606"/>
                    <a:gd name="connsiteY1" fmla="*/ 2930013 h 3224981"/>
                    <a:gd name="connsiteX2" fmla="*/ 727586 w 2074606"/>
                    <a:gd name="connsiteY2" fmla="*/ 2536722 h 3224981"/>
                    <a:gd name="connsiteX3" fmla="*/ 1317523 w 2074606"/>
                    <a:gd name="connsiteY3" fmla="*/ 1854090 h 3224981"/>
                    <a:gd name="connsiteX4" fmla="*/ 2074606 w 2074606"/>
                    <a:gd name="connsiteY4" fmla="*/ 0 h 3224981"/>
                    <a:gd name="connsiteX5" fmla="*/ 2074606 w 2074606"/>
                    <a:gd name="connsiteY5" fmla="*/ 0 h 3224981"/>
                    <a:gd name="connsiteX0" fmla="*/ 0 w 2074606"/>
                    <a:gd name="connsiteY0" fmla="*/ 3224981 h 3224981"/>
                    <a:gd name="connsiteX1" fmla="*/ 285135 w 2074606"/>
                    <a:gd name="connsiteY1" fmla="*/ 2949678 h 3224981"/>
                    <a:gd name="connsiteX2" fmla="*/ 727586 w 2074606"/>
                    <a:gd name="connsiteY2" fmla="*/ 2536722 h 3224981"/>
                    <a:gd name="connsiteX3" fmla="*/ 1317523 w 2074606"/>
                    <a:gd name="connsiteY3" fmla="*/ 1854090 h 3224981"/>
                    <a:gd name="connsiteX4" fmla="*/ 2074606 w 2074606"/>
                    <a:gd name="connsiteY4" fmla="*/ 0 h 3224981"/>
                    <a:gd name="connsiteX5" fmla="*/ 2074606 w 2074606"/>
                    <a:gd name="connsiteY5" fmla="*/ 0 h 3224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4606" h="3224981">
                      <a:moveTo>
                        <a:pt x="0" y="3224981"/>
                      </a:moveTo>
                      <a:cubicBezTo>
                        <a:pt x="68826" y="3135671"/>
                        <a:pt x="163871" y="3064388"/>
                        <a:pt x="285135" y="2949678"/>
                      </a:cubicBezTo>
                      <a:cubicBezTo>
                        <a:pt x="406399" y="2834968"/>
                        <a:pt x="555521" y="2719320"/>
                        <a:pt x="727586" y="2536722"/>
                      </a:cubicBezTo>
                      <a:cubicBezTo>
                        <a:pt x="899651" y="2354124"/>
                        <a:pt x="1070078" y="2275238"/>
                        <a:pt x="1317523" y="1854090"/>
                      </a:cubicBezTo>
                      <a:cubicBezTo>
                        <a:pt x="1564968" y="1432942"/>
                        <a:pt x="1948426" y="309015"/>
                        <a:pt x="2074606" y="0"/>
                      </a:cubicBezTo>
                      <a:lnTo>
                        <a:pt x="2074606" y="0"/>
                      </a:lnTo>
                    </a:path>
                  </a:pathLst>
                </a:custGeom>
                <a:noFill/>
                <a:ln w="57150" cap="flat">
                  <a:solidFill>
                    <a:schemeClr val="accent3">
                      <a:lumMod val="50000"/>
                    </a:schemeClr>
                  </a:solidFill>
                  <a:prstDash val="solid"/>
                  <a:round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130047" tIns="65023" rIns="130047" bIns="65023" numCol="1" spcCol="38100" rtlCol="0" anchor="t">
                  <a:noAutofit/>
                </a:bodyPr>
                <a:lstStyle/>
                <a:p>
                  <a:pPr algn="l" defTabSz="1300460" latinLnBrk="1"/>
                  <a:endPara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Arc 64">
                  <a:extLst>
                    <a:ext uri="{FF2B5EF4-FFF2-40B4-BE49-F238E27FC236}">
                      <a16:creationId xmlns:a16="http://schemas.microsoft.com/office/drawing/2014/main" id="{DB75BDC1-A3E5-6846-87A9-6602589F9954}"/>
                    </a:ext>
                  </a:extLst>
                </p:cNvPr>
                <p:cNvSpPr/>
                <p:nvPr/>
              </p:nvSpPr>
              <p:spPr>
                <a:xfrm rot="5679561" flipH="1">
                  <a:off x="4310624" y="1344437"/>
                  <a:ext cx="5469541" cy="5265235"/>
                </a:xfrm>
                <a:prstGeom prst="arc">
                  <a:avLst>
                    <a:gd name="adj1" fmla="val 18246209"/>
                    <a:gd name="adj2" fmla="val 200900"/>
                  </a:avLst>
                </a:prstGeom>
                <a:noFill/>
                <a:ln w="57150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130047" tIns="65023" rIns="130047" bIns="65023" numCol="1" spcCol="38100" rtlCol="0" anchor="t">
                  <a:noAutofit/>
                </a:bodyPr>
                <a:lstStyle/>
                <a:p>
                  <a:pPr algn="l" defTabSz="1300460" latinLnBrk="1"/>
                  <a:endPara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Curves for  The Law of Variable Proportions">
                  <a:extLst>
                    <a:ext uri="{FF2B5EF4-FFF2-40B4-BE49-F238E27FC236}">
                      <a16:creationId xmlns:a16="http://schemas.microsoft.com/office/drawing/2014/main" id="{3F6DAF60-91A6-EA44-B944-DFBFD64A9C5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490443" y="2891977"/>
                  <a:ext cx="2224401" cy="65029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lIns="65023" rIns="65023" anchor="ctr">
                  <a:noAutofit/>
                </a:bodyPr>
                <a:lstStyle>
                  <a:lvl1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1pPr>
                  <a:lvl2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2pPr>
                  <a:lvl3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3pPr>
                  <a:lvl4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4pPr>
                  <a:lvl5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5pPr>
                  <a:lvl6pPr marL="0" marR="0" indent="4572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6pPr>
                  <a:lvl7pPr marL="0" marR="0" indent="9144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7pPr>
                  <a:lvl8pPr marL="0" marR="0" indent="13716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8pPr>
                  <a:lvl9pPr marL="0" marR="0" indent="18288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9pPr>
                </a:lstStyle>
                <a:p>
                  <a:pPr hangingPunct="1">
                    <a:defRPr sz="2800" b="1"/>
                  </a:pPr>
                  <a:r>
                    <a:rPr lang="en-I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TPP</a:t>
                  </a:r>
                </a:p>
              </p:txBody>
            </p:sp>
            <p:sp>
              <p:nvSpPr>
                <p:cNvPr id="62" name="Curves for  The Law of Variable Proportions">
                  <a:extLst>
                    <a:ext uri="{FF2B5EF4-FFF2-40B4-BE49-F238E27FC236}">
                      <a16:creationId xmlns:a16="http://schemas.microsoft.com/office/drawing/2014/main" id="{21AB87B8-EBBA-4D43-8FBB-49C4E5A2117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86493" y="954217"/>
                  <a:ext cx="1400238" cy="705075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lIns="65023" rIns="65023" anchor="ctr">
                  <a:noAutofit/>
                </a:bodyPr>
                <a:lstStyle>
                  <a:lvl1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1pPr>
                  <a:lvl2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2pPr>
                  <a:lvl3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3pPr>
                  <a:lvl4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4pPr>
                  <a:lvl5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5pPr>
                  <a:lvl6pPr marL="0" marR="0" indent="4572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6pPr>
                  <a:lvl7pPr marL="0" marR="0" indent="9144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7pPr>
                  <a:lvl8pPr marL="0" marR="0" indent="13716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8pPr>
                  <a:lvl9pPr marL="0" marR="0" indent="18288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9pPr>
                </a:lstStyle>
                <a:p>
                  <a:pPr hangingPunct="1">
                    <a:defRPr sz="2800" b="1"/>
                  </a:pPr>
                  <a:r>
                    <a:rPr lang="en-I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TPP</a:t>
                  </a:r>
                </a:p>
              </p:txBody>
            </p:sp>
            <p:sp>
              <p:nvSpPr>
                <p:cNvPr id="63" name="Curves for  The Law of Variable Proportions">
                  <a:extLst>
                    <a:ext uri="{FF2B5EF4-FFF2-40B4-BE49-F238E27FC236}">
                      <a16:creationId xmlns:a16="http://schemas.microsoft.com/office/drawing/2014/main" id="{B92A81F5-BA03-684D-922B-5EF370E606F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070539" y="8175511"/>
                  <a:ext cx="918375" cy="635541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lIns="65023" rIns="65023" anchor="ctr">
                  <a:noAutofit/>
                </a:bodyPr>
                <a:lstStyle>
                  <a:lvl1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1pPr>
                  <a:lvl2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2pPr>
                  <a:lvl3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3pPr>
                  <a:lvl4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4pPr>
                  <a:lvl5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5pPr>
                  <a:lvl6pPr marL="0" marR="0" indent="4572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6pPr>
                  <a:lvl7pPr marL="0" marR="0" indent="9144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7pPr>
                  <a:lvl8pPr marL="0" marR="0" indent="13716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8pPr>
                  <a:lvl9pPr marL="0" marR="0" indent="18288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9pPr>
                </a:lstStyle>
                <a:p>
                  <a:pPr hangingPunct="1">
                    <a:defRPr sz="2800" b="1"/>
                  </a:pPr>
                  <a:r>
                    <a:rPr lang="en-I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QL</a:t>
                  </a:r>
                </a:p>
              </p:txBody>
            </p:sp>
          </p:grpSp>
        </p:grpSp>
        <p:sp>
          <p:nvSpPr>
            <p:cNvPr id="43" name="Line">
              <a:extLst>
                <a:ext uri="{FF2B5EF4-FFF2-40B4-BE49-F238E27FC236}">
                  <a16:creationId xmlns:a16="http://schemas.microsoft.com/office/drawing/2014/main" id="{204B4101-8926-3A4C-B3E2-2B7723262CBD}"/>
                </a:ext>
              </a:extLst>
            </p:cNvPr>
            <p:cNvSpPr/>
            <p:nvPr/>
          </p:nvSpPr>
          <p:spPr>
            <a:xfrm>
              <a:off x="4198991" y="5114766"/>
              <a:ext cx="4016785" cy="2907985"/>
            </a:xfrm>
            <a:custGeom>
              <a:avLst/>
              <a:gdLst>
                <a:gd name="connsiteX0" fmla="*/ 0 w 21600"/>
                <a:gd name="connsiteY0" fmla="*/ 21600 h 21600"/>
                <a:gd name="connsiteX1" fmla="*/ 3240 w 21600"/>
                <a:gd name="connsiteY1" fmla="*/ 18489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1600"/>
                <a:gd name="connsiteY0" fmla="*/ 21600 h 21600"/>
                <a:gd name="connsiteX1" fmla="*/ 3240 w 21600"/>
                <a:gd name="connsiteY1" fmla="*/ 18928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298 w 22958"/>
                <a:gd name="connsiteY2" fmla="*/ 1694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9083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21315 w 21315"/>
                <a:gd name="connsiteY3" fmla="*/ 0 h 21598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16849 w 21315"/>
                <a:gd name="connsiteY3" fmla="*/ 10716 h 21598"/>
                <a:gd name="connsiteX4" fmla="*/ 21315 w 21315"/>
                <a:gd name="connsiteY4" fmla="*/ 0 h 21598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849 w 18973"/>
                <a:gd name="connsiteY3" fmla="*/ 1232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263 w 18973"/>
                <a:gd name="connsiteY3" fmla="*/ 1170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5828 w 18973"/>
                <a:gd name="connsiteY3" fmla="*/ 11463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828 w 18973"/>
                <a:gd name="connsiteY4" fmla="*/ 11463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558 w 18973"/>
                <a:gd name="connsiteY4" fmla="*/ 10551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973" h="23210" extrusionOk="0">
                  <a:moveTo>
                    <a:pt x="0" y="23210"/>
                  </a:moveTo>
                  <a:cubicBezTo>
                    <a:pt x="666" y="22003"/>
                    <a:pt x="1378" y="21667"/>
                    <a:pt x="3240" y="20796"/>
                  </a:cubicBezTo>
                  <a:cubicBezTo>
                    <a:pt x="5102" y="19925"/>
                    <a:pt x="9401" y="19449"/>
                    <a:pt x="11175" y="17986"/>
                  </a:cubicBezTo>
                  <a:cubicBezTo>
                    <a:pt x="12949" y="16523"/>
                    <a:pt x="13417" y="14965"/>
                    <a:pt x="14089" y="13762"/>
                  </a:cubicBezTo>
                  <a:cubicBezTo>
                    <a:pt x="14744" y="12355"/>
                    <a:pt x="14613" y="12709"/>
                    <a:pt x="15472" y="10289"/>
                  </a:cubicBezTo>
                  <a:cubicBezTo>
                    <a:pt x="16973" y="6862"/>
                    <a:pt x="18137" y="1702"/>
                    <a:pt x="18973" y="0"/>
                  </a:cubicBezTo>
                </a:path>
              </a:pathLst>
            </a:custGeom>
            <a:ln w="76200">
              <a:solidFill>
                <a:schemeClr val="accent6">
                  <a:lumMod val="60000"/>
                  <a:lumOff val="40000"/>
                </a:schemeClr>
              </a:solidFill>
              <a:bevel/>
            </a:ln>
          </p:spPr>
          <p:txBody>
            <a:bodyPr lIns="65023" tIns="65023" rIns="65023" bIns="65023" anchor="ctr"/>
            <a:lstStyle/>
            <a:p>
              <a:pPr defTabSz="1300480">
                <a:def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145083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of AC Curve">
            <a:extLst>
              <a:ext uri="{FF2B5EF4-FFF2-40B4-BE49-F238E27FC236}">
                <a16:creationId xmlns:a16="http://schemas.microsoft.com/office/drawing/2014/main" id="{D55E3AB1-8FE8-F24E-8D27-467870D9744C}"/>
              </a:ext>
            </a:extLst>
          </p:cNvPr>
          <p:cNvSpPr txBox="1">
            <a:spLocks/>
          </p:cNvSpPr>
          <p:nvPr/>
        </p:nvSpPr>
        <p:spPr>
          <a:xfrm>
            <a:off x="127464" y="257787"/>
            <a:ext cx="591483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FIXED COSTS (AFC)</a:t>
            </a:r>
          </a:p>
        </p:txBody>
      </p:sp>
      <p:sp>
        <p:nvSpPr>
          <p:cNvPr id="6" name="Shape of AC Curve">
            <a:extLst>
              <a:ext uri="{FF2B5EF4-FFF2-40B4-BE49-F238E27FC236}">
                <a16:creationId xmlns:a16="http://schemas.microsoft.com/office/drawing/2014/main" id="{C46D5801-451D-C74B-8F1A-B34C8E53B63F}"/>
              </a:ext>
            </a:extLst>
          </p:cNvPr>
          <p:cNvSpPr txBox="1">
            <a:spLocks/>
          </p:cNvSpPr>
          <p:nvPr/>
        </p:nvSpPr>
        <p:spPr>
          <a:xfrm>
            <a:off x="6502400" y="251604"/>
            <a:ext cx="6279734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VARIABLE COSTS (AVC)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4169" y="6596974"/>
                <a:ext cx="2396833" cy="5139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𝐀𝐅𝐂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169" y="6596974"/>
                <a:ext cx="2396833" cy="513977"/>
              </a:xfrm>
              <a:prstGeom prst="rect">
                <a:avLst/>
              </a:prstGeom>
              <a:blipFill>
                <a:blip r:embed="rId2"/>
                <a:stretch>
                  <a:fillRect b="-2195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1546" y="7074159"/>
                <a:ext cx="2395269" cy="5139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𝐀𝐕𝐂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546" y="7074159"/>
                <a:ext cx="2395269" cy="513977"/>
              </a:xfrm>
              <a:prstGeom prst="rect">
                <a:avLst/>
              </a:prstGeom>
              <a:blipFill>
                <a:blip r:embed="rId3"/>
                <a:stretch>
                  <a:fillRect b="-2142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of AC Curve">
            <a:extLst>
              <a:ext uri="{FF2B5EF4-FFF2-40B4-BE49-F238E27FC236}">
                <a16:creationId xmlns:a16="http://schemas.microsoft.com/office/drawing/2014/main" id="{AE43BF86-FC87-C54F-9CE8-D3D50DCF0C28}"/>
              </a:ext>
            </a:extLst>
          </p:cNvPr>
          <p:cNvSpPr txBox="1">
            <a:spLocks/>
          </p:cNvSpPr>
          <p:nvPr/>
        </p:nvSpPr>
        <p:spPr>
          <a:xfrm>
            <a:off x="7171546" y="8025090"/>
            <a:ext cx="5021757" cy="623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 curve is nearly ‘J’ shaped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B089AF-4E29-2F45-A4FE-88E8AD93F111}"/>
              </a:ext>
            </a:extLst>
          </p:cNvPr>
          <p:cNvGrpSpPr/>
          <p:nvPr/>
        </p:nvGrpSpPr>
        <p:grpSpPr>
          <a:xfrm>
            <a:off x="6327369" y="2567004"/>
            <a:ext cx="5076005" cy="3142599"/>
            <a:chOff x="7099953" y="2213811"/>
            <a:chExt cx="5076005" cy="314259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8983747-942E-944B-8727-BDDA0F10199C}"/>
                </a:ext>
              </a:extLst>
            </p:cNvPr>
            <p:cNvGrpSpPr/>
            <p:nvPr/>
          </p:nvGrpSpPr>
          <p:grpSpPr>
            <a:xfrm>
              <a:off x="7965675" y="2213811"/>
              <a:ext cx="4210283" cy="2734710"/>
              <a:chOff x="1215251" y="2213810"/>
              <a:chExt cx="4210283" cy="273471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16C0E3A-1454-BD41-B323-F91570661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5251" y="2213810"/>
                <a:ext cx="54749" cy="273471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9ED624B-E668-1040-B248-CBB8F7C792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001" y="4912663"/>
                <a:ext cx="4155533" cy="2688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23" name="Shape of AC Curve">
              <a:extLst>
                <a:ext uri="{FF2B5EF4-FFF2-40B4-BE49-F238E27FC236}">
                  <a16:creationId xmlns:a16="http://schemas.microsoft.com/office/drawing/2014/main" id="{F640A297-C2BE-B943-9DF5-D1C90E2B61E8}"/>
                </a:ext>
              </a:extLst>
            </p:cNvPr>
            <p:cNvSpPr txBox="1">
              <a:spLocks/>
            </p:cNvSpPr>
            <p:nvPr/>
          </p:nvSpPr>
          <p:spPr>
            <a:xfrm>
              <a:off x="7099953" y="2297573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  <p:sp>
          <p:nvSpPr>
            <p:cNvPr id="24" name="Shape of AC Curve">
              <a:extLst>
                <a:ext uri="{FF2B5EF4-FFF2-40B4-BE49-F238E27FC236}">
                  <a16:creationId xmlns:a16="http://schemas.microsoft.com/office/drawing/2014/main" id="{66341092-324C-A34C-8990-73E14CCC12D5}"/>
                </a:ext>
              </a:extLst>
            </p:cNvPr>
            <p:cNvSpPr txBox="1">
              <a:spLocks/>
            </p:cNvSpPr>
            <p:nvPr/>
          </p:nvSpPr>
          <p:spPr>
            <a:xfrm>
              <a:off x="11331781" y="4926108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E7D32EF-D204-B24D-89FE-3357FDF0563B}"/>
                </a:ext>
              </a:extLst>
            </p:cNvPr>
            <p:cNvGrpSpPr/>
            <p:nvPr/>
          </p:nvGrpSpPr>
          <p:grpSpPr>
            <a:xfrm>
              <a:off x="8378432" y="2612676"/>
              <a:ext cx="3543881" cy="1851372"/>
              <a:chOff x="8378432" y="2612676"/>
              <a:chExt cx="3543881" cy="1851372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F0852D8-1151-C747-A135-37EEF7CD2640}"/>
                  </a:ext>
                </a:extLst>
              </p:cNvPr>
              <p:cNvSpPr/>
              <p:nvPr/>
            </p:nvSpPr>
            <p:spPr>
              <a:xfrm>
                <a:off x="8378432" y="2763602"/>
                <a:ext cx="2699704" cy="1700446"/>
              </a:xfrm>
              <a:custGeom>
                <a:avLst/>
                <a:gdLst>
                  <a:gd name="connsiteX0" fmla="*/ 0 w 2088107"/>
                  <a:gd name="connsiteY0" fmla="*/ 750626 h 1390326"/>
                  <a:gd name="connsiteX1" fmla="*/ 354842 w 2088107"/>
                  <a:gd name="connsiteY1" fmla="*/ 1378423 h 1390326"/>
                  <a:gd name="connsiteX2" fmla="*/ 1746913 w 2088107"/>
                  <a:gd name="connsiteY2" fmla="*/ 259307 h 1390326"/>
                  <a:gd name="connsiteX3" fmla="*/ 2088107 w 2088107"/>
                  <a:gd name="connsiteY3" fmla="*/ 0 h 1390326"/>
                  <a:gd name="connsiteX0" fmla="*/ 0 w 2088107"/>
                  <a:gd name="connsiteY0" fmla="*/ 750626 h 1379474"/>
                  <a:gd name="connsiteX1" fmla="*/ 354842 w 2088107"/>
                  <a:gd name="connsiteY1" fmla="*/ 1378423 h 1379474"/>
                  <a:gd name="connsiteX2" fmla="*/ 1394538 w 2088107"/>
                  <a:gd name="connsiteY2" fmla="*/ 883092 h 1379474"/>
                  <a:gd name="connsiteX3" fmla="*/ 1746913 w 2088107"/>
                  <a:gd name="connsiteY3" fmla="*/ 259307 h 1379474"/>
                  <a:gd name="connsiteX4" fmla="*/ 2088107 w 2088107"/>
                  <a:gd name="connsiteY4" fmla="*/ 0 h 1379474"/>
                  <a:gd name="connsiteX0" fmla="*/ 0 w 2088107"/>
                  <a:gd name="connsiteY0" fmla="*/ 750626 h 1379474"/>
                  <a:gd name="connsiteX1" fmla="*/ 354842 w 2088107"/>
                  <a:gd name="connsiteY1" fmla="*/ 1378423 h 1379474"/>
                  <a:gd name="connsiteX2" fmla="*/ 1394538 w 2088107"/>
                  <a:gd name="connsiteY2" fmla="*/ 883092 h 1379474"/>
                  <a:gd name="connsiteX3" fmla="*/ 1859290 w 2088107"/>
                  <a:gd name="connsiteY3" fmla="*/ 336791 h 1379474"/>
                  <a:gd name="connsiteX4" fmla="*/ 2088107 w 2088107"/>
                  <a:gd name="connsiteY4" fmla="*/ 0 h 1379474"/>
                  <a:gd name="connsiteX0" fmla="*/ 0 w 2222959"/>
                  <a:gd name="connsiteY0" fmla="*/ 772765 h 1379166"/>
                  <a:gd name="connsiteX1" fmla="*/ 489694 w 2222959"/>
                  <a:gd name="connsiteY1" fmla="*/ 1378423 h 1379166"/>
                  <a:gd name="connsiteX2" fmla="*/ 1529390 w 2222959"/>
                  <a:gd name="connsiteY2" fmla="*/ 883092 h 1379166"/>
                  <a:gd name="connsiteX3" fmla="*/ 1994142 w 2222959"/>
                  <a:gd name="connsiteY3" fmla="*/ 336791 h 1379166"/>
                  <a:gd name="connsiteX4" fmla="*/ 2222959 w 2222959"/>
                  <a:gd name="connsiteY4" fmla="*/ 0 h 1379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2959" h="1379166">
                    <a:moveTo>
                      <a:pt x="0" y="772765"/>
                    </a:moveTo>
                    <a:cubicBezTo>
                      <a:pt x="31845" y="1127607"/>
                      <a:pt x="234796" y="1360035"/>
                      <a:pt x="489694" y="1378423"/>
                    </a:cubicBezTo>
                    <a:cubicBezTo>
                      <a:pt x="744592" y="1396811"/>
                      <a:pt x="1297378" y="1069611"/>
                      <a:pt x="1529390" y="883092"/>
                    </a:cubicBezTo>
                    <a:cubicBezTo>
                      <a:pt x="1761402" y="696573"/>
                      <a:pt x="1878547" y="483973"/>
                      <a:pt x="1994142" y="336791"/>
                    </a:cubicBezTo>
                    <a:cubicBezTo>
                      <a:pt x="2109737" y="189609"/>
                      <a:pt x="2196800" y="14785"/>
                      <a:pt x="2222959" y="0"/>
                    </a:cubicBezTo>
                  </a:path>
                </a:pathLst>
              </a:custGeom>
              <a:noFill/>
              <a:ln w="38100" cap="flat">
                <a:solidFill>
                  <a:schemeClr val="tx1"/>
                </a:solidFill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Shape of AC Curve">
                <a:extLst>
                  <a:ext uri="{FF2B5EF4-FFF2-40B4-BE49-F238E27FC236}">
                    <a16:creationId xmlns:a16="http://schemas.microsoft.com/office/drawing/2014/main" id="{B20BD31D-CFBD-F849-8F1D-C13BFAE13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78136" y="2612676"/>
                <a:ext cx="844177" cy="430302"/>
              </a:xfrm>
              <a:prstGeom prst="rect">
                <a:avLst/>
              </a:prstGeom>
              <a:ln w="12700">
                <a:noFill/>
                <a:miter lim="400000"/>
                <a:headEnd type="triangle" w="med" len="med"/>
                <a:tailEnd type="none" w="med" len="med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7B234E-A0C5-244C-BB0E-B7A896BE1DA2}"/>
              </a:ext>
            </a:extLst>
          </p:cNvPr>
          <p:cNvGrpSpPr/>
          <p:nvPr/>
        </p:nvGrpSpPr>
        <p:grpSpPr>
          <a:xfrm>
            <a:off x="403009" y="1372925"/>
            <a:ext cx="6317754" cy="4153649"/>
            <a:chOff x="371075" y="1171388"/>
            <a:chExt cx="6317754" cy="415364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8C6C78-121B-A547-AA6B-0673654F2CB7}"/>
                </a:ext>
              </a:extLst>
            </p:cNvPr>
            <p:cNvCxnSpPr>
              <a:cxnSpLocks/>
            </p:cNvCxnSpPr>
            <p:nvPr/>
          </p:nvCxnSpPr>
          <p:spPr>
            <a:xfrm>
              <a:off x="1270000" y="2581835"/>
              <a:ext cx="0" cy="2366686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E89FF7C-8EBD-B340-A7B0-139869578B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0000" y="4939552"/>
              <a:ext cx="3131671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Shape of AC Curve">
              <a:extLst>
                <a:ext uri="{FF2B5EF4-FFF2-40B4-BE49-F238E27FC236}">
                  <a16:creationId xmlns:a16="http://schemas.microsoft.com/office/drawing/2014/main" id="{2EF86E41-C1E0-F746-8D96-4EF7FF354A9D}"/>
                </a:ext>
              </a:extLst>
            </p:cNvPr>
            <p:cNvSpPr txBox="1">
              <a:spLocks/>
            </p:cNvSpPr>
            <p:nvPr/>
          </p:nvSpPr>
          <p:spPr>
            <a:xfrm>
              <a:off x="371075" y="2518540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</a:t>
              </a:r>
            </a:p>
          </p:txBody>
        </p:sp>
        <p:sp>
          <p:nvSpPr>
            <p:cNvPr id="22" name="Shape of AC Curve">
              <a:extLst>
                <a:ext uri="{FF2B5EF4-FFF2-40B4-BE49-F238E27FC236}">
                  <a16:creationId xmlns:a16="http://schemas.microsoft.com/office/drawing/2014/main" id="{3A139F85-080F-6B4D-90D7-B52A41A03CBA}"/>
                </a:ext>
              </a:extLst>
            </p:cNvPr>
            <p:cNvSpPr txBox="1">
              <a:spLocks/>
            </p:cNvSpPr>
            <p:nvPr/>
          </p:nvSpPr>
          <p:spPr>
            <a:xfrm>
              <a:off x="3869018" y="4894735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881B5C5D-70C5-4D49-B0C5-0E41DE7031C4}"/>
                </a:ext>
              </a:extLst>
            </p:cNvPr>
            <p:cNvSpPr/>
            <p:nvPr/>
          </p:nvSpPr>
          <p:spPr>
            <a:xfrm flipH="1" flipV="1">
              <a:off x="1569492" y="1171388"/>
              <a:ext cx="5119337" cy="3600825"/>
            </a:xfrm>
            <a:prstGeom prst="arc">
              <a:avLst/>
            </a:prstGeom>
            <a:noFill/>
            <a:ln w="38100" cap="flat">
              <a:solidFill>
                <a:schemeClr val="accent5">
                  <a:lumMod val="75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Shape of AC Curve">
              <a:extLst>
                <a:ext uri="{FF2B5EF4-FFF2-40B4-BE49-F238E27FC236}">
                  <a16:creationId xmlns:a16="http://schemas.microsoft.com/office/drawing/2014/main" id="{9FEB59C4-8B17-AC42-A760-42DFB8045EA8}"/>
                </a:ext>
              </a:extLst>
            </p:cNvPr>
            <p:cNvSpPr txBox="1">
              <a:spLocks/>
            </p:cNvSpPr>
            <p:nvPr/>
          </p:nvSpPr>
          <p:spPr>
            <a:xfrm>
              <a:off x="3869018" y="4303059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</a:t>
              </a:r>
              <a:endPara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ED115401-A8A2-FD43-9C11-35D519E2B7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1265" y="5347343"/>
                <a:ext cx="3122753" cy="123384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𝐀𝐅𝐂</m:t>
                      </m:r>
                      <m:r>
                        <a:rPr lang="en-US" sz="28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𝑻𝑭𝑪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ED115401-A8A2-FD43-9C11-35D519E2B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65" y="5347343"/>
                <a:ext cx="3122753" cy="1233849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Shape of AC Curve">
                <a:extLst>
                  <a:ext uri="{FF2B5EF4-FFF2-40B4-BE49-F238E27FC236}">
                    <a16:creationId xmlns:a16="http://schemas.microsoft.com/office/drawing/2014/main" id="{6F047ECF-B519-EC42-89D6-877BEF536F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07803" y="5652378"/>
                <a:ext cx="3122753" cy="123384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𝐀𝐕𝐂</m:t>
                      </m:r>
                      <m:r>
                        <a:rPr lang="en-US" sz="28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𝑻𝑽𝑪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Shape of AC Curve">
                <a:extLst>
                  <a:ext uri="{FF2B5EF4-FFF2-40B4-BE49-F238E27FC236}">
                    <a16:creationId xmlns:a16="http://schemas.microsoft.com/office/drawing/2014/main" id="{6F047ECF-B519-EC42-89D6-877BEF536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803" y="5652378"/>
                <a:ext cx="3122753" cy="1233849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a14="http://schemas.microsoft.com/office/drawing/2010/main"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FC3B1F8-4532-5144-BE05-2E7D241791BE}"/>
              </a:ext>
            </a:extLst>
          </p:cNvPr>
          <p:cNvGrpSpPr/>
          <p:nvPr/>
        </p:nvGrpSpPr>
        <p:grpSpPr>
          <a:xfrm>
            <a:off x="1241341" y="7384561"/>
            <a:ext cx="5833864" cy="1739901"/>
            <a:chOff x="561789" y="7082998"/>
            <a:chExt cx="5833864" cy="1739901"/>
          </a:xfrm>
        </p:grpSpPr>
        <p:sp>
          <p:nvSpPr>
            <p:cNvPr id="33" name="Shape of AC Curve">
              <a:extLst>
                <a:ext uri="{FF2B5EF4-FFF2-40B4-BE49-F238E27FC236}">
                  <a16:creationId xmlns:a16="http://schemas.microsoft.com/office/drawing/2014/main" id="{B3DA1615-B43D-8E4F-95A7-6D55D0B2190B}"/>
                </a:ext>
              </a:extLst>
            </p:cNvPr>
            <p:cNvSpPr txBox="1">
              <a:spLocks/>
            </p:cNvSpPr>
            <p:nvPr/>
          </p:nvSpPr>
          <p:spPr>
            <a:xfrm>
              <a:off x="561789" y="7082998"/>
              <a:ext cx="3068515" cy="54713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algn="l"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 curve is : </a:t>
              </a:r>
            </a:p>
          </p:txBody>
        </p:sp>
        <p:sp>
          <p:nvSpPr>
            <p:cNvPr id="36" name="Shape of AC Curve">
              <a:extLst>
                <a:ext uri="{FF2B5EF4-FFF2-40B4-BE49-F238E27FC236}">
                  <a16:creationId xmlns:a16="http://schemas.microsoft.com/office/drawing/2014/main" id="{CFB410A7-CA64-1F41-8FC8-1E5A40AD5EA0}"/>
                </a:ext>
              </a:extLst>
            </p:cNvPr>
            <p:cNvSpPr txBox="1">
              <a:spLocks/>
            </p:cNvSpPr>
            <p:nvPr/>
          </p:nvSpPr>
          <p:spPr>
            <a:xfrm>
              <a:off x="592544" y="8252521"/>
              <a:ext cx="3191345" cy="5703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algn="l"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  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Asymptote</a:t>
              </a:r>
            </a:p>
          </p:txBody>
        </p:sp>
        <p:sp>
          <p:nvSpPr>
            <p:cNvPr id="39" name="Shape of AC Curve">
              <a:extLst>
                <a:ext uri="{FF2B5EF4-FFF2-40B4-BE49-F238E27FC236}">
                  <a16:creationId xmlns:a16="http://schemas.microsoft.com/office/drawing/2014/main" id="{5EECF236-4B73-DE43-9E01-126937B41BDE}"/>
                </a:ext>
              </a:extLst>
            </p:cNvPr>
            <p:cNvSpPr txBox="1">
              <a:spLocks/>
            </p:cNvSpPr>
            <p:nvPr/>
          </p:nvSpPr>
          <p:spPr>
            <a:xfrm>
              <a:off x="864954" y="7680768"/>
              <a:ext cx="5530699" cy="54713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algn="l"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Rectangular Hyperbola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43B21-F89F-6647-8DB0-49A85E01331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468325" y="8980324"/>
            <a:ext cx="205184" cy="348813"/>
          </a:xfrm>
        </p:spPr>
        <p:txBody>
          <a:bodyPr/>
          <a:lstStyle/>
          <a:p>
            <a:fld id="{86CB4B4D-7CA3-9044-876B-883B54F8677D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of AC Curve">
            <a:extLst>
              <a:ext uri="{FF2B5EF4-FFF2-40B4-BE49-F238E27FC236}">
                <a16:creationId xmlns:a16="http://schemas.microsoft.com/office/drawing/2014/main" id="{61E57BF7-3ABB-2947-A009-9209B9466F64}"/>
              </a:ext>
            </a:extLst>
          </p:cNvPr>
          <p:cNvSpPr txBox="1">
            <a:spLocks/>
          </p:cNvSpPr>
          <p:nvPr/>
        </p:nvSpPr>
        <p:spPr>
          <a:xfrm>
            <a:off x="403009" y="1460652"/>
            <a:ext cx="5671225" cy="74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Total Fixed Cost incurred per unit of the output produced</a:t>
            </a:r>
          </a:p>
        </p:txBody>
      </p:sp>
      <p:sp>
        <p:nvSpPr>
          <p:cNvPr id="41" name="Shape of AC Curve">
            <a:extLst>
              <a:ext uri="{FF2B5EF4-FFF2-40B4-BE49-F238E27FC236}">
                <a16:creationId xmlns:a16="http://schemas.microsoft.com/office/drawing/2014/main" id="{9700DDFF-EB9F-A44F-A4A0-1A4B6B12A2C5}"/>
              </a:ext>
            </a:extLst>
          </p:cNvPr>
          <p:cNvSpPr txBox="1">
            <a:spLocks/>
          </p:cNvSpPr>
          <p:nvPr/>
        </p:nvSpPr>
        <p:spPr>
          <a:xfrm>
            <a:off x="6839737" y="1481951"/>
            <a:ext cx="5671225" cy="74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Total Variable Cost incurred per unit of the output produced</a:t>
            </a:r>
          </a:p>
        </p:txBody>
      </p:sp>
    </p:spTree>
    <p:extLst>
      <p:ext uri="{BB962C8B-B14F-4D97-AF65-F5344CB8AC3E}">
        <p14:creationId xmlns:p14="http://schemas.microsoft.com/office/powerpoint/2010/main" val="380168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7" grpId="0" animBg="1"/>
      <p:bldP spid="38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3CE7B58-738F-DC47-9A92-43E666F671C2}"/>
              </a:ext>
            </a:extLst>
          </p:cNvPr>
          <p:cNvGrpSpPr/>
          <p:nvPr/>
        </p:nvGrpSpPr>
        <p:grpSpPr>
          <a:xfrm>
            <a:off x="3045016" y="728936"/>
            <a:ext cx="6866882" cy="7777248"/>
            <a:chOff x="3045016" y="728936"/>
            <a:chExt cx="6866882" cy="77772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F02DC4D-F949-9C4D-9BF5-8AA835F8B29A}"/>
                </a:ext>
              </a:extLst>
            </p:cNvPr>
            <p:cNvGrpSpPr/>
            <p:nvPr/>
          </p:nvGrpSpPr>
          <p:grpSpPr>
            <a:xfrm>
              <a:off x="3045016" y="4073431"/>
              <a:ext cx="6866882" cy="4432753"/>
              <a:chOff x="7345697" y="2791226"/>
              <a:chExt cx="4282274" cy="404519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46FF07E-92F1-8344-B8B2-7476316A9033}"/>
                  </a:ext>
                </a:extLst>
              </p:cNvPr>
              <p:cNvGrpSpPr/>
              <p:nvPr/>
            </p:nvGrpSpPr>
            <p:grpSpPr>
              <a:xfrm>
                <a:off x="7345697" y="3178244"/>
                <a:ext cx="4282274" cy="3658174"/>
                <a:chOff x="7381522" y="2796416"/>
                <a:chExt cx="4282274" cy="365817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28983747-942E-944B-8727-BDDA0F10199C}"/>
                    </a:ext>
                  </a:extLst>
                </p:cNvPr>
                <p:cNvGrpSpPr/>
                <p:nvPr/>
              </p:nvGrpSpPr>
              <p:grpSpPr>
                <a:xfrm>
                  <a:off x="8101352" y="2851055"/>
                  <a:ext cx="3107764" cy="3173233"/>
                  <a:chOff x="1261315" y="1775287"/>
                  <a:chExt cx="3107764" cy="3173233"/>
                </a:xfrm>
              </p:grpSpPr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616C0E3A-1454-BD41-B323-F91570661F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61315" y="1775287"/>
                    <a:ext cx="8686" cy="3173233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99ED624B-E668-1040-B248-CBB8F7C792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270001" y="4876908"/>
                    <a:ext cx="3099078" cy="44715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  <p:sp>
              <p:nvSpPr>
                <p:cNvPr id="23" name="Shape of AC Curve">
                  <a:extLst>
                    <a:ext uri="{FF2B5EF4-FFF2-40B4-BE49-F238E27FC236}">
                      <a16:creationId xmlns:a16="http://schemas.microsoft.com/office/drawing/2014/main" id="{F640A297-C2BE-B943-9DF5-D1C90E2B61E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381522" y="2796416"/>
                  <a:ext cx="84417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AVC</a:t>
                  </a:r>
                </a:p>
              </p:txBody>
            </p:sp>
            <p:sp>
              <p:nvSpPr>
                <p:cNvPr id="24" name="Shape of AC Curve">
                  <a:extLst>
                    <a:ext uri="{FF2B5EF4-FFF2-40B4-BE49-F238E27FC236}">
                      <a16:creationId xmlns:a16="http://schemas.microsoft.com/office/drawing/2014/main" id="{66341092-324C-A34C-8990-73E14CCC12D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0819619" y="6024288"/>
                  <a:ext cx="84417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QTY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26D74FA-6C5A-C844-AB45-D8FD0F0E7DC7}"/>
                  </a:ext>
                </a:extLst>
              </p:cNvPr>
              <p:cNvGrpSpPr/>
              <p:nvPr/>
            </p:nvGrpSpPr>
            <p:grpSpPr>
              <a:xfrm>
                <a:off x="8078006" y="5326122"/>
                <a:ext cx="386865" cy="1079994"/>
                <a:chOff x="8113865" y="4502780"/>
                <a:chExt cx="386865" cy="1079994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AD6139E-1D30-6A4A-9883-067F6B5910AB}"/>
                    </a:ext>
                  </a:extLst>
                </p:cNvPr>
                <p:cNvCxnSpPr>
                  <a:cxnSpLocks/>
                  <a:stCxn id="85" idx="0"/>
                </p:cNvCxnSpPr>
                <p:nvPr/>
              </p:nvCxnSpPr>
              <p:spPr>
                <a:xfrm flipH="1">
                  <a:off x="8433623" y="4502780"/>
                  <a:ext cx="1" cy="1079994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ysDash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1DC2359D-4350-9246-9E91-04AD607134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13865" y="4792489"/>
                      <a:ext cx="386865" cy="36512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oMath>
                        </m:oMathPara>
                      </a14:m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1DC2359D-4350-9246-9E91-04AD607134D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13865" y="4792489"/>
                      <a:ext cx="386865" cy="365128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0F7E461-E0D6-0947-9B13-5031D1427B2C}"/>
                  </a:ext>
                </a:extLst>
              </p:cNvPr>
              <p:cNvGrpSpPr/>
              <p:nvPr/>
            </p:nvGrpSpPr>
            <p:grpSpPr>
              <a:xfrm>
                <a:off x="8242383" y="2791226"/>
                <a:ext cx="777531" cy="3543278"/>
                <a:chOff x="8278242" y="1967884"/>
                <a:chExt cx="777531" cy="3543278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D315567-08F9-F346-8E2B-4F0300794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39625" y="1967884"/>
                  <a:ext cx="16148" cy="3543278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ysDash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27D7DDA-6CC5-5E4D-91F4-DC8BC04A7B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8242" y="3709285"/>
                      <a:ext cx="393863" cy="36512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d>
                          </m:oMath>
                        </m:oMathPara>
                      </a14:m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27D7DDA-6CC5-5E4D-91F4-DC8BC04A7B8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8242" y="3709285"/>
                      <a:ext cx="393863" cy="36512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7C54866-05E8-0D44-B1F3-BB1387BBE7E1}"/>
                  </a:ext>
                </a:extLst>
              </p:cNvPr>
              <p:cNvGrpSpPr/>
              <p:nvPr/>
            </p:nvGrpSpPr>
            <p:grpSpPr>
              <a:xfrm>
                <a:off x="9208096" y="2993028"/>
                <a:ext cx="660328" cy="3379376"/>
                <a:chOff x="9243955" y="2169686"/>
                <a:chExt cx="660328" cy="3379376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86FEAC3-524E-0044-8A00-E8EE31CA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00364" y="2169686"/>
                  <a:ext cx="3919" cy="3379376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ysDash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686C96ED-D416-294A-A011-50F4EFCAB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43955" y="3720200"/>
                      <a:ext cx="403860" cy="365128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</m:d>
                          </m:oMath>
                        </m:oMathPara>
                      </a14:m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686C96ED-D416-294A-A011-50F4EFCAB4E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43955" y="3720200"/>
                      <a:ext cx="403860" cy="36512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627C6B18-A7F7-5145-9600-87BD9BFBF66C}"/>
                      </a:ext>
                    </a:extLst>
                  </p:cNvPr>
                  <p:cNvSpPr/>
                  <p:nvPr/>
                </p:nvSpPr>
                <p:spPr>
                  <a:xfrm>
                    <a:off x="10325149" y="4444075"/>
                    <a:ext cx="387865" cy="36512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</m:oMath>
                      </m:oMathPara>
                    </a14:m>
                    <a:endPara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627C6B18-A7F7-5145-9600-87BD9BFBF6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25149" y="4444075"/>
                    <a:ext cx="387865" cy="36512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8CB9383-58BF-D143-852D-868B77E12B2F}"/>
                </a:ext>
              </a:extLst>
            </p:cNvPr>
            <p:cNvGrpSpPr/>
            <p:nvPr/>
          </p:nvGrpSpPr>
          <p:grpSpPr>
            <a:xfrm>
              <a:off x="3171656" y="728936"/>
              <a:ext cx="6170644" cy="3933630"/>
              <a:chOff x="386493" y="954217"/>
              <a:chExt cx="10602421" cy="7856835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57C9E078-A8C4-6C43-AEE1-099AD2513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36069" y="1073093"/>
                <a:ext cx="2" cy="7307480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6D120F59-8319-124C-83C4-576ECB97DE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73711" y="7895215"/>
                <a:ext cx="9106959" cy="29501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6A4091D-E982-D54C-B66B-D482774714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33931" y="3302104"/>
                <a:ext cx="46715" cy="4589400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lg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BB36473-1738-5A4E-93D1-1C9930492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2275" y="1240524"/>
                <a:ext cx="0" cy="6822277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lg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68048009-11E9-1340-9F04-7718FF648FF5}"/>
                  </a:ext>
                </a:extLst>
              </p:cNvPr>
              <p:cNvSpPr/>
              <p:nvPr/>
            </p:nvSpPr>
            <p:spPr>
              <a:xfrm flipH="1">
                <a:off x="4732045" y="1240524"/>
                <a:ext cx="4568249" cy="3943643"/>
              </a:xfrm>
              <a:prstGeom prst="arc">
                <a:avLst>
                  <a:gd name="adj1" fmla="val 16025725"/>
                  <a:gd name="adj2" fmla="val 200900"/>
                </a:avLst>
              </a:prstGeom>
              <a:noFill/>
              <a:ln w="57150" cap="flat">
                <a:solidFill>
                  <a:srgbClr val="0070C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30047" tIns="65023" rIns="130047" bIns="65023" numCol="1" spcCol="38100" rtlCol="0" anchor="t">
                <a:noAutofit/>
              </a:bodyPr>
              <a:lstStyle/>
              <a:p>
                <a:pPr algn="l" defTabSz="1300460" latinLnBrk="1"/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122A20B3-EB37-E04B-AC89-814EE970009F}"/>
                  </a:ext>
                </a:extLst>
              </p:cNvPr>
              <p:cNvSpPr/>
              <p:nvPr/>
            </p:nvSpPr>
            <p:spPr>
              <a:xfrm>
                <a:off x="2161540" y="3302104"/>
                <a:ext cx="2570503" cy="4650879"/>
              </a:xfrm>
              <a:custGeom>
                <a:avLst/>
                <a:gdLst>
                  <a:gd name="connsiteX0" fmla="*/ 0 w 2074606"/>
                  <a:gd name="connsiteY0" fmla="*/ 3224981 h 3224981"/>
                  <a:gd name="connsiteX1" fmla="*/ 235974 w 2074606"/>
                  <a:gd name="connsiteY1" fmla="*/ 2930013 h 3224981"/>
                  <a:gd name="connsiteX2" fmla="*/ 589935 w 2074606"/>
                  <a:gd name="connsiteY2" fmla="*/ 2526890 h 3224981"/>
                  <a:gd name="connsiteX3" fmla="*/ 2074606 w 2074606"/>
                  <a:gd name="connsiteY3" fmla="*/ 0 h 3224981"/>
                  <a:gd name="connsiteX4" fmla="*/ 2074606 w 2074606"/>
                  <a:gd name="connsiteY4" fmla="*/ 0 h 3224981"/>
                  <a:gd name="connsiteX0" fmla="*/ 0 w 2074606"/>
                  <a:gd name="connsiteY0" fmla="*/ 3224981 h 3224981"/>
                  <a:gd name="connsiteX1" fmla="*/ 235974 w 2074606"/>
                  <a:gd name="connsiteY1" fmla="*/ 2930013 h 3224981"/>
                  <a:gd name="connsiteX2" fmla="*/ 589935 w 2074606"/>
                  <a:gd name="connsiteY2" fmla="*/ 2526890 h 3224981"/>
                  <a:gd name="connsiteX3" fmla="*/ 1317523 w 2074606"/>
                  <a:gd name="connsiteY3" fmla="*/ 1854090 h 3224981"/>
                  <a:gd name="connsiteX4" fmla="*/ 2074606 w 2074606"/>
                  <a:gd name="connsiteY4" fmla="*/ 0 h 3224981"/>
                  <a:gd name="connsiteX5" fmla="*/ 2074606 w 2074606"/>
                  <a:gd name="connsiteY5" fmla="*/ 0 h 3224981"/>
                  <a:gd name="connsiteX0" fmla="*/ 0 w 2074606"/>
                  <a:gd name="connsiteY0" fmla="*/ 3224981 h 3224981"/>
                  <a:gd name="connsiteX1" fmla="*/ 235974 w 2074606"/>
                  <a:gd name="connsiteY1" fmla="*/ 2930013 h 3224981"/>
                  <a:gd name="connsiteX2" fmla="*/ 727586 w 2074606"/>
                  <a:gd name="connsiteY2" fmla="*/ 2536722 h 3224981"/>
                  <a:gd name="connsiteX3" fmla="*/ 1317523 w 2074606"/>
                  <a:gd name="connsiteY3" fmla="*/ 1854090 h 3224981"/>
                  <a:gd name="connsiteX4" fmla="*/ 2074606 w 2074606"/>
                  <a:gd name="connsiteY4" fmla="*/ 0 h 3224981"/>
                  <a:gd name="connsiteX5" fmla="*/ 2074606 w 2074606"/>
                  <a:gd name="connsiteY5" fmla="*/ 0 h 3224981"/>
                  <a:gd name="connsiteX0" fmla="*/ 0 w 2074606"/>
                  <a:gd name="connsiteY0" fmla="*/ 3224981 h 3224981"/>
                  <a:gd name="connsiteX1" fmla="*/ 285135 w 2074606"/>
                  <a:gd name="connsiteY1" fmla="*/ 2949678 h 3224981"/>
                  <a:gd name="connsiteX2" fmla="*/ 727586 w 2074606"/>
                  <a:gd name="connsiteY2" fmla="*/ 2536722 h 3224981"/>
                  <a:gd name="connsiteX3" fmla="*/ 1317523 w 2074606"/>
                  <a:gd name="connsiteY3" fmla="*/ 1854090 h 3224981"/>
                  <a:gd name="connsiteX4" fmla="*/ 2074606 w 2074606"/>
                  <a:gd name="connsiteY4" fmla="*/ 0 h 3224981"/>
                  <a:gd name="connsiteX5" fmla="*/ 2074606 w 2074606"/>
                  <a:gd name="connsiteY5" fmla="*/ 0 h 3224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4606" h="3224981">
                    <a:moveTo>
                      <a:pt x="0" y="3224981"/>
                    </a:moveTo>
                    <a:cubicBezTo>
                      <a:pt x="68826" y="3135671"/>
                      <a:pt x="163871" y="3064388"/>
                      <a:pt x="285135" y="2949678"/>
                    </a:cubicBezTo>
                    <a:cubicBezTo>
                      <a:pt x="406399" y="2834968"/>
                      <a:pt x="555521" y="2719320"/>
                      <a:pt x="727586" y="2536722"/>
                    </a:cubicBezTo>
                    <a:cubicBezTo>
                      <a:pt x="899651" y="2354124"/>
                      <a:pt x="1070078" y="2275238"/>
                      <a:pt x="1317523" y="1854090"/>
                    </a:cubicBezTo>
                    <a:cubicBezTo>
                      <a:pt x="1564968" y="1432942"/>
                      <a:pt x="1948426" y="309015"/>
                      <a:pt x="2074606" y="0"/>
                    </a:cubicBezTo>
                    <a:lnTo>
                      <a:pt x="2074606" y="0"/>
                    </a:lnTo>
                  </a:path>
                </a:pathLst>
              </a:custGeom>
              <a:noFill/>
              <a:ln w="57150" cap="flat">
                <a:solidFill>
                  <a:schemeClr val="accent3">
                    <a:lumMod val="5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30047" tIns="65023" rIns="130047" bIns="65023" numCol="1" spcCol="38100" rtlCol="0" anchor="t">
                <a:noAutofit/>
              </a:bodyPr>
              <a:lstStyle/>
              <a:p>
                <a:pPr algn="l" defTabSz="1300460" latinLnBrk="1"/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DB75BDC1-A3E5-6846-87A9-6602589F9954}"/>
                  </a:ext>
                </a:extLst>
              </p:cNvPr>
              <p:cNvSpPr/>
              <p:nvPr/>
            </p:nvSpPr>
            <p:spPr>
              <a:xfrm rot="5679561" flipH="1">
                <a:off x="4310624" y="1344437"/>
                <a:ext cx="5469541" cy="5265235"/>
              </a:xfrm>
              <a:prstGeom prst="arc">
                <a:avLst>
                  <a:gd name="adj1" fmla="val 18246209"/>
                  <a:gd name="adj2" fmla="val 200900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30047" tIns="65023" rIns="130047" bIns="65023" numCol="1" spcCol="38100" rtlCol="0" anchor="t">
                <a:noAutofit/>
              </a:bodyPr>
              <a:lstStyle/>
              <a:p>
                <a:pPr algn="l" defTabSz="1300460" latinLnBrk="1"/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Curves for  The Law of Variable Proportions">
                <a:extLst>
                  <a:ext uri="{FF2B5EF4-FFF2-40B4-BE49-F238E27FC236}">
                    <a16:creationId xmlns:a16="http://schemas.microsoft.com/office/drawing/2014/main" id="{21AB87B8-EBBA-4D43-8FBB-49C4E5A211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493" y="954217"/>
                <a:ext cx="1400238" cy="7050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lIns="65023" rIns="65023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TPP</a:t>
                </a:r>
              </a:p>
            </p:txBody>
          </p:sp>
          <p:sp>
            <p:nvSpPr>
              <p:cNvPr id="63" name="Curves for  The Law of Variable Proportions">
                <a:extLst>
                  <a:ext uri="{FF2B5EF4-FFF2-40B4-BE49-F238E27FC236}">
                    <a16:creationId xmlns:a16="http://schemas.microsoft.com/office/drawing/2014/main" id="{B92A81F5-BA03-684D-922B-5EF370E60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70539" y="8175511"/>
                <a:ext cx="918375" cy="63554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lIns="65023" rIns="65023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QL</a:t>
                </a:r>
              </a:p>
            </p:txBody>
          </p: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A5F83EA-A435-114C-B2B4-2E6E2F91BA15}"/>
              </a:ext>
            </a:extLst>
          </p:cNvPr>
          <p:cNvGrpSpPr/>
          <p:nvPr/>
        </p:nvGrpSpPr>
        <p:grpSpPr>
          <a:xfrm>
            <a:off x="4732068" y="4592229"/>
            <a:ext cx="4066163" cy="2837546"/>
            <a:chOff x="8586155" y="1633105"/>
            <a:chExt cx="4066163" cy="2837546"/>
          </a:xfrm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C5DC2E7-96EE-B641-ABCE-CFD2ADBA9D7A}"/>
                </a:ext>
              </a:extLst>
            </p:cNvPr>
            <p:cNvSpPr/>
            <p:nvPr/>
          </p:nvSpPr>
          <p:spPr>
            <a:xfrm>
              <a:off x="8586155" y="1698534"/>
              <a:ext cx="3290559" cy="2772117"/>
            </a:xfrm>
            <a:custGeom>
              <a:avLst/>
              <a:gdLst>
                <a:gd name="connsiteX0" fmla="*/ 0 w 2088107"/>
                <a:gd name="connsiteY0" fmla="*/ 750626 h 1390326"/>
                <a:gd name="connsiteX1" fmla="*/ 354842 w 2088107"/>
                <a:gd name="connsiteY1" fmla="*/ 1378423 h 1390326"/>
                <a:gd name="connsiteX2" fmla="*/ 1746913 w 2088107"/>
                <a:gd name="connsiteY2" fmla="*/ 259307 h 1390326"/>
                <a:gd name="connsiteX3" fmla="*/ 2088107 w 2088107"/>
                <a:gd name="connsiteY3" fmla="*/ 0 h 1390326"/>
                <a:gd name="connsiteX0" fmla="*/ 0 w 2088107"/>
                <a:gd name="connsiteY0" fmla="*/ 750626 h 1379474"/>
                <a:gd name="connsiteX1" fmla="*/ 354842 w 2088107"/>
                <a:gd name="connsiteY1" fmla="*/ 1378423 h 1379474"/>
                <a:gd name="connsiteX2" fmla="*/ 1394538 w 2088107"/>
                <a:gd name="connsiteY2" fmla="*/ 883092 h 1379474"/>
                <a:gd name="connsiteX3" fmla="*/ 1746913 w 2088107"/>
                <a:gd name="connsiteY3" fmla="*/ 259307 h 1379474"/>
                <a:gd name="connsiteX4" fmla="*/ 2088107 w 2088107"/>
                <a:gd name="connsiteY4" fmla="*/ 0 h 1379474"/>
                <a:gd name="connsiteX0" fmla="*/ 0 w 2088107"/>
                <a:gd name="connsiteY0" fmla="*/ 750626 h 1379474"/>
                <a:gd name="connsiteX1" fmla="*/ 354842 w 2088107"/>
                <a:gd name="connsiteY1" fmla="*/ 1378423 h 1379474"/>
                <a:gd name="connsiteX2" fmla="*/ 1394538 w 2088107"/>
                <a:gd name="connsiteY2" fmla="*/ 883092 h 1379474"/>
                <a:gd name="connsiteX3" fmla="*/ 1859290 w 2088107"/>
                <a:gd name="connsiteY3" fmla="*/ 336791 h 1379474"/>
                <a:gd name="connsiteX4" fmla="*/ 2088107 w 2088107"/>
                <a:gd name="connsiteY4" fmla="*/ 0 h 1379474"/>
                <a:gd name="connsiteX0" fmla="*/ 0 w 2222959"/>
                <a:gd name="connsiteY0" fmla="*/ 772765 h 1379166"/>
                <a:gd name="connsiteX1" fmla="*/ 489694 w 2222959"/>
                <a:gd name="connsiteY1" fmla="*/ 1378423 h 1379166"/>
                <a:gd name="connsiteX2" fmla="*/ 1529390 w 2222959"/>
                <a:gd name="connsiteY2" fmla="*/ 883092 h 1379166"/>
                <a:gd name="connsiteX3" fmla="*/ 1994142 w 2222959"/>
                <a:gd name="connsiteY3" fmla="*/ 336791 h 1379166"/>
                <a:gd name="connsiteX4" fmla="*/ 2222959 w 2222959"/>
                <a:gd name="connsiteY4" fmla="*/ 0 h 1379166"/>
                <a:gd name="connsiteX0" fmla="*/ 0 w 2173385"/>
                <a:gd name="connsiteY0" fmla="*/ 1011105 h 1383415"/>
                <a:gd name="connsiteX1" fmla="*/ 440120 w 2173385"/>
                <a:gd name="connsiteY1" fmla="*/ 1378423 h 1383415"/>
                <a:gd name="connsiteX2" fmla="*/ 1479816 w 2173385"/>
                <a:gd name="connsiteY2" fmla="*/ 883092 h 1383415"/>
                <a:gd name="connsiteX3" fmla="*/ 1944568 w 2173385"/>
                <a:gd name="connsiteY3" fmla="*/ 336791 h 1383415"/>
                <a:gd name="connsiteX4" fmla="*/ 2173385 w 2173385"/>
                <a:gd name="connsiteY4" fmla="*/ 0 h 1383415"/>
                <a:gd name="connsiteX0" fmla="*/ 0 w 2367173"/>
                <a:gd name="connsiteY0" fmla="*/ 1506404 h 1878714"/>
                <a:gd name="connsiteX1" fmla="*/ 440120 w 2367173"/>
                <a:gd name="connsiteY1" fmla="*/ 1873722 h 1878714"/>
                <a:gd name="connsiteX2" fmla="*/ 1479816 w 2367173"/>
                <a:gd name="connsiteY2" fmla="*/ 1378391 h 1878714"/>
                <a:gd name="connsiteX3" fmla="*/ 1944568 w 2367173"/>
                <a:gd name="connsiteY3" fmla="*/ 832090 h 1878714"/>
                <a:gd name="connsiteX4" fmla="*/ 2367173 w 2367173"/>
                <a:gd name="connsiteY4" fmla="*/ 0 h 1878714"/>
                <a:gd name="connsiteX0" fmla="*/ 0 w 2562415"/>
                <a:gd name="connsiteY0" fmla="*/ 1411501 h 1783811"/>
                <a:gd name="connsiteX1" fmla="*/ 440120 w 2562415"/>
                <a:gd name="connsiteY1" fmla="*/ 1778819 h 1783811"/>
                <a:gd name="connsiteX2" fmla="*/ 1479816 w 2562415"/>
                <a:gd name="connsiteY2" fmla="*/ 1283488 h 1783811"/>
                <a:gd name="connsiteX3" fmla="*/ 1944568 w 2562415"/>
                <a:gd name="connsiteY3" fmla="*/ 737187 h 1783811"/>
                <a:gd name="connsiteX4" fmla="*/ 2562415 w 2562415"/>
                <a:gd name="connsiteY4" fmla="*/ 0 h 1783811"/>
                <a:gd name="connsiteX0" fmla="*/ 0 w 2562415"/>
                <a:gd name="connsiteY0" fmla="*/ 1411501 h 1783811"/>
                <a:gd name="connsiteX1" fmla="*/ 440120 w 2562415"/>
                <a:gd name="connsiteY1" fmla="*/ 1778819 h 1783811"/>
                <a:gd name="connsiteX2" fmla="*/ 1479816 w 2562415"/>
                <a:gd name="connsiteY2" fmla="*/ 1283488 h 1783811"/>
                <a:gd name="connsiteX3" fmla="*/ 1944568 w 2562415"/>
                <a:gd name="connsiteY3" fmla="*/ 737187 h 1783811"/>
                <a:gd name="connsiteX4" fmla="*/ 2562415 w 2562415"/>
                <a:gd name="connsiteY4" fmla="*/ 0 h 1783811"/>
                <a:gd name="connsiteX0" fmla="*/ 0 w 2562415"/>
                <a:gd name="connsiteY0" fmla="*/ 1411501 h 1783811"/>
                <a:gd name="connsiteX1" fmla="*/ 440120 w 2562415"/>
                <a:gd name="connsiteY1" fmla="*/ 1778819 h 1783811"/>
                <a:gd name="connsiteX2" fmla="*/ 1479816 w 2562415"/>
                <a:gd name="connsiteY2" fmla="*/ 1283488 h 1783811"/>
                <a:gd name="connsiteX3" fmla="*/ 2024961 w 2562415"/>
                <a:gd name="connsiteY3" fmla="*/ 775148 h 1783811"/>
                <a:gd name="connsiteX4" fmla="*/ 2562415 w 2562415"/>
                <a:gd name="connsiteY4" fmla="*/ 0 h 1783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415" h="1783811">
                  <a:moveTo>
                    <a:pt x="0" y="1411501"/>
                  </a:moveTo>
                  <a:cubicBezTo>
                    <a:pt x="31845" y="1766343"/>
                    <a:pt x="193484" y="1800155"/>
                    <a:pt x="440120" y="1778819"/>
                  </a:cubicBezTo>
                  <a:cubicBezTo>
                    <a:pt x="686756" y="1757484"/>
                    <a:pt x="1215676" y="1450766"/>
                    <a:pt x="1479816" y="1283488"/>
                  </a:cubicBezTo>
                  <a:cubicBezTo>
                    <a:pt x="1743956" y="1116210"/>
                    <a:pt x="1909366" y="922330"/>
                    <a:pt x="2024961" y="775148"/>
                  </a:cubicBezTo>
                  <a:cubicBezTo>
                    <a:pt x="2140556" y="627966"/>
                    <a:pt x="2536256" y="14785"/>
                    <a:pt x="2562415" y="0"/>
                  </a:cubicBezTo>
                </a:path>
              </a:pathLst>
            </a:custGeom>
            <a:noFill/>
            <a:ln w="38100" cap="flat">
              <a:solidFill>
                <a:schemeClr val="tx1"/>
              </a:solidFill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Shape of AC Curve">
              <a:extLst>
                <a:ext uri="{FF2B5EF4-FFF2-40B4-BE49-F238E27FC236}">
                  <a16:creationId xmlns:a16="http://schemas.microsoft.com/office/drawing/2014/main" id="{F6F58E5E-725F-0A43-9ADE-67AEBF5F0A31}"/>
                </a:ext>
              </a:extLst>
            </p:cNvPr>
            <p:cNvSpPr txBox="1">
              <a:spLocks/>
            </p:cNvSpPr>
            <p:nvPr/>
          </p:nvSpPr>
          <p:spPr>
            <a:xfrm>
              <a:off x="11808141" y="1633105"/>
              <a:ext cx="844177" cy="430302"/>
            </a:xfrm>
            <a:prstGeom prst="rect">
              <a:avLst/>
            </a:prstGeom>
            <a:ln w="12700">
              <a:noFill/>
              <a:miter lim="400000"/>
              <a:headEnd type="triangle" w="med" len="med"/>
              <a:tailEnd type="none" w="med" len="med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0B6BCC2-AAF3-074D-B44C-4FA9D1FBC2B2}"/>
              </a:ext>
            </a:extLst>
          </p:cNvPr>
          <p:cNvCxnSpPr>
            <a:cxnSpLocks/>
          </p:cNvCxnSpPr>
          <p:nvPr/>
        </p:nvCxnSpPr>
        <p:spPr>
          <a:xfrm flipH="1">
            <a:off x="4624533" y="6861091"/>
            <a:ext cx="107830" cy="305826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Curves for  The Law of Variable Proportions">
            <a:extLst>
              <a:ext uri="{FF2B5EF4-FFF2-40B4-BE49-F238E27FC236}">
                <a16:creationId xmlns:a16="http://schemas.microsoft.com/office/drawing/2014/main" id="{8FF7ECB3-4871-CB40-8D0A-B30BEC6957A6}"/>
              </a:ext>
            </a:extLst>
          </p:cNvPr>
          <p:cNvSpPr txBox="1">
            <a:spLocks/>
          </p:cNvSpPr>
          <p:nvPr/>
        </p:nvSpPr>
        <p:spPr>
          <a:xfrm>
            <a:off x="8040582" y="1851502"/>
            <a:ext cx="1294609" cy="325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65023" rIns="65023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</a:p>
        </p:txBody>
      </p:sp>
    </p:spTree>
    <p:extLst>
      <p:ext uri="{BB962C8B-B14F-4D97-AF65-F5344CB8AC3E}">
        <p14:creationId xmlns:p14="http://schemas.microsoft.com/office/powerpoint/2010/main" val="37765532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AF0B-8168-793F-1196-1D620996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of AC Curve">
            <a:extLst>
              <a:ext uri="{FF2B5EF4-FFF2-40B4-BE49-F238E27FC236}">
                <a16:creationId xmlns:a16="http://schemas.microsoft.com/office/drawing/2014/main" id="{26D2B81A-846D-A1DE-A1C7-BCA03050AAA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58660" y="53433"/>
            <a:ext cx="2873486" cy="57672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TOTAL COST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F96ACAAA-3ABF-F488-96AB-821412BCDD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9624" y="1654429"/>
                <a:ext cx="2902710" cy="6454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𝐓𝐂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𝑻𝑭𝑪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𝑻𝑽𝑪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F96ACAAA-3ABF-F488-96AB-821412BCD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24" y="1654429"/>
                <a:ext cx="2902710" cy="645435"/>
              </a:xfrm>
              <a:prstGeom prst="rect">
                <a:avLst/>
              </a:prstGeom>
              <a:blipFill>
                <a:blip r:embed="rId3"/>
                <a:stretch>
                  <a:fillRect l="-437" r="-43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of AC Curve">
            <a:extLst>
              <a:ext uri="{FF2B5EF4-FFF2-40B4-BE49-F238E27FC236}">
                <a16:creationId xmlns:a16="http://schemas.microsoft.com/office/drawing/2014/main" id="{61DF35EF-195E-3FD5-0685-4C85812E46BE}"/>
              </a:ext>
            </a:extLst>
          </p:cNvPr>
          <p:cNvSpPr txBox="1">
            <a:spLocks/>
          </p:cNvSpPr>
          <p:nvPr/>
        </p:nvSpPr>
        <p:spPr>
          <a:xfrm>
            <a:off x="7762420" y="3716297"/>
            <a:ext cx="4785760" cy="1535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 curve shares the vertical intercept with TFC; </a:t>
            </a:r>
          </a:p>
          <a:p>
            <a:pPr algn="just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i.e., TC curve starts at point F</a:t>
            </a:r>
          </a:p>
        </p:txBody>
      </p:sp>
      <p:sp>
        <p:nvSpPr>
          <p:cNvPr id="96" name="Shape of AC Curve">
            <a:extLst>
              <a:ext uri="{FF2B5EF4-FFF2-40B4-BE49-F238E27FC236}">
                <a16:creationId xmlns:a16="http://schemas.microsoft.com/office/drawing/2014/main" id="{FD89A819-361D-FADE-0DA9-9FFB7F9C5066}"/>
              </a:ext>
            </a:extLst>
          </p:cNvPr>
          <p:cNvSpPr txBox="1">
            <a:spLocks/>
          </p:cNvSpPr>
          <p:nvPr/>
        </p:nvSpPr>
        <p:spPr>
          <a:xfrm>
            <a:off x="7789624" y="6255302"/>
            <a:ext cx="4921307" cy="841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92500"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 curve is shaped by TVC;  </a:t>
            </a:r>
          </a:p>
          <a:p>
            <a:pPr algn="l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i.e., TVC’  =  MC  </a:t>
            </a:r>
          </a:p>
        </p:txBody>
      </p:sp>
      <p:sp>
        <p:nvSpPr>
          <p:cNvPr id="97" name="Shape of AC Curve">
            <a:extLst>
              <a:ext uri="{FF2B5EF4-FFF2-40B4-BE49-F238E27FC236}">
                <a16:creationId xmlns:a16="http://schemas.microsoft.com/office/drawing/2014/main" id="{38BD823D-62B3-E00F-37A8-BDABE6CFE94D}"/>
              </a:ext>
            </a:extLst>
          </p:cNvPr>
          <p:cNvSpPr txBox="1">
            <a:spLocks/>
          </p:cNvSpPr>
          <p:nvPr/>
        </p:nvSpPr>
        <p:spPr>
          <a:xfrm>
            <a:off x="7723961" y="5393583"/>
            <a:ext cx="4969746" cy="680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 curve is positioned by TFC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Shape of AC Curve">
                <a:extLst>
                  <a:ext uri="{FF2B5EF4-FFF2-40B4-BE49-F238E27FC236}">
                    <a16:creationId xmlns:a16="http://schemas.microsoft.com/office/drawing/2014/main" id="{6A643062-3731-D135-AB0F-AE9810AFC3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23961" y="2466545"/>
                <a:ext cx="3003592" cy="135589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𝐓𝐂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𝒅𝒒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Shape of AC Curve">
                <a:extLst>
                  <a:ext uri="{FF2B5EF4-FFF2-40B4-BE49-F238E27FC236}">
                    <a16:creationId xmlns:a16="http://schemas.microsoft.com/office/drawing/2014/main" id="{6A643062-3731-D135-AB0F-AE9810AFC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961" y="2466545"/>
                <a:ext cx="3003592" cy="1355898"/>
              </a:xfrm>
              <a:prstGeom prst="rect">
                <a:avLst/>
              </a:prstGeom>
              <a:blipFill>
                <a:blip r:embed="rId4"/>
                <a:stretch>
                  <a:fillRect l="-14346" t="-116822" b="-17757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C3E52C9-E5F3-D44A-C8AD-BCADE19D5EB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9660" y="9300292"/>
            <a:ext cx="368504" cy="381000"/>
          </a:xfrm>
        </p:spPr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 dirty="0"/>
          </a:p>
        </p:txBody>
      </p:sp>
      <p:sp>
        <p:nvSpPr>
          <p:cNvPr id="67" name="Shape of AC Curve">
            <a:extLst>
              <a:ext uri="{FF2B5EF4-FFF2-40B4-BE49-F238E27FC236}">
                <a16:creationId xmlns:a16="http://schemas.microsoft.com/office/drawing/2014/main" id="{838CAC39-DB0B-3FC5-CDF0-9041FA9D78B5}"/>
              </a:ext>
            </a:extLst>
          </p:cNvPr>
          <p:cNvSpPr txBox="1">
            <a:spLocks/>
          </p:cNvSpPr>
          <p:nvPr/>
        </p:nvSpPr>
        <p:spPr>
          <a:xfrm>
            <a:off x="1395449" y="915954"/>
            <a:ext cx="10075810" cy="502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overall Cost incurred in producing a given output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192C76-F69D-DF04-9F99-B9776F64D386}"/>
              </a:ext>
            </a:extLst>
          </p:cNvPr>
          <p:cNvGrpSpPr/>
          <p:nvPr/>
        </p:nvGrpSpPr>
        <p:grpSpPr>
          <a:xfrm>
            <a:off x="44219" y="1932865"/>
            <a:ext cx="7139652" cy="6624992"/>
            <a:chOff x="415439" y="2465070"/>
            <a:chExt cx="7139652" cy="6624992"/>
          </a:xfrm>
        </p:grpSpPr>
        <p:sp>
          <p:nvSpPr>
            <p:cNvPr id="21" name="Shape of AC Curve">
              <a:extLst>
                <a:ext uri="{FF2B5EF4-FFF2-40B4-BE49-F238E27FC236}">
                  <a16:creationId xmlns:a16="http://schemas.microsoft.com/office/drawing/2014/main" id="{BDEA9C2E-B133-840A-CB41-EA70A03E0F85}"/>
                </a:ext>
              </a:extLst>
            </p:cNvPr>
            <p:cNvSpPr txBox="1">
              <a:spLocks/>
            </p:cNvSpPr>
            <p:nvPr/>
          </p:nvSpPr>
          <p:spPr>
            <a:xfrm>
              <a:off x="464171" y="2855487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TFC</a:t>
              </a:r>
            </a:p>
          </p:txBody>
        </p:sp>
        <p:sp>
          <p:nvSpPr>
            <p:cNvPr id="22" name="Shape of AC Curve">
              <a:extLst>
                <a:ext uri="{FF2B5EF4-FFF2-40B4-BE49-F238E27FC236}">
                  <a16:creationId xmlns:a16="http://schemas.microsoft.com/office/drawing/2014/main" id="{98A7A5FC-BE1C-0D91-3A8A-2C67A794176E}"/>
                </a:ext>
              </a:extLst>
            </p:cNvPr>
            <p:cNvSpPr txBox="1">
              <a:spLocks/>
            </p:cNvSpPr>
            <p:nvPr/>
          </p:nvSpPr>
          <p:spPr>
            <a:xfrm>
              <a:off x="6710914" y="8659760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23" name="Shape of AC Curve">
              <a:extLst>
                <a:ext uri="{FF2B5EF4-FFF2-40B4-BE49-F238E27FC236}">
                  <a16:creationId xmlns:a16="http://schemas.microsoft.com/office/drawing/2014/main" id="{30FDBA43-0BCB-62FA-3029-2158BFBC8988}"/>
                </a:ext>
              </a:extLst>
            </p:cNvPr>
            <p:cNvSpPr txBox="1">
              <a:spLocks/>
            </p:cNvSpPr>
            <p:nvPr/>
          </p:nvSpPr>
          <p:spPr>
            <a:xfrm>
              <a:off x="464170" y="3230769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TVC</a:t>
              </a:r>
            </a:p>
          </p:txBody>
        </p:sp>
        <p:sp>
          <p:nvSpPr>
            <p:cNvPr id="40" name="Shape of AC Curve">
              <a:extLst>
                <a:ext uri="{FF2B5EF4-FFF2-40B4-BE49-F238E27FC236}">
                  <a16:creationId xmlns:a16="http://schemas.microsoft.com/office/drawing/2014/main" id="{CC57D66C-DEC5-2F25-D81C-DC9345DB0967}"/>
                </a:ext>
              </a:extLst>
            </p:cNvPr>
            <p:cNvSpPr txBox="1">
              <a:spLocks/>
            </p:cNvSpPr>
            <p:nvPr/>
          </p:nvSpPr>
          <p:spPr>
            <a:xfrm>
              <a:off x="415439" y="2465070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2F0CC8-65F0-1156-8501-A517D3FD1EC1}"/>
                </a:ext>
              </a:extLst>
            </p:cNvPr>
            <p:cNvGrpSpPr/>
            <p:nvPr/>
          </p:nvGrpSpPr>
          <p:grpSpPr>
            <a:xfrm>
              <a:off x="1270000" y="2465070"/>
              <a:ext cx="6154381" cy="6194690"/>
              <a:chOff x="1269999" y="2166532"/>
              <a:chExt cx="3131671" cy="2798519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5D343F8-747C-1760-8066-D8AEE58A86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382" y="2166532"/>
                <a:ext cx="0" cy="2798519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E5527B7-3FBB-DE8F-5D40-58A80AC787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69999" y="4948521"/>
                <a:ext cx="3131671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  <a:tailEnd type="non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2CDF2C-047D-8838-7000-7536DB505193}"/>
              </a:ext>
            </a:extLst>
          </p:cNvPr>
          <p:cNvGrpSpPr/>
          <p:nvPr/>
        </p:nvGrpSpPr>
        <p:grpSpPr>
          <a:xfrm>
            <a:off x="238899" y="6135648"/>
            <a:ext cx="7077982" cy="443794"/>
            <a:chOff x="644157" y="7060130"/>
            <a:chExt cx="7077982" cy="44379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56ED6C-50F0-6445-41F6-87EEBA66AC1C}"/>
                </a:ext>
              </a:extLst>
            </p:cNvPr>
            <p:cNvCxnSpPr>
              <a:cxnSpLocks/>
            </p:cNvCxnSpPr>
            <p:nvPr/>
          </p:nvCxnSpPr>
          <p:spPr>
            <a:xfrm>
              <a:off x="1296752" y="7268305"/>
              <a:ext cx="5581210" cy="6976"/>
            </a:xfrm>
            <a:prstGeom prst="line">
              <a:avLst/>
            </a:prstGeom>
            <a:noFill/>
            <a:ln w="57150" cap="flat">
              <a:solidFill>
                <a:schemeClr val="accent5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4" name="Shape of AC Curve">
              <a:extLst>
                <a:ext uri="{FF2B5EF4-FFF2-40B4-BE49-F238E27FC236}">
                  <a16:creationId xmlns:a16="http://schemas.microsoft.com/office/drawing/2014/main" id="{301B5E27-FAF7-B6A1-BA1D-896A76F8C8AE}"/>
                </a:ext>
              </a:extLst>
            </p:cNvPr>
            <p:cNvSpPr txBox="1">
              <a:spLocks/>
            </p:cNvSpPr>
            <p:nvPr/>
          </p:nvSpPr>
          <p:spPr>
            <a:xfrm>
              <a:off x="6877962" y="7073622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TFC</a:t>
              </a:r>
            </a:p>
          </p:txBody>
        </p:sp>
        <p:sp>
          <p:nvSpPr>
            <p:cNvPr id="42" name="Shape of AC Curve">
              <a:extLst>
                <a:ext uri="{FF2B5EF4-FFF2-40B4-BE49-F238E27FC236}">
                  <a16:creationId xmlns:a16="http://schemas.microsoft.com/office/drawing/2014/main" id="{0B881985-6730-61AA-17F3-DA17F11CD4B3}"/>
                </a:ext>
              </a:extLst>
            </p:cNvPr>
            <p:cNvSpPr txBox="1">
              <a:spLocks/>
            </p:cNvSpPr>
            <p:nvPr/>
          </p:nvSpPr>
          <p:spPr>
            <a:xfrm>
              <a:off x="644157" y="7060130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446A67C-CF63-9217-8398-05520C3596C9}"/>
              </a:ext>
            </a:extLst>
          </p:cNvPr>
          <p:cNvGrpSpPr/>
          <p:nvPr/>
        </p:nvGrpSpPr>
        <p:grpSpPr>
          <a:xfrm>
            <a:off x="918989" y="2503667"/>
            <a:ext cx="5924778" cy="3826901"/>
            <a:chOff x="1594332" y="1505764"/>
            <a:chExt cx="5924778" cy="3826901"/>
          </a:xfrm>
        </p:grpSpPr>
        <p:sp>
          <p:nvSpPr>
            <p:cNvPr id="74" name="Shape of AC Curve">
              <a:extLst>
                <a:ext uri="{FF2B5EF4-FFF2-40B4-BE49-F238E27FC236}">
                  <a16:creationId xmlns:a16="http://schemas.microsoft.com/office/drawing/2014/main" id="{F1055399-1FA8-563F-A929-34A96C73A09C}"/>
                </a:ext>
              </a:extLst>
            </p:cNvPr>
            <p:cNvSpPr txBox="1">
              <a:spLocks/>
            </p:cNvSpPr>
            <p:nvPr/>
          </p:nvSpPr>
          <p:spPr>
            <a:xfrm>
              <a:off x="6674933" y="1505764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  <p:sp>
          <p:nvSpPr>
            <p:cNvPr id="141" name="Line">
              <a:extLst>
                <a:ext uri="{FF2B5EF4-FFF2-40B4-BE49-F238E27FC236}">
                  <a16:creationId xmlns:a16="http://schemas.microsoft.com/office/drawing/2014/main" id="{7433B240-449D-0948-96A9-40AA5C772DF1}"/>
                </a:ext>
              </a:extLst>
            </p:cNvPr>
            <p:cNvSpPr/>
            <p:nvPr/>
          </p:nvSpPr>
          <p:spPr>
            <a:xfrm>
              <a:off x="1594332" y="1707557"/>
              <a:ext cx="5123504" cy="3625108"/>
            </a:xfrm>
            <a:custGeom>
              <a:avLst/>
              <a:gdLst>
                <a:gd name="connsiteX0" fmla="*/ 0 w 21600"/>
                <a:gd name="connsiteY0" fmla="*/ 21600 h 21600"/>
                <a:gd name="connsiteX1" fmla="*/ 3240 w 21600"/>
                <a:gd name="connsiteY1" fmla="*/ 18489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1600"/>
                <a:gd name="connsiteY0" fmla="*/ 21600 h 21600"/>
                <a:gd name="connsiteX1" fmla="*/ 3240 w 21600"/>
                <a:gd name="connsiteY1" fmla="*/ 18928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298 w 22958"/>
                <a:gd name="connsiteY2" fmla="*/ 1694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9083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21315 w 21315"/>
                <a:gd name="connsiteY3" fmla="*/ 0 h 21598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16849 w 21315"/>
                <a:gd name="connsiteY3" fmla="*/ 10716 h 21598"/>
                <a:gd name="connsiteX4" fmla="*/ 21315 w 21315"/>
                <a:gd name="connsiteY4" fmla="*/ 0 h 21598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849 w 18973"/>
                <a:gd name="connsiteY3" fmla="*/ 1232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263 w 18973"/>
                <a:gd name="connsiteY3" fmla="*/ 1170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5828 w 18973"/>
                <a:gd name="connsiteY3" fmla="*/ 11463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828 w 18973"/>
                <a:gd name="connsiteY4" fmla="*/ 11463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558 w 18973"/>
                <a:gd name="connsiteY4" fmla="*/ 10551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973" h="23210" extrusionOk="0">
                  <a:moveTo>
                    <a:pt x="0" y="23210"/>
                  </a:moveTo>
                  <a:cubicBezTo>
                    <a:pt x="666" y="22003"/>
                    <a:pt x="1378" y="21667"/>
                    <a:pt x="3240" y="20796"/>
                  </a:cubicBezTo>
                  <a:cubicBezTo>
                    <a:pt x="5102" y="19925"/>
                    <a:pt x="9401" y="19449"/>
                    <a:pt x="11175" y="17986"/>
                  </a:cubicBezTo>
                  <a:cubicBezTo>
                    <a:pt x="12949" y="16523"/>
                    <a:pt x="13417" y="14965"/>
                    <a:pt x="14089" y="13762"/>
                  </a:cubicBezTo>
                  <a:cubicBezTo>
                    <a:pt x="14744" y="12355"/>
                    <a:pt x="14613" y="12709"/>
                    <a:pt x="15472" y="10289"/>
                  </a:cubicBezTo>
                  <a:cubicBezTo>
                    <a:pt x="16973" y="6862"/>
                    <a:pt x="18137" y="1702"/>
                    <a:pt x="18973" y="0"/>
                  </a:cubicBezTo>
                </a:path>
              </a:pathLst>
            </a:custGeom>
            <a:ln w="38100">
              <a:solidFill>
                <a:srgbClr val="C00000"/>
              </a:solidFill>
              <a:bevel/>
            </a:ln>
          </p:spPr>
          <p:txBody>
            <a:bodyPr lIns="65023" tIns="65023" rIns="65023" bIns="65023" anchor="ctr"/>
            <a:lstStyle/>
            <a:p>
              <a:pPr defTabSz="1300480">
                <a:def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6927BA9-95D5-1161-EB3D-A77426DCAFD0}"/>
              </a:ext>
            </a:extLst>
          </p:cNvPr>
          <p:cNvGrpSpPr/>
          <p:nvPr/>
        </p:nvGrpSpPr>
        <p:grpSpPr>
          <a:xfrm>
            <a:off x="918990" y="4275618"/>
            <a:ext cx="5945943" cy="3805371"/>
            <a:chOff x="1594333" y="3277715"/>
            <a:chExt cx="5945943" cy="3805371"/>
          </a:xfrm>
        </p:grpSpPr>
        <p:sp>
          <p:nvSpPr>
            <p:cNvPr id="76" name="Line">
              <a:extLst>
                <a:ext uri="{FF2B5EF4-FFF2-40B4-BE49-F238E27FC236}">
                  <a16:creationId xmlns:a16="http://schemas.microsoft.com/office/drawing/2014/main" id="{8C183B8E-7CE3-790B-8A9D-AB1D857A49F8}"/>
                </a:ext>
              </a:extLst>
            </p:cNvPr>
            <p:cNvSpPr/>
            <p:nvPr/>
          </p:nvSpPr>
          <p:spPr>
            <a:xfrm>
              <a:off x="1594333" y="3457978"/>
              <a:ext cx="5123504" cy="3625108"/>
            </a:xfrm>
            <a:custGeom>
              <a:avLst/>
              <a:gdLst>
                <a:gd name="connsiteX0" fmla="*/ 0 w 21600"/>
                <a:gd name="connsiteY0" fmla="*/ 21600 h 21600"/>
                <a:gd name="connsiteX1" fmla="*/ 3240 w 21600"/>
                <a:gd name="connsiteY1" fmla="*/ 18489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1600"/>
                <a:gd name="connsiteY0" fmla="*/ 21600 h 21600"/>
                <a:gd name="connsiteX1" fmla="*/ 3240 w 21600"/>
                <a:gd name="connsiteY1" fmla="*/ 18928 h 21600"/>
                <a:gd name="connsiteX2" fmla="*/ 11298 w 21600"/>
                <a:gd name="connsiteY2" fmla="*/ 17046 h 21600"/>
                <a:gd name="connsiteX3" fmla="*/ 21600 w 21600"/>
                <a:gd name="connsiteY3" fmla="*/ 0 h 21600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298 w 22958"/>
                <a:gd name="connsiteY2" fmla="*/ 1694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8825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2958"/>
                <a:gd name="connsiteY0" fmla="*/ 21497 h 21497"/>
                <a:gd name="connsiteX1" fmla="*/ 3240 w 22958"/>
                <a:gd name="connsiteY1" fmla="*/ 19083 h 21497"/>
                <a:gd name="connsiteX2" fmla="*/ 11175 w 22958"/>
                <a:gd name="connsiteY2" fmla="*/ 16273 h 21497"/>
                <a:gd name="connsiteX3" fmla="*/ 22958 w 22958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680"/>
                <a:gd name="connsiteY0" fmla="*/ 21497 h 21497"/>
                <a:gd name="connsiteX1" fmla="*/ 3240 w 21680"/>
                <a:gd name="connsiteY1" fmla="*/ 19083 h 21497"/>
                <a:gd name="connsiteX2" fmla="*/ 11175 w 21680"/>
                <a:gd name="connsiteY2" fmla="*/ 16273 h 21497"/>
                <a:gd name="connsiteX3" fmla="*/ 21680 w 21680"/>
                <a:gd name="connsiteY3" fmla="*/ 0 h 21497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21315 w 21315"/>
                <a:gd name="connsiteY3" fmla="*/ 0 h 21598"/>
                <a:gd name="connsiteX0" fmla="*/ 0 w 21315"/>
                <a:gd name="connsiteY0" fmla="*/ 21598 h 21598"/>
                <a:gd name="connsiteX1" fmla="*/ 3240 w 21315"/>
                <a:gd name="connsiteY1" fmla="*/ 19184 h 21598"/>
                <a:gd name="connsiteX2" fmla="*/ 11175 w 21315"/>
                <a:gd name="connsiteY2" fmla="*/ 16374 h 21598"/>
                <a:gd name="connsiteX3" fmla="*/ 16849 w 21315"/>
                <a:gd name="connsiteY3" fmla="*/ 10716 h 21598"/>
                <a:gd name="connsiteX4" fmla="*/ 21315 w 21315"/>
                <a:gd name="connsiteY4" fmla="*/ 0 h 21598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849 w 18973"/>
                <a:gd name="connsiteY3" fmla="*/ 1232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6263 w 18973"/>
                <a:gd name="connsiteY3" fmla="*/ 11708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5828 w 18973"/>
                <a:gd name="connsiteY3" fmla="*/ 11463 h 23210"/>
                <a:gd name="connsiteX4" fmla="*/ 18973 w 18973"/>
                <a:gd name="connsiteY4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828 w 18973"/>
                <a:gd name="connsiteY4" fmla="*/ 11463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558 w 18973"/>
                <a:gd name="connsiteY4" fmla="*/ 10551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  <a:gd name="connsiteX0" fmla="*/ 0 w 18973"/>
                <a:gd name="connsiteY0" fmla="*/ 23210 h 23210"/>
                <a:gd name="connsiteX1" fmla="*/ 3240 w 18973"/>
                <a:gd name="connsiteY1" fmla="*/ 20796 h 23210"/>
                <a:gd name="connsiteX2" fmla="*/ 11175 w 18973"/>
                <a:gd name="connsiteY2" fmla="*/ 17986 h 23210"/>
                <a:gd name="connsiteX3" fmla="*/ 14089 w 18973"/>
                <a:gd name="connsiteY3" fmla="*/ 13762 h 23210"/>
                <a:gd name="connsiteX4" fmla="*/ 15472 w 18973"/>
                <a:gd name="connsiteY4" fmla="*/ 10289 h 23210"/>
                <a:gd name="connsiteX5" fmla="*/ 18973 w 18973"/>
                <a:gd name="connsiteY5" fmla="*/ 0 h 2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973" h="23210" extrusionOk="0">
                  <a:moveTo>
                    <a:pt x="0" y="23210"/>
                  </a:moveTo>
                  <a:cubicBezTo>
                    <a:pt x="666" y="22003"/>
                    <a:pt x="1378" y="21667"/>
                    <a:pt x="3240" y="20796"/>
                  </a:cubicBezTo>
                  <a:cubicBezTo>
                    <a:pt x="5102" y="19925"/>
                    <a:pt x="9401" y="19449"/>
                    <a:pt x="11175" y="17986"/>
                  </a:cubicBezTo>
                  <a:cubicBezTo>
                    <a:pt x="12949" y="16523"/>
                    <a:pt x="13417" y="14965"/>
                    <a:pt x="14089" y="13762"/>
                  </a:cubicBezTo>
                  <a:cubicBezTo>
                    <a:pt x="14744" y="12355"/>
                    <a:pt x="14613" y="12709"/>
                    <a:pt x="15472" y="10289"/>
                  </a:cubicBezTo>
                  <a:cubicBezTo>
                    <a:pt x="16973" y="6862"/>
                    <a:pt x="18137" y="1702"/>
                    <a:pt x="18973" y="0"/>
                  </a:cubicBezTo>
                </a:path>
              </a:pathLst>
            </a:custGeom>
            <a:ln w="38100">
              <a:solidFill>
                <a:schemeClr val="accent2">
                  <a:lumMod val="75000"/>
                </a:schemeClr>
              </a:solidFill>
              <a:bevel/>
            </a:ln>
          </p:spPr>
          <p:txBody>
            <a:bodyPr lIns="65023" tIns="65023" rIns="65023" bIns="65023" anchor="ctr"/>
            <a:lstStyle/>
            <a:p>
              <a:pPr defTabSz="1300480">
                <a:defRPr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Shape of AC Curve">
              <a:extLst>
                <a:ext uri="{FF2B5EF4-FFF2-40B4-BE49-F238E27FC236}">
                  <a16:creationId xmlns:a16="http://schemas.microsoft.com/office/drawing/2014/main" id="{13A3C86B-5D6B-CC70-7FBA-CC50E1CA1A71}"/>
                </a:ext>
              </a:extLst>
            </p:cNvPr>
            <p:cNvSpPr txBox="1">
              <a:spLocks/>
            </p:cNvSpPr>
            <p:nvPr/>
          </p:nvSpPr>
          <p:spPr>
            <a:xfrm>
              <a:off x="6696099" y="3277715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TVC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7C8EB8-E38C-E8F6-0F81-FAD2E7CEE1DC}"/>
              </a:ext>
            </a:extLst>
          </p:cNvPr>
          <p:cNvGrpSpPr/>
          <p:nvPr/>
        </p:nvGrpSpPr>
        <p:grpSpPr>
          <a:xfrm>
            <a:off x="1880480" y="5105927"/>
            <a:ext cx="1153449" cy="3351567"/>
            <a:chOff x="2555823" y="4108024"/>
            <a:chExt cx="1153449" cy="335156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1400C9-54A5-252F-B44C-221AA88FAC92}"/>
                </a:ext>
              </a:extLst>
            </p:cNvPr>
            <p:cNvGrpSpPr/>
            <p:nvPr/>
          </p:nvGrpSpPr>
          <p:grpSpPr>
            <a:xfrm>
              <a:off x="2555823" y="5324951"/>
              <a:ext cx="1153449" cy="2134640"/>
              <a:chOff x="2336800" y="6256330"/>
              <a:chExt cx="1153449" cy="213464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4A86382-F632-8482-9D50-830B1EA8C03B}"/>
                  </a:ext>
                </a:extLst>
              </p:cNvPr>
              <p:cNvGrpSpPr/>
              <p:nvPr/>
            </p:nvGrpSpPr>
            <p:grpSpPr>
              <a:xfrm>
                <a:off x="2336800" y="7215212"/>
                <a:ext cx="1097695" cy="1175758"/>
                <a:chOff x="2336800" y="7215212"/>
                <a:chExt cx="1097695" cy="1175758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B0CEDBA1-68A8-8819-C05A-A3EB31D2A6FF}"/>
                    </a:ext>
                  </a:extLst>
                </p:cNvPr>
                <p:cNvCxnSpPr>
                  <a:cxnSpLocks/>
                  <a:endCxn id="45" idx="0"/>
                </p:cNvCxnSpPr>
                <p:nvPr/>
              </p:nvCxnSpPr>
              <p:spPr>
                <a:xfrm>
                  <a:off x="2883776" y="7514865"/>
                  <a:ext cx="0" cy="498225"/>
                </a:xfrm>
                <a:prstGeom prst="line">
                  <a:avLst/>
                </a:prstGeom>
                <a:noFill/>
                <a:ln w="38100" cap="flat">
                  <a:solidFill>
                    <a:srgbClr val="FF0000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45" name="Shape of AC Curve">
                  <a:extLst>
                    <a:ext uri="{FF2B5EF4-FFF2-40B4-BE49-F238E27FC236}">
                      <a16:creationId xmlns:a16="http://schemas.microsoft.com/office/drawing/2014/main" id="{F987F546-BCEE-73F9-95E2-970BA097A1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36800" y="8013090"/>
                  <a:ext cx="1093952" cy="37788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 fontScale="92500" lnSpcReduction="20000"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sz="2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6" name="Shape of AC Curve">
                  <a:extLst>
                    <a:ext uri="{FF2B5EF4-FFF2-40B4-BE49-F238E27FC236}">
                      <a16:creationId xmlns:a16="http://schemas.microsoft.com/office/drawing/2014/main" id="{10ACB267-75E5-BA13-D2E8-EC9712DF5D7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692230" y="7215212"/>
                  <a:ext cx="742265" cy="654095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sz="2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47" name="Shape of AC Curve">
                <a:extLst>
                  <a:ext uri="{FF2B5EF4-FFF2-40B4-BE49-F238E27FC236}">
                    <a16:creationId xmlns:a16="http://schemas.microsoft.com/office/drawing/2014/main" id="{54A13E86-DA26-5C3F-7001-D0595F7A00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92230" y="6256330"/>
                <a:ext cx="798019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 fontScale="92500" lnSpcReduction="10000"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6734D6B-08AB-D18E-5B5C-4332C30B4008}"/>
                </a:ext>
              </a:extLst>
            </p:cNvPr>
            <p:cNvGrpSpPr/>
            <p:nvPr/>
          </p:nvGrpSpPr>
          <p:grpSpPr>
            <a:xfrm>
              <a:off x="2710111" y="4108024"/>
              <a:ext cx="742265" cy="2475462"/>
              <a:chOff x="2710111" y="4108024"/>
              <a:chExt cx="742265" cy="2475462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A5C0BAA6-18EC-F7FD-E1A3-64E7D9216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2799" y="4853382"/>
                <a:ext cx="0" cy="1730104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8" name="Shape of AC Curve">
                <a:extLst>
                  <a:ext uri="{FF2B5EF4-FFF2-40B4-BE49-F238E27FC236}">
                    <a16:creationId xmlns:a16="http://schemas.microsoft.com/office/drawing/2014/main" id="{695F1688-5D8A-EF89-D65B-D6A1C853B6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10111" y="4108024"/>
                <a:ext cx="742265" cy="6540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E5C0E4-B6E9-A6A0-6B35-4FD20A2800FC}"/>
              </a:ext>
            </a:extLst>
          </p:cNvPr>
          <p:cNvGrpSpPr/>
          <p:nvPr/>
        </p:nvGrpSpPr>
        <p:grpSpPr>
          <a:xfrm>
            <a:off x="3058184" y="4930391"/>
            <a:ext cx="1033929" cy="3643948"/>
            <a:chOff x="3733527" y="3932488"/>
            <a:chExt cx="1033929" cy="36439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A61E442-AF36-E606-8D9B-18F71F4DC31A}"/>
                </a:ext>
              </a:extLst>
            </p:cNvPr>
            <p:cNvGrpSpPr/>
            <p:nvPr/>
          </p:nvGrpSpPr>
          <p:grpSpPr>
            <a:xfrm>
              <a:off x="3744330" y="5308803"/>
              <a:ext cx="1023126" cy="2267633"/>
              <a:chOff x="3569955" y="6825629"/>
              <a:chExt cx="1023126" cy="2267633"/>
            </a:xfrm>
          </p:grpSpPr>
          <p:sp>
            <p:nvSpPr>
              <p:cNvPr id="52" name="Shape of AC Curve">
                <a:extLst>
                  <a:ext uri="{FF2B5EF4-FFF2-40B4-BE49-F238E27FC236}">
                    <a16:creationId xmlns:a16="http://schemas.microsoft.com/office/drawing/2014/main" id="{B193CF63-1FD3-AE7F-34B4-234E1047F2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69955" y="8583376"/>
                <a:ext cx="844177" cy="5098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3" name="Shape of AC Curve">
                <a:extLst>
                  <a:ext uri="{FF2B5EF4-FFF2-40B4-BE49-F238E27FC236}">
                    <a16:creationId xmlns:a16="http://schemas.microsoft.com/office/drawing/2014/main" id="{3D74B85F-BE25-5FF1-C1F3-A2C6702D1F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2539" y="7769785"/>
                <a:ext cx="844177" cy="5098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9" name="Shape of AC Curve">
                <a:extLst>
                  <a:ext uri="{FF2B5EF4-FFF2-40B4-BE49-F238E27FC236}">
                    <a16:creationId xmlns:a16="http://schemas.microsoft.com/office/drawing/2014/main" id="{EF7E4A20-5F8B-A396-557A-EB0ECC1370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904" y="6825629"/>
                <a:ext cx="844177" cy="5098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F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8C6182D-0A80-8724-4E3B-111B4E2FD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7861" y="7898255"/>
                <a:ext cx="0" cy="711633"/>
              </a:xfrm>
              <a:prstGeom prst="line">
                <a:avLst/>
              </a:prstGeom>
              <a:noFill/>
              <a:ln w="38100" cap="flat">
                <a:solidFill>
                  <a:srgbClr val="FF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7EA99C9-DA0C-DE33-8E37-6BBFE6093752}"/>
                </a:ext>
              </a:extLst>
            </p:cNvPr>
            <p:cNvCxnSpPr>
              <a:cxnSpLocks/>
            </p:cNvCxnSpPr>
            <p:nvPr/>
          </p:nvCxnSpPr>
          <p:spPr>
            <a:xfrm>
              <a:off x="4127470" y="4702401"/>
              <a:ext cx="0" cy="1711926"/>
            </a:xfrm>
            <a:prstGeom prst="line">
              <a:avLst/>
            </a:prstGeom>
            <a:noFill/>
            <a:ln w="38100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1" name="Shape of AC Curve">
              <a:extLst>
                <a:ext uri="{FF2B5EF4-FFF2-40B4-BE49-F238E27FC236}">
                  <a16:creationId xmlns:a16="http://schemas.microsoft.com/office/drawing/2014/main" id="{5F1A7D38-6AD4-B960-C03E-4EFD5CD27D92}"/>
                </a:ext>
              </a:extLst>
            </p:cNvPr>
            <p:cNvSpPr txBox="1">
              <a:spLocks/>
            </p:cNvSpPr>
            <p:nvPr/>
          </p:nvSpPr>
          <p:spPr>
            <a:xfrm>
              <a:off x="3733527" y="3932488"/>
              <a:ext cx="742265" cy="65409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AAB23A-B425-F96F-45FC-D1A0AD88C920}"/>
              </a:ext>
            </a:extLst>
          </p:cNvPr>
          <p:cNvGrpSpPr/>
          <p:nvPr/>
        </p:nvGrpSpPr>
        <p:grpSpPr>
          <a:xfrm>
            <a:off x="4376192" y="3951546"/>
            <a:ext cx="1172298" cy="4592898"/>
            <a:chOff x="5051535" y="2953643"/>
            <a:chExt cx="1172298" cy="45928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39222FF-1957-80CB-0436-ED408AEAA0E1}"/>
                </a:ext>
              </a:extLst>
            </p:cNvPr>
            <p:cNvGrpSpPr/>
            <p:nvPr/>
          </p:nvGrpSpPr>
          <p:grpSpPr>
            <a:xfrm>
              <a:off x="5089134" y="3631287"/>
              <a:ext cx="1134699" cy="3915254"/>
              <a:chOff x="5089134" y="3631287"/>
              <a:chExt cx="1134699" cy="391525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775E563-70ED-067A-FD0E-7E4D5702430A}"/>
                  </a:ext>
                </a:extLst>
              </p:cNvPr>
              <p:cNvGrpSpPr/>
              <p:nvPr/>
            </p:nvGrpSpPr>
            <p:grpSpPr>
              <a:xfrm>
                <a:off x="5089134" y="4872748"/>
                <a:ext cx="1134699" cy="2673793"/>
                <a:chOff x="4413150" y="6368225"/>
                <a:chExt cx="1134699" cy="2673793"/>
              </a:xfrm>
            </p:grpSpPr>
            <p:sp>
              <p:nvSpPr>
                <p:cNvPr id="59" name="Shape of AC Curve">
                  <a:extLst>
                    <a:ext uri="{FF2B5EF4-FFF2-40B4-BE49-F238E27FC236}">
                      <a16:creationId xmlns:a16="http://schemas.microsoft.com/office/drawing/2014/main" id="{31C4E83D-B298-4085-1105-43B6AC2A4E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83991" y="8611716"/>
                  <a:ext cx="84417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  <a:r>
                    <a:rPr lang="en-US" sz="2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91" name="Shape of AC Curve">
                  <a:extLst>
                    <a:ext uri="{FF2B5EF4-FFF2-40B4-BE49-F238E27FC236}">
                      <a16:creationId xmlns:a16="http://schemas.microsoft.com/office/drawing/2014/main" id="{B35CDE1A-A2B4-A1A5-F80A-3520564D15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13150" y="6368225"/>
                  <a:ext cx="1134699" cy="49364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sz="2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V</a:t>
                  </a:r>
                  <a:r>
                    <a:rPr lang="en-US" sz="24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3B4D34C-DB2D-3F3A-A9ED-3E6951FD6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0417" y="5352896"/>
                <a:ext cx="0" cy="1740166"/>
              </a:xfrm>
              <a:prstGeom prst="line">
                <a:avLst/>
              </a:prstGeom>
              <a:noFill/>
              <a:ln w="38100" cap="flat">
                <a:solidFill>
                  <a:srgbClr val="FF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A7FDE9F9-C521-695A-CEF6-A6DB4DC99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0417" y="3631287"/>
                <a:ext cx="0" cy="171192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3" name="Shape of AC Curve">
              <a:extLst>
                <a:ext uri="{FF2B5EF4-FFF2-40B4-BE49-F238E27FC236}">
                  <a16:creationId xmlns:a16="http://schemas.microsoft.com/office/drawing/2014/main" id="{E412DE1B-544A-14D9-7A63-818D2E876F1B}"/>
                </a:ext>
              </a:extLst>
            </p:cNvPr>
            <p:cNvSpPr txBox="1">
              <a:spLocks/>
            </p:cNvSpPr>
            <p:nvPr/>
          </p:nvSpPr>
          <p:spPr>
            <a:xfrm>
              <a:off x="5051535" y="2953643"/>
              <a:ext cx="742265" cy="65409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8E837D3-639C-1E9C-2020-3E9C9ED72D4C}"/>
              </a:ext>
            </a:extLst>
          </p:cNvPr>
          <p:cNvGrpSpPr/>
          <p:nvPr/>
        </p:nvGrpSpPr>
        <p:grpSpPr>
          <a:xfrm>
            <a:off x="5141203" y="2581501"/>
            <a:ext cx="1245972" cy="5963187"/>
            <a:chOff x="5816546" y="1583598"/>
            <a:chExt cx="1245972" cy="5963187"/>
          </a:xfrm>
        </p:grpSpPr>
        <p:sp>
          <p:nvSpPr>
            <p:cNvPr id="100" name="Shape of AC Curve">
              <a:extLst>
                <a:ext uri="{FF2B5EF4-FFF2-40B4-BE49-F238E27FC236}">
                  <a16:creationId xmlns:a16="http://schemas.microsoft.com/office/drawing/2014/main" id="{CC6B4787-9636-FABB-5626-DC26AA91B034}"/>
                </a:ext>
              </a:extLst>
            </p:cNvPr>
            <p:cNvSpPr txBox="1">
              <a:spLocks/>
            </p:cNvSpPr>
            <p:nvPr/>
          </p:nvSpPr>
          <p:spPr>
            <a:xfrm>
              <a:off x="6218341" y="3744606"/>
              <a:ext cx="844177" cy="5098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0884C1F-3B6F-C0B5-CBFB-DFD5D6AF8615}"/>
                </a:ext>
              </a:extLst>
            </p:cNvPr>
            <p:cNvGrpSpPr/>
            <p:nvPr/>
          </p:nvGrpSpPr>
          <p:grpSpPr>
            <a:xfrm>
              <a:off x="5816546" y="1583598"/>
              <a:ext cx="1215310" cy="5963187"/>
              <a:chOff x="5816546" y="1583598"/>
              <a:chExt cx="1215310" cy="5963187"/>
            </a:xfrm>
          </p:grpSpPr>
          <p:sp>
            <p:nvSpPr>
              <p:cNvPr id="95" name="Shape of AC Curve">
                <a:extLst>
                  <a:ext uri="{FF2B5EF4-FFF2-40B4-BE49-F238E27FC236}">
                    <a16:creationId xmlns:a16="http://schemas.microsoft.com/office/drawing/2014/main" id="{D97E57CE-55A9-2CF0-758E-7A8D29A73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2929" y="7116483"/>
                <a:ext cx="652820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B2590E2-329C-74E7-ABCE-883A155B1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6861" y="3928996"/>
                <a:ext cx="0" cy="3152715"/>
              </a:xfrm>
              <a:prstGeom prst="line">
                <a:avLst/>
              </a:prstGeom>
              <a:noFill/>
              <a:ln w="38100" cap="flat">
                <a:solidFill>
                  <a:srgbClr val="FF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36E7F23-B95D-947C-4434-F22C26CAC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6861" y="2216641"/>
                <a:ext cx="0" cy="1711926"/>
              </a:xfrm>
              <a:prstGeom prst="line">
                <a:avLst/>
              </a:prstGeom>
              <a:noFill/>
              <a:ln w="38100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40" name="Shape of AC Curve">
                <a:extLst>
                  <a:ext uri="{FF2B5EF4-FFF2-40B4-BE49-F238E27FC236}">
                    <a16:creationId xmlns:a16="http://schemas.microsoft.com/office/drawing/2014/main" id="{3FB98C3F-BCE3-CB5F-E2E5-624A49810E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7679" y="4869156"/>
                <a:ext cx="844177" cy="5098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F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" name="Shape of AC Curve">
                <a:extLst>
                  <a:ext uri="{FF2B5EF4-FFF2-40B4-BE49-F238E27FC236}">
                    <a16:creationId xmlns:a16="http://schemas.microsoft.com/office/drawing/2014/main" id="{BE61FFDE-E886-7F23-7978-C85957D72B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6546" y="1583598"/>
                <a:ext cx="742265" cy="6540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4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9" name="Shape of AC Curve">
            <a:extLst>
              <a:ext uri="{FF2B5EF4-FFF2-40B4-BE49-F238E27FC236}">
                <a16:creationId xmlns:a16="http://schemas.microsoft.com/office/drawing/2014/main" id="{8331172E-97AC-60C9-8684-D568FC04625E}"/>
              </a:ext>
            </a:extLst>
          </p:cNvPr>
          <p:cNvSpPr txBox="1">
            <a:spLocks/>
          </p:cNvSpPr>
          <p:nvPr/>
        </p:nvSpPr>
        <p:spPr>
          <a:xfrm>
            <a:off x="7839841" y="7318837"/>
            <a:ext cx="4969746" cy="92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TFC is gap between the TC and the TVC curves</a:t>
            </a:r>
          </a:p>
        </p:txBody>
      </p:sp>
      <p:sp>
        <p:nvSpPr>
          <p:cNvPr id="30" name="Shape of AC Curve">
            <a:extLst>
              <a:ext uri="{FF2B5EF4-FFF2-40B4-BE49-F238E27FC236}">
                <a16:creationId xmlns:a16="http://schemas.microsoft.com/office/drawing/2014/main" id="{80C7AFBD-3C95-E7F5-2583-80E8AF5F4F9A}"/>
              </a:ext>
            </a:extLst>
          </p:cNvPr>
          <p:cNvSpPr txBox="1">
            <a:spLocks/>
          </p:cNvSpPr>
          <p:nvPr/>
        </p:nvSpPr>
        <p:spPr>
          <a:xfrm>
            <a:off x="4376192" y="8790877"/>
            <a:ext cx="8433395" cy="699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(TC – TVC) = TFC = OF = T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109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96" grpId="0" animBg="1"/>
      <p:bldP spid="97" grpId="0" animBg="1"/>
      <p:bldP spid="98" grpId="0" animBg="1"/>
      <p:bldP spid="67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of AC Curve">
            <a:extLst>
              <a:ext uri="{FF2B5EF4-FFF2-40B4-BE49-F238E27FC236}">
                <a16:creationId xmlns:a16="http://schemas.microsoft.com/office/drawing/2014/main" id="{4F8EA15F-73F8-E342-9BE3-3DA5EE7BBFB4}"/>
              </a:ext>
            </a:extLst>
          </p:cNvPr>
          <p:cNvSpPr txBox="1">
            <a:spLocks/>
          </p:cNvSpPr>
          <p:nvPr/>
        </p:nvSpPr>
        <p:spPr>
          <a:xfrm>
            <a:off x="659858" y="172338"/>
            <a:ext cx="508597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COSTS (AC)</a:t>
            </a:r>
          </a:p>
        </p:txBody>
      </p:sp>
      <p:sp>
        <p:nvSpPr>
          <p:cNvPr id="4" name="Shape of AC Curve">
            <a:extLst>
              <a:ext uri="{FF2B5EF4-FFF2-40B4-BE49-F238E27FC236}">
                <a16:creationId xmlns:a16="http://schemas.microsoft.com/office/drawing/2014/main" id="{B4FAF14C-672A-624F-A37E-0B25599983C9}"/>
              </a:ext>
            </a:extLst>
          </p:cNvPr>
          <p:cNvSpPr txBox="1">
            <a:spLocks/>
          </p:cNvSpPr>
          <p:nvPr/>
        </p:nvSpPr>
        <p:spPr>
          <a:xfrm>
            <a:off x="7124174" y="209324"/>
            <a:ext cx="5085976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MARGINAL COSTS (MC)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889" y="6123008"/>
                <a:ext cx="4990577" cy="110564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𝑻𝑪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𝑻𝑭𝑪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𝑻𝑽𝑪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Shape of AC Curve">
                <a:extLst>
                  <a:ext uri="{FF2B5EF4-FFF2-40B4-BE49-F238E27FC236}">
                    <a16:creationId xmlns:a16="http://schemas.microsoft.com/office/drawing/2014/main" id="{D146548E-2922-A147-9B3A-4B0D2ED4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89" y="6123008"/>
                <a:ext cx="4990577" cy="1105642"/>
              </a:xfrm>
              <a:prstGeom prst="rect">
                <a:avLst/>
              </a:prstGeom>
              <a:blipFill>
                <a:blip r:embed="rId2"/>
                <a:stretch>
                  <a:fillRect b="-1011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29979" y="6122813"/>
                <a:ext cx="5370481" cy="10895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𝐌𝐂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𝑻𝑪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Shape of AC Curve">
                <a:extLst>
                  <a:ext uri="{FF2B5EF4-FFF2-40B4-BE49-F238E27FC236}">
                    <a16:creationId xmlns:a16="http://schemas.microsoft.com/office/drawing/2014/main" id="{B6C9A186-FCA3-9444-B599-A188B5AE1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979" y="6122813"/>
                <a:ext cx="5370481" cy="1089562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of AC Curve">
            <a:extLst>
              <a:ext uri="{FF2B5EF4-FFF2-40B4-BE49-F238E27FC236}">
                <a16:creationId xmlns:a16="http://schemas.microsoft.com/office/drawing/2014/main" id="{B3DA1615-B43D-8E4F-95A7-6D55D0B2190B}"/>
              </a:ext>
            </a:extLst>
          </p:cNvPr>
          <p:cNvSpPr txBox="1">
            <a:spLocks/>
          </p:cNvSpPr>
          <p:nvPr/>
        </p:nvSpPr>
        <p:spPr>
          <a:xfrm>
            <a:off x="406901" y="1177855"/>
            <a:ext cx="5671225" cy="74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Total Cost incurred per unit of the output produced</a:t>
            </a:r>
          </a:p>
        </p:txBody>
      </p:sp>
      <p:sp>
        <p:nvSpPr>
          <p:cNvPr id="34" name="Shape of AC Curve">
            <a:extLst>
              <a:ext uri="{FF2B5EF4-FFF2-40B4-BE49-F238E27FC236}">
                <a16:creationId xmlns:a16="http://schemas.microsoft.com/office/drawing/2014/main" id="{AE43BF86-FC87-C54F-9CE8-D3D50DCF0C28}"/>
              </a:ext>
            </a:extLst>
          </p:cNvPr>
          <p:cNvSpPr txBox="1">
            <a:spLocks/>
          </p:cNvSpPr>
          <p:nvPr/>
        </p:nvSpPr>
        <p:spPr>
          <a:xfrm>
            <a:off x="7226160" y="7300598"/>
            <a:ext cx="5671225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curve is nearly a ‘J’ shaped 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FBBE892B-1F31-B746-95EE-419DF6780C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404" y="7122634"/>
                <a:ext cx="6795575" cy="12191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𝐀𝐂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𝑻𝑭𝑪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𝑨𝑭𝑪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𝑨𝑽𝑪</m:t>
                    </m:r>
                  </m:oMath>
                </a14:m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Shape of AC Curve">
                <a:extLst>
                  <a:ext uri="{FF2B5EF4-FFF2-40B4-BE49-F238E27FC236}">
                    <a16:creationId xmlns:a16="http://schemas.microsoft.com/office/drawing/2014/main" id="{FBBE892B-1F31-B746-95EE-419DF6780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04" y="7122634"/>
                <a:ext cx="6795575" cy="1219172"/>
              </a:xfrm>
              <a:prstGeom prst="rect">
                <a:avLst/>
              </a:prstGeom>
              <a:blipFill>
                <a:blip r:embed="rId4"/>
                <a:stretch>
                  <a:fillRect b="-51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D42D7-A01B-8E43-8CBD-FB3D1CFB96C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B2404D-FFF6-0E4E-99BA-9B3BDA9ED1FC}"/>
              </a:ext>
            </a:extLst>
          </p:cNvPr>
          <p:cNvGrpSpPr/>
          <p:nvPr/>
        </p:nvGrpSpPr>
        <p:grpSpPr>
          <a:xfrm>
            <a:off x="7192458" y="2210206"/>
            <a:ext cx="4398746" cy="3848842"/>
            <a:chOff x="7219211" y="1453483"/>
            <a:chExt cx="4398746" cy="38488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F227F52-76D1-1E48-A785-46269B44C870}"/>
                </a:ext>
              </a:extLst>
            </p:cNvPr>
            <p:cNvGrpSpPr/>
            <p:nvPr/>
          </p:nvGrpSpPr>
          <p:grpSpPr>
            <a:xfrm>
              <a:off x="7219211" y="1467069"/>
              <a:ext cx="4398746" cy="3835256"/>
              <a:chOff x="7175437" y="1543567"/>
              <a:chExt cx="4398746" cy="383525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8983747-942E-944B-8727-BDDA0F10199C}"/>
                  </a:ext>
                </a:extLst>
              </p:cNvPr>
              <p:cNvGrpSpPr/>
              <p:nvPr/>
            </p:nvGrpSpPr>
            <p:grpSpPr>
              <a:xfrm>
                <a:off x="8020424" y="1685365"/>
                <a:ext cx="3131671" cy="3263156"/>
                <a:chOff x="1270000" y="1685364"/>
                <a:chExt cx="3131671" cy="3263156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616C0E3A-1454-BD41-B323-F91570661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0000" y="1685364"/>
                  <a:ext cx="0" cy="3263156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9ED624B-E668-1040-B248-CBB8F7C79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000" y="4939911"/>
                  <a:ext cx="3131671" cy="0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23" name="Shape of AC Curve">
                <a:extLst>
                  <a:ext uri="{FF2B5EF4-FFF2-40B4-BE49-F238E27FC236}">
                    <a16:creationId xmlns:a16="http://schemas.microsoft.com/office/drawing/2014/main" id="{F640A297-C2BE-B943-9DF5-D1C90E2B61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75437" y="1543567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66341092-324C-A34C-8990-73E14CCC12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30006" y="4948521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6DC8D8-6FBB-134E-BC30-6C21F3FA2898}"/>
                </a:ext>
              </a:extLst>
            </p:cNvPr>
            <p:cNvGrpSpPr/>
            <p:nvPr/>
          </p:nvGrpSpPr>
          <p:grpSpPr>
            <a:xfrm>
              <a:off x="8450599" y="1453483"/>
              <a:ext cx="2387505" cy="2884444"/>
              <a:chOff x="8406825" y="1529981"/>
              <a:chExt cx="2387505" cy="2884444"/>
            </a:xfrm>
          </p:grpSpPr>
          <p:sp>
            <p:nvSpPr>
              <p:cNvPr id="35" name="Connection Line">
                <a:extLst>
                  <a:ext uri="{FF2B5EF4-FFF2-40B4-BE49-F238E27FC236}">
                    <a16:creationId xmlns:a16="http://schemas.microsoft.com/office/drawing/2014/main" id="{88ABE39C-54D4-A34E-B282-F2A471BD9FAD}"/>
                  </a:ext>
                </a:extLst>
              </p:cNvPr>
              <p:cNvSpPr/>
              <p:nvPr/>
            </p:nvSpPr>
            <p:spPr>
              <a:xfrm>
                <a:off x="8406825" y="1804899"/>
                <a:ext cx="1637927" cy="2609526"/>
              </a:xfrm>
              <a:custGeom>
                <a:avLst/>
                <a:gdLst>
                  <a:gd name="connsiteX0" fmla="*/ 21600 w 21600"/>
                  <a:gd name="connsiteY0" fmla="*/ 0 h 23386"/>
                  <a:gd name="connsiteX1" fmla="*/ 0 w 21600"/>
                  <a:gd name="connsiteY1" fmla="*/ 13518 h 23386"/>
                  <a:gd name="connsiteX0" fmla="*/ 24389 w 24389"/>
                  <a:gd name="connsiteY0" fmla="*/ 0 h 33275"/>
                  <a:gd name="connsiteX1" fmla="*/ 0 w 24389"/>
                  <a:gd name="connsiteY1" fmla="*/ 26165 h 3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389" h="33275" extrusionOk="0">
                    <a:moveTo>
                      <a:pt x="24389" y="0"/>
                    </a:moveTo>
                    <a:cubicBezTo>
                      <a:pt x="15642" y="20921"/>
                      <a:pt x="5653" y="45729"/>
                      <a:pt x="0" y="26165"/>
                    </a:cubicBezTo>
                  </a:path>
                </a:pathLst>
              </a:custGeom>
              <a:ln w="101600">
                <a:solidFill>
                  <a:srgbClr val="00B050"/>
                </a:solidFill>
                <a:miter lim="400000"/>
              </a:ln>
            </p:spPr>
            <p:txBody>
              <a:bodyPr/>
              <a:lstStyle/>
              <a:p>
                <a:endParaRPr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Shape of AC Curve">
                <a:extLst>
                  <a:ext uri="{FF2B5EF4-FFF2-40B4-BE49-F238E27FC236}">
                    <a16:creationId xmlns:a16="http://schemas.microsoft.com/office/drawing/2014/main" id="{9EFEF99A-C115-9044-B760-594A655069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50153" y="1529981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</p:grpSp>
      <p:sp>
        <p:nvSpPr>
          <p:cNvPr id="39" name="Shape of AC Curve">
            <a:extLst>
              <a:ext uri="{FF2B5EF4-FFF2-40B4-BE49-F238E27FC236}">
                <a16:creationId xmlns:a16="http://schemas.microsoft.com/office/drawing/2014/main" id="{9EC9EFBF-3218-C648-A29F-FAF892EA75D4}"/>
              </a:ext>
            </a:extLst>
          </p:cNvPr>
          <p:cNvSpPr txBox="1">
            <a:spLocks/>
          </p:cNvSpPr>
          <p:nvPr/>
        </p:nvSpPr>
        <p:spPr>
          <a:xfrm>
            <a:off x="813216" y="8517257"/>
            <a:ext cx="5671225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curve is nearly a ‘U’ shaped one</a:t>
            </a:r>
          </a:p>
        </p:txBody>
      </p:sp>
      <p:sp>
        <p:nvSpPr>
          <p:cNvPr id="40" name="Shape of AC Curve">
            <a:extLst>
              <a:ext uri="{FF2B5EF4-FFF2-40B4-BE49-F238E27FC236}">
                <a16:creationId xmlns:a16="http://schemas.microsoft.com/office/drawing/2014/main" id="{107D7BB9-AB57-7A4B-B268-DC56AAD999F7}"/>
              </a:ext>
            </a:extLst>
          </p:cNvPr>
          <p:cNvSpPr txBox="1">
            <a:spLocks/>
          </p:cNvSpPr>
          <p:nvPr/>
        </p:nvSpPr>
        <p:spPr>
          <a:xfrm>
            <a:off x="6962534" y="1000003"/>
            <a:ext cx="5671225" cy="8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change in Total Cost incurred by producing an additional  unit of the output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A6D453-59D7-650B-35A5-7B68C4AB1522}"/>
              </a:ext>
            </a:extLst>
          </p:cNvPr>
          <p:cNvCxnSpPr>
            <a:cxnSpLocks/>
          </p:cNvCxnSpPr>
          <p:nvPr/>
        </p:nvCxnSpPr>
        <p:spPr>
          <a:xfrm>
            <a:off x="3043598" y="2210206"/>
            <a:ext cx="0" cy="1896448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ysDot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Shape of AC Curve">
            <a:extLst>
              <a:ext uri="{FF2B5EF4-FFF2-40B4-BE49-F238E27FC236}">
                <a16:creationId xmlns:a16="http://schemas.microsoft.com/office/drawing/2014/main" id="{6FC9EE95-93AA-3D67-05D7-BBE9F0B145F0}"/>
              </a:ext>
            </a:extLst>
          </p:cNvPr>
          <p:cNvSpPr txBox="1">
            <a:spLocks/>
          </p:cNvSpPr>
          <p:nvPr/>
        </p:nvSpPr>
        <p:spPr>
          <a:xfrm>
            <a:off x="7226160" y="7872293"/>
            <a:ext cx="5671225" cy="100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slopedness is indicative of the fixed factor’s efficiency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FDFE38-0DAB-BFEE-9587-75DD376C4F00}"/>
              </a:ext>
            </a:extLst>
          </p:cNvPr>
          <p:cNvGrpSpPr/>
          <p:nvPr/>
        </p:nvGrpSpPr>
        <p:grpSpPr>
          <a:xfrm>
            <a:off x="8402001" y="2360039"/>
            <a:ext cx="3589500" cy="2780206"/>
            <a:chOff x="8402001" y="2360039"/>
            <a:chExt cx="3589500" cy="2780206"/>
          </a:xfrm>
        </p:grpSpPr>
        <p:sp>
          <p:nvSpPr>
            <p:cNvPr id="46" name="Connection Line">
              <a:extLst>
                <a:ext uri="{FF2B5EF4-FFF2-40B4-BE49-F238E27FC236}">
                  <a16:creationId xmlns:a16="http://schemas.microsoft.com/office/drawing/2014/main" id="{42AA5629-325A-BF8B-7552-14428D6EADEB}"/>
                </a:ext>
              </a:extLst>
            </p:cNvPr>
            <p:cNvSpPr/>
            <p:nvPr/>
          </p:nvSpPr>
          <p:spPr>
            <a:xfrm>
              <a:off x="8402001" y="2785178"/>
              <a:ext cx="2609798" cy="2355067"/>
            </a:xfrm>
            <a:custGeom>
              <a:avLst/>
              <a:gdLst>
                <a:gd name="connsiteX0" fmla="*/ 21600 w 21600"/>
                <a:gd name="connsiteY0" fmla="*/ 0 h 23386"/>
                <a:gd name="connsiteX1" fmla="*/ 0 w 21600"/>
                <a:gd name="connsiteY1" fmla="*/ 13518 h 23386"/>
                <a:gd name="connsiteX0" fmla="*/ 24389 w 24389"/>
                <a:gd name="connsiteY0" fmla="*/ 0 h 33275"/>
                <a:gd name="connsiteX1" fmla="*/ 0 w 24389"/>
                <a:gd name="connsiteY1" fmla="*/ 26165 h 3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389" h="33275" extrusionOk="0">
                  <a:moveTo>
                    <a:pt x="24389" y="0"/>
                  </a:moveTo>
                  <a:cubicBezTo>
                    <a:pt x="15642" y="20921"/>
                    <a:pt x="5653" y="45729"/>
                    <a:pt x="0" y="26165"/>
                  </a:cubicBezTo>
                </a:path>
              </a:pathLst>
            </a:custGeom>
            <a:ln w="101600">
              <a:solidFill>
                <a:schemeClr val="accent3">
                  <a:lumMod val="75000"/>
                </a:schemeClr>
              </a:solidFill>
              <a:prstDash val="sysDash"/>
              <a:miter lim="400000"/>
            </a:ln>
          </p:spPr>
          <p:txBody>
            <a:bodyPr/>
            <a:lstStyle/>
            <a:p>
              <a:endParaRPr sz="20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Shape of AC Curve">
              <a:extLst>
                <a:ext uri="{FF2B5EF4-FFF2-40B4-BE49-F238E27FC236}">
                  <a16:creationId xmlns:a16="http://schemas.microsoft.com/office/drawing/2014/main" id="{E8CFD877-A596-6DCF-918B-4E59E447EBF7}"/>
                </a:ext>
              </a:extLst>
            </p:cNvPr>
            <p:cNvSpPr txBox="1">
              <a:spLocks/>
            </p:cNvSpPr>
            <p:nvPr/>
          </p:nvSpPr>
          <p:spPr>
            <a:xfrm>
              <a:off x="10642634" y="2360039"/>
              <a:ext cx="1348867" cy="4251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50" name="Shape of AC Curve">
            <a:extLst>
              <a:ext uri="{FF2B5EF4-FFF2-40B4-BE49-F238E27FC236}">
                <a16:creationId xmlns:a16="http://schemas.microsoft.com/office/drawing/2014/main" id="{3A0807AD-9050-8E2B-3962-0263E5A6D123}"/>
              </a:ext>
            </a:extLst>
          </p:cNvPr>
          <p:cNvSpPr txBox="1">
            <a:spLocks/>
          </p:cNvSpPr>
          <p:nvPr/>
        </p:nvSpPr>
        <p:spPr>
          <a:xfrm>
            <a:off x="7839540" y="8831868"/>
            <a:ext cx="4255267" cy="513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of MC</a:t>
            </a:r>
            <a:r>
              <a:rPr 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Efficiency of MC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58E922-6CAE-3E1F-D180-917345831FA5}"/>
              </a:ext>
            </a:extLst>
          </p:cNvPr>
          <p:cNvGrpSpPr/>
          <p:nvPr/>
        </p:nvGrpSpPr>
        <p:grpSpPr>
          <a:xfrm>
            <a:off x="939673" y="2354877"/>
            <a:ext cx="4766859" cy="3957281"/>
            <a:chOff x="939673" y="2354877"/>
            <a:chExt cx="4766859" cy="395728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CF0D20F-C973-B2C8-12F3-76F18D08BA00}"/>
                </a:ext>
              </a:extLst>
            </p:cNvPr>
            <p:cNvGrpSpPr/>
            <p:nvPr/>
          </p:nvGrpSpPr>
          <p:grpSpPr>
            <a:xfrm>
              <a:off x="939673" y="2354877"/>
              <a:ext cx="4766859" cy="3957281"/>
              <a:chOff x="939673" y="2354877"/>
              <a:chExt cx="4766859" cy="395728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F52FA09D-48D7-4EC3-558A-0851D32EDE74}"/>
                  </a:ext>
                </a:extLst>
              </p:cNvPr>
              <p:cNvGrpSpPr/>
              <p:nvPr/>
            </p:nvGrpSpPr>
            <p:grpSpPr>
              <a:xfrm>
                <a:off x="939673" y="2354877"/>
                <a:ext cx="4766859" cy="3957281"/>
                <a:chOff x="939673" y="2354877"/>
                <a:chExt cx="4766859" cy="395728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57148DB-1F2C-AE4E-B179-E6C87DF9585D}"/>
                    </a:ext>
                  </a:extLst>
                </p:cNvPr>
                <p:cNvGrpSpPr/>
                <p:nvPr/>
              </p:nvGrpSpPr>
              <p:grpSpPr>
                <a:xfrm>
                  <a:off x="939673" y="2354877"/>
                  <a:ext cx="4617732" cy="3651245"/>
                  <a:chOff x="561789" y="1804899"/>
                  <a:chExt cx="4617732" cy="3651245"/>
                </a:xfrm>
              </p:grpSpPr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8F614763-9E9B-3B45-95B7-ACF3F36A5E98}"/>
                      </a:ext>
                    </a:extLst>
                  </p:cNvPr>
                  <p:cNvGrpSpPr/>
                  <p:nvPr/>
                </p:nvGrpSpPr>
                <p:grpSpPr>
                  <a:xfrm>
                    <a:off x="561789" y="1804899"/>
                    <a:ext cx="4617732" cy="3592212"/>
                    <a:chOff x="561789" y="1804899"/>
                    <a:chExt cx="4617732" cy="3592212"/>
                  </a:xfrm>
                </p:grpSpPr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C19D6DE5-B0F9-3149-9BC8-D43D606C5A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70000" y="1856096"/>
                      <a:ext cx="3587214" cy="3110713"/>
                      <a:chOff x="1270000" y="1856096"/>
                      <a:chExt cx="3587214" cy="3110713"/>
                    </a:xfrm>
                  </p:grpSpPr>
                  <p:cxnSp>
                    <p:nvCxnSpPr>
                      <p:cNvPr id="7" name="Straight Connector 6">
                        <a:extLst>
                          <a:ext uri="{FF2B5EF4-FFF2-40B4-BE49-F238E27FC236}">
                            <a16:creationId xmlns:a16="http://schemas.microsoft.com/office/drawing/2014/main" id="{928C6C78-121B-A547-AA6B-0673654F2C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270000" y="1856096"/>
                        <a:ext cx="0" cy="3092425"/>
                      </a:xfrm>
                      <a:prstGeom prst="line">
                        <a:avLst/>
                      </a:prstGeom>
                      <a:noFill/>
                      <a:ln w="38100" cap="flat">
                        <a:solidFill>
                          <a:srgbClr val="000000"/>
                        </a:solidFill>
                        <a:prstDash val="solid"/>
                        <a:miter lim="400000"/>
                        <a:headEnd type="triangle" w="med" len="med"/>
                        <a:tailEnd type="none" w="med" len="med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</p:cxnSp>
                  <p:cxnSp>
                    <p:nvCxnSpPr>
                      <p:cNvPr id="10" name="Straight Connector 9">
                        <a:extLst>
                          <a:ext uri="{FF2B5EF4-FFF2-40B4-BE49-F238E27FC236}">
                            <a16:creationId xmlns:a16="http://schemas.microsoft.com/office/drawing/2014/main" id="{2E89FF7C-8EBD-B340-A7B0-139869578BF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1270001" y="4939911"/>
                        <a:ext cx="3587213" cy="26898"/>
                      </a:xfrm>
                      <a:prstGeom prst="line">
                        <a:avLst/>
                      </a:prstGeom>
                      <a:noFill/>
                      <a:ln w="38100" cap="flat">
                        <a:solidFill>
                          <a:srgbClr val="000000"/>
                        </a:solidFill>
                        <a:prstDash val="solid"/>
                        <a:miter lim="400000"/>
                        <a:headEnd type="triangle" w="med" len="med"/>
                        <a:tailEnd type="none" w="med" len="med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</p:cxnSp>
                </p:grpSp>
                <p:sp>
                  <p:nvSpPr>
                    <p:cNvPr id="21" name="Shape of AC Curve">
                      <a:extLst>
                        <a:ext uri="{FF2B5EF4-FFF2-40B4-BE49-F238E27FC236}">
                          <a16:creationId xmlns:a16="http://schemas.microsoft.com/office/drawing/2014/main" id="{2EF86E41-C1E0-F746-8D96-4EF7FF354A9D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561789" y="1804899"/>
                      <a:ext cx="844177" cy="430302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lIns="50800" tIns="50800" rIns="50800" bIns="50800" anchor="b">
                      <a:norm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</a:t>
                      </a:r>
                    </a:p>
                  </p:txBody>
                </p:sp>
                <p:sp>
                  <p:nvSpPr>
                    <p:cNvPr id="22" name="Shape of AC Curve">
                      <a:extLst>
                        <a:ext uri="{FF2B5EF4-FFF2-40B4-BE49-F238E27FC236}">
                          <a16:creationId xmlns:a16="http://schemas.microsoft.com/office/drawing/2014/main" id="{3A139F85-080F-6B4D-90D7-B52A41A03CBA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4335344" y="4966809"/>
                      <a:ext cx="844177" cy="430302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lIns="50800" tIns="50800" rIns="50800" bIns="50800" anchor="b">
                      <a:norm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41839577-59BC-4F4A-A425-AF5D9C339601}"/>
                      </a:ext>
                    </a:extLst>
                  </p:cNvPr>
                  <p:cNvGrpSpPr/>
                  <p:nvPr/>
                </p:nvGrpSpPr>
                <p:grpSpPr>
                  <a:xfrm>
                    <a:off x="1677798" y="2108895"/>
                    <a:ext cx="3242490" cy="3347249"/>
                    <a:chOff x="1614724" y="2105650"/>
                    <a:chExt cx="3242490" cy="3347249"/>
                  </a:xfrm>
                </p:grpSpPr>
                <p:grpSp>
                  <p:nvGrpSpPr>
                    <p:cNvPr id="6" name="Group 5">
                      <a:extLst>
                        <a:ext uri="{FF2B5EF4-FFF2-40B4-BE49-F238E27FC236}">
                          <a16:creationId xmlns:a16="http://schemas.microsoft.com/office/drawing/2014/main" id="{1544F6E4-73FF-0C42-A59A-334326D9D1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14724" y="2105650"/>
                      <a:ext cx="3242490" cy="2080641"/>
                      <a:chOff x="1614724" y="2105650"/>
                      <a:chExt cx="3242490" cy="2080641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95D74D8C-D42A-9C41-B2E3-43D17DDA058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14724" y="2105650"/>
                        <a:ext cx="3242490" cy="1596776"/>
                        <a:chOff x="1614724" y="2105650"/>
                        <a:chExt cx="3242490" cy="1596776"/>
                      </a:xfrm>
                    </p:grpSpPr>
                    <p:sp>
                      <p:nvSpPr>
                        <p:cNvPr id="20" name="Shape of AC Curve">
                          <a:extLst>
                            <a:ext uri="{FF2B5EF4-FFF2-40B4-BE49-F238E27FC236}">
                              <a16:creationId xmlns:a16="http://schemas.microsoft.com/office/drawing/2014/main" id="{C3132346-4ABD-4045-9799-AA4CF894CAF1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>
                        <a:xfrm>
                          <a:off x="3627555" y="2105650"/>
                          <a:ext cx="1229659" cy="645457"/>
                        </a:xfrm>
                        <a:prstGeom prst="rect">
                          <a:avLst/>
                        </a:prstGeom>
                        <a:ln w="12700">
                          <a:miter lim="400000"/>
                        </a:ln>
                        <a:extLst>
                          <a:ext uri="{C572A759-6A51-4108-AA02-DFA0A04FC94B}">
  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  </a:ext>
                        </a:extLst>
                      </p:spPr>
                      <p:txBody>
                        <a:bodyPr lIns="50800" tIns="50800" rIns="50800" bIns="50800" anchor="b">
                          <a:normAutofit/>
                        </a:bodyPr>
                        <a:lstStyle>
                          <a:lvl1pPr marL="0" marR="0" indent="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1pPr>
                          <a:lvl2pPr marL="0" marR="0" indent="2286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2pPr>
                          <a:lvl3pPr marL="0" marR="0" indent="4572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3pPr>
                          <a:lvl4pPr marL="0" marR="0" indent="6858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4pPr>
                          <a:lvl5pPr marL="0" marR="0" indent="9144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5pPr>
                          <a:lvl6pPr marL="0" marR="0" indent="11430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6pPr>
                          <a:lvl7pPr marL="0" marR="0" indent="13716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7pPr>
                          <a:lvl8pPr marL="0" marR="0" indent="16002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8pPr>
                          <a:lvl9pPr marL="0" marR="0" indent="1828800" algn="ctr" defTabSz="584200" rtl="0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0" b="0" i="0" u="none" strike="noStrike" cap="none" spc="0" baseline="0">
                              <a:solidFill>
                                <a:srgbClr val="000000"/>
                              </a:solidFill>
                              <a:uFillTx/>
                              <a:latin typeface="+mn-lt"/>
                              <a:ea typeface="+mn-ea"/>
                              <a:cs typeface="+mn-cs"/>
                              <a:sym typeface="Helvetica Light"/>
                            </a:defRPr>
                          </a:lvl9pPr>
                        </a:lstStyle>
                        <a:p>
                          <a:pPr hangingPunct="1"/>
                          <a:r>
                            <a:rPr 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</a:t>
                          </a:r>
                        </a:p>
                      </p:txBody>
                    </p:sp>
                    <p:sp>
                      <p:nvSpPr>
                        <p:cNvPr id="30" name="Connection Line">
                          <a:extLst>
                            <a:ext uri="{FF2B5EF4-FFF2-40B4-BE49-F238E27FC236}">
                              <a16:creationId xmlns:a16="http://schemas.microsoft.com/office/drawing/2014/main" id="{82E0FB96-5DD6-2249-97FB-70138B674B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14724" y="2431206"/>
                          <a:ext cx="2329747" cy="1271220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wd2" y="hd2"/>
                            </a:cxn>
                            <a:cxn ang="5400000">
                              <a:pos x="wd2" y="hd2"/>
                            </a:cxn>
                            <a:cxn ang="10800000">
                              <a:pos x="wd2" y="hd2"/>
                            </a:cxn>
                            <a:cxn ang="16200000">
                              <a:pos x="wd2" y="hd2"/>
                            </a:cxn>
                          </a:cxnLst>
                          <a:rect l="0" t="0" r="r" b="b"/>
                          <a:pathLst>
                            <a:path w="21600" h="16217" extrusionOk="0">
                              <a:moveTo>
                                <a:pt x="21600" y="0"/>
                              </a:moveTo>
                              <a:cubicBezTo>
                                <a:pt x="12853" y="20921"/>
                                <a:pt x="5653" y="21600"/>
                                <a:pt x="0" y="2036"/>
                              </a:cubicBezTo>
                            </a:path>
                          </a:pathLst>
                        </a:custGeom>
                        <a:ln w="101600">
                          <a:solidFill>
                            <a:schemeClr val="accent5">
                              <a:hueOff val="-176146"/>
                              <a:satOff val="3665"/>
                              <a:lumOff val="-13986"/>
                            </a:schemeClr>
                          </a:solidFill>
                          <a:miter lim="400000"/>
                        </a:ln>
                      </p:spPr>
                      <p:txBody>
                        <a:bodyPr/>
                        <a:lstStyle/>
                        <a:p>
                          <a:endParaRPr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5" name="Shape of AC Curve">
                        <a:extLst>
                          <a:ext uri="{FF2B5EF4-FFF2-40B4-BE49-F238E27FC236}">
                            <a16:creationId xmlns:a16="http://schemas.microsoft.com/office/drawing/2014/main" id="{265D7980-54A7-5346-99A0-8A9E1CE6ED27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>
                      <a:xfrm>
                        <a:off x="2659450" y="3794212"/>
                        <a:ext cx="297985" cy="392079"/>
                      </a:xfrm>
                      <a:prstGeom prst="rect">
                        <a:avLst/>
                      </a:prstGeom>
                      <a:ln w="12700">
                        <a:miter lim="400000"/>
                      </a:ln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 lIns="50800" tIns="50800" rIns="50800" bIns="50800" anchor="b">
                        <a:normAutofit lnSpcReduction="10000"/>
                      </a:bodyPr>
                      <a:lstStyle>
                        <a:lvl1pPr marL="0" marR="0" indent="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1pPr>
                        <a:lvl2pPr marL="0" marR="0" indent="2286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2pPr>
                        <a:lvl3pPr marL="0" marR="0" indent="4572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3pPr>
                        <a:lvl4pPr marL="0" marR="0" indent="6858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4pPr>
                        <a:lvl5pPr marL="0" marR="0" indent="9144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5pPr>
                        <a:lvl6pPr marL="0" marR="0" indent="11430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6pPr>
                        <a:lvl7pPr marL="0" marR="0" indent="13716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7pPr>
                        <a:lvl8pPr marL="0" marR="0" indent="16002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8pPr>
                        <a:lvl9pPr marL="0" marR="0" indent="1828800" algn="ctr" defTabSz="584200" rtl="0" latinLnBrk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8000" b="0" i="0" u="none" strike="noStrike" cap="none" spc="0" baseline="0">
                            <a:solidFill>
                              <a:srgbClr val="000000"/>
                            </a:solidFill>
                            <a:uFillTx/>
                            <a:latin typeface="+mn-lt"/>
                            <a:ea typeface="+mn-ea"/>
                            <a:cs typeface="+mn-cs"/>
                            <a:sym typeface="Helvetica Light"/>
                          </a:defRPr>
                        </a:lvl9pPr>
                      </a:lstStyle>
                      <a:p>
                        <a:pPr hangingPunct="1"/>
                        <a: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</a:t>
                        </a:r>
                      </a:p>
                    </p:txBody>
                  </p:sp>
                  <p:cxnSp>
                    <p:nvCxnSpPr>
                      <p:cNvPr id="5" name="Straight Connector 4">
                        <a:extLst>
                          <a:ext uri="{FF2B5EF4-FFF2-40B4-BE49-F238E27FC236}">
                            <a16:creationId xmlns:a16="http://schemas.microsoft.com/office/drawing/2014/main" id="{AC9CA459-1C41-8E4D-8868-B2746D79537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2592878" y="3541062"/>
                        <a:ext cx="0" cy="322728"/>
                      </a:xfrm>
                      <a:prstGeom prst="line">
                        <a:avLst/>
                      </a:prstGeom>
                      <a:noFill/>
                      <a:ln w="38100" cap="flat">
                        <a:solidFill>
                          <a:srgbClr val="FF0000"/>
                        </a:solidFill>
                        <a:prstDash val="solid"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</p:cxnSp>
                </p:grpSp>
                <p:cxnSp>
                  <p:nvCxnSpPr>
                    <p:cNvPr id="9" name="Straight Connector 8">
                      <a:extLst>
                        <a:ext uri="{FF2B5EF4-FFF2-40B4-BE49-F238E27FC236}">
                          <a16:creationId xmlns:a16="http://schemas.microsoft.com/office/drawing/2014/main" id="{D45F5694-75AB-9C44-95AE-56E58AB6D19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592878" y="3774147"/>
                      <a:ext cx="0" cy="1174374"/>
                    </a:xfrm>
                    <a:prstGeom prst="line">
                      <a:avLst/>
                    </a:prstGeom>
                    <a:noFill/>
                    <a:ln w="254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38" name="Shape of AC Curve">
                      <a:extLst>
                        <a:ext uri="{FF2B5EF4-FFF2-40B4-BE49-F238E27FC236}">
                          <a16:creationId xmlns:a16="http://schemas.microsoft.com/office/drawing/2014/main" id="{99FE98A2-C1CD-2D44-9B5F-440FD342434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1978212" y="4807442"/>
                      <a:ext cx="1229659" cy="645457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 lIns="50800" tIns="50800" rIns="50800" bIns="50800" anchor="b">
                      <a:norm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p:txBody>
                </p:sp>
              </p:grpSp>
            </p:grpSp>
            <p:sp>
              <p:nvSpPr>
                <p:cNvPr id="27" name="Shape of AC Curve">
                  <a:extLst>
                    <a:ext uri="{FF2B5EF4-FFF2-40B4-BE49-F238E27FC236}">
                      <a16:creationId xmlns:a16="http://schemas.microsoft.com/office/drawing/2014/main" id="{3BDBC987-D5FA-947F-386C-003EE66C1E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376785" y="4285317"/>
                  <a:ext cx="232974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algn="l" hangingPunct="1"/>
                  <a:r>
                    <a:rPr lang="en-US" sz="20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Least Cost Point</a:t>
                  </a:r>
                </a:p>
              </p:txBody>
            </p:sp>
            <p:sp>
              <p:nvSpPr>
                <p:cNvPr id="29" name="Shape of AC Curve">
                  <a:extLst>
                    <a:ext uri="{FF2B5EF4-FFF2-40B4-BE49-F238E27FC236}">
                      <a16:creationId xmlns:a16="http://schemas.microsoft.com/office/drawing/2014/main" id="{2D31F830-1E97-F634-1034-B4FDF00AFE4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07239" y="5802705"/>
                  <a:ext cx="1432908" cy="509453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rmAutofit fontScale="77500" lnSpcReduction="20000"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Optimum Output</a:t>
                  </a:r>
                </a:p>
              </p:txBody>
            </p:sp>
            <p:sp>
              <p:nvSpPr>
                <p:cNvPr id="41" name="Shape of AC Curve">
                  <a:extLst>
                    <a:ext uri="{FF2B5EF4-FFF2-40B4-BE49-F238E27FC236}">
                      <a16:creationId xmlns:a16="http://schemas.microsoft.com/office/drawing/2014/main" id="{FDEE06AA-CD50-9BAF-8204-9A93411389F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92992" y="4492163"/>
                  <a:ext cx="634994" cy="64545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rmAutofit fontScale="85000" lnSpcReduction="10000"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Least Cost</a:t>
                  </a:r>
                </a:p>
              </p:txBody>
            </p:sp>
          </p:grpSp>
          <p:sp>
            <p:nvSpPr>
              <p:cNvPr id="42" name="Left Brace 41">
                <a:extLst>
                  <a:ext uri="{FF2B5EF4-FFF2-40B4-BE49-F238E27FC236}">
                    <a16:creationId xmlns:a16="http://schemas.microsoft.com/office/drawing/2014/main" id="{0748802E-1B58-4100-70EC-91D1D2D7A128}"/>
                  </a:ext>
                </a:extLst>
              </p:cNvPr>
              <p:cNvSpPr/>
              <p:nvPr/>
            </p:nvSpPr>
            <p:spPr>
              <a:xfrm>
                <a:off x="2622474" y="4310078"/>
                <a:ext cx="417662" cy="1164767"/>
              </a:xfrm>
              <a:prstGeom prst="leftBrac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p:sp>
          <p:nvSpPr>
            <p:cNvPr id="51" name="Left Brace 50">
              <a:extLst>
                <a:ext uri="{FF2B5EF4-FFF2-40B4-BE49-F238E27FC236}">
                  <a16:creationId xmlns:a16="http://schemas.microsoft.com/office/drawing/2014/main" id="{7D953911-CEA7-C9FE-789A-749264C95DC7}"/>
                </a:ext>
              </a:extLst>
            </p:cNvPr>
            <p:cNvSpPr/>
            <p:nvPr/>
          </p:nvSpPr>
          <p:spPr>
            <a:xfrm rot="16200000">
              <a:off x="2144206" y="4994380"/>
              <a:ext cx="379169" cy="1370187"/>
            </a:xfrm>
            <a:prstGeom prst="leftBrac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45096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7" grpId="0" animBg="1"/>
      <p:bldP spid="39" grpId="0" animBg="1"/>
      <p:bldP spid="40" grpId="0" animBg="1"/>
      <p:bldP spid="44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of AC Curve"/>
          <p:cNvSpPr txBox="1">
            <a:spLocks noGrp="1"/>
          </p:cNvSpPr>
          <p:nvPr>
            <p:ph type="ctrTitle"/>
          </p:nvPr>
        </p:nvSpPr>
        <p:spPr>
          <a:xfrm>
            <a:off x="1844723" y="-45664"/>
            <a:ext cx="10464800" cy="64310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RUN COST FORMULAE   (A Snap-Shot)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EE4D1-8A65-7B4D-8F1E-5AF36C86D14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267688" y="9143686"/>
            <a:ext cx="368504" cy="381000"/>
          </a:xfrm>
        </p:spPr>
        <p:txBody>
          <a:bodyPr/>
          <a:lstStyle/>
          <a:p>
            <a:fld id="{86CB4B4D-7CA3-9044-876B-883B54F8677D}" type="slidenum">
              <a:rPr lang="en-IN" smtClean="0"/>
              <a:t>8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C16403-4D66-7C45-89C2-3FF7CD72B56B}"/>
              </a:ext>
            </a:extLst>
          </p:cNvPr>
          <p:cNvGrpSpPr/>
          <p:nvPr/>
        </p:nvGrpSpPr>
        <p:grpSpPr>
          <a:xfrm>
            <a:off x="815469" y="3844519"/>
            <a:ext cx="11097234" cy="2060170"/>
            <a:chOff x="815469" y="3844519"/>
            <a:chExt cx="11097234" cy="206017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6641A8-9B24-3E44-8CBF-B029B0451412}"/>
                </a:ext>
              </a:extLst>
            </p:cNvPr>
            <p:cNvSpPr/>
            <p:nvPr/>
          </p:nvSpPr>
          <p:spPr>
            <a:xfrm>
              <a:off x="815470" y="3844519"/>
              <a:ext cx="5448262" cy="2055779"/>
            </a:xfrm>
            <a:prstGeom prst="rect">
              <a:avLst/>
            </a:prstGeom>
            <a:noFill/>
            <a:ln w="5715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496C7BA-CBA0-6444-B8F0-DCE610DD199A}"/>
                </a:ext>
              </a:extLst>
            </p:cNvPr>
            <p:cNvGrpSpPr/>
            <p:nvPr/>
          </p:nvGrpSpPr>
          <p:grpSpPr>
            <a:xfrm>
              <a:off x="815469" y="3855145"/>
              <a:ext cx="11097234" cy="2049544"/>
              <a:chOff x="815469" y="3855145"/>
              <a:chExt cx="11097234" cy="204954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1794FED-5871-0B44-9681-1DBC89FF61EA}"/>
                  </a:ext>
                </a:extLst>
              </p:cNvPr>
              <p:cNvSpPr/>
              <p:nvPr/>
            </p:nvSpPr>
            <p:spPr>
              <a:xfrm>
                <a:off x="815469" y="5228136"/>
                <a:ext cx="11097233" cy="471924"/>
              </a:xfrm>
              <a:prstGeom prst="rect">
                <a:avLst/>
              </a:prstGeom>
              <a:noFill/>
              <a:ln w="5715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A887F8-43F6-BB47-850C-5540F64028BE}"/>
                  </a:ext>
                </a:extLst>
              </p:cNvPr>
              <p:cNvSpPr/>
              <p:nvPr/>
            </p:nvSpPr>
            <p:spPr>
              <a:xfrm>
                <a:off x="6311799" y="3855145"/>
                <a:ext cx="5600904" cy="2049544"/>
              </a:xfrm>
              <a:prstGeom prst="rect">
                <a:avLst/>
              </a:prstGeom>
              <a:noFill/>
              <a:ln w="5715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F99A874-8417-484B-A9E3-06706C53E132}"/>
              </a:ext>
            </a:extLst>
          </p:cNvPr>
          <p:cNvGrpSpPr/>
          <p:nvPr/>
        </p:nvGrpSpPr>
        <p:grpSpPr>
          <a:xfrm>
            <a:off x="1212290" y="753035"/>
            <a:ext cx="10953005" cy="1792195"/>
            <a:chOff x="839503" y="753035"/>
            <a:chExt cx="10953005" cy="17921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40ECCD-CD6B-9247-AFD0-BAC944D901EB}"/>
                </a:ext>
              </a:extLst>
            </p:cNvPr>
            <p:cNvSpPr/>
            <p:nvPr/>
          </p:nvSpPr>
          <p:spPr>
            <a:xfrm>
              <a:off x="839503" y="753035"/>
              <a:ext cx="10953005" cy="17921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8AED87-EE96-574E-9405-E3F9CFF77CAD}"/>
                </a:ext>
              </a:extLst>
            </p:cNvPr>
            <p:cNvSpPr txBox="1"/>
            <p:nvPr/>
          </p:nvSpPr>
          <p:spPr>
            <a:xfrm>
              <a:off x="2569210" y="948423"/>
              <a:ext cx="233463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Fixed Cost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0C6ABA-F5FB-864F-99C9-A6EA1C84A24E}"/>
                </a:ext>
              </a:extLst>
            </p:cNvPr>
            <p:cNvSpPr txBox="1"/>
            <p:nvPr/>
          </p:nvSpPr>
          <p:spPr>
            <a:xfrm>
              <a:off x="7187248" y="960244"/>
              <a:ext cx="2891715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Variable Cost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Shape of AC Curve">
                  <a:extLst>
                    <a:ext uri="{FF2B5EF4-FFF2-40B4-BE49-F238E27FC236}">
                      <a16:creationId xmlns:a16="http://schemas.microsoft.com/office/drawing/2014/main" id="{30B60439-02EF-1945-9A6B-35CFDF3853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320497" y="1374684"/>
                  <a:ext cx="3189739" cy="778274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𝐓𝐅𝐂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𝑨𝑭𝑪</m:t>
                            </m:r>
                          </m:e>
                        </m:d>
                        <m:d>
                          <m:d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oMath>
                    </m:oMathPara>
                  </a14:m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Shape of AC Curve">
                  <a:extLst>
                    <a:ext uri="{FF2B5EF4-FFF2-40B4-BE49-F238E27FC236}">
                      <a16:creationId xmlns:a16="http://schemas.microsoft.com/office/drawing/2014/main" id="{30B60439-02EF-1945-9A6B-35CFDF385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0497" y="1374684"/>
                  <a:ext cx="3189739" cy="778274"/>
                </a:xfrm>
                <a:prstGeom prst="rect">
                  <a:avLst/>
                </a:prstGeom>
                <a:blipFill>
                  <a:blip r:embed="rId2"/>
                  <a:stretch>
                    <a:fillRect l="-3571" b="-14516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Shape of AC Curve">
                  <a:extLst>
                    <a:ext uri="{FF2B5EF4-FFF2-40B4-BE49-F238E27FC236}">
                      <a16:creationId xmlns:a16="http://schemas.microsoft.com/office/drawing/2014/main" id="{5567E135-B880-C943-BF37-6898710B56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296573" y="1343405"/>
                  <a:ext cx="3189739" cy="778274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𝐓𝐕𝐂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𝑨𝑽𝑪</m:t>
                            </m:r>
                          </m:e>
                        </m:d>
                        <m:d>
                          <m:d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oMath>
                    </m:oMathPara>
                  </a14:m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Shape of AC Curve">
                  <a:extLst>
                    <a:ext uri="{FF2B5EF4-FFF2-40B4-BE49-F238E27FC236}">
                      <a16:creationId xmlns:a16="http://schemas.microsoft.com/office/drawing/2014/main" id="{5567E135-B880-C943-BF37-6898710B56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6573" y="1343405"/>
                  <a:ext cx="3189739" cy="778274"/>
                </a:xfrm>
                <a:prstGeom prst="rect">
                  <a:avLst/>
                </a:prstGeom>
                <a:blipFill>
                  <a:blip r:embed="rId3"/>
                  <a:stretch>
                    <a:fillRect l="-3968" b="-12698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7BA821-C37A-3549-B8AF-0E08EE5C4E3F}"/>
              </a:ext>
            </a:extLst>
          </p:cNvPr>
          <p:cNvGrpSpPr/>
          <p:nvPr/>
        </p:nvGrpSpPr>
        <p:grpSpPr>
          <a:xfrm>
            <a:off x="1212290" y="4289551"/>
            <a:ext cx="11097233" cy="1449554"/>
            <a:chOff x="839503" y="4289551"/>
            <a:chExt cx="11097233" cy="144955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A3FA20-0C05-0E4D-8A67-AB1A0B56F768}"/>
                </a:ext>
              </a:extLst>
            </p:cNvPr>
            <p:cNvSpPr/>
            <p:nvPr/>
          </p:nvSpPr>
          <p:spPr>
            <a:xfrm>
              <a:off x="839503" y="4289551"/>
              <a:ext cx="10953005" cy="13788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9F486B-C1A8-144C-8A22-8666421EF6F4}"/>
                </a:ext>
              </a:extLst>
            </p:cNvPr>
            <p:cNvSpPr txBox="1"/>
            <p:nvPr/>
          </p:nvSpPr>
          <p:spPr>
            <a:xfrm>
              <a:off x="4852609" y="4374096"/>
              <a:ext cx="233463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Total Cost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hape of AC Curve">
                  <a:extLst>
                    <a:ext uri="{FF2B5EF4-FFF2-40B4-BE49-F238E27FC236}">
                      <a16:creationId xmlns:a16="http://schemas.microsoft.com/office/drawing/2014/main" id="{6F1ADCAE-CEDC-4345-B0F1-40941DF3CA3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9504" y="4960831"/>
                  <a:ext cx="11097232" cy="778274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 xmlns:m="http://schemas.openxmlformats.org/officeDocument/2006/math">
                      <m:r>
                        <a:rPr lang="en-US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𝑻𝑭𝑪</m:t>
                          </m:r>
                        </m:e>
                      </m:d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𝑻𝑽𝑪</m:t>
                          </m:r>
                        </m:e>
                      </m:d>
                    </m:oMath>
                  </a14:m>
                  <a:r>
                    <a:rPr 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MC</a:t>
                  </a:r>
                  <a:r>
                    <a:rPr lang="en-US" sz="3200" b="1" baseline="-25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+ MC</a:t>
                  </a:r>
                  <a:r>
                    <a:rPr lang="en-US" sz="3200" b="1" baseline="-25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+ …+ </a:t>
                  </a:r>
                  <a:r>
                    <a:rPr lang="en-US" sz="3200" b="1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MC</a:t>
                  </a:r>
                  <a:r>
                    <a:rPr lang="en-US" sz="3200" b="1" baseline="-25000" dirty="0" err="1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𝒅𝒒</m:t>
                          </m:r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a14:m>
                  <a:endParaRPr lang="en-US" sz="32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Shape of AC Curve">
                  <a:extLst>
                    <a:ext uri="{FF2B5EF4-FFF2-40B4-BE49-F238E27FC236}">
                      <a16:creationId xmlns:a16="http://schemas.microsoft.com/office/drawing/2014/main" id="{6F1ADCAE-CEDC-4345-B0F1-40941DF3C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504" y="4960831"/>
                  <a:ext cx="11097232" cy="778274"/>
                </a:xfrm>
                <a:prstGeom prst="rect">
                  <a:avLst/>
                </a:prstGeom>
                <a:blipFill>
                  <a:blip r:embed="rId4"/>
                  <a:stretch>
                    <a:fillRect t="-111290" b="-18548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2E82FB-E09D-EF44-9D6E-BC7149EDAB98}"/>
              </a:ext>
            </a:extLst>
          </p:cNvPr>
          <p:cNvGrpSpPr/>
          <p:nvPr/>
        </p:nvGrpSpPr>
        <p:grpSpPr>
          <a:xfrm>
            <a:off x="1212290" y="2545230"/>
            <a:ext cx="10953005" cy="1858403"/>
            <a:chOff x="839503" y="2545230"/>
            <a:chExt cx="10953005" cy="185840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DF0185C-9D26-8D47-8548-B66E47A48A7D}"/>
                </a:ext>
              </a:extLst>
            </p:cNvPr>
            <p:cNvSpPr/>
            <p:nvPr/>
          </p:nvSpPr>
          <p:spPr>
            <a:xfrm>
              <a:off x="839503" y="2590342"/>
              <a:ext cx="10953005" cy="17921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Shape of AC Curve">
                  <a:extLst>
                    <a:ext uri="{FF2B5EF4-FFF2-40B4-BE49-F238E27FC236}">
                      <a16:creationId xmlns:a16="http://schemas.microsoft.com/office/drawing/2014/main" id="{2DC8FF52-4F1B-1044-B3F1-8A4749CED48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619541" y="3232138"/>
                  <a:ext cx="3963532" cy="114709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𝑨𝑭𝑪</m:t>
                        </m:r>
                        <m:r>
                          <a:rPr lang="en-US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𝑻𝑭𝑪</m:t>
                            </m:r>
                          </m:num>
                          <m:den>
                            <m:r>
                              <a:rPr lang="en-US" sz="3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den>
                        </m:f>
                      </m:oMath>
                    </m:oMathPara>
                  </a14:m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Shape of AC Curve">
                  <a:extLst>
                    <a:ext uri="{FF2B5EF4-FFF2-40B4-BE49-F238E27FC236}">
                      <a16:creationId xmlns:a16="http://schemas.microsoft.com/office/drawing/2014/main" id="{2DC8FF52-4F1B-1044-B3F1-8A4749CED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541" y="3232138"/>
                  <a:ext cx="3963532" cy="1147092"/>
                </a:xfrm>
                <a:prstGeom prst="rect">
                  <a:avLst/>
                </a:prstGeom>
                <a:blipFill>
                  <a:blip r:embed="rId5"/>
                  <a:stretch>
                    <a:fillRect b="-10989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Shape of AC Curve">
                  <a:extLst>
                    <a:ext uri="{FF2B5EF4-FFF2-40B4-BE49-F238E27FC236}">
                      <a16:creationId xmlns:a16="http://schemas.microsoft.com/office/drawing/2014/main" id="{17708A7E-ECD3-364E-BB0D-C9795966682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098720" y="3296705"/>
                  <a:ext cx="3509045" cy="110692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𝑨𝑽𝑪</m:t>
                        </m:r>
                        <m:r>
                          <a:rPr lang="en-US" sz="3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sz="3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  <m:r>
                              <a:rPr lang="en-US" sz="32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𝑪</m:t>
                            </m:r>
                          </m:num>
                          <m:den>
                            <m:r>
                              <a:rPr lang="en-US" sz="3200" b="1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den>
                        </m:f>
                      </m:oMath>
                    </m:oMathPara>
                  </a14:m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Shape of AC Curve">
                  <a:extLst>
                    <a:ext uri="{FF2B5EF4-FFF2-40B4-BE49-F238E27FC236}">
                      <a16:creationId xmlns:a16="http://schemas.microsoft.com/office/drawing/2014/main" id="{17708A7E-ECD3-364E-BB0D-C97959666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8720" y="3296705"/>
                  <a:ext cx="3509045" cy="1106928"/>
                </a:xfrm>
                <a:prstGeom prst="rect">
                  <a:avLst/>
                </a:prstGeom>
                <a:blipFill>
                  <a:blip r:embed="rId6"/>
                  <a:stretch>
                    <a:fillRect b="-1136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51E9B-4DA8-9740-938E-53375CCBDDE4}"/>
                </a:ext>
              </a:extLst>
            </p:cNvPr>
            <p:cNvSpPr txBox="1"/>
            <p:nvPr/>
          </p:nvSpPr>
          <p:spPr>
            <a:xfrm>
              <a:off x="1865778" y="2545230"/>
              <a:ext cx="3717295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Average Fixed Cost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FA9BE5-D5A7-D048-9B94-8A09B951AB89}"/>
                </a:ext>
              </a:extLst>
            </p:cNvPr>
            <p:cNvSpPr txBox="1"/>
            <p:nvPr/>
          </p:nvSpPr>
          <p:spPr>
            <a:xfrm>
              <a:off x="6898535" y="2557051"/>
              <a:ext cx="4057455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Average Variable Cost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4AF997E-3D85-BD4D-9DAE-CE754C8B422C}"/>
              </a:ext>
            </a:extLst>
          </p:cNvPr>
          <p:cNvGrpSpPr/>
          <p:nvPr/>
        </p:nvGrpSpPr>
        <p:grpSpPr>
          <a:xfrm>
            <a:off x="1212290" y="5700060"/>
            <a:ext cx="10953005" cy="1792195"/>
            <a:chOff x="839503" y="5700060"/>
            <a:chExt cx="10953005" cy="179219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2F847FC-3260-F94B-843D-65A2452E18B5}"/>
                </a:ext>
              </a:extLst>
            </p:cNvPr>
            <p:cNvSpPr/>
            <p:nvPr/>
          </p:nvSpPr>
          <p:spPr>
            <a:xfrm>
              <a:off x="839503" y="5700060"/>
              <a:ext cx="10953005" cy="17921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Shape of AC Curve">
                  <a:extLst>
                    <a:ext uri="{FF2B5EF4-FFF2-40B4-BE49-F238E27FC236}">
                      <a16:creationId xmlns:a16="http://schemas.microsoft.com/office/drawing/2014/main" id="{FCB21DB0-CEF1-544A-9A09-AFFC1B9F2D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96829" y="6639369"/>
                  <a:ext cx="9829937" cy="778274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 xmlns:m="http://schemas.openxmlformats.org/officeDocument/2006/math">
                      <m:r>
                        <a:rPr lang="en-US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𝐀𝐂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𝐀𝐓𝐂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32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𝑻𝑭𝑪</m:t>
                              </m:r>
                            </m:e>
                          </m:d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</m:t>
                          </m:r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𝑻𝑽𝑪</m:t>
                          </m:r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US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sz="3200" b="1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AFC + AVC </a:t>
                  </a:r>
                  <a:endPara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Shape of AC Curve">
                  <a:extLst>
                    <a:ext uri="{FF2B5EF4-FFF2-40B4-BE49-F238E27FC236}">
                      <a16:creationId xmlns:a16="http://schemas.microsoft.com/office/drawing/2014/main" id="{FCB21DB0-CEF1-544A-9A09-AFFC1B9F2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829" y="6639369"/>
                  <a:ext cx="9829937" cy="778274"/>
                </a:xfrm>
                <a:prstGeom prst="rect">
                  <a:avLst/>
                </a:prstGeom>
                <a:blipFill>
                  <a:blip r:embed="rId7"/>
                  <a:stretch>
                    <a:fillRect t="-6349" b="-7937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9E946E-4996-2345-8456-2D2BC9DE50D2}"/>
                </a:ext>
              </a:extLst>
            </p:cNvPr>
            <p:cNvSpPr txBox="1"/>
            <p:nvPr/>
          </p:nvSpPr>
          <p:spPr>
            <a:xfrm>
              <a:off x="4161280" y="5793625"/>
              <a:ext cx="3717295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Average Cost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E1D4CC3-E311-2B42-B812-767645D28B64}"/>
              </a:ext>
            </a:extLst>
          </p:cNvPr>
          <p:cNvGrpSpPr/>
          <p:nvPr/>
        </p:nvGrpSpPr>
        <p:grpSpPr>
          <a:xfrm>
            <a:off x="1212290" y="7556120"/>
            <a:ext cx="10953005" cy="1792195"/>
            <a:chOff x="839503" y="7556120"/>
            <a:chExt cx="10953005" cy="179219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A4EFA5-1041-8840-863D-CBE87E689920}"/>
                </a:ext>
              </a:extLst>
            </p:cNvPr>
            <p:cNvSpPr/>
            <p:nvPr/>
          </p:nvSpPr>
          <p:spPr>
            <a:xfrm>
              <a:off x="839503" y="7556120"/>
              <a:ext cx="10953005" cy="17921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hape of AC Curve">
                  <a:extLst>
                    <a:ext uri="{FF2B5EF4-FFF2-40B4-BE49-F238E27FC236}">
                      <a16:creationId xmlns:a16="http://schemas.microsoft.com/office/drawing/2014/main" id="{4CB81E4C-CED7-C643-A403-E30A5EEE59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68387" y="8025620"/>
                  <a:ext cx="8190690" cy="111806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14:m>
                    <m:oMath xmlns:m="http://schemas.openxmlformats.org/officeDocument/2006/math">
                      <m:r>
                        <a:rPr lang="en-US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𝐌𝐂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3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TC</m:t>
                      </m:r>
                      <m:r>
                        <m:rPr>
                          <m:nor/>
                        </m:rPr>
                        <a:rPr lang="en-US" sz="3200" b="1" baseline="-25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3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– </m:t>
                      </m:r>
                      <m:r>
                        <m:rPr>
                          <m:nor/>
                        </m:rPr>
                        <a:rPr lang="en-US" sz="3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TC</m:t>
                      </m:r>
                      <m:r>
                        <m:rPr>
                          <m:nor/>
                        </m:rPr>
                        <a:rPr lang="en-US" sz="3200" b="1" baseline="-25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1" baseline="-25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3200" b="1" baseline="-25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−1)=</m:t>
                      </m:r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</m:oMath>
                  </a14:m>
                  <a:r>
                    <a:rPr lang="en-US" sz="32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3200" b="1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Shape of AC Curve">
                  <a:extLst>
                    <a:ext uri="{FF2B5EF4-FFF2-40B4-BE49-F238E27FC236}">
                      <a16:creationId xmlns:a16="http://schemas.microsoft.com/office/drawing/2014/main" id="{4CB81E4C-CED7-C643-A403-E30A5EEE5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8387" y="8025620"/>
                  <a:ext cx="8190690" cy="1118066"/>
                </a:xfrm>
                <a:prstGeom prst="rect">
                  <a:avLst/>
                </a:prstGeom>
                <a:blipFill>
                  <a:blip r:embed="rId8"/>
                  <a:stretch>
                    <a:fillRect b="-6818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E4A74E-BF2F-E841-87A8-5BFC219F39FC}"/>
                </a:ext>
              </a:extLst>
            </p:cNvPr>
            <p:cNvSpPr txBox="1"/>
            <p:nvPr/>
          </p:nvSpPr>
          <p:spPr>
            <a:xfrm>
              <a:off x="4161280" y="7758880"/>
              <a:ext cx="3717295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Marginal</a:t>
              </a:r>
              <a:r>
                <a:rPr kumimoji="0" lang="en-US" sz="2800" b="1" i="0" u="none" strike="noStrike" cap="none" spc="0" normalizeH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 </a:t>
              </a: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rPr>
                <a:t>Cost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31273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of AC Curve">
            <a:extLst>
              <a:ext uri="{FF2B5EF4-FFF2-40B4-BE49-F238E27FC236}">
                <a16:creationId xmlns:a16="http://schemas.microsoft.com/office/drawing/2014/main" id="{4F8EA15F-73F8-E342-9BE3-3DA5EE7BBFB4}"/>
              </a:ext>
            </a:extLst>
          </p:cNvPr>
          <p:cNvSpPr txBox="1">
            <a:spLocks/>
          </p:cNvSpPr>
          <p:nvPr/>
        </p:nvSpPr>
        <p:spPr>
          <a:xfrm>
            <a:off x="561789" y="488976"/>
            <a:ext cx="7845232" cy="513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AC, AVC and MC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FFC544-E050-604D-AB9B-64263D8F1E02}"/>
              </a:ext>
            </a:extLst>
          </p:cNvPr>
          <p:cNvGrpSpPr/>
          <p:nvPr/>
        </p:nvGrpSpPr>
        <p:grpSpPr>
          <a:xfrm>
            <a:off x="1005840" y="1280160"/>
            <a:ext cx="10652760" cy="7566660"/>
            <a:chOff x="2854658" y="2342326"/>
            <a:chExt cx="6451305" cy="5068947"/>
          </a:xfrm>
        </p:grpSpPr>
        <p:sp>
          <p:nvSpPr>
            <p:cNvPr id="21" name="Shape of AC Curve">
              <a:extLst>
                <a:ext uri="{FF2B5EF4-FFF2-40B4-BE49-F238E27FC236}">
                  <a16:creationId xmlns:a16="http://schemas.microsoft.com/office/drawing/2014/main" id="{2EF86E41-C1E0-F746-8D96-4EF7FF354A9D}"/>
                </a:ext>
              </a:extLst>
            </p:cNvPr>
            <p:cNvSpPr txBox="1">
              <a:spLocks/>
            </p:cNvSpPr>
            <p:nvPr/>
          </p:nvSpPr>
          <p:spPr>
            <a:xfrm>
              <a:off x="2854659" y="2353961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94BF9A4-0AEE-F74B-A19D-8DEB3BC37065}"/>
                </a:ext>
              </a:extLst>
            </p:cNvPr>
            <p:cNvGrpSpPr/>
            <p:nvPr/>
          </p:nvGrpSpPr>
          <p:grpSpPr>
            <a:xfrm>
              <a:off x="3698836" y="2342326"/>
              <a:ext cx="5607127" cy="5068947"/>
              <a:chOff x="2060551" y="2772735"/>
              <a:chExt cx="3443195" cy="3468941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19D6DE5-B0F9-3149-9BC8-D43D606C5ABF}"/>
                  </a:ext>
                </a:extLst>
              </p:cNvPr>
              <p:cNvGrpSpPr/>
              <p:nvPr/>
            </p:nvGrpSpPr>
            <p:grpSpPr>
              <a:xfrm>
                <a:off x="2060551" y="2772735"/>
                <a:ext cx="3131671" cy="3092425"/>
                <a:chOff x="1270000" y="1856096"/>
                <a:chExt cx="3131671" cy="3092425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928C6C78-121B-A547-AA6B-0673654F2C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0000" y="1856096"/>
                  <a:ext cx="0" cy="3092425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2E89FF7C-8EBD-B340-A7B0-139869578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000" y="4921623"/>
                  <a:ext cx="3131671" cy="0"/>
                </a:xfrm>
                <a:prstGeom prst="line">
                  <a:avLst/>
                </a:prstGeom>
                <a:noFill/>
                <a:ln w="38100" cap="flat">
                  <a:solidFill>
                    <a:srgbClr val="000000"/>
                  </a:solidFill>
                  <a:prstDash val="solid"/>
                  <a:miter lim="400000"/>
                  <a:headEnd type="triangle" w="med" len="med"/>
                  <a:tailEnd type="none" w="med" len="med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22" name="Shape of AC Curve">
                <a:extLst>
                  <a:ext uri="{FF2B5EF4-FFF2-40B4-BE49-F238E27FC236}">
                    <a16:creationId xmlns:a16="http://schemas.microsoft.com/office/drawing/2014/main" id="{3A139F85-080F-6B4D-90D7-B52A41A03C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569" y="5811374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30" name="Connection Line">
                <a:extLst>
                  <a:ext uri="{FF2B5EF4-FFF2-40B4-BE49-F238E27FC236}">
                    <a16:creationId xmlns:a16="http://schemas.microsoft.com/office/drawing/2014/main" id="{82E0FB96-5DD6-2249-97FB-70138B674BFB}"/>
                  </a:ext>
                </a:extLst>
              </p:cNvPr>
              <p:cNvSpPr/>
              <p:nvPr/>
            </p:nvSpPr>
            <p:spPr>
              <a:xfrm>
                <a:off x="2405275" y="3347845"/>
                <a:ext cx="2329747" cy="12712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17" extrusionOk="0">
                    <a:moveTo>
                      <a:pt x="21600" y="0"/>
                    </a:moveTo>
                    <a:cubicBezTo>
                      <a:pt x="12853" y="20921"/>
                      <a:pt x="5653" y="21600"/>
                      <a:pt x="0" y="2036"/>
                    </a:cubicBezTo>
                  </a:path>
                </a:pathLst>
              </a:custGeom>
              <a:ln w="10160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  <a:miter lim="400000"/>
              </a:ln>
            </p:spPr>
            <p:txBody>
              <a:bodyPr/>
              <a:lstStyle/>
              <a:p>
                <a:endParaRPr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B31EE53-16F8-884B-BF8E-B461E4A9A392}"/>
                </a:ext>
              </a:extLst>
            </p:cNvPr>
            <p:cNvGrpSpPr/>
            <p:nvPr/>
          </p:nvGrpSpPr>
          <p:grpSpPr>
            <a:xfrm>
              <a:off x="4210170" y="2732752"/>
              <a:ext cx="3128367" cy="3534345"/>
              <a:chOff x="2428117" y="2229496"/>
              <a:chExt cx="3128367" cy="3534345"/>
            </a:xfrm>
          </p:grpSpPr>
          <p:sp>
            <p:nvSpPr>
              <p:cNvPr id="27" name="Connection Line">
                <a:extLst>
                  <a:ext uri="{FF2B5EF4-FFF2-40B4-BE49-F238E27FC236}">
                    <a16:creationId xmlns:a16="http://schemas.microsoft.com/office/drawing/2014/main" id="{88887685-2EA1-1849-A158-D4FC651F4AF7}"/>
                  </a:ext>
                </a:extLst>
              </p:cNvPr>
              <p:cNvSpPr/>
              <p:nvPr/>
            </p:nvSpPr>
            <p:spPr>
              <a:xfrm>
                <a:off x="2428117" y="2665940"/>
                <a:ext cx="2664589" cy="3097901"/>
              </a:xfrm>
              <a:custGeom>
                <a:avLst/>
                <a:gdLst>
                  <a:gd name="connsiteX0" fmla="*/ 21600 w 21600"/>
                  <a:gd name="connsiteY0" fmla="*/ 0 h 23386"/>
                  <a:gd name="connsiteX1" fmla="*/ 0 w 21600"/>
                  <a:gd name="connsiteY1" fmla="*/ 13518 h 23386"/>
                  <a:gd name="connsiteX0" fmla="*/ 24389 w 24389"/>
                  <a:gd name="connsiteY0" fmla="*/ 0 h 33275"/>
                  <a:gd name="connsiteX1" fmla="*/ 0 w 24389"/>
                  <a:gd name="connsiteY1" fmla="*/ 26165 h 33275"/>
                  <a:gd name="connsiteX0" fmla="*/ 33331 w 33331"/>
                  <a:gd name="connsiteY0" fmla="*/ 0 h 35037"/>
                  <a:gd name="connsiteX1" fmla="*/ 0 w 33331"/>
                  <a:gd name="connsiteY1" fmla="*/ 28253 h 35037"/>
                  <a:gd name="connsiteX0" fmla="*/ 37192 w 37192"/>
                  <a:gd name="connsiteY0" fmla="*/ 0 h 38942"/>
                  <a:gd name="connsiteX1" fmla="*/ 0 w 37192"/>
                  <a:gd name="connsiteY1" fmla="*/ 32778 h 38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192" h="38942" extrusionOk="0">
                    <a:moveTo>
                      <a:pt x="37192" y="0"/>
                    </a:moveTo>
                    <a:cubicBezTo>
                      <a:pt x="28445" y="20921"/>
                      <a:pt x="5653" y="52342"/>
                      <a:pt x="0" y="32778"/>
                    </a:cubicBezTo>
                  </a:path>
                </a:pathLst>
              </a:custGeom>
              <a:ln w="101600">
                <a:solidFill>
                  <a:srgbClr val="00B050"/>
                </a:solidFill>
                <a:miter lim="400000"/>
              </a:ln>
            </p:spPr>
            <p:txBody>
              <a:bodyPr/>
              <a:lstStyle/>
              <a:p>
                <a:endParaRPr sz="200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Shape of AC Curve">
                <a:extLst>
                  <a:ext uri="{FF2B5EF4-FFF2-40B4-BE49-F238E27FC236}">
                    <a16:creationId xmlns:a16="http://schemas.microsoft.com/office/drawing/2014/main" id="{D54AEF7E-96E0-3740-A6C7-2BE1AC25BA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12307" y="2229496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  <p:sp>
          <p:nvSpPr>
            <p:cNvPr id="29" name="Shape of AC Curve">
              <a:extLst>
                <a:ext uri="{FF2B5EF4-FFF2-40B4-BE49-F238E27FC236}">
                  <a16:creationId xmlns:a16="http://schemas.microsoft.com/office/drawing/2014/main" id="{510D469E-521F-384E-A741-3018ECDDE26F}"/>
                </a:ext>
              </a:extLst>
            </p:cNvPr>
            <p:cNvSpPr txBox="1">
              <a:spLocks/>
            </p:cNvSpPr>
            <p:nvPr/>
          </p:nvSpPr>
          <p:spPr>
            <a:xfrm>
              <a:off x="7619136" y="2738895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sp>
          <p:nvSpPr>
            <p:cNvPr id="46" name="Shape of AC Curve">
              <a:extLst>
                <a:ext uri="{FF2B5EF4-FFF2-40B4-BE49-F238E27FC236}">
                  <a16:creationId xmlns:a16="http://schemas.microsoft.com/office/drawing/2014/main" id="{FB0792FA-35D7-B64B-AC22-43CDF6CE9EFD}"/>
                </a:ext>
              </a:extLst>
            </p:cNvPr>
            <p:cNvSpPr txBox="1">
              <a:spLocks/>
            </p:cNvSpPr>
            <p:nvPr/>
          </p:nvSpPr>
          <p:spPr>
            <a:xfrm>
              <a:off x="2854659" y="2933713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6950C65-3E6F-294B-AB0F-44DC7ECE18AF}"/>
                </a:ext>
              </a:extLst>
            </p:cNvPr>
            <p:cNvGrpSpPr/>
            <p:nvPr/>
          </p:nvGrpSpPr>
          <p:grpSpPr>
            <a:xfrm>
              <a:off x="4400255" y="3228538"/>
              <a:ext cx="4450835" cy="2867867"/>
              <a:chOff x="8234446" y="1806373"/>
              <a:chExt cx="4084725" cy="2790460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6E52159-C8DD-744A-9A9A-7563827D6152}"/>
                  </a:ext>
                </a:extLst>
              </p:cNvPr>
              <p:cNvSpPr/>
              <p:nvPr/>
            </p:nvSpPr>
            <p:spPr>
              <a:xfrm>
                <a:off x="8234446" y="1993218"/>
                <a:ext cx="3481841" cy="2603615"/>
              </a:xfrm>
              <a:custGeom>
                <a:avLst/>
                <a:gdLst>
                  <a:gd name="connsiteX0" fmla="*/ 0 w 2088107"/>
                  <a:gd name="connsiteY0" fmla="*/ 750626 h 1390326"/>
                  <a:gd name="connsiteX1" fmla="*/ 354842 w 2088107"/>
                  <a:gd name="connsiteY1" fmla="*/ 1378423 h 1390326"/>
                  <a:gd name="connsiteX2" fmla="*/ 1746913 w 2088107"/>
                  <a:gd name="connsiteY2" fmla="*/ 259307 h 1390326"/>
                  <a:gd name="connsiteX3" fmla="*/ 2088107 w 2088107"/>
                  <a:gd name="connsiteY3" fmla="*/ 0 h 1390326"/>
                  <a:gd name="connsiteX0" fmla="*/ 0 w 2088107"/>
                  <a:gd name="connsiteY0" fmla="*/ 750626 h 1379474"/>
                  <a:gd name="connsiteX1" fmla="*/ 354842 w 2088107"/>
                  <a:gd name="connsiteY1" fmla="*/ 1378423 h 1379474"/>
                  <a:gd name="connsiteX2" fmla="*/ 1394538 w 2088107"/>
                  <a:gd name="connsiteY2" fmla="*/ 883092 h 1379474"/>
                  <a:gd name="connsiteX3" fmla="*/ 1746913 w 2088107"/>
                  <a:gd name="connsiteY3" fmla="*/ 259307 h 1379474"/>
                  <a:gd name="connsiteX4" fmla="*/ 2088107 w 2088107"/>
                  <a:gd name="connsiteY4" fmla="*/ 0 h 1379474"/>
                  <a:gd name="connsiteX0" fmla="*/ 0 w 2088107"/>
                  <a:gd name="connsiteY0" fmla="*/ 750626 h 1379474"/>
                  <a:gd name="connsiteX1" fmla="*/ 354842 w 2088107"/>
                  <a:gd name="connsiteY1" fmla="*/ 1378423 h 1379474"/>
                  <a:gd name="connsiteX2" fmla="*/ 1394538 w 2088107"/>
                  <a:gd name="connsiteY2" fmla="*/ 883092 h 1379474"/>
                  <a:gd name="connsiteX3" fmla="*/ 1859290 w 2088107"/>
                  <a:gd name="connsiteY3" fmla="*/ 336791 h 1379474"/>
                  <a:gd name="connsiteX4" fmla="*/ 2088107 w 2088107"/>
                  <a:gd name="connsiteY4" fmla="*/ 0 h 1379474"/>
                  <a:gd name="connsiteX0" fmla="*/ 0 w 2222959"/>
                  <a:gd name="connsiteY0" fmla="*/ 772765 h 1379166"/>
                  <a:gd name="connsiteX1" fmla="*/ 489694 w 2222959"/>
                  <a:gd name="connsiteY1" fmla="*/ 1378423 h 1379166"/>
                  <a:gd name="connsiteX2" fmla="*/ 1529390 w 2222959"/>
                  <a:gd name="connsiteY2" fmla="*/ 883092 h 1379166"/>
                  <a:gd name="connsiteX3" fmla="*/ 1994142 w 2222959"/>
                  <a:gd name="connsiteY3" fmla="*/ 336791 h 1379166"/>
                  <a:gd name="connsiteX4" fmla="*/ 2222959 w 2222959"/>
                  <a:gd name="connsiteY4" fmla="*/ 0 h 1379166"/>
                  <a:gd name="connsiteX0" fmla="*/ 0 w 2841032"/>
                  <a:gd name="connsiteY0" fmla="*/ 1470123 h 2076524"/>
                  <a:gd name="connsiteX1" fmla="*/ 489694 w 2841032"/>
                  <a:gd name="connsiteY1" fmla="*/ 2075781 h 2076524"/>
                  <a:gd name="connsiteX2" fmla="*/ 1529390 w 2841032"/>
                  <a:gd name="connsiteY2" fmla="*/ 1580450 h 2076524"/>
                  <a:gd name="connsiteX3" fmla="*/ 1994142 w 2841032"/>
                  <a:gd name="connsiteY3" fmla="*/ 1034149 h 2076524"/>
                  <a:gd name="connsiteX4" fmla="*/ 2841032 w 2841032"/>
                  <a:gd name="connsiteY4" fmla="*/ 0 h 2076524"/>
                  <a:gd name="connsiteX0" fmla="*/ 0 w 2841032"/>
                  <a:gd name="connsiteY0" fmla="*/ 1470123 h 2076524"/>
                  <a:gd name="connsiteX1" fmla="*/ 489694 w 2841032"/>
                  <a:gd name="connsiteY1" fmla="*/ 2075781 h 2076524"/>
                  <a:gd name="connsiteX2" fmla="*/ 1529390 w 2841032"/>
                  <a:gd name="connsiteY2" fmla="*/ 1580450 h 2076524"/>
                  <a:gd name="connsiteX3" fmla="*/ 2095281 w 2841032"/>
                  <a:gd name="connsiteY3" fmla="*/ 1045218 h 2076524"/>
                  <a:gd name="connsiteX4" fmla="*/ 2841032 w 2841032"/>
                  <a:gd name="connsiteY4" fmla="*/ 0 h 2076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1032" h="2076524">
                    <a:moveTo>
                      <a:pt x="0" y="1470123"/>
                    </a:moveTo>
                    <a:cubicBezTo>
                      <a:pt x="31845" y="1824965"/>
                      <a:pt x="234796" y="2057393"/>
                      <a:pt x="489694" y="2075781"/>
                    </a:cubicBezTo>
                    <a:cubicBezTo>
                      <a:pt x="744592" y="2094169"/>
                      <a:pt x="1297378" y="1766969"/>
                      <a:pt x="1529390" y="1580450"/>
                    </a:cubicBezTo>
                    <a:cubicBezTo>
                      <a:pt x="1761402" y="1393931"/>
                      <a:pt x="1876674" y="1308626"/>
                      <a:pt x="2095281" y="1045218"/>
                    </a:cubicBezTo>
                    <a:cubicBezTo>
                      <a:pt x="2313888" y="781810"/>
                      <a:pt x="2814873" y="14785"/>
                      <a:pt x="2841032" y="0"/>
                    </a:cubicBezTo>
                  </a:path>
                </a:pathLst>
              </a:custGeom>
              <a:noFill/>
              <a:ln w="57150" cap="flat">
                <a:solidFill>
                  <a:srgbClr val="FF0000"/>
                </a:solidFill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Shape of AC Curve">
                <a:extLst>
                  <a:ext uri="{FF2B5EF4-FFF2-40B4-BE49-F238E27FC236}">
                    <a16:creationId xmlns:a16="http://schemas.microsoft.com/office/drawing/2014/main" id="{CE59F836-D47F-514B-898D-2B53916D45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74994" y="1806373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  <p:sp>
          <p:nvSpPr>
            <p:cNvPr id="59" name="Shape of AC Curve">
              <a:extLst>
                <a:ext uri="{FF2B5EF4-FFF2-40B4-BE49-F238E27FC236}">
                  <a16:creationId xmlns:a16="http://schemas.microsoft.com/office/drawing/2014/main" id="{39BF4CFD-83F7-DC47-A648-84692BC7ED62}"/>
                </a:ext>
              </a:extLst>
            </p:cNvPr>
            <p:cNvSpPr txBox="1">
              <a:spLocks/>
            </p:cNvSpPr>
            <p:nvPr/>
          </p:nvSpPr>
          <p:spPr>
            <a:xfrm>
              <a:off x="2854658" y="2643837"/>
              <a:ext cx="844177" cy="430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00537-5399-DF45-8A76-2997E8E2545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83814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of AC Curve">
            <a:extLst>
              <a:ext uri="{FF2B5EF4-FFF2-40B4-BE49-F238E27FC236}">
                <a16:creationId xmlns:a16="http://schemas.microsoft.com/office/drawing/2014/main" id="{4F8EA15F-73F8-E342-9BE3-3DA5EE7BBFB4}"/>
              </a:ext>
            </a:extLst>
          </p:cNvPr>
          <p:cNvSpPr txBox="1">
            <a:spLocks/>
          </p:cNvSpPr>
          <p:nvPr/>
        </p:nvSpPr>
        <p:spPr>
          <a:xfrm>
            <a:off x="2017331" y="3112102"/>
            <a:ext cx="8970138" cy="1398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Deliberations on </a:t>
            </a:r>
          </a:p>
          <a:p>
            <a:pPr hangingPunct="1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shape of the AC Curve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7AEF7-90EA-BA4E-9AA4-5E876FDB7D2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7803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Line"/>
          <p:cNvSpPr/>
          <p:nvPr/>
        </p:nvSpPr>
        <p:spPr>
          <a:xfrm flipH="1" flipV="1">
            <a:off x="3472061" y="830389"/>
            <a:ext cx="2" cy="842155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Line"/>
          <p:cNvSpPr/>
          <p:nvPr/>
        </p:nvSpPr>
        <p:spPr>
          <a:xfrm>
            <a:off x="2188240" y="8677329"/>
            <a:ext cx="10029685" cy="2749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Connection Line"/>
          <p:cNvSpPr/>
          <p:nvPr/>
        </p:nvSpPr>
        <p:spPr>
          <a:xfrm>
            <a:off x="4611504" y="1952888"/>
            <a:ext cx="5598219" cy="31575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7" extrusionOk="0">
                <a:moveTo>
                  <a:pt x="21600" y="0"/>
                </a:moveTo>
                <a:cubicBezTo>
                  <a:pt x="12853" y="20921"/>
                  <a:pt x="5653" y="21600"/>
                  <a:pt x="0" y="2036"/>
                </a:cubicBezTo>
              </a:path>
            </a:pathLst>
          </a:custGeom>
          <a:ln w="101600">
            <a:solidFill>
              <a:schemeClr val="accent5">
                <a:hueOff val="-176146"/>
                <a:satOff val="3665"/>
                <a:lumOff val="-13986"/>
              </a:schemeClr>
            </a:solidFill>
            <a:miter lim="400000"/>
          </a:ln>
        </p:spPr>
        <p:txBody>
          <a:bodyPr/>
          <a:lstStyle/>
          <a:p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AC"/>
          <p:cNvSpPr txBox="1"/>
          <p:nvPr/>
        </p:nvSpPr>
        <p:spPr>
          <a:xfrm>
            <a:off x="9866071" y="1473421"/>
            <a:ext cx="621965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</p:txBody>
      </p:sp>
      <p:grpSp>
        <p:nvGrpSpPr>
          <p:cNvPr id="136" name="Group"/>
          <p:cNvGrpSpPr/>
          <p:nvPr/>
        </p:nvGrpSpPr>
        <p:grpSpPr>
          <a:xfrm>
            <a:off x="4611503" y="3568558"/>
            <a:ext cx="6578500" cy="4490990"/>
            <a:chOff x="-214119" y="136080"/>
            <a:chExt cx="6792617" cy="4821848"/>
          </a:xfrm>
        </p:grpSpPr>
        <p:sp>
          <p:nvSpPr>
            <p:cNvPr id="146" name="Connection Line"/>
            <p:cNvSpPr/>
            <p:nvPr/>
          </p:nvSpPr>
          <p:spPr>
            <a:xfrm>
              <a:off x="-214119" y="136080"/>
              <a:ext cx="5806578" cy="4565647"/>
            </a:xfrm>
            <a:custGeom>
              <a:avLst/>
              <a:gdLst>
                <a:gd name="connsiteX0" fmla="*/ 22427 w 22427"/>
                <a:gd name="connsiteY0" fmla="*/ 19412 h 19661"/>
                <a:gd name="connsiteX1" fmla="*/ 0 w 22427"/>
                <a:gd name="connsiteY1" fmla="*/ 0 h 1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427" h="19661" extrusionOk="0">
                  <a:moveTo>
                    <a:pt x="22427" y="19412"/>
                  </a:moveTo>
                  <a:cubicBezTo>
                    <a:pt x="8422" y="21014"/>
                    <a:pt x="395" y="14934"/>
                    <a:pt x="0" y="0"/>
                  </a:cubicBezTo>
                </a:path>
              </a:pathLst>
            </a:custGeom>
            <a:noFill/>
            <a:ln w="101600" cap="flat">
              <a:solidFill>
                <a:schemeClr val="accent2">
                  <a:hueOff val="-554920"/>
                  <a:satOff val="-21482"/>
                  <a:lumOff val="-6228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AFC"/>
            <p:cNvSpPr txBox="1"/>
            <p:nvPr/>
          </p:nvSpPr>
          <p:spPr>
            <a:xfrm>
              <a:off x="5736921" y="4424449"/>
              <a:ext cx="841577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</a:t>
              </a:r>
            </a:p>
          </p:txBody>
        </p:sp>
      </p:grpSp>
      <p:sp>
        <p:nvSpPr>
          <p:cNvPr id="137" name="AC,…"/>
          <p:cNvSpPr txBox="1"/>
          <p:nvPr/>
        </p:nvSpPr>
        <p:spPr>
          <a:xfrm>
            <a:off x="2321247" y="1010523"/>
            <a:ext cx="1132012" cy="1395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38" name="Qty"/>
          <p:cNvSpPr txBox="1"/>
          <p:nvPr/>
        </p:nvSpPr>
        <p:spPr>
          <a:xfrm>
            <a:off x="11006167" y="8718460"/>
            <a:ext cx="113201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41" name="Group"/>
          <p:cNvGrpSpPr/>
          <p:nvPr/>
        </p:nvGrpSpPr>
        <p:grpSpPr>
          <a:xfrm>
            <a:off x="4611504" y="4853516"/>
            <a:ext cx="6835489" cy="3172376"/>
            <a:chOff x="1" y="1460511"/>
            <a:chExt cx="6484357" cy="3172374"/>
          </a:xfrm>
        </p:grpSpPr>
        <p:sp>
          <p:nvSpPr>
            <p:cNvPr id="147" name="Connection Line"/>
            <p:cNvSpPr/>
            <p:nvPr/>
          </p:nvSpPr>
          <p:spPr>
            <a:xfrm>
              <a:off x="1" y="1460511"/>
              <a:ext cx="5649657" cy="3172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624" extrusionOk="0">
                  <a:moveTo>
                    <a:pt x="21600" y="0"/>
                  </a:moveTo>
                  <a:cubicBezTo>
                    <a:pt x="11833" y="18625"/>
                    <a:pt x="4633" y="21600"/>
                    <a:pt x="0" y="8924"/>
                  </a:cubicBezTo>
                </a:path>
              </a:pathLst>
            </a:custGeom>
            <a:noFill/>
            <a:ln w="101600" cap="flat">
              <a:solidFill>
                <a:schemeClr val="accent6">
                  <a:lumOff val="-8741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AVC"/>
            <p:cNvSpPr txBox="1"/>
            <p:nvPr/>
          </p:nvSpPr>
          <p:spPr>
            <a:xfrm>
              <a:off x="5602706" y="1473172"/>
              <a:ext cx="881652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grpSp>
        <p:nvGrpSpPr>
          <p:cNvPr id="144" name="Group"/>
          <p:cNvGrpSpPr/>
          <p:nvPr/>
        </p:nvGrpSpPr>
        <p:grpSpPr>
          <a:xfrm>
            <a:off x="6847534" y="571842"/>
            <a:ext cx="639442" cy="8680097"/>
            <a:chOff x="28314" y="-1772433"/>
            <a:chExt cx="639441" cy="8680095"/>
          </a:xfrm>
        </p:grpSpPr>
        <p:sp>
          <p:nvSpPr>
            <p:cNvPr id="142" name="Line"/>
            <p:cNvSpPr/>
            <p:nvPr/>
          </p:nvSpPr>
          <p:spPr>
            <a:xfrm flipV="1">
              <a:off x="319719" y="-1772433"/>
              <a:ext cx="1" cy="809732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Q2"/>
            <p:cNvSpPr txBox="1"/>
            <p:nvPr/>
          </p:nvSpPr>
          <p:spPr>
            <a:xfrm>
              <a:off x="28314" y="6179897"/>
              <a:ext cx="639441" cy="72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800" baseline="-59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A0D3D3C-0CF8-1147-AC67-E2C8E20F9906}"/>
              </a:ext>
            </a:extLst>
          </p:cNvPr>
          <p:cNvGrpSpPr/>
          <p:nvPr/>
        </p:nvGrpSpPr>
        <p:grpSpPr>
          <a:xfrm>
            <a:off x="4072944" y="775401"/>
            <a:ext cx="5611092" cy="727765"/>
            <a:chOff x="4072944" y="775401"/>
            <a:chExt cx="5611092" cy="727765"/>
          </a:xfrm>
        </p:grpSpPr>
        <p:sp>
          <p:nvSpPr>
            <p:cNvPr id="17" name="Stage 2">
              <a:extLst>
                <a:ext uri="{FF2B5EF4-FFF2-40B4-BE49-F238E27FC236}">
                  <a16:creationId xmlns:a16="http://schemas.microsoft.com/office/drawing/2014/main" id="{24326EB0-64DD-2947-B50A-EC44EB0445E4}"/>
                </a:ext>
              </a:extLst>
            </p:cNvPr>
            <p:cNvSpPr txBox="1"/>
            <p:nvPr/>
          </p:nvSpPr>
          <p:spPr>
            <a:xfrm>
              <a:off x="7904654" y="775401"/>
              <a:ext cx="1779382" cy="7277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2</a:t>
              </a:r>
            </a:p>
          </p:txBody>
        </p:sp>
        <p:sp>
          <p:nvSpPr>
            <p:cNvPr id="18" name="Stage 1">
              <a:extLst>
                <a:ext uri="{FF2B5EF4-FFF2-40B4-BE49-F238E27FC236}">
                  <a16:creationId xmlns:a16="http://schemas.microsoft.com/office/drawing/2014/main" id="{6EA19117-E605-634B-9F5A-20C5A819EF99}"/>
                </a:ext>
              </a:extLst>
            </p:cNvPr>
            <p:cNvSpPr txBox="1"/>
            <p:nvPr/>
          </p:nvSpPr>
          <p:spPr>
            <a:xfrm>
              <a:off x="4072944" y="775401"/>
              <a:ext cx="1779382" cy="7277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ctr"/>
            <a:lstStyle>
              <a:lvl1pPr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Stage 1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63CE4-61B5-1742-BC9F-B38A8D38B2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367158" y="9312372"/>
            <a:ext cx="368504" cy="381000"/>
          </a:xfrm>
        </p:spPr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F95D7B-77A8-AD4D-BB34-3797A18AAAB4}"/>
                  </a:ext>
                </a:extLst>
              </p14:cNvPr>
              <p14:cNvContentPartPr/>
              <p14:nvPr/>
            </p14:nvContentPartPr>
            <p14:xfrm>
              <a:off x="8911080" y="28317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F95D7B-77A8-AD4D-BB34-3797A18AAA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01720" y="28224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1" animBg="1" advAuto="0"/>
      <p:bldP spid="141" grpId="2" animBg="1" advAuto="0"/>
      <p:bldP spid="144" grpId="3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tage 2"/>
          <p:cNvSpPr txBox="1"/>
          <p:nvPr/>
        </p:nvSpPr>
        <p:spPr>
          <a:xfrm>
            <a:off x="7592005" y="1058843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</a:t>
            </a:r>
          </a:p>
        </p:txBody>
      </p:sp>
      <p:grpSp>
        <p:nvGrpSpPr>
          <p:cNvPr id="152" name="Group"/>
          <p:cNvGrpSpPr/>
          <p:nvPr/>
        </p:nvGrpSpPr>
        <p:grpSpPr>
          <a:xfrm>
            <a:off x="6658543" y="1124355"/>
            <a:ext cx="639442" cy="6909257"/>
            <a:chOff x="0" y="98856"/>
            <a:chExt cx="639441" cy="6909255"/>
          </a:xfrm>
        </p:grpSpPr>
        <p:sp>
          <p:nvSpPr>
            <p:cNvPr id="150" name="Line"/>
            <p:cNvSpPr/>
            <p:nvPr/>
          </p:nvSpPr>
          <p:spPr>
            <a:xfrm flipV="1">
              <a:off x="319719" y="98856"/>
              <a:ext cx="1" cy="632489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Q2"/>
            <p:cNvSpPr txBox="1"/>
            <p:nvPr/>
          </p:nvSpPr>
          <p:spPr>
            <a:xfrm>
              <a:off x="0" y="6280346"/>
              <a:ext cx="639441" cy="7277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400" baseline="-5999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53" name="Line"/>
          <p:cNvSpPr/>
          <p:nvPr/>
        </p:nvSpPr>
        <p:spPr>
          <a:xfrm flipH="1" flipV="1">
            <a:off x="3275418" y="457227"/>
            <a:ext cx="2" cy="740479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Line"/>
          <p:cNvSpPr/>
          <p:nvPr/>
        </p:nvSpPr>
        <p:spPr>
          <a:xfrm>
            <a:off x="2195958" y="7476401"/>
            <a:ext cx="8054066" cy="1273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7" name="Group"/>
          <p:cNvGrpSpPr/>
          <p:nvPr/>
        </p:nvGrpSpPr>
        <p:grpSpPr>
          <a:xfrm>
            <a:off x="3966764" y="1764065"/>
            <a:ext cx="2967155" cy="3629788"/>
            <a:chOff x="-41427" y="-392884"/>
            <a:chExt cx="3157541" cy="3939755"/>
          </a:xfrm>
        </p:grpSpPr>
        <p:sp>
          <p:nvSpPr>
            <p:cNvPr id="180" name="Connection Line"/>
            <p:cNvSpPr/>
            <p:nvPr/>
          </p:nvSpPr>
          <p:spPr>
            <a:xfrm>
              <a:off x="0" y="57642"/>
              <a:ext cx="3116114" cy="34892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68" extrusionOk="0">
                  <a:moveTo>
                    <a:pt x="21600" y="21036"/>
                  </a:moveTo>
                  <a:cubicBezTo>
                    <a:pt x="15251" y="21600"/>
                    <a:pt x="8051" y="14588"/>
                    <a:pt x="0" y="0"/>
                  </a:cubicBezTo>
                </a:path>
              </a:pathLst>
            </a:custGeom>
            <a:noFill/>
            <a:ln w="101600" cap="flat">
              <a:solidFill>
                <a:schemeClr val="accent5">
                  <a:hueOff val="-176146"/>
                  <a:satOff val="3665"/>
                  <a:lumOff val="-13986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AC"/>
            <p:cNvSpPr txBox="1"/>
            <p:nvPr/>
          </p:nvSpPr>
          <p:spPr>
            <a:xfrm>
              <a:off x="-41427" y="-392884"/>
              <a:ext cx="583404" cy="512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60" name="Group"/>
          <p:cNvGrpSpPr/>
          <p:nvPr/>
        </p:nvGrpSpPr>
        <p:grpSpPr>
          <a:xfrm>
            <a:off x="3416027" y="2428465"/>
            <a:ext cx="3521676" cy="3798890"/>
            <a:chOff x="-494711" y="-466999"/>
            <a:chExt cx="4027692" cy="4212607"/>
          </a:xfrm>
        </p:grpSpPr>
        <p:sp>
          <p:nvSpPr>
            <p:cNvPr id="181" name="Connection Line"/>
            <p:cNvSpPr/>
            <p:nvPr/>
          </p:nvSpPr>
          <p:spPr>
            <a:xfrm>
              <a:off x="207217" y="0"/>
              <a:ext cx="3325764" cy="3745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2059" y="20582"/>
                    <a:pt x="4859" y="13382"/>
                    <a:pt x="0" y="0"/>
                  </a:cubicBezTo>
                </a:path>
              </a:pathLst>
            </a:custGeom>
            <a:noFill/>
            <a:ln w="101600" cap="flat">
              <a:solidFill>
                <a:schemeClr val="accent2">
                  <a:hueOff val="-554920"/>
                  <a:satOff val="-21482"/>
                  <a:lumOff val="-6228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AFC"/>
            <p:cNvSpPr txBox="1"/>
            <p:nvPr/>
          </p:nvSpPr>
          <p:spPr>
            <a:xfrm>
              <a:off x="-494711" y="-466999"/>
              <a:ext cx="841499" cy="5233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</a:t>
              </a:r>
            </a:p>
          </p:txBody>
        </p:sp>
      </p:grpSp>
      <p:grpSp>
        <p:nvGrpSpPr>
          <p:cNvPr id="163" name="Group"/>
          <p:cNvGrpSpPr/>
          <p:nvPr/>
        </p:nvGrpSpPr>
        <p:grpSpPr>
          <a:xfrm>
            <a:off x="3416027" y="4859752"/>
            <a:ext cx="3781189" cy="1579541"/>
            <a:chOff x="-280646" y="-457094"/>
            <a:chExt cx="3781187" cy="1579538"/>
          </a:xfrm>
        </p:grpSpPr>
        <p:sp>
          <p:nvSpPr>
            <p:cNvPr id="182" name="Connection Line"/>
            <p:cNvSpPr/>
            <p:nvPr/>
          </p:nvSpPr>
          <p:spPr>
            <a:xfrm>
              <a:off x="296320" y="0"/>
              <a:ext cx="3204221" cy="1122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426" extrusionOk="0">
                  <a:moveTo>
                    <a:pt x="21600" y="6801"/>
                  </a:moveTo>
                  <a:cubicBezTo>
                    <a:pt x="13711" y="21600"/>
                    <a:pt x="6511" y="19333"/>
                    <a:pt x="0" y="0"/>
                  </a:cubicBezTo>
                </a:path>
              </a:pathLst>
            </a:custGeom>
            <a:noFill/>
            <a:ln w="101600" cap="flat">
              <a:solidFill>
                <a:schemeClr val="accent6">
                  <a:lumOff val="-8741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AVC"/>
            <p:cNvSpPr txBox="1"/>
            <p:nvPr/>
          </p:nvSpPr>
          <p:spPr>
            <a:xfrm>
              <a:off x="-280646" y="-457094"/>
              <a:ext cx="771044" cy="4719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sp>
        <p:nvSpPr>
          <p:cNvPr id="164" name="Stage 1"/>
          <p:cNvSpPr txBox="1"/>
          <p:nvPr/>
        </p:nvSpPr>
        <p:spPr>
          <a:xfrm>
            <a:off x="3760295" y="1058843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</a:p>
        </p:txBody>
      </p:sp>
      <p:sp>
        <p:nvSpPr>
          <p:cNvPr id="165" name="AC,…"/>
          <p:cNvSpPr txBox="1"/>
          <p:nvPr/>
        </p:nvSpPr>
        <p:spPr>
          <a:xfrm>
            <a:off x="2246575" y="587113"/>
            <a:ext cx="1132012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66" name="Qty"/>
          <p:cNvSpPr txBox="1"/>
          <p:nvPr/>
        </p:nvSpPr>
        <p:spPr>
          <a:xfrm>
            <a:off x="9611047" y="7422919"/>
            <a:ext cx="1132012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67" name="Line"/>
          <p:cNvSpPr/>
          <p:nvPr/>
        </p:nvSpPr>
        <p:spPr>
          <a:xfrm>
            <a:off x="4295476" y="4404975"/>
            <a:ext cx="1" cy="1016001"/>
          </a:xfrm>
          <a:prstGeom prst="line">
            <a:avLst/>
          </a:prstGeom>
          <a:ln w="127000">
            <a:solidFill>
              <a:schemeClr val="accent2">
                <a:hueOff val="-554920"/>
                <a:satOff val="-21482"/>
                <a:lumOff val="-6228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1" name="Group"/>
          <p:cNvGrpSpPr/>
          <p:nvPr/>
        </p:nvGrpSpPr>
        <p:grpSpPr>
          <a:xfrm>
            <a:off x="3966764" y="6256291"/>
            <a:ext cx="910763" cy="1016002"/>
            <a:chOff x="-1" y="0"/>
            <a:chExt cx="910761" cy="1016001"/>
          </a:xfrm>
        </p:grpSpPr>
        <p:sp>
          <p:nvSpPr>
            <p:cNvPr id="168" name="Line"/>
            <p:cNvSpPr/>
            <p:nvPr/>
          </p:nvSpPr>
          <p:spPr>
            <a:xfrm flipH="1">
              <a:off x="-1" y="0"/>
              <a:ext cx="2" cy="1016001"/>
            </a:xfrm>
            <a:prstGeom prst="line">
              <a:avLst/>
            </a:prstGeom>
            <a:noFill/>
            <a:ln w="127000" cap="flat">
              <a:solidFill>
                <a:schemeClr val="accent6">
                  <a:lumOff val="-21524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Line"/>
            <p:cNvSpPr/>
            <p:nvPr/>
          </p:nvSpPr>
          <p:spPr>
            <a:xfrm flipV="1">
              <a:off x="910759" y="32008"/>
              <a:ext cx="1" cy="833139"/>
            </a:xfrm>
            <a:prstGeom prst="line">
              <a:avLst/>
            </a:prstGeom>
            <a:noFill/>
            <a:ln w="127000" cap="flat">
              <a:solidFill>
                <a:schemeClr val="accent6">
                  <a:lumOff val="-21524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&amp;"/>
            <p:cNvSpPr txBox="1"/>
            <p:nvPr/>
          </p:nvSpPr>
          <p:spPr>
            <a:xfrm>
              <a:off x="309003" y="305335"/>
              <a:ext cx="341439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</a:p>
          </p:txBody>
        </p:sp>
      </p:grpSp>
      <p:sp>
        <p:nvSpPr>
          <p:cNvPr id="172" name="Line"/>
          <p:cNvSpPr/>
          <p:nvPr/>
        </p:nvSpPr>
        <p:spPr>
          <a:xfrm>
            <a:off x="4775200" y="2360275"/>
            <a:ext cx="0" cy="1016001"/>
          </a:xfrm>
          <a:prstGeom prst="line">
            <a:avLst/>
          </a:prstGeom>
          <a:ln w="127000">
            <a:solidFill>
              <a:schemeClr val="accent5">
                <a:hueOff val="-176146"/>
                <a:satOff val="3665"/>
                <a:lumOff val="-13986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AFC + AVC = AC"/>
          <p:cNvSpPr txBox="1"/>
          <p:nvPr/>
        </p:nvSpPr>
        <p:spPr>
          <a:xfrm>
            <a:off x="7864629" y="2274558"/>
            <a:ext cx="258404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 =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AFC + AVC</a:t>
            </a:r>
          </a:p>
        </p:txBody>
      </p:sp>
      <p:sp>
        <p:nvSpPr>
          <p:cNvPr id="174" name="Line"/>
          <p:cNvSpPr/>
          <p:nvPr/>
        </p:nvSpPr>
        <p:spPr>
          <a:xfrm>
            <a:off x="9043895" y="2970402"/>
            <a:ext cx="1" cy="824190"/>
          </a:xfrm>
          <a:prstGeom prst="line">
            <a:avLst/>
          </a:prstGeom>
          <a:ln w="889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Line"/>
          <p:cNvSpPr/>
          <p:nvPr/>
        </p:nvSpPr>
        <p:spPr>
          <a:xfrm>
            <a:off x="8061875" y="2940357"/>
            <a:ext cx="1" cy="1297279"/>
          </a:xfrm>
          <a:prstGeom prst="line">
            <a:avLst/>
          </a:prstGeom>
          <a:ln w="88900">
            <a:solidFill>
              <a:srgbClr val="FF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4BC941-668B-4241-A326-6AF07CC33B89}"/>
              </a:ext>
            </a:extLst>
          </p:cNvPr>
          <p:cNvGrpSpPr/>
          <p:nvPr/>
        </p:nvGrpSpPr>
        <p:grpSpPr>
          <a:xfrm>
            <a:off x="9043895" y="2973218"/>
            <a:ext cx="2266316" cy="1342253"/>
            <a:chOff x="8137842" y="3409949"/>
            <a:chExt cx="2266316" cy="1342253"/>
          </a:xfrm>
        </p:grpSpPr>
        <p:grpSp>
          <p:nvGrpSpPr>
            <p:cNvPr id="178" name="Group"/>
            <p:cNvGrpSpPr/>
            <p:nvPr/>
          </p:nvGrpSpPr>
          <p:grpSpPr>
            <a:xfrm>
              <a:off x="8925549" y="3409949"/>
              <a:ext cx="666923" cy="830107"/>
              <a:chOff x="-1" y="6728"/>
              <a:chExt cx="666921" cy="830105"/>
            </a:xfrm>
          </p:grpSpPr>
          <p:sp>
            <p:nvSpPr>
              <p:cNvPr id="175" name="Line"/>
              <p:cNvSpPr/>
              <p:nvPr/>
            </p:nvSpPr>
            <p:spPr>
              <a:xfrm flipH="1">
                <a:off x="-1" y="6728"/>
                <a:ext cx="2" cy="824191"/>
              </a:xfrm>
              <a:prstGeom prst="line">
                <a:avLst/>
              </a:prstGeom>
              <a:noFill/>
              <a:ln w="889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" name="&amp;"/>
              <p:cNvSpPr txBox="1"/>
              <p:nvPr/>
            </p:nvSpPr>
            <p:spPr>
              <a:xfrm>
                <a:off x="174729" y="87890"/>
                <a:ext cx="341439" cy="4719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&amp;</a:t>
                </a:r>
              </a:p>
            </p:txBody>
          </p:sp>
          <p:sp>
            <p:nvSpPr>
              <p:cNvPr id="177" name="Line"/>
              <p:cNvSpPr/>
              <p:nvPr/>
            </p:nvSpPr>
            <p:spPr>
              <a:xfrm flipV="1">
                <a:off x="666919" y="12642"/>
                <a:ext cx="1" cy="824191"/>
              </a:xfrm>
              <a:prstGeom prst="line">
                <a:avLst/>
              </a:prstGeom>
              <a:noFill/>
              <a:ln w="889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59CDA0C-31C3-5242-B9D0-644C1B663C19}"/>
                    </a:ext>
                  </a:extLst>
                </p:cNvPr>
                <p:cNvSpPr txBox="1"/>
                <p:nvPr/>
              </p:nvSpPr>
              <p:spPr>
                <a:xfrm>
                  <a:off x="8137842" y="4280278"/>
                  <a:ext cx="2266316" cy="4719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Light"/>
                          </a:rPr>
                          <m:t>∴ ≈</m:t>
                        </m:r>
                        <m:r>
                          <a:rPr kumimoji="0" lang="en-US" sz="2400" b="1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Helvetica Light"/>
                          </a:rPr>
                          <m:t>𝒛𝒆𝒓𝒐</m:t>
                        </m:r>
                      </m:oMath>
                    </m:oMathPara>
                  </a14:m>
                  <a:endPara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59CDA0C-31C3-5242-B9D0-644C1B663C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7842" y="4280278"/>
                  <a:ext cx="2266316" cy="471924"/>
                </a:xfrm>
                <a:prstGeom prst="rect">
                  <a:avLst/>
                </a:prstGeom>
                <a:blipFill>
                  <a:blip r:embed="rId2"/>
                  <a:stretch>
                    <a:fillRect b="-1794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5782FB-E8AC-0D4F-8436-87E444E8A2A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60486" y="9092405"/>
            <a:ext cx="282129" cy="318036"/>
          </a:xfrm>
        </p:spPr>
        <p:txBody>
          <a:bodyPr/>
          <a:lstStyle/>
          <a:p>
            <a:fld id="{86CB4B4D-7CA3-9044-876B-883B54F8677D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tage 2">
            <a:extLst>
              <a:ext uri="{FF2B5EF4-FFF2-40B4-BE49-F238E27FC236}">
                <a16:creationId xmlns:a16="http://schemas.microsoft.com/office/drawing/2014/main" id="{B678E8D4-AEA7-67DE-B5E0-BF22D0E04ED9}"/>
              </a:ext>
            </a:extLst>
          </p:cNvPr>
          <p:cNvSpPr txBox="1"/>
          <p:nvPr/>
        </p:nvSpPr>
        <p:spPr>
          <a:xfrm>
            <a:off x="7595757" y="5088651"/>
            <a:ext cx="4933989" cy="1915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Economies of Scale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accruing to the firm, via the ‘M Freshness’ of the fixed factor</a:t>
            </a: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5" animBg="1" advAuto="0"/>
      <p:bldP spid="160" grpId="1" animBg="1" advAuto="0"/>
      <p:bldP spid="163" grpId="3" animBg="1" advAuto="0"/>
      <p:bldP spid="167" grpId="2" animBg="1" advAuto="0"/>
      <p:bldP spid="171" grpId="4" animBg="1" advAuto="0"/>
      <p:bldP spid="172" grpId="6" animBg="1" advAuto="0"/>
      <p:bldP spid="173" grpId="7" animBg="1" advAuto="0"/>
      <p:bldP spid="174" grpId="8" animBg="1" advAuto="0"/>
      <p:bldP spid="179" grpId="10" animBg="1" advAuto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Line"/>
          <p:cNvSpPr/>
          <p:nvPr/>
        </p:nvSpPr>
        <p:spPr>
          <a:xfrm flipV="1">
            <a:off x="6928443" y="989459"/>
            <a:ext cx="1" cy="6324890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Stage 2"/>
          <p:cNvSpPr txBox="1"/>
          <p:nvPr/>
        </p:nvSpPr>
        <p:spPr>
          <a:xfrm>
            <a:off x="7752986" y="877067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Stage 2</a:t>
            </a:r>
          </a:p>
        </p:txBody>
      </p:sp>
      <p:sp>
        <p:nvSpPr>
          <p:cNvPr id="186" name="Q2"/>
          <p:cNvSpPr txBox="1"/>
          <p:nvPr/>
        </p:nvSpPr>
        <p:spPr>
          <a:xfrm>
            <a:off x="6605747" y="7378858"/>
            <a:ext cx="639441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800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87" name="Line"/>
          <p:cNvSpPr/>
          <p:nvPr/>
        </p:nvSpPr>
        <p:spPr>
          <a:xfrm flipH="1" flipV="1">
            <a:off x="4465060" y="725959"/>
            <a:ext cx="38179" cy="716565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Line"/>
          <p:cNvSpPr/>
          <p:nvPr/>
        </p:nvSpPr>
        <p:spPr>
          <a:xfrm>
            <a:off x="4284873" y="7348879"/>
            <a:ext cx="805408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1" name="Group"/>
          <p:cNvGrpSpPr/>
          <p:nvPr/>
        </p:nvGrpSpPr>
        <p:grpSpPr>
          <a:xfrm>
            <a:off x="6931874" y="1633971"/>
            <a:ext cx="4104296" cy="3096577"/>
            <a:chOff x="0" y="12661"/>
            <a:chExt cx="4104295" cy="3096576"/>
          </a:xfrm>
        </p:grpSpPr>
        <p:sp>
          <p:nvSpPr>
            <p:cNvPr id="208" name="Connection Line"/>
            <p:cNvSpPr/>
            <p:nvPr/>
          </p:nvSpPr>
          <p:spPr>
            <a:xfrm>
              <a:off x="0" y="708294"/>
              <a:ext cx="3924331" cy="2400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66" extrusionOk="0">
                  <a:moveTo>
                    <a:pt x="21600" y="0"/>
                  </a:moveTo>
                  <a:cubicBezTo>
                    <a:pt x="11851" y="15441"/>
                    <a:pt x="4651" y="21600"/>
                    <a:pt x="0" y="18478"/>
                  </a:cubicBezTo>
                </a:path>
              </a:pathLst>
            </a:custGeom>
            <a:noFill/>
            <a:ln w="101600" cap="flat">
              <a:solidFill>
                <a:schemeClr val="accent5">
                  <a:hueOff val="-176146"/>
                  <a:satOff val="3665"/>
                  <a:lumOff val="-13986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AC"/>
            <p:cNvSpPr txBox="1"/>
            <p:nvPr/>
          </p:nvSpPr>
          <p:spPr>
            <a:xfrm>
              <a:off x="3482329" y="12661"/>
              <a:ext cx="621966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94" name="Group"/>
          <p:cNvGrpSpPr/>
          <p:nvPr/>
        </p:nvGrpSpPr>
        <p:grpSpPr>
          <a:xfrm>
            <a:off x="6963002" y="5707425"/>
            <a:ext cx="4537085" cy="1316194"/>
            <a:chOff x="0" y="0"/>
            <a:chExt cx="5008910" cy="1448218"/>
          </a:xfrm>
        </p:grpSpPr>
        <p:sp>
          <p:nvSpPr>
            <p:cNvPr id="209" name="Connection Line"/>
            <p:cNvSpPr/>
            <p:nvPr/>
          </p:nvSpPr>
          <p:spPr>
            <a:xfrm>
              <a:off x="0" y="0"/>
              <a:ext cx="4318000" cy="14232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347" extrusionOk="0">
                  <a:moveTo>
                    <a:pt x="21600" y="20155"/>
                  </a:moveTo>
                  <a:cubicBezTo>
                    <a:pt x="14910" y="21600"/>
                    <a:pt x="7710" y="14882"/>
                    <a:pt x="0" y="0"/>
                  </a:cubicBezTo>
                </a:path>
              </a:pathLst>
            </a:custGeom>
            <a:noFill/>
            <a:ln w="101600" cap="flat">
              <a:solidFill>
                <a:schemeClr val="accent2">
                  <a:hueOff val="-554920"/>
                  <a:satOff val="-21482"/>
                  <a:lumOff val="-6228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AFC"/>
            <p:cNvSpPr txBox="1"/>
            <p:nvPr/>
          </p:nvSpPr>
          <p:spPr>
            <a:xfrm>
              <a:off x="4079815" y="861227"/>
              <a:ext cx="929095" cy="586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AFC</a:t>
              </a:r>
            </a:p>
          </p:txBody>
        </p:sp>
      </p:grpSp>
      <p:grpSp>
        <p:nvGrpSpPr>
          <p:cNvPr id="197" name="Group"/>
          <p:cNvGrpSpPr/>
          <p:nvPr/>
        </p:nvGrpSpPr>
        <p:grpSpPr>
          <a:xfrm>
            <a:off x="6838785" y="2708471"/>
            <a:ext cx="4928480" cy="3587218"/>
            <a:chOff x="0" y="-99196"/>
            <a:chExt cx="5576766" cy="4153820"/>
          </a:xfrm>
        </p:grpSpPr>
        <p:sp>
          <p:nvSpPr>
            <p:cNvPr id="210" name="Connection Line"/>
            <p:cNvSpPr/>
            <p:nvPr/>
          </p:nvSpPr>
          <p:spPr>
            <a:xfrm>
              <a:off x="0" y="0"/>
              <a:ext cx="4569074" cy="40546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391" y="12255"/>
                    <a:pt x="9191" y="19455"/>
                    <a:pt x="0" y="21600"/>
                  </a:cubicBezTo>
                </a:path>
              </a:pathLst>
            </a:custGeom>
            <a:noFill/>
            <a:ln w="101600" cap="flat">
              <a:solidFill>
                <a:schemeClr val="accent6">
                  <a:lumOff val="-8741"/>
                </a:schemeClr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AVC"/>
            <p:cNvSpPr txBox="1"/>
            <p:nvPr/>
          </p:nvSpPr>
          <p:spPr>
            <a:xfrm>
              <a:off x="4579143" y="-99196"/>
              <a:ext cx="997623" cy="617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sp>
        <p:nvSpPr>
          <p:cNvPr id="198" name="Stage 1"/>
          <p:cNvSpPr txBox="1"/>
          <p:nvPr/>
        </p:nvSpPr>
        <p:spPr>
          <a:xfrm>
            <a:off x="4822976" y="984703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</a:p>
        </p:txBody>
      </p:sp>
      <p:sp>
        <p:nvSpPr>
          <p:cNvPr id="199" name="AC,…"/>
          <p:cNvSpPr txBox="1"/>
          <p:nvPr/>
        </p:nvSpPr>
        <p:spPr>
          <a:xfrm>
            <a:off x="3418435" y="835707"/>
            <a:ext cx="1132012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00" name="Qty"/>
          <p:cNvSpPr txBox="1"/>
          <p:nvPr/>
        </p:nvSpPr>
        <p:spPr>
          <a:xfrm>
            <a:off x="10673728" y="7348779"/>
            <a:ext cx="1132012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01" name="Line"/>
          <p:cNvSpPr/>
          <p:nvPr/>
        </p:nvSpPr>
        <p:spPr>
          <a:xfrm flipV="1">
            <a:off x="11209439" y="1096831"/>
            <a:ext cx="0" cy="1016001"/>
          </a:xfrm>
          <a:prstGeom prst="line">
            <a:avLst/>
          </a:prstGeom>
          <a:ln w="127000">
            <a:solidFill>
              <a:schemeClr val="accent5">
                <a:hueOff val="-176146"/>
                <a:satOff val="3665"/>
                <a:lumOff val="-13986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Line"/>
          <p:cNvSpPr/>
          <p:nvPr/>
        </p:nvSpPr>
        <p:spPr>
          <a:xfrm flipV="1">
            <a:off x="12034658" y="2329604"/>
            <a:ext cx="1" cy="1016001"/>
          </a:xfrm>
          <a:prstGeom prst="line">
            <a:avLst/>
          </a:prstGeom>
          <a:ln w="127000">
            <a:solidFill>
              <a:schemeClr val="accent6">
                <a:lumOff val="-8741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Line"/>
          <p:cNvSpPr/>
          <p:nvPr/>
        </p:nvSpPr>
        <p:spPr>
          <a:xfrm>
            <a:off x="11760748" y="6248878"/>
            <a:ext cx="1" cy="1016001"/>
          </a:xfrm>
          <a:prstGeom prst="line">
            <a:avLst/>
          </a:prstGeom>
          <a:ln w="127000">
            <a:solidFill>
              <a:schemeClr val="accent2">
                <a:hueOff val="-554920"/>
                <a:satOff val="-21482"/>
                <a:lumOff val="-6228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AFC + AVC = AC"/>
          <p:cNvSpPr txBox="1"/>
          <p:nvPr/>
        </p:nvSpPr>
        <p:spPr>
          <a:xfrm>
            <a:off x="629904" y="2245551"/>
            <a:ext cx="2999218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=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AFC + AVC</a:t>
            </a:r>
          </a:p>
        </p:txBody>
      </p:sp>
      <p:sp>
        <p:nvSpPr>
          <p:cNvPr id="206" name="Line"/>
          <p:cNvSpPr/>
          <p:nvPr/>
        </p:nvSpPr>
        <p:spPr>
          <a:xfrm flipV="1">
            <a:off x="3232579" y="3074379"/>
            <a:ext cx="1" cy="1656169"/>
          </a:xfrm>
          <a:prstGeom prst="line">
            <a:avLst/>
          </a:prstGeom>
          <a:ln w="889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Line"/>
          <p:cNvSpPr/>
          <p:nvPr/>
        </p:nvSpPr>
        <p:spPr>
          <a:xfrm flipV="1">
            <a:off x="854582" y="2837604"/>
            <a:ext cx="1" cy="1771414"/>
          </a:xfrm>
          <a:prstGeom prst="line">
            <a:avLst/>
          </a:prstGeom>
          <a:ln w="88900">
            <a:solidFill>
              <a:srgbClr val="FF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EEDC45-D6D1-6E4B-93DC-96020329CAAA}"/>
                  </a:ext>
                </a:extLst>
              </p:cNvPr>
              <p:cNvSpPr txBox="1"/>
              <p:nvPr/>
            </p:nvSpPr>
            <p:spPr>
              <a:xfrm>
                <a:off x="1234686" y="3047230"/>
                <a:ext cx="1874033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Light"/>
                        </a:rPr>
                        <m:t>≈</m:t>
                      </m:r>
                      <m:r>
                        <a:rPr kumimoji="0" lang="en-US" sz="2800" b="1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Helvetica Light"/>
                        </a:rPr>
                        <m:t>𝒛𝒆𝒓𝒐</m:t>
                      </m:r>
                    </m:oMath>
                  </m:oMathPara>
                </a14:m>
                <a:endPara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EEDC45-D6D1-6E4B-93DC-96020329C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686" y="3047230"/>
                <a:ext cx="1874033" cy="5334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09794-8535-F64A-905C-91F95A6B3EC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  <p:sp>
        <p:nvSpPr>
          <p:cNvPr id="4" name="Stage 2">
            <a:extLst>
              <a:ext uri="{FF2B5EF4-FFF2-40B4-BE49-F238E27FC236}">
                <a16:creationId xmlns:a16="http://schemas.microsoft.com/office/drawing/2014/main" id="{7EC594ED-52D8-CD17-DBFE-EBA60D0FC37D}"/>
              </a:ext>
            </a:extLst>
          </p:cNvPr>
          <p:cNvSpPr txBox="1"/>
          <p:nvPr/>
        </p:nvSpPr>
        <p:spPr>
          <a:xfrm>
            <a:off x="180454" y="5165547"/>
            <a:ext cx="3960352" cy="2941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of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Diseconomies of Scale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experienced by the firm, on a/c of the ‘M Fatigue and Exhaustion’ of the fixed factor</a:t>
            </a: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5" animBg="1" advAuto="0"/>
      <p:bldP spid="194" grpId="1" animBg="1" advAuto="0"/>
      <p:bldP spid="197" grpId="3" animBg="1" advAuto="0"/>
      <p:bldP spid="201" grpId="6" animBg="1" advAuto="0"/>
      <p:bldP spid="202" grpId="4" animBg="1" advAuto="0"/>
      <p:bldP spid="203" grpId="2" animBg="1" advAuto="0"/>
      <p:bldP spid="204" grpId="7" animBg="1" advAuto="0"/>
      <p:bldP spid="206" grpId="9" animBg="1" advAuto="0"/>
      <p:bldP spid="207" grpId="10" animBg="1" advAuto="0"/>
      <p:bldP spid="2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Line"/>
          <p:cNvSpPr/>
          <p:nvPr/>
        </p:nvSpPr>
        <p:spPr>
          <a:xfrm flipV="1">
            <a:off x="6985307" y="1589379"/>
            <a:ext cx="1" cy="632489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Stage 2"/>
          <p:cNvSpPr txBox="1"/>
          <p:nvPr/>
        </p:nvSpPr>
        <p:spPr>
          <a:xfrm>
            <a:off x="7406724" y="1813824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Stage 2</a:t>
            </a:r>
          </a:p>
        </p:txBody>
      </p:sp>
      <p:sp>
        <p:nvSpPr>
          <p:cNvPr id="214" name="Qm"/>
          <p:cNvSpPr txBox="1"/>
          <p:nvPr/>
        </p:nvSpPr>
        <p:spPr>
          <a:xfrm>
            <a:off x="6570254" y="7981777"/>
            <a:ext cx="836470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800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800" baseline="-5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Line"/>
          <p:cNvSpPr/>
          <p:nvPr/>
        </p:nvSpPr>
        <p:spPr>
          <a:xfrm flipV="1">
            <a:off x="3239304" y="1060105"/>
            <a:ext cx="0" cy="737520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Line"/>
          <p:cNvSpPr/>
          <p:nvPr/>
        </p:nvSpPr>
        <p:spPr>
          <a:xfrm flipV="1">
            <a:off x="1994702" y="7937614"/>
            <a:ext cx="9371200" cy="834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Connection Line"/>
          <p:cNvSpPr/>
          <p:nvPr/>
        </p:nvSpPr>
        <p:spPr>
          <a:xfrm>
            <a:off x="4410249" y="2422444"/>
            <a:ext cx="5598219" cy="31575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7" extrusionOk="0">
                <a:moveTo>
                  <a:pt x="21600" y="0"/>
                </a:moveTo>
                <a:cubicBezTo>
                  <a:pt x="12853" y="20921"/>
                  <a:pt x="5653" y="21600"/>
                  <a:pt x="0" y="2036"/>
                </a:cubicBezTo>
              </a:path>
            </a:pathLst>
          </a:custGeom>
          <a:ln w="101600">
            <a:solidFill>
              <a:schemeClr val="accent5">
                <a:hueOff val="-176146"/>
                <a:satOff val="3665"/>
                <a:lumOff val="-13986"/>
              </a:schemeClr>
            </a:solidFill>
            <a:miter lim="400000"/>
          </a:ln>
        </p:spPr>
        <p:txBody>
          <a:bodyPr/>
          <a:lstStyle/>
          <a:p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AC"/>
          <p:cNvSpPr txBox="1"/>
          <p:nvPr/>
        </p:nvSpPr>
        <p:spPr>
          <a:xfrm>
            <a:off x="9664816" y="1942977"/>
            <a:ext cx="621966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</p:txBody>
      </p:sp>
      <p:sp>
        <p:nvSpPr>
          <p:cNvPr id="227" name="Connection Line"/>
          <p:cNvSpPr/>
          <p:nvPr/>
        </p:nvSpPr>
        <p:spPr>
          <a:xfrm>
            <a:off x="4377354" y="3613824"/>
            <a:ext cx="5622796" cy="3842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231" extrusionOk="0">
                <a:moveTo>
                  <a:pt x="21600" y="19998"/>
                </a:moveTo>
                <a:cubicBezTo>
                  <a:pt x="7595" y="21600"/>
                  <a:pt x="395" y="14934"/>
                  <a:pt x="0" y="0"/>
                </a:cubicBezTo>
              </a:path>
            </a:pathLst>
          </a:custGeom>
          <a:ln w="101600">
            <a:solidFill>
              <a:schemeClr val="accent2">
                <a:hueOff val="-554920"/>
                <a:satOff val="-21482"/>
                <a:lumOff val="-6228"/>
              </a:schemeClr>
            </a:solidFill>
            <a:miter lim="400000"/>
          </a:ln>
        </p:spPr>
        <p:txBody>
          <a:bodyPr/>
          <a:lstStyle/>
          <a:p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AFC"/>
          <p:cNvSpPr txBox="1"/>
          <p:nvPr/>
        </p:nvSpPr>
        <p:spPr>
          <a:xfrm>
            <a:off x="9982887" y="7073250"/>
            <a:ext cx="841577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AFC</a:t>
            </a:r>
          </a:p>
        </p:txBody>
      </p:sp>
      <p:sp>
        <p:nvSpPr>
          <p:cNvPr id="221" name="AC,…"/>
          <p:cNvSpPr txBox="1"/>
          <p:nvPr/>
        </p:nvSpPr>
        <p:spPr>
          <a:xfrm>
            <a:off x="2284518" y="1203054"/>
            <a:ext cx="1132012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</a:t>
            </a:r>
          </a:p>
          <a:p>
            <a:pPr>
              <a:defRPr sz="2000"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2" name="Qty"/>
          <p:cNvSpPr txBox="1"/>
          <p:nvPr/>
        </p:nvSpPr>
        <p:spPr>
          <a:xfrm>
            <a:off x="10610381" y="8005730"/>
            <a:ext cx="1132012" cy="471924"/>
          </a:xfrm>
          <a:prstGeom prst="rect">
            <a:avLst/>
          </a:prstGeom>
          <a:ln w="12700">
            <a:noFill/>
            <a:miter lim="400000"/>
            <a:headEnd type="triangle" w="med" len="med"/>
            <a:tailEnd type="triangle" w="med" len="med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28" name="Connection Line"/>
          <p:cNvSpPr/>
          <p:nvPr/>
        </p:nvSpPr>
        <p:spPr>
          <a:xfrm>
            <a:off x="4358615" y="3145618"/>
            <a:ext cx="5690168" cy="42773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624" extrusionOk="0">
                <a:moveTo>
                  <a:pt x="21600" y="0"/>
                </a:moveTo>
                <a:cubicBezTo>
                  <a:pt x="11833" y="18625"/>
                  <a:pt x="4633" y="21600"/>
                  <a:pt x="0" y="8924"/>
                </a:cubicBezTo>
              </a:path>
            </a:pathLst>
          </a:custGeom>
          <a:ln w="101600">
            <a:solidFill>
              <a:schemeClr val="accent6">
                <a:lumOff val="-8741"/>
              </a:schemeClr>
            </a:solidFill>
            <a:miter lim="400000"/>
          </a:ln>
        </p:spPr>
        <p:txBody>
          <a:bodyPr/>
          <a:lstStyle/>
          <a:p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AVC"/>
          <p:cNvSpPr txBox="1"/>
          <p:nvPr/>
        </p:nvSpPr>
        <p:spPr>
          <a:xfrm>
            <a:off x="10026374" y="2904539"/>
            <a:ext cx="88165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AVC</a:t>
            </a:r>
          </a:p>
        </p:txBody>
      </p:sp>
      <p:sp>
        <p:nvSpPr>
          <p:cNvPr id="225" name="Stage 1"/>
          <p:cNvSpPr txBox="1"/>
          <p:nvPr/>
        </p:nvSpPr>
        <p:spPr>
          <a:xfrm>
            <a:off x="4725766" y="1845834"/>
            <a:ext cx="1779382" cy="727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EF8491-AD7A-DB42-9994-2E20EEA3D25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187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AC &amp; MC…"/>
          <p:cNvSpPr txBox="1">
            <a:spLocks noGrp="1"/>
          </p:cNvSpPr>
          <p:nvPr>
            <p:ph type="ctrTitle"/>
          </p:nvPr>
        </p:nvSpPr>
        <p:spPr>
          <a:xfrm>
            <a:off x="1146073" y="3536950"/>
            <a:ext cx="10331450" cy="13398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 &amp; MC Relationship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4B912-3A52-824B-B075-A07E3976E7B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2245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9F6DB-C9AB-CA82-0B5F-832AC294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">
            <a:extLst>
              <a:ext uri="{FF2B5EF4-FFF2-40B4-BE49-F238E27FC236}">
                <a16:creationId xmlns:a16="http://schemas.microsoft.com/office/drawing/2014/main" id="{F245948F-F023-6712-D1DC-7F82BD3909C1}"/>
              </a:ext>
            </a:extLst>
          </p:cNvPr>
          <p:cNvGrpSpPr/>
          <p:nvPr/>
        </p:nvGrpSpPr>
        <p:grpSpPr>
          <a:xfrm>
            <a:off x="4784719" y="3138161"/>
            <a:ext cx="811070" cy="4844101"/>
            <a:chOff x="375758" y="-1351560"/>
            <a:chExt cx="811068" cy="4844100"/>
          </a:xfrm>
        </p:grpSpPr>
        <p:sp>
          <p:nvSpPr>
            <p:cNvPr id="232" name="Line">
              <a:extLst>
                <a:ext uri="{FF2B5EF4-FFF2-40B4-BE49-F238E27FC236}">
                  <a16:creationId xmlns:a16="http://schemas.microsoft.com/office/drawing/2014/main" id="{0BA7926A-8580-5ED4-26C6-11E1CEF48AC3}"/>
                </a:ext>
              </a:extLst>
            </p:cNvPr>
            <p:cNvSpPr/>
            <p:nvPr/>
          </p:nvSpPr>
          <p:spPr>
            <a:xfrm flipH="1" flipV="1">
              <a:off x="668526" y="-829162"/>
              <a:ext cx="0" cy="3844881"/>
            </a:xfrm>
            <a:prstGeom prst="line">
              <a:avLst/>
            </a:prstGeom>
            <a:noFill/>
            <a:ln w="57150" cap="flat">
              <a:solidFill>
                <a:srgbClr val="0070C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A1">
              <a:extLst>
                <a:ext uri="{FF2B5EF4-FFF2-40B4-BE49-F238E27FC236}">
                  <a16:creationId xmlns:a16="http://schemas.microsoft.com/office/drawing/2014/main" id="{33527D74-8609-3272-C164-3E39E2F48B36}"/>
                </a:ext>
              </a:extLst>
            </p:cNvPr>
            <p:cNvSpPr txBox="1"/>
            <p:nvPr/>
          </p:nvSpPr>
          <p:spPr>
            <a:xfrm>
              <a:off x="671785" y="-1351560"/>
              <a:ext cx="48250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2800" baseline="-5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4" name="M1">
              <a:extLst>
                <a:ext uri="{FF2B5EF4-FFF2-40B4-BE49-F238E27FC236}">
                  <a16:creationId xmlns:a16="http://schemas.microsoft.com/office/drawing/2014/main" id="{5BB331EC-1F88-0281-AD30-396B4358D063}"/>
                </a:ext>
              </a:extLst>
            </p:cNvPr>
            <p:cNvSpPr txBox="1"/>
            <p:nvPr/>
          </p:nvSpPr>
          <p:spPr>
            <a:xfrm>
              <a:off x="625777" y="1747875"/>
              <a:ext cx="56104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sz="2800" baseline="-5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5" name="Q1">
              <a:extLst>
                <a:ext uri="{FF2B5EF4-FFF2-40B4-BE49-F238E27FC236}">
                  <a16:creationId xmlns:a16="http://schemas.microsoft.com/office/drawing/2014/main" id="{46C1E0FA-8743-1C7C-A823-B67B47F5A731}"/>
                </a:ext>
              </a:extLst>
            </p:cNvPr>
            <p:cNvSpPr txBox="1"/>
            <p:nvPr/>
          </p:nvSpPr>
          <p:spPr>
            <a:xfrm>
              <a:off x="375758" y="2959061"/>
              <a:ext cx="50173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800" baseline="-5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47" name="Line">
            <a:extLst>
              <a:ext uri="{FF2B5EF4-FFF2-40B4-BE49-F238E27FC236}">
                <a16:creationId xmlns:a16="http://schemas.microsoft.com/office/drawing/2014/main" id="{4A304E16-B243-67D3-3389-C019680410C2}"/>
              </a:ext>
            </a:extLst>
          </p:cNvPr>
          <p:cNvSpPr/>
          <p:nvPr/>
        </p:nvSpPr>
        <p:spPr>
          <a:xfrm flipV="1">
            <a:off x="3210728" y="279262"/>
            <a:ext cx="0" cy="7804785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Line">
            <a:extLst>
              <a:ext uri="{FF2B5EF4-FFF2-40B4-BE49-F238E27FC236}">
                <a16:creationId xmlns:a16="http://schemas.microsoft.com/office/drawing/2014/main" id="{80A4F35F-9F67-FDE2-028B-D121FECA5C4F}"/>
              </a:ext>
            </a:extLst>
          </p:cNvPr>
          <p:cNvSpPr/>
          <p:nvPr/>
        </p:nvSpPr>
        <p:spPr>
          <a:xfrm>
            <a:off x="2234059" y="7558610"/>
            <a:ext cx="8054084" cy="1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3225EE-391C-AE82-3968-C96A21A1E913}"/>
              </a:ext>
            </a:extLst>
          </p:cNvPr>
          <p:cNvGrpSpPr/>
          <p:nvPr/>
        </p:nvGrpSpPr>
        <p:grpSpPr>
          <a:xfrm rot="21279537">
            <a:off x="4673696" y="2220764"/>
            <a:ext cx="4418463" cy="2179122"/>
            <a:chOff x="6624931" y="3789943"/>
            <a:chExt cx="3510700" cy="1997283"/>
          </a:xfrm>
        </p:grpSpPr>
        <p:sp>
          <p:nvSpPr>
            <p:cNvPr id="258" name="Connection Line">
              <a:extLst>
                <a:ext uri="{FF2B5EF4-FFF2-40B4-BE49-F238E27FC236}">
                  <a16:creationId xmlns:a16="http://schemas.microsoft.com/office/drawing/2014/main" id="{8F409F2F-E3BE-88A8-B3E2-1CA0ADF78239}"/>
                </a:ext>
              </a:extLst>
            </p:cNvPr>
            <p:cNvSpPr/>
            <p:nvPr/>
          </p:nvSpPr>
          <p:spPr>
            <a:xfrm rot="655022">
              <a:off x="6624931" y="3862352"/>
              <a:ext cx="2826392" cy="1924874"/>
            </a:xfrm>
            <a:custGeom>
              <a:avLst/>
              <a:gdLst>
                <a:gd name="connsiteX0" fmla="*/ 26675 w 26675"/>
                <a:gd name="connsiteY0" fmla="*/ 535 h 16143"/>
                <a:gd name="connsiteX1" fmla="*/ 0 w 26675"/>
                <a:gd name="connsiteY1" fmla="*/ 0 h 16143"/>
                <a:gd name="connsiteX0" fmla="*/ 21269 w 21269"/>
                <a:gd name="connsiteY0" fmla="*/ 801 h 16280"/>
                <a:gd name="connsiteX1" fmla="*/ 0 w 21269"/>
                <a:gd name="connsiteY1" fmla="*/ 0 h 16280"/>
                <a:gd name="connsiteX0" fmla="*/ 16648 w 16648"/>
                <a:gd name="connsiteY0" fmla="*/ 0 h 19282"/>
                <a:gd name="connsiteX1" fmla="*/ 0 w 16648"/>
                <a:gd name="connsiteY1" fmla="*/ 6197 h 19282"/>
                <a:gd name="connsiteX0" fmla="*/ 17185 w 17185"/>
                <a:gd name="connsiteY0" fmla="*/ 0 h 15987"/>
                <a:gd name="connsiteX1" fmla="*/ 0 w 17185"/>
                <a:gd name="connsiteY1" fmla="*/ 233 h 15987"/>
                <a:gd name="connsiteX0" fmla="*/ 21717 w 21717"/>
                <a:gd name="connsiteY0" fmla="*/ 0 h 20094"/>
                <a:gd name="connsiteX1" fmla="*/ 0 w 21717"/>
                <a:gd name="connsiteY1" fmla="*/ 7519 h 2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717" h="20094" extrusionOk="0">
                  <a:moveTo>
                    <a:pt x="21717" y="0"/>
                  </a:moveTo>
                  <a:cubicBezTo>
                    <a:pt x="15451" y="21381"/>
                    <a:pt x="8134" y="28461"/>
                    <a:pt x="0" y="7519"/>
                  </a:cubicBezTo>
                </a:path>
              </a:pathLst>
            </a:custGeom>
            <a:ln w="101600">
              <a:solidFill>
                <a:schemeClr val="accent5">
                  <a:hueOff val="-176146"/>
                  <a:satOff val="3665"/>
                  <a:lumOff val="-13986"/>
                </a:schemeClr>
              </a:solidFill>
              <a:miter lim="400000"/>
            </a:ln>
          </p:spPr>
          <p:txBody>
            <a:bodyPr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AC">
              <a:extLst>
                <a:ext uri="{FF2B5EF4-FFF2-40B4-BE49-F238E27FC236}">
                  <a16:creationId xmlns:a16="http://schemas.microsoft.com/office/drawing/2014/main" id="{3BC0701C-A1D0-0B85-037B-1031608F01F7}"/>
                </a:ext>
              </a:extLst>
            </p:cNvPr>
            <p:cNvSpPr txBox="1"/>
            <p:nvPr/>
          </p:nvSpPr>
          <p:spPr>
            <a:xfrm>
              <a:off x="9541499" y="3789943"/>
              <a:ext cx="594132" cy="48896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B6360A-5600-CA64-B39B-0FBDA0FE4962}"/>
              </a:ext>
            </a:extLst>
          </p:cNvPr>
          <p:cNvGrpSpPr/>
          <p:nvPr/>
        </p:nvGrpSpPr>
        <p:grpSpPr>
          <a:xfrm rot="295813">
            <a:off x="5128437" y="431941"/>
            <a:ext cx="2921816" cy="6244241"/>
            <a:chOff x="4982319" y="1444598"/>
            <a:chExt cx="3699562" cy="4398496"/>
          </a:xfrm>
        </p:grpSpPr>
        <p:sp>
          <p:nvSpPr>
            <p:cNvPr id="259" name="Connection Line">
              <a:extLst>
                <a:ext uri="{FF2B5EF4-FFF2-40B4-BE49-F238E27FC236}">
                  <a16:creationId xmlns:a16="http://schemas.microsoft.com/office/drawing/2014/main" id="{CE853421-EAF6-3A36-0753-0404A71ADBBE}"/>
                </a:ext>
              </a:extLst>
            </p:cNvPr>
            <p:cNvSpPr/>
            <p:nvPr/>
          </p:nvSpPr>
          <p:spPr>
            <a:xfrm rot="697559">
              <a:off x="4982319" y="1666775"/>
              <a:ext cx="2114371" cy="4176319"/>
            </a:xfrm>
            <a:custGeom>
              <a:avLst/>
              <a:gdLst>
                <a:gd name="connsiteX0" fmla="*/ 24034 w 24034"/>
                <a:gd name="connsiteY0" fmla="*/ 0 h 17362"/>
                <a:gd name="connsiteX1" fmla="*/ 0 w 24034"/>
                <a:gd name="connsiteY1" fmla="*/ 12824 h 17362"/>
                <a:gd name="connsiteX0" fmla="*/ 28909 w 28909"/>
                <a:gd name="connsiteY0" fmla="*/ 0 h 20519"/>
                <a:gd name="connsiteX1" fmla="*/ 0 w 28909"/>
                <a:gd name="connsiteY1" fmla="*/ 16887 h 2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909" h="20519" extrusionOk="0">
                  <a:moveTo>
                    <a:pt x="28909" y="0"/>
                  </a:moveTo>
                  <a:cubicBezTo>
                    <a:pt x="26062" y="17398"/>
                    <a:pt x="11553" y="25880"/>
                    <a:pt x="0" y="16887"/>
                  </a:cubicBezTo>
                </a:path>
              </a:pathLst>
            </a:custGeom>
            <a:ln w="101600">
              <a:solidFill>
                <a:schemeClr val="accent2">
                  <a:hueOff val="-554920"/>
                  <a:satOff val="-21482"/>
                  <a:lumOff val="-6228"/>
                </a:schemeClr>
              </a:solidFill>
              <a:miter lim="400000"/>
            </a:ln>
          </p:spPr>
          <p:txBody>
            <a:bodyPr/>
            <a:lstStyle/>
            <a:p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MC">
              <a:extLst>
                <a:ext uri="{FF2B5EF4-FFF2-40B4-BE49-F238E27FC236}">
                  <a16:creationId xmlns:a16="http://schemas.microsoft.com/office/drawing/2014/main" id="{0A32B575-3367-9E5B-54E4-CCD378727907}"/>
                </a:ext>
              </a:extLst>
            </p:cNvPr>
            <p:cNvSpPr txBox="1"/>
            <p:nvPr/>
          </p:nvSpPr>
          <p:spPr>
            <a:xfrm rot="21304187">
              <a:off x="7794901" y="1444598"/>
              <a:ext cx="886980" cy="3757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253" name="AC, MC">
            <a:extLst>
              <a:ext uri="{FF2B5EF4-FFF2-40B4-BE49-F238E27FC236}">
                <a16:creationId xmlns:a16="http://schemas.microsoft.com/office/drawing/2014/main" id="{8F555F8B-99D0-3628-F94A-51F73EBB1D62}"/>
              </a:ext>
            </a:extLst>
          </p:cNvPr>
          <p:cNvSpPr txBox="1"/>
          <p:nvPr/>
        </p:nvSpPr>
        <p:spPr>
          <a:xfrm>
            <a:off x="2030635" y="445623"/>
            <a:ext cx="1132012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54" name="Qty">
            <a:extLst>
              <a:ext uri="{FF2B5EF4-FFF2-40B4-BE49-F238E27FC236}">
                <a16:creationId xmlns:a16="http://schemas.microsoft.com/office/drawing/2014/main" id="{9218EA2D-BAD3-845F-55D6-C819D220B5FF}"/>
              </a:ext>
            </a:extLst>
          </p:cNvPr>
          <p:cNvSpPr txBox="1"/>
          <p:nvPr/>
        </p:nvSpPr>
        <p:spPr>
          <a:xfrm>
            <a:off x="9518949" y="7651655"/>
            <a:ext cx="113201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69724D-6B68-BA81-D15B-7DADBD02A54D}"/>
              </a:ext>
            </a:extLst>
          </p:cNvPr>
          <p:cNvGrpSpPr/>
          <p:nvPr/>
        </p:nvGrpSpPr>
        <p:grpSpPr>
          <a:xfrm>
            <a:off x="5184351" y="4303915"/>
            <a:ext cx="2444984" cy="4507302"/>
            <a:chOff x="4615673" y="5115845"/>
            <a:chExt cx="2444984" cy="4507302"/>
          </a:xfrm>
        </p:grpSpPr>
        <p:grpSp>
          <p:nvGrpSpPr>
            <p:cNvPr id="241" name="Group">
              <a:extLst>
                <a:ext uri="{FF2B5EF4-FFF2-40B4-BE49-F238E27FC236}">
                  <a16:creationId xmlns:a16="http://schemas.microsoft.com/office/drawing/2014/main" id="{C20AD718-869B-D3C0-1A3B-02595E68D8E4}"/>
                </a:ext>
              </a:extLst>
            </p:cNvPr>
            <p:cNvGrpSpPr/>
            <p:nvPr/>
          </p:nvGrpSpPr>
          <p:grpSpPr>
            <a:xfrm>
              <a:off x="5517807" y="5115845"/>
              <a:ext cx="1542850" cy="3691514"/>
              <a:chOff x="508704" y="363049"/>
              <a:chExt cx="1542849" cy="3691513"/>
            </a:xfrm>
          </p:grpSpPr>
          <p:sp>
            <p:nvSpPr>
              <p:cNvPr id="237" name="Line">
                <a:extLst>
                  <a:ext uri="{FF2B5EF4-FFF2-40B4-BE49-F238E27FC236}">
                    <a16:creationId xmlns:a16="http://schemas.microsoft.com/office/drawing/2014/main" id="{D4DA8CDD-E186-9CCA-B059-E9DD3E60EABF}"/>
                  </a:ext>
                </a:extLst>
              </p:cNvPr>
              <p:cNvSpPr/>
              <p:nvPr/>
            </p:nvSpPr>
            <p:spPr>
              <a:xfrm flipH="1" flipV="1">
                <a:off x="767069" y="460387"/>
                <a:ext cx="8140" cy="3157355"/>
              </a:xfrm>
              <a:prstGeom prst="line">
                <a:avLst/>
              </a:prstGeom>
              <a:noFill/>
              <a:ln w="57150" cap="flat">
                <a:solidFill>
                  <a:srgbClr val="FF0000"/>
                </a:solidFill>
                <a:prstDash val="dash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  <a:endParaRPr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9" name="M2">
                <a:extLst>
                  <a:ext uri="{FF2B5EF4-FFF2-40B4-BE49-F238E27FC236}">
                    <a16:creationId xmlns:a16="http://schemas.microsoft.com/office/drawing/2014/main" id="{513FB255-41B7-82FD-2C64-33AA1E270851}"/>
                  </a:ext>
                </a:extLst>
              </p:cNvPr>
              <p:cNvSpPr txBox="1"/>
              <p:nvPr/>
            </p:nvSpPr>
            <p:spPr>
              <a:xfrm>
                <a:off x="706435" y="363049"/>
                <a:ext cx="1345118" cy="82073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>
                  <a:defRPr b="1"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sz="2800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2800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>
                  <a:defRPr b="1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2800" baseline="-5999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Q2">
                <a:extLst>
                  <a:ext uri="{FF2B5EF4-FFF2-40B4-BE49-F238E27FC236}">
                    <a16:creationId xmlns:a16="http://schemas.microsoft.com/office/drawing/2014/main" id="{E9F80848-318A-09D3-473E-001503C6689B}"/>
                  </a:ext>
                </a:extLst>
              </p:cNvPr>
              <p:cNvSpPr txBox="1"/>
              <p:nvPr/>
            </p:nvSpPr>
            <p:spPr>
              <a:xfrm>
                <a:off x="508704" y="3521083"/>
                <a:ext cx="501740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b="1"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800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256" name="Optimal Output…">
              <a:extLst>
                <a:ext uri="{FF2B5EF4-FFF2-40B4-BE49-F238E27FC236}">
                  <a16:creationId xmlns:a16="http://schemas.microsoft.com/office/drawing/2014/main" id="{EF1EBD3F-CF19-779B-94F1-23E01C74B011}"/>
                </a:ext>
              </a:extLst>
            </p:cNvPr>
            <p:cNvSpPr txBox="1"/>
            <p:nvPr/>
          </p:nvSpPr>
          <p:spPr>
            <a:xfrm>
              <a:off x="4615673" y="8905002"/>
              <a:ext cx="2320997" cy="718145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>
                <a:defRPr sz="2500" b="1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Optimal Output</a:t>
              </a:r>
            </a:p>
            <a:p>
              <a:pPr>
                <a:defRPr sz="2500" b="1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Qty = OQ</a:t>
              </a:r>
              <a:r>
                <a:rPr sz="2000" baseline="-5999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A72BE9-223A-E1B6-0B04-49E9A17D19AE}"/>
              </a:ext>
            </a:extLst>
          </p:cNvPr>
          <p:cNvGrpSpPr/>
          <p:nvPr/>
        </p:nvGrpSpPr>
        <p:grpSpPr>
          <a:xfrm>
            <a:off x="1961370" y="7976474"/>
            <a:ext cx="4125115" cy="1224459"/>
            <a:chOff x="3554846" y="7057328"/>
            <a:chExt cx="4125115" cy="122445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983A447-3A69-78EF-C4A2-D0FFD01E50C3}"/>
                </a:ext>
              </a:extLst>
            </p:cNvPr>
            <p:cNvGrpSpPr/>
            <p:nvPr/>
          </p:nvGrpSpPr>
          <p:grpSpPr>
            <a:xfrm>
              <a:off x="3554846" y="7142878"/>
              <a:ext cx="2816598" cy="1138909"/>
              <a:chOff x="3248216" y="7103307"/>
              <a:chExt cx="2816598" cy="1138909"/>
            </a:xfrm>
          </p:grpSpPr>
          <p:sp>
            <p:nvSpPr>
              <p:cNvPr id="255" name="Sub-Optimal Output…">
                <a:extLst>
                  <a:ext uri="{FF2B5EF4-FFF2-40B4-BE49-F238E27FC236}">
                    <a16:creationId xmlns:a16="http://schemas.microsoft.com/office/drawing/2014/main" id="{8E916A0C-E059-15F5-9FE4-E7C9A790DBF6}"/>
                  </a:ext>
                </a:extLst>
              </p:cNvPr>
              <p:cNvSpPr txBox="1"/>
              <p:nvPr/>
            </p:nvSpPr>
            <p:spPr>
              <a:xfrm>
                <a:off x="3248216" y="7524071"/>
                <a:ext cx="2816598" cy="7181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>
                  <a:defRPr sz="2500" b="1">
                    <a:solidFill>
                      <a:schemeClr val="accent2">
                        <a:hueOff val="-554920"/>
                        <a:satOff val="-21482"/>
                        <a:lumOff val="-6228"/>
                      </a:schemeClr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Sub-Optimal Output</a:t>
                </a:r>
              </a:p>
              <a:p>
                <a:pPr>
                  <a:defRPr sz="2500" b="1">
                    <a:solidFill>
                      <a:schemeClr val="accent2">
                        <a:hueOff val="-554920"/>
                        <a:satOff val="-21482"/>
                        <a:lumOff val="-6228"/>
                      </a:schemeClr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Qty &lt; OQ</a:t>
                </a:r>
                <a:r>
                  <a:rPr sz="2000" baseline="-5999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5F9432B7-BEA7-82AA-81DE-13B29B739E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59884" y="7103307"/>
                <a:ext cx="0" cy="496974"/>
              </a:xfrm>
              <a:prstGeom prst="straightConnector1">
                <a:avLst/>
              </a:prstGeom>
              <a:noFill/>
              <a:ln w="57150" cap="flat">
                <a:solidFill>
                  <a:srgbClr val="0070C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1E78CB3-ADCD-FE87-1357-D1B4E576CE1E}"/>
                </a:ext>
              </a:extLst>
            </p:cNvPr>
            <p:cNvCxnSpPr>
              <a:cxnSpLocks/>
            </p:cNvCxnSpPr>
            <p:nvPr/>
          </p:nvCxnSpPr>
          <p:spPr>
            <a:xfrm>
              <a:off x="4804203" y="7057328"/>
              <a:ext cx="2875758" cy="18955"/>
            </a:xfrm>
            <a:prstGeom prst="straightConnector1">
              <a:avLst/>
            </a:prstGeom>
            <a:noFill/>
            <a:ln w="57150" cap="flat">
              <a:solidFill>
                <a:srgbClr val="0070C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46" name="Group">
            <a:extLst>
              <a:ext uri="{FF2B5EF4-FFF2-40B4-BE49-F238E27FC236}">
                <a16:creationId xmlns:a16="http://schemas.microsoft.com/office/drawing/2014/main" id="{5BB15390-52D4-2117-7C9A-D518686E3921}"/>
              </a:ext>
            </a:extLst>
          </p:cNvPr>
          <p:cNvGrpSpPr/>
          <p:nvPr/>
        </p:nvGrpSpPr>
        <p:grpSpPr>
          <a:xfrm>
            <a:off x="6578550" y="1869958"/>
            <a:ext cx="1011774" cy="6131647"/>
            <a:chOff x="205821" y="-682999"/>
            <a:chExt cx="1011773" cy="6131646"/>
          </a:xfrm>
        </p:grpSpPr>
        <p:sp>
          <p:nvSpPr>
            <p:cNvPr id="242" name="Line">
              <a:extLst>
                <a:ext uri="{FF2B5EF4-FFF2-40B4-BE49-F238E27FC236}">
                  <a16:creationId xmlns:a16="http://schemas.microsoft.com/office/drawing/2014/main" id="{C8188AF1-738D-62AD-3C6F-6612A1BD107B}"/>
                </a:ext>
              </a:extLst>
            </p:cNvPr>
            <p:cNvSpPr/>
            <p:nvPr/>
          </p:nvSpPr>
          <p:spPr>
            <a:xfrm flipH="1" flipV="1">
              <a:off x="757195" y="-232722"/>
              <a:ext cx="47234" cy="5241257"/>
            </a:xfrm>
            <a:prstGeom prst="line">
              <a:avLst/>
            </a:prstGeom>
            <a:noFill/>
            <a:ln w="57150" cap="flat">
              <a:solidFill>
                <a:srgbClr val="7030A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0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A3">
              <a:extLst>
                <a:ext uri="{FF2B5EF4-FFF2-40B4-BE49-F238E27FC236}">
                  <a16:creationId xmlns:a16="http://schemas.microsoft.com/office/drawing/2014/main" id="{C69941A3-2A2C-BCA4-1335-36DB2F02B357}"/>
                </a:ext>
              </a:extLst>
            </p:cNvPr>
            <p:cNvSpPr txBox="1"/>
            <p:nvPr/>
          </p:nvSpPr>
          <p:spPr>
            <a:xfrm>
              <a:off x="735091" y="1361957"/>
              <a:ext cx="48250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2800" baseline="-5999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4" name="M3">
              <a:extLst>
                <a:ext uri="{FF2B5EF4-FFF2-40B4-BE49-F238E27FC236}">
                  <a16:creationId xmlns:a16="http://schemas.microsoft.com/office/drawing/2014/main" id="{DA80BC4D-144E-81E2-3427-0DA78F1607BB}"/>
                </a:ext>
              </a:extLst>
            </p:cNvPr>
            <p:cNvSpPr txBox="1"/>
            <p:nvPr/>
          </p:nvSpPr>
          <p:spPr>
            <a:xfrm>
              <a:off x="205821" y="-682999"/>
              <a:ext cx="56105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sz="2800" baseline="-5999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5" name="Q3">
              <a:extLst>
                <a:ext uri="{FF2B5EF4-FFF2-40B4-BE49-F238E27FC236}">
                  <a16:creationId xmlns:a16="http://schemas.microsoft.com/office/drawing/2014/main" id="{69302738-0812-56D8-B1B9-44B43695D409}"/>
                </a:ext>
              </a:extLst>
            </p:cNvPr>
            <p:cNvSpPr txBox="1"/>
            <p:nvPr/>
          </p:nvSpPr>
          <p:spPr>
            <a:xfrm>
              <a:off x="520768" y="4915168"/>
              <a:ext cx="50174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800" baseline="-5999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23B302-31BE-3D9E-85CB-A3DCE3609804}"/>
              </a:ext>
            </a:extLst>
          </p:cNvPr>
          <p:cNvGrpSpPr/>
          <p:nvPr/>
        </p:nvGrpSpPr>
        <p:grpSpPr>
          <a:xfrm>
            <a:off x="6588225" y="7976474"/>
            <a:ext cx="3213477" cy="1199174"/>
            <a:chOff x="6550124" y="7057328"/>
            <a:chExt cx="3213477" cy="119917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F390170-BFAE-05D4-C51E-97C344FA7AE0}"/>
                </a:ext>
              </a:extLst>
            </p:cNvPr>
            <p:cNvGrpSpPr/>
            <p:nvPr/>
          </p:nvGrpSpPr>
          <p:grpSpPr>
            <a:xfrm>
              <a:off x="7106266" y="7170093"/>
              <a:ext cx="2657335" cy="1086409"/>
              <a:chOff x="7106266" y="7170093"/>
              <a:chExt cx="2657335" cy="1086409"/>
            </a:xfrm>
          </p:grpSpPr>
          <p:sp>
            <p:nvSpPr>
              <p:cNvPr id="257" name="Post-Optimal Output…">
                <a:extLst>
                  <a:ext uri="{FF2B5EF4-FFF2-40B4-BE49-F238E27FC236}">
                    <a16:creationId xmlns:a16="http://schemas.microsoft.com/office/drawing/2014/main" id="{9CD5D445-D6FC-3344-5301-4107FF86F030}"/>
                  </a:ext>
                </a:extLst>
              </p:cNvPr>
              <p:cNvSpPr txBox="1"/>
              <p:nvPr/>
            </p:nvSpPr>
            <p:spPr>
              <a:xfrm>
                <a:off x="7106266" y="7538357"/>
                <a:ext cx="2657335" cy="7181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>
                  <a:defRPr sz="2500" b="1">
                    <a:solidFill>
                      <a:schemeClr val="accent6">
                        <a:lumOff val="-21524"/>
                      </a:schemeClr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Post-Optimal Output</a:t>
                </a:r>
              </a:p>
              <a:p>
                <a:pPr>
                  <a:defRPr sz="2500" b="1">
                    <a:solidFill>
                      <a:schemeClr val="accent6">
                        <a:lumOff val="-21524"/>
                      </a:schemeClr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 &gt; OQ</a:t>
                </a:r>
                <a:r>
                  <a:rPr sz="2000" baseline="-5999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0445D8E-3B7A-E190-28EB-F384BD9628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0983" y="7170093"/>
                <a:ext cx="0" cy="461479"/>
              </a:xfrm>
              <a:prstGeom prst="straightConnector1">
                <a:avLst/>
              </a:prstGeom>
              <a:noFill/>
              <a:ln w="57150" cap="flat">
                <a:solidFill>
                  <a:srgbClr val="7030A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02F1ED0-3211-3C52-544B-A78D3B70F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0124" y="7057328"/>
              <a:ext cx="2750425" cy="18955"/>
            </a:xfrm>
            <a:prstGeom prst="straightConnector1">
              <a:avLst/>
            </a:prstGeom>
            <a:noFill/>
            <a:ln w="57150" cap="flat">
              <a:solidFill>
                <a:srgbClr val="7030A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8098C7-7A66-8B9C-26D7-38E9439DF8E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7588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Line"/>
          <p:cNvSpPr/>
          <p:nvPr/>
        </p:nvSpPr>
        <p:spPr>
          <a:xfrm>
            <a:off x="5664526" y="1031204"/>
            <a:ext cx="1" cy="6972244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Line"/>
          <p:cNvSpPr/>
          <p:nvPr/>
        </p:nvSpPr>
        <p:spPr>
          <a:xfrm flipH="1" flipV="1">
            <a:off x="216746" y="8019626"/>
            <a:ext cx="12029441" cy="1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Line"/>
          <p:cNvSpPr/>
          <p:nvPr/>
        </p:nvSpPr>
        <p:spPr>
          <a:xfrm>
            <a:off x="5664527" y="2059093"/>
            <a:ext cx="5389554" cy="4190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666" y="20393"/>
                  <a:pt x="1332" y="19185"/>
                  <a:pt x="3240" y="18489"/>
                </a:cubicBezTo>
                <a:cubicBezTo>
                  <a:pt x="5148" y="17793"/>
                  <a:pt x="8388" y="20504"/>
                  <a:pt x="11448" y="17422"/>
                </a:cubicBezTo>
                <a:cubicBezTo>
                  <a:pt x="14508" y="14341"/>
                  <a:pt x="18054" y="7170"/>
                  <a:pt x="21600" y="0"/>
                </a:cubicBezTo>
              </a:path>
            </a:pathLst>
          </a:custGeom>
          <a:ln w="57150">
            <a:solidFill>
              <a:schemeClr val="tx1"/>
            </a:solidFill>
            <a:bevel/>
          </a:ln>
        </p:spPr>
        <p:txBody>
          <a:bodyPr lIns="65023" tIns="65023" rIns="65023" bIns="65023" anchor="ctr"/>
          <a:lstStyle/>
          <a:p>
            <a:pPr defTabSz="130048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TC"/>
          <p:cNvSpPr txBox="1"/>
          <p:nvPr/>
        </p:nvSpPr>
        <p:spPr>
          <a:xfrm>
            <a:off x="10837333" y="1490047"/>
            <a:ext cx="75861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A7FE9-707E-E540-A141-43FA567BCE35}"/>
              </a:ext>
            </a:extLst>
          </p:cNvPr>
          <p:cNvGrpSpPr/>
          <p:nvPr/>
        </p:nvGrpSpPr>
        <p:grpSpPr>
          <a:xfrm>
            <a:off x="8357992" y="4747923"/>
            <a:ext cx="623447" cy="3271704"/>
            <a:chOff x="8357992" y="4747923"/>
            <a:chExt cx="623447" cy="3271704"/>
          </a:xfrm>
        </p:grpSpPr>
        <p:sp>
          <p:nvSpPr>
            <p:cNvPr id="286" name="Line"/>
            <p:cNvSpPr/>
            <p:nvPr/>
          </p:nvSpPr>
          <p:spPr>
            <a:xfrm flipV="1">
              <a:off x="8669866" y="5310293"/>
              <a:ext cx="1" cy="2709334"/>
            </a:xfrm>
            <a:prstGeom prst="line">
              <a:avLst/>
            </a:prstGeom>
            <a:ln w="38100">
              <a:solidFill>
                <a:schemeClr val="accent4">
                  <a:lumMod val="50000"/>
                </a:schemeClr>
              </a:solidFill>
              <a:prstDash val="sysDot"/>
              <a:bevel/>
            </a:ln>
          </p:spPr>
          <p:txBody>
            <a:bodyPr lIns="65023" tIns="65023" rIns="65023" bIns="65023"/>
            <a:lstStyle/>
            <a:p>
              <a:pPr algn="l" defTabSz="650240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B"/>
            <p:cNvSpPr txBox="1"/>
            <p:nvPr/>
          </p:nvSpPr>
          <p:spPr>
            <a:xfrm>
              <a:off x="8357992" y="4747923"/>
              <a:ext cx="623447" cy="5006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A2</a:t>
              </a:r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8" name="Q2"/>
          <p:cNvSpPr txBox="1"/>
          <p:nvPr/>
        </p:nvSpPr>
        <p:spPr>
          <a:xfrm>
            <a:off x="8377965" y="8036590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A67DAB-4B8F-124A-BF2E-D5AAB50508A6}"/>
              </a:ext>
            </a:extLst>
          </p:cNvPr>
          <p:cNvGrpSpPr/>
          <p:nvPr/>
        </p:nvGrpSpPr>
        <p:grpSpPr>
          <a:xfrm>
            <a:off x="5351697" y="3982943"/>
            <a:ext cx="5280137" cy="4521152"/>
            <a:chOff x="5351697" y="3982943"/>
            <a:chExt cx="5280137" cy="4521152"/>
          </a:xfrm>
        </p:grpSpPr>
        <p:sp>
          <p:nvSpPr>
            <p:cNvPr id="285" name="Line"/>
            <p:cNvSpPr/>
            <p:nvPr/>
          </p:nvSpPr>
          <p:spPr>
            <a:xfrm flipV="1">
              <a:off x="5664527" y="4263321"/>
              <a:ext cx="4244700" cy="3770469"/>
            </a:xfrm>
            <a:prstGeom prst="line">
              <a:avLst/>
            </a:prstGeom>
            <a:ln w="88900">
              <a:solidFill>
                <a:srgbClr val="FF0000"/>
              </a:solidFill>
              <a:prstDash val="sysDot"/>
              <a:bevel/>
              <a:tailEnd type="triangle"/>
            </a:ln>
          </p:spPr>
          <p:txBody>
            <a:bodyPr lIns="65023" tIns="65023" rIns="65023" bIns="65023"/>
            <a:lstStyle/>
            <a:p>
              <a:pPr algn="l" defTabSz="650240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O"/>
            <p:cNvSpPr txBox="1"/>
            <p:nvPr/>
          </p:nvSpPr>
          <p:spPr>
            <a:xfrm>
              <a:off x="5351697" y="8003447"/>
              <a:ext cx="758614" cy="5006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90" name="t2"/>
            <p:cNvSpPr txBox="1"/>
            <p:nvPr/>
          </p:nvSpPr>
          <p:spPr>
            <a:xfrm>
              <a:off x="9873220" y="3982943"/>
              <a:ext cx="758614" cy="562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t2</a:t>
              </a:r>
            </a:p>
          </p:txBody>
        </p:sp>
      </p:grpSp>
      <p:sp>
        <p:nvSpPr>
          <p:cNvPr id="291" name="Cost"/>
          <p:cNvSpPr txBox="1"/>
          <p:nvPr/>
        </p:nvSpPr>
        <p:spPr>
          <a:xfrm>
            <a:off x="4660053" y="1037209"/>
            <a:ext cx="1029763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292" name="Qty"/>
          <p:cNvSpPr txBox="1"/>
          <p:nvPr/>
        </p:nvSpPr>
        <p:spPr>
          <a:xfrm>
            <a:off x="11289402" y="8025641"/>
            <a:ext cx="102976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01E3E6-D3D8-EB49-88BC-46FA9C1D0A0E}"/>
                  </a:ext>
                </a:extLst>
              </p:cNvPr>
              <p:cNvSpPr txBox="1"/>
              <p:nvPr/>
            </p:nvSpPr>
            <p:spPr>
              <a:xfrm>
                <a:off x="5477203" y="627129"/>
                <a:ext cx="5018207" cy="33855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3200" b="1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𝒂𝒕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sz="3200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32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sz="32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</m:oMath>
                  </m:oMathPara>
                </a14:m>
                <a:endParaRPr lang="en-US" sz="3200" b="1" i="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1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Light"/>
                  </a:rPr>
                  <a:t>and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32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𝑶𝒑𝒕𝒊𝒎𝒖𝒎</m:t>
                      </m:r>
                      <m:r>
                        <a:rPr lang="en-US" sz="32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𝑸𝒕𝒚</m:t>
                      </m:r>
                    </m:oMath>
                  </m:oMathPara>
                </a14:m>
                <a:endParaRPr lang="en-US" sz="32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01E3E6-D3D8-EB49-88BC-46FA9C1D0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203" y="627129"/>
                <a:ext cx="5018207" cy="33855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832FB-CF94-D24E-A757-8E38BE67173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17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CCADB5-DEF1-EE40-B0EB-322DA15785DD}"/>
                  </a:ext>
                </a:extLst>
              </p:cNvPr>
              <p:cNvSpPr txBox="1"/>
              <p:nvPr/>
            </p:nvSpPr>
            <p:spPr>
              <a:xfrm>
                <a:off x="5879090" y="7518325"/>
                <a:ext cx="6594196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𝑶𝑸</m:t>
                      </m:r>
                      <m:r>
                        <a:rPr lang="en-US" sz="2800" b="1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𝑶𝑸</m:t>
                      </m:r>
                      <m:r>
                        <a:rPr lang="en-US" sz="2800" b="1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6CCADB5-DEF1-EE40-B0EB-322DA1578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090" y="7518325"/>
                <a:ext cx="6594196" cy="533479"/>
              </a:xfrm>
              <a:prstGeom prst="rect">
                <a:avLst/>
              </a:prstGeom>
              <a:blipFill>
                <a:blip r:embed="rId3"/>
                <a:stretch>
                  <a:fillRect l="-1536" b="-2045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6319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Line"/>
          <p:cNvSpPr/>
          <p:nvPr/>
        </p:nvSpPr>
        <p:spPr>
          <a:xfrm flipH="1">
            <a:off x="7098613" y="1084943"/>
            <a:ext cx="2799" cy="6385707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Line"/>
          <p:cNvSpPr/>
          <p:nvPr/>
        </p:nvSpPr>
        <p:spPr>
          <a:xfrm flipH="1">
            <a:off x="296432" y="7444163"/>
            <a:ext cx="12362610" cy="87812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Line"/>
          <p:cNvSpPr/>
          <p:nvPr/>
        </p:nvSpPr>
        <p:spPr>
          <a:xfrm>
            <a:off x="7096316" y="687755"/>
            <a:ext cx="5423768" cy="4368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666" y="20393"/>
                  <a:pt x="1332" y="19185"/>
                  <a:pt x="3240" y="18489"/>
                </a:cubicBezTo>
                <a:cubicBezTo>
                  <a:pt x="5148" y="17793"/>
                  <a:pt x="8388" y="20504"/>
                  <a:pt x="11448" y="17422"/>
                </a:cubicBezTo>
                <a:cubicBezTo>
                  <a:pt x="14508" y="14341"/>
                  <a:pt x="18054" y="7170"/>
                  <a:pt x="21600" y="0"/>
                </a:cubicBezTo>
              </a:path>
            </a:pathLst>
          </a:custGeom>
          <a:ln w="57150">
            <a:solidFill>
              <a:srgbClr val="000000"/>
            </a:solidFill>
            <a:bevel/>
          </a:ln>
        </p:spPr>
        <p:txBody>
          <a:bodyPr lIns="65023" tIns="65023" rIns="65023" bIns="65023" anchor="ctr"/>
          <a:lstStyle/>
          <a:p>
            <a:pPr defTabSz="130048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TC"/>
          <p:cNvSpPr txBox="1"/>
          <p:nvPr/>
        </p:nvSpPr>
        <p:spPr>
          <a:xfrm>
            <a:off x="12246186" y="268139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268" name="Line"/>
          <p:cNvSpPr/>
          <p:nvPr/>
        </p:nvSpPr>
        <p:spPr>
          <a:xfrm flipV="1">
            <a:off x="7166711" y="4445477"/>
            <a:ext cx="2347395" cy="3011929"/>
          </a:xfrm>
          <a:prstGeom prst="line">
            <a:avLst/>
          </a:prstGeom>
          <a:ln w="88900">
            <a:solidFill>
              <a:srgbClr val="946815"/>
            </a:solidFill>
            <a:prstDash val="sysDot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F51A89-58EF-3841-89A6-A7B11262CA48}"/>
              </a:ext>
            </a:extLst>
          </p:cNvPr>
          <p:cNvGrpSpPr/>
          <p:nvPr/>
        </p:nvGrpSpPr>
        <p:grpSpPr>
          <a:xfrm>
            <a:off x="9134798" y="3898839"/>
            <a:ext cx="758615" cy="3527905"/>
            <a:chOff x="7725945" y="5270176"/>
            <a:chExt cx="758615" cy="3527905"/>
          </a:xfrm>
        </p:grpSpPr>
        <p:sp>
          <p:nvSpPr>
            <p:cNvPr id="269" name="Line"/>
            <p:cNvSpPr/>
            <p:nvPr/>
          </p:nvSpPr>
          <p:spPr>
            <a:xfrm flipH="1" flipV="1">
              <a:off x="8105253" y="5786154"/>
              <a:ext cx="75200" cy="3011927"/>
            </a:xfrm>
            <a:prstGeom prst="line">
              <a:avLst/>
            </a:prstGeom>
            <a:ln w="88900">
              <a:solidFill>
                <a:srgbClr val="AC34EB"/>
              </a:solidFill>
              <a:prstDash val="sysDot"/>
              <a:bevel/>
            </a:ln>
          </p:spPr>
          <p:txBody>
            <a:bodyPr lIns="65023" tIns="65023" rIns="65023" bIns="65023"/>
            <a:lstStyle/>
            <a:p>
              <a:pPr algn="l" defTabSz="650240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A"/>
            <p:cNvSpPr txBox="1"/>
            <p:nvPr/>
          </p:nvSpPr>
          <p:spPr>
            <a:xfrm>
              <a:off x="7725945" y="5270176"/>
              <a:ext cx="758615" cy="5006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1" name="Q1"/>
          <p:cNvSpPr txBox="1"/>
          <p:nvPr/>
        </p:nvSpPr>
        <p:spPr>
          <a:xfrm>
            <a:off x="9456594" y="7464037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3" name="O"/>
          <p:cNvSpPr txBox="1"/>
          <p:nvPr/>
        </p:nvSpPr>
        <p:spPr>
          <a:xfrm>
            <a:off x="6919874" y="7474825"/>
            <a:ext cx="551156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F69B78-6B8F-0B43-8C40-9AA7C7716665}"/>
              </a:ext>
            </a:extLst>
          </p:cNvPr>
          <p:cNvGrpSpPr/>
          <p:nvPr/>
        </p:nvGrpSpPr>
        <p:grpSpPr>
          <a:xfrm>
            <a:off x="353573" y="3751087"/>
            <a:ext cx="11799712" cy="4352734"/>
            <a:chOff x="-246883" y="4807941"/>
            <a:chExt cx="11799712" cy="435273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4E78C1-8163-8943-8A2B-8903A832F7F0}"/>
                </a:ext>
              </a:extLst>
            </p:cNvPr>
            <p:cNvGrpSpPr/>
            <p:nvPr/>
          </p:nvGrpSpPr>
          <p:grpSpPr>
            <a:xfrm>
              <a:off x="-246883" y="4807941"/>
              <a:ext cx="11311749" cy="4352734"/>
              <a:chOff x="-246883" y="4807941"/>
              <a:chExt cx="11311749" cy="4352734"/>
            </a:xfrm>
          </p:grpSpPr>
          <p:sp>
            <p:nvSpPr>
              <p:cNvPr id="267" name="Line"/>
              <p:cNvSpPr/>
              <p:nvPr/>
            </p:nvSpPr>
            <p:spPr>
              <a:xfrm flipH="1">
                <a:off x="29143" y="4807941"/>
                <a:ext cx="11035723" cy="3734128"/>
              </a:xfrm>
              <a:prstGeom prst="line">
                <a:avLst/>
              </a:prstGeom>
              <a:ln w="88900">
                <a:solidFill>
                  <a:srgbClr val="0070C0"/>
                </a:solidFill>
                <a:prstDash val="sysDot"/>
                <a:bevel/>
                <a:headEnd type="triangle"/>
              </a:ln>
            </p:spPr>
            <p:txBody>
              <a:bodyPr lIns="65023" tIns="65023" rIns="65023" bIns="65023"/>
              <a:lstStyle/>
              <a:p>
                <a:pPr algn="l" defTabSz="650240">
                  <a:defRPr sz="1600"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2" name="T1"/>
              <p:cNvSpPr txBox="1"/>
              <p:nvPr/>
            </p:nvSpPr>
            <p:spPr>
              <a:xfrm>
                <a:off x="-246883" y="8660027"/>
                <a:ext cx="758615" cy="50064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65023" tIns="65023" rIns="65023" bIns="65023">
                <a:spAutoFit/>
              </a:bodyPr>
              <a:lstStyle>
                <a:lvl1pPr algn="l" defTabSz="1300480">
                  <a:defRPr sz="28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pPr>
                  <a:defRPr sz="2400" b="0"/>
                </a:pPr>
                <a:r>
                  <a:rPr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74" name="t1"/>
            <p:cNvSpPr txBox="1"/>
            <p:nvPr/>
          </p:nvSpPr>
          <p:spPr>
            <a:xfrm>
              <a:off x="10949320" y="4839148"/>
              <a:ext cx="603509" cy="5006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75" name="Cost"/>
          <p:cNvSpPr txBox="1"/>
          <p:nvPr/>
        </p:nvSpPr>
        <p:spPr>
          <a:xfrm>
            <a:off x="6259577" y="1084036"/>
            <a:ext cx="736887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276" name="Qty"/>
          <p:cNvSpPr txBox="1"/>
          <p:nvPr/>
        </p:nvSpPr>
        <p:spPr>
          <a:xfrm>
            <a:off x="11975036" y="7432623"/>
            <a:ext cx="102976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DA65BC-1574-D74D-A337-08B510E06584}"/>
                  </a:ext>
                </a:extLst>
              </p:cNvPr>
              <p:cNvSpPr txBox="1"/>
              <p:nvPr/>
            </p:nvSpPr>
            <p:spPr>
              <a:xfrm>
                <a:off x="1485228" y="7045198"/>
                <a:ext cx="3856356" cy="4633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𝑶𝑸</m:t>
                      </m:r>
                      <m:r>
                        <a:rPr lang="en-US" sz="24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0" lang="en-US" sz="2400" b="1" i="0" u="none" strike="noStrike" cap="none" spc="0" normalizeH="0" baseline="-2500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DA65BC-1574-D74D-A337-08B510E06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228" y="7045198"/>
                <a:ext cx="3856356" cy="463397"/>
              </a:xfrm>
              <a:prstGeom prst="rect">
                <a:avLst/>
              </a:prstGeom>
              <a:blipFill>
                <a:blip r:embed="rId2"/>
                <a:stretch>
                  <a:fillRect l="-1974"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85402F-E7B7-BD49-9CAD-AB1D67A07332}"/>
                  </a:ext>
                </a:extLst>
              </p:cNvPr>
              <p:cNvSpPr txBox="1"/>
              <p:nvPr/>
            </p:nvSpPr>
            <p:spPr>
              <a:xfrm>
                <a:off x="7546230" y="6637922"/>
                <a:ext cx="2168232" cy="8327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i="1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𝑶𝑸</m:t>
                      </m:r>
                      <m:r>
                        <a:rPr lang="en-US" sz="2400" b="1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0" lang="en-US" sz="2400" b="1" i="0" u="none" strike="noStrike" cap="none" spc="0" normalizeH="0" baseline="-25000" dirty="0">
                  <a:ln>
                    <a:noFill/>
                  </a:ln>
                  <a:solidFill>
                    <a:schemeClr val="accent2">
                      <a:lumMod val="75000"/>
                    </a:schemeClr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85402F-E7B7-BD49-9CAD-AB1D67A07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230" y="6637922"/>
                <a:ext cx="2168232" cy="832728"/>
              </a:xfrm>
              <a:prstGeom prst="rect">
                <a:avLst/>
              </a:prstGeom>
              <a:blipFill>
                <a:blip r:embed="rId3"/>
                <a:stretch>
                  <a:fillRect b="-1194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A9D013-5A53-6D4B-AA48-7DB85BD61C9A}"/>
                  </a:ext>
                </a:extLst>
              </p:cNvPr>
              <p:cNvSpPr txBox="1"/>
              <p:nvPr/>
            </p:nvSpPr>
            <p:spPr>
              <a:xfrm>
                <a:off x="7174741" y="268139"/>
                <a:ext cx="4935870" cy="20415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𝑺𝒊𝒏𝒄𝒆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800" b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800" b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8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</m:oMath>
                  </m:oMathPara>
                </a14:m>
                <a:endPara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8A9D013-5A53-6D4B-AA48-7DB85BD61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741" y="268139"/>
                <a:ext cx="4935870" cy="2041585"/>
              </a:xfrm>
              <a:prstGeom prst="rect">
                <a:avLst/>
              </a:prstGeom>
              <a:blipFill>
                <a:blip r:embed="rId4"/>
                <a:stretch>
                  <a:fillRect l="-10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B7DE9-FDCC-2C43-9222-AD7497BBA2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8336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Line"/>
          <p:cNvSpPr/>
          <p:nvPr/>
        </p:nvSpPr>
        <p:spPr>
          <a:xfrm>
            <a:off x="5664527" y="1187950"/>
            <a:ext cx="1" cy="6815497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Line"/>
          <p:cNvSpPr/>
          <p:nvPr/>
        </p:nvSpPr>
        <p:spPr>
          <a:xfrm flipH="1" flipV="1">
            <a:off x="216746" y="8019626"/>
            <a:ext cx="12029441" cy="1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Line"/>
          <p:cNvSpPr/>
          <p:nvPr/>
        </p:nvSpPr>
        <p:spPr>
          <a:xfrm>
            <a:off x="5664527" y="2059093"/>
            <a:ext cx="5389554" cy="4190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666" y="20393"/>
                  <a:pt x="1332" y="19185"/>
                  <a:pt x="3240" y="18489"/>
                </a:cubicBezTo>
                <a:cubicBezTo>
                  <a:pt x="5148" y="17793"/>
                  <a:pt x="8388" y="20504"/>
                  <a:pt x="11448" y="17422"/>
                </a:cubicBezTo>
                <a:cubicBezTo>
                  <a:pt x="14508" y="14341"/>
                  <a:pt x="18054" y="7170"/>
                  <a:pt x="21600" y="0"/>
                </a:cubicBezTo>
              </a:path>
            </a:pathLst>
          </a:custGeom>
          <a:ln w="57150">
            <a:solidFill>
              <a:srgbClr val="000000"/>
            </a:solidFill>
            <a:bevel/>
          </a:ln>
        </p:spPr>
        <p:txBody>
          <a:bodyPr lIns="65023" tIns="65023" rIns="65023" bIns="65023" anchor="ctr"/>
          <a:lstStyle/>
          <a:p>
            <a:pPr defTabSz="130048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TC"/>
          <p:cNvSpPr txBox="1"/>
          <p:nvPr/>
        </p:nvSpPr>
        <p:spPr>
          <a:xfrm>
            <a:off x="10837333" y="1490047"/>
            <a:ext cx="75861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302" name="Line"/>
          <p:cNvSpPr/>
          <p:nvPr/>
        </p:nvSpPr>
        <p:spPr>
          <a:xfrm flipV="1">
            <a:off x="5769487" y="4394384"/>
            <a:ext cx="3767367" cy="3559999"/>
          </a:xfrm>
          <a:prstGeom prst="line">
            <a:avLst/>
          </a:prstGeom>
          <a:ln w="88900">
            <a:solidFill>
              <a:schemeClr val="accent4">
                <a:lumMod val="50000"/>
              </a:schemeClr>
            </a:solidFill>
            <a:prstDash val="sysDot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DBE18A-7FB7-7D44-95D9-CF266BD2B037}"/>
              </a:ext>
            </a:extLst>
          </p:cNvPr>
          <p:cNvGrpSpPr/>
          <p:nvPr/>
        </p:nvGrpSpPr>
        <p:grpSpPr>
          <a:xfrm>
            <a:off x="9097964" y="3766938"/>
            <a:ext cx="758614" cy="4211649"/>
            <a:chOff x="9097964" y="3766938"/>
            <a:chExt cx="758614" cy="4211649"/>
          </a:xfrm>
        </p:grpSpPr>
        <p:sp>
          <p:nvSpPr>
            <p:cNvPr id="303" name="Line"/>
            <p:cNvSpPr/>
            <p:nvPr/>
          </p:nvSpPr>
          <p:spPr>
            <a:xfrm flipH="1" flipV="1">
              <a:off x="9477271" y="4395363"/>
              <a:ext cx="7387" cy="3583224"/>
            </a:xfrm>
            <a:prstGeom prst="line">
              <a:avLst/>
            </a:prstGeom>
            <a:ln w="76200">
              <a:solidFill>
                <a:schemeClr val="accent4">
                  <a:lumMod val="50000"/>
                </a:schemeClr>
              </a:solidFill>
              <a:prstDash val="sysDot"/>
              <a:bevel/>
            </a:ln>
          </p:spPr>
          <p:txBody>
            <a:bodyPr lIns="65023" tIns="65023" rIns="65023" bIns="65023"/>
            <a:lstStyle/>
            <a:p>
              <a:pPr algn="l" defTabSz="650240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C"/>
            <p:cNvSpPr txBox="1"/>
            <p:nvPr/>
          </p:nvSpPr>
          <p:spPr>
            <a:xfrm>
              <a:off x="9097964" y="3766938"/>
              <a:ext cx="758614" cy="562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6" name="Q3"/>
          <p:cNvSpPr txBox="1"/>
          <p:nvPr/>
        </p:nvSpPr>
        <p:spPr>
          <a:xfrm>
            <a:off x="9157546" y="8049972"/>
            <a:ext cx="75861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7" name="O"/>
          <p:cNvSpPr txBox="1"/>
          <p:nvPr/>
        </p:nvSpPr>
        <p:spPr>
          <a:xfrm>
            <a:off x="5351697" y="8003447"/>
            <a:ext cx="75861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57CB0D-CF89-1C48-9E69-5726463FB7B2}"/>
              </a:ext>
            </a:extLst>
          </p:cNvPr>
          <p:cNvGrpSpPr/>
          <p:nvPr/>
        </p:nvGrpSpPr>
        <p:grpSpPr>
          <a:xfrm>
            <a:off x="6419847" y="2919812"/>
            <a:ext cx="4756726" cy="5645512"/>
            <a:chOff x="6419847" y="2919812"/>
            <a:chExt cx="4756726" cy="5645512"/>
          </a:xfrm>
        </p:grpSpPr>
        <p:sp>
          <p:nvSpPr>
            <p:cNvPr id="304" name="Line"/>
            <p:cNvSpPr/>
            <p:nvPr/>
          </p:nvSpPr>
          <p:spPr>
            <a:xfrm flipV="1">
              <a:off x="6748762" y="3202516"/>
              <a:ext cx="3696015" cy="4793679"/>
            </a:xfrm>
            <a:prstGeom prst="line">
              <a:avLst/>
            </a:prstGeom>
            <a:ln w="88900">
              <a:solidFill>
                <a:srgbClr val="0070C0"/>
              </a:solidFill>
              <a:prstDash val="sysDot"/>
              <a:bevel/>
              <a:tailEnd type="triangle"/>
            </a:ln>
          </p:spPr>
          <p:txBody>
            <a:bodyPr lIns="65023" tIns="65023" rIns="65023" bIns="65023"/>
            <a:lstStyle/>
            <a:p>
              <a:pPr algn="l" defTabSz="650240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8" name="T2"/>
            <p:cNvSpPr txBox="1"/>
            <p:nvPr/>
          </p:nvSpPr>
          <p:spPr>
            <a:xfrm>
              <a:off x="6419847" y="8003121"/>
              <a:ext cx="758614" cy="562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t3"/>
            <p:cNvSpPr txBox="1"/>
            <p:nvPr/>
          </p:nvSpPr>
          <p:spPr>
            <a:xfrm>
              <a:off x="10417958" y="2919812"/>
              <a:ext cx="758615" cy="562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65023" tIns="65023" rIns="65023" bIns="65023">
              <a:spAutoFit/>
            </a:bodyPr>
            <a:lstStyle>
              <a:lvl1pPr algn="l" defTabSz="1300480">
                <a:defRPr sz="28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sz="2400" b="0"/>
              </a:pPr>
              <a:r>
                <a:rPr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310" name="Cost"/>
          <p:cNvSpPr txBox="1"/>
          <p:nvPr/>
        </p:nvSpPr>
        <p:spPr>
          <a:xfrm>
            <a:off x="4660053" y="1037209"/>
            <a:ext cx="1029763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311" name="Qty"/>
          <p:cNvSpPr txBox="1"/>
          <p:nvPr/>
        </p:nvSpPr>
        <p:spPr>
          <a:xfrm>
            <a:off x="11289402" y="8025641"/>
            <a:ext cx="1029764" cy="56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4D49D5-4772-DA48-B9AB-A969210CB732}"/>
                  </a:ext>
                </a:extLst>
              </p:cNvPr>
              <p:cNvSpPr txBox="1"/>
              <p:nvPr/>
            </p:nvSpPr>
            <p:spPr>
              <a:xfrm>
                <a:off x="7351893" y="7237433"/>
                <a:ext cx="2116336" cy="8327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baseline="-2500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=   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𝑶𝑸</m:t>
                      </m:r>
                      <m:r>
                        <a:rPr lang="en-US" sz="2400" b="1" i="1" baseline="-2500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0" lang="en-US" sz="2400" b="1" i="0" u="none" strike="noStrike" cap="none" spc="0" normalizeH="0" baseline="-25000" dirty="0">
                  <a:ln>
                    <a:noFill/>
                  </a:ln>
                  <a:solidFill>
                    <a:schemeClr val="accent4">
                      <a:lumMod val="50000"/>
                    </a:schemeClr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4D49D5-4772-DA48-B9AB-A969210C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93" y="7237433"/>
                <a:ext cx="2116336" cy="832728"/>
              </a:xfrm>
              <a:prstGeom prst="rect">
                <a:avLst/>
              </a:prstGeom>
              <a:blipFill>
                <a:blip r:embed="rId2"/>
                <a:stretch>
                  <a:fillRect l="-4167" r="-6548" b="-1194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ED03B-10AC-8640-903D-DE1D0E8B3FC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19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6DD93F-8252-A649-9475-F908C83392D3}"/>
              </a:ext>
            </a:extLst>
          </p:cNvPr>
          <p:cNvGrpSpPr/>
          <p:nvPr/>
        </p:nvGrpSpPr>
        <p:grpSpPr>
          <a:xfrm>
            <a:off x="3066648" y="6998075"/>
            <a:ext cx="3100686" cy="971017"/>
            <a:chOff x="3066648" y="6998075"/>
            <a:chExt cx="3100686" cy="9710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6EF450-BB82-A94B-9A6B-497BC40D7B09}"/>
                    </a:ext>
                  </a:extLst>
                </p:cNvPr>
                <p:cNvSpPr txBox="1"/>
                <p:nvPr/>
              </p:nvSpPr>
              <p:spPr>
                <a:xfrm>
                  <a:off x="3066648" y="6998075"/>
                  <a:ext cx="2285049" cy="8412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𝐓𝐚𝐧</m:t>
                        </m:r>
                        <m:r>
                          <a:rPr lang="en-US" sz="24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∡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sz="2400" b="1" i="1" baseline="-250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</m:t>
                        </m:r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400" b="1" i="1" dirty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𝑨𝑪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𝒂𝒕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𝑶𝑸</m:t>
                        </m:r>
                        <m:r>
                          <a:rPr lang="en-US" sz="2400" b="1" i="1" baseline="-2500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kumimoji="0" lang="en-US" sz="2400" b="1" i="0" u="none" strike="noStrike" cap="none" spc="0" normalizeH="0" baseline="-25000" dirty="0">
                    <a:ln>
                      <a:noFill/>
                    </a:ln>
                    <a:solidFill>
                      <a:schemeClr val="accent2">
                        <a:lumMod val="50000"/>
                      </a:schemeClr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Light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6EF450-BB82-A94B-9A6B-497BC40D7B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6648" y="6998075"/>
                  <a:ext cx="2285049" cy="841256"/>
                </a:xfrm>
                <a:prstGeom prst="rect">
                  <a:avLst/>
                </a:prstGeom>
                <a:blipFill>
                  <a:blip r:embed="rId3"/>
                  <a:stretch>
                    <a:fillRect b="-1194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301C48F-5DEF-C142-9905-A6A3EFC1AAB8}"/>
                </a:ext>
              </a:extLst>
            </p:cNvPr>
            <p:cNvCxnSpPr/>
            <p:nvPr/>
          </p:nvCxnSpPr>
          <p:spPr>
            <a:xfrm>
              <a:off x="4983992" y="7384270"/>
              <a:ext cx="1183342" cy="584822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121A15-8327-8545-B0DF-006A441161BA}"/>
                  </a:ext>
                </a:extLst>
              </p:cNvPr>
              <p:cNvSpPr txBox="1"/>
              <p:nvPr/>
            </p:nvSpPr>
            <p:spPr>
              <a:xfrm>
                <a:off x="5731004" y="1310340"/>
                <a:ext cx="4935870" cy="20415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𝑺𝒊𝒏𝒄𝒆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800" b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b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800" b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8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8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 baseline="-250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8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8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indent="0" algn="ctr" defTabSz="584200" rtl="0" fontAlgn="auto" latinLnBrk="0" hangingPunc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</m:oMath>
                  </m:oMathPara>
                </a14:m>
                <a:endParaRPr kumimoji="0" lang="en-US" sz="28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121A15-8327-8545-B0DF-006A4411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004" y="1310340"/>
                <a:ext cx="4935870" cy="2041585"/>
              </a:xfrm>
              <a:prstGeom prst="rect">
                <a:avLst/>
              </a:prstGeom>
              <a:blipFill>
                <a:blip r:embed="rId4"/>
                <a:stretch>
                  <a:fillRect l="-128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6145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0" animBg="1"/>
      <p:bldP spid="19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Line"/>
          <p:cNvSpPr/>
          <p:nvPr/>
        </p:nvSpPr>
        <p:spPr>
          <a:xfrm>
            <a:off x="5661116" y="1159458"/>
            <a:ext cx="3411" cy="6843989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Line"/>
          <p:cNvSpPr/>
          <p:nvPr/>
        </p:nvSpPr>
        <p:spPr>
          <a:xfrm flipH="1" flipV="1">
            <a:off x="216746" y="8019626"/>
            <a:ext cx="12029441" cy="1"/>
          </a:xfrm>
          <a:prstGeom prst="line">
            <a:avLst/>
          </a:prstGeom>
          <a:ln w="381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Line"/>
          <p:cNvSpPr/>
          <p:nvPr/>
        </p:nvSpPr>
        <p:spPr>
          <a:xfrm>
            <a:off x="5664527" y="2059093"/>
            <a:ext cx="5389554" cy="4190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666" y="20393"/>
                  <a:pt x="1332" y="19185"/>
                  <a:pt x="3240" y="18489"/>
                </a:cubicBezTo>
                <a:cubicBezTo>
                  <a:pt x="5148" y="17793"/>
                  <a:pt x="8388" y="20504"/>
                  <a:pt x="11448" y="17422"/>
                </a:cubicBezTo>
                <a:cubicBezTo>
                  <a:pt x="14508" y="14341"/>
                  <a:pt x="18054" y="7170"/>
                  <a:pt x="21600" y="0"/>
                </a:cubicBezTo>
              </a:path>
            </a:pathLst>
          </a:custGeom>
          <a:ln w="25400">
            <a:solidFill>
              <a:srgbClr val="000000"/>
            </a:solidFill>
            <a:bevel/>
          </a:ln>
        </p:spPr>
        <p:txBody>
          <a:bodyPr lIns="65023" tIns="65023" rIns="65023" bIns="65023" anchor="ctr"/>
          <a:lstStyle/>
          <a:p>
            <a:pPr defTabSz="1300480">
              <a:defRPr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TC"/>
          <p:cNvSpPr txBox="1"/>
          <p:nvPr/>
        </p:nvSpPr>
        <p:spPr>
          <a:xfrm>
            <a:off x="10837333" y="1490047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320" name="Line"/>
          <p:cNvSpPr/>
          <p:nvPr/>
        </p:nvSpPr>
        <p:spPr>
          <a:xfrm flipH="1">
            <a:off x="966573" y="4747925"/>
            <a:ext cx="10087509" cy="3248270"/>
          </a:xfrm>
          <a:prstGeom prst="line">
            <a:avLst/>
          </a:prstGeom>
          <a:ln w="38100">
            <a:solidFill>
              <a:srgbClr val="4A7EBB"/>
            </a:solidFill>
            <a:prstDash val="sysDot"/>
            <a:bevel/>
            <a:head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Line"/>
          <p:cNvSpPr/>
          <p:nvPr/>
        </p:nvSpPr>
        <p:spPr>
          <a:xfrm flipV="1">
            <a:off x="5769487" y="4394384"/>
            <a:ext cx="3767367" cy="3559999"/>
          </a:xfrm>
          <a:prstGeom prst="line">
            <a:avLst/>
          </a:prstGeom>
          <a:ln w="38100">
            <a:solidFill>
              <a:srgbClr val="4F6228"/>
            </a:solidFill>
            <a:prstDash val="dash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Line"/>
          <p:cNvSpPr/>
          <p:nvPr/>
        </p:nvSpPr>
        <p:spPr>
          <a:xfrm flipV="1">
            <a:off x="5641780" y="5698345"/>
            <a:ext cx="2463473" cy="2259664"/>
          </a:xfrm>
          <a:prstGeom prst="line">
            <a:avLst/>
          </a:prstGeom>
          <a:ln w="38100">
            <a:solidFill>
              <a:srgbClr val="4A7EBB"/>
            </a:solidFill>
            <a:prstDash val="sysDot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Line"/>
          <p:cNvSpPr/>
          <p:nvPr/>
        </p:nvSpPr>
        <p:spPr>
          <a:xfrm flipV="1">
            <a:off x="8128000" y="5635412"/>
            <a:ext cx="1" cy="2384215"/>
          </a:xfrm>
          <a:prstGeom prst="line">
            <a:avLst/>
          </a:prstGeom>
          <a:ln w="38100">
            <a:solidFill>
              <a:srgbClr val="4A7EBB"/>
            </a:solidFill>
            <a:prstDash val="sysDot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Line"/>
          <p:cNvSpPr/>
          <p:nvPr/>
        </p:nvSpPr>
        <p:spPr>
          <a:xfrm flipV="1">
            <a:off x="5718649" y="4263322"/>
            <a:ext cx="4190577" cy="3709516"/>
          </a:xfrm>
          <a:prstGeom prst="line">
            <a:avLst/>
          </a:prstGeom>
          <a:ln w="38100">
            <a:solidFill>
              <a:srgbClr val="FF0000"/>
            </a:solidFill>
            <a:bevel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Line"/>
          <p:cNvSpPr/>
          <p:nvPr/>
        </p:nvSpPr>
        <p:spPr>
          <a:xfrm flipV="1">
            <a:off x="8669866" y="5310293"/>
            <a:ext cx="1" cy="2709334"/>
          </a:xfrm>
          <a:prstGeom prst="line">
            <a:avLst/>
          </a:prstGeom>
          <a:ln w="38100">
            <a:solidFill>
              <a:srgbClr val="FF0000"/>
            </a:solidFill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6" name="Line"/>
          <p:cNvSpPr/>
          <p:nvPr/>
        </p:nvSpPr>
        <p:spPr>
          <a:xfrm flipV="1">
            <a:off x="9536853" y="4394385"/>
            <a:ext cx="1" cy="3625242"/>
          </a:xfrm>
          <a:prstGeom prst="line">
            <a:avLst/>
          </a:prstGeom>
          <a:ln w="38100">
            <a:solidFill>
              <a:srgbClr val="4F6228"/>
            </a:solidFill>
            <a:prstDash val="dash"/>
            <a:bevel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" name="Line"/>
          <p:cNvSpPr/>
          <p:nvPr/>
        </p:nvSpPr>
        <p:spPr>
          <a:xfrm flipV="1">
            <a:off x="6748762" y="3202516"/>
            <a:ext cx="3696015" cy="4793679"/>
          </a:xfrm>
          <a:prstGeom prst="line">
            <a:avLst/>
          </a:prstGeom>
          <a:ln w="38100">
            <a:solidFill>
              <a:srgbClr val="4F6228"/>
            </a:solidFill>
            <a:prstDash val="dash"/>
            <a:bevel/>
            <a:tailEnd type="triangle"/>
          </a:ln>
        </p:spPr>
        <p:txBody>
          <a:bodyPr lIns="65023" tIns="65023" rIns="65023" bIns="65023"/>
          <a:lstStyle/>
          <a:p>
            <a:pPr algn="l" defTabSz="650240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A"/>
          <p:cNvSpPr txBox="1"/>
          <p:nvPr/>
        </p:nvSpPr>
        <p:spPr>
          <a:xfrm>
            <a:off x="7802881" y="5134550"/>
            <a:ext cx="758615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29" name="B"/>
          <p:cNvSpPr txBox="1"/>
          <p:nvPr/>
        </p:nvSpPr>
        <p:spPr>
          <a:xfrm>
            <a:off x="8357993" y="4747923"/>
            <a:ext cx="420248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30" name="C"/>
          <p:cNvSpPr txBox="1"/>
          <p:nvPr/>
        </p:nvSpPr>
        <p:spPr>
          <a:xfrm>
            <a:off x="9133649" y="3825339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31" name="Q1"/>
          <p:cNvSpPr txBox="1"/>
          <p:nvPr/>
        </p:nvSpPr>
        <p:spPr>
          <a:xfrm>
            <a:off x="7838155" y="8031223"/>
            <a:ext cx="758615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sp>
        <p:nvSpPr>
          <p:cNvPr id="332" name="Q2"/>
          <p:cNvSpPr txBox="1"/>
          <p:nvPr/>
        </p:nvSpPr>
        <p:spPr>
          <a:xfrm>
            <a:off x="8377965" y="8036590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</a:p>
        </p:txBody>
      </p:sp>
      <p:sp>
        <p:nvSpPr>
          <p:cNvPr id="333" name="Q3"/>
          <p:cNvSpPr txBox="1"/>
          <p:nvPr/>
        </p:nvSpPr>
        <p:spPr>
          <a:xfrm>
            <a:off x="9157546" y="8049972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</p:txBody>
      </p:sp>
      <p:sp>
        <p:nvSpPr>
          <p:cNvPr id="334" name="T1"/>
          <p:cNvSpPr txBox="1"/>
          <p:nvPr/>
        </p:nvSpPr>
        <p:spPr>
          <a:xfrm>
            <a:off x="587266" y="8013613"/>
            <a:ext cx="758615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5" name="O"/>
          <p:cNvSpPr txBox="1"/>
          <p:nvPr/>
        </p:nvSpPr>
        <p:spPr>
          <a:xfrm>
            <a:off x="5351697" y="8003447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336" name="T2"/>
          <p:cNvSpPr txBox="1"/>
          <p:nvPr/>
        </p:nvSpPr>
        <p:spPr>
          <a:xfrm>
            <a:off x="6419847" y="8003121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37" name="t1"/>
          <p:cNvSpPr txBox="1"/>
          <p:nvPr/>
        </p:nvSpPr>
        <p:spPr>
          <a:xfrm>
            <a:off x="10936451" y="4394384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338" name="t2"/>
          <p:cNvSpPr txBox="1"/>
          <p:nvPr/>
        </p:nvSpPr>
        <p:spPr>
          <a:xfrm>
            <a:off x="9873220" y="3982943"/>
            <a:ext cx="75861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339" name="t3"/>
          <p:cNvSpPr txBox="1"/>
          <p:nvPr/>
        </p:nvSpPr>
        <p:spPr>
          <a:xfrm>
            <a:off x="10417958" y="2919812"/>
            <a:ext cx="758615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340" name="Cost"/>
          <p:cNvSpPr txBox="1"/>
          <p:nvPr/>
        </p:nvSpPr>
        <p:spPr>
          <a:xfrm>
            <a:off x="5299538" y="642631"/>
            <a:ext cx="1029763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</p:txBody>
      </p:sp>
      <p:sp>
        <p:nvSpPr>
          <p:cNvPr id="341" name="Qty"/>
          <p:cNvSpPr txBox="1"/>
          <p:nvPr/>
        </p:nvSpPr>
        <p:spPr>
          <a:xfrm>
            <a:off x="11289402" y="8025641"/>
            <a:ext cx="1029764" cy="5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 sz="2400" b="0"/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EC9AD2-E328-714C-9448-DE0ACECD3082}"/>
                  </a:ext>
                </a:extLst>
              </p:cNvPr>
              <p:cNvSpPr txBox="1"/>
              <p:nvPr/>
            </p:nvSpPr>
            <p:spPr>
              <a:xfrm>
                <a:off x="157671" y="955290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EC9AD2-E328-714C-9448-DE0ACECD3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1" y="955290"/>
                <a:ext cx="5018207" cy="471924"/>
              </a:xfrm>
              <a:prstGeom prst="rect">
                <a:avLst/>
              </a:prstGeom>
              <a:blipFill>
                <a:blip r:embed="rId2"/>
                <a:stretch>
                  <a:fillRect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E4FFDE-8167-F849-9515-A89F69D05291}"/>
                  </a:ext>
                </a:extLst>
              </p:cNvPr>
              <p:cNvSpPr txBox="1"/>
              <p:nvPr/>
            </p:nvSpPr>
            <p:spPr>
              <a:xfrm>
                <a:off x="157672" y="1593241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E4FFDE-8167-F849-9515-A89F69D05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72" y="1593241"/>
                <a:ext cx="5018207" cy="471924"/>
              </a:xfrm>
              <a:prstGeom prst="rect">
                <a:avLst/>
              </a:prstGeom>
              <a:blipFill>
                <a:blip r:embed="rId3"/>
                <a:stretch>
                  <a:fillRect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658823-0C94-954F-AA62-7204371DF5EE}"/>
                  </a:ext>
                </a:extLst>
              </p:cNvPr>
              <p:cNvSpPr txBox="1"/>
              <p:nvPr/>
            </p:nvSpPr>
            <p:spPr>
              <a:xfrm>
                <a:off x="320264" y="2637029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658823-0C94-954F-AA62-7204371DF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4" y="2637029"/>
                <a:ext cx="5018207" cy="471924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5AF236-EF8B-4044-B6EE-91997A7F8436}"/>
                  </a:ext>
                </a:extLst>
              </p:cNvPr>
              <p:cNvSpPr txBox="1"/>
              <p:nvPr/>
            </p:nvSpPr>
            <p:spPr>
              <a:xfrm>
                <a:off x="293204" y="3303827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5AF236-EF8B-4044-B6EE-91997A7F8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04" y="3303827"/>
                <a:ext cx="5018207" cy="471924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E6A1A9-AE19-B245-A08A-F3A89A090464}"/>
                  </a:ext>
                </a:extLst>
              </p:cNvPr>
              <p:cNvSpPr txBox="1"/>
              <p:nvPr/>
            </p:nvSpPr>
            <p:spPr>
              <a:xfrm>
                <a:off x="233669" y="3953778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𝑶𝒑𝒕𝒊𝒎𝒖𝒎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𝑸𝒕𝒚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E6A1A9-AE19-B245-A08A-F3A89A090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69" y="3953778"/>
                <a:ext cx="5018207" cy="471924"/>
              </a:xfrm>
              <a:prstGeom prst="rect">
                <a:avLst/>
              </a:prstGeom>
              <a:blipFill>
                <a:blip r:embed="rId6"/>
                <a:stretch>
                  <a:fillRect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46A357B-964B-B041-BC79-B86C9C6ACC72}"/>
                  </a:ext>
                </a:extLst>
              </p:cNvPr>
              <p:cNvSpPr txBox="1"/>
              <p:nvPr/>
            </p:nvSpPr>
            <p:spPr>
              <a:xfrm>
                <a:off x="368764" y="5320011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46A357B-964B-B041-BC79-B86C9C6AC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64" y="5320011"/>
                <a:ext cx="5018207" cy="471924"/>
              </a:xfrm>
              <a:prstGeom prst="rect">
                <a:avLst/>
              </a:prstGeom>
              <a:blipFill>
                <a:blip r:embed="rId7"/>
                <a:stretch>
                  <a:fillRect b="-1842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C687A2-305A-354C-BC61-3C4B153A3947}"/>
                  </a:ext>
                </a:extLst>
              </p:cNvPr>
              <p:cNvSpPr txBox="1"/>
              <p:nvPr/>
            </p:nvSpPr>
            <p:spPr>
              <a:xfrm>
                <a:off x="169962" y="5939323"/>
                <a:ext cx="5018207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𝐓𝐚𝐧</m:t>
                      </m:r>
                      <m:r>
                        <a:rPr lang="en-US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𝑨𝑪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0" lang="en-US" sz="2400" b="1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Helvetica Light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C687A2-305A-354C-BC61-3C4B153A3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62" y="5939323"/>
                <a:ext cx="5018207" cy="471924"/>
              </a:xfrm>
              <a:prstGeom prst="rect">
                <a:avLst/>
              </a:prstGeom>
              <a:blipFill>
                <a:blip r:embed="rId8"/>
                <a:stretch>
                  <a:fillRect b="-2105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82C9DE-E45B-0F48-8762-9BD04D4D6A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35413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Measuring AC &amp; MC via TC curve"/>
          <p:cNvSpPr txBox="1">
            <a:spLocks noGrp="1"/>
          </p:cNvSpPr>
          <p:nvPr>
            <p:ph type="ctrTitle"/>
          </p:nvPr>
        </p:nvSpPr>
        <p:spPr>
          <a:xfrm>
            <a:off x="1513942" y="3423919"/>
            <a:ext cx="10332720" cy="194056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AC &amp; MC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 curve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Calculus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F337DE-E765-E344-BE9D-E884282DE9D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95915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F0EDF3-85BC-4244-9DC1-F957F741D148}"/>
              </a:ext>
            </a:extLst>
          </p:cNvPr>
          <p:cNvSpPr/>
          <p:nvPr/>
        </p:nvSpPr>
        <p:spPr>
          <a:xfrm>
            <a:off x="729017" y="142431"/>
            <a:ext cx="5524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Relationship between AC and MC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8BA9AE-07C5-C64F-950B-5B6CDA074D21}"/>
              </a:ext>
            </a:extLst>
          </p:cNvPr>
          <p:cNvSpPr/>
          <p:nvPr/>
        </p:nvSpPr>
        <p:spPr>
          <a:xfrm>
            <a:off x="6761548" y="125824"/>
            <a:ext cx="4958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 Pre-Optimum Output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(KL)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/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  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  <a:blipFill>
                <a:blip r:embed="rId2"/>
                <a:stretch>
                  <a:fillRect l="-457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/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  <a:blipFill>
                <a:blip r:embed="rId3"/>
                <a:stretch>
                  <a:fillRect l="-22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/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  <a:blipFill>
                <a:blip r:embed="rId4"/>
                <a:stretch>
                  <a:fillRect l="-472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/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  <a:blipFill>
                <a:blip r:embed="rId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officeArt object" descr="Group 18">
            <a:extLst>
              <a:ext uri="{FF2B5EF4-FFF2-40B4-BE49-F238E27FC236}">
                <a16:creationId xmlns:a16="http://schemas.microsoft.com/office/drawing/2014/main" id="{8FE92A28-893D-7646-9EBC-FFE0BDBEEE5D}"/>
              </a:ext>
            </a:extLst>
          </p:cNvPr>
          <p:cNvGrpSpPr/>
          <p:nvPr/>
        </p:nvGrpSpPr>
        <p:grpSpPr>
          <a:xfrm>
            <a:off x="4430684" y="594954"/>
            <a:ext cx="3196077" cy="2143191"/>
            <a:chOff x="95948" y="43992"/>
            <a:chExt cx="2416161" cy="1891595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9CDB3D-C075-0548-A30C-59039267097A}"/>
                </a:ext>
              </a:extLst>
            </p:cNvPr>
            <p:cNvCxnSpPr/>
            <p:nvPr/>
          </p:nvCxnSpPr>
          <p:spPr>
            <a:xfrm flipH="1">
              <a:off x="514098" y="288427"/>
              <a:ext cx="1534" cy="148933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FB068A-0573-CC44-99A1-4F8BC3D194B1}"/>
                </a:ext>
              </a:extLst>
            </p:cNvPr>
            <p:cNvCxnSpPr/>
            <p:nvPr/>
          </p:nvCxnSpPr>
          <p:spPr>
            <a:xfrm flipH="1" flipV="1">
              <a:off x="338837" y="1660651"/>
              <a:ext cx="1906076" cy="282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4E7635-2134-8841-A708-16534B9A77D8}"/>
                </a:ext>
              </a:extLst>
            </p:cNvPr>
            <p:cNvSpPr txBox="1"/>
            <p:nvPr/>
          </p:nvSpPr>
          <p:spPr>
            <a:xfrm>
              <a:off x="95948" y="178603"/>
              <a:ext cx="401429" cy="6300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800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AC, MC</a:t>
              </a:r>
              <a:endParaRPr lang="en-IN" sz="1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202575-1863-8948-91A2-73BD95BDB1F2}"/>
                </a:ext>
              </a:extLst>
            </p:cNvPr>
            <p:cNvSpPr txBox="1"/>
            <p:nvPr/>
          </p:nvSpPr>
          <p:spPr>
            <a:xfrm>
              <a:off x="1835229" y="1572426"/>
              <a:ext cx="621164" cy="3631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Qty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4466E40-7C68-2741-9141-E5B35DB06E1E}"/>
                </a:ext>
              </a:extLst>
            </p:cNvPr>
            <p:cNvSpPr/>
            <p:nvPr/>
          </p:nvSpPr>
          <p:spPr>
            <a:xfrm>
              <a:off x="864619" y="411145"/>
              <a:ext cx="1212538" cy="82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0" y="1751"/>
                  </a:moveTo>
                  <a:cubicBezTo>
                    <a:pt x="163" y="2822"/>
                    <a:pt x="311" y="3895"/>
                    <a:pt x="490" y="4962"/>
                  </a:cubicBezTo>
                  <a:cubicBezTo>
                    <a:pt x="556" y="5356"/>
                    <a:pt x="617" y="5754"/>
                    <a:pt x="735" y="6130"/>
                  </a:cubicBezTo>
                  <a:cubicBezTo>
                    <a:pt x="863" y="6537"/>
                    <a:pt x="1081" y="6897"/>
                    <a:pt x="1225" y="7297"/>
                  </a:cubicBezTo>
                  <a:cubicBezTo>
                    <a:pt x="1833" y="8989"/>
                    <a:pt x="1018" y="7366"/>
                    <a:pt x="1960" y="9049"/>
                  </a:cubicBezTo>
                  <a:cubicBezTo>
                    <a:pt x="2534" y="11102"/>
                    <a:pt x="1787" y="8567"/>
                    <a:pt x="2695" y="11092"/>
                  </a:cubicBezTo>
                  <a:cubicBezTo>
                    <a:pt x="3172" y="12418"/>
                    <a:pt x="2615" y="11581"/>
                    <a:pt x="3430" y="12551"/>
                  </a:cubicBezTo>
                  <a:cubicBezTo>
                    <a:pt x="3593" y="13135"/>
                    <a:pt x="3633" y="13791"/>
                    <a:pt x="3920" y="14303"/>
                  </a:cubicBezTo>
                  <a:cubicBezTo>
                    <a:pt x="4083" y="14595"/>
                    <a:pt x="4278" y="14865"/>
                    <a:pt x="4409" y="15178"/>
                  </a:cubicBezTo>
                  <a:cubicBezTo>
                    <a:pt x="4525" y="15454"/>
                    <a:pt x="4522" y="15790"/>
                    <a:pt x="4654" y="16054"/>
                  </a:cubicBezTo>
                  <a:cubicBezTo>
                    <a:pt x="4773" y="16290"/>
                    <a:pt x="5006" y="16418"/>
                    <a:pt x="5144" y="16638"/>
                  </a:cubicBezTo>
                  <a:cubicBezTo>
                    <a:pt x="5498" y="17199"/>
                    <a:pt x="5708" y="17893"/>
                    <a:pt x="6124" y="18389"/>
                  </a:cubicBezTo>
                  <a:cubicBezTo>
                    <a:pt x="6288" y="18584"/>
                    <a:pt x="6470" y="18758"/>
                    <a:pt x="6614" y="18973"/>
                  </a:cubicBezTo>
                  <a:cubicBezTo>
                    <a:pt x="7013" y="19567"/>
                    <a:pt x="7441" y="20761"/>
                    <a:pt x="8084" y="21016"/>
                  </a:cubicBezTo>
                  <a:cubicBezTo>
                    <a:pt x="9138" y="21435"/>
                    <a:pt x="8568" y="21233"/>
                    <a:pt x="9799" y="21600"/>
                  </a:cubicBezTo>
                  <a:cubicBezTo>
                    <a:pt x="10370" y="21503"/>
                    <a:pt x="10945" y="21431"/>
                    <a:pt x="11514" y="21308"/>
                  </a:cubicBezTo>
                  <a:cubicBezTo>
                    <a:pt x="11845" y="21236"/>
                    <a:pt x="12208" y="21229"/>
                    <a:pt x="12493" y="21016"/>
                  </a:cubicBezTo>
                  <a:cubicBezTo>
                    <a:pt x="12885" y="20725"/>
                    <a:pt x="13217" y="20307"/>
                    <a:pt x="13473" y="19849"/>
                  </a:cubicBezTo>
                  <a:cubicBezTo>
                    <a:pt x="13637" y="19557"/>
                    <a:pt x="13772" y="19239"/>
                    <a:pt x="13963" y="18973"/>
                  </a:cubicBezTo>
                  <a:cubicBezTo>
                    <a:pt x="14264" y="18555"/>
                    <a:pt x="14943" y="17805"/>
                    <a:pt x="14943" y="17805"/>
                  </a:cubicBezTo>
                  <a:cubicBezTo>
                    <a:pt x="15159" y="16779"/>
                    <a:pt x="15166" y="16386"/>
                    <a:pt x="15678" y="15470"/>
                  </a:cubicBezTo>
                  <a:cubicBezTo>
                    <a:pt x="15806" y="15241"/>
                    <a:pt x="16005" y="15081"/>
                    <a:pt x="16168" y="14886"/>
                  </a:cubicBezTo>
                  <a:cubicBezTo>
                    <a:pt x="16665" y="13111"/>
                    <a:pt x="16089" y="14913"/>
                    <a:pt x="16903" y="13135"/>
                  </a:cubicBezTo>
                  <a:cubicBezTo>
                    <a:pt x="18203" y="10296"/>
                    <a:pt x="17298" y="11497"/>
                    <a:pt x="18373" y="10216"/>
                  </a:cubicBezTo>
                  <a:cubicBezTo>
                    <a:pt x="18454" y="9924"/>
                    <a:pt x="18485" y="9604"/>
                    <a:pt x="18618" y="9341"/>
                  </a:cubicBezTo>
                  <a:cubicBezTo>
                    <a:pt x="18736" y="9105"/>
                    <a:pt x="19004" y="9003"/>
                    <a:pt x="19108" y="8757"/>
                  </a:cubicBezTo>
                  <a:cubicBezTo>
                    <a:pt x="19339" y="8206"/>
                    <a:pt x="19434" y="7589"/>
                    <a:pt x="19598" y="7005"/>
                  </a:cubicBezTo>
                  <a:cubicBezTo>
                    <a:pt x="19679" y="6714"/>
                    <a:pt x="19699" y="6386"/>
                    <a:pt x="19843" y="6130"/>
                  </a:cubicBezTo>
                  <a:lnTo>
                    <a:pt x="20332" y="5254"/>
                  </a:lnTo>
                  <a:cubicBezTo>
                    <a:pt x="20414" y="4768"/>
                    <a:pt x="20476" y="4276"/>
                    <a:pt x="20577" y="3795"/>
                  </a:cubicBezTo>
                  <a:cubicBezTo>
                    <a:pt x="20640" y="3496"/>
                    <a:pt x="20751" y="3215"/>
                    <a:pt x="20822" y="2919"/>
                  </a:cubicBezTo>
                  <a:cubicBezTo>
                    <a:pt x="20915" y="2533"/>
                    <a:pt x="20994" y="2143"/>
                    <a:pt x="21067" y="1751"/>
                  </a:cubicBezTo>
                  <a:cubicBezTo>
                    <a:pt x="21359" y="186"/>
                    <a:pt x="21600" y="635"/>
                    <a:pt x="21067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023BFDF-C997-464E-9790-569B2A62F325}"/>
                </a:ext>
              </a:extLst>
            </p:cNvPr>
            <p:cNvSpPr/>
            <p:nvPr/>
          </p:nvSpPr>
          <p:spPr>
            <a:xfrm>
              <a:off x="1000563" y="545625"/>
              <a:ext cx="814306" cy="974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447" extrusionOk="0">
                  <a:moveTo>
                    <a:pt x="0" y="15099"/>
                  </a:moveTo>
                  <a:cubicBezTo>
                    <a:pt x="75" y="15319"/>
                    <a:pt x="299" y="16054"/>
                    <a:pt x="466" y="16300"/>
                  </a:cubicBezTo>
                  <a:cubicBezTo>
                    <a:pt x="591" y="16484"/>
                    <a:pt x="776" y="16643"/>
                    <a:pt x="932" y="16815"/>
                  </a:cubicBezTo>
                  <a:cubicBezTo>
                    <a:pt x="1591" y="18273"/>
                    <a:pt x="671" y="16495"/>
                    <a:pt x="1630" y="17672"/>
                  </a:cubicBezTo>
                  <a:cubicBezTo>
                    <a:pt x="1757" y="17827"/>
                    <a:pt x="1753" y="18025"/>
                    <a:pt x="1863" y="18187"/>
                  </a:cubicBezTo>
                  <a:cubicBezTo>
                    <a:pt x="1988" y="18372"/>
                    <a:pt x="2174" y="18530"/>
                    <a:pt x="2329" y="18702"/>
                  </a:cubicBezTo>
                  <a:cubicBezTo>
                    <a:pt x="2407" y="18873"/>
                    <a:pt x="2443" y="19058"/>
                    <a:pt x="2562" y="19217"/>
                  </a:cubicBezTo>
                  <a:cubicBezTo>
                    <a:pt x="2860" y="19612"/>
                    <a:pt x="3394" y="20256"/>
                    <a:pt x="3959" y="20589"/>
                  </a:cubicBezTo>
                  <a:cubicBezTo>
                    <a:pt x="4178" y="20718"/>
                    <a:pt x="4402" y="20849"/>
                    <a:pt x="4658" y="20932"/>
                  </a:cubicBezTo>
                  <a:cubicBezTo>
                    <a:pt x="5107" y="21079"/>
                    <a:pt x="5589" y="21161"/>
                    <a:pt x="6055" y="21275"/>
                  </a:cubicBezTo>
                  <a:lnTo>
                    <a:pt x="6754" y="21447"/>
                  </a:lnTo>
                  <a:cubicBezTo>
                    <a:pt x="6987" y="21390"/>
                    <a:pt x="7261" y="21388"/>
                    <a:pt x="7453" y="21275"/>
                  </a:cubicBezTo>
                  <a:cubicBezTo>
                    <a:pt x="7671" y="21147"/>
                    <a:pt x="7744" y="20922"/>
                    <a:pt x="7918" y="20761"/>
                  </a:cubicBezTo>
                  <a:cubicBezTo>
                    <a:pt x="8056" y="20634"/>
                    <a:pt x="8247" y="20544"/>
                    <a:pt x="8384" y="20418"/>
                  </a:cubicBezTo>
                  <a:cubicBezTo>
                    <a:pt x="8559" y="20257"/>
                    <a:pt x="8675" y="20064"/>
                    <a:pt x="8850" y="19903"/>
                  </a:cubicBezTo>
                  <a:cubicBezTo>
                    <a:pt x="8987" y="19777"/>
                    <a:pt x="9184" y="19689"/>
                    <a:pt x="9316" y="19560"/>
                  </a:cubicBezTo>
                  <a:cubicBezTo>
                    <a:pt x="9652" y="19230"/>
                    <a:pt x="10247" y="18530"/>
                    <a:pt x="10247" y="18530"/>
                  </a:cubicBezTo>
                  <a:cubicBezTo>
                    <a:pt x="10833" y="17237"/>
                    <a:pt x="10043" y="18831"/>
                    <a:pt x="10946" y="17501"/>
                  </a:cubicBezTo>
                  <a:cubicBezTo>
                    <a:pt x="11056" y="17339"/>
                    <a:pt x="11069" y="17148"/>
                    <a:pt x="11179" y="16986"/>
                  </a:cubicBezTo>
                  <a:cubicBezTo>
                    <a:pt x="11473" y="16553"/>
                    <a:pt x="11677" y="16447"/>
                    <a:pt x="12111" y="16128"/>
                  </a:cubicBezTo>
                  <a:cubicBezTo>
                    <a:pt x="12520" y="15222"/>
                    <a:pt x="12207" y="15764"/>
                    <a:pt x="13275" y="14584"/>
                  </a:cubicBezTo>
                  <a:cubicBezTo>
                    <a:pt x="13430" y="14413"/>
                    <a:pt x="13652" y="14265"/>
                    <a:pt x="13741" y="14069"/>
                  </a:cubicBezTo>
                  <a:cubicBezTo>
                    <a:pt x="14062" y="13359"/>
                    <a:pt x="13838" y="13705"/>
                    <a:pt x="14440" y="13040"/>
                  </a:cubicBezTo>
                  <a:cubicBezTo>
                    <a:pt x="14944" y="11554"/>
                    <a:pt x="14326" y="13163"/>
                    <a:pt x="15138" y="11667"/>
                  </a:cubicBezTo>
                  <a:cubicBezTo>
                    <a:pt x="15970" y="10136"/>
                    <a:pt x="15174" y="11113"/>
                    <a:pt x="16070" y="10123"/>
                  </a:cubicBezTo>
                  <a:lnTo>
                    <a:pt x="17001" y="8064"/>
                  </a:lnTo>
                  <a:cubicBezTo>
                    <a:pt x="17079" y="7893"/>
                    <a:pt x="17098" y="7700"/>
                    <a:pt x="17234" y="7550"/>
                  </a:cubicBezTo>
                  <a:cubicBezTo>
                    <a:pt x="17390" y="7378"/>
                    <a:pt x="17575" y="7219"/>
                    <a:pt x="17700" y="7035"/>
                  </a:cubicBezTo>
                  <a:cubicBezTo>
                    <a:pt x="18153" y="6367"/>
                    <a:pt x="17718" y="6604"/>
                    <a:pt x="18166" y="5834"/>
                  </a:cubicBezTo>
                  <a:cubicBezTo>
                    <a:pt x="18276" y="5644"/>
                    <a:pt x="18476" y="5491"/>
                    <a:pt x="18632" y="5319"/>
                  </a:cubicBezTo>
                  <a:cubicBezTo>
                    <a:pt x="18787" y="4976"/>
                    <a:pt x="19001" y="4644"/>
                    <a:pt x="19097" y="4290"/>
                  </a:cubicBezTo>
                  <a:cubicBezTo>
                    <a:pt x="19175" y="4004"/>
                    <a:pt x="19191" y="3705"/>
                    <a:pt x="19330" y="3432"/>
                  </a:cubicBezTo>
                  <a:cubicBezTo>
                    <a:pt x="19429" y="3239"/>
                    <a:pt x="19671" y="3102"/>
                    <a:pt x="19796" y="2917"/>
                  </a:cubicBezTo>
                  <a:cubicBezTo>
                    <a:pt x="20401" y="2026"/>
                    <a:pt x="19585" y="2730"/>
                    <a:pt x="20495" y="2059"/>
                  </a:cubicBezTo>
                  <a:lnTo>
                    <a:pt x="21193" y="515"/>
                  </a:lnTo>
                  <a:cubicBezTo>
                    <a:pt x="21496" y="-153"/>
                    <a:pt x="21600" y="-127"/>
                    <a:pt x="20961" y="344"/>
                  </a:cubicBezTo>
                  <a:cubicBezTo>
                    <a:pt x="20703" y="913"/>
                    <a:pt x="20728" y="677"/>
                    <a:pt x="20728" y="1030"/>
                  </a:cubicBezTo>
                </a:path>
              </a:pathLst>
            </a:custGeom>
            <a:noFill/>
            <a:ln w="38100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4ED49C-46BF-5241-A1AA-D98629A577E5}"/>
                </a:ext>
              </a:extLst>
            </p:cNvPr>
            <p:cNvSpPr txBox="1"/>
            <p:nvPr/>
          </p:nvSpPr>
          <p:spPr>
            <a:xfrm>
              <a:off x="1941552" y="43992"/>
              <a:ext cx="570557" cy="496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7BADC4-C004-9C47-99A5-62C26AC94EED}"/>
                </a:ext>
              </a:extLst>
            </p:cNvPr>
            <p:cNvSpPr txBox="1"/>
            <p:nvPr/>
          </p:nvSpPr>
          <p:spPr>
            <a:xfrm>
              <a:off x="1378717" y="165707"/>
              <a:ext cx="606597" cy="37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MC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BE993B-D0A5-374D-83B0-ECCE96E8EC6C}"/>
                </a:ext>
              </a:extLst>
            </p:cNvPr>
            <p:cNvSpPr txBox="1"/>
            <p:nvPr/>
          </p:nvSpPr>
          <p:spPr>
            <a:xfrm>
              <a:off x="595886" y="411145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21964F-4720-B547-A013-ED5E01C02BF2}"/>
                </a:ext>
              </a:extLst>
            </p:cNvPr>
            <p:cNvSpPr txBox="1"/>
            <p:nvPr/>
          </p:nvSpPr>
          <p:spPr>
            <a:xfrm>
              <a:off x="1407716" y="1110698"/>
              <a:ext cx="364681" cy="459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E40780-25BE-E847-BD44-160DBB08CDB9}"/>
                </a:ext>
              </a:extLst>
            </p:cNvPr>
            <p:cNvSpPr txBox="1"/>
            <p:nvPr/>
          </p:nvSpPr>
          <p:spPr>
            <a:xfrm>
              <a:off x="1997972" y="422302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22A9C-CD51-9F41-AF4E-B91A3D5556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320107" y="9111018"/>
            <a:ext cx="3034454" cy="377537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/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num>
                                <m:den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  <a:blipFill>
                <a:blip r:embed="rId6"/>
                <a:stretch>
                  <a:fillRect l="-613"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/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den>
                          </m:f>
                        </m:e>
                      </m:d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  <a:blipFill>
                <a:blip r:embed="rId7"/>
                <a:stretch>
                  <a:fillRect l="-55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/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  <a:blipFill>
                <a:blip r:embed="rId8"/>
                <a:stretch>
                  <a:fillRect l="-330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/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  <a:blipFill>
                <a:blip r:embed="rId9"/>
                <a:stretch>
                  <a:fillRect l="-791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/>
              <p:nvPr/>
            </p:nvSpPr>
            <p:spPr>
              <a:xfrm>
                <a:off x="5022589" y="8445814"/>
                <a:ext cx="24930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𝑴𝑪</m:t>
                      </m:r>
                      <m: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89" y="8445814"/>
                <a:ext cx="2493054" cy="523220"/>
              </a:xfrm>
              <a:prstGeom prst="rect">
                <a:avLst/>
              </a:prstGeom>
              <a:blipFill>
                <a:blip r:embed="rId10"/>
                <a:stretch>
                  <a:fillRect l="-508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491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F0EDF3-85BC-4244-9DC1-F957F741D148}"/>
              </a:ext>
            </a:extLst>
          </p:cNvPr>
          <p:cNvSpPr/>
          <p:nvPr/>
        </p:nvSpPr>
        <p:spPr>
          <a:xfrm>
            <a:off x="729017" y="142431"/>
            <a:ext cx="5524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Relationship between AC and MC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8BA9AE-07C5-C64F-950B-5B6CDA074D21}"/>
              </a:ext>
            </a:extLst>
          </p:cNvPr>
          <p:cNvSpPr/>
          <p:nvPr/>
        </p:nvSpPr>
        <p:spPr>
          <a:xfrm>
            <a:off x="6784791" y="125824"/>
            <a:ext cx="49119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 Optimum Output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(point L)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/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  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  <a:blipFill>
                <a:blip r:embed="rId2"/>
                <a:stretch>
                  <a:fillRect l="-457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/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  <a:blipFill>
                <a:blip r:embed="rId3"/>
                <a:stretch>
                  <a:fillRect l="-22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/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  <a:blipFill>
                <a:blip r:embed="rId4"/>
                <a:stretch>
                  <a:fillRect l="-236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/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  <a:blipFill>
                <a:blip r:embed="rId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officeArt object" descr="Group 18">
            <a:extLst>
              <a:ext uri="{FF2B5EF4-FFF2-40B4-BE49-F238E27FC236}">
                <a16:creationId xmlns:a16="http://schemas.microsoft.com/office/drawing/2014/main" id="{8FE92A28-893D-7646-9EBC-FFE0BDBEEE5D}"/>
              </a:ext>
            </a:extLst>
          </p:cNvPr>
          <p:cNvGrpSpPr/>
          <p:nvPr/>
        </p:nvGrpSpPr>
        <p:grpSpPr>
          <a:xfrm>
            <a:off x="4430684" y="594954"/>
            <a:ext cx="3196077" cy="2143191"/>
            <a:chOff x="95948" y="43992"/>
            <a:chExt cx="2416161" cy="1891595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9CDB3D-C075-0548-A30C-59039267097A}"/>
                </a:ext>
              </a:extLst>
            </p:cNvPr>
            <p:cNvCxnSpPr/>
            <p:nvPr/>
          </p:nvCxnSpPr>
          <p:spPr>
            <a:xfrm flipH="1">
              <a:off x="514098" y="288427"/>
              <a:ext cx="1534" cy="148933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FB068A-0573-CC44-99A1-4F8BC3D194B1}"/>
                </a:ext>
              </a:extLst>
            </p:cNvPr>
            <p:cNvCxnSpPr/>
            <p:nvPr/>
          </p:nvCxnSpPr>
          <p:spPr>
            <a:xfrm flipH="1" flipV="1">
              <a:off x="338837" y="1660651"/>
              <a:ext cx="1906076" cy="282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4E7635-2134-8841-A708-16534B9A77D8}"/>
                </a:ext>
              </a:extLst>
            </p:cNvPr>
            <p:cNvSpPr txBox="1"/>
            <p:nvPr/>
          </p:nvSpPr>
          <p:spPr>
            <a:xfrm>
              <a:off x="95948" y="178603"/>
              <a:ext cx="401429" cy="6300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800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AC, MC</a:t>
              </a:r>
              <a:endParaRPr lang="en-IN" sz="1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202575-1863-8948-91A2-73BD95BDB1F2}"/>
                </a:ext>
              </a:extLst>
            </p:cNvPr>
            <p:cNvSpPr txBox="1"/>
            <p:nvPr/>
          </p:nvSpPr>
          <p:spPr>
            <a:xfrm>
              <a:off x="1835229" y="1572426"/>
              <a:ext cx="621164" cy="3631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Qty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4466E40-7C68-2741-9141-E5B35DB06E1E}"/>
                </a:ext>
              </a:extLst>
            </p:cNvPr>
            <p:cNvSpPr/>
            <p:nvPr/>
          </p:nvSpPr>
          <p:spPr>
            <a:xfrm>
              <a:off x="864619" y="411145"/>
              <a:ext cx="1212538" cy="82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0" y="1751"/>
                  </a:moveTo>
                  <a:cubicBezTo>
                    <a:pt x="163" y="2822"/>
                    <a:pt x="311" y="3895"/>
                    <a:pt x="490" y="4962"/>
                  </a:cubicBezTo>
                  <a:cubicBezTo>
                    <a:pt x="556" y="5356"/>
                    <a:pt x="617" y="5754"/>
                    <a:pt x="735" y="6130"/>
                  </a:cubicBezTo>
                  <a:cubicBezTo>
                    <a:pt x="863" y="6537"/>
                    <a:pt x="1081" y="6897"/>
                    <a:pt x="1225" y="7297"/>
                  </a:cubicBezTo>
                  <a:cubicBezTo>
                    <a:pt x="1833" y="8989"/>
                    <a:pt x="1018" y="7366"/>
                    <a:pt x="1960" y="9049"/>
                  </a:cubicBezTo>
                  <a:cubicBezTo>
                    <a:pt x="2534" y="11102"/>
                    <a:pt x="1787" y="8567"/>
                    <a:pt x="2695" y="11092"/>
                  </a:cubicBezTo>
                  <a:cubicBezTo>
                    <a:pt x="3172" y="12418"/>
                    <a:pt x="2615" y="11581"/>
                    <a:pt x="3430" y="12551"/>
                  </a:cubicBezTo>
                  <a:cubicBezTo>
                    <a:pt x="3593" y="13135"/>
                    <a:pt x="3633" y="13791"/>
                    <a:pt x="3920" y="14303"/>
                  </a:cubicBezTo>
                  <a:cubicBezTo>
                    <a:pt x="4083" y="14595"/>
                    <a:pt x="4278" y="14865"/>
                    <a:pt x="4409" y="15178"/>
                  </a:cubicBezTo>
                  <a:cubicBezTo>
                    <a:pt x="4525" y="15454"/>
                    <a:pt x="4522" y="15790"/>
                    <a:pt x="4654" y="16054"/>
                  </a:cubicBezTo>
                  <a:cubicBezTo>
                    <a:pt x="4773" y="16290"/>
                    <a:pt x="5006" y="16418"/>
                    <a:pt x="5144" y="16638"/>
                  </a:cubicBezTo>
                  <a:cubicBezTo>
                    <a:pt x="5498" y="17199"/>
                    <a:pt x="5708" y="17893"/>
                    <a:pt x="6124" y="18389"/>
                  </a:cubicBezTo>
                  <a:cubicBezTo>
                    <a:pt x="6288" y="18584"/>
                    <a:pt x="6470" y="18758"/>
                    <a:pt x="6614" y="18973"/>
                  </a:cubicBezTo>
                  <a:cubicBezTo>
                    <a:pt x="7013" y="19567"/>
                    <a:pt x="7441" y="20761"/>
                    <a:pt x="8084" y="21016"/>
                  </a:cubicBezTo>
                  <a:cubicBezTo>
                    <a:pt x="9138" y="21435"/>
                    <a:pt x="8568" y="21233"/>
                    <a:pt x="9799" y="21600"/>
                  </a:cubicBezTo>
                  <a:cubicBezTo>
                    <a:pt x="10370" y="21503"/>
                    <a:pt x="10945" y="21431"/>
                    <a:pt x="11514" y="21308"/>
                  </a:cubicBezTo>
                  <a:cubicBezTo>
                    <a:pt x="11845" y="21236"/>
                    <a:pt x="12208" y="21229"/>
                    <a:pt x="12493" y="21016"/>
                  </a:cubicBezTo>
                  <a:cubicBezTo>
                    <a:pt x="12885" y="20725"/>
                    <a:pt x="13217" y="20307"/>
                    <a:pt x="13473" y="19849"/>
                  </a:cubicBezTo>
                  <a:cubicBezTo>
                    <a:pt x="13637" y="19557"/>
                    <a:pt x="13772" y="19239"/>
                    <a:pt x="13963" y="18973"/>
                  </a:cubicBezTo>
                  <a:cubicBezTo>
                    <a:pt x="14264" y="18555"/>
                    <a:pt x="14943" y="17805"/>
                    <a:pt x="14943" y="17805"/>
                  </a:cubicBezTo>
                  <a:cubicBezTo>
                    <a:pt x="15159" y="16779"/>
                    <a:pt x="15166" y="16386"/>
                    <a:pt x="15678" y="15470"/>
                  </a:cubicBezTo>
                  <a:cubicBezTo>
                    <a:pt x="15806" y="15241"/>
                    <a:pt x="16005" y="15081"/>
                    <a:pt x="16168" y="14886"/>
                  </a:cubicBezTo>
                  <a:cubicBezTo>
                    <a:pt x="16665" y="13111"/>
                    <a:pt x="16089" y="14913"/>
                    <a:pt x="16903" y="13135"/>
                  </a:cubicBezTo>
                  <a:cubicBezTo>
                    <a:pt x="18203" y="10296"/>
                    <a:pt x="17298" y="11497"/>
                    <a:pt x="18373" y="10216"/>
                  </a:cubicBezTo>
                  <a:cubicBezTo>
                    <a:pt x="18454" y="9924"/>
                    <a:pt x="18485" y="9604"/>
                    <a:pt x="18618" y="9341"/>
                  </a:cubicBezTo>
                  <a:cubicBezTo>
                    <a:pt x="18736" y="9105"/>
                    <a:pt x="19004" y="9003"/>
                    <a:pt x="19108" y="8757"/>
                  </a:cubicBezTo>
                  <a:cubicBezTo>
                    <a:pt x="19339" y="8206"/>
                    <a:pt x="19434" y="7589"/>
                    <a:pt x="19598" y="7005"/>
                  </a:cubicBezTo>
                  <a:cubicBezTo>
                    <a:pt x="19679" y="6714"/>
                    <a:pt x="19699" y="6386"/>
                    <a:pt x="19843" y="6130"/>
                  </a:cubicBezTo>
                  <a:lnTo>
                    <a:pt x="20332" y="5254"/>
                  </a:lnTo>
                  <a:cubicBezTo>
                    <a:pt x="20414" y="4768"/>
                    <a:pt x="20476" y="4276"/>
                    <a:pt x="20577" y="3795"/>
                  </a:cubicBezTo>
                  <a:cubicBezTo>
                    <a:pt x="20640" y="3496"/>
                    <a:pt x="20751" y="3215"/>
                    <a:pt x="20822" y="2919"/>
                  </a:cubicBezTo>
                  <a:cubicBezTo>
                    <a:pt x="20915" y="2533"/>
                    <a:pt x="20994" y="2143"/>
                    <a:pt x="21067" y="1751"/>
                  </a:cubicBezTo>
                  <a:cubicBezTo>
                    <a:pt x="21359" y="186"/>
                    <a:pt x="21600" y="635"/>
                    <a:pt x="21067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023BFDF-C997-464E-9790-569B2A62F325}"/>
                </a:ext>
              </a:extLst>
            </p:cNvPr>
            <p:cNvSpPr/>
            <p:nvPr/>
          </p:nvSpPr>
          <p:spPr>
            <a:xfrm>
              <a:off x="1000563" y="545625"/>
              <a:ext cx="814306" cy="974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447" extrusionOk="0">
                  <a:moveTo>
                    <a:pt x="0" y="15099"/>
                  </a:moveTo>
                  <a:cubicBezTo>
                    <a:pt x="75" y="15319"/>
                    <a:pt x="299" y="16054"/>
                    <a:pt x="466" y="16300"/>
                  </a:cubicBezTo>
                  <a:cubicBezTo>
                    <a:pt x="591" y="16484"/>
                    <a:pt x="776" y="16643"/>
                    <a:pt x="932" y="16815"/>
                  </a:cubicBezTo>
                  <a:cubicBezTo>
                    <a:pt x="1591" y="18273"/>
                    <a:pt x="671" y="16495"/>
                    <a:pt x="1630" y="17672"/>
                  </a:cubicBezTo>
                  <a:cubicBezTo>
                    <a:pt x="1757" y="17827"/>
                    <a:pt x="1753" y="18025"/>
                    <a:pt x="1863" y="18187"/>
                  </a:cubicBezTo>
                  <a:cubicBezTo>
                    <a:pt x="1988" y="18372"/>
                    <a:pt x="2174" y="18530"/>
                    <a:pt x="2329" y="18702"/>
                  </a:cubicBezTo>
                  <a:cubicBezTo>
                    <a:pt x="2407" y="18873"/>
                    <a:pt x="2443" y="19058"/>
                    <a:pt x="2562" y="19217"/>
                  </a:cubicBezTo>
                  <a:cubicBezTo>
                    <a:pt x="2860" y="19612"/>
                    <a:pt x="3394" y="20256"/>
                    <a:pt x="3959" y="20589"/>
                  </a:cubicBezTo>
                  <a:cubicBezTo>
                    <a:pt x="4178" y="20718"/>
                    <a:pt x="4402" y="20849"/>
                    <a:pt x="4658" y="20932"/>
                  </a:cubicBezTo>
                  <a:cubicBezTo>
                    <a:pt x="5107" y="21079"/>
                    <a:pt x="5589" y="21161"/>
                    <a:pt x="6055" y="21275"/>
                  </a:cubicBezTo>
                  <a:lnTo>
                    <a:pt x="6754" y="21447"/>
                  </a:lnTo>
                  <a:cubicBezTo>
                    <a:pt x="6987" y="21390"/>
                    <a:pt x="7261" y="21388"/>
                    <a:pt x="7453" y="21275"/>
                  </a:cubicBezTo>
                  <a:cubicBezTo>
                    <a:pt x="7671" y="21147"/>
                    <a:pt x="7744" y="20922"/>
                    <a:pt x="7918" y="20761"/>
                  </a:cubicBezTo>
                  <a:cubicBezTo>
                    <a:pt x="8056" y="20634"/>
                    <a:pt x="8247" y="20544"/>
                    <a:pt x="8384" y="20418"/>
                  </a:cubicBezTo>
                  <a:cubicBezTo>
                    <a:pt x="8559" y="20257"/>
                    <a:pt x="8675" y="20064"/>
                    <a:pt x="8850" y="19903"/>
                  </a:cubicBezTo>
                  <a:cubicBezTo>
                    <a:pt x="8987" y="19777"/>
                    <a:pt x="9184" y="19689"/>
                    <a:pt x="9316" y="19560"/>
                  </a:cubicBezTo>
                  <a:cubicBezTo>
                    <a:pt x="9652" y="19230"/>
                    <a:pt x="10247" y="18530"/>
                    <a:pt x="10247" y="18530"/>
                  </a:cubicBezTo>
                  <a:cubicBezTo>
                    <a:pt x="10833" y="17237"/>
                    <a:pt x="10043" y="18831"/>
                    <a:pt x="10946" y="17501"/>
                  </a:cubicBezTo>
                  <a:cubicBezTo>
                    <a:pt x="11056" y="17339"/>
                    <a:pt x="11069" y="17148"/>
                    <a:pt x="11179" y="16986"/>
                  </a:cubicBezTo>
                  <a:cubicBezTo>
                    <a:pt x="11473" y="16553"/>
                    <a:pt x="11677" y="16447"/>
                    <a:pt x="12111" y="16128"/>
                  </a:cubicBezTo>
                  <a:cubicBezTo>
                    <a:pt x="12520" y="15222"/>
                    <a:pt x="12207" y="15764"/>
                    <a:pt x="13275" y="14584"/>
                  </a:cubicBezTo>
                  <a:cubicBezTo>
                    <a:pt x="13430" y="14413"/>
                    <a:pt x="13652" y="14265"/>
                    <a:pt x="13741" y="14069"/>
                  </a:cubicBezTo>
                  <a:cubicBezTo>
                    <a:pt x="14062" y="13359"/>
                    <a:pt x="13838" y="13705"/>
                    <a:pt x="14440" y="13040"/>
                  </a:cubicBezTo>
                  <a:cubicBezTo>
                    <a:pt x="14944" y="11554"/>
                    <a:pt x="14326" y="13163"/>
                    <a:pt x="15138" y="11667"/>
                  </a:cubicBezTo>
                  <a:cubicBezTo>
                    <a:pt x="15970" y="10136"/>
                    <a:pt x="15174" y="11113"/>
                    <a:pt x="16070" y="10123"/>
                  </a:cubicBezTo>
                  <a:lnTo>
                    <a:pt x="17001" y="8064"/>
                  </a:lnTo>
                  <a:cubicBezTo>
                    <a:pt x="17079" y="7893"/>
                    <a:pt x="17098" y="7700"/>
                    <a:pt x="17234" y="7550"/>
                  </a:cubicBezTo>
                  <a:cubicBezTo>
                    <a:pt x="17390" y="7378"/>
                    <a:pt x="17575" y="7219"/>
                    <a:pt x="17700" y="7035"/>
                  </a:cubicBezTo>
                  <a:cubicBezTo>
                    <a:pt x="18153" y="6367"/>
                    <a:pt x="17718" y="6604"/>
                    <a:pt x="18166" y="5834"/>
                  </a:cubicBezTo>
                  <a:cubicBezTo>
                    <a:pt x="18276" y="5644"/>
                    <a:pt x="18476" y="5491"/>
                    <a:pt x="18632" y="5319"/>
                  </a:cubicBezTo>
                  <a:cubicBezTo>
                    <a:pt x="18787" y="4976"/>
                    <a:pt x="19001" y="4644"/>
                    <a:pt x="19097" y="4290"/>
                  </a:cubicBezTo>
                  <a:cubicBezTo>
                    <a:pt x="19175" y="4004"/>
                    <a:pt x="19191" y="3705"/>
                    <a:pt x="19330" y="3432"/>
                  </a:cubicBezTo>
                  <a:cubicBezTo>
                    <a:pt x="19429" y="3239"/>
                    <a:pt x="19671" y="3102"/>
                    <a:pt x="19796" y="2917"/>
                  </a:cubicBezTo>
                  <a:cubicBezTo>
                    <a:pt x="20401" y="2026"/>
                    <a:pt x="19585" y="2730"/>
                    <a:pt x="20495" y="2059"/>
                  </a:cubicBezTo>
                  <a:lnTo>
                    <a:pt x="21193" y="515"/>
                  </a:lnTo>
                  <a:cubicBezTo>
                    <a:pt x="21496" y="-153"/>
                    <a:pt x="21600" y="-127"/>
                    <a:pt x="20961" y="344"/>
                  </a:cubicBezTo>
                  <a:cubicBezTo>
                    <a:pt x="20703" y="913"/>
                    <a:pt x="20728" y="677"/>
                    <a:pt x="20728" y="1030"/>
                  </a:cubicBezTo>
                </a:path>
              </a:pathLst>
            </a:custGeom>
            <a:noFill/>
            <a:ln w="38100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4ED49C-46BF-5241-A1AA-D98629A577E5}"/>
                </a:ext>
              </a:extLst>
            </p:cNvPr>
            <p:cNvSpPr txBox="1"/>
            <p:nvPr/>
          </p:nvSpPr>
          <p:spPr>
            <a:xfrm>
              <a:off x="1941552" y="43992"/>
              <a:ext cx="570557" cy="496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7BADC4-C004-9C47-99A5-62C26AC94EED}"/>
                </a:ext>
              </a:extLst>
            </p:cNvPr>
            <p:cNvSpPr txBox="1"/>
            <p:nvPr/>
          </p:nvSpPr>
          <p:spPr>
            <a:xfrm>
              <a:off x="1378717" y="165707"/>
              <a:ext cx="606597" cy="37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MC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BE993B-D0A5-374D-83B0-ECCE96E8EC6C}"/>
                </a:ext>
              </a:extLst>
            </p:cNvPr>
            <p:cNvSpPr txBox="1"/>
            <p:nvPr/>
          </p:nvSpPr>
          <p:spPr>
            <a:xfrm>
              <a:off x="595886" y="411145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21964F-4720-B547-A013-ED5E01C02BF2}"/>
                </a:ext>
              </a:extLst>
            </p:cNvPr>
            <p:cNvSpPr txBox="1"/>
            <p:nvPr/>
          </p:nvSpPr>
          <p:spPr>
            <a:xfrm>
              <a:off x="1407716" y="1110698"/>
              <a:ext cx="364681" cy="459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E40780-25BE-E847-BD44-160DBB08CDB9}"/>
                </a:ext>
              </a:extLst>
            </p:cNvPr>
            <p:cNvSpPr txBox="1"/>
            <p:nvPr/>
          </p:nvSpPr>
          <p:spPr>
            <a:xfrm>
              <a:off x="1997972" y="422302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22A9C-CD51-9F41-AF4E-B91A3D5556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320107" y="9111018"/>
            <a:ext cx="3034454" cy="377537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/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num>
                                <m:den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  <a:blipFill>
                <a:blip r:embed="rId6"/>
                <a:stretch>
                  <a:fillRect l="-613"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/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den>
                          </m:f>
                        </m:e>
                      </m:d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  <a:blipFill>
                <a:blip r:embed="rId7"/>
                <a:stretch>
                  <a:fillRect l="-55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/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  <a:blipFill>
                <a:blip r:embed="rId8"/>
                <a:stretch>
                  <a:fillRect l="-330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/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  <a:blipFill>
                <a:blip r:embed="rId9"/>
                <a:stretch>
                  <a:fillRect l="-791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/>
              <p:nvPr/>
            </p:nvSpPr>
            <p:spPr>
              <a:xfrm>
                <a:off x="4961691" y="8328682"/>
                <a:ext cx="24930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𝑴𝑪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691" y="8328682"/>
                <a:ext cx="2493054" cy="523220"/>
              </a:xfrm>
              <a:prstGeom prst="rect">
                <a:avLst/>
              </a:prstGeom>
              <a:blipFill>
                <a:blip r:embed="rId10"/>
                <a:stretch>
                  <a:fillRect l="-505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8554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F0EDF3-85BC-4244-9DC1-F957F741D148}"/>
              </a:ext>
            </a:extLst>
          </p:cNvPr>
          <p:cNvSpPr/>
          <p:nvPr/>
        </p:nvSpPr>
        <p:spPr>
          <a:xfrm>
            <a:off x="729017" y="142431"/>
            <a:ext cx="5524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Relationship between AC and MC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8BA9AE-07C5-C64F-950B-5B6CDA074D21}"/>
              </a:ext>
            </a:extLst>
          </p:cNvPr>
          <p:cNvSpPr/>
          <p:nvPr/>
        </p:nvSpPr>
        <p:spPr>
          <a:xfrm>
            <a:off x="6730289" y="125824"/>
            <a:ext cx="50209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At Post-Optimum Output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(LP)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/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  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8A16B18-9F7F-E643-8056-1B6CEE1F5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791" y="2831968"/>
                <a:ext cx="2757037" cy="992836"/>
              </a:xfrm>
              <a:prstGeom prst="rect">
                <a:avLst/>
              </a:prstGeom>
              <a:blipFill>
                <a:blip r:embed="rId2"/>
                <a:stretch>
                  <a:fillRect l="-457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/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687B46-B917-0747-9EE5-EFC52C28FC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71" y="4095149"/>
                <a:ext cx="5520870" cy="1359731"/>
              </a:xfrm>
              <a:prstGeom prst="rect">
                <a:avLst/>
              </a:prstGeom>
              <a:blipFill>
                <a:blip r:embed="rId3"/>
                <a:stretch>
                  <a:fillRect l="-229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/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 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D1FCF2-B351-2247-A8E3-15BDD2873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134146"/>
                <a:ext cx="5363776" cy="992836"/>
              </a:xfrm>
              <a:prstGeom prst="rect">
                <a:avLst/>
              </a:prstGeom>
              <a:blipFill>
                <a:blip r:embed="rId4"/>
                <a:stretch>
                  <a:fillRect l="-472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/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DFA5864-2F48-0343-AB5F-1877E1BD0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00" y="5906925"/>
                <a:ext cx="4990277" cy="992836"/>
              </a:xfrm>
              <a:prstGeom prst="rect">
                <a:avLst/>
              </a:prstGeom>
              <a:blipFill>
                <a:blip r:embed="rId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officeArt object" descr="Group 18">
            <a:extLst>
              <a:ext uri="{FF2B5EF4-FFF2-40B4-BE49-F238E27FC236}">
                <a16:creationId xmlns:a16="http://schemas.microsoft.com/office/drawing/2014/main" id="{8FE92A28-893D-7646-9EBC-FFE0BDBEEE5D}"/>
              </a:ext>
            </a:extLst>
          </p:cNvPr>
          <p:cNvGrpSpPr/>
          <p:nvPr/>
        </p:nvGrpSpPr>
        <p:grpSpPr>
          <a:xfrm>
            <a:off x="4430684" y="594954"/>
            <a:ext cx="3196077" cy="2143191"/>
            <a:chOff x="95948" y="43992"/>
            <a:chExt cx="2416161" cy="1891595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9CDB3D-C075-0548-A30C-59039267097A}"/>
                </a:ext>
              </a:extLst>
            </p:cNvPr>
            <p:cNvCxnSpPr/>
            <p:nvPr/>
          </p:nvCxnSpPr>
          <p:spPr>
            <a:xfrm flipH="1">
              <a:off x="514098" y="288427"/>
              <a:ext cx="1534" cy="1489333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FB068A-0573-CC44-99A1-4F8BC3D194B1}"/>
                </a:ext>
              </a:extLst>
            </p:cNvPr>
            <p:cNvCxnSpPr/>
            <p:nvPr/>
          </p:nvCxnSpPr>
          <p:spPr>
            <a:xfrm flipH="1" flipV="1">
              <a:off x="338837" y="1660651"/>
              <a:ext cx="1906076" cy="282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34E7635-2134-8841-A708-16534B9A77D8}"/>
                </a:ext>
              </a:extLst>
            </p:cNvPr>
            <p:cNvSpPr txBox="1"/>
            <p:nvPr/>
          </p:nvSpPr>
          <p:spPr>
            <a:xfrm>
              <a:off x="95948" y="178603"/>
              <a:ext cx="401429" cy="6300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800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AC, MC</a:t>
              </a:r>
              <a:endParaRPr lang="en-IN" sz="1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4202575-1863-8948-91A2-73BD95BDB1F2}"/>
                </a:ext>
              </a:extLst>
            </p:cNvPr>
            <p:cNvSpPr txBox="1"/>
            <p:nvPr/>
          </p:nvSpPr>
          <p:spPr>
            <a:xfrm>
              <a:off x="1835229" y="1572426"/>
              <a:ext cx="621164" cy="3631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Qty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4466E40-7C68-2741-9141-E5B35DB06E1E}"/>
                </a:ext>
              </a:extLst>
            </p:cNvPr>
            <p:cNvSpPr/>
            <p:nvPr/>
          </p:nvSpPr>
          <p:spPr>
            <a:xfrm>
              <a:off x="864619" y="411145"/>
              <a:ext cx="1212538" cy="825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0" y="1751"/>
                  </a:moveTo>
                  <a:cubicBezTo>
                    <a:pt x="163" y="2822"/>
                    <a:pt x="311" y="3895"/>
                    <a:pt x="490" y="4962"/>
                  </a:cubicBezTo>
                  <a:cubicBezTo>
                    <a:pt x="556" y="5356"/>
                    <a:pt x="617" y="5754"/>
                    <a:pt x="735" y="6130"/>
                  </a:cubicBezTo>
                  <a:cubicBezTo>
                    <a:pt x="863" y="6537"/>
                    <a:pt x="1081" y="6897"/>
                    <a:pt x="1225" y="7297"/>
                  </a:cubicBezTo>
                  <a:cubicBezTo>
                    <a:pt x="1833" y="8989"/>
                    <a:pt x="1018" y="7366"/>
                    <a:pt x="1960" y="9049"/>
                  </a:cubicBezTo>
                  <a:cubicBezTo>
                    <a:pt x="2534" y="11102"/>
                    <a:pt x="1787" y="8567"/>
                    <a:pt x="2695" y="11092"/>
                  </a:cubicBezTo>
                  <a:cubicBezTo>
                    <a:pt x="3172" y="12418"/>
                    <a:pt x="2615" y="11581"/>
                    <a:pt x="3430" y="12551"/>
                  </a:cubicBezTo>
                  <a:cubicBezTo>
                    <a:pt x="3593" y="13135"/>
                    <a:pt x="3633" y="13791"/>
                    <a:pt x="3920" y="14303"/>
                  </a:cubicBezTo>
                  <a:cubicBezTo>
                    <a:pt x="4083" y="14595"/>
                    <a:pt x="4278" y="14865"/>
                    <a:pt x="4409" y="15178"/>
                  </a:cubicBezTo>
                  <a:cubicBezTo>
                    <a:pt x="4525" y="15454"/>
                    <a:pt x="4522" y="15790"/>
                    <a:pt x="4654" y="16054"/>
                  </a:cubicBezTo>
                  <a:cubicBezTo>
                    <a:pt x="4773" y="16290"/>
                    <a:pt x="5006" y="16418"/>
                    <a:pt x="5144" y="16638"/>
                  </a:cubicBezTo>
                  <a:cubicBezTo>
                    <a:pt x="5498" y="17199"/>
                    <a:pt x="5708" y="17893"/>
                    <a:pt x="6124" y="18389"/>
                  </a:cubicBezTo>
                  <a:cubicBezTo>
                    <a:pt x="6288" y="18584"/>
                    <a:pt x="6470" y="18758"/>
                    <a:pt x="6614" y="18973"/>
                  </a:cubicBezTo>
                  <a:cubicBezTo>
                    <a:pt x="7013" y="19567"/>
                    <a:pt x="7441" y="20761"/>
                    <a:pt x="8084" y="21016"/>
                  </a:cubicBezTo>
                  <a:cubicBezTo>
                    <a:pt x="9138" y="21435"/>
                    <a:pt x="8568" y="21233"/>
                    <a:pt x="9799" y="21600"/>
                  </a:cubicBezTo>
                  <a:cubicBezTo>
                    <a:pt x="10370" y="21503"/>
                    <a:pt x="10945" y="21431"/>
                    <a:pt x="11514" y="21308"/>
                  </a:cubicBezTo>
                  <a:cubicBezTo>
                    <a:pt x="11845" y="21236"/>
                    <a:pt x="12208" y="21229"/>
                    <a:pt x="12493" y="21016"/>
                  </a:cubicBezTo>
                  <a:cubicBezTo>
                    <a:pt x="12885" y="20725"/>
                    <a:pt x="13217" y="20307"/>
                    <a:pt x="13473" y="19849"/>
                  </a:cubicBezTo>
                  <a:cubicBezTo>
                    <a:pt x="13637" y="19557"/>
                    <a:pt x="13772" y="19239"/>
                    <a:pt x="13963" y="18973"/>
                  </a:cubicBezTo>
                  <a:cubicBezTo>
                    <a:pt x="14264" y="18555"/>
                    <a:pt x="14943" y="17805"/>
                    <a:pt x="14943" y="17805"/>
                  </a:cubicBezTo>
                  <a:cubicBezTo>
                    <a:pt x="15159" y="16779"/>
                    <a:pt x="15166" y="16386"/>
                    <a:pt x="15678" y="15470"/>
                  </a:cubicBezTo>
                  <a:cubicBezTo>
                    <a:pt x="15806" y="15241"/>
                    <a:pt x="16005" y="15081"/>
                    <a:pt x="16168" y="14886"/>
                  </a:cubicBezTo>
                  <a:cubicBezTo>
                    <a:pt x="16665" y="13111"/>
                    <a:pt x="16089" y="14913"/>
                    <a:pt x="16903" y="13135"/>
                  </a:cubicBezTo>
                  <a:cubicBezTo>
                    <a:pt x="18203" y="10296"/>
                    <a:pt x="17298" y="11497"/>
                    <a:pt x="18373" y="10216"/>
                  </a:cubicBezTo>
                  <a:cubicBezTo>
                    <a:pt x="18454" y="9924"/>
                    <a:pt x="18485" y="9604"/>
                    <a:pt x="18618" y="9341"/>
                  </a:cubicBezTo>
                  <a:cubicBezTo>
                    <a:pt x="18736" y="9105"/>
                    <a:pt x="19004" y="9003"/>
                    <a:pt x="19108" y="8757"/>
                  </a:cubicBezTo>
                  <a:cubicBezTo>
                    <a:pt x="19339" y="8206"/>
                    <a:pt x="19434" y="7589"/>
                    <a:pt x="19598" y="7005"/>
                  </a:cubicBezTo>
                  <a:cubicBezTo>
                    <a:pt x="19679" y="6714"/>
                    <a:pt x="19699" y="6386"/>
                    <a:pt x="19843" y="6130"/>
                  </a:cubicBezTo>
                  <a:lnTo>
                    <a:pt x="20332" y="5254"/>
                  </a:lnTo>
                  <a:cubicBezTo>
                    <a:pt x="20414" y="4768"/>
                    <a:pt x="20476" y="4276"/>
                    <a:pt x="20577" y="3795"/>
                  </a:cubicBezTo>
                  <a:cubicBezTo>
                    <a:pt x="20640" y="3496"/>
                    <a:pt x="20751" y="3215"/>
                    <a:pt x="20822" y="2919"/>
                  </a:cubicBezTo>
                  <a:cubicBezTo>
                    <a:pt x="20915" y="2533"/>
                    <a:pt x="20994" y="2143"/>
                    <a:pt x="21067" y="1751"/>
                  </a:cubicBezTo>
                  <a:cubicBezTo>
                    <a:pt x="21359" y="186"/>
                    <a:pt x="21600" y="635"/>
                    <a:pt x="21067" y="0"/>
                  </a:cubicBez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023BFDF-C997-464E-9790-569B2A62F325}"/>
                </a:ext>
              </a:extLst>
            </p:cNvPr>
            <p:cNvSpPr/>
            <p:nvPr/>
          </p:nvSpPr>
          <p:spPr>
            <a:xfrm>
              <a:off x="1000563" y="545625"/>
              <a:ext cx="814306" cy="974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447" extrusionOk="0">
                  <a:moveTo>
                    <a:pt x="0" y="15099"/>
                  </a:moveTo>
                  <a:cubicBezTo>
                    <a:pt x="75" y="15319"/>
                    <a:pt x="299" y="16054"/>
                    <a:pt x="466" y="16300"/>
                  </a:cubicBezTo>
                  <a:cubicBezTo>
                    <a:pt x="591" y="16484"/>
                    <a:pt x="776" y="16643"/>
                    <a:pt x="932" y="16815"/>
                  </a:cubicBezTo>
                  <a:cubicBezTo>
                    <a:pt x="1591" y="18273"/>
                    <a:pt x="671" y="16495"/>
                    <a:pt x="1630" y="17672"/>
                  </a:cubicBezTo>
                  <a:cubicBezTo>
                    <a:pt x="1757" y="17827"/>
                    <a:pt x="1753" y="18025"/>
                    <a:pt x="1863" y="18187"/>
                  </a:cubicBezTo>
                  <a:cubicBezTo>
                    <a:pt x="1988" y="18372"/>
                    <a:pt x="2174" y="18530"/>
                    <a:pt x="2329" y="18702"/>
                  </a:cubicBezTo>
                  <a:cubicBezTo>
                    <a:pt x="2407" y="18873"/>
                    <a:pt x="2443" y="19058"/>
                    <a:pt x="2562" y="19217"/>
                  </a:cubicBezTo>
                  <a:cubicBezTo>
                    <a:pt x="2860" y="19612"/>
                    <a:pt x="3394" y="20256"/>
                    <a:pt x="3959" y="20589"/>
                  </a:cubicBezTo>
                  <a:cubicBezTo>
                    <a:pt x="4178" y="20718"/>
                    <a:pt x="4402" y="20849"/>
                    <a:pt x="4658" y="20932"/>
                  </a:cubicBezTo>
                  <a:cubicBezTo>
                    <a:pt x="5107" y="21079"/>
                    <a:pt x="5589" y="21161"/>
                    <a:pt x="6055" y="21275"/>
                  </a:cubicBezTo>
                  <a:lnTo>
                    <a:pt x="6754" y="21447"/>
                  </a:lnTo>
                  <a:cubicBezTo>
                    <a:pt x="6987" y="21390"/>
                    <a:pt x="7261" y="21388"/>
                    <a:pt x="7453" y="21275"/>
                  </a:cubicBezTo>
                  <a:cubicBezTo>
                    <a:pt x="7671" y="21147"/>
                    <a:pt x="7744" y="20922"/>
                    <a:pt x="7918" y="20761"/>
                  </a:cubicBezTo>
                  <a:cubicBezTo>
                    <a:pt x="8056" y="20634"/>
                    <a:pt x="8247" y="20544"/>
                    <a:pt x="8384" y="20418"/>
                  </a:cubicBezTo>
                  <a:cubicBezTo>
                    <a:pt x="8559" y="20257"/>
                    <a:pt x="8675" y="20064"/>
                    <a:pt x="8850" y="19903"/>
                  </a:cubicBezTo>
                  <a:cubicBezTo>
                    <a:pt x="8987" y="19777"/>
                    <a:pt x="9184" y="19689"/>
                    <a:pt x="9316" y="19560"/>
                  </a:cubicBezTo>
                  <a:cubicBezTo>
                    <a:pt x="9652" y="19230"/>
                    <a:pt x="10247" y="18530"/>
                    <a:pt x="10247" y="18530"/>
                  </a:cubicBezTo>
                  <a:cubicBezTo>
                    <a:pt x="10833" y="17237"/>
                    <a:pt x="10043" y="18831"/>
                    <a:pt x="10946" y="17501"/>
                  </a:cubicBezTo>
                  <a:cubicBezTo>
                    <a:pt x="11056" y="17339"/>
                    <a:pt x="11069" y="17148"/>
                    <a:pt x="11179" y="16986"/>
                  </a:cubicBezTo>
                  <a:cubicBezTo>
                    <a:pt x="11473" y="16553"/>
                    <a:pt x="11677" y="16447"/>
                    <a:pt x="12111" y="16128"/>
                  </a:cubicBezTo>
                  <a:cubicBezTo>
                    <a:pt x="12520" y="15222"/>
                    <a:pt x="12207" y="15764"/>
                    <a:pt x="13275" y="14584"/>
                  </a:cubicBezTo>
                  <a:cubicBezTo>
                    <a:pt x="13430" y="14413"/>
                    <a:pt x="13652" y="14265"/>
                    <a:pt x="13741" y="14069"/>
                  </a:cubicBezTo>
                  <a:cubicBezTo>
                    <a:pt x="14062" y="13359"/>
                    <a:pt x="13838" y="13705"/>
                    <a:pt x="14440" y="13040"/>
                  </a:cubicBezTo>
                  <a:cubicBezTo>
                    <a:pt x="14944" y="11554"/>
                    <a:pt x="14326" y="13163"/>
                    <a:pt x="15138" y="11667"/>
                  </a:cubicBezTo>
                  <a:cubicBezTo>
                    <a:pt x="15970" y="10136"/>
                    <a:pt x="15174" y="11113"/>
                    <a:pt x="16070" y="10123"/>
                  </a:cubicBezTo>
                  <a:lnTo>
                    <a:pt x="17001" y="8064"/>
                  </a:lnTo>
                  <a:cubicBezTo>
                    <a:pt x="17079" y="7893"/>
                    <a:pt x="17098" y="7700"/>
                    <a:pt x="17234" y="7550"/>
                  </a:cubicBezTo>
                  <a:cubicBezTo>
                    <a:pt x="17390" y="7378"/>
                    <a:pt x="17575" y="7219"/>
                    <a:pt x="17700" y="7035"/>
                  </a:cubicBezTo>
                  <a:cubicBezTo>
                    <a:pt x="18153" y="6367"/>
                    <a:pt x="17718" y="6604"/>
                    <a:pt x="18166" y="5834"/>
                  </a:cubicBezTo>
                  <a:cubicBezTo>
                    <a:pt x="18276" y="5644"/>
                    <a:pt x="18476" y="5491"/>
                    <a:pt x="18632" y="5319"/>
                  </a:cubicBezTo>
                  <a:cubicBezTo>
                    <a:pt x="18787" y="4976"/>
                    <a:pt x="19001" y="4644"/>
                    <a:pt x="19097" y="4290"/>
                  </a:cubicBezTo>
                  <a:cubicBezTo>
                    <a:pt x="19175" y="4004"/>
                    <a:pt x="19191" y="3705"/>
                    <a:pt x="19330" y="3432"/>
                  </a:cubicBezTo>
                  <a:cubicBezTo>
                    <a:pt x="19429" y="3239"/>
                    <a:pt x="19671" y="3102"/>
                    <a:pt x="19796" y="2917"/>
                  </a:cubicBezTo>
                  <a:cubicBezTo>
                    <a:pt x="20401" y="2026"/>
                    <a:pt x="19585" y="2730"/>
                    <a:pt x="20495" y="2059"/>
                  </a:cubicBezTo>
                  <a:lnTo>
                    <a:pt x="21193" y="515"/>
                  </a:lnTo>
                  <a:cubicBezTo>
                    <a:pt x="21496" y="-153"/>
                    <a:pt x="21600" y="-127"/>
                    <a:pt x="20961" y="344"/>
                  </a:cubicBezTo>
                  <a:cubicBezTo>
                    <a:pt x="20703" y="913"/>
                    <a:pt x="20728" y="677"/>
                    <a:pt x="20728" y="1030"/>
                  </a:cubicBezTo>
                </a:path>
              </a:pathLst>
            </a:custGeom>
            <a:noFill/>
            <a:ln w="38100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4ED49C-46BF-5241-A1AA-D98629A577E5}"/>
                </a:ext>
              </a:extLst>
            </p:cNvPr>
            <p:cNvSpPr txBox="1"/>
            <p:nvPr/>
          </p:nvSpPr>
          <p:spPr>
            <a:xfrm>
              <a:off x="1941552" y="43992"/>
              <a:ext cx="570557" cy="496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AC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7BADC4-C004-9C47-99A5-62C26AC94EED}"/>
                </a:ext>
              </a:extLst>
            </p:cNvPr>
            <p:cNvSpPr txBox="1"/>
            <p:nvPr/>
          </p:nvSpPr>
          <p:spPr>
            <a:xfrm>
              <a:off x="1378717" y="165707"/>
              <a:ext cx="606597" cy="37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MC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BE993B-D0A5-374D-83B0-ECCE96E8EC6C}"/>
                </a:ext>
              </a:extLst>
            </p:cNvPr>
            <p:cNvSpPr txBox="1"/>
            <p:nvPr/>
          </p:nvSpPr>
          <p:spPr>
            <a:xfrm>
              <a:off x="595886" y="411145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 dirty="0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endParaRPr lang="en-IN" sz="16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21964F-4720-B547-A013-ED5E01C02BF2}"/>
                </a:ext>
              </a:extLst>
            </p:cNvPr>
            <p:cNvSpPr txBox="1"/>
            <p:nvPr/>
          </p:nvSpPr>
          <p:spPr>
            <a:xfrm>
              <a:off x="1407716" y="1110698"/>
              <a:ext cx="364681" cy="459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E40780-25BE-E847-BD44-160DBB08CDB9}"/>
                </a:ext>
              </a:extLst>
            </p:cNvPr>
            <p:cNvSpPr txBox="1"/>
            <p:nvPr/>
          </p:nvSpPr>
          <p:spPr>
            <a:xfrm>
              <a:off x="1997972" y="422302"/>
              <a:ext cx="364681" cy="3564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ctr">
              <a:noAutofit/>
            </a:bodyPr>
            <a:lstStyle/>
            <a:p>
              <a:r>
                <a:rPr lang="en-US" sz="1600" b="1"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</a:t>
              </a:r>
              <a:endParaRPr lang="en-IN" sz="160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122A9C-CD51-9F41-AF4E-B91A3D5556B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320107" y="9111018"/>
            <a:ext cx="3034454" cy="377537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/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num>
                                <m:den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2531DDE-3D64-6A40-B998-31F6300E3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65" y="2819269"/>
                <a:ext cx="4123894" cy="1021113"/>
              </a:xfrm>
              <a:prstGeom prst="rect">
                <a:avLst/>
              </a:prstGeom>
              <a:blipFill>
                <a:blip r:embed="rId6"/>
                <a:stretch>
                  <a:fillRect l="-613"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/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d>
                        <m:d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den>
                          </m:f>
                          <m:r>
                            <a:rPr lang="en-US" sz="28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𝑻𝑪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den>
                          </m:f>
                        </m:e>
                      </m:d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EBF331F-F61B-7445-87B6-5B2180524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33" y="5727505"/>
                <a:ext cx="4579715" cy="1060483"/>
              </a:xfrm>
              <a:prstGeom prst="rect">
                <a:avLst/>
              </a:prstGeom>
              <a:blipFill>
                <a:blip r:embed="rId7"/>
                <a:stretch>
                  <a:fillRect l="-55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/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545CEA-C73B-E442-B85D-FD5B5A823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99" y="7317546"/>
                <a:ext cx="3844963" cy="992836"/>
              </a:xfrm>
              <a:prstGeom prst="rect">
                <a:avLst/>
              </a:prstGeom>
              <a:blipFill>
                <a:blip r:embed="rId8"/>
                <a:stretch>
                  <a:fillRect l="-330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/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d>
                        </m:den>
                      </m:f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𝑻𝑪</m:t>
                              </m:r>
                            </m:e>
                          </m:d>
                        </m:num>
                        <m:den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496273-C317-E640-B33C-E7EBB398A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788" y="7292867"/>
                <a:ext cx="3202928" cy="992836"/>
              </a:xfrm>
              <a:prstGeom prst="rect">
                <a:avLst/>
              </a:prstGeom>
              <a:blipFill>
                <a:blip r:embed="rId9"/>
                <a:stretch>
                  <a:fillRect l="-791" b="-1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/>
              <p:nvPr/>
            </p:nvSpPr>
            <p:spPr>
              <a:xfrm>
                <a:off x="4824431" y="8468408"/>
                <a:ext cx="24930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 ∴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𝑴𝑪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44484B7-73BC-9A47-BECA-EF0247419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431" y="8468408"/>
                <a:ext cx="2493054" cy="523220"/>
              </a:xfrm>
              <a:prstGeom prst="rect">
                <a:avLst/>
              </a:prstGeom>
              <a:blipFill>
                <a:blip r:embed="rId10"/>
                <a:stretch>
                  <a:fillRect l="-508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3637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4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1CD0-C100-2DAA-4036-DC428B5F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">
            <a:extLst>
              <a:ext uri="{FF2B5EF4-FFF2-40B4-BE49-F238E27FC236}">
                <a16:creationId xmlns:a16="http://schemas.microsoft.com/office/drawing/2014/main" id="{14952EA7-1E95-E63F-DA62-CE222E7E9B9B}"/>
              </a:ext>
            </a:extLst>
          </p:cNvPr>
          <p:cNvGrpSpPr/>
          <p:nvPr/>
        </p:nvGrpSpPr>
        <p:grpSpPr>
          <a:xfrm>
            <a:off x="2440643" y="3319484"/>
            <a:ext cx="794413" cy="4828033"/>
            <a:chOff x="375758" y="-1335492"/>
            <a:chExt cx="794411" cy="4828032"/>
          </a:xfrm>
        </p:grpSpPr>
        <p:sp>
          <p:nvSpPr>
            <p:cNvPr id="232" name="Line">
              <a:extLst>
                <a:ext uri="{FF2B5EF4-FFF2-40B4-BE49-F238E27FC236}">
                  <a16:creationId xmlns:a16="http://schemas.microsoft.com/office/drawing/2014/main" id="{AF42CD2F-F9BC-0B29-CF47-D03961AD5285}"/>
                </a:ext>
              </a:extLst>
            </p:cNvPr>
            <p:cNvSpPr/>
            <p:nvPr/>
          </p:nvSpPr>
          <p:spPr>
            <a:xfrm flipH="1" flipV="1">
              <a:off x="573175" y="-899180"/>
              <a:ext cx="0" cy="3927819"/>
            </a:xfrm>
            <a:prstGeom prst="line">
              <a:avLst/>
            </a:prstGeom>
            <a:noFill/>
            <a:ln w="57150" cap="flat">
              <a:solidFill>
                <a:srgbClr val="0070C0"/>
              </a:solidFill>
              <a:prstDash val="dash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A1">
              <a:extLst>
                <a:ext uri="{FF2B5EF4-FFF2-40B4-BE49-F238E27FC236}">
                  <a16:creationId xmlns:a16="http://schemas.microsoft.com/office/drawing/2014/main" id="{3144E617-4496-37ED-93B2-A1310735BF92}"/>
                </a:ext>
              </a:extLst>
            </p:cNvPr>
            <p:cNvSpPr txBox="1"/>
            <p:nvPr/>
          </p:nvSpPr>
          <p:spPr>
            <a:xfrm>
              <a:off x="687666" y="-1335492"/>
              <a:ext cx="48250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sz="2800" baseline="-5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5" name="Q1">
              <a:extLst>
                <a:ext uri="{FF2B5EF4-FFF2-40B4-BE49-F238E27FC236}">
                  <a16:creationId xmlns:a16="http://schemas.microsoft.com/office/drawing/2014/main" id="{8A6D3AE8-126B-72B2-2E57-B8C08D083B19}"/>
                </a:ext>
              </a:extLst>
            </p:cNvPr>
            <p:cNvSpPr txBox="1"/>
            <p:nvPr/>
          </p:nvSpPr>
          <p:spPr>
            <a:xfrm>
              <a:off x="375758" y="2959061"/>
              <a:ext cx="50173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800" baseline="-5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47" name="Line">
            <a:extLst>
              <a:ext uri="{FF2B5EF4-FFF2-40B4-BE49-F238E27FC236}">
                <a16:creationId xmlns:a16="http://schemas.microsoft.com/office/drawing/2014/main" id="{7BCB2BDA-7DBB-158B-7254-DFCDCA50E6C5}"/>
              </a:ext>
            </a:extLst>
          </p:cNvPr>
          <p:cNvSpPr/>
          <p:nvPr/>
        </p:nvSpPr>
        <p:spPr>
          <a:xfrm flipV="1">
            <a:off x="1323851" y="342917"/>
            <a:ext cx="1" cy="7394416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Line">
            <a:extLst>
              <a:ext uri="{FF2B5EF4-FFF2-40B4-BE49-F238E27FC236}">
                <a16:creationId xmlns:a16="http://schemas.microsoft.com/office/drawing/2014/main" id="{3CEEBCFF-641A-20E5-A11B-98D236ED8F83}"/>
              </a:ext>
            </a:extLst>
          </p:cNvPr>
          <p:cNvSpPr/>
          <p:nvPr/>
        </p:nvSpPr>
        <p:spPr>
          <a:xfrm flipV="1">
            <a:off x="1312383" y="7723864"/>
            <a:ext cx="5011621" cy="0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AC, MC">
            <a:extLst>
              <a:ext uri="{FF2B5EF4-FFF2-40B4-BE49-F238E27FC236}">
                <a16:creationId xmlns:a16="http://schemas.microsoft.com/office/drawing/2014/main" id="{E73FA1DE-B951-E815-927D-BAB8E5051877}"/>
              </a:ext>
            </a:extLst>
          </p:cNvPr>
          <p:cNvSpPr txBox="1"/>
          <p:nvPr/>
        </p:nvSpPr>
        <p:spPr>
          <a:xfrm>
            <a:off x="347183" y="373251"/>
            <a:ext cx="1132012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54" name="Qty">
            <a:extLst>
              <a:ext uri="{FF2B5EF4-FFF2-40B4-BE49-F238E27FC236}">
                <a16:creationId xmlns:a16="http://schemas.microsoft.com/office/drawing/2014/main" id="{073316CC-CB4B-D71D-EF08-1402141B1728}"/>
              </a:ext>
            </a:extLst>
          </p:cNvPr>
          <p:cNvSpPr txBox="1"/>
          <p:nvPr/>
        </p:nvSpPr>
        <p:spPr>
          <a:xfrm>
            <a:off x="5514107" y="7794910"/>
            <a:ext cx="113201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444A65-772D-829E-B0DC-370615A95BAB}"/>
              </a:ext>
            </a:extLst>
          </p:cNvPr>
          <p:cNvGrpSpPr/>
          <p:nvPr/>
        </p:nvGrpSpPr>
        <p:grpSpPr>
          <a:xfrm>
            <a:off x="3085017" y="4794237"/>
            <a:ext cx="2320997" cy="3607524"/>
            <a:chOff x="5302093" y="5213182"/>
            <a:chExt cx="2320997" cy="3607524"/>
          </a:xfrm>
        </p:grpSpPr>
        <p:grpSp>
          <p:nvGrpSpPr>
            <p:cNvPr id="241" name="Group">
              <a:extLst>
                <a:ext uri="{FF2B5EF4-FFF2-40B4-BE49-F238E27FC236}">
                  <a16:creationId xmlns:a16="http://schemas.microsoft.com/office/drawing/2014/main" id="{106D7F77-803E-66E7-498D-E808F82702FD}"/>
                </a:ext>
              </a:extLst>
            </p:cNvPr>
            <p:cNvGrpSpPr/>
            <p:nvPr/>
          </p:nvGrpSpPr>
          <p:grpSpPr>
            <a:xfrm>
              <a:off x="5542115" y="5213182"/>
              <a:ext cx="501740" cy="3396299"/>
              <a:chOff x="533012" y="460386"/>
              <a:chExt cx="501740" cy="3396298"/>
            </a:xfrm>
          </p:grpSpPr>
          <p:sp>
            <p:nvSpPr>
              <p:cNvPr id="237" name="Line">
                <a:extLst>
                  <a:ext uri="{FF2B5EF4-FFF2-40B4-BE49-F238E27FC236}">
                    <a16:creationId xmlns:a16="http://schemas.microsoft.com/office/drawing/2014/main" id="{99F1F8C9-1364-3C61-C2EF-AE5A572141AC}"/>
                  </a:ext>
                </a:extLst>
              </p:cNvPr>
              <p:cNvSpPr/>
              <p:nvPr/>
            </p:nvSpPr>
            <p:spPr>
              <a:xfrm flipV="1">
                <a:off x="767068" y="460386"/>
                <a:ext cx="1" cy="2884476"/>
              </a:xfrm>
              <a:prstGeom prst="line">
                <a:avLst/>
              </a:prstGeom>
              <a:noFill/>
              <a:ln w="57150" cap="flat">
                <a:solidFill>
                  <a:schemeClr val="accent2">
                    <a:lumMod val="50000"/>
                  </a:schemeClr>
                </a:solidFill>
                <a:prstDash val="dash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2400"/>
                </a:pPr>
                <a:endParaRPr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Q2">
                <a:extLst>
                  <a:ext uri="{FF2B5EF4-FFF2-40B4-BE49-F238E27FC236}">
                    <a16:creationId xmlns:a16="http://schemas.microsoft.com/office/drawing/2014/main" id="{C91BC505-A57F-E734-61F7-290C2985A50A}"/>
                  </a:ext>
                </a:extLst>
              </p:cNvPr>
              <p:cNvSpPr txBox="1"/>
              <p:nvPr/>
            </p:nvSpPr>
            <p:spPr>
              <a:xfrm>
                <a:off x="533012" y="3323205"/>
                <a:ext cx="501740" cy="5334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b="1"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sz="28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800" baseline="-5999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256" name="Optimal Output…">
              <a:extLst>
                <a:ext uri="{FF2B5EF4-FFF2-40B4-BE49-F238E27FC236}">
                  <a16:creationId xmlns:a16="http://schemas.microsoft.com/office/drawing/2014/main" id="{33396BE0-24B0-7B8F-C163-36720CBA8574}"/>
                </a:ext>
              </a:extLst>
            </p:cNvPr>
            <p:cNvSpPr txBox="1"/>
            <p:nvPr/>
          </p:nvSpPr>
          <p:spPr>
            <a:xfrm>
              <a:off x="5302093" y="8102561"/>
              <a:ext cx="2320997" cy="718145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>
                <a:defRPr sz="2500" b="1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Optimal </a:t>
              </a:r>
              <a:endPara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defRPr sz="2500" b="1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sz="2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E730B-DB4A-36B5-45AE-79AEBAB7DD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288852" y="9237343"/>
            <a:ext cx="368504" cy="381000"/>
          </a:xfrm>
        </p:spPr>
        <p:txBody>
          <a:bodyPr/>
          <a:lstStyle/>
          <a:p>
            <a:fld id="{86CB4B4D-7CA3-9044-876B-883B54F8677D}" type="slidenum">
              <a:rPr lang="en-IN" smtClean="0"/>
              <a:t>25</a:t>
            </a:fld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DDD33F-01F6-F48B-C9EF-20B4B4375C06}"/>
              </a:ext>
            </a:extLst>
          </p:cNvPr>
          <p:cNvGrpSpPr/>
          <p:nvPr/>
        </p:nvGrpSpPr>
        <p:grpSpPr>
          <a:xfrm>
            <a:off x="1710608" y="8231605"/>
            <a:ext cx="2816598" cy="873805"/>
            <a:chOff x="3965104" y="7710961"/>
            <a:chExt cx="2816598" cy="87380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A9FAFF-33B8-60BB-F0E1-01BDE38DCA5B}"/>
                </a:ext>
              </a:extLst>
            </p:cNvPr>
            <p:cNvGrpSpPr/>
            <p:nvPr/>
          </p:nvGrpSpPr>
          <p:grpSpPr>
            <a:xfrm>
              <a:off x="4971893" y="7710961"/>
              <a:ext cx="664396" cy="417666"/>
              <a:chOff x="6799851" y="6461280"/>
              <a:chExt cx="664396" cy="417666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52B41C32-15DC-4B43-C978-1456563D16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16601" y="6461280"/>
                <a:ext cx="0" cy="417666"/>
              </a:xfrm>
              <a:prstGeom prst="straightConnector1">
                <a:avLst/>
              </a:prstGeom>
              <a:noFill/>
              <a:ln w="57150" cap="flat">
                <a:solidFill>
                  <a:srgbClr val="0070C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62FD5DC-4D9A-3788-ED26-92892160B6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9851" y="6465841"/>
                <a:ext cx="664396" cy="0"/>
              </a:xfrm>
              <a:prstGeom prst="straightConnector1">
                <a:avLst/>
              </a:prstGeom>
              <a:noFill/>
              <a:ln w="57150" cap="flat">
                <a:solidFill>
                  <a:srgbClr val="0070C0"/>
                </a:solidFill>
                <a:prstDash val="solid"/>
                <a:miter lim="400000"/>
                <a:headEnd type="triangle" w="med" len="med"/>
                <a:tailEnd type="triangle" w="med" len="med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47" name="Sub-Optimal Output…">
              <a:extLst>
                <a:ext uri="{FF2B5EF4-FFF2-40B4-BE49-F238E27FC236}">
                  <a16:creationId xmlns:a16="http://schemas.microsoft.com/office/drawing/2014/main" id="{AF73AD9B-B417-E59A-8E94-7D9E7538BBDE}"/>
                </a:ext>
              </a:extLst>
            </p:cNvPr>
            <p:cNvSpPr txBox="1"/>
            <p:nvPr/>
          </p:nvSpPr>
          <p:spPr>
            <a:xfrm>
              <a:off x="3965104" y="8051287"/>
              <a:ext cx="2816598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>
                <a:defRPr sz="2500" b="1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Excess Capacity</a:t>
              </a:r>
              <a:endParaRPr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Sub-Optimal Output…">
            <a:extLst>
              <a:ext uri="{FF2B5EF4-FFF2-40B4-BE49-F238E27FC236}">
                <a16:creationId xmlns:a16="http://schemas.microsoft.com/office/drawing/2014/main" id="{4E410609-0CD9-BE48-F131-D1FFED3896AB}"/>
              </a:ext>
            </a:extLst>
          </p:cNvPr>
          <p:cNvSpPr txBox="1"/>
          <p:nvPr/>
        </p:nvSpPr>
        <p:spPr>
          <a:xfrm>
            <a:off x="3624791" y="8562501"/>
            <a:ext cx="4007282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OQ</a:t>
            </a:r>
            <a:r>
              <a:rPr sz="3200" baseline="-59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aseline="-59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OQ</a:t>
            </a:r>
            <a:r>
              <a:rPr lang="en-IN" sz="3200" baseline="-59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3200" baseline="-5999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ub-Optimal Output…">
            <a:extLst>
              <a:ext uri="{FF2B5EF4-FFF2-40B4-BE49-F238E27FC236}">
                <a16:creationId xmlns:a16="http://schemas.microsoft.com/office/drawing/2014/main" id="{A1CE62EE-D22C-09D2-5CBF-4E1E4CB5041F}"/>
              </a:ext>
            </a:extLst>
          </p:cNvPr>
          <p:cNvSpPr txBox="1"/>
          <p:nvPr/>
        </p:nvSpPr>
        <p:spPr>
          <a:xfrm>
            <a:off x="6925059" y="135257"/>
            <a:ext cx="616666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Excess Capacity or Idle Capacity 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ub-Optimal Output…">
            <a:extLst>
              <a:ext uri="{FF2B5EF4-FFF2-40B4-BE49-F238E27FC236}">
                <a16:creationId xmlns:a16="http://schemas.microsoft.com/office/drawing/2014/main" id="{1B77FAD7-F417-C78A-A39B-7FAC09B561CA}"/>
              </a:ext>
            </a:extLst>
          </p:cNvPr>
          <p:cNvSpPr txBox="1"/>
          <p:nvPr/>
        </p:nvSpPr>
        <p:spPr>
          <a:xfrm>
            <a:off x="3226454" y="8998260"/>
            <a:ext cx="763895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Optimum Qty – Actual Qty</a:t>
            </a:r>
            <a:endParaRPr sz="3200" baseline="-5999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5B2DDB-F35D-E52A-654B-AB94A65E6DB4}"/>
              </a:ext>
            </a:extLst>
          </p:cNvPr>
          <p:cNvGrpSpPr/>
          <p:nvPr/>
        </p:nvGrpSpPr>
        <p:grpSpPr>
          <a:xfrm>
            <a:off x="2197362" y="236995"/>
            <a:ext cx="4225102" cy="6318700"/>
            <a:chOff x="2679184" y="192390"/>
            <a:chExt cx="4225102" cy="63187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ABDFD47-AACA-E75F-3597-48CA43177A04}"/>
                </a:ext>
              </a:extLst>
            </p:cNvPr>
            <p:cNvGrpSpPr/>
            <p:nvPr/>
          </p:nvGrpSpPr>
          <p:grpSpPr>
            <a:xfrm>
              <a:off x="2679184" y="192390"/>
              <a:ext cx="4225102" cy="6318700"/>
              <a:chOff x="2679184" y="192390"/>
              <a:chExt cx="4225102" cy="63187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38927EF-74B8-380B-4A20-EBFAAF41893E}"/>
                  </a:ext>
                </a:extLst>
              </p:cNvPr>
              <p:cNvGrpSpPr/>
              <p:nvPr/>
            </p:nvGrpSpPr>
            <p:grpSpPr>
              <a:xfrm rot="21279537">
                <a:off x="2679184" y="2293078"/>
                <a:ext cx="4225102" cy="2480718"/>
                <a:chOff x="4056611" y="2787119"/>
                <a:chExt cx="4036011" cy="2273699"/>
              </a:xfrm>
            </p:grpSpPr>
            <p:sp>
              <p:nvSpPr>
                <p:cNvPr id="258" name="Connection Line">
                  <a:extLst>
                    <a:ext uri="{FF2B5EF4-FFF2-40B4-BE49-F238E27FC236}">
                      <a16:creationId xmlns:a16="http://schemas.microsoft.com/office/drawing/2014/main" id="{583D2511-6DA5-0152-1EE4-CCFBD9714F14}"/>
                    </a:ext>
                  </a:extLst>
                </p:cNvPr>
                <p:cNvSpPr/>
                <p:nvPr/>
              </p:nvSpPr>
              <p:spPr>
                <a:xfrm rot="655022">
                  <a:off x="4056611" y="2891604"/>
                  <a:ext cx="3373710" cy="2169214"/>
                </a:xfrm>
                <a:custGeom>
                  <a:avLst/>
                  <a:gdLst>
                    <a:gd name="connsiteX0" fmla="*/ 28040 w 28040"/>
                    <a:gd name="connsiteY0" fmla="*/ 1603 h 16702"/>
                    <a:gd name="connsiteX1" fmla="*/ 0 w 28040"/>
                    <a:gd name="connsiteY1" fmla="*/ 0 h 16702"/>
                    <a:gd name="connsiteX0" fmla="*/ 23582 w 23582"/>
                    <a:gd name="connsiteY0" fmla="*/ 0 h 16191"/>
                    <a:gd name="connsiteX1" fmla="*/ 0 w 23582"/>
                    <a:gd name="connsiteY1" fmla="*/ 637 h 16191"/>
                    <a:gd name="connsiteX0" fmla="*/ 27541 w 27541"/>
                    <a:gd name="connsiteY0" fmla="*/ 1125 h 16449"/>
                    <a:gd name="connsiteX1" fmla="*/ 0 w 27541"/>
                    <a:gd name="connsiteY1" fmla="*/ 0 h 16449"/>
                    <a:gd name="connsiteX0" fmla="*/ 27541 w 27541"/>
                    <a:gd name="connsiteY0" fmla="*/ 1125 h 15428"/>
                    <a:gd name="connsiteX1" fmla="*/ 0 w 27541"/>
                    <a:gd name="connsiteY1" fmla="*/ 0 h 15428"/>
                    <a:gd name="connsiteX0" fmla="*/ 29980 w 29980"/>
                    <a:gd name="connsiteY0" fmla="*/ 1283 h 15507"/>
                    <a:gd name="connsiteX1" fmla="*/ 0 w 29980"/>
                    <a:gd name="connsiteY1" fmla="*/ 0 h 15507"/>
                    <a:gd name="connsiteX0" fmla="*/ 29980 w 29980"/>
                    <a:gd name="connsiteY0" fmla="*/ 1283 h 15053"/>
                    <a:gd name="connsiteX1" fmla="*/ 0 w 29980"/>
                    <a:gd name="connsiteY1" fmla="*/ 0 h 15053"/>
                    <a:gd name="connsiteX0" fmla="*/ 29980 w 29980"/>
                    <a:gd name="connsiteY0" fmla="*/ 1283 h 15094"/>
                    <a:gd name="connsiteX1" fmla="*/ 0 w 29980"/>
                    <a:gd name="connsiteY1" fmla="*/ 0 h 15094"/>
                    <a:gd name="connsiteX0" fmla="*/ 29980 w 29980"/>
                    <a:gd name="connsiteY0" fmla="*/ 1283 h 14329"/>
                    <a:gd name="connsiteX1" fmla="*/ 0 w 29980"/>
                    <a:gd name="connsiteY1" fmla="*/ 0 h 14329"/>
                    <a:gd name="connsiteX0" fmla="*/ 29980 w 29980"/>
                    <a:gd name="connsiteY0" fmla="*/ 1283 h 14017"/>
                    <a:gd name="connsiteX1" fmla="*/ 0 w 29980"/>
                    <a:gd name="connsiteY1" fmla="*/ 0 h 14017"/>
                    <a:gd name="connsiteX0" fmla="*/ 26303 w 26303"/>
                    <a:gd name="connsiteY0" fmla="*/ 15 h 13374"/>
                    <a:gd name="connsiteX1" fmla="*/ 0 w 26303"/>
                    <a:gd name="connsiteY1" fmla="*/ 0 h 13374"/>
                    <a:gd name="connsiteX0" fmla="*/ 26303 w 26303"/>
                    <a:gd name="connsiteY0" fmla="*/ 15 h 13762"/>
                    <a:gd name="connsiteX1" fmla="*/ 0 w 26303"/>
                    <a:gd name="connsiteY1" fmla="*/ 0 h 13762"/>
                    <a:gd name="connsiteX0" fmla="*/ 31356 w 31356"/>
                    <a:gd name="connsiteY0" fmla="*/ 0 h 13767"/>
                    <a:gd name="connsiteX1" fmla="*/ 0 w 31356"/>
                    <a:gd name="connsiteY1" fmla="*/ 27 h 13767"/>
                    <a:gd name="connsiteX0" fmla="*/ 31356 w 31356"/>
                    <a:gd name="connsiteY0" fmla="*/ 0 h 13412"/>
                    <a:gd name="connsiteX1" fmla="*/ 0 w 31356"/>
                    <a:gd name="connsiteY1" fmla="*/ 27 h 13412"/>
                    <a:gd name="connsiteX0" fmla="*/ 31356 w 31356"/>
                    <a:gd name="connsiteY0" fmla="*/ 0 h 13669"/>
                    <a:gd name="connsiteX1" fmla="*/ 0 w 31356"/>
                    <a:gd name="connsiteY1" fmla="*/ 27 h 13669"/>
                    <a:gd name="connsiteX0" fmla="*/ 27392 w 27392"/>
                    <a:gd name="connsiteY0" fmla="*/ 0 h 13690"/>
                    <a:gd name="connsiteX1" fmla="*/ 0 w 27392"/>
                    <a:gd name="connsiteY1" fmla="*/ 68 h 13690"/>
                    <a:gd name="connsiteX0" fmla="*/ 30240 w 30240"/>
                    <a:gd name="connsiteY0" fmla="*/ 1607 h 14465"/>
                    <a:gd name="connsiteX1" fmla="*/ 0 w 30240"/>
                    <a:gd name="connsiteY1" fmla="*/ 0 h 14465"/>
                    <a:gd name="connsiteX0" fmla="*/ 30240 w 30240"/>
                    <a:gd name="connsiteY0" fmla="*/ 1607 h 13981"/>
                    <a:gd name="connsiteX1" fmla="*/ 0 w 30240"/>
                    <a:gd name="connsiteY1" fmla="*/ 0 h 13981"/>
                    <a:gd name="connsiteX0" fmla="*/ 28787 w 28787"/>
                    <a:gd name="connsiteY0" fmla="*/ 0 h 13982"/>
                    <a:gd name="connsiteX1" fmla="*/ 0 w 28787"/>
                    <a:gd name="connsiteY1" fmla="*/ 1456 h 13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8787" h="13982" extrusionOk="0">
                      <a:moveTo>
                        <a:pt x="28787" y="0"/>
                      </a:moveTo>
                      <a:cubicBezTo>
                        <a:pt x="12429" y="16302"/>
                        <a:pt x="10951" y="20291"/>
                        <a:pt x="0" y="1456"/>
                      </a:cubicBezTo>
                    </a:path>
                  </a:pathLst>
                </a:custGeom>
                <a:ln w="101600">
                  <a:solidFill>
                    <a:schemeClr val="accent5">
                      <a:hueOff val="-176146"/>
                      <a:satOff val="3665"/>
                      <a:lumOff val="-13986"/>
                    </a:schemeClr>
                  </a:solidFill>
                  <a:miter lim="400000"/>
                </a:ln>
              </p:spPr>
              <p:txBody>
                <a:bodyPr/>
                <a:lstStyle/>
                <a:p>
                  <a:endParaRPr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0" name="AC">
                  <a:extLst>
                    <a:ext uri="{FF2B5EF4-FFF2-40B4-BE49-F238E27FC236}">
                      <a16:creationId xmlns:a16="http://schemas.microsoft.com/office/drawing/2014/main" id="{DB33F1F7-6889-130B-1F9D-931D8F085888}"/>
                    </a:ext>
                  </a:extLst>
                </p:cNvPr>
                <p:cNvSpPr txBox="1"/>
                <p:nvPr/>
              </p:nvSpPr>
              <p:spPr>
                <a:xfrm rot="320463">
                  <a:off x="7498490" y="2787119"/>
                  <a:ext cx="594132" cy="488963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b="1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FF1D060-048A-926D-6659-677C0764E8E5}"/>
                  </a:ext>
                </a:extLst>
              </p:cNvPr>
              <p:cNvGrpSpPr/>
              <p:nvPr/>
            </p:nvGrpSpPr>
            <p:grpSpPr>
              <a:xfrm rot="295813">
                <a:off x="3404646" y="192390"/>
                <a:ext cx="2600096" cy="6318700"/>
                <a:chOff x="4545828" y="1220750"/>
                <a:chExt cx="3292204" cy="4450952"/>
              </a:xfrm>
            </p:grpSpPr>
            <p:sp>
              <p:nvSpPr>
                <p:cNvPr id="259" name="Connection Line">
                  <a:extLst>
                    <a:ext uri="{FF2B5EF4-FFF2-40B4-BE49-F238E27FC236}">
                      <a16:creationId xmlns:a16="http://schemas.microsoft.com/office/drawing/2014/main" id="{7D914615-350F-1C5A-65A7-2641416EDC32}"/>
                    </a:ext>
                  </a:extLst>
                </p:cNvPr>
                <p:cNvSpPr/>
                <p:nvPr/>
              </p:nvSpPr>
              <p:spPr>
                <a:xfrm rot="697559">
                  <a:off x="4545828" y="1395615"/>
                  <a:ext cx="1598677" cy="4276087"/>
                </a:xfrm>
                <a:custGeom>
                  <a:avLst/>
                  <a:gdLst>
                    <a:gd name="connsiteX0" fmla="*/ 24034 w 24034"/>
                    <a:gd name="connsiteY0" fmla="*/ 0 h 17362"/>
                    <a:gd name="connsiteX1" fmla="*/ 0 w 24034"/>
                    <a:gd name="connsiteY1" fmla="*/ 12824 h 17362"/>
                    <a:gd name="connsiteX0" fmla="*/ 28909 w 28909"/>
                    <a:gd name="connsiteY0" fmla="*/ 0 h 20519"/>
                    <a:gd name="connsiteX1" fmla="*/ 0 w 28909"/>
                    <a:gd name="connsiteY1" fmla="*/ 16887 h 20519"/>
                    <a:gd name="connsiteX0" fmla="*/ 23047 w 23047"/>
                    <a:gd name="connsiteY0" fmla="*/ 0 h 20548"/>
                    <a:gd name="connsiteX1" fmla="*/ 0 w 23047"/>
                    <a:gd name="connsiteY1" fmla="*/ 16923 h 20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3047" h="20548" extrusionOk="0">
                      <a:moveTo>
                        <a:pt x="23047" y="0"/>
                      </a:moveTo>
                      <a:cubicBezTo>
                        <a:pt x="20200" y="17398"/>
                        <a:pt x="11553" y="25916"/>
                        <a:pt x="0" y="16923"/>
                      </a:cubicBezTo>
                    </a:path>
                  </a:pathLst>
                </a:custGeom>
                <a:ln w="101600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miter lim="400000"/>
                </a:ln>
              </p:spPr>
              <p:txBody>
                <a:bodyPr/>
                <a:lstStyle/>
                <a:p>
                  <a:endParaRPr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2" name="MC">
                  <a:extLst>
                    <a:ext uri="{FF2B5EF4-FFF2-40B4-BE49-F238E27FC236}">
                      <a16:creationId xmlns:a16="http://schemas.microsoft.com/office/drawing/2014/main" id="{E588835E-BB97-67C2-637E-24D66B5518EA}"/>
                    </a:ext>
                  </a:extLst>
                </p:cNvPr>
                <p:cNvSpPr txBox="1"/>
                <p:nvPr/>
              </p:nvSpPr>
              <p:spPr>
                <a:xfrm rot="21304187">
                  <a:off x="6951051" y="1220750"/>
                  <a:ext cx="886981" cy="37578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none" lIns="50800" tIns="50800" rIns="50800" bIns="50800" anchor="ctr">
                  <a:spAutoFit/>
                </a:bodyPr>
                <a:lstStyle>
                  <a:lvl1pPr>
                    <a:defRPr b="1">
                      <a:latin typeface="Helvetica"/>
                      <a:ea typeface="Helvetica"/>
                      <a:cs typeface="Helvetica"/>
                      <a:sym typeface="Helvetica"/>
                    </a:defRPr>
                  </a:lvl1pPr>
                </a:lstStyle>
                <a:p>
                  <a:r>
                    <a:rPr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MC</a:t>
                  </a:r>
                </a:p>
              </p:txBody>
            </p:sp>
          </p:grpSp>
        </p:grpSp>
        <p:sp>
          <p:nvSpPr>
            <p:cNvPr id="30" name="Q2">
              <a:extLst>
                <a:ext uri="{FF2B5EF4-FFF2-40B4-BE49-F238E27FC236}">
                  <a16:creationId xmlns:a16="http://schemas.microsoft.com/office/drawing/2014/main" id="{5FA49564-36AC-85C2-715C-E2900A55335F}"/>
                </a:ext>
              </a:extLst>
            </p:cNvPr>
            <p:cNvSpPr txBox="1"/>
            <p:nvPr/>
          </p:nvSpPr>
          <p:spPr>
            <a:xfrm>
              <a:off x="4123525" y="4709965"/>
              <a:ext cx="341439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b="1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sz="2800" baseline="-5999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DF3A137-0EC3-7BCD-7CC9-4889DF711809}"/>
              </a:ext>
            </a:extLst>
          </p:cNvPr>
          <p:cNvGrpSpPr/>
          <p:nvPr/>
        </p:nvGrpSpPr>
        <p:grpSpPr>
          <a:xfrm>
            <a:off x="8359975" y="762692"/>
            <a:ext cx="3386984" cy="4509289"/>
            <a:chOff x="8359975" y="762692"/>
            <a:chExt cx="3386984" cy="4509289"/>
          </a:xfrm>
        </p:grpSpPr>
        <p:sp>
          <p:nvSpPr>
            <p:cNvPr id="34" name="Sub-Optimal Output…">
              <a:extLst>
                <a:ext uri="{FF2B5EF4-FFF2-40B4-BE49-F238E27FC236}">
                  <a16:creationId xmlns:a16="http://schemas.microsoft.com/office/drawing/2014/main" id="{4E3BBD45-21B5-BD3A-4442-894A60FD9F1E}"/>
                </a:ext>
              </a:extLst>
            </p:cNvPr>
            <p:cNvSpPr txBox="1"/>
            <p:nvPr/>
          </p:nvSpPr>
          <p:spPr>
            <a:xfrm>
              <a:off x="8359975" y="762692"/>
              <a:ext cx="3296829" cy="10874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>
                <a:defRPr sz="2500" b="1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‘Tragedy’ (?) </a:t>
              </a:r>
            </a:p>
            <a:p>
              <a:pPr>
                <a:defRPr sz="2500" b="1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Implies Problems  </a:t>
              </a:r>
              <a:endParaRPr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ub-Optimal Output…">
              <a:extLst>
                <a:ext uri="{FF2B5EF4-FFF2-40B4-BE49-F238E27FC236}">
                  <a16:creationId xmlns:a16="http://schemas.microsoft.com/office/drawing/2014/main" id="{9F37C7FB-2BE8-3056-6C3C-4EBCF4A89B43}"/>
                </a:ext>
              </a:extLst>
            </p:cNvPr>
            <p:cNvSpPr txBox="1"/>
            <p:nvPr/>
          </p:nvSpPr>
          <p:spPr>
            <a:xfrm>
              <a:off x="8593505" y="4184504"/>
              <a:ext cx="3153454" cy="1087477"/>
            </a:xfrm>
            <a:prstGeom prst="rect">
              <a:avLst/>
            </a:prstGeom>
            <a:solidFill>
              <a:srgbClr val="FFFF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/>
            <a:p>
              <a:pPr>
                <a:defRPr sz="2500" b="1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‘Strategy’ ?</a:t>
              </a:r>
            </a:p>
            <a:p>
              <a:pPr>
                <a:defRPr sz="2500" b="1">
                  <a:solidFill>
                    <a:schemeClr val="accent2">
                      <a:hueOff val="-554920"/>
                      <a:satOff val="-21482"/>
                      <a:lumOff val="-6228"/>
                    </a:scheme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3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Implies Planning</a:t>
              </a:r>
              <a:endParaRPr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7" name="Sub-Optimal Output…">
            <a:extLst>
              <a:ext uri="{FF2B5EF4-FFF2-40B4-BE49-F238E27FC236}">
                <a16:creationId xmlns:a16="http://schemas.microsoft.com/office/drawing/2014/main" id="{6F9EA631-6C5E-B840-B2D1-2E5AA69BE6E8}"/>
              </a:ext>
            </a:extLst>
          </p:cNvPr>
          <p:cNvSpPr txBox="1"/>
          <p:nvPr/>
        </p:nvSpPr>
        <p:spPr>
          <a:xfrm>
            <a:off x="8075533" y="1945995"/>
            <a:ext cx="3801477" cy="5950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Inflation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ub-Optimal Output…">
            <a:extLst>
              <a:ext uri="{FF2B5EF4-FFF2-40B4-BE49-F238E27FC236}">
                <a16:creationId xmlns:a16="http://schemas.microsoft.com/office/drawing/2014/main" id="{0BFB5A9D-C962-C9A5-9CA1-9E44BAD23F42}"/>
              </a:ext>
            </a:extLst>
          </p:cNvPr>
          <p:cNvSpPr txBox="1"/>
          <p:nvPr/>
        </p:nvSpPr>
        <p:spPr>
          <a:xfrm>
            <a:off x="8075533" y="2618755"/>
            <a:ext cx="3801477" cy="595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Unemployment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ub-Optimal Output…">
            <a:extLst>
              <a:ext uri="{FF2B5EF4-FFF2-40B4-BE49-F238E27FC236}">
                <a16:creationId xmlns:a16="http://schemas.microsoft.com/office/drawing/2014/main" id="{5BF42A22-5B76-672B-A1C0-2C276B38B827}"/>
              </a:ext>
            </a:extLst>
          </p:cNvPr>
          <p:cNvSpPr txBox="1"/>
          <p:nvPr/>
        </p:nvSpPr>
        <p:spPr>
          <a:xfrm>
            <a:off x="8075533" y="3338561"/>
            <a:ext cx="3801477" cy="5950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Resource Wastage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ub-Optimal Output…">
            <a:extLst>
              <a:ext uri="{FF2B5EF4-FFF2-40B4-BE49-F238E27FC236}">
                <a16:creationId xmlns:a16="http://schemas.microsoft.com/office/drawing/2014/main" id="{CBA04CEB-EF7A-CA91-6E73-EDA6E8A3E065}"/>
              </a:ext>
            </a:extLst>
          </p:cNvPr>
          <p:cNvSpPr txBox="1"/>
          <p:nvPr/>
        </p:nvSpPr>
        <p:spPr>
          <a:xfrm>
            <a:off x="7632073" y="5403034"/>
            <a:ext cx="4933489" cy="5950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Production Agility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ub-Optimal Output…">
            <a:extLst>
              <a:ext uri="{FF2B5EF4-FFF2-40B4-BE49-F238E27FC236}">
                <a16:creationId xmlns:a16="http://schemas.microsoft.com/office/drawing/2014/main" id="{92AEF560-5F38-E55E-EF7D-0480C302E0C9}"/>
              </a:ext>
            </a:extLst>
          </p:cNvPr>
          <p:cNvSpPr txBox="1"/>
          <p:nvPr/>
        </p:nvSpPr>
        <p:spPr>
          <a:xfrm>
            <a:off x="7632073" y="6075794"/>
            <a:ext cx="4933489" cy="595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Seasonality Compliance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ub-Optimal Output…">
            <a:extLst>
              <a:ext uri="{FF2B5EF4-FFF2-40B4-BE49-F238E27FC236}">
                <a16:creationId xmlns:a16="http://schemas.microsoft.com/office/drawing/2014/main" id="{3F725321-9EE9-A639-378B-1ABA30969902}"/>
              </a:ext>
            </a:extLst>
          </p:cNvPr>
          <p:cNvSpPr txBox="1"/>
          <p:nvPr/>
        </p:nvSpPr>
        <p:spPr>
          <a:xfrm>
            <a:off x="7632073" y="6795600"/>
            <a:ext cx="4933489" cy="5950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just">
              <a:defRPr sz="2500" b="1">
                <a:solidFill>
                  <a:schemeClr val="accent2">
                    <a:hueOff val="-554920"/>
                    <a:satOff val="-21482"/>
                    <a:lumOff val="-6228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Inventory  Management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46942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29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7C3F1ED-95D1-464C-9675-0B1C626A8E25}"/>
              </a:ext>
            </a:extLst>
          </p:cNvPr>
          <p:cNvSpPr/>
          <p:nvPr/>
        </p:nvSpPr>
        <p:spPr>
          <a:xfrm>
            <a:off x="809874" y="904430"/>
            <a:ext cx="85779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 = q</a:t>
            </a:r>
            <a:r>
              <a:rPr lang="en-US" sz="2800" b="1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– q</a:t>
            </a:r>
            <a:r>
              <a:rPr lang="en-US" sz="2800" b="1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+ 3q + 10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88FEAB-F694-C4ED-C2E1-F1D0C5AA14DD}"/>
              </a:ext>
            </a:extLst>
          </p:cNvPr>
          <p:cNvGrpSpPr/>
          <p:nvPr/>
        </p:nvGrpSpPr>
        <p:grpSpPr>
          <a:xfrm>
            <a:off x="728594" y="1788350"/>
            <a:ext cx="8659246" cy="4175030"/>
            <a:chOff x="728594" y="1788350"/>
            <a:chExt cx="8659246" cy="417503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DDAA8E-1E3B-2E46-8D89-505FC6C03A15}"/>
                </a:ext>
              </a:extLst>
            </p:cNvPr>
            <p:cNvSpPr/>
            <p:nvPr/>
          </p:nvSpPr>
          <p:spPr>
            <a:xfrm>
              <a:off x="809874" y="1788350"/>
              <a:ext cx="857796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AC = 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– q + 3 + 10/q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6F3977B-651F-8C4B-B320-2C8F42985809}"/>
                </a:ext>
              </a:extLst>
            </p:cNvPr>
            <p:cNvSpPr/>
            <p:nvPr/>
          </p:nvSpPr>
          <p:spPr>
            <a:xfrm>
              <a:off x="809874" y="2771510"/>
              <a:ext cx="857796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AC’ = 2q – 1 - 10/(q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) = 0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758FB4-5A36-7943-8754-04C390F65BA2}"/>
                </a:ext>
              </a:extLst>
            </p:cNvPr>
            <p:cNvSpPr/>
            <p:nvPr/>
          </p:nvSpPr>
          <p:spPr>
            <a:xfrm>
              <a:off x="809874" y="3661060"/>
              <a:ext cx="857796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AC’ = 2q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3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– 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- 10 = 0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890936B-4EF9-9541-9E70-1762CCBDBBB5}"/>
                </a:ext>
              </a:extLst>
            </p:cNvPr>
            <p:cNvSpPr/>
            <p:nvPr/>
          </p:nvSpPr>
          <p:spPr>
            <a:xfrm>
              <a:off x="809874" y="4550610"/>
              <a:ext cx="857796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3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– q</a:t>
              </a:r>
              <a:r>
                <a:rPr lang="en-US" sz="2800" b="1" baseline="30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- 10 = 0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E22011-02AC-4448-9845-249A1BBEACCD}"/>
                </a:ext>
              </a:extLst>
            </p:cNvPr>
            <p:cNvSpPr/>
            <p:nvPr/>
          </p:nvSpPr>
          <p:spPr>
            <a:xfrm>
              <a:off x="728594" y="5440160"/>
              <a:ext cx="857796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2800" b="1" dirty="0">
                  <a:highlight>
                    <a:srgbClr val="FFFF00"/>
                  </a:highlight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Q</a:t>
              </a:r>
              <a:r>
                <a:rPr lang="en-US" sz="2800" b="1" baseline="-25000" dirty="0">
                  <a:highlight>
                    <a:srgbClr val="FFFF00"/>
                  </a:highlight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1</a:t>
              </a:r>
              <a:r>
                <a:rPr lang="en-US" sz="2800" b="1" dirty="0">
                  <a:highlight>
                    <a:srgbClr val="FFFF00"/>
                  </a:highlight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= 1.8,      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Q</a:t>
              </a:r>
              <a:r>
                <a:rPr lang="en-US" sz="2800" b="1" baseline="-25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2  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= -0.68,     Q</a:t>
              </a:r>
              <a:r>
                <a:rPr lang="en-US" sz="2800" b="1" baseline="-25000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3</a:t>
              </a:r>
              <a:r>
                <a:rPr lang="en-US" sz="2800" b="1" dirty="0"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rPr>
                <a:t> = complex Number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48067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C99A-9A1E-70FF-8F42-6B300E35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">
            <a:extLst>
              <a:ext uri="{FF2B5EF4-FFF2-40B4-BE49-F238E27FC236}">
                <a16:creationId xmlns:a16="http://schemas.microsoft.com/office/drawing/2014/main" id="{B6CDE80E-5E05-B9C6-F352-CAD3EF7B4C4F}"/>
              </a:ext>
            </a:extLst>
          </p:cNvPr>
          <p:cNvGrpSpPr/>
          <p:nvPr/>
        </p:nvGrpSpPr>
        <p:grpSpPr>
          <a:xfrm>
            <a:off x="1158807" y="2324813"/>
            <a:ext cx="11699949" cy="4887616"/>
            <a:chOff x="-1" y="-1"/>
            <a:chExt cx="8226526" cy="3436604"/>
          </a:xfrm>
        </p:grpSpPr>
        <p:sp>
          <p:nvSpPr>
            <p:cNvPr id="114" name="Oval">
              <a:extLst>
                <a:ext uri="{FF2B5EF4-FFF2-40B4-BE49-F238E27FC236}">
                  <a16:creationId xmlns:a16="http://schemas.microsoft.com/office/drawing/2014/main" id="{C90DAF97-CB9C-0610-05D0-C5F0749731C8}"/>
                </a:ext>
              </a:extLst>
            </p:cNvPr>
            <p:cNvSpPr/>
            <p:nvPr/>
          </p:nvSpPr>
          <p:spPr>
            <a:xfrm>
              <a:off x="1141400" y="1766575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5" name="Oval">
              <a:extLst>
                <a:ext uri="{FF2B5EF4-FFF2-40B4-BE49-F238E27FC236}">
                  <a16:creationId xmlns:a16="http://schemas.microsoft.com/office/drawing/2014/main" id="{18659AA7-F717-6A10-3053-29FA21B71CB8}"/>
                </a:ext>
              </a:extLst>
            </p:cNvPr>
            <p:cNvSpPr/>
            <p:nvPr/>
          </p:nvSpPr>
          <p:spPr>
            <a:xfrm>
              <a:off x="2289836" y="2772937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6" name="Oval">
              <a:extLst>
                <a:ext uri="{FF2B5EF4-FFF2-40B4-BE49-F238E27FC236}">
                  <a16:creationId xmlns:a16="http://schemas.microsoft.com/office/drawing/2014/main" id="{FD1A0694-F893-ED63-C7F3-EBC64C38510D}"/>
                </a:ext>
              </a:extLst>
            </p:cNvPr>
            <p:cNvSpPr/>
            <p:nvPr/>
          </p:nvSpPr>
          <p:spPr>
            <a:xfrm>
              <a:off x="3828594" y="3242060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7" name="Oval">
              <a:extLst>
                <a:ext uri="{FF2B5EF4-FFF2-40B4-BE49-F238E27FC236}">
                  <a16:creationId xmlns:a16="http://schemas.microsoft.com/office/drawing/2014/main" id="{7D043335-9467-ACBE-B747-F496F30CF29D}"/>
                </a:ext>
              </a:extLst>
            </p:cNvPr>
            <p:cNvSpPr/>
            <p:nvPr/>
          </p:nvSpPr>
          <p:spPr>
            <a:xfrm>
              <a:off x="5339256" y="2844058"/>
              <a:ext cx="179567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8" name="Oval">
              <a:extLst>
                <a:ext uri="{FF2B5EF4-FFF2-40B4-BE49-F238E27FC236}">
                  <a16:creationId xmlns:a16="http://schemas.microsoft.com/office/drawing/2014/main" id="{430A3905-2158-0B9A-C499-2F42632A484A}"/>
                </a:ext>
              </a:extLst>
            </p:cNvPr>
            <p:cNvSpPr/>
            <p:nvPr/>
          </p:nvSpPr>
          <p:spPr>
            <a:xfrm>
              <a:off x="6331246" y="2095251"/>
              <a:ext cx="179569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5120"/>
            </a:p>
          </p:txBody>
        </p:sp>
        <p:grpSp>
          <p:nvGrpSpPr>
            <p:cNvPr id="121" name="Group">
              <a:extLst>
                <a:ext uri="{FF2B5EF4-FFF2-40B4-BE49-F238E27FC236}">
                  <a16:creationId xmlns:a16="http://schemas.microsoft.com/office/drawing/2014/main" id="{FF7E9D7A-C69E-E617-FB01-9A2E6B36FD1F}"/>
                </a:ext>
              </a:extLst>
            </p:cNvPr>
            <p:cNvGrpSpPr/>
            <p:nvPr/>
          </p:nvGrpSpPr>
          <p:grpSpPr>
            <a:xfrm>
              <a:off x="-1" y="-1"/>
              <a:ext cx="8226526" cy="3436604"/>
              <a:chOff x="0" y="0"/>
              <a:chExt cx="8226524" cy="3436603"/>
            </a:xfrm>
          </p:grpSpPr>
          <p:sp>
            <p:nvSpPr>
              <p:cNvPr id="119" name="Connection Line">
                <a:extLst>
                  <a:ext uri="{FF2B5EF4-FFF2-40B4-BE49-F238E27FC236}">
                    <a16:creationId xmlns:a16="http://schemas.microsoft.com/office/drawing/2014/main" id="{EE8FF989-CE65-BAEC-E813-40FBF9B433F5}"/>
                  </a:ext>
                </a:extLst>
              </p:cNvPr>
              <p:cNvSpPr/>
              <p:nvPr/>
            </p:nvSpPr>
            <p:spPr>
              <a:xfrm>
                <a:off x="0" y="296176"/>
                <a:ext cx="8056000" cy="3140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493"/>
                    </a:moveTo>
                    <a:cubicBezTo>
                      <a:pt x="13891" y="21600"/>
                      <a:pt x="6691" y="21436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65021" tIns="65021" rIns="65021" bIns="65021" numCol="1" anchor="t">
                <a:noAutofit/>
              </a:bodyPr>
              <a:lstStyle/>
              <a:p>
                <a:endParaRPr sz="5120"/>
              </a:p>
            </p:txBody>
          </p:sp>
          <p:sp>
            <p:nvSpPr>
              <p:cNvPr id="120" name="LAC">
                <a:extLst>
                  <a:ext uri="{FF2B5EF4-FFF2-40B4-BE49-F238E27FC236}">
                    <a16:creationId xmlns:a16="http://schemas.microsoft.com/office/drawing/2014/main" id="{84ED511D-1A76-F5D7-AF6B-AD3818347EC7}"/>
                  </a:ext>
                </a:extLst>
              </p:cNvPr>
              <p:cNvSpPr txBox="1"/>
              <p:nvPr/>
            </p:nvSpPr>
            <p:spPr>
              <a:xfrm>
                <a:off x="7524428" y="0"/>
                <a:ext cx="702096" cy="4385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65021" tIns="65021" rIns="65021" bIns="65021" numCol="1" anchor="t">
                <a:spAutoFit/>
              </a:bodyPr>
              <a:lstStyle/>
              <a:p>
                <a:r>
                  <a:rPr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</p:grpSp>
      </p:grpSp>
      <p:sp>
        <p:nvSpPr>
          <p:cNvPr id="123" name="Line">
            <a:extLst>
              <a:ext uri="{FF2B5EF4-FFF2-40B4-BE49-F238E27FC236}">
                <a16:creationId xmlns:a16="http://schemas.microsoft.com/office/drawing/2014/main" id="{F06DE335-056B-7228-5F7C-F6BD203E26F9}"/>
              </a:ext>
            </a:extLst>
          </p:cNvPr>
          <p:cNvSpPr/>
          <p:nvPr/>
        </p:nvSpPr>
        <p:spPr>
          <a:xfrm flipV="1">
            <a:off x="746278" y="977602"/>
            <a:ext cx="3" cy="8653939"/>
          </a:xfrm>
          <a:prstGeom prst="line">
            <a:avLst/>
          </a:prstGeom>
          <a:ln w="6350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4" name="Line">
            <a:extLst>
              <a:ext uri="{FF2B5EF4-FFF2-40B4-BE49-F238E27FC236}">
                <a16:creationId xmlns:a16="http://schemas.microsoft.com/office/drawing/2014/main" id="{2AC1ED69-E906-22E2-B043-FF236E909A24}"/>
              </a:ext>
            </a:extLst>
          </p:cNvPr>
          <p:cNvSpPr/>
          <p:nvPr/>
        </p:nvSpPr>
        <p:spPr>
          <a:xfrm>
            <a:off x="39711" y="8809524"/>
            <a:ext cx="12877285" cy="3"/>
          </a:xfrm>
          <a:prstGeom prst="line">
            <a:avLst/>
          </a:prstGeom>
          <a:ln w="6350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5" name="Qty">
            <a:extLst>
              <a:ext uri="{FF2B5EF4-FFF2-40B4-BE49-F238E27FC236}">
                <a16:creationId xmlns:a16="http://schemas.microsoft.com/office/drawing/2014/main" id="{D335BF66-0C2B-7365-A79A-DBBE87A95657}"/>
              </a:ext>
            </a:extLst>
          </p:cNvPr>
          <p:cNvSpPr txBox="1"/>
          <p:nvPr/>
        </p:nvSpPr>
        <p:spPr>
          <a:xfrm>
            <a:off x="12088648" y="8957305"/>
            <a:ext cx="746865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26" name="LAC">
            <a:extLst>
              <a:ext uri="{FF2B5EF4-FFF2-40B4-BE49-F238E27FC236}">
                <a16:creationId xmlns:a16="http://schemas.microsoft.com/office/drawing/2014/main" id="{FA5212F4-40C9-6E1A-71D5-F16432B9DD2C}"/>
              </a:ext>
            </a:extLst>
          </p:cNvPr>
          <p:cNvSpPr txBox="1"/>
          <p:nvPr/>
        </p:nvSpPr>
        <p:spPr>
          <a:xfrm>
            <a:off x="-44668" y="2062726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127" name="SACs">
            <a:extLst>
              <a:ext uri="{FF2B5EF4-FFF2-40B4-BE49-F238E27FC236}">
                <a16:creationId xmlns:a16="http://schemas.microsoft.com/office/drawing/2014/main" id="{41D1B942-1C80-417E-D00F-271E5C62165E}"/>
              </a:ext>
            </a:extLst>
          </p:cNvPr>
          <p:cNvSpPr txBox="1"/>
          <p:nvPr/>
        </p:nvSpPr>
        <p:spPr>
          <a:xfrm>
            <a:off x="-73519" y="1583349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/>
              <a:t>SAC</a:t>
            </a:r>
            <a:r>
              <a:rPr sz="2133" baseline="-5998"/>
              <a:t>s</a:t>
            </a:r>
          </a:p>
        </p:txBody>
      </p:sp>
      <p:grpSp>
        <p:nvGrpSpPr>
          <p:cNvPr id="135" name="Group">
            <a:extLst>
              <a:ext uri="{FF2B5EF4-FFF2-40B4-BE49-F238E27FC236}">
                <a16:creationId xmlns:a16="http://schemas.microsoft.com/office/drawing/2014/main" id="{F9404F54-D8A7-689E-82F2-AF17239626F9}"/>
              </a:ext>
            </a:extLst>
          </p:cNvPr>
          <p:cNvGrpSpPr/>
          <p:nvPr/>
        </p:nvGrpSpPr>
        <p:grpSpPr>
          <a:xfrm>
            <a:off x="1978612" y="2541990"/>
            <a:ext cx="3540728" cy="3015637"/>
            <a:chOff x="0" y="-62212"/>
            <a:chExt cx="2489570" cy="2120368"/>
          </a:xfrm>
        </p:grpSpPr>
        <p:sp>
          <p:nvSpPr>
            <p:cNvPr id="132" name="Line">
              <a:extLst>
                <a:ext uri="{FF2B5EF4-FFF2-40B4-BE49-F238E27FC236}">
                  <a16:creationId xmlns:a16="http://schemas.microsoft.com/office/drawing/2014/main" id="{F658CBEB-CC62-C1E6-E823-C0A7E6F81B22}"/>
                </a:ext>
              </a:extLst>
            </p:cNvPr>
            <p:cNvSpPr/>
            <p:nvPr/>
          </p:nvSpPr>
          <p:spPr>
            <a:xfrm flipV="1">
              <a:off x="1028960" y="1758034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3" name="Connection Line">
              <a:extLst>
                <a:ext uri="{FF2B5EF4-FFF2-40B4-BE49-F238E27FC236}">
                  <a16:creationId xmlns:a16="http://schemas.microsoft.com/office/drawing/2014/main" id="{A330BE4E-9014-2A80-116C-476C4A994E29}"/>
                </a:ext>
              </a:extLst>
            </p:cNvPr>
            <p:cNvSpPr/>
            <p:nvPr/>
          </p:nvSpPr>
          <p:spPr>
            <a:xfrm>
              <a:off x="0" y="254704"/>
              <a:ext cx="2095016" cy="1679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38" y="21600"/>
                    <a:pt x="7238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4" name="SAC1">
              <a:extLst>
                <a:ext uri="{FF2B5EF4-FFF2-40B4-BE49-F238E27FC236}">
                  <a16:creationId xmlns:a16="http://schemas.microsoft.com/office/drawing/2014/main" id="{D5EE5DF3-B467-6482-83DB-CF1F58ACD41D}"/>
                </a:ext>
              </a:extLst>
            </p:cNvPr>
            <p:cNvSpPr txBox="1"/>
            <p:nvPr/>
          </p:nvSpPr>
          <p:spPr>
            <a:xfrm>
              <a:off x="1821289" y="-62212"/>
              <a:ext cx="668281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42" name="Group">
            <a:extLst>
              <a:ext uri="{FF2B5EF4-FFF2-40B4-BE49-F238E27FC236}">
                <a16:creationId xmlns:a16="http://schemas.microsoft.com/office/drawing/2014/main" id="{1DAEBB1C-A056-7AC3-D55B-CE44A1EBC269}"/>
              </a:ext>
            </a:extLst>
          </p:cNvPr>
          <p:cNvGrpSpPr/>
          <p:nvPr/>
        </p:nvGrpSpPr>
        <p:grpSpPr>
          <a:xfrm>
            <a:off x="3255549" y="3744605"/>
            <a:ext cx="3514382" cy="2981538"/>
            <a:chOff x="0" y="-214479"/>
            <a:chExt cx="2471048" cy="2096390"/>
          </a:xfrm>
        </p:grpSpPr>
        <p:sp>
          <p:nvSpPr>
            <p:cNvPr id="139" name="Connection Line">
              <a:extLst>
                <a:ext uri="{FF2B5EF4-FFF2-40B4-BE49-F238E27FC236}">
                  <a16:creationId xmlns:a16="http://schemas.microsoft.com/office/drawing/2014/main" id="{152E64B7-F91A-DE1D-15BA-18D629440DD5}"/>
                </a:ext>
              </a:extLst>
            </p:cNvPr>
            <p:cNvSpPr/>
            <p:nvPr/>
          </p:nvSpPr>
          <p:spPr>
            <a:xfrm>
              <a:off x="0" y="104700"/>
              <a:ext cx="2340877" cy="1683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458"/>
                  </a:moveTo>
                  <a:cubicBezTo>
                    <a:pt x="14460" y="21600"/>
                    <a:pt x="7260" y="2144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0" name="Line">
              <a:extLst>
                <a:ext uri="{FF2B5EF4-FFF2-40B4-BE49-F238E27FC236}">
                  <a16:creationId xmlns:a16="http://schemas.microsoft.com/office/drawing/2014/main" id="{30A1D5C2-2FD4-A2A4-DC21-FCF12074DECD}"/>
                </a:ext>
              </a:extLst>
            </p:cNvPr>
            <p:cNvSpPr/>
            <p:nvPr/>
          </p:nvSpPr>
          <p:spPr>
            <a:xfrm flipV="1">
              <a:off x="1170442" y="1581789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1" name="SAC2">
              <a:extLst>
                <a:ext uri="{FF2B5EF4-FFF2-40B4-BE49-F238E27FC236}">
                  <a16:creationId xmlns:a16="http://schemas.microsoft.com/office/drawing/2014/main" id="{E305C236-5B0A-3C42-A03C-544933B53FC0}"/>
                </a:ext>
              </a:extLst>
            </p:cNvPr>
            <p:cNvSpPr txBox="1"/>
            <p:nvPr/>
          </p:nvSpPr>
          <p:spPr>
            <a:xfrm>
              <a:off x="1802766" y="-214479"/>
              <a:ext cx="668282" cy="3952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50" name="Group">
            <a:extLst>
              <a:ext uri="{FF2B5EF4-FFF2-40B4-BE49-F238E27FC236}">
                <a16:creationId xmlns:a16="http://schemas.microsoft.com/office/drawing/2014/main" id="{E7CB4454-7BAD-A284-8166-AE80E9873218}"/>
              </a:ext>
            </a:extLst>
          </p:cNvPr>
          <p:cNvGrpSpPr/>
          <p:nvPr/>
        </p:nvGrpSpPr>
        <p:grpSpPr>
          <a:xfrm>
            <a:off x="5241316" y="4229603"/>
            <a:ext cx="3232464" cy="3179409"/>
            <a:chOff x="-1" y="-152100"/>
            <a:chExt cx="2272823" cy="2235519"/>
          </a:xfrm>
        </p:grpSpPr>
        <p:sp>
          <p:nvSpPr>
            <p:cNvPr id="147" name="Connection Line">
              <a:extLst>
                <a:ext uri="{FF2B5EF4-FFF2-40B4-BE49-F238E27FC236}">
                  <a16:creationId xmlns:a16="http://schemas.microsoft.com/office/drawing/2014/main" id="{7B09A968-DE61-0B60-C29F-66C7366F8B1D}"/>
                </a:ext>
              </a:extLst>
            </p:cNvPr>
            <p:cNvSpPr/>
            <p:nvPr/>
          </p:nvSpPr>
          <p:spPr>
            <a:xfrm>
              <a:off x="-1" y="194866"/>
              <a:ext cx="2053428" cy="1679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20" y="21600"/>
                    <a:pt x="7220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3">
                  <a:satOff val="-6373"/>
                  <a:lumOff val="-10823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8" name="Line">
              <a:extLst>
                <a:ext uri="{FF2B5EF4-FFF2-40B4-BE49-F238E27FC236}">
                  <a16:creationId xmlns:a16="http://schemas.microsoft.com/office/drawing/2014/main" id="{F6125A8E-1585-536A-DDCF-405EF79594D9}"/>
                </a:ext>
              </a:extLst>
            </p:cNvPr>
            <p:cNvSpPr/>
            <p:nvPr/>
          </p:nvSpPr>
          <p:spPr>
            <a:xfrm flipH="1" flipV="1">
              <a:off x="1064361" y="1697078"/>
              <a:ext cx="3" cy="386341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9" name="SAC3">
              <a:extLst>
                <a:ext uri="{FF2B5EF4-FFF2-40B4-BE49-F238E27FC236}">
                  <a16:creationId xmlns:a16="http://schemas.microsoft.com/office/drawing/2014/main" id="{AFA01E49-FC1D-F736-F520-A3D4BE616257}"/>
                </a:ext>
              </a:extLst>
            </p:cNvPr>
            <p:cNvSpPr txBox="1"/>
            <p:nvPr/>
          </p:nvSpPr>
          <p:spPr>
            <a:xfrm>
              <a:off x="1604541" y="-152100"/>
              <a:ext cx="668281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58" name="Group">
            <a:extLst>
              <a:ext uri="{FF2B5EF4-FFF2-40B4-BE49-F238E27FC236}">
                <a16:creationId xmlns:a16="http://schemas.microsoft.com/office/drawing/2014/main" id="{FBFB226B-D76A-6FC9-0873-299605577C86}"/>
              </a:ext>
            </a:extLst>
          </p:cNvPr>
          <p:cNvGrpSpPr/>
          <p:nvPr/>
        </p:nvGrpSpPr>
        <p:grpSpPr>
          <a:xfrm>
            <a:off x="6793215" y="3801755"/>
            <a:ext cx="3592285" cy="3010438"/>
            <a:chOff x="-1" y="-100024"/>
            <a:chExt cx="2525823" cy="2116711"/>
          </a:xfrm>
        </p:grpSpPr>
        <p:sp>
          <p:nvSpPr>
            <p:cNvPr id="155" name="Connection Line">
              <a:extLst>
                <a:ext uri="{FF2B5EF4-FFF2-40B4-BE49-F238E27FC236}">
                  <a16:creationId xmlns:a16="http://schemas.microsoft.com/office/drawing/2014/main" id="{6D57D62D-2FAD-7A13-441A-E12006EAE853}"/>
                </a:ext>
              </a:extLst>
            </p:cNvPr>
            <p:cNvSpPr/>
            <p:nvPr/>
          </p:nvSpPr>
          <p:spPr>
            <a:xfrm>
              <a:off x="-1" y="240649"/>
              <a:ext cx="2306983" cy="1677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40"/>
                  </a:moveTo>
                  <a:cubicBezTo>
                    <a:pt x="14559" y="21600"/>
                    <a:pt x="7359" y="2148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4">
                  <a:satOff val="-1335"/>
                  <a:lumOff val="-10274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6" name="Line">
              <a:extLst>
                <a:ext uri="{FF2B5EF4-FFF2-40B4-BE49-F238E27FC236}">
                  <a16:creationId xmlns:a16="http://schemas.microsoft.com/office/drawing/2014/main" id="{FDEAF3A2-829C-FE30-1F74-BAC4AFF026CE}"/>
                </a:ext>
              </a:extLst>
            </p:cNvPr>
            <p:cNvSpPr/>
            <p:nvPr/>
          </p:nvSpPr>
          <p:spPr>
            <a:xfrm flipV="1">
              <a:off x="1166254" y="1716565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7" name="SAC4">
              <a:extLst>
                <a:ext uri="{FF2B5EF4-FFF2-40B4-BE49-F238E27FC236}">
                  <a16:creationId xmlns:a16="http://schemas.microsoft.com/office/drawing/2014/main" id="{E80C065B-BAC7-1AA7-35D2-44F169924D04}"/>
                </a:ext>
              </a:extLst>
            </p:cNvPr>
            <p:cNvSpPr txBox="1"/>
            <p:nvPr/>
          </p:nvSpPr>
          <p:spPr>
            <a:xfrm>
              <a:off x="1857540" y="-100024"/>
              <a:ext cx="668282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66" name="Group">
            <a:extLst>
              <a:ext uri="{FF2B5EF4-FFF2-40B4-BE49-F238E27FC236}">
                <a16:creationId xmlns:a16="http://schemas.microsoft.com/office/drawing/2014/main" id="{989985C0-9C06-7341-3C9E-78E3823F2E9B}"/>
              </a:ext>
            </a:extLst>
          </p:cNvPr>
          <p:cNvGrpSpPr/>
          <p:nvPr/>
        </p:nvGrpSpPr>
        <p:grpSpPr>
          <a:xfrm>
            <a:off x="8067305" y="2934052"/>
            <a:ext cx="3530024" cy="3026047"/>
            <a:chOff x="0" y="-74714"/>
            <a:chExt cx="2482046" cy="2127686"/>
          </a:xfrm>
        </p:grpSpPr>
        <p:sp>
          <p:nvSpPr>
            <p:cNvPr id="163" name="Connection Line">
              <a:extLst>
                <a:ext uri="{FF2B5EF4-FFF2-40B4-BE49-F238E27FC236}">
                  <a16:creationId xmlns:a16="http://schemas.microsoft.com/office/drawing/2014/main" id="{50A3751D-6464-74B4-2558-29E7B13D7E5D}"/>
                </a:ext>
              </a:extLst>
            </p:cNvPr>
            <p:cNvSpPr/>
            <p:nvPr/>
          </p:nvSpPr>
          <p:spPr>
            <a:xfrm>
              <a:off x="0" y="225147"/>
              <a:ext cx="2325204" cy="1691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21600" y="601"/>
                  </a:moveTo>
                  <a:cubicBezTo>
                    <a:pt x="14321" y="21600"/>
                    <a:pt x="7121" y="21400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6">
                  <a:satOff val="-35873"/>
                  <a:lumOff val="-12431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 dirty="0"/>
            </a:p>
          </p:txBody>
        </p:sp>
        <p:sp>
          <p:nvSpPr>
            <p:cNvPr id="164" name="Line">
              <a:extLst>
                <a:ext uri="{FF2B5EF4-FFF2-40B4-BE49-F238E27FC236}">
                  <a16:creationId xmlns:a16="http://schemas.microsoft.com/office/drawing/2014/main" id="{9BE050D0-8E44-E493-08AC-4E0CE3008BBA}"/>
                </a:ext>
              </a:extLst>
            </p:cNvPr>
            <p:cNvSpPr/>
            <p:nvPr/>
          </p:nvSpPr>
          <p:spPr>
            <a:xfrm flipV="1">
              <a:off x="1162520" y="1752850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65" name="SAC5">
              <a:extLst>
                <a:ext uri="{FF2B5EF4-FFF2-40B4-BE49-F238E27FC236}">
                  <a16:creationId xmlns:a16="http://schemas.microsoft.com/office/drawing/2014/main" id="{DA4A8213-53D8-476C-68B8-58F8439B5659}"/>
                </a:ext>
              </a:extLst>
            </p:cNvPr>
            <p:cNvSpPr txBox="1"/>
            <p:nvPr/>
          </p:nvSpPr>
          <p:spPr>
            <a:xfrm>
              <a:off x="1813764" y="-74714"/>
              <a:ext cx="668282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60" name="Qty">
            <a:extLst>
              <a:ext uri="{FF2B5EF4-FFF2-40B4-BE49-F238E27FC236}">
                <a16:creationId xmlns:a16="http://schemas.microsoft.com/office/drawing/2014/main" id="{DB594D55-E66E-8B7D-DDF0-C913EFB78516}"/>
              </a:ext>
            </a:extLst>
          </p:cNvPr>
          <p:cNvSpPr txBox="1"/>
          <p:nvPr/>
        </p:nvSpPr>
        <p:spPr>
          <a:xfrm>
            <a:off x="1243914" y="1066134"/>
            <a:ext cx="11673082" cy="5621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 is the locus of the operational points of every adopted technology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34428-102A-E6A3-9A53-71835F50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27</a:t>
            </a:fld>
            <a:endParaRPr lang="en-US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E49E203-57C4-B7D9-9483-4BD720BE05DC}"/>
              </a:ext>
            </a:extLst>
          </p:cNvPr>
          <p:cNvSpPr txBox="1">
            <a:spLocks/>
          </p:cNvSpPr>
          <p:nvPr/>
        </p:nvSpPr>
        <p:spPr>
          <a:xfrm>
            <a:off x="951312" y="38618"/>
            <a:ext cx="11054082" cy="590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Run Cost Curve</a:t>
            </a:r>
          </a:p>
        </p:txBody>
      </p:sp>
      <p:sp>
        <p:nvSpPr>
          <p:cNvPr id="3" name="Qty">
            <a:extLst>
              <a:ext uri="{FF2B5EF4-FFF2-40B4-BE49-F238E27FC236}">
                <a16:creationId xmlns:a16="http://schemas.microsoft.com/office/drawing/2014/main" id="{BFA24CC2-4B2B-8F8D-50ED-F0151A78F4E0}"/>
              </a:ext>
            </a:extLst>
          </p:cNvPr>
          <p:cNvSpPr txBox="1"/>
          <p:nvPr/>
        </p:nvSpPr>
        <p:spPr>
          <a:xfrm>
            <a:off x="4958195" y="7978498"/>
            <a:ext cx="8189518" cy="562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 is also called the ‘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Envelope Curve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1961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 advAuto="0"/>
      <p:bldP spid="60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C0E1-1B53-DC45-D992-6571716A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">
            <a:extLst>
              <a:ext uri="{FF2B5EF4-FFF2-40B4-BE49-F238E27FC236}">
                <a16:creationId xmlns:a16="http://schemas.microsoft.com/office/drawing/2014/main" id="{6388B71F-7D69-CFFD-40B0-2E499AD899EE}"/>
              </a:ext>
            </a:extLst>
          </p:cNvPr>
          <p:cNvGrpSpPr/>
          <p:nvPr/>
        </p:nvGrpSpPr>
        <p:grpSpPr>
          <a:xfrm>
            <a:off x="1227522" y="501279"/>
            <a:ext cx="11625409" cy="4887616"/>
            <a:chOff x="-1" y="-1"/>
            <a:chExt cx="8174115" cy="3436604"/>
          </a:xfrm>
        </p:grpSpPr>
        <p:sp>
          <p:nvSpPr>
            <p:cNvPr id="114" name="Oval">
              <a:extLst>
                <a:ext uri="{FF2B5EF4-FFF2-40B4-BE49-F238E27FC236}">
                  <a16:creationId xmlns:a16="http://schemas.microsoft.com/office/drawing/2014/main" id="{EF8E86D8-2946-1FCE-8024-7F75D6F0FCB1}"/>
                </a:ext>
              </a:extLst>
            </p:cNvPr>
            <p:cNvSpPr/>
            <p:nvPr/>
          </p:nvSpPr>
          <p:spPr>
            <a:xfrm>
              <a:off x="1141400" y="1766575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5" name="Oval">
              <a:extLst>
                <a:ext uri="{FF2B5EF4-FFF2-40B4-BE49-F238E27FC236}">
                  <a16:creationId xmlns:a16="http://schemas.microsoft.com/office/drawing/2014/main" id="{EA11B9D3-4213-2309-7D82-08A4605DD4D4}"/>
                </a:ext>
              </a:extLst>
            </p:cNvPr>
            <p:cNvSpPr/>
            <p:nvPr/>
          </p:nvSpPr>
          <p:spPr>
            <a:xfrm>
              <a:off x="2289836" y="2772937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6" name="Oval">
              <a:extLst>
                <a:ext uri="{FF2B5EF4-FFF2-40B4-BE49-F238E27FC236}">
                  <a16:creationId xmlns:a16="http://schemas.microsoft.com/office/drawing/2014/main" id="{B618E47C-9F55-5E7E-0114-5A34A68EDD2A}"/>
                </a:ext>
              </a:extLst>
            </p:cNvPr>
            <p:cNvSpPr/>
            <p:nvPr/>
          </p:nvSpPr>
          <p:spPr>
            <a:xfrm>
              <a:off x="3828594" y="3242060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7" name="Oval">
              <a:extLst>
                <a:ext uri="{FF2B5EF4-FFF2-40B4-BE49-F238E27FC236}">
                  <a16:creationId xmlns:a16="http://schemas.microsoft.com/office/drawing/2014/main" id="{923F407B-F0D3-8186-CF8C-0A4D51CF8686}"/>
                </a:ext>
              </a:extLst>
            </p:cNvPr>
            <p:cNvSpPr/>
            <p:nvPr/>
          </p:nvSpPr>
          <p:spPr>
            <a:xfrm>
              <a:off x="5339256" y="2844058"/>
              <a:ext cx="179567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8" name="Oval">
              <a:extLst>
                <a:ext uri="{FF2B5EF4-FFF2-40B4-BE49-F238E27FC236}">
                  <a16:creationId xmlns:a16="http://schemas.microsoft.com/office/drawing/2014/main" id="{C4F492AF-59B4-73C6-93DF-32F698B1EA0A}"/>
                </a:ext>
              </a:extLst>
            </p:cNvPr>
            <p:cNvSpPr/>
            <p:nvPr/>
          </p:nvSpPr>
          <p:spPr>
            <a:xfrm>
              <a:off x="6331246" y="2095251"/>
              <a:ext cx="179569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5120"/>
            </a:p>
          </p:txBody>
        </p:sp>
        <p:grpSp>
          <p:nvGrpSpPr>
            <p:cNvPr id="121" name="Group">
              <a:extLst>
                <a:ext uri="{FF2B5EF4-FFF2-40B4-BE49-F238E27FC236}">
                  <a16:creationId xmlns:a16="http://schemas.microsoft.com/office/drawing/2014/main" id="{C8169858-FFD3-0019-B8AC-4F7C95BE3695}"/>
                </a:ext>
              </a:extLst>
            </p:cNvPr>
            <p:cNvGrpSpPr/>
            <p:nvPr/>
          </p:nvGrpSpPr>
          <p:grpSpPr>
            <a:xfrm>
              <a:off x="-1" y="-1"/>
              <a:ext cx="8174115" cy="3436604"/>
              <a:chOff x="0" y="0"/>
              <a:chExt cx="8174113" cy="3436603"/>
            </a:xfrm>
          </p:grpSpPr>
          <p:sp>
            <p:nvSpPr>
              <p:cNvPr id="119" name="Connection Line">
                <a:extLst>
                  <a:ext uri="{FF2B5EF4-FFF2-40B4-BE49-F238E27FC236}">
                    <a16:creationId xmlns:a16="http://schemas.microsoft.com/office/drawing/2014/main" id="{D2E5A87D-9CE0-DBD1-8CC8-111349863878}"/>
                  </a:ext>
                </a:extLst>
              </p:cNvPr>
              <p:cNvSpPr/>
              <p:nvPr/>
            </p:nvSpPr>
            <p:spPr>
              <a:xfrm>
                <a:off x="0" y="296176"/>
                <a:ext cx="8056000" cy="3140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493"/>
                    </a:moveTo>
                    <a:cubicBezTo>
                      <a:pt x="13891" y="21600"/>
                      <a:pt x="6691" y="21436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65021" tIns="65021" rIns="65021" bIns="65021" numCol="1" anchor="t">
                <a:noAutofit/>
              </a:bodyPr>
              <a:lstStyle/>
              <a:p>
                <a:endParaRPr sz="5120"/>
              </a:p>
            </p:txBody>
          </p:sp>
          <p:sp>
            <p:nvSpPr>
              <p:cNvPr id="120" name="LAC">
                <a:extLst>
                  <a:ext uri="{FF2B5EF4-FFF2-40B4-BE49-F238E27FC236}">
                    <a16:creationId xmlns:a16="http://schemas.microsoft.com/office/drawing/2014/main" id="{5D5CA53F-0858-C7DC-7781-B26343B94CCD}"/>
                  </a:ext>
                </a:extLst>
              </p:cNvPr>
              <p:cNvSpPr txBox="1"/>
              <p:nvPr/>
            </p:nvSpPr>
            <p:spPr>
              <a:xfrm>
                <a:off x="7576839" y="0"/>
                <a:ext cx="597274" cy="3952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65021" tIns="65021" rIns="65021" bIns="65021" numCol="1" anchor="t">
                <a:spAutoFit/>
              </a:bodyPr>
              <a:lstStyle/>
              <a:p>
                <a:r>
                  <a:rPr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</p:grpSp>
      </p:grpSp>
      <p:sp>
        <p:nvSpPr>
          <p:cNvPr id="123" name="Line">
            <a:extLst>
              <a:ext uri="{FF2B5EF4-FFF2-40B4-BE49-F238E27FC236}">
                <a16:creationId xmlns:a16="http://schemas.microsoft.com/office/drawing/2014/main" id="{A3EA4CFF-0230-F848-C6DC-CDDB44C124A1}"/>
              </a:ext>
            </a:extLst>
          </p:cNvPr>
          <p:cNvSpPr/>
          <p:nvPr/>
        </p:nvSpPr>
        <p:spPr>
          <a:xfrm flipV="1">
            <a:off x="770325" y="30007"/>
            <a:ext cx="3" cy="8653939"/>
          </a:xfrm>
          <a:prstGeom prst="line">
            <a:avLst/>
          </a:prstGeom>
          <a:ln w="6350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4" name="Line">
            <a:extLst>
              <a:ext uri="{FF2B5EF4-FFF2-40B4-BE49-F238E27FC236}">
                <a16:creationId xmlns:a16="http://schemas.microsoft.com/office/drawing/2014/main" id="{C54FCE09-447F-5BF7-DF3C-90B06ECDABB0}"/>
              </a:ext>
            </a:extLst>
          </p:cNvPr>
          <p:cNvSpPr/>
          <p:nvPr/>
        </p:nvSpPr>
        <p:spPr>
          <a:xfrm>
            <a:off x="63758" y="7861929"/>
            <a:ext cx="12877285" cy="3"/>
          </a:xfrm>
          <a:prstGeom prst="line">
            <a:avLst/>
          </a:prstGeom>
          <a:ln w="6350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5" name="Qty">
            <a:extLst>
              <a:ext uri="{FF2B5EF4-FFF2-40B4-BE49-F238E27FC236}">
                <a16:creationId xmlns:a16="http://schemas.microsoft.com/office/drawing/2014/main" id="{C1DAE225-8B02-97BD-ACEA-F701AC396409}"/>
              </a:ext>
            </a:extLst>
          </p:cNvPr>
          <p:cNvSpPr txBox="1"/>
          <p:nvPr/>
        </p:nvSpPr>
        <p:spPr>
          <a:xfrm>
            <a:off x="12112695" y="8009710"/>
            <a:ext cx="746865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26" name="LAC">
            <a:extLst>
              <a:ext uri="{FF2B5EF4-FFF2-40B4-BE49-F238E27FC236}">
                <a16:creationId xmlns:a16="http://schemas.microsoft.com/office/drawing/2014/main" id="{BB88F74A-7C8A-C227-399C-008FEDB794B4}"/>
              </a:ext>
            </a:extLst>
          </p:cNvPr>
          <p:cNvSpPr txBox="1"/>
          <p:nvPr/>
        </p:nvSpPr>
        <p:spPr>
          <a:xfrm>
            <a:off x="24047" y="239192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127" name="SACs">
            <a:extLst>
              <a:ext uri="{FF2B5EF4-FFF2-40B4-BE49-F238E27FC236}">
                <a16:creationId xmlns:a16="http://schemas.microsoft.com/office/drawing/2014/main" id="{FB74EA3A-8DC7-512B-3969-5CC83F2343C7}"/>
              </a:ext>
            </a:extLst>
          </p:cNvPr>
          <p:cNvSpPr txBox="1"/>
          <p:nvPr/>
        </p:nvSpPr>
        <p:spPr>
          <a:xfrm>
            <a:off x="-28851" y="707410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/>
              <a:t>SAC</a:t>
            </a:r>
            <a:r>
              <a:rPr sz="2133" baseline="-5998"/>
              <a:t>s</a:t>
            </a:r>
          </a:p>
        </p:txBody>
      </p:sp>
      <p:sp>
        <p:nvSpPr>
          <p:cNvPr id="128" name="A">
            <a:extLst>
              <a:ext uri="{FF2B5EF4-FFF2-40B4-BE49-F238E27FC236}">
                <a16:creationId xmlns:a16="http://schemas.microsoft.com/office/drawing/2014/main" id="{DC099EBE-61FB-0609-3F45-ECF505F8A0F3}"/>
              </a:ext>
            </a:extLst>
          </p:cNvPr>
          <p:cNvSpPr txBox="1"/>
          <p:nvPr/>
        </p:nvSpPr>
        <p:spPr>
          <a:xfrm>
            <a:off x="3655768" y="2871760"/>
            <a:ext cx="427867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b="1"/>
            </a:lvl1pPr>
          </a:lstStyle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131" name="Group">
            <a:extLst>
              <a:ext uri="{FF2B5EF4-FFF2-40B4-BE49-F238E27FC236}">
                <a16:creationId xmlns:a16="http://schemas.microsoft.com/office/drawing/2014/main" id="{6FFBFBB9-96EA-A746-08C4-33871AF76FA5}"/>
              </a:ext>
            </a:extLst>
          </p:cNvPr>
          <p:cNvGrpSpPr/>
          <p:nvPr/>
        </p:nvGrpSpPr>
        <p:grpSpPr>
          <a:xfrm>
            <a:off x="3489729" y="3558410"/>
            <a:ext cx="586565" cy="4912865"/>
            <a:chOff x="-28459" y="0"/>
            <a:chExt cx="412426" cy="3454357"/>
          </a:xfrm>
        </p:grpSpPr>
        <p:sp>
          <p:nvSpPr>
            <p:cNvPr id="129" name="Line">
              <a:extLst>
                <a:ext uri="{FF2B5EF4-FFF2-40B4-BE49-F238E27FC236}">
                  <a16:creationId xmlns:a16="http://schemas.microsoft.com/office/drawing/2014/main" id="{6039EE29-FDCE-3601-0535-F5AF7A7FF867}"/>
                </a:ext>
              </a:extLst>
            </p:cNvPr>
            <p:cNvSpPr/>
            <p:nvPr/>
          </p:nvSpPr>
          <p:spPr>
            <a:xfrm flipV="1">
              <a:off x="169272" y="0"/>
              <a:ext cx="2" cy="3021616"/>
            </a:xfrm>
            <a:prstGeom prst="line">
              <a:avLst/>
            </a:prstGeom>
            <a:noFill/>
            <a:ln w="38100" cap="flat">
              <a:solidFill>
                <a:srgbClr val="FF2600"/>
              </a:solidFill>
              <a:custDash>
                <a:ds d="200000" sp="200000"/>
              </a:custDash>
              <a:miter lim="400000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0" name="Q1">
              <a:extLst>
                <a:ext uri="{FF2B5EF4-FFF2-40B4-BE49-F238E27FC236}">
                  <a16:creationId xmlns:a16="http://schemas.microsoft.com/office/drawing/2014/main" id="{1BF3C7A3-6701-7E98-095D-FC605DCBC34A}"/>
                </a:ext>
              </a:extLst>
            </p:cNvPr>
            <p:cNvSpPr txBox="1"/>
            <p:nvPr/>
          </p:nvSpPr>
          <p:spPr>
            <a:xfrm>
              <a:off x="-28459" y="3015780"/>
              <a:ext cx="412426" cy="438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b="1"/>
              </a:pPr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35" name="Group">
            <a:extLst>
              <a:ext uri="{FF2B5EF4-FFF2-40B4-BE49-F238E27FC236}">
                <a16:creationId xmlns:a16="http://schemas.microsoft.com/office/drawing/2014/main" id="{C7EED1B2-9F85-0452-36A8-1E9F3BB35B7D}"/>
              </a:ext>
            </a:extLst>
          </p:cNvPr>
          <p:cNvGrpSpPr/>
          <p:nvPr/>
        </p:nvGrpSpPr>
        <p:grpSpPr>
          <a:xfrm>
            <a:off x="2047327" y="718456"/>
            <a:ext cx="3540728" cy="3015637"/>
            <a:chOff x="0" y="-62212"/>
            <a:chExt cx="2489570" cy="2120368"/>
          </a:xfrm>
        </p:grpSpPr>
        <p:sp>
          <p:nvSpPr>
            <p:cNvPr id="132" name="Line">
              <a:extLst>
                <a:ext uri="{FF2B5EF4-FFF2-40B4-BE49-F238E27FC236}">
                  <a16:creationId xmlns:a16="http://schemas.microsoft.com/office/drawing/2014/main" id="{E10E193E-7F76-07F7-0B31-34AA0C97567C}"/>
                </a:ext>
              </a:extLst>
            </p:cNvPr>
            <p:cNvSpPr/>
            <p:nvPr/>
          </p:nvSpPr>
          <p:spPr>
            <a:xfrm flipV="1">
              <a:off x="1028960" y="1758034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3" name="Connection Line">
              <a:extLst>
                <a:ext uri="{FF2B5EF4-FFF2-40B4-BE49-F238E27FC236}">
                  <a16:creationId xmlns:a16="http://schemas.microsoft.com/office/drawing/2014/main" id="{A7BBEC3B-B1E9-3BA2-57BA-0EA8FC533BE1}"/>
                </a:ext>
              </a:extLst>
            </p:cNvPr>
            <p:cNvSpPr/>
            <p:nvPr/>
          </p:nvSpPr>
          <p:spPr>
            <a:xfrm>
              <a:off x="0" y="254704"/>
              <a:ext cx="2095016" cy="1679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38" y="21600"/>
                    <a:pt x="7238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4" name="SAC1">
              <a:extLst>
                <a:ext uri="{FF2B5EF4-FFF2-40B4-BE49-F238E27FC236}">
                  <a16:creationId xmlns:a16="http://schemas.microsoft.com/office/drawing/2014/main" id="{89883489-F76A-8E0A-5A5E-954FE72539EC}"/>
                </a:ext>
              </a:extLst>
            </p:cNvPr>
            <p:cNvSpPr txBox="1"/>
            <p:nvPr/>
          </p:nvSpPr>
          <p:spPr>
            <a:xfrm>
              <a:off x="1821289" y="-62212"/>
              <a:ext cx="668281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42" name="Group">
            <a:extLst>
              <a:ext uri="{FF2B5EF4-FFF2-40B4-BE49-F238E27FC236}">
                <a16:creationId xmlns:a16="http://schemas.microsoft.com/office/drawing/2014/main" id="{AC713C84-D251-A008-2E3F-5ED57A83ACB4}"/>
              </a:ext>
            </a:extLst>
          </p:cNvPr>
          <p:cNvGrpSpPr/>
          <p:nvPr/>
        </p:nvGrpSpPr>
        <p:grpSpPr>
          <a:xfrm>
            <a:off x="3324264" y="1921071"/>
            <a:ext cx="3514382" cy="2981538"/>
            <a:chOff x="0" y="-214479"/>
            <a:chExt cx="2471048" cy="2096390"/>
          </a:xfrm>
        </p:grpSpPr>
        <p:sp>
          <p:nvSpPr>
            <p:cNvPr id="139" name="Connection Line">
              <a:extLst>
                <a:ext uri="{FF2B5EF4-FFF2-40B4-BE49-F238E27FC236}">
                  <a16:creationId xmlns:a16="http://schemas.microsoft.com/office/drawing/2014/main" id="{EFA81D3C-B964-B435-F3E0-7DA2FF968FB2}"/>
                </a:ext>
              </a:extLst>
            </p:cNvPr>
            <p:cNvSpPr/>
            <p:nvPr/>
          </p:nvSpPr>
          <p:spPr>
            <a:xfrm>
              <a:off x="0" y="104700"/>
              <a:ext cx="2340877" cy="1683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458"/>
                  </a:moveTo>
                  <a:cubicBezTo>
                    <a:pt x="14460" y="21600"/>
                    <a:pt x="7260" y="2144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0" name="Line">
              <a:extLst>
                <a:ext uri="{FF2B5EF4-FFF2-40B4-BE49-F238E27FC236}">
                  <a16:creationId xmlns:a16="http://schemas.microsoft.com/office/drawing/2014/main" id="{F75A244E-5AF8-E607-541F-498A6A89642C}"/>
                </a:ext>
              </a:extLst>
            </p:cNvPr>
            <p:cNvSpPr/>
            <p:nvPr/>
          </p:nvSpPr>
          <p:spPr>
            <a:xfrm flipV="1">
              <a:off x="1170442" y="1581789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1" name="SAC2">
              <a:extLst>
                <a:ext uri="{FF2B5EF4-FFF2-40B4-BE49-F238E27FC236}">
                  <a16:creationId xmlns:a16="http://schemas.microsoft.com/office/drawing/2014/main" id="{632491E4-2212-0550-54BB-B346DD108DC3}"/>
                </a:ext>
              </a:extLst>
            </p:cNvPr>
            <p:cNvSpPr txBox="1"/>
            <p:nvPr/>
          </p:nvSpPr>
          <p:spPr>
            <a:xfrm>
              <a:off x="1802766" y="-214479"/>
              <a:ext cx="668282" cy="3952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50" name="Group">
            <a:extLst>
              <a:ext uri="{FF2B5EF4-FFF2-40B4-BE49-F238E27FC236}">
                <a16:creationId xmlns:a16="http://schemas.microsoft.com/office/drawing/2014/main" id="{CD110C3E-374F-DDB5-3BB2-F1415847C8C5}"/>
              </a:ext>
            </a:extLst>
          </p:cNvPr>
          <p:cNvGrpSpPr/>
          <p:nvPr/>
        </p:nvGrpSpPr>
        <p:grpSpPr>
          <a:xfrm>
            <a:off x="5310031" y="2425119"/>
            <a:ext cx="3232464" cy="2882325"/>
            <a:chOff x="-1" y="-152100"/>
            <a:chExt cx="2272823" cy="2026633"/>
          </a:xfrm>
        </p:grpSpPr>
        <p:sp>
          <p:nvSpPr>
            <p:cNvPr id="147" name="Connection Line">
              <a:extLst>
                <a:ext uri="{FF2B5EF4-FFF2-40B4-BE49-F238E27FC236}">
                  <a16:creationId xmlns:a16="http://schemas.microsoft.com/office/drawing/2014/main" id="{2F46CFD4-34D7-D986-6AB8-7F10F6FE8D2F}"/>
                </a:ext>
              </a:extLst>
            </p:cNvPr>
            <p:cNvSpPr/>
            <p:nvPr/>
          </p:nvSpPr>
          <p:spPr>
            <a:xfrm>
              <a:off x="-1" y="194866"/>
              <a:ext cx="2053428" cy="1679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20" y="21600"/>
                    <a:pt x="7220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3">
                  <a:satOff val="-6373"/>
                  <a:lumOff val="-10823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9" name="SAC3">
              <a:extLst>
                <a:ext uri="{FF2B5EF4-FFF2-40B4-BE49-F238E27FC236}">
                  <a16:creationId xmlns:a16="http://schemas.microsoft.com/office/drawing/2014/main" id="{4715E1D7-4FC7-CA80-A2FA-9BD66D5EE2D3}"/>
                </a:ext>
              </a:extLst>
            </p:cNvPr>
            <p:cNvSpPr txBox="1"/>
            <p:nvPr/>
          </p:nvSpPr>
          <p:spPr>
            <a:xfrm>
              <a:off x="1604541" y="-152100"/>
              <a:ext cx="668281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58" name="Group">
            <a:extLst>
              <a:ext uri="{FF2B5EF4-FFF2-40B4-BE49-F238E27FC236}">
                <a16:creationId xmlns:a16="http://schemas.microsoft.com/office/drawing/2014/main" id="{DF53A9E8-CDBD-656B-4919-84AE3E6E96AA}"/>
              </a:ext>
            </a:extLst>
          </p:cNvPr>
          <p:cNvGrpSpPr/>
          <p:nvPr/>
        </p:nvGrpSpPr>
        <p:grpSpPr>
          <a:xfrm>
            <a:off x="6861930" y="1997271"/>
            <a:ext cx="3592285" cy="3010438"/>
            <a:chOff x="-1" y="-100024"/>
            <a:chExt cx="2525823" cy="2116711"/>
          </a:xfrm>
        </p:grpSpPr>
        <p:sp>
          <p:nvSpPr>
            <p:cNvPr id="155" name="Connection Line">
              <a:extLst>
                <a:ext uri="{FF2B5EF4-FFF2-40B4-BE49-F238E27FC236}">
                  <a16:creationId xmlns:a16="http://schemas.microsoft.com/office/drawing/2014/main" id="{DC4A7DF8-B47C-5E09-9508-E91CC2000F00}"/>
                </a:ext>
              </a:extLst>
            </p:cNvPr>
            <p:cNvSpPr/>
            <p:nvPr/>
          </p:nvSpPr>
          <p:spPr>
            <a:xfrm>
              <a:off x="-1" y="240649"/>
              <a:ext cx="2306983" cy="1677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40"/>
                  </a:moveTo>
                  <a:cubicBezTo>
                    <a:pt x="14559" y="21600"/>
                    <a:pt x="7359" y="2148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4">
                  <a:satOff val="-1335"/>
                  <a:lumOff val="-10274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6" name="Line">
              <a:extLst>
                <a:ext uri="{FF2B5EF4-FFF2-40B4-BE49-F238E27FC236}">
                  <a16:creationId xmlns:a16="http://schemas.microsoft.com/office/drawing/2014/main" id="{C01E98AC-CFE6-59E0-D879-8247E447EF20}"/>
                </a:ext>
              </a:extLst>
            </p:cNvPr>
            <p:cNvSpPr/>
            <p:nvPr/>
          </p:nvSpPr>
          <p:spPr>
            <a:xfrm flipV="1">
              <a:off x="1166254" y="1716565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7" name="SAC4">
              <a:extLst>
                <a:ext uri="{FF2B5EF4-FFF2-40B4-BE49-F238E27FC236}">
                  <a16:creationId xmlns:a16="http://schemas.microsoft.com/office/drawing/2014/main" id="{EE32A378-DE76-7D63-8D50-482F66A24A12}"/>
                </a:ext>
              </a:extLst>
            </p:cNvPr>
            <p:cNvSpPr txBox="1"/>
            <p:nvPr/>
          </p:nvSpPr>
          <p:spPr>
            <a:xfrm>
              <a:off x="1857540" y="-100024"/>
              <a:ext cx="668282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66" name="Group">
            <a:extLst>
              <a:ext uri="{FF2B5EF4-FFF2-40B4-BE49-F238E27FC236}">
                <a16:creationId xmlns:a16="http://schemas.microsoft.com/office/drawing/2014/main" id="{24D3715A-BAF0-5EE7-02A3-F057A8149CAA}"/>
              </a:ext>
            </a:extLst>
          </p:cNvPr>
          <p:cNvGrpSpPr/>
          <p:nvPr/>
        </p:nvGrpSpPr>
        <p:grpSpPr>
          <a:xfrm>
            <a:off x="8136020" y="1110518"/>
            <a:ext cx="3530024" cy="3026047"/>
            <a:chOff x="0" y="-74714"/>
            <a:chExt cx="2482046" cy="2127686"/>
          </a:xfrm>
        </p:grpSpPr>
        <p:sp>
          <p:nvSpPr>
            <p:cNvPr id="163" name="Connection Line">
              <a:extLst>
                <a:ext uri="{FF2B5EF4-FFF2-40B4-BE49-F238E27FC236}">
                  <a16:creationId xmlns:a16="http://schemas.microsoft.com/office/drawing/2014/main" id="{4CF8A50C-6E93-C6BE-2E02-55294B0FC02A}"/>
                </a:ext>
              </a:extLst>
            </p:cNvPr>
            <p:cNvSpPr/>
            <p:nvPr/>
          </p:nvSpPr>
          <p:spPr>
            <a:xfrm>
              <a:off x="0" y="225147"/>
              <a:ext cx="2325204" cy="1691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21600" y="601"/>
                  </a:moveTo>
                  <a:cubicBezTo>
                    <a:pt x="14321" y="21600"/>
                    <a:pt x="7121" y="21400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6">
                  <a:satOff val="-35873"/>
                  <a:lumOff val="-12431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64" name="Line">
              <a:extLst>
                <a:ext uri="{FF2B5EF4-FFF2-40B4-BE49-F238E27FC236}">
                  <a16:creationId xmlns:a16="http://schemas.microsoft.com/office/drawing/2014/main" id="{9ABC0230-F7EF-71A0-9AFD-E363074DBC11}"/>
                </a:ext>
              </a:extLst>
            </p:cNvPr>
            <p:cNvSpPr/>
            <p:nvPr/>
          </p:nvSpPr>
          <p:spPr>
            <a:xfrm flipV="1">
              <a:off x="1162520" y="1752850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65" name="SAC5">
              <a:extLst>
                <a:ext uri="{FF2B5EF4-FFF2-40B4-BE49-F238E27FC236}">
                  <a16:creationId xmlns:a16="http://schemas.microsoft.com/office/drawing/2014/main" id="{A1B6D3E5-8496-AC87-6BE2-8F3F9BFA31E4}"/>
                </a:ext>
              </a:extLst>
            </p:cNvPr>
            <p:cNvSpPr txBox="1"/>
            <p:nvPr/>
          </p:nvSpPr>
          <p:spPr>
            <a:xfrm>
              <a:off x="1813764" y="-74714"/>
              <a:ext cx="668282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59" name="Qty">
            <a:extLst>
              <a:ext uri="{FF2B5EF4-FFF2-40B4-BE49-F238E27FC236}">
                <a16:creationId xmlns:a16="http://schemas.microsoft.com/office/drawing/2014/main" id="{B6C34E90-5D2E-B7A7-9FD2-420FFFCD2BB1}"/>
              </a:ext>
            </a:extLst>
          </p:cNvPr>
          <p:cNvSpPr txBox="1"/>
          <p:nvPr/>
        </p:nvSpPr>
        <p:spPr>
          <a:xfrm>
            <a:off x="6002896" y="7194130"/>
            <a:ext cx="6682052" cy="562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LAC is also called the ‘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Curve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B95A8D-6CBB-9250-93E5-30098C0F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28</a:t>
            </a:fld>
            <a:endParaRPr lang="en-US"/>
          </a:p>
        </p:txBody>
      </p:sp>
      <p:sp>
        <p:nvSpPr>
          <p:cNvPr id="45" name="Q1">
            <a:extLst>
              <a:ext uri="{FF2B5EF4-FFF2-40B4-BE49-F238E27FC236}">
                <a16:creationId xmlns:a16="http://schemas.microsoft.com/office/drawing/2014/main" id="{3F6D24F7-592F-0798-E258-33819E4AB0D1}"/>
              </a:ext>
            </a:extLst>
          </p:cNvPr>
          <p:cNvSpPr txBox="1"/>
          <p:nvPr/>
        </p:nvSpPr>
        <p:spPr>
          <a:xfrm>
            <a:off x="4287304" y="7873722"/>
            <a:ext cx="586565" cy="6237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 numCol="1" anchor="t">
            <a:spAutoFit/>
          </a:bodyPr>
          <a:lstStyle/>
          <a:p>
            <a:pPr>
              <a:defRPr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3200" baseline="-59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3200" baseline="-59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2AD96A-8334-F4B4-A323-C167C036A5DE}"/>
              </a:ext>
            </a:extLst>
          </p:cNvPr>
          <p:cNvGrpSpPr/>
          <p:nvPr/>
        </p:nvGrpSpPr>
        <p:grpSpPr>
          <a:xfrm>
            <a:off x="4005242" y="2027580"/>
            <a:ext cx="1076192" cy="5768776"/>
            <a:chOff x="4005242" y="2027580"/>
            <a:chExt cx="1076192" cy="5768776"/>
          </a:xfrm>
        </p:grpSpPr>
        <p:sp>
          <p:nvSpPr>
            <p:cNvPr id="44" name="Line">
              <a:extLst>
                <a:ext uri="{FF2B5EF4-FFF2-40B4-BE49-F238E27FC236}">
                  <a16:creationId xmlns:a16="http://schemas.microsoft.com/office/drawing/2014/main" id="{22820E3A-1298-D7CA-2C1C-2196D78FF27F}"/>
                </a:ext>
              </a:extLst>
            </p:cNvPr>
            <p:cNvSpPr/>
            <p:nvPr/>
          </p:nvSpPr>
          <p:spPr>
            <a:xfrm flipV="1">
              <a:off x="4524765" y="2663125"/>
              <a:ext cx="0" cy="5133231"/>
            </a:xfrm>
            <a:prstGeom prst="line">
              <a:avLst/>
            </a:prstGeom>
            <a:noFill/>
            <a:ln w="38100" cap="flat">
              <a:solidFill>
                <a:srgbClr val="7030A0"/>
              </a:solidFill>
              <a:custDash>
                <a:ds d="200000" sp="200000"/>
              </a:custDash>
              <a:miter lim="400000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46" name="A">
              <a:extLst>
                <a:ext uri="{FF2B5EF4-FFF2-40B4-BE49-F238E27FC236}">
                  <a16:creationId xmlns:a16="http://schemas.microsoft.com/office/drawing/2014/main" id="{1C8F722E-B922-909A-61BA-C149DCBBD173}"/>
                </a:ext>
              </a:extLst>
            </p:cNvPr>
            <p:cNvSpPr txBox="1"/>
            <p:nvPr/>
          </p:nvSpPr>
          <p:spPr>
            <a:xfrm>
              <a:off x="4005242" y="2027580"/>
              <a:ext cx="564123" cy="62375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>
              <a:lvl1pPr>
                <a:defRPr b="1"/>
              </a:lvl1pPr>
            </a:lstStyle>
            <a:p>
              <a:r>
                <a:rPr sz="32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3200" baseline="-250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32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A">
              <a:extLst>
                <a:ext uri="{FF2B5EF4-FFF2-40B4-BE49-F238E27FC236}">
                  <a16:creationId xmlns:a16="http://schemas.microsoft.com/office/drawing/2014/main" id="{F940C624-DC96-3CA0-B2D7-AC8AFCE063BE}"/>
                </a:ext>
              </a:extLst>
            </p:cNvPr>
            <p:cNvSpPr txBox="1"/>
            <p:nvPr/>
          </p:nvSpPr>
          <p:spPr>
            <a:xfrm>
              <a:off x="4517311" y="3939694"/>
              <a:ext cx="564123" cy="62375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>
              <a:lvl1pPr>
                <a:defRPr b="1"/>
              </a:lvl1pPr>
            </a:lstStyle>
            <a:p>
              <a:r>
                <a:rPr sz="32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3200" baseline="-250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32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Line">
            <a:extLst>
              <a:ext uri="{FF2B5EF4-FFF2-40B4-BE49-F238E27FC236}">
                <a16:creationId xmlns:a16="http://schemas.microsoft.com/office/drawing/2014/main" id="{BF37DB77-C47B-308D-7171-643E4BB1833D}"/>
              </a:ext>
            </a:extLst>
          </p:cNvPr>
          <p:cNvSpPr/>
          <p:nvPr/>
        </p:nvSpPr>
        <p:spPr>
          <a:xfrm flipH="1" flipV="1">
            <a:off x="6799745" y="5050160"/>
            <a:ext cx="4" cy="549463"/>
          </a:xfrm>
          <a:prstGeom prst="line">
            <a:avLst/>
          </a:prstGeom>
          <a:noFill/>
          <a:ln w="25400" cap="flat">
            <a:solidFill>
              <a:srgbClr val="FF26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65021" tIns="65021" rIns="65021" bIns="65021" numCol="1" anchor="t">
            <a:noAutofit/>
          </a:bodyPr>
          <a:lstStyle/>
          <a:p>
            <a:endParaRPr sz="5120"/>
          </a:p>
        </p:txBody>
      </p:sp>
    </p:spTree>
    <p:extLst>
      <p:ext uri="{BB962C8B-B14F-4D97-AF65-F5344CB8AC3E}">
        <p14:creationId xmlns:p14="http://schemas.microsoft.com/office/powerpoint/2010/main" val="203362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"/>
          <p:cNvGrpSpPr/>
          <p:nvPr/>
        </p:nvGrpSpPr>
        <p:grpSpPr>
          <a:xfrm>
            <a:off x="1227522" y="501279"/>
            <a:ext cx="11676707" cy="4887616"/>
            <a:chOff x="0" y="0"/>
            <a:chExt cx="8210181" cy="3436603"/>
          </a:xfrm>
        </p:grpSpPr>
        <p:sp>
          <p:nvSpPr>
            <p:cNvPr id="119" name="Connection Line"/>
            <p:cNvSpPr/>
            <p:nvPr/>
          </p:nvSpPr>
          <p:spPr>
            <a:xfrm>
              <a:off x="0" y="296176"/>
              <a:ext cx="8056000" cy="3140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493"/>
                  </a:moveTo>
                  <a:cubicBezTo>
                    <a:pt x="13891" y="21600"/>
                    <a:pt x="6691" y="21436"/>
                    <a:pt x="0" y="0"/>
                  </a:cubicBezTo>
                </a:path>
              </a:pathLst>
            </a:custGeom>
            <a:noFill/>
            <a:ln w="1016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20" name="LAC"/>
            <p:cNvSpPr txBox="1"/>
            <p:nvPr/>
          </p:nvSpPr>
          <p:spPr>
            <a:xfrm>
              <a:off x="7540772" y="0"/>
              <a:ext cx="669409" cy="438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LAC</a:t>
              </a:r>
            </a:p>
          </p:txBody>
        </p:sp>
      </p:grpSp>
      <p:sp>
        <p:nvSpPr>
          <p:cNvPr id="123" name="Line"/>
          <p:cNvSpPr/>
          <p:nvPr/>
        </p:nvSpPr>
        <p:spPr>
          <a:xfrm flipV="1">
            <a:off x="770325" y="30007"/>
            <a:ext cx="3" cy="8653939"/>
          </a:xfrm>
          <a:prstGeom prst="line">
            <a:avLst/>
          </a:prstGeom>
          <a:ln w="6350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4" name="Line"/>
          <p:cNvSpPr/>
          <p:nvPr/>
        </p:nvSpPr>
        <p:spPr>
          <a:xfrm>
            <a:off x="63758" y="7861929"/>
            <a:ext cx="12877285" cy="3"/>
          </a:xfrm>
          <a:prstGeom prst="line">
            <a:avLst/>
          </a:prstGeom>
          <a:ln w="6350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5" name="Qty"/>
          <p:cNvSpPr txBox="1"/>
          <p:nvPr/>
        </p:nvSpPr>
        <p:spPr>
          <a:xfrm>
            <a:off x="12112695" y="8009710"/>
            <a:ext cx="746865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26" name="LAC"/>
          <p:cNvSpPr txBox="1"/>
          <p:nvPr/>
        </p:nvSpPr>
        <p:spPr>
          <a:xfrm>
            <a:off x="24047" y="239192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127" name="SACs"/>
          <p:cNvSpPr txBox="1"/>
          <p:nvPr/>
        </p:nvSpPr>
        <p:spPr>
          <a:xfrm>
            <a:off x="-28851" y="707410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 dirty="0"/>
              <a:t>SAC</a:t>
            </a:r>
            <a:r>
              <a:rPr sz="2133" baseline="-5998" dirty="0"/>
              <a:t>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F6143-BF40-9344-9E32-0663C86D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29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D96F5C-F6E4-9740-AFCC-45DDF2CBEB48}"/>
              </a:ext>
            </a:extLst>
          </p:cNvPr>
          <p:cNvGrpSpPr/>
          <p:nvPr/>
        </p:nvGrpSpPr>
        <p:grpSpPr>
          <a:xfrm>
            <a:off x="1549813" y="1520924"/>
            <a:ext cx="3536070" cy="4504482"/>
            <a:chOff x="1549813" y="1520924"/>
            <a:chExt cx="3536070" cy="4504482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B7473F7E-C96B-5841-8E92-3CB285B990AB}"/>
                </a:ext>
              </a:extLst>
            </p:cNvPr>
            <p:cNvSpPr/>
            <p:nvPr/>
          </p:nvSpPr>
          <p:spPr>
            <a:xfrm rot="10390248">
              <a:off x="1549813" y="1520924"/>
              <a:ext cx="3536070" cy="4504482"/>
            </a:xfrm>
            <a:custGeom>
              <a:avLst/>
              <a:gdLst>
                <a:gd name="connsiteX0" fmla="*/ 1478604 w 2957209"/>
                <a:gd name="connsiteY0" fmla="*/ 0 h 3774332"/>
                <a:gd name="connsiteX1" fmla="*/ 2957209 w 2957209"/>
                <a:gd name="connsiteY1" fmla="*/ 1887166 h 3774332"/>
                <a:gd name="connsiteX2" fmla="*/ 1478605 w 2957209"/>
                <a:gd name="connsiteY2" fmla="*/ 1887166 h 3774332"/>
                <a:gd name="connsiteX3" fmla="*/ 1478604 w 2957209"/>
                <a:gd name="connsiteY3" fmla="*/ 0 h 3774332"/>
                <a:gd name="connsiteX0" fmla="*/ 1478604 w 2957209"/>
                <a:gd name="connsiteY0" fmla="*/ 0 h 3774332"/>
                <a:gd name="connsiteX1" fmla="*/ 2957209 w 2957209"/>
                <a:gd name="connsiteY1" fmla="*/ 1887166 h 3774332"/>
                <a:gd name="connsiteX0" fmla="*/ 0 w 2181315"/>
                <a:gd name="connsiteY0" fmla="*/ 0 h 3382115"/>
                <a:gd name="connsiteX1" fmla="*/ 1478605 w 2181315"/>
                <a:gd name="connsiteY1" fmla="*/ 1887166 h 3382115"/>
                <a:gd name="connsiteX2" fmla="*/ 1 w 2181315"/>
                <a:gd name="connsiteY2" fmla="*/ 1887166 h 3382115"/>
                <a:gd name="connsiteX3" fmla="*/ 0 w 2181315"/>
                <a:gd name="connsiteY3" fmla="*/ 0 h 3382115"/>
                <a:gd name="connsiteX0" fmla="*/ 0 w 2181315"/>
                <a:gd name="connsiteY0" fmla="*/ 0 h 3382115"/>
                <a:gd name="connsiteX1" fmla="*/ 2181315 w 2181315"/>
                <a:gd name="connsiteY1" fmla="*/ 3382115 h 3382115"/>
                <a:gd name="connsiteX0" fmla="*/ 1354755 w 3536070"/>
                <a:gd name="connsiteY0" fmla="*/ 1122367 h 4504482"/>
                <a:gd name="connsiteX1" fmla="*/ 2833360 w 3536070"/>
                <a:gd name="connsiteY1" fmla="*/ 3009533 h 4504482"/>
                <a:gd name="connsiteX2" fmla="*/ 1354756 w 3536070"/>
                <a:gd name="connsiteY2" fmla="*/ 3009533 h 4504482"/>
                <a:gd name="connsiteX3" fmla="*/ 1354755 w 3536070"/>
                <a:gd name="connsiteY3" fmla="*/ 1122367 h 4504482"/>
                <a:gd name="connsiteX0" fmla="*/ 0 w 3536070"/>
                <a:gd name="connsiteY0" fmla="*/ 0 h 4504482"/>
                <a:gd name="connsiteX1" fmla="*/ 3536070 w 3536070"/>
                <a:gd name="connsiteY1" fmla="*/ 4504482 h 450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36070" h="4504482" stroke="0" extrusionOk="0">
                  <a:moveTo>
                    <a:pt x="1354755" y="1122367"/>
                  </a:moveTo>
                  <a:cubicBezTo>
                    <a:pt x="2171366" y="1122367"/>
                    <a:pt x="2833360" y="1967280"/>
                    <a:pt x="2833360" y="3009533"/>
                  </a:cubicBezTo>
                  <a:lnTo>
                    <a:pt x="1354756" y="3009533"/>
                  </a:lnTo>
                  <a:cubicBezTo>
                    <a:pt x="1354756" y="2380478"/>
                    <a:pt x="1354755" y="1751422"/>
                    <a:pt x="1354755" y="1122367"/>
                  </a:cubicBezTo>
                  <a:close/>
                </a:path>
                <a:path w="3536070" h="4504482" fill="none">
                  <a:moveTo>
                    <a:pt x="0" y="0"/>
                  </a:moveTo>
                  <a:cubicBezTo>
                    <a:pt x="816611" y="0"/>
                    <a:pt x="3536070" y="3462229"/>
                    <a:pt x="3536070" y="4504482"/>
                  </a:cubicBezTo>
                </a:path>
              </a:pathLst>
            </a:custGeom>
            <a:noFill/>
            <a:ln w="76200" cap="flat">
              <a:solidFill>
                <a:schemeClr val="accent2">
                  <a:lumMod val="75000"/>
                </a:schemeClr>
              </a:solidFill>
              <a:prstDash val="dash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16" name="SACs">
              <a:extLst>
                <a:ext uri="{FF2B5EF4-FFF2-40B4-BE49-F238E27FC236}">
                  <a16:creationId xmlns:a16="http://schemas.microsoft.com/office/drawing/2014/main" id="{F4884E90-14B2-9B44-A5F3-A71F433B747E}"/>
                </a:ext>
              </a:extLst>
            </p:cNvPr>
            <p:cNvSpPr txBox="1"/>
            <p:nvPr/>
          </p:nvSpPr>
          <p:spPr>
            <a:xfrm rot="3200895">
              <a:off x="2065293" y="4045099"/>
              <a:ext cx="815795" cy="62375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/>
            <a:p>
              <a:pPr>
                <a:defRPr sz="1500"/>
              </a:pPr>
              <a:r>
                <a:rPr lang="en-US" sz="32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IRS</a:t>
              </a:r>
              <a:endParaRPr sz="3200" b="1" baseline="-5998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A6FFB24-F71A-214F-9EE8-605AA3A5E1E3}"/>
              </a:ext>
            </a:extLst>
          </p:cNvPr>
          <p:cNvGrpSpPr/>
          <p:nvPr/>
        </p:nvGrpSpPr>
        <p:grpSpPr>
          <a:xfrm>
            <a:off x="9166480" y="1804248"/>
            <a:ext cx="2282019" cy="5301675"/>
            <a:chOff x="9166480" y="1804248"/>
            <a:chExt cx="2282019" cy="5301675"/>
          </a:xfrm>
        </p:grpSpPr>
        <p:sp>
          <p:nvSpPr>
            <p:cNvPr id="15" name="Arc 2">
              <a:extLst>
                <a:ext uri="{FF2B5EF4-FFF2-40B4-BE49-F238E27FC236}">
                  <a16:creationId xmlns:a16="http://schemas.microsoft.com/office/drawing/2014/main" id="{8F2F4151-6964-1D4C-9E95-DDE77E45C776}"/>
                </a:ext>
              </a:extLst>
            </p:cNvPr>
            <p:cNvSpPr/>
            <p:nvPr/>
          </p:nvSpPr>
          <p:spPr>
            <a:xfrm rot="7314898">
              <a:off x="7435860" y="3575861"/>
              <a:ext cx="5301675" cy="1758449"/>
            </a:xfrm>
            <a:custGeom>
              <a:avLst/>
              <a:gdLst>
                <a:gd name="connsiteX0" fmla="*/ 1478604 w 2957209"/>
                <a:gd name="connsiteY0" fmla="*/ 0 h 3774332"/>
                <a:gd name="connsiteX1" fmla="*/ 2957209 w 2957209"/>
                <a:gd name="connsiteY1" fmla="*/ 1887166 h 3774332"/>
                <a:gd name="connsiteX2" fmla="*/ 1478605 w 2957209"/>
                <a:gd name="connsiteY2" fmla="*/ 1887166 h 3774332"/>
                <a:gd name="connsiteX3" fmla="*/ 1478604 w 2957209"/>
                <a:gd name="connsiteY3" fmla="*/ 0 h 3774332"/>
                <a:gd name="connsiteX0" fmla="*/ 1478604 w 2957209"/>
                <a:gd name="connsiteY0" fmla="*/ 0 h 3774332"/>
                <a:gd name="connsiteX1" fmla="*/ 2957209 w 2957209"/>
                <a:gd name="connsiteY1" fmla="*/ 1887166 h 3774332"/>
                <a:gd name="connsiteX0" fmla="*/ 0 w 2181315"/>
                <a:gd name="connsiteY0" fmla="*/ 0 h 3382115"/>
                <a:gd name="connsiteX1" fmla="*/ 1478605 w 2181315"/>
                <a:gd name="connsiteY1" fmla="*/ 1887166 h 3382115"/>
                <a:gd name="connsiteX2" fmla="*/ 1 w 2181315"/>
                <a:gd name="connsiteY2" fmla="*/ 1887166 h 3382115"/>
                <a:gd name="connsiteX3" fmla="*/ 0 w 2181315"/>
                <a:gd name="connsiteY3" fmla="*/ 0 h 3382115"/>
                <a:gd name="connsiteX0" fmla="*/ 0 w 2181315"/>
                <a:gd name="connsiteY0" fmla="*/ 0 h 3382115"/>
                <a:gd name="connsiteX1" fmla="*/ 2181315 w 2181315"/>
                <a:gd name="connsiteY1" fmla="*/ 3382115 h 3382115"/>
                <a:gd name="connsiteX0" fmla="*/ 1354755 w 3536070"/>
                <a:gd name="connsiteY0" fmla="*/ 1122367 h 4504482"/>
                <a:gd name="connsiteX1" fmla="*/ 2833360 w 3536070"/>
                <a:gd name="connsiteY1" fmla="*/ 3009533 h 4504482"/>
                <a:gd name="connsiteX2" fmla="*/ 1354756 w 3536070"/>
                <a:gd name="connsiteY2" fmla="*/ 3009533 h 4504482"/>
                <a:gd name="connsiteX3" fmla="*/ 1354755 w 3536070"/>
                <a:gd name="connsiteY3" fmla="*/ 1122367 h 4504482"/>
                <a:gd name="connsiteX0" fmla="*/ 0 w 3536070"/>
                <a:gd name="connsiteY0" fmla="*/ 0 h 4504482"/>
                <a:gd name="connsiteX1" fmla="*/ 3536070 w 3536070"/>
                <a:gd name="connsiteY1" fmla="*/ 4504482 h 450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36070" h="4504482" stroke="0" extrusionOk="0">
                  <a:moveTo>
                    <a:pt x="1354755" y="1122367"/>
                  </a:moveTo>
                  <a:cubicBezTo>
                    <a:pt x="2171366" y="1122367"/>
                    <a:pt x="2833360" y="1967280"/>
                    <a:pt x="2833360" y="3009533"/>
                  </a:cubicBezTo>
                  <a:lnTo>
                    <a:pt x="1354756" y="3009533"/>
                  </a:lnTo>
                  <a:cubicBezTo>
                    <a:pt x="1354756" y="2380478"/>
                    <a:pt x="1354755" y="1751422"/>
                    <a:pt x="1354755" y="1122367"/>
                  </a:cubicBezTo>
                  <a:close/>
                </a:path>
                <a:path w="3536070" h="4504482" fill="none">
                  <a:moveTo>
                    <a:pt x="0" y="0"/>
                  </a:moveTo>
                  <a:cubicBezTo>
                    <a:pt x="816611" y="0"/>
                    <a:pt x="3536070" y="3462229"/>
                    <a:pt x="3536070" y="4504482"/>
                  </a:cubicBezTo>
                </a:path>
              </a:pathLst>
            </a:custGeom>
            <a:noFill/>
            <a:ln w="76200" cap="flat">
              <a:solidFill>
                <a:srgbClr val="FF0000"/>
              </a:solidFill>
              <a:prstDash val="dash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17" name="SACs">
              <a:extLst>
                <a:ext uri="{FF2B5EF4-FFF2-40B4-BE49-F238E27FC236}">
                  <a16:creationId xmlns:a16="http://schemas.microsoft.com/office/drawing/2014/main" id="{5B60DD5E-E1AC-B843-90B6-E699EDA8CB14}"/>
                </a:ext>
              </a:extLst>
            </p:cNvPr>
            <p:cNvSpPr txBox="1"/>
            <p:nvPr/>
          </p:nvSpPr>
          <p:spPr>
            <a:xfrm rot="19400822" flipH="1">
              <a:off x="9166480" y="5177355"/>
              <a:ext cx="2282019" cy="6394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65021" tIns="65021" rIns="65021" bIns="65021">
              <a:spAutoFit/>
            </a:bodyPr>
            <a:lstStyle/>
            <a:p>
              <a:pPr>
                <a:defRPr sz="1500"/>
              </a:pPr>
              <a:r>
                <a: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DRS</a:t>
              </a:r>
              <a:endParaRPr sz="3200" b="1" baseline="-599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Qty">
            <a:extLst>
              <a:ext uri="{FF2B5EF4-FFF2-40B4-BE49-F238E27FC236}">
                <a16:creationId xmlns:a16="http://schemas.microsoft.com/office/drawing/2014/main" id="{F6612FEA-0BAC-7C4F-BAEA-6F30C64060D0}"/>
              </a:ext>
            </a:extLst>
          </p:cNvPr>
          <p:cNvSpPr txBox="1"/>
          <p:nvPr/>
        </p:nvSpPr>
        <p:spPr>
          <a:xfrm>
            <a:off x="4848610" y="313427"/>
            <a:ext cx="5458879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of the LAC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66367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"/>
          <p:cNvGrpSpPr/>
          <p:nvPr/>
        </p:nvGrpSpPr>
        <p:grpSpPr>
          <a:xfrm>
            <a:off x="1219029" y="1117006"/>
            <a:ext cx="11875010" cy="5357945"/>
            <a:chOff x="-2" y="-99615"/>
            <a:chExt cx="8349614" cy="3767304"/>
          </a:xfrm>
        </p:grpSpPr>
        <p:sp>
          <p:nvSpPr>
            <p:cNvPr id="172" name="SAC1"/>
            <p:cNvSpPr txBox="1"/>
            <p:nvPr/>
          </p:nvSpPr>
          <p:spPr>
            <a:xfrm>
              <a:off x="2413181" y="204755"/>
              <a:ext cx="601602" cy="328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8062" tIns="18062" rIns="18062" bIns="18062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3" name="SAC2"/>
            <p:cNvSpPr txBox="1"/>
            <p:nvPr/>
          </p:nvSpPr>
          <p:spPr>
            <a:xfrm>
              <a:off x="3360224" y="1075152"/>
              <a:ext cx="601602" cy="328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8062" tIns="18062" rIns="18062" bIns="18062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4" name="SAC3"/>
            <p:cNvSpPr txBox="1"/>
            <p:nvPr/>
          </p:nvSpPr>
          <p:spPr>
            <a:xfrm>
              <a:off x="4292263" y="1441061"/>
              <a:ext cx="601602" cy="328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8062" tIns="18062" rIns="18062" bIns="18062" numCol="1" anchor="t">
              <a:spAutoFit/>
            </a:bodyPr>
            <a:lstStyle/>
            <a:p>
              <a:r>
                <a:rPr sz="280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5" name="SAC4"/>
            <p:cNvSpPr txBox="1"/>
            <p:nvPr/>
          </p:nvSpPr>
          <p:spPr>
            <a:xfrm>
              <a:off x="5939665" y="1017404"/>
              <a:ext cx="601602" cy="328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8062" tIns="18062" rIns="18062" bIns="18062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6" name="SAC5"/>
            <p:cNvSpPr txBox="1"/>
            <p:nvPr/>
          </p:nvSpPr>
          <p:spPr>
            <a:xfrm>
              <a:off x="6841708" y="373974"/>
              <a:ext cx="601602" cy="328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8062" tIns="18062" rIns="18062" bIns="18062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grpSp>
          <p:nvGrpSpPr>
            <p:cNvPr id="195" name="Group"/>
            <p:cNvGrpSpPr/>
            <p:nvPr/>
          </p:nvGrpSpPr>
          <p:grpSpPr>
            <a:xfrm>
              <a:off x="-2" y="-99615"/>
              <a:ext cx="8349614" cy="3767304"/>
              <a:chOff x="0" y="-99613"/>
              <a:chExt cx="8349612" cy="3767302"/>
            </a:xfrm>
          </p:grpSpPr>
          <p:grpSp>
            <p:nvGrpSpPr>
              <p:cNvPr id="193" name="Group"/>
              <p:cNvGrpSpPr/>
              <p:nvPr/>
            </p:nvGrpSpPr>
            <p:grpSpPr>
              <a:xfrm>
                <a:off x="0" y="233972"/>
                <a:ext cx="8056002" cy="3433717"/>
                <a:chOff x="0" y="0"/>
                <a:chExt cx="8056001" cy="3433715"/>
              </a:xfrm>
            </p:grpSpPr>
            <p:sp>
              <p:nvSpPr>
                <p:cNvPr id="177" name="Connection Line"/>
                <p:cNvSpPr/>
                <p:nvPr/>
              </p:nvSpPr>
              <p:spPr>
                <a:xfrm>
                  <a:off x="627224" y="265670"/>
                  <a:ext cx="2095017" cy="16796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38" y="21600"/>
                        <a:pt x="7238" y="21471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78" name="Connection Line"/>
                <p:cNvSpPr/>
                <p:nvPr/>
              </p:nvSpPr>
              <p:spPr>
                <a:xfrm>
                  <a:off x="1525069" y="1073341"/>
                  <a:ext cx="2340878" cy="16834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58"/>
                      </a:moveTo>
                      <a:cubicBezTo>
                        <a:pt x="14460" y="21600"/>
                        <a:pt x="7260" y="21447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79" name="Connection Line"/>
                <p:cNvSpPr/>
                <p:nvPr/>
              </p:nvSpPr>
              <p:spPr>
                <a:xfrm>
                  <a:off x="2904690" y="1455533"/>
                  <a:ext cx="2053427" cy="16796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20" y="21600"/>
                        <a:pt x="7220" y="21471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satOff val="-6373"/>
                      <a:lumOff val="-10823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0" name="Connection Line"/>
                <p:cNvSpPr/>
                <p:nvPr/>
              </p:nvSpPr>
              <p:spPr>
                <a:xfrm>
                  <a:off x="4005568" y="1074514"/>
                  <a:ext cx="2306981" cy="1677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40"/>
                      </a:moveTo>
                      <a:cubicBezTo>
                        <a:pt x="14559" y="21600"/>
                        <a:pt x="7359" y="21487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4">
                      <a:satOff val="-1335"/>
                      <a:lumOff val="-10274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1" name="Connection Line"/>
                <p:cNvSpPr/>
                <p:nvPr/>
              </p:nvSpPr>
              <p:spPr>
                <a:xfrm>
                  <a:off x="4888017" y="430066"/>
                  <a:ext cx="2325205" cy="16912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2" extrusionOk="0">
                      <a:moveTo>
                        <a:pt x="21600" y="601"/>
                      </a:moveTo>
                      <a:cubicBezTo>
                        <a:pt x="14321" y="21600"/>
                        <a:pt x="7121" y="21400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6">
                      <a:satOff val="-35873"/>
                      <a:lumOff val="-12431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2" name="Connection Line"/>
                <p:cNvSpPr/>
                <p:nvPr/>
              </p:nvSpPr>
              <p:spPr>
                <a:xfrm>
                  <a:off x="0" y="0"/>
                  <a:ext cx="8056001" cy="31404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93"/>
                      </a:moveTo>
                      <a:cubicBezTo>
                        <a:pt x="13891" y="21600"/>
                        <a:pt x="6691" y="21436"/>
                        <a:pt x="0" y="0"/>
                      </a:cubicBezTo>
                    </a:path>
                  </a:pathLst>
                </a:custGeom>
                <a:noFill/>
                <a:ln w="63500" cap="flat">
                  <a:solidFill>
                    <a:srgbClr val="C0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3" name="Line"/>
                <p:cNvSpPr/>
                <p:nvPr/>
              </p:nvSpPr>
              <p:spPr>
                <a:xfrm flipV="1">
                  <a:off x="1656186" y="1728816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4" name="Line"/>
                <p:cNvSpPr/>
                <p:nvPr/>
              </p:nvSpPr>
              <p:spPr>
                <a:xfrm flipV="1">
                  <a:off x="2695512" y="2550429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5" name="Line"/>
                <p:cNvSpPr/>
                <p:nvPr/>
              </p:nvSpPr>
              <p:spPr>
                <a:xfrm flipV="1">
                  <a:off x="3952554" y="2905512"/>
                  <a:ext cx="2" cy="528203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6" name="Line"/>
                <p:cNvSpPr/>
                <p:nvPr/>
              </p:nvSpPr>
              <p:spPr>
                <a:xfrm flipV="1">
                  <a:off x="5158429" y="2550429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7" name="Line"/>
                <p:cNvSpPr/>
                <p:nvPr/>
              </p:nvSpPr>
              <p:spPr>
                <a:xfrm flipV="1">
                  <a:off x="6050538" y="1930980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8" name="Oval"/>
                <p:cNvSpPr/>
                <p:nvPr/>
              </p:nvSpPr>
              <p:spPr>
                <a:xfrm>
                  <a:off x="1161720" y="1671263"/>
                  <a:ext cx="179569" cy="140163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rgbClr val="FFFF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89" name="Oval"/>
                <p:cNvSpPr/>
                <p:nvPr/>
              </p:nvSpPr>
              <p:spPr>
                <a:xfrm>
                  <a:off x="2330477" y="2630408"/>
                  <a:ext cx="179569" cy="140165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rgbClr val="FFFF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90" name="Oval"/>
                <p:cNvSpPr/>
                <p:nvPr/>
              </p:nvSpPr>
              <p:spPr>
                <a:xfrm>
                  <a:off x="3862772" y="3099532"/>
                  <a:ext cx="179567" cy="140163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rgbClr val="FFFF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91" name="Oval"/>
                <p:cNvSpPr/>
                <p:nvPr/>
              </p:nvSpPr>
              <p:spPr>
                <a:xfrm>
                  <a:off x="5352742" y="2630408"/>
                  <a:ext cx="179569" cy="140165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rgbClr val="FFFF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92" name="Oval"/>
                <p:cNvSpPr/>
                <p:nvPr/>
              </p:nvSpPr>
              <p:spPr>
                <a:xfrm>
                  <a:off x="6402276" y="1857725"/>
                  <a:ext cx="179567" cy="140165"/>
                </a:xfrm>
                <a:prstGeom prst="ellipse">
                  <a:avLst/>
                </a:prstGeom>
                <a:solidFill>
                  <a:srgbClr val="FFFFFF"/>
                </a:solidFill>
                <a:ln w="25400" cap="flat">
                  <a:solidFill>
                    <a:srgbClr val="FFFF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</p:grpSp>
          <p:sp>
            <p:nvSpPr>
              <p:cNvPr id="194" name="LAC2"/>
              <p:cNvSpPr txBox="1"/>
              <p:nvPr/>
            </p:nvSpPr>
            <p:spPr>
              <a:xfrm>
                <a:off x="7551711" y="-99613"/>
                <a:ext cx="797901" cy="4385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65021" tIns="65021" rIns="65021" bIns="65021" numCol="1" anchor="t">
                <a:spAutoFit/>
              </a:bodyPr>
              <a:lstStyle/>
              <a:p>
                <a:r>
                  <a:rPr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  <a:r>
                  <a:rPr sz="3200" b="1" baseline="-5998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sp>
        <p:nvSpPr>
          <p:cNvPr id="197" name="Line"/>
          <p:cNvSpPr/>
          <p:nvPr/>
        </p:nvSpPr>
        <p:spPr>
          <a:xfrm flipV="1">
            <a:off x="834082" y="772957"/>
            <a:ext cx="3" cy="8653939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98" name="Line"/>
          <p:cNvSpPr/>
          <p:nvPr/>
        </p:nvSpPr>
        <p:spPr>
          <a:xfrm>
            <a:off x="127515" y="8604879"/>
            <a:ext cx="12877285" cy="3"/>
          </a:xfrm>
          <a:prstGeom prst="line">
            <a:avLst/>
          </a:prstGeom>
          <a:ln w="1905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99" name="Qty"/>
          <p:cNvSpPr txBox="1"/>
          <p:nvPr/>
        </p:nvSpPr>
        <p:spPr>
          <a:xfrm>
            <a:off x="12091890" y="8567607"/>
            <a:ext cx="769307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00" name="LAC"/>
          <p:cNvSpPr txBox="1"/>
          <p:nvPr/>
        </p:nvSpPr>
        <p:spPr>
          <a:xfrm>
            <a:off x="87804" y="982142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201" name="SACs"/>
          <p:cNvSpPr txBox="1"/>
          <p:nvPr/>
        </p:nvSpPr>
        <p:spPr>
          <a:xfrm>
            <a:off x="34906" y="1450360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/>
              <a:t>SAC</a:t>
            </a:r>
            <a:r>
              <a:rPr sz="2133" baseline="-5998"/>
              <a:t>s</a:t>
            </a:r>
          </a:p>
        </p:txBody>
      </p:sp>
      <p:grpSp>
        <p:nvGrpSpPr>
          <p:cNvPr id="226" name="Group"/>
          <p:cNvGrpSpPr/>
          <p:nvPr/>
        </p:nvGrpSpPr>
        <p:grpSpPr>
          <a:xfrm>
            <a:off x="1219027" y="2337818"/>
            <a:ext cx="11871804" cy="5159634"/>
            <a:chOff x="-3" y="-163926"/>
            <a:chExt cx="8347360" cy="3627867"/>
          </a:xfrm>
        </p:grpSpPr>
        <p:grpSp>
          <p:nvGrpSpPr>
            <p:cNvPr id="220" name="Group"/>
            <p:cNvGrpSpPr/>
            <p:nvPr/>
          </p:nvGrpSpPr>
          <p:grpSpPr>
            <a:xfrm>
              <a:off x="-3" y="-163926"/>
              <a:ext cx="8347360" cy="3627867"/>
              <a:chOff x="-1" y="-256353"/>
              <a:chExt cx="8347358" cy="3627865"/>
            </a:xfrm>
          </p:grpSpPr>
          <p:grpSp>
            <p:nvGrpSpPr>
              <p:cNvPr id="218" name="Group"/>
              <p:cNvGrpSpPr/>
              <p:nvPr/>
            </p:nvGrpSpPr>
            <p:grpSpPr>
              <a:xfrm>
                <a:off x="-1" y="-2"/>
                <a:ext cx="8056004" cy="3371514"/>
                <a:chOff x="0" y="-1"/>
                <a:chExt cx="8056002" cy="3371512"/>
              </a:xfrm>
            </p:grpSpPr>
            <p:sp>
              <p:nvSpPr>
                <p:cNvPr id="202" name="Connection Line"/>
                <p:cNvSpPr/>
                <p:nvPr/>
              </p:nvSpPr>
              <p:spPr>
                <a:xfrm>
                  <a:off x="603886" y="279065"/>
                  <a:ext cx="2095017" cy="16796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38" y="21600"/>
                        <a:pt x="7238" y="21471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1"/>
                  </a:solidFill>
                  <a:custDash>
                    <a:ds d="200000" sp="200000"/>
                  </a:custDash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3" name="Connection Line"/>
                <p:cNvSpPr/>
                <p:nvPr/>
              </p:nvSpPr>
              <p:spPr>
                <a:xfrm>
                  <a:off x="1542973" y="1118911"/>
                  <a:ext cx="2340877" cy="16834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58"/>
                      </a:moveTo>
                      <a:cubicBezTo>
                        <a:pt x="14460" y="21600"/>
                        <a:pt x="7260" y="21447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2"/>
                  </a:solidFill>
                  <a:custDash>
                    <a:ds d="200000" sp="200000"/>
                  </a:custDash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4" name="Connection Line"/>
                <p:cNvSpPr/>
                <p:nvPr/>
              </p:nvSpPr>
              <p:spPr>
                <a:xfrm>
                  <a:off x="2903087" y="1452506"/>
                  <a:ext cx="2053427" cy="16796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20" y="21600"/>
                        <a:pt x="7220" y="21471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satOff val="-6373"/>
                      <a:lumOff val="-10823"/>
                    </a:schemeClr>
                  </a:solidFill>
                  <a:custDash>
                    <a:ds d="200000" sp="200000"/>
                  </a:custDash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5" name="Connection Line"/>
                <p:cNvSpPr/>
                <p:nvPr/>
              </p:nvSpPr>
              <p:spPr>
                <a:xfrm>
                  <a:off x="4004907" y="1095249"/>
                  <a:ext cx="2306981" cy="1677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40"/>
                      </a:moveTo>
                      <a:cubicBezTo>
                        <a:pt x="14559" y="21600"/>
                        <a:pt x="7359" y="21487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4">
                      <a:satOff val="-1335"/>
                      <a:lumOff val="-10274"/>
                    </a:schemeClr>
                  </a:solidFill>
                  <a:custDash>
                    <a:ds d="200000" sp="200000"/>
                  </a:custDash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6" name="Connection Line"/>
                <p:cNvSpPr/>
                <p:nvPr/>
              </p:nvSpPr>
              <p:spPr>
                <a:xfrm>
                  <a:off x="4887964" y="459881"/>
                  <a:ext cx="2325205" cy="16912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2" extrusionOk="0">
                      <a:moveTo>
                        <a:pt x="21600" y="601"/>
                      </a:moveTo>
                      <a:cubicBezTo>
                        <a:pt x="14321" y="21600"/>
                        <a:pt x="7121" y="21400"/>
                        <a:pt x="0" y="0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6">
                      <a:satOff val="-35873"/>
                      <a:lumOff val="-12431"/>
                    </a:schemeClr>
                  </a:solidFill>
                  <a:custDash>
                    <a:ds d="200000" sp="200000"/>
                  </a:custDash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7" name="Connection Line"/>
                <p:cNvSpPr/>
                <p:nvPr/>
              </p:nvSpPr>
              <p:spPr>
                <a:xfrm>
                  <a:off x="0" y="-1"/>
                  <a:ext cx="8056002" cy="31404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93"/>
                      </a:moveTo>
                      <a:cubicBezTo>
                        <a:pt x="13891" y="21600"/>
                        <a:pt x="6691" y="21436"/>
                        <a:pt x="0" y="0"/>
                      </a:cubicBezTo>
                    </a:path>
                  </a:pathLst>
                </a:custGeom>
                <a:noFill/>
                <a:ln w="57150" cap="flat">
                  <a:solidFill>
                    <a:srgbClr val="0070C0"/>
                  </a:solidFill>
                  <a:prstDash val="solid"/>
                  <a:miter lim="400000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8" name="Line"/>
                <p:cNvSpPr/>
                <p:nvPr/>
              </p:nvSpPr>
              <p:spPr>
                <a:xfrm flipV="1">
                  <a:off x="1651392" y="1709188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40FF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09" name="Line"/>
                <p:cNvSpPr/>
                <p:nvPr/>
              </p:nvSpPr>
              <p:spPr>
                <a:xfrm flipV="1">
                  <a:off x="2713413" y="2612633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40FF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0" name="Line"/>
                <p:cNvSpPr/>
                <p:nvPr/>
              </p:nvSpPr>
              <p:spPr>
                <a:xfrm flipV="1">
                  <a:off x="3952554" y="2843308"/>
                  <a:ext cx="2" cy="528203"/>
                </a:xfrm>
                <a:prstGeom prst="line">
                  <a:avLst/>
                </a:prstGeom>
                <a:noFill/>
                <a:ln w="25400" cap="flat">
                  <a:solidFill>
                    <a:srgbClr val="FF40FF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1" name="Line"/>
                <p:cNvSpPr/>
                <p:nvPr/>
              </p:nvSpPr>
              <p:spPr>
                <a:xfrm flipV="1">
                  <a:off x="5158429" y="2612633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40FF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2" name="Line"/>
                <p:cNvSpPr/>
                <p:nvPr/>
              </p:nvSpPr>
              <p:spPr>
                <a:xfrm flipV="1">
                  <a:off x="6050539" y="1941347"/>
                  <a:ext cx="2" cy="300121"/>
                </a:xfrm>
                <a:prstGeom prst="line">
                  <a:avLst/>
                </a:prstGeom>
                <a:noFill/>
                <a:ln w="25400" cap="flat">
                  <a:solidFill>
                    <a:srgbClr val="FF40FF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3" name="Oval"/>
                <p:cNvSpPr/>
                <p:nvPr/>
              </p:nvSpPr>
              <p:spPr>
                <a:xfrm>
                  <a:off x="1161720" y="1609059"/>
                  <a:ext cx="179569" cy="140163"/>
                </a:xfrm>
                <a:prstGeom prst="ellipse">
                  <a:avLst/>
                </a:prstGeom>
                <a:solidFill>
                  <a:srgbClr val="00FDFF">
                    <a:alpha val="75123"/>
                  </a:srgbClr>
                </a:solidFill>
                <a:ln w="25400" cap="flat">
                  <a:solidFill>
                    <a:srgbClr val="8EFA00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pPr>
                    <a:defRPr>
                      <a:solidFill>
                        <a:srgbClr val="008F00"/>
                      </a:solidFill>
                    </a:defRPr>
                  </a:pPr>
                  <a:endParaRPr sz="5120"/>
                </a:p>
              </p:txBody>
            </p:sp>
            <p:sp>
              <p:nvSpPr>
                <p:cNvPr id="214" name="Oval"/>
                <p:cNvSpPr/>
                <p:nvPr/>
              </p:nvSpPr>
              <p:spPr>
                <a:xfrm>
                  <a:off x="2330477" y="2568204"/>
                  <a:ext cx="179569" cy="140165"/>
                </a:xfrm>
                <a:prstGeom prst="ellipse">
                  <a:avLst/>
                </a:prstGeom>
                <a:solidFill>
                  <a:srgbClr val="00FDFF">
                    <a:alpha val="74307"/>
                  </a:srgbClr>
                </a:solidFill>
                <a:ln w="25400" cap="flat">
                  <a:solidFill>
                    <a:srgbClr val="8EFA00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5" name="Oval"/>
                <p:cNvSpPr/>
                <p:nvPr/>
              </p:nvSpPr>
              <p:spPr>
                <a:xfrm>
                  <a:off x="3862772" y="3037327"/>
                  <a:ext cx="179567" cy="140163"/>
                </a:xfrm>
                <a:prstGeom prst="ellipse">
                  <a:avLst/>
                </a:prstGeom>
                <a:solidFill>
                  <a:srgbClr val="00FDFF">
                    <a:alpha val="75404"/>
                  </a:srgbClr>
                </a:solidFill>
                <a:ln w="25400" cap="flat">
                  <a:solidFill>
                    <a:srgbClr val="8EFA00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6" name="Oval"/>
                <p:cNvSpPr/>
                <p:nvPr/>
              </p:nvSpPr>
              <p:spPr>
                <a:xfrm>
                  <a:off x="5352742" y="2568204"/>
                  <a:ext cx="179569" cy="140165"/>
                </a:xfrm>
                <a:prstGeom prst="ellipse">
                  <a:avLst/>
                </a:prstGeom>
                <a:solidFill>
                  <a:srgbClr val="00FDFF">
                    <a:alpha val="75123"/>
                  </a:srgbClr>
                </a:solidFill>
                <a:ln w="25400" cap="flat">
                  <a:solidFill>
                    <a:srgbClr val="8EFA00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217" name="Oval"/>
                <p:cNvSpPr/>
                <p:nvPr/>
              </p:nvSpPr>
              <p:spPr>
                <a:xfrm>
                  <a:off x="6402277" y="1795521"/>
                  <a:ext cx="179567" cy="140163"/>
                </a:xfrm>
                <a:prstGeom prst="ellipse">
                  <a:avLst/>
                </a:prstGeom>
                <a:solidFill>
                  <a:srgbClr val="00FDFF">
                    <a:alpha val="75404"/>
                  </a:srgbClr>
                </a:solidFill>
                <a:ln w="25400" cap="flat">
                  <a:solidFill>
                    <a:srgbClr val="8EFA00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</p:grpSp>
          <p:sp>
            <p:nvSpPr>
              <p:cNvPr id="219" name="LAC1"/>
              <p:cNvSpPr txBox="1"/>
              <p:nvPr/>
            </p:nvSpPr>
            <p:spPr>
              <a:xfrm>
                <a:off x="7637371" y="-256353"/>
                <a:ext cx="709986" cy="3952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65021" tIns="65021" rIns="65021" bIns="65021" numCol="1" anchor="t">
                <a:spAutoFit/>
              </a:bodyPr>
              <a:lstStyle/>
              <a:p>
                <a:r>
                  <a:rPr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  <a:r>
                  <a:rPr sz="2800" b="1" baseline="-5998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221" name="SAC1*"/>
            <p:cNvSpPr txBox="1"/>
            <p:nvPr/>
          </p:nvSpPr>
          <p:spPr>
            <a:xfrm>
              <a:off x="2157832" y="829203"/>
              <a:ext cx="752817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sz="1000"/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800" baseline="31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22" name="SAC2*"/>
            <p:cNvSpPr txBox="1"/>
            <p:nvPr/>
          </p:nvSpPr>
          <p:spPr>
            <a:xfrm>
              <a:off x="3393239" y="1456316"/>
              <a:ext cx="752817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sz="1000"/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baseline="31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23" name="SAC3*"/>
            <p:cNvSpPr txBox="1"/>
            <p:nvPr/>
          </p:nvSpPr>
          <p:spPr>
            <a:xfrm>
              <a:off x="4605380" y="1535290"/>
              <a:ext cx="752817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sz="1000"/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sz="2800" baseline="31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24" name="SAC4*"/>
            <p:cNvSpPr txBox="1"/>
            <p:nvPr/>
          </p:nvSpPr>
          <p:spPr>
            <a:xfrm>
              <a:off x="5922748" y="1560978"/>
              <a:ext cx="752817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sz="1000"/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sz="2800" baseline="31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25" name="SAC5*"/>
            <p:cNvSpPr txBox="1"/>
            <p:nvPr/>
          </p:nvSpPr>
          <p:spPr>
            <a:xfrm>
              <a:off x="6933143" y="601835"/>
              <a:ext cx="752817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pPr>
                <a:defRPr sz="1000"/>
              </a:pPr>
              <a:r>
                <a:rPr sz="28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2800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sz="2800" baseline="31999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DD20D-D4DC-FB42-9E13-8E08318B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30</a:t>
            </a:fld>
            <a:endParaRPr lang="en-US"/>
          </a:p>
        </p:txBody>
      </p:sp>
      <p:sp>
        <p:nvSpPr>
          <p:cNvPr id="59" name="Qty">
            <a:extLst>
              <a:ext uri="{FF2B5EF4-FFF2-40B4-BE49-F238E27FC236}">
                <a16:creationId xmlns:a16="http://schemas.microsoft.com/office/drawing/2014/main" id="{946D20AC-D0F9-BF4F-B7DC-4333FB25209B}"/>
              </a:ext>
            </a:extLst>
          </p:cNvPr>
          <p:cNvSpPr txBox="1"/>
          <p:nvPr/>
        </p:nvSpPr>
        <p:spPr>
          <a:xfrm>
            <a:off x="3483079" y="45416"/>
            <a:ext cx="5458879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of the LAC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38330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 advAuto="0"/>
      <p:bldP spid="226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152F-C5E6-277C-54BB-8567CE9F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Line">
            <a:extLst>
              <a:ext uri="{FF2B5EF4-FFF2-40B4-BE49-F238E27FC236}">
                <a16:creationId xmlns:a16="http://schemas.microsoft.com/office/drawing/2014/main" id="{8414B7D9-380D-C870-AF1C-BF709DA0A7D2}"/>
              </a:ext>
            </a:extLst>
          </p:cNvPr>
          <p:cNvSpPr/>
          <p:nvPr/>
        </p:nvSpPr>
        <p:spPr>
          <a:xfrm flipV="1">
            <a:off x="834082" y="707410"/>
            <a:ext cx="3" cy="8653939"/>
          </a:xfrm>
          <a:prstGeom prst="line">
            <a:avLst/>
          </a:prstGeom>
          <a:ln w="19050">
            <a:solidFill>
              <a:srgbClr val="000000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98" name="Line">
            <a:extLst>
              <a:ext uri="{FF2B5EF4-FFF2-40B4-BE49-F238E27FC236}">
                <a16:creationId xmlns:a16="http://schemas.microsoft.com/office/drawing/2014/main" id="{3A720523-5483-A8E1-6CB4-ED9C50CBF8CD}"/>
              </a:ext>
            </a:extLst>
          </p:cNvPr>
          <p:cNvSpPr/>
          <p:nvPr/>
        </p:nvSpPr>
        <p:spPr>
          <a:xfrm>
            <a:off x="127515" y="8539332"/>
            <a:ext cx="12877285" cy="3"/>
          </a:xfrm>
          <a:prstGeom prst="line">
            <a:avLst/>
          </a:prstGeom>
          <a:ln w="1905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99" name="Qty">
            <a:extLst>
              <a:ext uri="{FF2B5EF4-FFF2-40B4-BE49-F238E27FC236}">
                <a16:creationId xmlns:a16="http://schemas.microsoft.com/office/drawing/2014/main" id="{B2704092-C934-C96A-E716-823A5920AD68}"/>
              </a:ext>
            </a:extLst>
          </p:cNvPr>
          <p:cNvSpPr txBox="1"/>
          <p:nvPr/>
        </p:nvSpPr>
        <p:spPr>
          <a:xfrm>
            <a:off x="12091890" y="8502060"/>
            <a:ext cx="769307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00" name="LAC">
            <a:extLst>
              <a:ext uri="{FF2B5EF4-FFF2-40B4-BE49-F238E27FC236}">
                <a16:creationId xmlns:a16="http://schemas.microsoft.com/office/drawing/2014/main" id="{F34EDC95-EB1A-49E8-170D-7B88BB298A73}"/>
              </a:ext>
            </a:extLst>
          </p:cNvPr>
          <p:cNvSpPr txBox="1"/>
          <p:nvPr/>
        </p:nvSpPr>
        <p:spPr>
          <a:xfrm>
            <a:off x="87804" y="916595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201" name="SACs">
            <a:extLst>
              <a:ext uri="{FF2B5EF4-FFF2-40B4-BE49-F238E27FC236}">
                <a16:creationId xmlns:a16="http://schemas.microsoft.com/office/drawing/2014/main" id="{EC1A5165-1709-4895-B289-A40A0BE61288}"/>
              </a:ext>
            </a:extLst>
          </p:cNvPr>
          <p:cNvSpPr txBox="1"/>
          <p:nvPr/>
        </p:nvSpPr>
        <p:spPr>
          <a:xfrm>
            <a:off x="87804" y="637044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 dirty="0"/>
              <a:t>SAC</a:t>
            </a:r>
            <a:r>
              <a:rPr sz="2133" baseline="-5998" dirty="0"/>
              <a:t>s</a:t>
            </a:r>
          </a:p>
        </p:txBody>
      </p:sp>
      <p:grpSp>
        <p:nvGrpSpPr>
          <p:cNvPr id="220" name="Group">
            <a:extLst>
              <a:ext uri="{FF2B5EF4-FFF2-40B4-BE49-F238E27FC236}">
                <a16:creationId xmlns:a16="http://schemas.microsoft.com/office/drawing/2014/main" id="{6CB99EBD-AB97-55F4-7808-91EB66C0B744}"/>
              </a:ext>
            </a:extLst>
          </p:cNvPr>
          <p:cNvGrpSpPr/>
          <p:nvPr/>
        </p:nvGrpSpPr>
        <p:grpSpPr>
          <a:xfrm>
            <a:off x="1219027" y="2636859"/>
            <a:ext cx="11785774" cy="4466393"/>
            <a:chOff x="-1" y="-2"/>
            <a:chExt cx="8286868" cy="3140430"/>
          </a:xfrm>
        </p:grpSpPr>
        <p:sp>
          <p:nvSpPr>
            <p:cNvPr id="207" name="Connection Line">
              <a:extLst>
                <a:ext uri="{FF2B5EF4-FFF2-40B4-BE49-F238E27FC236}">
                  <a16:creationId xmlns:a16="http://schemas.microsoft.com/office/drawing/2014/main" id="{3D5DCDAE-800E-5985-55A9-AEB1B24CCEAD}"/>
                </a:ext>
              </a:extLst>
            </p:cNvPr>
            <p:cNvSpPr/>
            <p:nvPr/>
          </p:nvSpPr>
          <p:spPr>
            <a:xfrm>
              <a:off x="-1" y="-2"/>
              <a:ext cx="8056004" cy="3140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493"/>
                  </a:moveTo>
                  <a:cubicBezTo>
                    <a:pt x="13891" y="21600"/>
                    <a:pt x="6691" y="21436"/>
                    <a:pt x="0" y="0"/>
                  </a:cubicBezTo>
                </a:path>
              </a:pathLst>
            </a:custGeom>
            <a:noFill/>
            <a:ln w="57150" cap="flat">
              <a:solidFill>
                <a:srgbClr val="0070C0"/>
              </a:solidFill>
              <a:prstDash val="solid"/>
              <a:miter lim="400000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219" name="LAC1">
              <a:extLst>
                <a:ext uri="{FF2B5EF4-FFF2-40B4-BE49-F238E27FC236}">
                  <a16:creationId xmlns:a16="http://schemas.microsoft.com/office/drawing/2014/main" id="{CE97C581-34F9-50A1-CE09-477913A0EB70}"/>
                </a:ext>
              </a:extLst>
            </p:cNvPr>
            <p:cNvSpPr txBox="1"/>
            <p:nvPr/>
          </p:nvSpPr>
          <p:spPr>
            <a:xfrm>
              <a:off x="7576881" y="591415"/>
              <a:ext cx="709986" cy="3952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LAC</a:t>
              </a:r>
              <a:r>
                <a:rPr sz="2800" b="1" baseline="-5998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57" name="Qty">
            <a:extLst>
              <a:ext uri="{FF2B5EF4-FFF2-40B4-BE49-F238E27FC236}">
                <a16:creationId xmlns:a16="http://schemas.microsoft.com/office/drawing/2014/main" id="{3B94DE43-A40A-1C45-057C-0855A1073308}"/>
              </a:ext>
            </a:extLst>
          </p:cNvPr>
          <p:cNvSpPr txBox="1"/>
          <p:nvPr/>
        </p:nvSpPr>
        <p:spPr>
          <a:xfrm>
            <a:off x="2196107" y="89811"/>
            <a:ext cx="8189518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of the LAC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F7AD2-06FB-A5FB-92C5-9F571AE6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31</a:t>
            </a:fld>
            <a:endParaRPr lang="en-US"/>
          </a:p>
        </p:txBody>
      </p:sp>
      <p:sp>
        <p:nvSpPr>
          <p:cNvPr id="182" name="Connection Line">
            <a:extLst>
              <a:ext uri="{FF2B5EF4-FFF2-40B4-BE49-F238E27FC236}">
                <a16:creationId xmlns:a16="http://schemas.microsoft.com/office/drawing/2014/main" id="{FDB26496-DA74-8127-E673-807D08DB8FA8}"/>
              </a:ext>
            </a:extLst>
          </p:cNvPr>
          <p:cNvSpPr/>
          <p:nvPr/>
        </p:nvSpPr>
        <p:spPr>
          <a:xfrm>
            <a:off x="1219029" y="1525892"/>
            <a:ext cx="11457431" cy="44663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493"/>
                </a:moveTo>
                <a:cubicBezTo>
                  <a:pt x="13891" y="21600"/>
                  <a:pt x="6691" y="21436"/>
                  <a:pt x="0" y="0"/>
                </a:cubicBezTo>
              </a:path>
            </a:pathLst>
          </a:custGeom>
          <a:noFill/>
          <a:ln w="63500" cap="flat">
            <a:solidFill>
              <a:srgbClr val="C000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65021" tIns="65021" rIns="65021" bIns="65021" numCol="1" anchor="t">
            <a:noAutofit/>
          </a:bodyPr>
          <a:lstStyle/>
          <a:p>
            <a:endParaRPr sz="5120"/>
          </a:p>
        </p:txBody>
      </p:sp>
      <p:sp>
        <p:nvSpPr>
          <p:cNvPr id="194" name="LAC2">
            <a:extLst>
              <a:ext uri="{FF2B5EF4-FFF2-40B4-BE49-F238E27FC236}">
                <a16:creationId xmlns:a16="http://schemas.microsoft.com/office/drawing/2014/main" id="{B5D71147-857C-0BB8-8444-54218432F506}"/>
              </a:ext>
            </a:extLst>
          </p:cNvPr>
          <p:cNvSpPr txBox="1"/>
          <p:nvPr/>
        </p:nvSpPr>
        <p:spPr>
          <a:xfrm>
            <a:off x="11451159" y="1154498"/>
            <a:ext cx="1134793" cy="6237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65021" tIns="65021" rIns="65021" bIns="65021" numCol="1" anchor="t">
            <a:spAutoFit/>
          </a:bodyPr>
          <a:lstStyle/>
          <a:p>
            <a:r>
              <a:rPr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</a:t>
            </a:r>
            <a:r>
              <a:rPr sz="3200" b="1" baseline="-599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8" name="Qty">
            <a:extLst>
              <a:ext uri="{FF2B5EF4-FFF2-40B4-BE49-F238E27FC236}">
                <a16:creationId xmlns:a16="http://schemas.microsoft.com/office/drawing/2014/main" id="{39F74965-D5FD-BA67-2698-3EAD3ECC9355}"/>
              </a:ext>
            </a:extLst>
          </p:cNvPr>
          <p:cNvSpPr txBox="1"/>
          <p:nvPr/>
        </p:nvSpPr>
        <p:spPr>
          <a:xfrm>
            <a:off x="2027619" y="2050380"/>
            <a:ext cx="6163922" cy="111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LAC</a:t>
            </a:r>
            <a:r>
              <a:rPr lang="en-US" sz="32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</a:t>
            </a:r>
          </a:p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Diseconomies of Scale</a:t>
            </a:r>
            <a:endParaRPr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34DB005-8A4A-F3CA-2B54-00933BDF9E4E}"/>
              </a:ext>
            </a:extLst>
          </p:cNvPr>
          <p:cNvCxnSpPr>
            <a:cxnSpLocks/>
          </p:cNvCxnSpPr>
          <p:nvPr/>
        </p:nvCxnSpPr>
        <p:spPr>
          <a:xfrm flipV="1">
            <a:off x="2635624" y="3759087"/>
            <a:ext cx="0" cy="609600"/>
          </a:xfrm>
          <a:prstGeom prst="straightConnector1">
            <a:avLst/>
          </a:prstGeom>
          <a:noFill/>
          <a:ln w="57150" cap="flat">
            <a:solidFill>
              <a:srgbClr val="C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Qty">
            <a:extLst>
              <a:ext uri="{FF2B5EF4-FFF2-40B4-BE49-F238E27FC236}">
                <a16:creationId xmlns:a16="http://schemas.microsoft.com/office/drawing/2014/main" id="{2B039260-1DF5-F8B5-69F7-DFEA49400453}"/>
              </a:ext>
            </a:extLst>
          </p:cNvPr>
          <p:cNvSpPr txBox="1"/>
          <p:nvPr/>
        </p:nvSpPr>
        <p:spPr>
          <a:xfrm>
            <a:off x="7848421" y="6545153"/>
            <a:ext cx="5156379" cy="111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</a:t>
            </a:r>
            <a:r>
              <a:rPr 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LAC</a:t>
            </a:r>
            <a:r>
              <a:rPr lang="en-US" sz="32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due to </a:t>
            </a:r>
          </a:p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Economies of Scale</a:t>
            </a:r>
            <a:endParaRPr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F4E49E-D56E-F6FD-3D8E-99BDC9BB73EF}"/>
              </a:ext>
            </a:extLst>
          </p:cNvPr>
          <p:cNvCxnSpPr>
            <a:cxnSpLocks/>
          </p:cNvCxnSpPr>
          <p:nvPr/>
        </p:nvCxnSpPr>
        <p:spPr>
          <a:xfrm>
            <a:off x="9206754" y="5478992"/>
            <a:ext cx="0" cy="513292"/>
          </a:xfrm>
          <a:prstGeom prst="straightConnector1">
            <a:avLst/>
          </a:prstGeom>
          <a:noFill/>
          <a:ln w="57150" cap="flat">
            <a:solidFill>
              <a:srgbClr val="0070C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220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7079-22F6-9C2E-1F40-F89CDF03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3277FF-D752-2BFA-69EB-D66669CEAE10}"/>
              </a:ext>
            </a:extLst>
          </p:cNvPr>
          <p:cNvGrpSpPr/>
          <p:nvPr/>
        </p:nvGrpSpPr>
        <p:grpSpPr>
          <a:xfrm>
            <a:off x="369379" y="280261"/>
            <a:ext cx="10935269" cy="4491156"/>
            <a:chOff x="-183514" y="188210"/>
            <a:chExt cx="10935269" cy="4491156"/>
          </a:xfrm>
        </p:grpSpPr>
        <p:sp>
          <p:nvSpPr>
            <p:cNvPr id="127" name="SACs">
              <a:extLst>
                <a:ext uri="{FF2B5EF4-FFF2-40B4-BE49-F238E27FC236}">
                  <a16:creationId xmlns:a16="http://schemas.microsoft.com/office/drawing/2014/main" id="{F571325A-C969-9E90-DD58-07A2451FD9EF}"/>
                </a:ext>
              </a:extLst>
            </p:cNvPr>
            <p:cNvSpPr txBox="1"/>
            <p:nvPr/>
          </p:nvSpPr>
          <p:spPr>
            <a:xfrm>
              <a:off x="-177272" y="531978"/>
              <a:ext cx="639463" cy="40831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/>
            <a:p>
              <a:pPr>
                <a:defRPr sz="1500"/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1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696BF5-B4BF-11AF-3A1C-9824F2DE5BAD}"/>
                </a:ext>
              </a:extLst>
            </p:cNvPr>
            <p:cNvGrpSpPr/>
            <p:nvPr/>
          </p:nvGrpSpPr>
          <p:grpSpPr>
            <a:xfrm>
              <a:off x="-183514" y="188210"/>
              <a:ext cx="10935269" cy="4491156"/>
              <a:chOff x="-265875" y="271506"/>
              <a:chExt cx="15274416" cy="6855863"/>
            </a:xfrm>
          </p:grpSpPr>
          <p:grpSp>
            <p:nvGrpSpPr>
              <p:cNvPr id="122" name="Group">
                <a:extLst>
                  <a:ext uri="{FF2B5EF4-FFF2-40B4-BE49-F238E27FC236}">
                    <a16:creationId xmlns:a16="http://schemas.microsoft.com/office/drawing/2014/main" id="{743DCDEF-F713-0E93-0DF9-6F387A2FAEF5}"/>
                  </a:ext>
                </a:extLst>
              </p:cNvPr>
              <p:cNvGrpSpPr/>
              <p:nvPr/>
            </p:nvGrpSpPr>
            <p:grpSpPr>
              <a:xfrm>
                <a:off x="1227522" y="501279"/>
                <a:ext cx="11614818" cy="4887616"/>
                <a:chOff x="-1" y="-1"/>
                <a:chExt cx="8166668" cy="3436604"/>
              </a:xfrm>
            </p:grpSpPr>
            <p:sp>
              <p:nvSpPr>
                <p:cNvPr id="114" name="Oval">
                  <a:extLst>
                    <a:ext uri="{FF2B5EF4-FFF2-40B4-BE49-F238E27FC236}">
                      <a16:creationId xmlns:a16="http://schemas.microsoft.com/office/drawing/2014/main" id="{7BB25DA5-A05A-0A80-34FA-B57CE6C9460A}"/>
                    </a:ext>
                  </a:extLst>
                </p:cNvPr>
                <p:cNvSpPr/>
                <p:nvPr/>
              </p:nvSpPr>
              <p:spPr>
                <a:xfrm>
                  <a:off x="1141400" y="1766575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15" name="Oval">
                  <a:extLst>
                    <a:ext uri="{FF2B5EF4-FFF2-40B4-BE49-F238E27FC236}">
                      <a16:creationId xmlns:a16="http://schemas.microsoft.com/office/drawing/2014/main" id="{BDEABD99-F754-F948-F880-A1109B695705}"/>
                    </a:ext>
                  </a:extLst>
                </p:cNvPr>
                <p:cNvSpPr/>
                <p:nvPr/>
              </p:nvSpPr>
              <p:spPr>
                <a:xfrm>
                  <a:off x="2289836" y="2772937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16" name="Oval">
                  <a:extLst>
                    <a:ext uri="{FF2B5EF4-FFF2-40B4-BE49-F238E27FC236}">
                      <a16:creationId xmlns:a16="http://schemas.microsoft.com/office/drawing/2014/main" id="{FE1B613D-ABC9-C4A5-2647-A7E17F6A14BD}"/>
                    </a:ext>
                  </a:extLst>
                </p:cNvPr>
                <p:cNvSpPr/>
                <p:nvPr/>
              </p:nvSpPr>
              <p:spPr>
                <a:xfrm>
                  <a:off x="3828594" y="3242060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17" name="Oval">
                  <a:extLst>
                    <a:ext uri="{FF2B5EF4-FFF2-40B4-BE49-F238E27FC236}">
                      <a16:creationId xmlns:a16="http://schemas.microsoft.com/office/drawing/2014/main" id="{98171ABF-5CC8-D836-88C3-DEF32DF8DF55}"/>
                    </a:ext>
                  </a:extLst>
                </p:cNvPr>
                <p:cNvSpPr/>
                <p:nvPr/>
              </p:nvSpPr>
              <p:spPr>
                <a:xfrm>
                  <a:off x="5339256" y="2844058"/>
                  <a:ext cx="179567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18" name="Oval">
                  <a:extLst>
                    <a:ext uri="{FF2B5EF4-FFF2-40B4-BE49-F238E27FC236}">
                      <a16:creationId xmlns:a16="http://schemas.microsoft.com/office/drawing/2014/main" id="{38132AC0-542D-22F4-74C3-7BB038BBF8F9}"/>
                    </a:ext>
                  </a:extLst>
                </p:cNvPr>
                <p:cNvSpPr/>
                <p:nvPr/>
              </p:nvSpPr>
              <p:spPr>
                <a:xfrm>
                  <a:off x="6331246" y="2095251"/>
                  <a:ext cx="179569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round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sz="5120"/>
                </a:p>
              </p:txBody>
            </p:sp>
            <p:grpSp>
              <p:nvGrpSpPr>
                <p:cNvPr id="121" name="Group">
                  <a:extLst>
                    <a:ext uri="{FF2B5EF4-FFF2-40B4-BE49-F238E27FC236}">
                      <a16:creationId xmlns:a16="http://schemas.microsoft.com/office/drawing/2014/main" id="{9579519C-6DBB-3D84-BD18-E7196E61231B}"/>
                    </a:ext>
                  </a:extLst>
                </p:cNvPr>
                <p:cNvGrpSpPr/>
                <p:nvPr/>
              </p:nvGrpSpPr>
              <p:grpSpPr>
                <a:xfrm>
                  <a:off x="-1" y="-1"/>
                  <a:ext cx="8166668" cy="3436604"/>
                  <a:chOff x="0" y="0"/>
                  <a:chExt cx="8166666" cy="3436603"/>
                </a:xfrm>
              </p:grpSpPr>
              <p:sp>
                <p:nvSpPr>
                  <p:cNvPr id="119" name="Connection Line">
                    <a:extLst>
                      <a:ext uri="{FF2B5EF4-FFF2-40B4-BE49-F238E27FC236}">
                        <a16:creationId xmlns:a16="http://schemas.microsoft.com/office/drawing/2014/main" id="{CFED9BF2-96E9-92DA-770E-775306306217}"/>
                      </a:ext>
                    </a:extLst>
                  </p:cNvPr>
                  <p:cNvSpPr/>
                  <p:nvPr/>
                </p:nvSpPr>
                <p:spPr>
                  <a:xfrm>
                    <a:off x="0" y="296176"/>
                    <a:ext cx="8056000" cy="31404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16201" extrusionOk="0">
                        <a:moveTo>
                          <a:pt x="21600" y="493"/>
                        </a:moveTo>
                        <a:cubicBezTo>
                          <a:pt x="13891" y="21600"/>
                          <a:pt x="6691" y="21436"/>
                          <a:pt x="0" y="0"/>
                        </a:cubicBezTo>
                      </a:path>
                    </a:pathLst>
                  </a:custGeom>
                  <a:noFill/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wrap="square" lIns="65021" tIns="65021" rIns="65021" bIns="65021" numCol="1" anchor="t">
                    <a:noAutofit/>
                  </a:bodyPr>
                  <a:lstStyle/>
                  <a:p>
                    <a:endParaRPr sz="5120"/>
                  </a:p>
                </p:txBody>
              </p:sp>
              <p:sp>
                <p:nvSpPr>
                  <p:cNvPr id="120" name="LAC">
                    <a:extLst>
                      <a:ext uri="{FF2B5EF4-FFF2-40B4-BE49-F238E27FC236}">
                        <a16:creationId xmlns:a16="http://schemas.microsoft.com/office/drawing/2014/main" id="{3085B20C-9649-8DD3-1D6D-DC089870D22E}"/>
                      </a:ext>
                    </a:extLst>
                  </p:cNvPr>
                  <p:cNvSpPr txBox="1"/>
                  <p:nvPr/>
                </p:nvSpPr>
                <p:spPr>
                  <a:xfrm>
                    <a:off x="7584287" y="0"/>
                    <a:ext cx="582379" cy="43825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65021" tIns="65021" rIns="65021" bIns="65021" numCol="1" anchor="t">
                    <a:spAutoFit/>
                  </a:bodyPr>
                  <a:lstStyle/>
                  <a:p>
                    <a:r>
                      <a: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LAC</a:t>
                    </a:r>
                  </a:p>
                </p:txBody>
              </p:sp>
            </p:grpSp>
          </p:grpSp>
          <p:sp>
            <p:nvSpPr>
              <p:cNvPr id="123" name="Line">
                <a:extLst>
                  <a:ext uri="{FF2B5EF4-FFF2-40B4-BE49-F238E27FC236}">
                    <a16:creationId xmlns:a16="http://schemas.microsoft.com/office/drawing/2014/main" id="{91AA84F5-EC52-B63C-C54A-C99DBFC34807}"/>
                  </a:ext>
                </a:extLst>
              </p:cNvPr>
              <p:cNvSpPr/>
              <p:nvPr/>
            </p:nvSpPr>
            <p:spPr>
              <a:xfrm flipV="1">
                <a:off x="763137" y="271506"/>
                <a:ext cx="0" cy="655710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124" name="Line">
                <a:extLst>
                  <a:ext uri="{FF2B5EF4-FFF2-40B4-BE49-F238E27FC236}">
                    <a16:creationId xmlns:a16="http://schemas.microsoft.com/office/drawing/2014/main" id="{29A03D0F-ECEF-BAF5-5883-4599F6927A72}"/>
                  </a:ext>
                </a:extLst>
              </p:cNvPr>
              <p:cNvSpPr/>
              <p:nvPr/>
            </p:nvSpPr>
            <p:spPr>
              <a:xfrm flipV="1">
                <a:off x="-61187" y="6134398"/>
                <a:ext cx="1506972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headEnd type="diamond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125" name="Qty">
                <a:extLst>
                  <a:ext uri="{FF2B5EF4-FFF2-40B4-BE49-F238E27FC236}">
                    <a16:creationId xmlns:a16="http://schemas.microsoft.com/office/drawing/2014/main" id="{EDC9C6F7-0FC2-4807-3DEC-165AB2B860E4}"/>
                  </a:ext>
                </a:extLst>
              </p:cNvPr>
              <p:cNvSpPr txBox="1"/>
              <p:nvPr/>
            </p:nvSpPr>
            <p:spPr>
              <a:xfrm>
                <a:off x="13883161" y="6504072"/>
                <a:ext cx="1125379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5021" tIns="65021" rIns="65021" bIns="65021">
                <a:spAutoFit/>
              </a:bodyPr>
              <a:lstStyle/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126" name="LAC">
                <a:extLst>
                  <a:ext uri="{FF2B5EF4-FFF2-40B4-BE49-F238E27FC236}">
                    <a16:creationId xmlns:a16="http://schemas.microsoft.com/office/drawing/2014/main" id="{2F3FC273-11AF-5ED3-7D5D-BB84D858686E}"/>
                  </a:ext>
                </a:extLst>
              </p:cNvPr>
              <p:cNvSpPr txBox="1"/>
              <p:nvPr/>
            </p:nvSpPr>
            <p:spPr>
              <a:xfrm>
                <a:off x="-265875" y="271506"/>
                <a:ext cx="828272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65021" tIns="65021" rIns="65021" bIns="65021">
                <a:spAutoFit/>
              </a:bodyPr>
              <a:lstStyle>
                <a:lvl1pPr>
                  <a:defRPr sz="1500"/>
                </a:lvl1pPr>
              </a:lstStyle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  <p:grpSp>
            <p:nvGrpSpPr>
              <p:cNvPr id="135" name="Group">
                <a:extLst>
                  <a:ext uri="{FF2B5EF4-FFF2-40B4-BE49-F238E27FC236}">
                    <a16:creationId xmlns:a16="http://schemas.microsoft.com/office/drawing/2014/main" id="{97FFCC10-7B37-9B9D-CAB0-3172EBBCA4C3}"/>
                  </a:ext>
                </a:extLst>
              </p:cNvPr>
              <p:cNvGrpSpPr/>
              <p:nvPr/>
            </p:nvGrpSpPr>
            <p:grpSpPr>
              <a:xfrm>
                <a:off x="2047327" y="718456"/>
                <a:ext cx="3524423" cy="3015637"/>
                <a:chOff x="0" y="-62212"/>
                <a:chExt cx="2478106" cy="2120368"/>
              </a:xfrm>
            </p:grpSpPr>
            <p:sp>
              <p:nvSpPr>
                <p:cNvPr id="132" name="Line">
                  <a:extLst>
                    <a:ext uri="{FF2B5EF4-FFF2-40B4-BE49-F238E27FC236}">
                      <a16:creationId xmlns:a16="http://schemas.microsoft.com/office/drawing/2014/main" id="{2425F5AD-A33F-9D89-3D9D-92A1F339E421}"/>
                    </a:ext>
                  </a:extLst>
                </p:cNvPr>
                <p:cNvSpPr/>
                <p:nvPr/>
              </p:nvSpPr>
              <p:spPr>
                <a:xfrm flipV="1">
                  <a:off x="1028960" y="1758034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33" name="Connection Line">
                  <a:extLst>
                    <a:ext uri="{FF2B5EF4-FFF2-40B4-BE49-F238E27FC236}">
                      <a16:creationId xmlns:a16="http://schemas.microsoft.com/office/drawing/2014/main" id="{60A4B2ED-BC72-9D29-2139-0786E6132C20}"/>
                    </a:ext>
                  </a:extLst>
                </p:cNvPr>
                <p:cNvSpPr/>
                <p:nvPr/>
              </p:nvSpPr>
              <p:spPr>
                <a:xfrm>
                  <a:off x="0" y="254704"/>
                  <a:ext cx="2095016" cy="16796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38" y="21600"/>
                        <a:pt x="7238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34" name="SAC1">
                  <a:extLst>
                    <a:ext uri="{FF2B5EF4-FFF2-40B4-BE49-F238E27FC236}">
                      <a16:creationId xmlns:a16="http://schemas.microsoft.com/office/drawing/2014/main" id="{D09A994C-8FC7-1578-B9CC-9B2A53DAB158}"/>
                    </a:ext>
                  </a:extLst>
                </p:cNvPr>
                <p:cNvSpPr txBox="1"/>
                <p:nvPr/>
              </p:nvSpPr>
              <p:spPr>
                <a:xfrm>
                  <a:off x="1832754" y="-62212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142" name="Group">
                <a:extLst>
                  <a:ext uri="{FF2B5EF4-FFF2-40B4-BE49-F238E27FC236}">
                    <a16:creationId xmlns:a16="http://schemas.microsoft.com/office/drawing/2014/main" id="{97A9D354-C313-B7D8-9141-5E3CE811AC13}"/>
                  </a:ext>
                </a:extLst>
              </p:cNvPr>
              <p:cNvGrpSpPr/>
              <p:nvPr/>
            </p:nvGrpSpPr>
            <p:grpSpPr>
              <a:xfrm>
                <a:off x="3324264" y="1921071"/>
                <a:ext cx="3498076" cy="2981538"/>
                <a:chOff x="0" y="-214479"/>
                <a:chExt cx="2459583" cy="2096390"/>
              </a:xfrm>
            </p:grpSpPr>
            <p:sp>
              <p:nvSpPr>
                <p:cNvPr id="139" name="Connection Line">
                  <a:extLst>
                    <a:ext uri="{FF2B5EF4-FFF2-40B4-BE49-F238E27FC236}">
                      <a16:creationId xmlns:a16="http://schemas.microsoft.com/office/drawing/2014/main" id="{157FB9FF-7659-1D21-73CA-CFD4A1C13891}"/>
                    </a:ext>
                  </a:extLst>
                </p:cNvPr>
                <p:cNvSpPr/>
                <p:nvPr/>
              </p:nvSpPr>
              <p:spPr>
                <a:xfrm>
                  <a:off x="0" y="104700"/>
                  <a:ext cx="2340877" cy="16834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58"/>
                      </a:moveTo>
                      <a:cubicBezTo>
                        <a:pt x="14460" y="21600"/>
                        <a:pt x="7260" y="2144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40" name="Line">
                  <a:extLst>
                    <a:ext uri="{FF2B5EF4-FFF2-40B4-BE49-F238E27FC236}">
                      <a16:creationId xmlns:a16="http://schemas.microsoft.com/office/drawing/2014/main" id="{02BA38D6-EB54-F0B3-3608-94F8207EDD90}"/>
                    </a:ext>
                  </a:extLst>
                </p:cNvPr>
                <p:cNvSpPr/>
                <p:nvPr/>
              </p:nvSpPr>
              <p:spPr>
                <a:xfrm flipV="1">
                  <a:off x="1170442" y="1581789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41" name="SAC2">
                  <a:extLst>
                    <a:ext uri="{FF2B5EF4-FFF2-40B4-BE49-F238E27FC236}">
                      <a16:creationId xmlns:a16="http://schemas.microsoft.com/office/drawing/2014/main" id="{50A3A119-2D53-D75D-9FB6-171167C3B68E}"/>
                    </a:ext>
                  </a:extLst>
                </p:cNvPr>
                <p:cNvSpPr txBox="1"/>
                <p:nvPr/>
              </p:nvSpPr>
              <p:spPr>
                <a:xfrm>
                  <a:off x="1814231" y="-214479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150" name="Group">
                <a:extLst>
                  <a:ext uri="{FF2B5EF4-FFF2-40B4-BE49-F238E27FC236}">
                    <a16:creationId xmlns:a16="http://schemas.microsoft.com/office/drawing/2014/main" id="{3CC31B9C-A28A-D789-867D-45BDD7E507CA}"/>
                  </a:ext>
                </a:extLst>
              </p:cNvPr>
              <p:cNvGrpSpPr/>
              <p:nvPr/>
            </p:nvGrpSpPr>
            <p:grpSpPr>
              <a:xfrm>
                <a:off x="5310031" y="2348919"/>
                <a:ext cx="3216158" cy="3383077"/>
                <a:chOff x="-1" y="-152100"/>
                <a:chExt cx="2261358" cy="2378724"/>
              </a:xfrm>
            </p:grpSpPr>
            <p:sp>
              <p:nvSpPr>
                <p:cNvPr id="147" name="Connection Line">
                  <a:extLst>
                    <a:ext uri="{FF2B5EF4-FFF2-40B4-BE49-F238E27FC236}">
                      <a16:creationId xmlns:a16="http://schemas.microsoft.com/office/drawing/2014/main" id="{C29689B4-0513-7477-1456-833D36DE1E10}"/>
                    </a:ext>
                  </a:extLst>
                </p:cNvPr>
                <p:cNvSpPr/>
                <p:nvPr/>
              </p:nvSpPr>
              <p:spPr>
                <a:xfrm>
                  <a:off x="-1" y="275232"/>
                  <a:ext cx="2053428" cy="16796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20" y="21600"/>
                        <a:pt x="7220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3">
                      <a:satOff val="-6373"/>
                      <a:lumOff val="-10823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48" name="Line">
                  <a:extLst>
                    <a:ext uri="{FF2B5EF4-FFF2-40B4-BE49-F238E27FC236}">
                      <a16:creationId xmlns:a16="http://schemas.microsoft.com/office/drawing/2014/main" id="{CD7C5BFC-45CF-4A46-B976-E6AF46EE69CD}"/>
                    </a:ext>
                  </a:extLst>
                </p:cNvPr>
                <p:cNvSpPr/>
                <p:nvPr/>
              </p:nvSpPr>
              <p:spPr>
                <a:xfrm flipV="1">
                  <a:off x="1047863" y="1698421"/>
                  <a:ext cx="2" cy="528203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49" name="SAC3">
                  <a:extLst>
                    <a:ext uri="{FF2B5EF4-FFF2-40B4-BE49-F238E27FC236}">
                      <a16:creationId xmlns:a16="http://schemas.microsoft.com/office/drawing/2014/main" id="{B3E5F5F3-275F-D58F-F1C7-600C48B10CDF}"/>
                    </a:ext>
                  </a:extLst>
                </p:cNvPr>
                <p:cNvSpPr txBox="1"/>
                <p:nvPr/>
              </p:nvSpPr>
              <p:spPr>
                <a:xfrm>
                  <a:off x="1616005" y="-152100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grpSp>
            <p:nvGrpSpPr>
              <p:cNvPr id="158" name="Group">
                <a:extLst>
                  <a:ext uri="{FF2B5EF4-FFF2-40B4-BE49-F238E27FC236}">
                    <a16:creationId xmlns:a16="http://schemas.microsoft.com/office/drawing/2014/main" id="{C2BE5DB4-D988-B7FD-5AF8-0130E8E38207}"/>
                  </a:ext>
                </a:extLst>
              </p:cNvPr>
              <p:cNvGrpSpPr/>
              <p:nvPr/>
            </p:nvGrpSpPr>
            <p:grpSpPr>
              <a:xfrm>
                <a:off x="6861930" y="1921071"/>
                <a:ext cx="3575979" cy="3010438"/>
                <a:chOff x="-1" y="-100024"/>
                <a:chExt cx="2514358" cy="2116711"/>
              </a:xfrm>
            </p:grpSpPr>
            <p:sp>
              <p:nvSpPr>
                <p:cNvPr id="155" name="Connection Line">
                  <a:extLst>
                    <a:ext uri="{FF2B5EF4-FFF2-40B4-BE49-F238E27FC236}">
                      <a16:creationId xmlns:a16="http://schemas.microsoft.com/office/drawing/2014/main" id="{A003B69C-7EDF-32B9-5B94-11043536DB21}"/>
                    </a:ext>
                  </a:extLst>
                </p:cNvPr>
                <p:cNvSpPr/>
                <p:nvPr/>
              </p:nvSpPr>
              <p:spPr>
                <a:xfrm>
                  <a:off x="-1" y="294227"/>
                  <a:ext cx="2306983" cy="1677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40"/>
                      </a:moveTo>
                      <a:cubicBezTo>
                        <a:pt x="14559" y="21600"/>
                        <a:pt x="7359" y="2148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4">
                      <a:satOff val="-1335"/>
                      <a:lumOff val="-10274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56" name="Line">
                  <a:extLst>
                    <a:ext uri="{FF2B5EF4-FFF2-40B4-BE49-F238E27FC236}">
                      <a16:creationId xmlns:a16="http://schemas.microsoft.com/office/drawing/2014/main" id="{B6EC2E04-FBA2-8B86-ADEB-F956A0604CFB}"/>
                    </a:ext>
                  </a:extLst>
                </p:cNvPr>
                <p:cNvSpPr/>
                <p:nvPr/>
              </p:nvSpPr>
              <p:spPr>
                <a:xfrm flipV="1">
                  <a:off x="1166254" y="1716565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57" name="SAC4">
                  <a:extLst>
                    <a:ext uri="{FF2B5EF4-FFF2-40B4-BE49-F238E27FC236}">
                      <a16:creationId xmlns:a16="http://schemas.microsoft.com/office/drawing/2014/main" id="{074A651F-351A-2E1A-A1C4-3C159F651EF6}"/>
                    </a:ext>
                  </a:extLst>
                </p:cNvPr>
                <p:cNvSpPr txBox="1"/>
                <p:nvPr/>
              </p:nvSpPr>
              <p:spPr>
                <a:xfrm>
                  <a:off x="1869005" y="-100024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166" name="Group">
                <a:extLst>
                  <a:ext uri="{FF2B5EF4-FFF2-40B4-BE49-F238E27FC236}">
                    <a16:creationId xmlns:a16="http://schemas.microsoft.com/office/drawing/2014/main" id="{39583726-42A9-6CAA-B250-F09CF66C9C8A}"/>
                  </a:ext>
                </a:extLst>
              </p:cNvPr>
              <p:cNvGrpSpPr/>
              <p:nvPr/>
            </p:nvGrpSpPr>
            <p:grpSpPr>
              <a:xfrm>
                <a:off x="8136020" y="1053368"/>
                <a:ext cx="3513718" cy="3026047"/>
                <a:chOff x="0" y="-74714"/>
                <a:chExt cx="2470581" cy="2127686"/>
              </a:xfrm>
            </p:grpSpPr>
            <p:sp>
              <p:nvSpPr>
                <p:cNvPr id="163" name="Connection Line">
                  <a:extLst>
                    <a:ext uri="{FF2B5EF4-FFF2-40B4-BE49-F238E27FC236}">
                      <a16:creationId xmlns:a16="http://schemas.microsoft.com/office/drawing/2014/main" id="{72A98BF3-BCE4-833A-AB09-5B18ACE1E736}"/>
                    </a:ext>
                  </a:extLst>
                </p:cNvPr>
                <p:cNvSpPr/>
                <p:nvPr/>
              </p:nvSpPr>
              <p:spPr>
                <a:xfrm>
                  <a:off x="0" y="265331"/>
                  <a:ext cx="2325204" cy="16912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2" extrusionOk="0">
                      <a:moveTo>
                        <a:pt x="21600" y="601"/>
                      </a:moveTo>
                      <a:cubicBezTo>
                        <a:pt x="14321" y="21600"/>
                        <a:pt x="7121" y="21400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6">
                      <a:satOff val="-35873"/>
                      <a:lumOff val="-12431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 dirty="0"/>
                </a:p>
              </p:txBody>
            </p:sp>
            <p:sp>
              <p:nvSpPr>
                <p:cNvPr id="164" name="Line">
                  <a:extLst>
                    <a:ext uri="{FF2B5EF4-FFF2-40B4-BE49-F238E27FC236}">
                      <a16:creationId xmlns:a16="http://schemas.microsoft.com/office/drawing/2014/main" id="{FBCBC349-7A79-8C56-EF69-80940100244F}"/>
                    </a:ext>
                  </a:extLst>
                </p:cNvPr>
                <p:cNvSpPr/>
                <p:nvPr/>
              </p:nvSpPr>
              <p:spPr>
                <a:xfrm flipV="1">
                  <a:off x="1162520" y="1752850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165" name="SAC5">
                  <a:extLst>
                    <a:ext uri="{FF2B5EF4-FFF2-40B4-BE49-F238E27FC236}">
                      <a16:creationId xmlns:a16="http://schemas.microsoft.com/office/drawing/2014/main" id="{34C56735-3717-514A-8405-89CC30C68D64}"/>
                    </a:ext>
                  </a:extLst>
                </p:cNvPr>
                <p:cNvSpPr txBox="1"/>
                <p:nvPr/>
              </p:nvSpPr>
              <p:spPr>
                <a:xfrm>
                  <a:off x="1825229" y="-74714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572BF-3444-313C-AD71-B7343FDC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555720" y="9297358"/>
            <a:ext cx="410369" cy="379591"/>
          </a:xfrm>
        </p:spPr>
        <p:txBody>
          <a:bodyPr/>
          <a:lstStyle/>
          <a:p>
            <a:fld id="{3D917019-A53D-5C43-B370-B39141378BC9}" type="slidenum">
              <a:rPr lang="en-US" smtClean="0"/>
              <a:t>32</a:t>
            </a:fld>
            <a:endParaRPr lang="en-US" dirty="0"/>
          </a:p>
        </p:txBody>
      </p:sp>
      <p:sp>
        <p:nvSpPr>
          <p:cNvPr id="23" name="Curves for  The Law of Variable Proportions">
            <a:extLst>
              <a:ext uri="{FF2B5EF4-FFF2-40B4-BE49-F238E27FC236}">
                <a16:creationId xmlns:a16="http://schemas.microsoft.com/office/drawing/2014/main" id="{6BAB8327-57BA-D2EB-AEF4-CC9A1BEB4F06}"/>
              </a:ext>
            </a:extLst>
          </p:cNvPr>
          <p:cNvSpPr txBox="1">
            <a:spLocks/>
          </p:cNvSpPr>
          <p:nvPr/>
        </p:nvSpPr>
        <p:spPr>
          <a:xfrm>
            <a:off x="8270503" y="3636777"/>
            <a:ext cx="4226796" cy="419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5023" rIns="65023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Cost Curve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242A61-C82E-820A-89D9-40FECD40CC10}"/>
              </a:ext>
            </a:extLst>
          </p:cNvPr>
          <p:cNvGrpSpPr/>
          <p:nvPr/>
        </p:nvGrpSpPr>
        <p:grpSpPr>
          <a:xfrm>
            <a:off x="485006" y="4380976"/>
            <a:ext cx="12275898" cy="5295973"/>
            <a:chOff x="515919" y="4177383"/>
            <a:chExt cx="12275898" cy="529597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FF6612-D295-6BBD-48B7-9B1D7F432682}"/>
                </a:ext>
              </a:extLst>
            </p:cNvPr>
            <p:cNvGrpSpPr/>
            <p:nvPr/>
          </p:nvGrpSpPr>
          <p:grpSpPr>
            <a:xfrm>
              <a:off x="515919" y="4941646"/>
              <a:ext cx="12275898" cy="4531710"/>
              <a:chOff x="422043" y="213345"/>
              <a:chExt cx="14205571" cy="868426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5691C4A-BA78-A281-7F43-0554B97D4836}"/>
                  </a:ext>
                </a:extLst>
              </p:cNvPr>
              <p:cNvGrpSpPr/>
              <p:nvPr/>
            </p:nvGrpSpPr>
            <p:grpSpPr>
              <a:xfrm>
                <a:off x="422043" y="450054"/>
                <a:ext cx="13380203" cy="8447556"/>
                <a:chOff x="2297882" y="1494714"/>
                <a:chExt cx="9407956" cy="5939688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68084A3-E79C-587E-CC59-5726524FD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84017" y="1494714"/>
                  <a:ext cx="5002" cy="5834551"/>
                </a:xfrm>
                <a:prstGeom prst="straightConnector1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  <a:headEnd type="triangle"/>
                  <a:tailEnd type="triangle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5FA883DD-7C8E-A05F-FC84-CDBBA4063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10964" y="6831571"/>
                  <a:ext cx="9169432" cy="0"/>
                </a:xfrm>
                <a:prstGeom prst="straightConnector1">
                  <a:avLst/>
                </a:prstGeom>
                <a:noFill/>
                <a:ln w="19050" cap="flat">
                  <a:solidFill>
                    <a:schemeClr val="tx1"/>
                  </a:solidFill>
                  <a:prstDash val="solid"/>
                  <a:round/>
                  <a:headEnd type="triangle"/>
                  <a:tailEnd type="triangle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7008156-D527-1792-1609-64D4FA83AC05}"/>
                    </a:ext>
                  </a:extLst>
                </p:cNvPr>
                <p:cNvSpPr txBox="1"/>
                <p:nvPr/>
              </p:nvSpPr>
              <p:spPr>
                <a:xfrm>
                  <a:off x="11152768" y="6932146"/>
                  <a:ext cx="553070" cy="50225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algn="l" defTabSz="1300460"/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Lab</a:t>
                  </a:r>
                  <a:endPara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4E86822-7569-F049-B22F-0263C1EB4F23}"/>
                    </a:ext>
                  </a:extLst>
                </p:cNvPr>
                <p:cNvSpPr txBox="1"/>
                <p:nvPr/>
              </p:nvSpPr>
              <p:spPr>
                <a:xfrm>
                  <a:off x="2297882" y="1494714"/>
                  <a:ext cx="469557" cy="2870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65023" tIns="65023" rIns="65023" bIns="65023" numCol="1" spcCol="38100" rtlCol="0" anchor="t">
                  <a:spAutoFit/>
                </a:bodyPr>
                <a:lstStyle/>
                <a:p>
                  <a:pPr algn="l" defTabSz="1300460"/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Cap</a:t>
                  </a:r>
                  <a:endPara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82760B7-1DAB-6110-8701-D86EA3B49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2721" y="7135066"/>
                <a:ext cx="2249071" cy="851477"/>
              </a:xfrm>
              <a:prstGeom prst="line">
                <a:avLst/>
              </a:prstGeom>
              <a:noFill/>
              <a:ln w="5715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5E0BEBA-4D53-3F5D-16FB-9D2BC1764E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52046" y="5106670"/>
                <a:ext cx="1164486" cy="1646788"/>
              </a:xfrm>
              <a:prstGeom prst="line">
                <a:avLst/>
              </a:prstGeom>
              <a:noFill/>
              <a:ln w="57150" cap="flat">
                <a:solidFill>
                  <a:schemeClr val="accent2">
                    <a:lumMod val="75000"/>
                  </a:schemeClr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E6152A8-6CB2-0DD7-80AD-62E9D02EAB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16532" y="2748009"/>
                <a:ext cx="2032954" cy="1486382"/>
              </a:xfrm>
              <a:prstGeom prst="line">
                <a:avLst/>
              </a:prstGeom>
              <a:noFill/>
              <a:ln w="57150" cap="flat">
                <a:solidFill>
                  <a:schemeClr val="accent3">
                    <a:lumMod val="75000"/>
                  </a:schemeClr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6FCA89E-FD21-9670-D648-BBF54CDA0F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214" y="702903"/>
                <a:ext cx="1235455" cy="555991"/>
              </a:xfrm>
              <a:prstGeom prst="line">
                <a:avLst/>
              </a:prstGeom>
              <a:noFill/>
              <a:ln w="57150" cap="flat">
                <a:solidFill>
                  <a:srgbClr val="C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436645E-57AD-7724-7086-0D9F8B3931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74219" y="6753458"/>
                <a:ext cx="17574" cy="469478"/>
              </a:xfrm>
              <a:prstGeom prst="line">
                <a:avLst/>
              </a:prstGeom>
              <a:noFill/>
              <a:ln w="57150" cap="flat">
                <a:solidFill>
                  <a:schemeClr val="accent2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46C874B-0F45-DAB4-F045-E924C9713D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6531" y="4261244"/>
                <a:ext cx="0" cy="845426"/>
              </a:xfrm>
              <a:prstGeom prst="line">
                <a:avLst/>
              </a:prstGeom>
              <a:noFill/>
              <a:ln w="57150" cap="flat">
                <a:solidFill>
                  <a:schemeClr val="accent2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29A38F2-05F3-1C9B-5DD5-F071B92113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9486" y="1258894"/>
                <a:ext cx="0" cy="1489115"/>
              </a:xfrm>
              <a:prstGeom prst="line">
                <a:avLst/>
              </a:prstGeom>
              <a:noFill/>
              <a:ln w="57150" cap="flat">
                <a:solidFill>
                  <a:schemeClr val="accent2"/>
                </a:solidFill>
                <a:prstDash val="sysDot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545434-BA5D-80E9-E930-22EC805872F3}"/>
                  </a:ext>
                </a:extLst>
              </p:cNvPr>
              <p:cNvSpPr txBox="1"/>
              <p:nvPr/>
            </p:nvSpPr>
            <p:spPr>
              <a:xfrm rot="20716841">
                <a:off x="1266268" y="6865780"/>
                <a:ext cx="1588347" cy="7143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algn="l" defTabSz="1300460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Segment 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206A53-7ECB-5C2A-7B89-041DCD69BEB2}"/>
                  </a:ext>
                </a:extLst>
              </p:cNvPr>
              <p:cNvSpPr txBox="1"/>
              <p:nvPr/>
            </p:nvSpPr>
            <p:spPr>
              <a:xfrm rot="18943285">
                <a:off x="2895578" y="5374442"/>
                <a:ext cx="1377971" cy="7222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algn="l" defTabSz="1300460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Segment 2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E92C64-8C56-FA19-58E9-FDB2D467884A}"/>
                  </a:ext>
                </a:extLst>
              </p:cNvPr>
              <p:cNvSpPr txBox="1"/>
              <p:nvPr/>
            </p:nvSpPr>
            <p:spPr>
              <a:xfrm rot="20020181">
                <a:off x="4676528" y="2713483"/>
                <a:ext cx="1826145" cy="7143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algn="l" defTabSz="1300460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Segment 3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81108A-B056-9193-D3C0-6514E1CA58F7}"/>
                  </a:ext>
                </a:extLst>
              </p:cNvPr>
              <p:cNvSpPr txBox="1"/>
              <p:nvPr/>
            </p:nvSpPr>
            <p:spPr>
              <a:xfrm rot="20743856">
                <a:off x="6402326" y="213345"/>
                <a:ext cx="1545414" cy="7143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65023" tIns="65023" rIns="65023" bIns="65023" numCol="1" spcCol="38100" rtlCol="0" anchor="t">
                <a:spAutoFit/>
              </a:bodyPr>
              <a:lstStyle/>
              <a:p>
                <a:pPr algn="l" defTabSz="1300460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Segment 4</a:t>
                </a:r>
              </a:p>
            </p:txBody>
          </p:sp>
          <p:sp>
            <p:nvSpPr>
              <p:cNvPr id="18" name="Curves for  The Law of Variable Proportions">
                <a:extLst>
                  <a:ext uri="{FF2B5EF4-FFF2-40B4-BE49-F238E27FC236}">
                    <a16:creationId xmlns:a16="http://schemas.microsoft.com/office/drawing/2014/main" id="{83DE192A-978C-48C0-4ADA-0A9C44CA15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39617" y="7077040"/>
                <a:ext cx="5087997" cy="73376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65023" rIns="65023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Long-Term Laws of Production </a:t>
                </a:r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A06D91F-7129-7608-47C6-EAF824037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7407" y="4261460"/>
              <a:ext cx="730739" cy="573129"/>
            </a:xfrm>
            <a:prstGeom prst="line">
              <a:avLst/>
            </a:prstGeom>
            <a:noFill/>
            <a:ln w="57150" cap="flat">
              <a:solidFill>
                <a:schemeClr val="bg2">
                  <a:lumMod val="2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1F884E-C945-49A1-4CF2-DD2AF758F980}"/>
                </a:ext>
              </a:extLst>
            </p:cNvPr>
            <p:cNvCxnSpPr>
              <a:cxnSpLocks/>
            </p:cNvCxnSpPr>
            <p:nvPr/>
          </p:nvCxnSpPr>
          <p:spPr>
            <a:xfrm>
              <a:off x="6837407" y="4845190"/>
              <a:ext cx="0" cy="351922"/>
            </a:xfrm>
            <a:prstGeom prst="line">
              <a:avLst/>
            </a:prstGeom>
            <a:noFill/>
            <a:ln w="57150" cap="flat">
              <a:solidFill>
                <a:schemeClr val="accent2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5429120-7B15-4939-089C-BBE72DE05ACE}"/>
                </a:ext>
              </a:extLst>
            </p:cNvPr>
            <p:cNvSpPr txBox="1"/>
            <p:nvPr/>
          </p:nvSpPr>
          <p:spPr>
            <a:xfrm rot="19323953">
              <a:off x="6443311" y="4177383"/>
              <a:ext cx="1335486" cy="408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65023" tIns="65023" rIns="65023" bIns="65023" numCol="1" spcCol="38100" rtlCol="0" anchor="t">
              <a:spAutoFit/>
            </a:bodyPr>
            <a:lstStyle/>
            <a:p>
              <a:pPr algn="l" defTabSz="1300460"/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Segment 5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843D887-CD56-C67B-326A-6FC877A493AA}"/>
              </a:ext>
            </a:extLst>
          </p:cNvPr>
          <p:cNvGrpSpPr/>
          <p:nvPr/>
        </p:nvGrpSpPr>
        <p:grpSpPr>
          <a:xfrm>
            <a:off x="2079567" y="1179833"/>
            <a:ext cx="5053728" cy="7479804"/>
            <a:chOff x="2079567" y="1179833"/>
            <a:chExt cx="5053728" cy="747980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E6DDBC9-8225-C4D9-4BCC-9DF86FA53941}"/>
                </a:ext>
              </a:extLst>
            </p:cNvPr>
            <p:cNvCxnSpPr>
              <a:cxnSpLocks/>
            </p:cNvCxnSpPr>
            <p:nvPr/>
          </p:nvCxnSpPr>
          <p:spPr>
            <a:xfrm>
              <a:off x="2079567" y="1179833"/>
              <a:ext cx="0" cy="7479804"/>
            </a:xfrm>
            <a:prstGeom prst="straightConnector1">
              <a:avLst/>
            </a:prstGeom>
            <a:noFill/>
            <a:ln w="25400" cap="flat">
              <a:solidFill>
                <a:schemeClr val="accent1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FDF42E9-7AFC-ED29-1772-A1AAB8099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1261" y="2548541"/>
              <a:ext cx="24991" cy="5156930"/>
            </a:xfrm>
            <a:prstGeom prst="straightConnector1">
              <a:avLst/>
            </a:prstGeom>
            <a:noFill/>
            <a:ln w="25400" cap="flat">
              <a:solidFill>
                <a:schemeClr val="accent2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94F3A87-757C-D300-BA1E-9A7671A444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9726" y="3132026"/>
              <a:ext cx="59491" cy="3552325"/>
            </a:xfrm>
            <a:prstGeom prst="straightConnector1">
              <a:avLst/>
            </a:prstGeom>
            <a:noFill/>
            <a:ln w="25400" cap="flat">
              <a:solidFill>
                <a:schemeClr val="accent3">
                  <a:lumMod val="75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3525703-9F6A-786F-D0EB-56A0ED7AA885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6274738" y="3160618"/>
              <a:ext cx="2987" cy="1990371"/>
            </a:xfrm>
            <a:prstGeom prst="straightConnector1">
              <a:avLst/>
            </a:prstGeom>
            <a:noFill/>
            <a:ln w="25400" cap="flat">
              <a:solidFill>
                <a:srgbClr val="C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5438B6-3B41-BBD0-6B2E-CCC518C61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2885" y="2521430"/>
              <a:ext cx="30410" cy="1996301"/>
            </a:xfrm>
            <a:prstGeom prst="straightConnector1">
              <a:avLst/>
            </a:prstGeom>
            <a:noFill/>
            <a:ln w="25400" cap="flat">
              <a:solidFill>
                <a:schemeClr val="bg2">
                  <a:lumMod val="50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79261587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"/>
          <p:cNvGrpSpPr/>
          <p:nvPr/>
        </p:nvGrpSpPr>
        <p:grpSpPr>
          <a:xfrm>
            <a:off x="1227522" y="501279"/>
            <a:ext cx="11676706" cy="4887616"/>
            <a:chOff x="-1" y="-1"/>
            <a:chExt cx="8210183" cy="3436604"/>
          </a:xfrm>
        </p:grpSpPr>
        <p:sp>
          <p:nvSpPr>
            <p:cNvPr id="114" name="Oval"/>
            <p:cNvSpPr/>
            <p:nvPr/>
          </p:nvSpPr>
          <p:spPr>
            <a:xfrm>
              <a:off x="1141400" y="1766575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5" name="Oval"/>
            <p:cNvSpPr/>
            <p:nvPr/>
          </p:nvSpPr>
          <p:spPr>
            <a:xfrm>
              <a:off x="2289836" y="2772937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6" name="Oval"/>
            <p:cNvSpPr/>
            <p:nvPr/>
          </p:nvSpPr>
          <p:spPr>
            <a:xfrm>
              <a:off x="3828594" y="3242060"/>
              <a:ext cx="179569" cy="140165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7" name="Oval"/>
            <p:cNvSpPr/>
            <p:nvPr/>
          </p:nvSpPr>
          <p:spPr>
            <a:xfrm>
              <a:off x="5339256" y="2844058"/>
              <a:ext cx="179567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endParaRPr sz="5120"/>
            </a:p>
          </p:txBody>
        </p:sp>
        <p:sp>
          <p:nvSpPr>
            <p:cNvPr id="118" name="Oval"/>
            <p:cNvSpPr/>
            <p:nvPr/>
          </p:nvSpPr>
          <p:spPr>
            <a:xfrm>
              <a:off x="6331246" y="2095251"/>
              <a:ext cx="179569" cy="140163"/>
            </a:xfrm>
            <a:prstGeom prst="ellipse">
              <a:avLst/>
            </a:prstGeom>
            <a:solidFill>
              <a:srgbClr val="00FDFF"/>
            </a:solidFill>
            <a:ln w="25400" cap="flat">
              <a:solidFill>
                <a:srgbClr val="00FDFF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65021" tIns="65021" rIns="65021" bIns="65021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5120"/>
            </a:p>
          </p:txBody>
        </p:sp>
        <p:grpSp>
          <p:nvGrpSpPr>
            <p:cNvPr id="121" name="Group"/>
            <p:cNvGrpSpPr/>
            <p:nvPr/>
          </p:nvGrpSpPr>
          <p:grpSpPr>
            <a:xfrm>
              <a:off x="-1" y="-1"/>
              <a:ext cx="8210183" cy="3436604"/>
              <a:chOff x="0" y="0"/>
              <a:chExt cx="8210181" cy="3436603"/>
            </a:xfrm>
          </p:grpSpPr>
          <p:sp>
            <p:nvSpPr>
              <p:cNvPr id="119" name="Connection Line"/>
              <p:cNvSpPr/>
              <p:nvPr/>
            </p:nvSpPr>
            <p:spPr>
              <a:xfrm>
                <a:off x="0" y="296176"/>
                <a:ext cx="8056000" cy="3140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493"/>
                    </a:moveTo>
                    <a:cubicBezTo>
                      <a:pt x="13891" y="21600"/>
                      <a:pt x="6691" y="21436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00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65021" tIns="65021" rIns="65021" bIns="65021" numCol="1" anchor="t">
                <a:noAutofit/>
              </a:bodyPr>
              <a:lstStyle/>
              <a:p>
                <a:endParaRPr sz="5120"/>
              </a:p>
            </p:txBody>
          </p:sp>
          <p:sp>
            <p:nvSpPr>
              <p:cNvPr id="120" name="LAC"/>
              <p:cNvSpPr txBox="1"/>
              <p:nvPr/>
            </p:nvSpPr>
            <p:spPr>
              <a:xfrm>
                <a:off x="7540772" y="0"/>
                <a:ext cx="669409" cy="4385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65021" tIns="65021" rIns="65021" bIns="65021" numCol="1" anchor="t">
                <a:spAutoFit/>
              </a:bodyPr>
              <a:lstStyle/>
              <a:p>
                <a:r>
                  <a:rPr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</p:grpSp>
      </p:grpSp>
      <p:sp>
        <p:nvSpPr>
          <p:cNvPr id="123" name="Line"/>
          <p:cNvSpPr/>
          <p:nvPr/>
        </p:nvSpPr>
        <p:spPr>
          <a:xfrm flipV="1">
            <a:off x="770325" y="30007"/>
            <a:ext cx="3" cy="8653939"/>
          </a:xfrm>
          <a:prstGeom prst="line">
            <a:avLst/>
          </a:prstGeom>
          <a:ln w="6350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4" name="Line"/>
          <p:cNvSpPr/>
          <p:nvPr/>
        </p:nvSpPr>
        <p:spPr>
          <a:xfrm>
            <a:off x="63758" y="7861929"/>
            <a:ext cx="12877285" cy="3"/>
          </a:xfrm>
          <a:prstGeom prst="line">
            <a:avLst/>
          </a:prstGeom>
          <a:ln w="63500">
            <a:solidFill>
              <a:srgbClr val="000000"/>
            </a:solidFill>
            <a:headEnd type="diamond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65021" tIns="65021" rIns="65021" bIns="65021"/>
          <a:lstStyle/>
          <a:p>
            <a:endParaRPr sz="5120"/>
          </a:p>
        </p:txBody>
      </p:sp>
      <p:sp>
        <p:nvSpPr>
          <p:cNvPr id="125" name="Qty"/>
          <p:cNvSpPr txBox="1"/>
          <p:nvPr/>
        </p:nvSpPr>
        <p:spPr>
          <a:xfrm>
            <a:off x="12112695" y="8009710"/>
            <a:ext cx="746865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26" name="LAC"/>
          <p:cNvSpPr txBox="1"/>
          <p:nvPr/>
        </p:nvSpPr>
        <p:spPr>
          <a:xfrm>
            <a:off x="24047" y="239192"/>
            <a:ext cx="663509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>
            <a:lvl1pPr>
              <a:defRPr sz="1500"/>
            </a:lvl1pPr>
          </a:lstStyle>
          <a:p>
            <a:r>
              <a:rPr sz="2133"/>
              <a:t>LAC</a:t>
            </a:r>
          </a:p>
        </p:txBody>
      </p:sp>
      <p:sp>
        <p:nvSpPr>
          <p:cNvPr id="127" name="SACs"/>
          <p:cNvSpPr txBox="1"/>
          <p:nvPr/>
        </p:nvSpPr>
        <p:spPr>
          <a:xfrm>
            <a:off x="-28851" y="707410"/>
            <a:ext cx="769307" cy="459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65021" tIns="65021" rIns="65021" bIns="65021">
            <a:spAutoFit/>
          </a:bodyPr>
          <a:lstStyle/>
          <a:p>
            <a:pPr>
              <a:defRPr sz="1500"/>
            </a:pPr>
            <a:r>
              <a:rPr sz="2133"/>
              <a:t>SAC</a:t>
            </a:r>
            <a:r>
              <a:rPr sz="2133" baseline="-5998"/>
              <a:t>s</a:t>
            </a:r>
          </a:p>
        </p:txBody>
      </p:sp>
      <p:grpSp>
        <p:nvGrpSpPr>
          <p:cNvPr id="135" name="Group"/>
          <p:cNvGrpSpPr/>
          <p:nvPr/>
        </p:nvGrpSpPr>
        <p:grpSpPr>
          <a:xfrm>
            <a:off x="2047327" y="718456"/>
            <a:ext cx="3617673" cy="3015637"/>
            <a:chOff x="0" y="-62212"/>
            <a:chExt cx="2543672" cy="2120368"/>
          </a:xfrm>
        </p:grpSpPr>
        <p:sp>
          <p:nvSpPr>
            <p:cNvPr id="132" name="Line"/>
            <p:cNvSpPr/>
            <p:nvPr/>
          </p:nvSpPr>
          <p:spPr>
            <a:xfrm flipV="1">
              <a:off x="1028960" y="1758034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3" name="Connection Line"/>
            <p:cNvSpPr/>
            <p:nvPr/>
          </p:nvSpPr>
          <p:spPr>
            <a:xfrm>
              <a:off x="0" y="254704"/>
              <a:ext cx="2095016" cy="1679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38" y="21600"/>
                    <a:pt x="7238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34" name="SAC1"/>
            <p:cNvSpPr txBox="1"/>
            <p:nvPr/>
          </p:nvSpPr>
          <p:spPr>
            <a:xfrm>
              <a:off x="1767188" y="-62212"/>
              <a:ext cx="776484" cy="438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42" name="Group"/>
          <p:cNvGrpSpPr/>
          <p:nvPr/>
        </p:nvGrpSpPr>
        <p:grpSpPr>
          <a:xfrm>
            <a:off x="3324264" y="1921071"/>
            <a:ext cx="3572090" cy="2981538"/>
            <a:chOff x="0" y="-214479"/>
            <a:chExt cx="2511624" cy="2096390"/>
          </a:xfrm>
        </p:grpSpPr>
        <p:sp>
          <p:nvSpPr>
            <p:cNvPr id="139" name="Connection Line"/>
            <p:cNvSpPr/>
            <p:nvPr/>
          </p:nvSpPr>
          <p:spPr>
            <a:xfrm>
              <a:off x="0" y="104700"/>
              <a:ext cx="2340877" cy="1683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458"/>
                  </a:moveTo>
                  <a:cubicBezTo>
                    <a:pt x="14460" y="21600"/>
                    <a:pt x="7260" y="2144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0" name="Line"/>
            <p:cNvSpPr/>
            <p:nvPr/>
          </p:nvSpPr>
          <p:spPr>
            <a:xfrm flipV="1">
              <a:off x="1170442" y="1581789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1" name="SAC2"/>
            <p:cNvSpPr txBox="1"/>
            <p:nvPr/>
          </p:nvSpPr>
          <p:spPr>
            <a:xfrm>
              <a:off x="1762190" y="-214479"/>
              <a:ext cx="749434" cy="438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50" name="Group"/>
          <p:cNvGrpSpPr/>
          <p:nvPr/>
        </p:nvGrpSpPr>
        <p:grpSpPr>
          <a:xfrm>
            <a:off x="5310031" y="2348919"/>
            <a:ext cx="3290172" cy="3383077"/>
            <a:chOff x="-1" y="-152100"/>
            <a:chExt cx="2313399" cy="2378724"/>
          </a:xfrm>
        </p:grpSpPr>
        <p:sp>
          <p:nvSpPr>
            <p:cNvPr id="147" name="Connection Line"/>
            <p:cNvSpPr/>
            <p:nvPr/>
          </p:nvSpPr>
          <p:spPr>
            <a:xfrm>
              <a:off x="-1" y="275232"/>
              <a:ext cx="2053428" cy="1679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87"/>
                  </a:moveTo>
                  <a:cubicBezTo>
                    <a:pt x="14420" y="21600"/>
                    <a:pt x="7220" y="21471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3">
                  <a:satOff val="-6373"/>
                  <a:lumOff val="-10823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8" name="Line"/>
            <p:cNvSpPr/>
            <p:nvPr/>
          </p:nvSpPr>
          <p:spPr>
            <a:xfrm flipV="1">
              <a:off x="1047863" y="1698421"/>
              <a:ext cx="2" cy="528203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49" name="SAC3"/>
            <p:cNvSpPr txBox="1"/>
            <p:nvPr/>
          </p:nvSpPr>
          <p:spPr>
            <a:xfrm>
              <a:off x="1563965" y="-152100"/>
              <a:ext cx="749433" cy="4385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158" name="Group"/>
          <p:cNvGrpSpPr/>
          <p:nvPr/>
        </p:nvGrpSpPr>
        <p:grpSpPr>
          <a:xfrm>
            <a:off x="6861930" y="1921071"/>
            <a:ext cx="3649993" cy="3010438"/>
            <a:chOff x="-1" y="-100024"/>
            <a:chExt cx="2566399" cy="2116711"/>
          </a:xfrm>
        </p:grpSpPr>
        <p:sp>
          <p:nvSpPr>
            <p:cNvPr id="155" name="Connection Line"/>
            <p:cNvSpPr/>
            <p:nvPr/>
          </p:nvSpPr>
          <p:spPr>
            <a:xfrm>
              <a:off x="-1" y="294227"/>
              <a:ext cx="2306983" cy="1677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340"/>
                  </a:moveTo>
                  <a:cubicBezTo>
                    <a:pt x="14559" y="21600"/>
                    <a:pt x="7359" y="21487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4">
                  <a:satOff val="-1335"/>
                  <a:lumOff val="-10274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6" name="Line"/>
            <p:cNvSpPr/>
            <p:nvPr/>
          </p:nvSpPr>
          <p:spPr>
            <a:xfrm flipV="1">
              <a:off x="1166254" y="1716565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57" name="SAC4"/>
            <p:cNvSpPr txBox="1"/>
            <p:nvPr/>
          </p:nvSpPr>
          <p:spPr>
            <a:xfrm>
              <a:off x="1816964" y="-100024"/>
              <a:ext cx="749434" cy="438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66" name="Group"/>
          <p:cNvGrpSpPr/>
          <p:nvPr/>
        </p:nvGrpSpPr>
        <p:grpSpPr>
          <a:xfrm>
            <a:off x="8136020" y="1053368"/>
            <a:ext cx="3587732" cy="3026047"/>
            <a:chOff x="0" y="-74714"/>
            <a:chExt cx="2522622" cy="2127686"/>
          </a:xfrm>
        </p:grpSpPr>
        <p:sp>
          <p:nvSpPr>
            <p:cNvPr id="163" name="Connection Line"/>
            <p:cNvSpPr/>
            <p:nvPr/>
          </p:nvSpPr>
          <p:spPr>
            <a:xfrm>
              <a:off x="0" y="265331"/>
              <a:ext cx="2325204" cy="1691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2" extrusionOk="0">
                  <a:moveTo>
                    <a:pt x="21600" y="601"/>
                  </a:moveTo>
                  <a:cubicBezTo>
                    <a:pt x="14321" y="21600"/>
                    <a:pt x="7121" y="21400"/>
                    <a:pt x="0" y="0"/>
                  </a:cubicBezTo>
                </a:path>
              </a:pathLst>
            </a:custGeom>
            <a:noFill/>
            <a:ln w="76200" cap="flat">
              <a:solidFill>
                <a:schemeClr val="accent6">
                  <a:satOff val="-35873"/>
                  <a:lumOff val="-12431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 dirty="0"/>
            </a:p>
          </p:txBody>
        </p:sp>
        <p:sp>
          <p:nvSpPr>
            <p:cNvPr id="164" name="Line"/>
            <p:cNvSpPr/>
            <p:nvPr/>
          </p:nvSpPr>
          <p:spPr>
            <a:xfrm flipV="1">
              <a:off x="1162520" y="1752850"/>
              <a:ext cx="2" cy="300122"/>
            </a:xfrm>
            <a:prstGeom prst="line">
              <a:avLst/>
            </a:prstGeom>
            <a:noFill/>
            <a:ln w="25400" cap="flat">
              <a:solidFill>
                <a:srgbClr val="FF26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65021" tIns="65021" rIns="65021" bIns="65021" numCol="1" anchor="t">
              <a:noAutofit/>
            </a:bodyPr>
            <a:lstStyle/>
            <a:p>
              <a:endParaRPr sz="5120"/>
            </a:p>
          </p:txBody>
        </p:sp>
        <p:sp>
          <p:nvSpPr>
            <p:cNvPr id="165" name="SAC5"/>
            <p:cNvSpPr txBox="1"/>
            <p:nvPr/>
          </p:nvSpPr>
          <p:spPr>
            <a:xfrm>
              <a:off x="1773188" y="-74714"/>
              <a:ext cx="749434" cy="438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65021" tIns="65021" rIns="65021" bIns="65021" numCol="1" anchor="t">
              <a:spAutoFit/>
            </a:bodyPr>
            <a:lstStyle/>
            <a:p>
              <a:r>
                <a:rPr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32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60" name="Qty">
            <a:extLst>
              <a:ext uri="{FF2B5EF4-FFF2-40B4-BE49-F238E27FC236}">
                <a16:creationId xmlns:a16="http://schemas.microsoft.com/office/drawing/2014/main" id="{DEB646C1-0267-1D4D-AA2A-AEF6F40D15BB}"/>
              </a:ext>
            </a:extLst>
          </p:cNvPr>
          <p:cNvSpPr txBox="1"/>
          <p:nvPr/>
        </p:nvSpPr>
        <p:spPr>
          <a:xfrm>
            <a:off x="7110686" y="7163599"/>
            <a:ext cx="5574262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construct the LAC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98CA2-5814-E746-A0F1-77339792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17019-A53D-5C43-B370-B39141378BC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8361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77EB-DE54-F346-9250-6D8A7C0410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613351" y="9374009"/>
            <a:ext cx="359073" cy="379591"/>
          </a:xfrm>
        </p:spPr>
        <p:txBody>
          <a:bodyPr/>
          <a:lstStyle/>
          <a:p>
            <a:fld id="{86CB4B4D-7CA3-9044-876B-883B54F8677D}" type="slidenum">
              <a:rPr lang="en-IN" smtClean="0"/>
              <a:t>34</a:t>
            </a:fld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0F7BC1-02BC-F422-EEB5-9945F19E9577}"/>
              </a:ext>
            </a:extLst>
          </p:cNvPr>
          <p:cNvGrpSpPr/>
          <p:nvPr/>
        </p:nvGrpSpPr>
        <p:grpSpPr>
          <a:xfrm>
            <a:off x="972088" y="467023"/>
            <a:ext cx="11060623" cy="4409777"/>
            <a:chOff x="-183514" y="-47752"/>
            <a:chExt cx="10935269" cy="4727118"/>
          </a:xfrm>
        </p:grpSpPr>
        <p:sp>
          <p:nvSpPr>
            <p:cNvPr id="9" name="SACs">
              <a:extLst>
                <a:ext uri="{FF2B5EF4-FFF2-40B4-BE49-F238E27FC236}">
                  <a16:creationId xmlns:a16="http://schemas.microsoft.com/office/drawing/2014/main" id="{8C57774A-9CED-749B-BBAF-778872173E84}"/>
                </a:ext>
              </a:extLst>
            </p:cNvPr>
            <p:cNvSpPr txBox="1"/>
            <p:nvPr/>
          </p:nvSpPr>
          <p:spPr>
            <a:xfrm>
              <a:off x="-177272" y="531978"/>
              <a:ext cx="639463" cy="40831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/>
            <a:p>
              <a:pPr>
                <a:defRPr sz="1500"/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1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886FDC-1AF3-CAE9-A10B-406206E45307}"/>
                </a:ext>
              </a:extLst>
            </p:cNvPr>
            <p:cNvGrpSpPr/>
            <p:nvPr/>
          </p:nvGrpSpPr>
          <p:grpSpPr>
            <a:xfrm>
              <a:off x="-183514" y="-47752"/>
              <a:ext cx="10935269" cy="4727118"/>
              <a:chOff x="-265875" y="-88696"/>
              <a:chExt cx="15274416" cy="7216065"/>
            </a:xfrm>
          </p:grpSpPr>
          <p:grpSp>
            <p:nvGrpSpPr>
              <p:cNvPr id="12" name="Group">
                <a:extLst>
                  <a:ext uri="{FF2B5EF4-FFF2-40B4-BE49-F238E27FC236}">
                    <a16:creationId xmlns:a16="http://schemas.microsoft.com/office/drawing/2014/main" id="{28ED5BD7-A444-7E6A-6BC8-04F87B6D0A67}"/>
                  </a:ext>
                </a:extLst>
              </p:cNvPr>
              <p:cNvGrpSpPr/>
              <p:nvPr/>
            </p:nvGrpSpPr>
            <p:grpSpPr>
              <a:xfrm>
                <a:off x="1227522" y="501279"/>
                <a:ext cx="11614818" cy="4887616"/>
                <a:chOff x="-1" y="-1"/>
                <a:chExt cx="8166668" cy="3436604"/>
              </a:xfrm>
            </p:grpSpPr>
            <p:sp>
              <p:nvSpPr>
                <p:cNvPr id="52" name="Oval">
                  <a:extLst>
                    <a:ext uri="{FF2B5EF4-FFF2-40B4-BE49-F238E27FC236}">
                      <a16:creationId xmlns:a16="http://schemas.microsoft.com/office/drawing/2014/main" id="{05986A73-8B5D-4B01-D6E5-B16F29EA9B39}"/>
                    </a:ext>
                  </a:extLst>
                </p:cNvPr>
                <p:cNvSpPr/>
                <p:nvPr/>
              </p:nvSpPr>
              <p:spPr>
                <a:xfrm>
                  <a:off x="1141400" y="1766575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3" name="Oval">
                  <a:extLst>
                    <a:ext uri="{FF2B5EF4-FFF2-40B4-BE49-F238E27FC236}">
                      <a16:creationId xmlns:a16="http://schemas.microsoft.com/office/drawing/2014/main" id="{E19295CE-58C9-D959-813F-4F3E95E79D82}"/>
                    </a:ext>
                  </a:extLst>
                </p:cNvPr>
                <p:cNvSpPr/>
                <p:nvPr/>
              </p:nvSpPr>
              <p:spPr>
                <a:xfrm>
                  <a:off x="2264179" y="2757869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4" name="Oval">
                  <a:extLst>
                    <a:ext uri="{FF2B5EF4-FFF2-40B4-BE49-F238E27FC236}">
                      <a16:creationId xmlns:a16="http://schemas.microsoft.com/office/drawing/2014/main" id="{51754999-DF6F-879E-152B-3C41B4440B24}"/>
                    </a:ext>
                  </a:extLst>
                </p:cNvPr>
                <p:cNvSpPr/>
                <p:nvPr/>
              </p:nvSpPr>
              <p:spPr>
                <a:xfrm>
                  <a:off x="3828594" y="3242060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5" name="Oval">
                  <a:extLst>
                    <a:ext uri="{FF2B5EF4-FFF2-40B4-BE49-F238E27FC236}">
                      <a16:creationId xmlns:a16="http://schemas.microsoft.com/office/drawing/2014/main" id="{F8512EF7-3611-5770-51F5-E8D9B7ACAB10}"/>
                    </a:ext>
                  </a:extLst>
                </p:cNvPr>
                <p:cNvSpPr/>
                <p:nvPr/>
              </p:nvSpPr>
              <p:spPr>
                <a:xfrm>
                  <a:off x="5575704" y="2775441"/>
                  <a:ext cx="179567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6" name="Oval">
                  <a:extLst>
                    <a:ext uri="{FF2B5EF4-FFF2-40B4-BE49-F238E27FC236}">
                      <a16:creationId xmlns:a16="http://schemas.microsoft.com/office/drawing/2014/main" id="{44BE52E4-1EF9-C6C1-FAB5-0F8F9459BAC5}"/>
                    </a:ext>
                  </a:extLst>
                </p:cNvPr>
                <p:cNvSpPr/>
                <p:nvPr/>
              </p:nvSpPr>
              <p:spPr>
                <a:xfrm>
                  <a:off x="6547993" y="1992321"/>
                  <a:ext cx="179569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round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sz="5120"/>
                </a:p>
              </p:txBody>
            </p:sp>
            <p:grpSp>
              <p:nvGrpSpPr>
                <p:cNvPr id="57" name="Group">
                  <a:extLst>
                    <a:ext uri="{FF2B5EF4-FFF2-40B4-BE49-F238E27FC236}">
                      <a16:creationId xmlns:a16="http://schemas.microsoft.com/office/drawing/2014/main" id="{235CE731-856C-F472-9E07-BBB2E6C66FE6}"/>
                    </a:ext>
                  </a:extLst>
                </p:cNvPr>
                <p:cNvGrpSpPr/>
                <p:nvPr/>
              </p:nvGrpSpPr>
              <p:grpSpPr>
                <a:xfrm>
                  <a:off x="-1" y="-1"/>
                  <a:ext cx="8166668" cy="3436604"/>
                  <a:chOff x="0" y="0"/>
                  <a:chExt cx="8166666" cy="3436603"/>
                </a:xfrm>
              </p:grpSpPr>
              <p:sp>
                <p:nvSpPr>
                  <p:cNvPr id="58" name="Connection Line">
                    <a:extLst>
                      <a:ext uri="{FF2B5EF4-FFF2-40B4-BE49-F238E27FC236}">
                        <a16:creationId xmlns:a16="http://schemas.microsoft.com/office/drawing/2014/main" id="{674DC83D-2DB4-0612-2D36-0DBF687D4110}"/>
                      </a:ext>
                    </a:extLst>
                  </p:cNvPr>
                  <p:cNvSpPr/>
                  <p:nvPr/>
                </p:nvSpPr>
                <p:spPr>
                  <a:xfrm>
                    <a:off x="0" y="296176"/>
                    <a:ext cx="8056000" cy="31404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16201" extrusionOk="0">
                        <a:moveTo>
                          <a:pt x="21600" y="493"/>
                        </a:moveTo>
                        <a:cubicBezTo>
                          <a:pt x="13891" y="21600"/>
                          <a:pt x="6691" y="21436"/>
                          <a:pt x="0" y="0"/>
                        </a:cubicBezTo>
                      </a:path>
                    </a:pathLst>
                  </a:custGeom>
                  <a:noFill/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wrap="square" lIns="65021" tIns="65021" rIns="65021" bIns="65021" numCol="1" anchor="t">
                    <a:noAutofit/>
                  </a:bodyPr>
                  <a:lstStyle/>
                  <a:p>
                    <a:endParaRPr sz="5120"/>
                  </a:p>
                </p:txBody>
              </p:sp>
              <p:sp>
                <p:nvSpPr>
                  <p:cNvPr id="59" name="LAC">
                    <a:extLst>
                      <a:ext uri="{FF2B5EF4-FFF2-40B4-BE49-F238E27FC236}">
                        <a16:creationId xmlns:a16="http://schemas.microsoft.com/office/drawing/2014/main" id="{5A5C9293-AB7C-B142-A858-4098642451FF}"/>
                      </a:ext>
                    </a:extLst>
                  </p:cNvPr>
                  <p:cNvSpPr txBox="1"/>
                  <p:nvPr/>
                </p:nvSpPr>
                <p:spPr>
                  <a:xfrm>
                    <a:off x="7584287" y="0"/>
                    <a:ext cx="582379" cy="43825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65021" tIns="65021" rIns="65021" bIns="65021" numCol="1" anchor="t">
                    <a:spAutoFit/>
                  </a:bodyPr>
                  <a:lstStyle/>
                  <a:p>
                    <a:r>
                      <a: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LAC</a:t>
                    </a:r>
                  </a:p>
                </p:txBody>
              </p:sp>
            </p:grpSp>
          </p:grpSp>
          <p:sp>
            <p:nvSpPr>
              <p:cNvPr id="14" name="Line">
                <a:extLst>
                  <a:ext uri="{FF2B5EF4-FFF2-40B4-BE49-F238E27FC236}">
                    <a16:creationId xmlns:a16="http://schemas.microsoft.com/office/drawing/2014/main" id="{4ABC1671-D5C4-90C2-5AD0-32FB1E7A3A14}"/>
                  </a:ext>
                </a:extLst>
              </p:cNvPr>
              <p:cNvSpPr/>
              <p:nvPr/>
            </p:nvSpPr>
            <p:spPr>
              <a:xfrm flipV="1">
                <a:off x="763137" y="271506"/>
                <a:ext cx="0" cy="655710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15" name="Line">
                <a:extLst>
                  <a:ext uri="{FF2B5EF4-FFF2-40B4-BE49-F238E27FC236}">
                    <a16:creationId xmlns:a16="http://schemas.microsoft.com/office/drawing/2014/main" id="{9B0F4C92-5FEC-330F-7B7F-DFAD3E4B0A1D}"/>
                  </a:ext>
                </a:extLst>
              </p:cNvPr>
              <p:cNvSpPr/>
              <p:nvPr/>
            </p:nvSpPr>
            <p:spPr>
              <a:xfrm flipV="1">
                <a:off x="-61187" y="6429682"/>
                <a:ext cx="1506972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headEnd type="diamond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16" name="Qty">
                <a:extLst>
                  <a:ext uri="{FF2B5EF4-FFF2-40B4-BE49-F238E27FC236}">
                    <a16:creationId xmlns:a16="http://schemas.microsoft.com/office/drawing/2014/main" id="{6A913265-8656-12D1-A316-E4A0BFF5B661}"/>
                  </a:ext>
                </a:extLst>
              </p:cNvPr>
              <p:cNvSpPr txBox="1"/>
              <p:nvPr/>
            </p:nvSpPr>
            <p:spPr>
              <a:xfrm>
                <a:off x="13883161" y="6504072"/>
                <a:ext cx="1125379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5021" tIns="65021" rIns="65021" bIns="65021">
                <a:spAutoFit/>
              </a:bodyPr>
              <a:lstStyle/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17" name="LAC">
                <a:extLst>
                  <a:ext uri="{FF2B5EF4-FFF2-40B4-BE49-F238E27FC236}">
                    <a16:creationId xmlns:a16="http://schemas.microsoft.com/office/drawing/2014/main" id="{36152243-F558-2F53-06F0-FCEC1A74CA57}"/>
                  </a:ext>
                </a:extLst>
              </p:cNvPr>
              <p:cNvSpPr txBox="1"/>
              <p:nvPr/>
            </p:nvSpPr>
            <p:spPr>
              <a:xfrm>
                <a:off x="-265875" y="271506"/>
                <a:ext cx="828272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65021" tIns="65021" rIns="65021" bIns="65021">
                <a:spAutoFit/>
              </a:bodyPr>
              <a:lstStyle>
                <a:lvl1pPr>
                  <a:defRPr sz="1500"/>
                </a:lvl1pPr>
              </a:lstStyle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  <p:grpSp>
            <p:nvGrpSpPr>
              <p:cNvPr id="18" name="Group">
                <a:extLst>
                  <a:ext uri="{FF2B5EF4-FFF2-40B4-BE49-F238E27FC236}">
                    <a16:creationId xmlns:a16="http://schemas.microsoft.com/office/drawing/2014/main" id="{6FE223C9-516C-FAD8-73DF-4E99BE8B43C5}"/>
                  </a:ext>
                </a:extLst>
              </p:cNvPr>
              <p:cNvGrpSpPr/>
              <p:nvPr/>
            </p:nvGrpSpPr>
            <p:grpSpPr>
              <a:xfrm>
                <a:off x="2100599" y="61264"/>
                <a:ext cx="2979582" cy="3325816"/>
                <a:chOff x="37457" y="-524300"/>
                <a:chExt cx="2095016" cy="2338463"/>
              </a:xfrm>
            </p:grpSpPr>
            <p:sp>
              <p:nvSpPr>
                <p:cNvPr id="49" name="Line">
                  <a:extLst>
                    <a:ext uri="{FF2B5EF4-FFF2-40B4-BE49-F238E27FC236}">
                      <a16:creationId xmlns:a16="http://schemas.microsoft.com/office/drawing/2014/main" id="{0ED6E0DF-FCBB-8BD1-6529-A496B9DDDD05}"/>
                    </a:ext>
                  </a:extLst>
                </p:cNvPr>
                <p:cNvSpPr/>
                <p:nvPr/>
              </p:nvSpPr>
              <p:spPr>
                <a:xfrm flipV="1">
                  <a:off x="508884" y="1585868"/>
                  <a:ext cx="223699" cy="191538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0" name="Connection Line">
                  <a:extLst>
                    <a:ext uri="{FF2B5EF4-FFF2-40B4-BE49-F238E27FC236}">
                      <a16:creationId xmlns:a16="http://schemas.microsoft.com/office/drawing/2014/main" id="{D6D60B3B-79EF-7940-8A1A-9B8D5452817D}"/>
                    </a:ext>
                  </a:extLst>
                </p:cNvPr>
                <p:cNvSpPr/>
                <p:nvPr/>
              </p:nvSpPr>
              <p:spPr>
                <a:xfrm rot="1858796">
                  <a:off x="37457" y="134482"/>
                  <a:ext cx="2095016" cy="16796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38" y="21600"/>
                        <a:pt x="7238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51" name="SAC1">
                  <a:extLst>
                    <a:ext uri="{FF2B5EF4-FFF2-40B4-BE49-F238E27FC236}">
                      <a16:creationId xmlns:a16="http://schemas.microsoft.com/office/drawing/2014/main" id="{301FA7BD-6206-36E0-0803-EE2042FDE4BE}"/>
                    </a:ext>
                  </a:extLst>
                </p:cNvPr>
                <p:cNvSpPr txBox="1"/>
                <p:nvPr/>
              </p:nvSpPr>
              <p:spPr>
                <a:xfrm>
                  <a:off x="732584" y="-524300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19" name="Group">
                <a:extLst>
                  <a:ext uri="{FF2B5EF4-FFF2-40B4-BE49-F238E27FC236}">
                    <a16:creationId xmlns:a16="http://schemas.microsoft.com/office/drawing/2014/main" id="{D7686B93-28CE-B2A6-81C6-50B239B4473A}"/>
                  </a:ext>
                </a:extLst>
              </p:cNvPr>
              <p:cNvGrpSpPr/>
              <p:nvPr/>
            </p:nvGrpSpPr>
            <p:grpSpPr>
              <a:xfrm>
                <a:off x="3352287" y="1269527"/>
                <a:ext cx="3329250" cy="3445726"/>
                <a:chOff x="19704" y="-672595"/>
                <a:chExt cx="2340877" cy="2422773"/>
              </a:xfrm>
            </p:grpSpPr>
            <p:sp>
              <p:nvSpPr>
                <p:cNvPr id="46" name="Connection Line">
                  <a:extLst>
                    <a:ext uri="{FF2B5EF4-FFF2-40B4-BE49-F238E27FC236}">
                      <a16:creationId xmlns:a16="http://schemas.microsoft.com/office/drawing/2014/main" id="{5E30CE9D-2771-6D36-B130-FE3B3B8E948B}"/>
                    </a:ext>
                  </a:extLst>
                </p:cNvPr>
                <p:cNvSpPr/>
                <p:nvPr/>
              </p:nvSpPr>
              <p:spPr>
                <a:xfrm rot="2368290">
                  <a:off x="19704" y="36082"/>
                  <a:ext cx="2340877" cy="16834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58"/>
                      </a:moveTo>
                      <a:cubicBezTo>
                        <a:pt x="14460" y="21600"/>
                        <a:pt x="7260" y="2144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7" name="Line">
                  <a:extLst>
                    <a:ext uri="{FF2B5EF4-FFF2-40B4-BE49-F238E27FC236}">
                      <a16:creationId xmlns:a16="http://schemas.microsoft.com/office/drawing/2014/main" id="{25E82C59-75D8-FEB0-2D5E-129ACCAF99F8}"/>
                    </a:ext>
                  </a:extLst>
                </p:cNvPr>
                <p:cNvSpPr/>
                <p:nvPr/>
              </p:nvSpPr>
              <p:spPr>
                <a:xfrm flipV="1">
                  <a:off x="783689" y="1499552"/>
                  <a:ext cx="225800" cy="250626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8" name="SAC2">
                  <a:extLst>
                    <a:ext uri="{FF2B5EF4-FFF2-40B4-BE49-F238E27FC236}">
                      <a16:creationId xmlns:a16="http://schemas.microsoft.com/office/drawing/2014/main" id="{3F7376ED-4371-15AA-49A0-A47628455B33}"/>
                    </a:ext>
                  </a:extLst>
                </p:cNvPr>
                <p:cNvSpPr txBox="1"/>
                <p:nvPr/>
              </p:nvSpPr>
              <p:spPr>
                <a:xfrm>
                  <a:off x="690703" y="-672595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20" name="Group">
                <a:extLst>
                  <a:ext uri="{FF2B5EF4-FFF2-40B4-BE49-F238E27FC236}">
                    <a16:creationId xmlns:a16="http://schemas.microsoft.com/office/drawing/2014/main" id="{22DDC610-8330-A6F4-A00D-2F5ADDAC0148}"/>
                  </a:ext>
                </a:extLst>
              </p:cNvPr>
              <p:cNvGrpSpPr/>
              <p:nvPr/>
            </p:nvGrpSpPr>
            <p:grpSpPr>
              <a:xfrm>
                <a:off x="5293018" y="2459774"/>
                <a:ext cx="2937447" cy="3272222"/>
                <a:chOff x="-11963" y="-74155"/>
                <a:chExt cx="2065390" cy="2300779"/>
              </a:xfrm>
            </p:grpSpPr>
            <p:sp>
              <p:nvSpPr>
                <p:cNvPr id="43" name="Connection Line">
                  <a:extLst>
                    <a:ext uri="{FF2B5EF4-FFF2-40B4-BE49-F238E27FC236}">
                      <a16:creationId xmlns:a16="http://schemas.microsoft.com/office/drawing/2014/main" id="{9B4CF957-E55E-87F2-8FB6-657A9B868542}"/>
                    </a:ext>
                  </a:extLst>
                </p:cNvPr>
                <p:cNvSpPr/>
                <p:nvPr/>
              </p:nvSpPr>
              <p:spPr>
                <a:xfrm>
                  <a:off x="-1" y="275232"/>
                  <a:ext cx="2053428" cy="16796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20" y="21600"/>
                        <a:pt x="7220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3">
                      <a:satOff val="-6373"/>
                      <a:lumOff val="-10823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4" name="Line">
                  <a:extLst>
                    <a:ext uri="{FF2B5EF4-FFF2-40B4-BE49-F238E27FC236}">
                      <a16:creationId xmlns:a16="http://schemas.microsoft.com/office/drawing/2014/main" id="{F828DC48-1B4D-352E-7FC5-F3387A7A3AF8}"/>
                    </a:ext>
                  </a:extLst>
                </p:cNvPr>
                <p:cNvSpPr/>
                <p:nvPr/>
              </p:nvSpPr>
              <p:spPr>
                <a:xfrm flipV="1">
                  <a:off x="1047863" y="1698421"/>
                  <a:ext cx="2" cy="528203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5" name="SAC3">
                  <a:extLst>
                    <a:ext uri="{FF2B5EF4-FFF2-40B4-BE49-F238E27FC236}">
                      <a16:creationId xmlns:a16="http://schemas.microsoft.com/office/drawing/2014/main" id="{903BE07F-C8C7-2F87-23A9-413A22AB7A34}"/>
                    </a:ext>
                  </a:extLst>
                </p:cNvPr>
                <p:cNvSpPr txBox="1"/>
                <p:nvPr/>
              </p:nvSpPr>
              <p:spPr>
                <a:xfrm>
                  <a:off x="-11963" y="-74155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grpSp>
            <p:nvGrpSpPr>
              <p:cNvPr id="22" name="Group">
                <a:extLst>
                  <a:ext uri="{FF2B5EF4-FFF2-40B4-BE49-F238E27FC236}">
                    <a16:creationId xmlns:a16="http://schemas.microsoft.com/office/drawing/2014/main" id="{0554D7D3-1A55-2791-92BA-FDB34F18D293}"/>
                  </a:ext>
                </a:extLst>
              </p:cNvPr>
              <p:cNvGrpSpPr/>
              <p:nvPr/>
            </p:nvGrpSpPr>
            <p:grpSpPr>
              <a:xfrm>
                <a:off x="6889953" y="894009"/>
                <a:ext cx="3281046" cy="3892289"/>
                <a:chOff x="19703" y="-822176"/>
                <a:chExt cx="2306983" cy="2736762"/>
              </a:xfrm>
            </p:grpSpPr>
            <p:sp>
              <p:nvSpPr>
                <p:cNvPr id="37" name="Connection Line">
                  <a:extLst>
                    <a:ext uri="{FF2B5EF4-FFF2-40B4-BE49-F238E27FC236}">
                      <a16:creationId xmlns:a16="http://schemas.microsoft.com/office/drawing/2014/main" id="{29620C18-F256-412A-7577-3C4149BA151E}"/>
                    </a:ext>
                  </a:extLst>
                </p:cNvPr>
                <p:cNvSpPr/>
                <p:nvPr/>
              </p:nvSpPr>
              <p:spPr>
                <a:xfrm rot="19563024">
                  <a:off x="19703" y="191300"/>
                  <a:ext cx="2306983" cy="1677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40"/>
                      </a:moveTo>
                      <a:cubicBezTo>
                        <a:pt x="14559" y="21600"/>
                        <a:pt x="7359" y="2148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4">
                      <a:satOff val="-1335"/>
                      <a:lumOff val="-10274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1" name="Line">
                  <a:extLst>
                    <a:ext uri="{FF2B5EF4-FFF2-40B4-BE49-F238E27FC236}">
                      <a16:creationId xmlns:a16="http://schemas.microsoft.com/office/drawing/2014/main" id="{D47EC510-07C2-F834-081F-53F419A1F353}"/>
                    </a:ext>
                  </a:extLst>
                </p:cNvPr>
                <p:cNvSpPr/>
                <p:nvPr/>
              </p:nvSpPr>
              <p:spPr>
                <a:xfrm flipH="1" flipV="1">
                  <a:off x="1577423" y="1579824"/>
                  <a:ext cx="358387" cy="33476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42" name="SAC4">
                  <a:extLst>
                    <a:ext uri="{FF2B5EF4-FFF2-40B4-BE49-F238E27FC236}">
                      <a16:creationId xmlns:a16="http://schemas.microsoft.com/office/drawing/2014/main" id="{6E74B4B8-4F61-8F0D-4850-8343800A8721}"/>
                    </a:ext>
                  </a:extLst>
                </p:cNvPr>
                <p:cNvSpPr txBox="1"/>
                <p:nvPr/>
              </p:nvSpPr>
              <p:spPr>
                <a:xfrm>
                  <a:off x="1230006" y="-822176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23" name="Group">
                <a:extLst>
                  <a:ext uri="{FF2B5EF4-FFF2-40B4-BE49-F238E27FC236}">
                    <a16:creationId xmlns:a16="http://schemas.microsoft.com/office/drawing/2014/main" id="{D089D56B-812A-305A-8A3E-497EB07FDA90}"/>
                  </a:ext>
                </a:extLst>
              </p:cNvPr>
              <p:cNvGrpSpPr/>
              <p:nvPr/>
            </p:nvGrpSpPr>
            <p:grpSpPr>
              <a:xfrm>
                <a:off x="8136020" y="-88696"/>
                <a:ext cx="3306959" cy="3884595"/>
                <a:chOff x="0" y="-877727"/>
                <a:chExt cx="2325204" cy="2731352"/>
              </a:xfrm>
            </p:grpSpPr>
            <p:sp>
              <p:nvSpPr>
                <p:cNvPr id="24" name="Connection Line">
                  <a:extLst>
                    <a:ext uri="{FF2B5EF4-FFF2-40B4-BE49-F238E27FC236}">
                      <a16:creationId xmlns:a16="http://schemas.microsoft.com/office/drawing/2014/main" id="{D4513C68-D813-BD66-743F-5ECC3AA7D696}"/>
                    </a:ext>
                  </a:extLst>
                </p:cNvPr>
                <p:cNvSpPr/>
                <p:nvPr/>
              </p:nvSpPr>
              <p:spPr>
                <a:xfrm rot="19446877">
                  <a:off x="0" y="162404"/>
                  <a:ext cx="2325204" cy="16912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2" extrusionOk="0">
                      <a:moveTo>
                        <a:pt x="21600" y="601"/>
                      </a:moveTo>
                      <a:cubicBezTo>
                        <a:pt x="14321" y="21600"/>
                        <a:pt x="7121" y="21400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6">
                      <a:satOff val="-35873"/>
                      <a:lumOff val="-12431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 dirty="0"/>
                </a:p>
              </p:txBody>
            </p:sp>
            <p:sp>
              <p:nvSpPr>
                <p:cNvPr id="25" name="Line">
                  <a:extLst>
                    <a:ext uri="{FF2B5EF4-FFF2-40B4-BE49-F238E27FC236}">
                      <a16:creationId xmlns:a16="http://schemas.microsoft.com/office/drawing/2014/main" id="{F94E7DE0-8D8A-2695-A988-4F5846283C24}"/>
                    </a:ext>
                  </a:extLst>
                </p:cNvPr>
                <p:cNvSpPr/>
                <p:nvPr/>
              </p:nvSpPr>
              <p:spPr>
                <a:xfrm flipH="1" flipV="1">
                  <a:off x="1655142" y="1496588"/>
                  <a:ext cx="270974" cy="317161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35" name="SAC5">
                  <a:extLst>
                    <a:ext uri="{FF2B5EF4-FFF2-40B4-BE49-F238E27FC236}">
                      <a16:creationId xmlns:a16="http://schemas.microsoft.com/office/drawing/2014/main" id="{1019EFA6-5752-2A79-6500-6468C6EBAD75}"/>
                    </a:ext>
                  </a:extLst>
                </p:cNvPr>
                <p:cNvSpPr txBox="1"/>
                <p:nvPr/>
              </p:nvSpPr>
              <p:spPr>
                <a:xfrm>
                  <a:off x="1255208" y="-877727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7F6F09A-7246-C4BD-2F7C-43E647BC4F80}"/>
              </a:ext>
            </a:extLst>
          </p:cNvPr>
          <p:cNvGrpSpPr/>
          <p:nvPr/>
        </p:nvGrpSpPr>
        <p:grpSpPr>
          <a:xfrm>
            <a:off x="968194" y="5205910"/>
            <a:ext cx="10935269" cy="4491156"/>
            <a:chOff x="-183514" y="188210"/>
            <a:chExt cx="10935269" cy="4491156"/>
          </a:xfrm>
        </p:grpSpPr>
        <p:sp>
          <p:nvSpPr>
            <p:cNvPr id="61" name="SACs">
              <a:extLst>
                <a:ext uri="{FF2B5EF4-FFF2-40B4-BE49-F238E27FC236}">
                  <a16:creationId xmlns:a16="http://schemas.microsoft.com/office/drawing/2014/main" id="{AA22A8AA-0A7C-6384-179B-0A0DFB5BD6F5}"/>
                </a:ext>
              </a:extLst>
            </p:cNvPr>
            <p:cNvSpPr txBox="1"/>
            <p:nvPr/>
          </p:nvSpPr>
          <p:spPr>
            <a:xfrm>
              <a:off x="-177272" y="531978"/>
              <a:ext cx="639463" cy="40831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65021" tIns="65021" rIns="65021" bIns="65021">
              <a:spAutoFit/>
            </a:bodyPr>
            <a:lstStyle/>
            <a:p>
              <a:pPr>
                <a:defRPr sz="1500"/>
              </a:pPr>
              <a:r>
                <a:rPr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SAC</a:t>
              </a:r>
              <a:r>
                <a:rPr sz="1800" baseline="-59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B4ADB98-B642-21F6-F3D4-35D4A2287590}"/>
                </a:ext>
              </a:extLst>
            </p:cNvPr>
            <p:cNvGrpSpPr/>
            <p:nvPr/>
          </p:nvGrpSpPr>
          <p:grpSpPr>
            <a:xfrm>
              <a:off x="-183514" y="188210"/>
              <a:ext cx="10935269" cy="4491156"/>
              <a:chOff x="-265875" y="271506"/>
              <a:chExt cx="15274416" cy="6855863"/>
            </a:xfrm>
          </p:grpSpPr>
          <p:grpSp>
            <p:nvGrpSpPr>
              <p:cNvPr id="63" name="Group">
                <a:extLst>
                  <a:ext uri="{FF2B5EF4-FFF2-40B4-BE49-F238E27FC236}">
                    <a16:creationId xmlns:a16="http://schemas.microsoft.com/office/drawing/2014/main" id="{68A802E3-2E26-03DC-B11A-B69A1EAB22A6}"/>
                  </a:ext>
                </a:extLst>
              </p:cNvPr>
              <p:cNvGrpSpPr/>
              <p:nvPr/>
            </p:nvGrpSpPr>
            <p:grpSpPr>
              <a:xfrm>
                <a:off x="1227522" y="501279"/>
                <a:ext cx="11614818" cy="4887616"/>
                <a:chOff x="-1" y="-1"/>
                <a:chExt cx="8166668" cy="3436604"/>
              </a:xfrm>
            </p:grpSpPr>
            <p:sp>
              <p:nvSpPr>
                <p:cNvPr id="88" name="Oval">
                  <a:extLst>
                    <a:ext uri="{FF2B5EF4-FFF2-40B4-BE49-F238E27FC236}">
                      <a16:creationId xmlns:a16="http://schemas.microsoft.com/office/drawing/2014/main" id="{5E33803E-6DAC-C830-8224-CA47F7DB26AE}"/>
                    </a:ext>
                  </a:extLst>
                </p:cNvPr>
                <p:cNvSpPr/>
                <p:nvPr/>
              </p:nvSpPr>
              <p:spPr>
                <a:xfrm>
                  <a:off x="1141400" y="1766575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9" name="Oval">
                  <a:extLst>
                    <a:ext uri="{FF2B5EF4-FFF2-40B4-BE49-F238E27FC236}">
                      <a16:creationId xmlns:a16="http://schemas.microsoft.com/office/drawing/2014/main" id="{A7879294-949E-17C7-C982-932B5BA92183}"/>
                    </a:ext>
                  </a:extLst>
                </p:cNvPr>
                <p:cNvSpPr/>
                <p:nvPr/>
              </p:nvSpPr>
              <p:spPr>
                <a:xfrm>
                  <a:off x="2289836" y="2772937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90" name="Oval">
                  <a:extLst>
                    <a:ext uri="{FF2B5EF4-FFF2-40B4-BE49-F238E27FC236}">
                      <a16:creationId xmlns:a16="http://schemas.microsoft.com/office/drawing/2014/main" id="{31377E92-7596-6C84-FC7C-DDAA605C9E55}"/>
                    </a:ext>
                  </a:extLst>
                </p:cNvPr>
                <p:cNvSpPr/>
                <p:nvPr/>
              </p:nvSpPr>
              <p:spPr>
                <a:xfrm>
                  <a:off x="3828594" y="3242060"/>
                  <a:ext cx="179569" cy="140165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91" name="Oval">
                  <a:extLst>
                    <a:ext uri="{FF2B5EF4-FFF2-40B4-BE49-F238E27FC236}">
                      <a16:creationId xmlns:a16="http://schemas.microsoft.com/office/drawing/2014/main" id="{4DA7AD56-8BB1-1135-7591-4543AFB7BD98}"/>
                    </a:ext>
                  </a:extLst>
                </p:cNvPr>
                <p:cNvSpPr/>
                <p:nvPr/>
              </p:nvSpPr>
              <p:spPr>
                <a:xfrm>
                  <a:off x="5339256" y="2844058"/>
                  <a:ext cx="179567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miter lim="400000"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92" name="Oval">
                  <a:extLst>
                    <a:ext uri="{FF2B5EF4-FFF2-40B4-BE49-F238E27FC236}">
                      <a16:creationId xmlns:a16="http://schemas.microsoft.com/office/drawing/2014/main" id="{CD75AE65-A0E7-9AA4-C6DB-89C285F4B700}"/>
                    </a:ext>
                  </a:extLst>
                </p:cNvPr>
                <p:cNvSpPr/>
                <p:nvPr/>
              </p:nvSpPr>
              <p:spPr>
                <a:xfrm>
                  <a:off x="6331246" y="2095251"/>
                  <a:ext cx="179569" cy="140163"/>
                </a:xfrm>
                <a:prstGeom prst="ellipse">
                  <a:avLst/>
                </a:prstGeom>
                <a:solidFill>
                  <a:srgbClr val="00FDFF"/>
                </a:solidFill>
                <a:ln w="25400" cap="flat">
                  <a:solidFill>
                    <a:srgbClr val="00FDFF"/>
                  </a:solidFill>
                  <a:prstDash val="solid"/>
                  <a:round/>
                </a:ln>
                <a:effectLst>
                  <a:outerShdw blurRad="381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wrap="square" lIns="65021" tIns="65021" rIns="65021" bIns="65021" numCol="1" anchor="ctr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 sz="5120"/>
                </a:p>
              </p:txBody>
            </p:sp>
            <p:grpSp>
              <p:nvGrpSpPr>
                <p:cNvPr id="93" name="Group">
                  <a:extLst>
                    <a:ext uri="{FF2B5EF4-FFF2-40B4-BE49-F238E27FC236}">
                      <a16:creationId xmlns:a16="http://schemas.microsoft.com/office/drawing/2014/main" id="{31396D20-0DD4-EF95-D8DD-50D7DCDD46DA}"/>
                    </a:ext>
                  </a:extLst>
                </p:cNvPr>
                <p:cNvGrpSpPr/>
                <p:nvPr/>
              </p:nvGrpSpPr>
              <p:grpSpPr>
                <a:xfrm>
                  <a:off x="-1" y="-1"/>
                  <a:ext cx="8166668" cy="3436604"/>
                  <a:chOff x="0" y="0"/>
                  <a:chExt cx="8166666" cy="3436603"/>
                </a:xfrm>
              </p:grpSpPr>
              <p:sp>
                <p:nvSpPr>
                  <p:cNvPr id="94" name="Connection Line">
                    <a:extLst>
                      <a:ext uri="{FF2B5EF4-FFF2-40B4-BE49-F238E27FC236}">
                        <a16:creationId xmlns:a16="http://schemas.microsoft.com/office/drawing/2014/main" id="{5F837CB4-0CD1-CBA8-AEA4-0C3136DF45CE}"/>
                      </a:ext>
                    </a:extLst>
                  </p:cNvPr>
                  <p:cNvSpPr/>
                  <p:nvPr/>
                </p:nvSpPr>
                <p:spPr>
                  <a:xfrm>
                    <a:off x="0" y="296176"/>
                    <a:ext cx="8056000" cy="314042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16201" extrusionOk="0">
                        <a:moveTo>
                          <a:pt x="21600" y="493"/>
                        </a:moveTo>
                        <a:cubicBezTo>
                          <a:pt x="13891" y="21600"/>
                          <a:pt x="6691" y="21436"/>
                          <a:pt x="0" y="0"/>
                        </a:cubicBezTo>
                      </a:path>
                    </a:pathLst>
                  </a:custGeom>
                  <a:noFill/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txBody>
                  <a:bodyPr wrap="square" lIns="65021" tIns="65021" rIns="65021" bIns="65021" numCol="1" anchor="t">
                    <a:noAutofit/>
                  </a:bodyPr>
                  <a:lstStyle/>
                  <a:p>
                    <a:endParaRPr sz="5120"/>
                  </a:p>
                </p:txBody>
              </p:sp>
              <p:sp>
                <p:nvSpPr>
                  <p:cNvPr id="95" name="LAC">
                    <a:extLst>
                      <a:ext uri="{FF2B5EF4-FFF2-40B4-BE49-F238E27FC236}">
                        <a16:creationId xmlns:a16="http://schemas.microsoft.com/office/drawing/2014/main" id="{1F4CC9EB-E586-A4AA-3D00-6D32D7DB972B}"/>
                      </a:ext>
                    </a:extLst>
                  </p:cNvPr>
                  <p:cNvSpPr txBox="1"/>
                  <p:nvPr/>
                </p:nvSpPr>
                <p:spPr>
                  <a:xfrm>
                    <a:off x="7584287" y="0"/>
                    <a:ext cx="582379" cy="43825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65021" tIns="65021" rIns="65021" bIns="65021" numCol="1" anchor="t">
                    <a:spAutoFit/>
                  </a:bodyPr>
                  <a:lstStyle/>
                  <a:p>
                    <a:r>
                      <a: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LAC</a:t>
                    </a:r>
                  </a:p>
                </p:txBody>
              </p:sp>
            </p:grpSp>
          </p:grpSp>
          <p:sp>
            <p:nvSpPr>
              <p:cNvPr id="64" name="Line">
                <a:extLst>
                  <a:ext uri="{FF2B5EF4-FFF2-40B4-BE49-F238E27FC236}">
                    <a16:creationId xmlns:a16="http://schemas.microsoft.com/office/drawing/2014/main" id="{287BE538-5282-3D52-C70F-CF8518C83E60}"/>
                  </a:ext>
                </a:extLst>
              </p:cNvPr>
              <p:cNvSpPr/>
              <p:nvPr/>
            </p:nvSpPr>
            <p:spPr>
              <a:xfrm flipV="1">
                <a:off x="763137" y="271506"/>
                <a:ext cx="0" cy="655710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65" name="Line">
                <a:extLst>
                  <a:ext uri="{FF2B5EF4-FFF2-40B4-BE49-F238E27FC236}">
                    <a16:creationId xmlns:a16="http://schemas.microsoft.com/office/drawing/2014/main" id="{C079C023-E412-9511-6506-DBFA9B92D93A}"/>
                  </a:ext>
                </a:extLst>
              </p:cNvPr>
              <p:cNvSpPr/>
              <p:nvPr/>
            </p:nvSpPr>
            <p:spPr>
              <a:xfrm flipV="1">
                <a:off x="-61187" y="6429682"/>
                <a:ext cx="1506972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headEnd type="diamond" w="med" len="med"/>
                <a:tailEnd type="triangl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65021" tIns="65021" rIns="65021" bIns="65021"/>
              <a:lstStyle/>
              <a:p>
                <a:endParaRPr sz="5120"/>
              </a:p>
            </p:txBody>
          </p:sp>
          <p:sp>
            <p:nvSpPr>
              <p:cNvPr id="66" name="Qty">
                <a:extLst>
                  <a:ext uri="{FF2B5EF4-FFF2-40B4-BE49-F238E27FC236}">
                    <a16:creationId xmlns:a16="http://schemas.microsoft.com/office/drawing/2014/main" id="{7C4EED49-D099-E571-2AC8-DBDC800FF081}"/>
                  </a:ext>
                </a:extLst>
              </p:cNvPr>
              <p:cNvSpPr txBox="1"/>
              <p:nvPr/>
            </p:nvSpPr>
            <p:spPr>
              <a:xfrm>
                <a:off x="13883161" y="6504072"/>
                <a:ext cx="1125379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65021" tIns="65021" rIns="65021" bIns="65021">
                <a:spAutoFit/>
              </a:bodyPr>
              <a:lstStyle/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67" name="LAC">
                <a:extLst>
                  <a:ext uri="{FF2B5EF4-FFF2-40B4-BE49-F238E27FC236}">
                    <a16:creationId xmlns:a16="http://schemas.microsoft.com/office/drawing/2014/main" id="{69861679-5C94-409E-F511-300C4CE810A5}"/>
                  </a:ext>
                </a:extLst>
              </p:cNvPr>
              <p:cNvSpPr txBox="1"/>
              <p:nvPr/>
            </p:nvSpPr>
            <p:spPr>
              <a:xfrm>
                <a:off x="-265875" y="271506"/>
                <a:ext cx="828272" cy="62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65021" tIns="65021" rIns="65021" bIns="65021">
                <a:spAutoFit/>
              </a:bodyPr>
              <a:lstStyle>
                <a:lvl1pPr>
                  <a:defRPr sz="1500"/>
                </a:lvl1pPr>
              </a:lstStyle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</a:t>
                </a:r>
              </a:p>
            </p:txBody>
          </p:sp>
          <p:grpSp>
            <p:nvGrpSpPr>
              <p:cNvPr id="68" name="Group">
                <a:extLst>
                  <a:ext uri="{FF2B5EF4-FFF2-40B4-BE49-F238E27FC236}">
                    <a16:creationId xmlns:a16="http://schemas.microsoft.com/office/drawing/2014/main" id="{D7AF3078-48C6-A885-9498-7509A0E67C4C}"/>
                  </a:ext>
                </a:extLst>
              </p:cNvPr>
              <p:cNvGrpSpPr/>
              <p:nvPr/>
            </p:nvGrpSpPr>
            <p:grpSpPr>
              <a:xfrm>
                <a:off x="2047327" y="718456"/>
                <a:ext cx="3524423" cy="3015637"/>
                <a:chOff x="0" y="-62212"/>
                <a:chExt cx="2478106" cy="2120368"/>
              </a:xfrm>
            </p:grpSpPr>
            <p:sp>
              <p:nvSpPr>
                <p:cNvPr id="85" name="Line">
                  <a:extLst>
                    <a:ext uri="{FF2B5EF4-FFF2-40B4-BE49-F238E27FC236}">
                      <a16:creationId xmlns:a16="http://schemas.microsoft.com/office/drawing/2014/main" id="{AA5A5ABE-C056-6415-3C60-4523D052E80F}"/>
                    </a:ext>
                  </a:extLst>
                </p:cNvPr>
                <p:cNvSpPr/>
                <p:nvPr/>
              </p:nvSpPr>
              <p:spPr>
                <a:xfrm flipV="1">
                  <a:off x="1028960" y="1758034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6" name="Connection Line">
                  <a:extLst>
                    <a:ext uri="{FF2B5EF4-FFF2-40B4-BE49-F238E27FC236}">
                      <a16:creationId xmlns:a16="http://schemas.microsoft.com/office/drawing/2014/main" id="{A5A1216C-BC8B-498F-5EDC-ED12EBEED260}"/>
                    </a:ext>
                  </a:extLst>
                </p:cNvPr>
                <p:cNvSpPr/>
                <p:nvPr/>
              </p:nvSpPr>
              <p:spPr>
                <a:xfrm>
                  <a:off x="0" y="254704"/>
                  <a:ext cx="2095016" cy="16796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38" y="21600"/>
                        <a:pt x="7238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7" name="SAC1">
                  <a:extLst>
                    <a:ext uri="{FF2B5EF4-FFF2-40B4-BE49-F238E27FC236}">
                      <a16:creationId xmlns:a16="http://schemas.microsoft.com/office/drawing/2014/main" id="{4EE86417-D56C-80FE-AF99-40262F0B0759}"/>
                    </a:ext>
                  </a:extLst>
                </p:cNvPr>
                <p:cNvSpPr txBox="1"/>
                <p:nvPr/>
              </p:nvSpPr>
              <p:spPr>
                <a:xfrm>
                  <a:off x="1832754" y="-62212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grpSp>
            <p:nvGrpSpPr>
              <p:cNvPr id="69" name="Group">
                <a:extLst>
                  <a:ext uri="{FF2B5EF4-FFF2-40B4-BE49-F238E27FC236}">
                    <a16:creationId xmlns:a16="http://schemas.microsoft.com/office/drawing/2014/main" id="{AF120F50-ECE8-E295-275D-B3133F161F98}"/>
                  </a:ext>
                </a:extLst>
              </p:cNvPr>
              <p:cNvGrpSpPr/>
              <p:nvPr/>
            </p:nvGrpSpPr>
            <p:grpSpPr>
              <a:xfrm>
                <a:off x="3324264" y="1921071"/>
                <a:ext cx="3498076" cy="2981538"/>
                <a:chOff x="0" y="-214479"/>
                <a:chExt cx="2459583" cy="2096390"/>
              </a:xfrm>
            </p:grpSpPr>
            <p:sp>
              <p:nvSpPr>
                <p:cNvPr id="82" name="Connection Line">
                  <a:extLst>
                    <a:ext uri="{FF2B5EF4-FFF2-40B4-BE49-F238E27FC236}">
                      <a16:creationId xmlns:a16="http://schemas.microsoft.com/office/drawing/2014/main" id="{1FC69B52-0979-662D-BE54-CBD4B762D8F7}"/>
                    </a:ext>
                  </a:extLst>
                </p:cNvPr>
                <p:cNvSpPr/>
                <p:nvPr/>
              </p:nvSpPr>
              <p:spPr>
                <a:xfrm>
                  <a:off x="0" y="104700"/>
                  <a:ext cx="2340877" cy="16834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458"/>
                      </a:moveTo>
                      <a:cubicBezTo>
                        <a:pt x="14460" y="21600"/>
                        <a:pt x="7260" y="2144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3" name="Line">
                  <a:extLst>
                    <a:ext uri="{FF2B5EF4-FFF2-40B4-BE49-F238E27FC236}">
                      <a16:creationId xmlns:a16="http://schemas.microsoft.com/office/drawing/2014/main" id="{B5B78CC6-F080-1C42-8847-784638CBDC52}"/>
                    </a:ext>
                  </a:extLst>
                </p:cNvPr>
                <p:cNvSpPr/>
                <p:nvPr/>
              </p:nvSpPr>
              <p:spPr>
                <a:xfrm flipV="1">
                  <a:off x="1170442" y="1581789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4" name="SAC2">
                  <a:extLst>
                    <a:ext uri="{FF2B5EF4-FFF2-40B4-BE49-F238E27FC236}">
                      <a16:creationId xmlns:a16="http://schemas.microsoft.com/office/drawing/2014/main" id="{3E65EA31-BA23-9F9C-4D66-37756389527E}"/>
                    </a:ext>
                  </a:extLst>
                </p:cNvPr>
                <p:cNvSpPr txBox="1"/>
                <p:nvPr/>
              </p:nvSpPr>
              <p:spPr>
                <a:xfrm>
                  <a:off x="1814231" y="-214479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p:grpSp>
          <p:grpSp>
            <p:nvGrpSpPr>
              <p:cNvPr id="70" name="Group">
                <a:extLst>
                  <a:ext uri="{FF2B5EF4-FFF2-40B4-BE49-F238E27FC236}">
                    <a16:creationId xmlns:a16="http://schemas.microsoft.com/office/drawing/2014/main" id="{39BA77E1-C19C-63BC-213B-9DC7A82122A0}"/>
                  </a:ext>
                </a:extLst>
              </p:cNvPr>
              <p:cNvGrpSpPr/>
              <p:nvPr/>
            </p:nvGrpSpPr>
            <p:grpSpPr>
              <a:xfrm>
                <a:off x="5310031" y="2348919"/>
                <a:ext cx="3216158" cy="3383077"/>
                <a:chOff x="-1" y="-152100"/>
                <a:chExt cx="2261358" cy="2378724"/>
              </a:xfrm>
            </p:grpSpPr>
            <p:sp>
              <p:nvSpPr>
                <p:cNvPr id="79" name="Connection Line">
                  <a:extLst>
                    <a:ext uri="{FF2B5EF4-FFF2-40B4-BE49-F238E27FC236}">
                      <a16:creationId xmlns:a16="http://schemas.microsoft.com/office/drawing/2014/main" id="{5327B068-CF42-CCC6-467E-3726192B6A3B}"/>
                    </a:ext>
                  </a:extLst>
                </p:cNvPr>
                <p:cNvSpPr/>
                <p:nvPr/>
              </p:nvSpPr>
              <p:spPr>
                <a:xfrm>
                  <a:off x="-1" y="275232"/>
                  <a:ext cx="2053428" cy="16796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87"/>
                      </a:moveTo>
                      <a:cubicBezTo>
                        <a:pt x="14420" y="21600"/>
                        <a:pt x="7220" y="21471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3">
                      <a:satOff val="-6373"/>
                      <a:lumOff val="-10823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0" name="Line">
                  <a:extLst>
                    <a:ext uri="{FF2B5EF4-FFF2-40B4-BE49-F238E27FC236}">
                      <a16:creationId xmlns:a16="http://schemas.microsoft.com/office/drawing/2014/main" id="{F563C456-518C-9344-62F6-94E8765C57DB}"/>
                    </a:ext>
                  </a:extLst>
                </p:cNvPr>
                <p:cNvSpPr/>
                <p:nvPr/>
              </p:nvSpPr>
              <p:spPr>
                <a:xfrm flipV="1">
                  <a:off x="1047863" y="1698421"/>
                  <a:ext cx="2" cy="528203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81" name="SAC3">
                  <a:extLst>
                    <a:ext uri="{FF2B5EF4-FFF2-40B4-BE49-F238E27FC236}">
                      <a16:creationId xmlns:a16="http://schemas.microsoft.com/office/drawing/2014/main" id="{8928ACAA-22A4-EFDC-EA6E-155DEC961E66}"/>
                    </a:ext>
                  </a:extLst>
                </p:cNvPr>
                <p:cNvSpPr txBox="1"/>
                <p:nvPr/>
              </p:nvSpPr>
              <p:spPr>
                <a:xfrm>
                  <a:off x="1616005" y="-152100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  <p:grpSp>
            <p:nvGrpSpPr>
              <p:cNvPr id="71" name="Group">
                <a:extLst>
                  <a:ext uri="{FF2B5EF4-FFF2-40B4-BE49-F238E27FC236}">
                    <a16:creationId xmlns:a16="http://schemas.microsoft.com/office/drawing/2014/main" id="{93C08C69-711E-1929-940C-FBED67F43741}"/>
                  </a:ext>
                </a:extLst>
              </p:cNvPr>
              <p:cNvGrpSpPr/>
              <p:nvPr/>
            </p:nvGrpSpPr>
            <p:grpSpPr>
              <a:xfrm>
                <a:off x="6861930" y="1921071"/>
                <a:ext cx="3575979" cy="3010438"/>
                <a:chOff x="-1" y="-100024"/>
                <a:chExt cx="2514358" cy="2116711"/>
              </a:xfrm>
            </p:grpSpPr>
            <p:sp>
              <p:nvSpPr>
                <p:cNvPr id="76" name="Connection Line">
                  <a:extLst>
                    <a:ext uri="{FF2B5EF4-FFF2-40B4-BE49-F238E27FC236}">
                      <a16:creationId xmlns:a16="http://schemas.microsoft.com/office/drawing/2014/main" id="{DAC126D3-1FC0-EC35-06D6-B34F953AF3DC}"/>
                    </a:ext>
                  </a:extLst>
                </p:cNvPr>
                <p:cNvSpPr/>
                <p:nvPr/>
              </p:nvSpPr>
              <p:spPr>
                <a:xfrm>
                  <a:off x="-1" y="294227"/>
                  <a:ext cx="2306983" cy="16773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340"/>
                      </a:moveTo>
                      <a:cubicBezTo>
                        <a:pt x="14559" y="21600"/>
                        <a:pt x="7359" y="21487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4">
                      <a:satOff val="-1335"/>
                      <a:lumOff val="-10274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77" name="Line">
                  <a:extLst>
                    <a:ext uri="{FF2B5EF4-FFF2-40B4-BE49-F238E27FC236}">
                      <a16:creationId xmlns:a16="http://schemas.microsoft.com/office/drawing/2014/main" id="{57E3AFDF-BB8F-CB71-17FC-51503448C02A}"/>
                    </a:ext>
                  </a:extLst>
                </p:cNvPr>
                <p:cNvSpPr/>
                <p:nvPr/>
              </p:nvSpPr>
              <p:spPr>
                <a:xfrm flipV="1">
                  <a:off x="1166254" y="1716565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78" name="SAC4">
                  <a:extLst>
                    <a:ext uri="{FF2B5EF4-FFF2-40B4-BE49-F238E27FC236}">
                      <a16:creationId xmlns:a16="http://schemas.microsoft.com/office/drawing/2014/main" id="{5703DA2B-A92A-F43A-CAC1-CC9DFCC6E46D}"/>
                    </a:ext>
                  </a:extLst>
                </p:cNvPr>
                <p:cNvSpPr txBox="1"/>
                <p:nvPr/>
              </p:nvSpPr>
              <p:spPr>
                <a:xfrm>
                  <a:off x="1869005" y="-100024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72" name="Group">
                <a:extLst>
                  <a:ext uri="{FF2B5EF4-FFF2-40B4-BE49-F238E27FC236}">
                    <a16:creationId xmlns:a16="http://schemas.microsoft.com/office/drawing/2014/main" id="{12B1AA9E-BE4E-3AC4-B786-28BC1E8DB4AC}"/>
                  </a:ext>
                </a:extLst>
              </p:cNvPr>
              <p:cNvGrpSpPr/>
              <p:nvPr/>
            </p:nvGrpSpPr>
            <p:grpSpPr>
              <a:xfrm>
                <a:off x="8136020" y="1053368"/>
                <a:ext cx="3513718" cy="3026047"/>
                <a:chOff x="0" y="-74714"/>
                <a:chExt cx="2470581" cy="2127686"/>
              </a:xfrm>
            </p:grpSpPr>
            <p:sp>
              <p:nvSpPr>
                <p:cNvPr id="73" name="Connection Line">
                  <a:extLst>
                    <a:ext uri="{FF2B5EF4-FFF2-40B4-BE49-F238E27FC236}">
                      <a16:creationId xmlns:a16="http://schemas.microsoft.com/office/drawing/2014/main" id="{6CC8B8B6-ACFA-0261-241B-CDCCD39BB47A}"/>
                    </a:ext>
                  </a:extLst>
                </p:cNvPr>
                <p:cNvSpPr/>
                <p:nvPr/>
              </p:nvSpPr>
              <p:spPr>
                <a:xfrm>
                  <a:off x="0" y="265331"/>
                  <a:ext cx="2325204" cy="16912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2" extrusionOk="0">
                      <a:moveTo>
                        <a:pt x="21600" y="601"/>
                      </a:moveTo>
                      <a:cubicBezTo>
                        <a:pt x="14321" y="21600"/>
                        <a:pt x="7121" y="21400"/>
                        <a:pt x="0" y="0"/>
                      </a:cubicBezTo>
                    </a:path>
                  </a:pathLst>
                </a:custGeom>
                <a:noFill/>
                <a:ln w="76200" cap="flat">
                  <a:solidFill>
                    <a:schemeClr val="accent6">
                      <a:satOff val="-35873"/>
                      <a:lumOff val="-12431"/>
                    </a:schemeClr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 dirty="0"/>
                </a:p>
              </p:txBody>
            </p:sp>
            <p:sp>
              <p:nvSpPr>
                <p:cNvPr id="74" name="Line">
                  <a:extLst>
                    <a:ext uri="{FF2B5EF4-FFF2-40B4-BE49-F238E27FC236}">
                      <a16:creationId xmlns:a16="http://schemas.microsoft.com/office/drawing/2014/main" id="{3168120C-DBBF-E76F-8E40-CA88D3A9ACC9}"/>
                    </a:ext>
                  </a:extLst>
                </p:cNvPr>
                <p:cNvSpPr/>
                <p:nvPr/>
              </p:nvSpPr>
              <p:spPr>
                <a:xfrm flipV="1">
                  <a:off x="1162520" y="1752850"/>
                  <a:ext cx="2" cy="300122"/>
                </a:xfrm>
                <a:prstGeom prst="line">
                  <a:avLst/>
                </a:prstGeom>
                <a:noFill/>
                <a:ln w="25400" cap="flat">
                  <a:solidFill>
                    <a:srgbClr val="FF26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65021" tIns="65021" rIns="65021" bIns="65021" numCol="1" anchor="t">
                  <a:noAutofit/>
                </a:bodyPr>
                <a:lstStyle/>
                <a:p>
                  <a:endParaRPr sz="5120"/>
                </a:p>
              </p:txBody>
            </p:sp>
            <p:sp>
              <p:nvSpPr>
                <p:cNvPr id="75" name="SAC5">
                  <a:extLst>
                    <a:ext uri="{FF2B5EF4-FFF2-40B4-BE49-F238E27FC236}">
                      <a16:creationId xmlns:a16="http://schemas.microsoft.com/office/drawing/2014/main" id="{919EB7A1-9B74-46B8-17B7-53CDF9754AC5}"/>
                    </a:ext>
                  </a:extLst>
                </p:cNvPr>
                <p:cNvSpPr txBox="1"/>
                <p:nvPr/>
              </p:nvSpPr>
              <p:spPr>
                <a:xfrm>
                  <a:off x="1825229" y="-74714"/>
                  <a:ext cx="645352" cy="43825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65021" tIns="65021" rIns="65021" bIns="65021" numCol="1" anchor="t">
                  <a:spAutoFit/>
                </a:bodyPr>
                <a:lstStyle/>
                <a:p>
                  <a:r>
                    <a:rPr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SAC</a:t>
                  </a:r>
                  <a:r>
                    <a:rPr sz="1800" baseline="-5998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</a:p>
              </p:txBody>
            </p:sp>
          </p:grpSp>
        </p:grpSp>
      </p:grpSp>
      <p:sp>
        <p:nvSpPr>
          <p:cNvPr id="96" name="Qty">
            <a:extLst>
              <a:ext uri="{FF2B5EF4-FFF2-40B4-BE49-F238E27FC236}">
                <a16:creationId xmlns:a16="http://schemas.microsoft.com/office/drawing/2014/main" id="{CB94416E-C5A8-5DDB-BDDD-7D25F99ACC21}"/>
              </a:ext>
            </a:extLst>
          </p:cNvPr>
          <p:cNvSpPr txBox="1"/>
          <p:nvPr/>
        </p:nvSpPr>
        <p:spPr>
          <a:xfrm>
            <a:off x="9339898" y="3821838"/>
            <a:ext cx="2867609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Qty">
            <a:extLst>
              <a:ext uri="{FF2B5EF4-FFF2-40B4-BE49-F238E27FC236}">
                <a16:creationId xmlns:a16="http://schemas.microsoft.com/office/drawing/2014/main" id="{8BA7ECD7-5958-AF78-FD40-8577A97BCC51}"/>
              </a:ext>
            </a:extLst>
          </p:cNvPr>
          <p:cNvSpPr txBox="1"/>
          <p:nvPr/>
        </p:nvSpPr>
        <p:spPr>
          <a:xfrm>
            <a:off x="9039782" y="8549334"/>
            <a:ext cx="3138786" cy="623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021" tIns="65021" rIns="65021" bIns="65021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8283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9DD74F9-2836-5B46-A80D-4C7F8802638B}"/>
              </a:ext>
            </a:extLst>
          </p:cNvPr>
          <p:cNvGrpSpPr/>
          <p:nvPr/>
        </p:nvGrpSpPr>
        <p:grpSpPr>
          <a:xfrm>
            <a:off x="2711850" y="2501522"/>
            <a:ext cx="7294011" cy="5366614"/>
            <a:chOff x="4073290" y="1322962"/>
            <a:chExt cx="7294011" cy="5366614"/>
          </a:xfrm>
        </p:grpSpPr>
        <p:sp>
          <p:nvSpPr>
            <p:cNvPr id="4" name="Arc 3">
              <a:extLst>
                <a:ext uri="{FF2B5EF4-FFF2-40B4-BE49-F238E27FC236}">
                  <a16:creationId xmlns:a16="http://schemas.microsoft.com/office/drawing/2014/main" id="{D1B41EDD-7DEB-374E-8984-65ABA4802F74}"/>
                </a:ext>
              </a:extLst>
            </p:cNvPr>
            <p:cNvSpPr/>
            <p:nvPr/>
          </p:nvSpPr>
          <p:spPr>
            <a:xfrm>
              <a:off x="4938870" y="2397744"/>
              <a:ext cx="4277111" cy="3711588"/>
            </a:xfrm>
            <a:custGeom>
              <a:avLst/>
              <a:gdLst>
                <a:gd name="connsiteX0" fmla="*/ 4155261 w 8310523"/>
                <a:gd name="connsiteY0" fmla="*/ 0 h 7355856"/>
                <a:gd name="connsiteX1" fmla="*/ 6930441 w 8310523"/>
                <a:gd name="connsiteY1" fmla="*/ 940531 h 7355856"/>
                <a:gd name="connsiteX2" fmla="*/ 8310025 w 8310523"/>
                <a:gd name="connsiteY2" fmla="*/ 3734884 h 7355856"/>
                <a:gd name="connsiteX3" fmla="*/ 4155262 w 8310523"/>
                <a:gd name="connsiteY3" fmla="*/ 3677928 h 7355856"/>
                <a:gd name="connsiteX4" fmla="*/ 4155261 w 8310523"/>
                <a:gd name="connsiteY4" fmla="*/ 0 h 7355856"/>
                <a:gd name="connsiteX0" fmla="*/ 4155261 w 8310523"/>
                <a:gd name="connsiteY0" fmla="*/ 0 h 7355856"/>
                <a:gd name="connsiteX1" fmla="*/ 6930441 w 8310523"/>
                <a:gd name="connsiteY1" fmla="*/ 940531 h 7355856"/>
                <a:gd name="connsiteX2" fmla="*/ 8310025 w 8310523"/>
                <a:gd name="connsiteY2" fmla="*/ 3734884 h 7355856"/>
                <a:gd name="connsiteX0" fmla="*/ 0 w 4272866"/>
                <a:gd name="connsiteY0" fmla="*/ 0 h 3757517"/>
                <a:gd name="connsiteX1" fmla="*/ 2775180 w 4272866"/>
                <a:gd name="connsiteY1" fmla="*/ 940531 h 3757517"/>
                <a:gd name="connsiteX2" fmla="*/ 4154764 w 4272866"/>
                <a:gd name="connsiteY2" fmla="*/ 3734884 h 3757517"/>
                <a:gd name="connsiteX3" fmla="*/ 1 w 4272866"/>
                <a:gd name="connsiteY3" fmla="*/ 3677928 h 3757517"/>
                <a:gd name="connsiteX4" fmla="*/ 0 w 4272866"/>
                <a:gd name="connsiteY4" fmla="*/ 0 h 3757517"/>
                <a:gd name="connsiteX0" fmla="*/ 0 w 4272866"/>
                <a:gd name="connsiteY0" fmla="*/ 0 h 3757517"/>
                <a:gd name="connsiteX1" fmla="*/ 2775180 w 4272866"/>
                <a:gd name="connsiteY1" fmla="*/ 940531 h 3757517"/>
                <a:gd name="connsiteX2" fmla="*/ 4272459 w 4272866"/>
                <a:gd name="connsiteY2" fmla="*/ 3757517 h 3757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72866" h="3757517" stroke="0" extrusionOk="0">
                  <a:moveTo>
                    <a:pt x="0" y="0"/>
                  </a:moveTo>
                  <a:cubicBezTo>
                    <a:pt x="1024417" y="0"/>
                    <a:pt x="2012730" y="334947"/>
                    <a:pt x="2775180" y="940531"/>
                  </a:cubicBezTo>
                  <a:cubicBezTo>
                    <a:pt x="3670196" y="1651407"/>
                    <a:pt x="4173386" y="2670621"/>
                    <a:pt x="4154764" y="3734884"/>
                  </a:cubicBezTo>
                  <a:lnTo>
                    <a:pt x="1" y="3677928"/>
                  </a:lnTo>
                  <a:cubicBezTo>
                    <a:pt x="1" y="2451952"/>
                    <a:pt x="0" y="1225976"/>
                    <a:pt x="0" y="0"/>
                  </a:cubicBezTo>
                  <a:close/>
                </a:path>
                <a:path w="4272866" h="3757517" fill="none">
                  <a:moveTo>
                    <a:pt x="0" y="0"/>
                  </a:moveTo>
                  <a:cubicBezTo>
                    <a:pt x="1024417" y="0"/>
                    <a:pt x="2012730" y="334947"/>
                    <a:pt x="2775180" y="940531"/>
                  </a:cubicBezTo>
                  <a:cubicBezTo>
                    <a:pt x="3670196" y="1651407"/>
                    <a:pt x="4291081" y="2693254"/>
                    <a:pt x="4272459" y="3757517"/>
                  </a:cubicBezTo>
                </a:path>
              </a:pathLst>
            </a:custGeom>
            <a:noFill/>
            <a:ln w="5715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Shape of AC Curve">
              <a:extLst>
                <a:ext uri="{FF2B5EF4-FFF2-40B4-BE49-F238E27FC236}">
                  <a16:creationId xmlns:a16="http://schemas.microsoft.com/office/drawing/2014/main" id="{7E2F2A1E-A0F2-E141-9A89-746D6C53EE58}"/>
                </a:ext>
              </a:extLst>
            </p:cNvPr>
            <p:cNvSpPr txBox="1">
              <a:spLocks/>
            </p:cNvSpPr>
            <p:nvPr/>
          </p:nvSpPr>
          <p:spPr>
            <a:xfrm>
              <a:off x="4941209" y="2063565"/>
              <a:ext cx="345663" cy="3974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" name="Shape of AC Curve">
              <a:extLst>
                <a:ext uri="{FF2B5EF4-FFF2-40B4-BE49-F238E27FC236}">
                  <a16:creationId xmlns:a16="http://schemas.microsoft.com/office/drawing/2014/main" id="{1EFF908C-EA4A-CA4B-AF87-4D26D67BD7DD}"/>
                </a:ext>
              </a:extLst>
            </p:cNvPr>
            <p:cNvSpPr txBox="1">
              <a:spLocks/>
            </p:cNvSpPr>
            <p:nvPr/>
          </p:nvSpPr>
          <p:spPr>
            <a:xfrm>
              <a:off x="8998505" y="5517743"/>
              <a:ext cx="743494" cy="6743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A3B11A2-B7CD-1E4D-8AAE-4FA23525710A}"/>
                </a:ext>
              </a:extLst>
            </p:cNvPr>
            <p:cNvCxnSpPr>
              <a:cxnSpLocks/>
            </p:cNvCxnSpPr>
            <p:nvPr/>
          </p:nvCxnSpPr>
          <p:spPr>
            <a:xfrm>
              <a:off x="4955211" y="1573529"/>
              <a:ext cx="0" cy="455064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228770-57EB-1A40-AF12-0C4974E451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552" y="6116752"/>
              <a:ext cx="5859637" cy="742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none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Shape of AC Curve">
              <a:extLst>
                <a:ext uri="{FF2B5EF4-FFF2-40B4-BE49-F238E27FC236}">
                  <a16:creationId xmlns:a16="http://schemas.microsoft.com/office/drawing/2014/main" id="{952538EC-3DB0-334F-89F9-95293AE77472}"/>
                </a:ext>
              </a:extLst>
            </p:cNvPr>
            <p:cNvSpPr txBox="1">
              <a:spLocks/>
            </p:cNvSpPr>
            <p:nvPr/>
          </p:nvSpPr>
          <p:spPr>
            <a:xfrm>
              <a:off x="10259452" y="6126220"/>
              <a:ext cx="1107849" cy="56335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2" name="Shape of AC Curve">
              <a:extLst>
                <a:ext uri="{FF2B5EF4-FFF2-40B4-BE49-F238E27FC236}">
                  <a16:creationId xmlns:a16="http://schemas.microsoft.com/office/drawing/2014/main" id="{03AA91F3-E414-B946-8610-8C1DBE40D672}"/>
                </a:ext>
              </a:extLst>
            </p:cNvPr>
            <p:cNvSpPr txBox="1">
              <a:spLocks/>
            </p:cNvSpPr>
            <p:nvPr/>
          </p:nvSpPr>
          <p:spPr>
            <a:xfrm>
              <a:off x="4073290" y="1322962"/>
              <a:ext cx="990169" cy="5881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DBE668-2950-2A4B-8D11-C6C9AB421B69}"/>
              </a:ext>
            </a:extLst>
          </p:cNvPr>
          <p:cNvGrpSpPr/>
          <p:nvPr/>
        </p:nvGrpSpPr>
        <p:grpSpPr>
          <a:xfrm>
            <a:off x="2856644" y="3541883"/>
            <a:ext cx="3749002" cy="4196299"/>
            <a:chOff x="4218084" y="2363323"/>
            <a:chExt cx="3749002" cy="419629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4DE82E3-28D4-9748-A6E8-0985AFE0C3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6139" y="3003069"/>
              <a:ext cx="22022" cy="3113684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98326B5-1D86-4647-B1F7-BE6D046BC5CB}"/>
                </a:ext>
              </a:extLst>
            </p:cNvPr>
            <p:cNvCxnSpPr>
              <a:cxnSpLocks/>
            </p:cNvCxnSpPr>
            <p:nvPr/>
          </p:nvCxnSpPr>
          <p:spPr>
            <a:xfrm>
              <a:off x="4966695" y="2960490"/>
              <a:ext cx="2159444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Shape of AC Curve">
              <a:extLst>
                <a:ext uri="{FF2B5EF4-FFF2-40B4-BE49-F238E27FC236}">
                  <a16:creationId xmlns:a16="http://schemas.microsoft.com/office/drawing/2014/main" id="{46EB3A53-4769-8A4B-A557-C6BA7764DA33}"/>
                </a:ext>
              </a:extLst>
            </p:cNvPr>
            <p:cNvSpPr txBox="1">
              <a:spLocks/>
            </p:cNvSpPr>
            <p:nvPr/>
          </p:nvSpPr>
          <p:spPr>
            <a:xfrm>
              <a:off x="6866778" y="2363323"/>
              <a:ext cx="1100308" cy="67430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6" name="Shape of AC Curve">
              <a:extLst>
                <a:ext uri="{FF2B5EF4-FFF2-40B4-BE49-F238E27FC236}">
                  <a16:creationId xmlns:a16="http://schemas.microsoft.com/office/drawing/2014/main" id="{8FC228C7-EB77-E44E-8B35-FC338E81FFF5}"/>
                </a:ext>
              </a:extLst>
            </p:cNvPr>
            <p:cNvSpPr txBox="1">
              <a:spLocks/>
            </p:cNvSpPr>
            <p:nvPr/>
          </p:nvSpPr>
          <p:spPr>
            <a:xfrm>
              <a:off x="4218084" y="2708531"/>
              <a:ext cx="962084" cy="5781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7" name="Shape of AC Curve">
              <a:extLst>
                <a:ext uri="{FF2B5EF4-FFF2-40B4-BE49-F238E27FC236}">
                  <a16:creationId xmlns:a16="http://schemas.microsoft.com/office/drawing/2014/main" id="{C11E3F2D-EBA4-FE41-84E9-CF1114ED382B}"/>
                </a:ext>
              </a:extLst>
            </p:cNvPr>
            <p:cNvSpPr txBox="1">
              <a:spLocks/>
            </p:cNvSpPr>
            <p:nvPr/>
          </p:nvSpPr>
          <p:spPr>
            <a:xfrm>
              <a:off x="6892529" y="5854898"/>
              <a:ext cx="669334" cy="7047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9C7F672-8D2B-BF40-8BAD-BFD872EEB812}"/>
              </a:ext>
            </a:extLst>
          </p:cNvPr>
          <p:cNvGrpSpPr/>
          <p:nvPr/>
        </p:nvGrpSpPr>
        <p:grpSpPr>
          <a:xfrm>
            <a:off x="2925776" y="4374043"/>
            <a:ext cx="4782065" cy="3364139"/>
            <a:chOff x="799234" y="1931354"/>
            <a:chExt cx="1968464" cy="1842424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107A112-279E-8A43-BCEF-ED9600F9C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02007" y="2238233"/>
              <a:ext cx="3683" cy="1301397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BB4C153-7609-6247-9BB9-084B97DE9EDE}"/>
                </a:ext>
              </a:extLst>
            </p:cNvPr>
            <p:cNvGrpSpPr/>
            <p:nvPr/>
          </p:nvGrpSpPr>
          <p:grpSpPr>
            <a:xfrm>
              <a:off x="799234" y="1931354"/>
              <a:ext cx="1968464" cy="1842424"/>
              <a:chOff x="799234" y="1931354"/>
              <a:chExt cx="1968464" cy="184242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AD5DD4E-600B-3F45-ABD9-8CFCF4E0B07D}"/>
                  </a:ext>
                </a:extLst>
              </p:cNvPr>
              <p:cNvCxnSpPr/>
              <p:nvPr/>
            </p:nvCxnSpPr>
            <p:spPr>
              <a:xfrm>
                <a:off x="1078931" y="2238233"/>
                <a:ext cx="1323075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Shape of AC Curve">
                <a:extLst>
                  <a:ext uri="{FF2B5EF4-FFF2-40B4-BE49-F238E27FC236}">
                    <a16:creationId xmlns:a16="http://schemas.microsoft.com/office/drawing/2014/main" id="{99107459-9035-8147-9570-CA9C5C43E3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95828" y="1931354"/>
                <a:ext cx="471870" cy="36929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7" name="Shape of AC Curve">
                <a:extLst>
                  <a:ext uri="{FF2B5EF4-FFF2-40B4-BE49-F238E27FC236}">
                    <a16:creationId xmlns:a16="http://schemas.microsoft.com/office/drawing/2014/main" id="{A772222F-211B-1B48-8B4B-B92840A718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9234" y="2034631"/>
                <a:ext cx="351446" cy="3166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8" name="Shape of AC Curve">
                <a:extLst>
                  <a:ext uri="{FF2B5EF4-FFF2-40B4-BE49-F238E27FC236}">
                    <a16:creationId xmlns:a16="http://schemas.microsoft.com/office/drawing/2014/main" id="{7C07DF36-2C52-E746-A4DC-C1B9099584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2954" y="3456633"/>
                <a:ext cx="301327" cy="3171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D36506-18D6-F84C-B95D-6A7C525BF69C}"/>
              </a:ext>
            </a:extLst>
          </p:cNvPr>
          <p:cNvGrpSpPr/>
          <p:nvPr/>
        </p:nvGrpSpPr>
        <p:grpSpPr>
          <a:xfrm>
            <a:off x="2928138" y="5738471"/>
            <a:ext cx="5528900" cy="2004626"/>
            <a:chOff x="4289578" y="4559911"/>
            <a:chExt cx="5528900" cy="2004626"/>
          </a:xfrm>
        </p:grpSpPr>
        <p:sp>
          <p:nvSpPr>
            <p:cNvPr id="90" name="Shape of AC Curve">
              <a:extLst>
                <a:ext uri="{FF2B5EF4-FFF2-40B4-BE49-F238E27FC236}">
                  <a16:creationId xmlns:a16="http://schemas.microsoft.com/office/drawing/2014/main" id="{FA5A042B-EF26-1040-BB5B-8FF29992C7F3}"/>
                </a:ext>
              </a:extLst>
            </p:cNvPr>
            <p:cNvSpPr txBox="1">
              <a:spLocks/>
            </p:cNvSpPr>
            <p:nvPr/>
          </p:nvSpPr>
          <p:spPr>
            <a:xfrm>
              <a:off x="8869321" y="4583111"/>
              <a:ext cx="949157" cy="635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305A97E-232C-4643-B642-C6C018A14164}"/>
                </a:ext>
              </a:extLst>
            </p:cNvPr>
            <p:cNvGrpSpPr/>
            <p:nvPr/>
          </p:nvGrpSpPr>
          <p:grpSpPr>
            <a:xfrm>
              <a:off x="4289578" y="4559911"/>
              <a:ext cx="5160013" cy="2004626"/>
              <a:chOff x="4289578" y="4559911"/>
              <a:chExt cx="5160013" cy="2004626"/>
            </a:xfrm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E30F2EA7-09B4-5C4C-9EB0-D8FF22C400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14275" y="5011278"/>
                <a:ext cx="0" cy="1098054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2484215-A1A8-7143-898A-771BF32F5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867" y="5070124"/>
                <a:ext cx="4076224" cy="2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Shape of AC Curve">
                <a:extLst>
                  <a:ext uri="{FF2B5EF4-FFF2-40B4-BE49-F238E27FC236}">
                    <a16:creationId xmlns:a16="http://schemas.microsoft.com/office/drawing/2014/main" id="{348216A5-CE14-744A-B07B-0CA5FD203A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9578" y="4559911"/>
                <a:ext cx="853784" cy="67040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1" name="Shape of AC Curve">
                <a:extLst>
                  <a:ext uri="{FF2B5EF4-FFF2-40B4-BE49-F238E27FC236}">
                    <a16:creationId xmlns:a16="http://schemas.microsoft.com/office/drawing/2014/main" id="{5E316817-9BDF-2D47-92AC-14A0AB4CF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24354" y="5959711"/>
                <a:ext cx="725237" cy="6048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  <p:sp>
        <p:nvSpPr>
          <p:cNvPr id="34" name="Shape of AC Curve">
            <a:extLst>
              <a:ext uri="{FF2B5EF4-FFF2-40B4-BE49-F238E27FC236}">
                <a16:creationId xmlns:a16="http://schemas.microsoft.com/office/drawing/2014/main" id="{CF92742B-B2FB-CD4D-8951-1C154DAF8D19}"/>
              </a:ext>
            </a:extLst>
          </p:cNvPr>
          <p:cNvSpPr txBox="1">
            <a:spLocks/>
          </p:cNvSpPr>
          <p:nvPr/>
        </p:nvSpPr>
        <p:spPr>
          <a:xfrm>
            <a:off x="531325" y="342560"/>
            <a:ext cx="8465450" cy="833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OPPORTUNITY COST -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nuance of cost</a:t>
            </a:r>
          </a:p>
        </p:txBody>
      </p:sp>
      <p:sp>
        <p:nvSpPr>
          <p:cNvPr id="35" name="Shape of AC Curve">
            <a:extLst>
              <a:ext uri="{FF2B5EF4-FFF2-40B4-BE49-F238E27FC236}">
                <a16:creationId xmlns:a16="http://schemas.microsoft.com/office/drawing/2014/main" id="{5A90311E-B4AD-A944-816A-6663CFE2C975}"/>
              </a:ext>
            </a:extLst>
          </p:cNvPr>
          <p:cNvSpPr txBox="1">
            <a:spLocks/>
          </p:cNvSpPr>
          <p:nvPr/>
        </p:nvSpPr>
        <p:spPr>
          <a:xfrm>
            <a:off x="1284560" y="1285348"/>
            <a:ext cx="11069782" cy="55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0255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of AC Curve">
            <a:extLst>
              <a:ext uri="{FF2B5EF4-FFF2-40B4-BE49-F238E27FC236}">
                <a16:creationId xmlns:a16="http://schemas.microsoft.com/office/drawing/2014/main" id="{3FF5EED4-4E8A-A641-8568-85DDAFC48DCF}"/>
              </a:ext>
            </a:extLst>
          </p:cNvPr>
          <p:cNvSpPr txBox="1">
            <a:spLocks/>
          </p:cNvSpPr>
          <p:nvPr/>
        </p:nvSpPr>
        <p:spPr>
          <a:xfrm>
            <a:off x="195619" y="44016"/>
            <a:ext cx="5595581" cy="584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OF OPPORTUNITY COST CURVE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8293EFE-8A11-9549-9252-D4634553131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36</a:t>
            </a:fld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3602EB-5736-2743-9F11-8600CD5FE9A8}"/>
              </a:ext>
            </a:extLst>
          </p:cNvPr>
          <p:cNvGrpSpPr/>
          <p:nvPr/>
        </p:nvGrpSpPr>
        <p:grpSpPr>
          <a:xfrm>
            <a:off x="5406589" y="4879758"/>
            <a:ext cx="5520558" cy="5172261"/>
            <a:chOff x="6177838" y="4778109"/>
            <a:chExt cx="4909347" cy="517226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292383-687F-BF45-BC07-172E0D1B3CFE}"/>
                </a:ext>
              </a:extLst>
            </p:cNvPr>
            <p:cNvGrpSpPr/>
            <p:nvPr/>
          </p:nvGrpSpPr>
          <p:grpSpPr>
            <a:xfrm>
              <a:off x="6177838" y="4778109"/>
              <a:ext cx="4600267" cy="5172261"/>
              <a:chOff x="4939459" y="4354246"/>
              <a:chExt cx="4600267" cy="5172261"/>
            </a:xfrm>
          </p:grpSpPr>
          <p:sp>
            <p:nvSpPr>
              <p:cNvPr id="60" name="Shape of AC Curve">
                <a:extLst>
                  <a:ext uri="{FF2B5EF4-FFF2-40B4-BE49-F238E27FC236}">
                    <a16:creationId xmlns:a16="http://schemas.microsoft.com/office/drawing/2014/main" id="{C205E8C7-73D8-1143-9172-F391A3B5BD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2919" y="4354246"/>
                <a:ext cx="579691" cy="50969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62" name="Shape of AC Curve">
                <a:extLst>
                  <a:ext uri="{FF2B5EF4-FFF2-40B4-BE49-F238E27FC236}">
                    <a16:creationId xmlns:a16="http://schemas.microsoft.com/office/drawing/2014/main" id="{8BD56125-DF6D-A341-9263-9E79D9207D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95549" y="7484094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F5AF89B-F5F1-7844-84F1-63C229DC0E9A}"/>
                  </a:ext>
                </a:extLst>
              </p:cNvPr>
              <p:cNvGrpSpPr/>
              <p:nvPr/>
            </p:nvGrpSpPr>
            <p:grpSpPr>
              <a:xfrm>
                <a:off x="4939459" y="4642910"/>
                <a:ext cx="4320844" cy="4883597"/>
                <a:chOff x="4939459" y="4642910"/>
                <a:chExt cx="4320844" cy="4993194"/>
              </a:xfrm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84DFA3E1-D01E-4C49-AE90-7DAE91847C97}"/>
                    </a:ext>
                  </a:extLst>
                </p:cNvPr>
                <p:cNvGrpSpPr/>
                <p:nvPr/>
              </p:nvGrpSpPr>
              <p:grpSpPr>
                <a:xfrm>
                  <a:off x="6631028" y="4642910"/>
                  <a:ext cx="2629275" cy="2960249"/>
                  <a:chOff x="1270000" y="1991976"/>
                  <a:chExt cx="2629275" cy="2960249"/>
                </a:xfrm>
              </p:grpSpPr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D96A6BA9-D6CC-E548-98FE-53F83ED76B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70000" y="1991976"/>
                    <a:ext cx="0" cy="2956545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73FC60E9-7F87-354B-8CEE-E5469ECA8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270002" y="4921623"/>
                    <a:ext cx="2629273" cy="30602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00B29B-0DE0-C542-8FD9-D3CBC0805F1B}"/>
                    </a:ext>
                  </a:extLst>
                </p:cNvPr>
                <p:cNvGrpSpPr/>
                <p:nvPr/>
              </p:nvGrpSpPr>
              <p:grpSpPr>
                <a:xfrm>
                  <a:off x="4939459" y="4746268"/>
                  <a:ext cx="3590949" cy="4889836"/>
                  <a:chOff x="4939459" y="4746268"/>
                  <a:chExt cx="3590949" cy="4889836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10075E44-D856-C444-843B-A3018482EA1B}"/>
                      </a:ext>
                    </a:extLst>
                  </p:cNvPr>
                  <p:cNvGrpSpPr/>
                  <p:nvPr/>
                </p:nvGrpSpPr>
                <p:grpSpPr>
                  <a:xfrm>
                    <a:off x="4939459" y="5445804"/>
                    <a:ext cx="3590949" cy="4190300"/>
                    <a:chOff x="4939459" y="5445804"/>
                    <a:chExt cx="3590949" cy="4190300"/>
                  </a:xfrm>
                </p:grpSpPr>
                <p:sp>
                  <p:nvSpPr>
                    <p:cNvPr id="58" name="Shape of AC Curve">
                      <a:extLst>
                        <a:ext uri="{FF2B5EF4-FFF2-40B4-BE49-F238E27FC236}">
                          <a16:creationId xmlns:a16="http://schemas.microsoft.com/office/drawing/2014/main" id="{3CC901E5-CBA3-6648-84DD-BD95210FD82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6324980" y="5445804"/>
                      <a:ext cx="306048" cy="369296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  </a:ext>
                    </a:extLst>
                  </p:spPr>
                  <p:txBody>
                    <a:bodyPr lIns="50800" tIns="50800" rIns="50800" bIns="50800" anchor="b">
                      <a:no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59" name="Shape of AC Curve">
                      <a:extLst>
                        <a:ext uri="{FF2B5EF4-FFF2-40B4-BE49-F238E27FC236}">
                          <a16:creationId xmlns:a16="http://schemas.microsoft.com/office/drawing/2014/main" id="{B9FFFDC3-7167-0747-B94B-CF2023A2C32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8224360" y="7618518"/>
                      <a:ext cx="306048" cy="369296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  </a:ext>
                    </a:extLst>
                  </p:spPr>
                  <p:txBody>
                    <a:bodyPr lIns="50800" tIns="50800" rIns="50800" bIns="50800" anchor="b">
                      <a:no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p:txBody>
                </p:sp>
                <p:sp>
                  <p:nvSpPr>
                    <p:cNvPr id="63" name="Arc 62">
                      <a:extLst>
                        <a:ext uri="{FF2B5EF4-FFF2-40B4-BE49-F238E27FC236}">
                          <a16:creationId xmlns:a16="http://schemas.microsoft.com/office/drawing/2014/main" id="{933CDD53-B2F1-F540-957F-34EE35093C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9459" y="5635899"/>
                      <a:ext cx="3450042" cy="4000205"/>
                    </a:xfrm>
                    <a:prstGeom prst="arc">
                      <a:avLst>
                        <a:gd name="adj1" fmla="val 16114742"/>
                        <a:gd name="adj2" fmla="val 21542672"/>
                      </a:avLst>
                    </a:prstGeom>
                    <a:noFill/>
                    <a:ln w="5715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91439" tIns="45719" rIns="91439" bIns="45719" numCol="1" spcCol="38100" rtlCol="0" anchor="t">
                      <a:noAutofit/>
                    </a:bodyPr>
                    <a:lstStyle/>
                    <a:p>
                      <a:pPr marL="0" marR="0" indent="0" algn="l" defTabSz="914400" rtl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834BCF9E-DE3B-E24A-ADDE-0C9F65CAC9EF}"/>
                      </a:ext>
                    </a:extLst>
                  </p:cNvPr>
                  <p:cNvGrpSpPr/>
                  <p:nvPr/>
                </p:nvGrpSpPr>
                <p:grpSpPr>
                  <a:xfrm>
                    <a:off x="6166483" y="4746268"/>
                    <a:ext cx="2044375" cy="3227041"/>
                    <a:chOff x="6166483" y="4746268"/>
                    <a:chExt cx="2044375" cy="3227041"/>
                  </a:xfrm>
                </p:grpSpPr>
                <p:sp>
                  <p:nvSpPr>
                    <p:cNvPr id="61" name="Shape of AC Curve">
                      <a:extLst>
                        <a:ext uri="{FF2B5EF4-FFF2-40B4-BE49-F238E27FC236}">
                          <a16:creationId xmlns:a16="http://schemas.microsoft.com/office/drawing/2014/main" id="{F29C3837-B0B1-CC48-9972-8086B07CB52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7631167" y="7463617"/>
                      <a:ext cx="579691" cy="509692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  </a:ext>
                    </a:extLst>
                  </p:spPr>
                  <p:txBody>
                    <a:bodyPr lIns="50800" tIns="50800" rIns="50800" bIns="50800" anchor="b">
                      <a:norm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b="1" baseline="-25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64" name="Arc 63">
                      <a:extLst>
                        <a:ext uri="{FF2B5EF4-FFF2-40B4-BE49-F238E27FC236}">
                          <a16:creationId xmlns:a16="http://schemas.microsoft.com/office/drawing/2014/main" id="{121B7DD2-D239-6F45-8B2F-E8B0AB497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26011" y="5049444"/>
                      <a:ext cx="1250741" cy="2543925"/>
                    </a:xfrm>
                    <a:custGeom>
                      <a:avLst/>
                      <a:gdLst>
                        <a:gd name="connsiteX0" fmla="*/ 1332527 w 2729204"/>
                        <a:gd name="connsiteY0" fmla="*/ 681 h 4928637"/>
                        <a:gd name="connsiteX1" fmla="*/ 2554718 w 2729204"/>
                        <a:gd name="connsiteY1" fmla="*/ 1258608 h 4928637"/>
                        <a:gd name="connsiteX2" fmla="*/ 2729205 w 2729204"/>
                        <a:gd name="connsiteY2" fmla="*/ 2464319 h 4928637"/>
                        <a:gd name="connsiteX3" fmla="*/ 1364602 w 2729204"/>
                        <a:gd name="connsiteY3" fmla="*/ 2464319 h 4928637"/>
                        <a:gd name="connsiteX4" fmla="*/ 1332527 w 2729204"/>
                        <a:gd name="connsiteY4" fmla="*/ 681 h 4928637"/>
                        <a:gd name="connsiteX0" fmla="*/ 1332527 w 2729204"/>
                        <a:gd name="connsiteY0" fmla="*/ 681 h 4928637"/>
                        <a:gd name="connsiteX1" fmla="*/ 2554718 w 2729204"/>
                        <a:gd name="connsiteY1" fmla="*/ 1258608 h 4928637"/>
                        <a:gd name="connsiteX2" fmla="*/ 2729205 w 2729204"/>
                        <a:gd name="connsiteY2" fmla="*/ 2464319 h 4928637"/>
                        <a:gd name="connsiteX0" fmla="*/ 9780 w 1406458"/>
                        <a:gd name="connsiteY0" fmla="*/ 25101 h 2488739"/>
                        <a:gd name="connsiteX1" fmla="*/ 1231971 w 1406458"/>
                        <a:gd name="connsiteY1" fmla="*/ 1283028 h 2488739"/>
                        <a:gd name="connsiteX2" fmla="*/ 1406458 w 1406458"/>
                        <a:gd name="connsiteY2" fmla="*/ 2488739 h 2488739"/>
                        <a:gd name="connsiteX3" fmla="*/ 41855 w 1406458"/>
                        <a:gd name="connsiteY3" fmla="*/ 2488739 h 2488739"/>
                        <a:gd name="connsiteX4" fmla="*/ 9780 w 1406458"/>
                        <a:gd name="connsiteY4" fmla="*/ 25101 h 2488739"/>
                        <a:gd name="connsiteX0" fmla="*/ 0 w 1406458"/>
                        <a:gd name="connsiteY0" fmla="*/ 652 h 2488739"/>
                        <a:gd name="connsiteX1" fmla="*/ 1231971 w 1406458"/>
                        <a:gd name="connsiteY1" fmla="*/ 1283028 h 2488739"/>
                        <a:gd name="connsiteX2" fmla="*/ 1406458 w 1406458"/>
                        <a:gd name="connsiteY2" fmla="*/ 2488739 h 2488739"/>
                        <a:gd name="connsiteX0" fmla="*/ 9780 w 1406458"/>
                        <a:gd name="connsiteY0" fmla="*/ 24449 h 2488087"/>
                        <a:gd name="connsiteX1" fmla="*/ 1231971 w 1406458"/>
                        <a:gd name="connsiteY1" fmla="*/ 1282376 h 2488087"/>
                        <a:gd name="connsiteX2" fmla="*/ 1406458 w 1406458"/>
                        <a:gd name="connsiteY2" fmla="*/ 2488087 h 2488087"/>
                        <a:gd name="connsiteX3" fmla="*/ 41855 w 1406458"/>
                        <a:gd name="connsiteY3" fmla="*/ 2488087 h 2488087"/>
                        <a:gd name="connsiteX4" fmla="*/ 9780 w 1406458"/>
                        <a:gd name="connsiteY4" fmla="*/ 24449 h 2488087"/>
                        <a:gd name="connsiteX0" fmla="*/ 0 w 1406458"/>
                        <a:gd name="connsiteY0" fmla="*/ 0 h 2488087"/>
                        <a:gd name="connsiteX1" fmla="*/ 1231971 w 1406458"/>
                        <a:gd name="connsiteY1" fmla="*/ 1282376 h 2488087"/>
                        <a:gd name="connsiteX2" fmla="*/ 1406458 w 1406458"/>
                        <a:gd name="connsiteY2" fmla="*/ 2488087 h 24880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406458" h="2488087" stroke="0" extrusionOk="0">
                          <a:moveTo>
                            <a:pt x="9780" y="24449"/>
                          </a:moveTo>
                          <a:cubicBezTo>
                            <a:pt x="514689" y="3011"/>
                            <a:pt x="984867" y="486936"/>
                            <a:pt x="1231971" y="1282376"/>
                          </a:cubicBezTo>
                          <a:cubicBezTo>
                            <a:pt x="1346374" y="1650646"/>
                            <a:pt x="1406458" y="2065825"/>
                            <a:pt x="1406458" y="2488087"/>
                          </a:cubicBezTo>
                          <a:lnTo>
                            <a:pt x="41855" y="2488087"/>
                          </a:lnTo>
                          <a:lnTo>
                            <a:pt x="9780" y="24449"/>
                          </a:lnTo>
                          <a:close/>
                        </a:path>
                        <a:path w="1406458" h="2488087" fill="none">
                          <a:moveTo>
                            <a:pt x="0" y="0"/>
                          </a:moveTo>
                          <a:cubicBezTo>
                            <a:pt x="500019" y="47019"/>
                            <a:pt x="984867" y="486936"/>
                            <a:pt x="1231971" y="1282376"/>
                          </a:cubicBezTo>
                          <a:cubicBezTo>
                            <a:pt x="1346374" y="1650646"/>
                            <a:pt x="1406458" y="2065825"/>
                            <a:pt x="1406458" y="2488087"/>
                          </a:cubicBezTo>
                        </a:path>
                      </a:pathLst>
                    </a:custGeom>
                    <a:noFill/>
                    <a:ln w="57150" cap="flat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91439" tIns="45719" rIns="91439" bIns="45719" numCol="1" spcCol="38100" rtlCol="0" anchor="t">
                      <a:noAutofit/>
                    </a:bodyPr>
                    <a:lstStyle/>
                    <a:p>
                      <a:pPr marL="0" marR="0" indent="0" algn="l" defTabSz="914400" rtl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5" name="Shape of AC Curve">
                      <a:extLst>
                        <a:ext uri="{FF2B5EF4-FFF2-40B4-BE49-F238E27FC236}">
                          <a16:creationId xmlns:a16="http://schemas.microsoft.com/office/drawing/2014/main" id="{61FC0A95-E600-9F40-887F-5A1114C35AE3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6166483" y="4746268"/>
                      <a:ext cx="579691" cy="509692"/>
                    </a:xfrm>
                    <a:prstGeom prst="rect">
                      <a:avLst/>
                    </a:prstGeom>
                    <a:ln w="12700">
                      <a:miter lim="400000"/>
                    </a:ln>
                    <a:extLst>
                      <a:ext uri="{C572A759-6A51-4108-AA02-DFA0A04FC94B}">
  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  </a:ext>
                    </a:extLst>
                  </p:spPr>
                  <p:txBody>
                    <a:bodyPr lIns="50800" tIns="50800" rIns="50800" bIns="50800" anchor="b">
                      <a:normAutofit/>
                    </a:bodyPr>
                    <a:lstStyle>
                      <a:lvl1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1pPr>
                      <a:lvl2pPr marL="0" marR="0" indent="228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2pPr>
                      <a:lvl3pPr marL="0" marR="0" indent="457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3pPr>
                      <a:lvl4pPr marL="0" marR="0" indent="685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4pPr>
                      <a:lvl5pPr marL="0" marR="0" indent="9144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5pPr>
                      <a:lvl6pPr marL="0" marR="0" indent="11430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6pPr>
                      <a:lvl7pPr marL="0" marR="0" indent="13716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7pPr>
                      <a:lvl8pPr marL="0" marR="0" indent="16002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8pPr>
                      <a:lvl9pPr marL="0" marR="0" indent="182880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8000" b="0" i="0" u="none" strike="noStrike" cap="none" spc="0" baseline="0">
                          <a:solidFill>
                            <a:srgbClr val="0000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 Light"/>
                        </a:defRPr>
                      </a:lvl9pPr>
                    </a:lstStyle>
                    <a:p>
                      <a:pPr hangingPunct="1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1" baseline="-250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p:txBody>
                </p:sp>
              </p:grpSp>
            </p:grpSp>
          </p:grpSp>
        </p:grpSp>
        <p:sp>
          <p:nvSpPr>
            <p:cNvPr id="66" name="Shape of AC Curve">
              <a:extLst>
                <a:ext uri="{FF2B5EF4-FFF2-40B4-BE49-F238E27FC236}">
                  <a16:creationId xmlns:a16="http://schemas.microsoft.com/office/drawing/2014/main" id="{1AC1B539-3032-DB42-9434-92FD59F09CA3}"/>
                </a:ext>
              </a:extLst>
            </p:cNvPr>
            <p:cNvSpPr txBox="1">
              <a:spLocks/>
            </p:cNvSpPr>
            <p:nvPr/>
          </p:nvSpPr>
          <p:spPr>
            <a:xfrm>
              <a:off x="8701009" y="5020142"/>
              <a:ext cx="2386176" cy="4985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FDDD03-E49D-8747-A600-61AA82664D19}"/>
              </a:ext>
            </a:extLst>
          </p:cNvPr>
          <p:cNvGrpSpPr/>
          <p:nvPr/>
        </p:nvGrpSpPr>
        <p:grpSpPr>
          <a:xfrm>
            <a:off x="967202" y="1062768"/>
            <a:ext cx="4637354" cy="3155464"/>
            <a:chOff x="2284244" y="940926"/>
            <a:chExt cx="4403558" cy="32791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17B0AFE-D999-9841-A190-FF295A04E651}"/>
                </a:ext>
              </a:extLst>
            </p:cNvPr>
            <p:cNvGrpSpPr/>
            <p:nvPr/>
          </p:nvGrpSpPr>
          <p:grpSpPr>
            <a:xfrm>
              <a:off x="2284244" y="940926"/>
              <a:ext cx="4403558" cy="3279148"/>
              <a:chOff x="4327355" y="307020"/>
              <a:chExt cx="4105985" cy="356720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CDB501C-8D62-9243-A8A2-BF46C3325D0C}"/>
                  </a:ext>
                </a:extLst>
              </p:cNvPr>
              <p:cNvGrpSpPr/>
              <p:nvPr/>
            </p:nvGrpSpPr>
            <p:grpSpPr>
              <a:xfrm>
                <a:off x="4614993" y="477672"/>
                <a:ext cx="3306709" cy="3372261"/>
                <a:chOff x="4614993" y="477672"/>
                <a:chExt cx="3306709" cy="3372261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A7D7CA0-6710-7840-972D-9B0C6F21B674}"/>
                    </a:ext>
                  </a:extLst>
                </p:cNvPr>
                <p:cNvGrpSpPr/>
                <p:nvPr/>
              </p:nvGrpSpPr>
              <p:grpSpPr>
                <a:xfrm>
                  <a:off x="5063464" y="477672"/>
                  <a:ext cx="2858238" cy="2956545"/>
                  <a:chOff x="1270000" y="1991976"/>
                  <a:chExt cx="2858238" cy="2956545"/>
                </a:xfrm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DB8F205D-94C7-1440-84D2-31CCE5AA8F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70000" y="1991976"/>
                    <a:ext cx="0" cy="2956545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3688C254-9AEB-4741-9D7E-9CEE018FF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270002" y="4921624"/>
                    <a:ext cx="2858236" cy="25322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02FE19E4-EFEC-0F40-895E-A4FEB94F3364}"/>
                    </a:ext>
                  </a:extLst>
                </p:cNvPr>
                <p:cNvGrpSpPr/>
                <p:nvPr/>
              </p:nvGrpSpPr>
              <p:grpSpPr>
                <a:xfrm>
                  <a:off x="4757416" y="1280566"/>
                  <a:ext cx="2318323" cy="2569367"/>
                  <a:chOff x="4757416" y="1280566"/>
                  <a:chExt cx="2318323" cy="2569367"/>
                </a:xfrm>
              </p:grpSpPr>
              <p:sp>
                <p:nvSpPr>
                  <p:cNvPr id="32" name="Shape of AC Curve">
                    <a:extLst>
                      <a:ext uri="{FF2B5EF4-FFF2-40B4-BE49-F238E27FC236}">
                        <a16:creationId xmlns:a16="http://schemas.microsoft.com/office/drawing/2014/main" id="{E8E4F580-A15A-7645-BD90-3379B15DEF2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757416" y="1280566"/>
                    <a:ext cx="306048" cy="369296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33" name="Shape of AC Curve">
                    <a:extLst>
                      <a:ext uri="{FF2B5EF4-FFF2-40B4-BE49-F238E27FC236}">
                        <a16:creationId xmlns:a16="http://schemas.microsoft.com/office/drawing/2014/main" id="{7859E421-D243-D846-93B4-396BA36063A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769691" y="3480637"/>
                    <a:ext cx="306048" cy="369296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39" name="Arc 38">
                    <a:extLst>
                      <a:ext uri="{FF2B5EF4-FFF2-40B4-BE49-F238E27FC236}">
                        <a16:creationId xmlns:a16="http://schemas.microsoft.com/office/drawing/2014/main" id="{78DBC7E6-32E3-444F-913A-A0B71D6D96B2}"/>
                      </a:ext>
                    </a:extLst>
                  </p:cNvPr>
                  <p:cNvSpPr/>
                  <p:nvPr/>
                </p:nvSpPr>
                <p:spPr>
                  <a:xfrm>
                    <a:off x="5065456" y="1423960"/>
                    <a:ext cx="1810332" cy="2000102"/>
                  </a:xfrm>
                  <a:custGeom>
                    <a:avLst/>
                    <a:gdLst>
                      <a:gd name="connsiteX0" fmla="*/ 1905700 w 3896524"/>
                      <a:gd name="connsiteY0" fmla="*/ 422 h 3538484"/>
                      <a:gd name="connsiteX1" fmla="*/ 3240690 w 3896524"/>
                      <a:gd name="connsiteY1" fmla="*/ 445341 h 3538484"/>
                      <a:gd name="connsiteX2" fmla="*/ 3896524 w 3896524"/>
                      <a:gd name="connsiteY2" fmla="*/ 1769242 h 3538484"/>
                      <a:gd name="connsiteX3" fmla="*/ 1948262 w 3896524"/>
                      <a:gd name="connsiteY3" fmla="*/ 1769242 h 3538484"/>
                      <a:gd name="connsiteX4" fmla="*/ 1905700 w 3896524"/>
                      <a:gd name="connsiteY4" fmla="*/ 422 h 3538484"/>
                      <a:gd name="connsiteX0" fmla="*/ 1905700 w 3896524"/>
                      <a:gd name="connsiteY0" fmla="*/ 422 h 3538484"/>
                      <a:gd name="connsiteX1" fmla="*/ 3240690 w 3896524"/>
                      <a:gd name="connsiteY1" fmla="*/ 445341 h 3538484"/>
                      <a:gd name="connsiteX2" fmla="*/ 3896524 w 3896524"/>
                      <a:gd name="connsiteY2" fmla="*/ 1769242 h 3538484"/>
                      <a:gd name="connsiteX0" fmla="*/ 0 w 2044613"/>
                      <a:gd name="connsiteY0" fmla="*/ 422 h 1769242"/>
                      <a:gd name="connsiteX1" fmla="*/ 1334990 w 2044613"/>
                      <a:gd name="connsiteY1" fmla="*/ 445341 h 1769242"/>
                      <a:gd name="connsiteX2" fmla="*/ 1990824 w 2044613"/>
                      <a:gd name="connsiteY2" fmla="*/ 1769242 h 1769242"/>
                      <a:gd name="connsiteX3" fmla="*/ 42562 w 2044613"/>
                      <a:gd name="connsiteY3" fmla="*/ 1769242 h 1769242"/>
                      <a:gd name="connsiteX4" fmla="*/ 0 w 2044613"/>
                      <a:gd name="connsiteY4" fmla="*/ 422 h 1769242"/>
                      <a:gd name="connsiteX0" fmla="*/ 0 w 2044613"/>
                      <a:gd name="connsiteY0" fmla="*/ 422 h 1769242"/>
                      <a:gd name="connsiteX1" fmla="*/ 1334990 w 2044613"/>
                      <a:gd name="connsiteY1" fmla="*/ 445341 h 1769242"/>
                      <a:gd name="connsiteX2" fmla="*/ 2044613 w 2044613"/>
                      <a:gd name="connsiteY2" fmla="*/ 1759462 h 1769242"/>
                      <a:gd name="connsiteX0" fmla="*/ 0 w 2044613"/>
                      <a:gd name="connsiteY0" fmla="*/ 422 h 1769242"/>
                      <a:gd name="connsiteX1" fmla="*/ 1334990 w 2044613"/>
                      <a:gd name="connsiteY1" fmla="*/ 445341 h 1769242"/>
                      <a:gd name="connsiteX2" fmla="*/ 1990824 w 2044613"/>
                      <a:gd name="connsiteY2" fmla="*/ 1769242 h 1769242"/>
                      <a:gd name="connsiteX3" fmla="*/ 42562 w 2044613"/>
                      <a:gd name="connsiteY3" fmla="*/ 1769242 h 1769242"/>
                      <a:gd name="connsiteX4" fmla="*/ 0 w 2044613"/>
                      <a:gd name="connsiteY4" fmla="*/ 422 h 1769242"/>
                      <a:gd name="connsiteX0" fmla="*/ 0 w 2044613"/>
                      <a:gd name="connsiteY0" fmla="*/ 422 h 1769242"/>
                      <a:gd name="connsiteX1" fmla="*/ 1334990 w 2044613"/>
                      <a:gd name="connsiteY1" fmla="*/ 445341 h 1769242"/>
                      <a:gd name="connsiteX2" fmla="*/ 2044613 w 2044613"/>
                      <a:gd name="connsiteY2" fmla="*/ 1759462 h 1769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44613" h="1769242" stroke="0" extrusionOk="0">
                        <a:moveTo>
                          <a:pt x="0" y="422"/>
                        </a:moveTo>
                        <a:cubicBezTo>
                          <a:pt x="490832" y="-9318"/>
                          <a:pt x="967619" y="149583"/>
                          <a:pt x="1334990" y="445341"/>
                        </a:cubicBezTo>
                        <a:cubicBezTo>
                          <a:pt x="1752082" y="781127"/>
                          <a:pt x="1990824" y="1263064"/>
                          <a:pt x="1990824" y="1769242"/>
                        </a:cubicBezTo>
                        <a:lnTo>
                          <a:pt x="42562" y="1769242"/>
                        </a:lnTo>
                        <a:lnTo>
                          <a:pt x="0" y="422"/>
                        </a:lnTo>
                        <a:close/>
                      </a:path>
                      <a:path w="2044613" h="1769242" fill="none">
                        <a:moveTo>
                          <a:pt x="0" y="422"/>
                        </a:moveTo>
                        <a:cubicBezTo>
                          <a:pt x="490832" y="-9318"/>
                          <a:pt x="967619" y="149583"/>
                          <a:pt x="1334990" y="445341"/>
                        </a:cubicBezTo>
                        <a:cubicBezTo>
                          <a:pt x="1752082" y="781127"/>
                          <a:pt x="1966375" y="1258174"/>
                          <a:pt x="2044613" y="1759462"/>
                        </a:cubicBezTo>
                      </a:path>
                    </a:pathLst>
                  </a:custGeom>
                  <a:noFill/>
                  <a:ln w="5715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45719" rIns="91439" bIns="45719" numCol="1" spcCol="38100" rtlCol="0" anchor="t">
                    <a:noAutofit/>
                  </a:bodyPr>
                  <a:lstStyle/>
                  <a:p>
                    <a: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0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7DC93B2A-9B73-934A-80F7-A4A448FED924}"/>
                    </a:ext>
                  </a:extLst>
                </p:cNvPr>
                <p:cNvGrpSpPr/>
                <p:nvPr/>
              </p:nvGrpSpPr>
              <p:grpSpPr>
                <a:xfrm>
                  <a:off x="4614993" y="693494"/>
                  <a:ext cx="3220534" cy="3143921"/>
                  <a:chOff x="4614993" y="693494"/>
                  <a:chExt cx="3220534" cy="3143921"/>
                </a:xfrm>
              </p:grpSpPr>
              <p:sp>
                <p:nvSpPr>
                  <p:cNvPr id="37" name="Shape of AC Curve">
                    <a:extLst>
                      <a:ext uri="{FF2B5EF4-FFF2-40B4-BE49-F238E27FC236}">
                        <a16:creationId xmlns:a16="http://schemas.microsoft.com/office/drawing/2014/main" id="{76CEC50F-7688-8F48-8312-6FBF09BA3D0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614993" y="693494"/>
                    <a:ext cx="579691" cy="50969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sz="2000" b="1" baseline="-25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38" name="Shape of AC Curve">
                    <a:extLst>
                      <a:ext uri="{FF2B5EF4-FFF2-40B4-BE49-F238E27FC236}">
                        <a16:creationId xmlns:a16="http://schemas.microsoft.com/office/drawing/2014/main" id="{3DD97691-34C8-544D-9D2D-CF828796079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255836" y="3327723"/>
                    <a:ext cx="579691" cy="50969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r>
                      <a:rPr lang="en-US" sz="2000" b="1" baseline="-25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40" name="Arc 39">
                    <a:extLst>
                      <a:ext uri="{FF2B5EF4-FFF2-40B4-BE49-F238E27FC236}">
                        <a16:creationId xmlns:a16="http://schemas.microsoft.com/office/drawing/2014/main" id="{78E74735-2EC5-2F43-8612-9A4D00721988}"/>
                      </a:ext>
                    </a:extLst>
                  </p:cNvPr>
                  <p:cNvSpPr/>
                  <p:nvPr/>
                </p:nvSpPr>
                <p:spPr>
                  <a:xfrm>
                    <a:off x="5084059" y="996971"/>
                    <a:ext cx="2433822" cy="2449043"/>
                  </a:xfrm>
                  <a:custGeom>
                    <a:avLst/>
                    <a:gdLst>
                      <a:gd name="connsiteX0" fmla="*/ 2670555 w 5341110"/>
                      <a:gd name="connsiteY0" fmla="*/ 0 h 4264270"/>
                      <a:gd name="connsiteX1" fmla="*/ 5341110 w 5341110"/>
                      <a:gd name="connsiteY1" fmla="*/ 2132135 h 4264270"/>
                      <a:gd name="connsiteX2" fmla="*/ 2670555 w 5341110"/>
                      <a:gd name="connsiteY2" fmla="*/ 2132135 h 4264270"/>
                      <a:gd name="connsiteX3" fmla="*/ 2670555 w 5341110"/>
                      <a:gd name="connsiteY3" fmla="*/ 0 h 4264270"/>
                      <a:gd name="connsiteX0" fmla="*/ 2670555 w 5341110"/>
                      <a:gd name="connsiteY0" fmla="*/ 0 h 4264270"/>
                      <a:gd name="connsiteX1" fmla="*/ 5341110 w 5341110"/>
                      <a:gd name="connsiteY1" fmla="*/ 2132135 h 4264270"/>
                      <a:gd name="connsiteX0" fmla="*/ 0 w 2748792"/>
                      <a:gd name="connsiteY0" fmla="*/ 0 h 2166364"/>
                      <a:gd name="connsiteX1" fmla="*/ 2670555 w 2748792"/>
                      <a:gd name="connsiteY1" fmla="*/ 2132135 h 2166364"/>
                      <a:gd name="connsiteX2" fmla="*/ 0 w 2748792"/>
                      <a:gd name="connsiteY2" fmla="*/ 2132135 h 2166364"/>
                      <a:gd name="connsiteX3" fmla="*/ 0 w 2748792"/>
                      <a:gd name="connsiteY3" fmla="*/ 0 h 2166364"/>
                      <a:gd name="connsiteX0" fmla="*/ 0 w 2748792"/>
                      <a:gd name="connsiteY0" fmla="*/ 0 h 2166364"/>
                      <a:gd name="connsiteX1" fmla="*/ 2748792 w 2748792"/>
                      <a:gd name="connsiteY1" fmla="*/ 2166364 h 2166364"/>
                      <a:gd name="connsiteX0" fmla="*/ 0 w 2748792"/>
                      <a:gd name="connsiteY0" fmla="*/ 0 h 2166364"/>
                      <a:gd name="connsiteX1" fmla="*/ 2670555 w 2748792"/>
                      <a:gd name="connsiteY1" fmla="*/ 2132135 h 2166364"/>
                      <a:gd name="connsiteX2" fmla="*/ 0 w 2748792"/>
                      <a:gd name="connsiteY2" fmla="*/ 2132135 h 2166364"/>
                      <a:gd name="connsiteX3" fmla="*/ 0 w 2748792"/>
                      <a:gd name="connsiteY3" fmla="*/ 0 h 2166364"/>
                      <a:gd name="connsiteX0" fmla="*/ 0 w 2748792"/>
                      <a:gd name="connsiteY0" fmla="*/ 0 h 2166364"/>
                      <a:gd name="connsiteX1" fmla="*/ 2748792 w 2748792"/>
                      <a:gd name="connsiteY1" fmla="*/ 2166364 h 21663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48792" h="2166364" stroke="0" extrusionOk="0">
                        <a:moveTo>
                          <a:pt x="0" y="0"/>
                        </a:moveTo>
                        <a:cubicBezTo>
                          <a:pt x="1474907" y="0"/>
                          <a:pt x="2670555" y="954589"/>
                          <a:pt x="2670555" y="2132135"/>
                        </a:cubicBezTo>
                        <a:lnTo>
                          <a:pt x="0" y="2132135"/>
                        </a:lnTo>
                        <a:lnTo>
                          <a:pt x="0" y="0"/>
                        </a:lnTo>
                        <a:close/>
                      </a:path>
                      <a:path w="2748792" h="2166364" fill="none">
                        <a:moveTo>
                          <a:pt x="0" y="0"/>
                        </a:moveTo>
                        <a:cubicBezTo>
                          <a:pt x="1474907" y="0"/>
                          <a:pt x="2611876" y="1003487"/>
                          <a:pt x="2748792" y="2166364"/>
                        </a:cubicBezTo>
                      </a:path>
                    </a:pathLst>
                  </a:custGeom>
                  <a:noFill/>
                  <a:ln w="57150" cap="flat">
                    <a:solidFill>
                      <a:schemeClr val="accent1">
                        <a:lumMod val="75000"/>
                      </a:schemeClr>
                    </a:solidFill>
                    <a:prstDash val="solid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45719" rIns="91439" bIns="45719" numCol="1" spcCol="38100" rtlCol="0" anchor="t">
                    <a:noAutofit/>
                  </a:bodyPr>
                  <a:lstStyle/>
                  <a:p>
                    <a: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0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43" name="Shape of AC Curve">
                <a:extLst>
                  <a:ext uri="{FF2B5EF4-FFF2-40B4-BE49-F238E27FC236}">
                    <a16:creationId xmlns:a16="http://schemas.microsoft.com/office/drawing/2014/main" id="{F9465595-B94D-AF49-99D2-7B31AB4999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7355" y="307020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44" name="Shape of AC Curve">
                <a:extLst>
                  <a:ext uri="{FF2B5EF4-FFF2-40B4-BE49-F238E27FC236}">
                    <a16:creationId xmlns:a16="http://schemas.microsoft.com/office/drawing/2014/main" id="{5634F761-A356-3C4D-ABA6-3379169E0E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89163" y="3443924"/>
                <a:ext cx="844177" cy="430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84" name="Shape of AC Curve">
              <a:extLst>
                <a:ext uri="{FF2B5EF4-FFF2-40B4-BE49-F238E27FC236}">
                  <a16:creationId xmlns:a16="http://schemas.microsoft.com/office/drawing/2014/main" id="{D1D89720-AEE5-A846-8B3E-EF319BEF99DD}"/>
                </a:ext>
              </a:extLst>
            </p:cNvPr>
            <p:cNvSpPr txBox="1">
              <a:spLocks/>
            </p:cNvSpPr>
            <p:nvPr/>
          </p:nvSpPr>
          <p:spPr>
            <a:xfrm>
              <a:off x="3520086" y="1020045"/>
              <a:ext cx="2386176" cy="4985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F33938-0E0A-ED41-B86F-7CECCE49F5F5}"/>
              </a:ext>
            </a:extLst>
          </p:cNvPr>
          <p:cNvGrpSpPr/>
          <p:nvPr/>
        </p:nvGrpSpPr>
        <p:grpSpPr>
          <a:xfrm>
            <a:off x="4679770" y="940453"/>
            <a:ext cx="6088891" cy="5673794"/>
            <a:chOff x="5195846" y="499272"/>
            <a:chExt cx="7189677" cy="538207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AE33BEF-6349-234C-BA83-00DD81905A88}"/>
                </a:ext>
              </a:extLst>
            </p:cNvPr>
            <p:cNvGrpSpPr/>
            <p:nvPr/>
          </p:nvGrpSpPr>
          <p:grpSpPr>
            <a:xfrm>
              <a:off x="5195846" y="499272"/>
              <a:ext cx="7189677" cy="5382073"/>
              <a:chOff x="5833722" y="451326"/>
              <a:chExt cx="7189677" cy="5382073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7F398183-890B-CB4C-BF67-26E333561411}"/>
                  </a:ext>
                </a:extLst>
              </p:cNvPr>
              <p:cNvGrpSpPr/>
              <p:nvPr/>
            </p:nvGrpSpPr>
            <p:grpSpPr>
              <a:xfrm>
                <a:off x="7157333" y="1407503"/>
                <a:ext cx="3628096" cy="4143599"/>
                <a:chOff x="3378120" y="1280566"/>
                <a:chExt cx="3628096" cy="4143599"/>
              </a:xfrm>
            </p:grpSpPr>
            <p:sp>
              <p:nvSpPr>
                <p:cNvPr id="78" name="Shape of AC Curve">
                  <a:extLst>
                    <a:ext uri="{FF2B5EF4-FFF2-40B4-BE49-F238E27FC236}">
                      <a16:creationId xmlns:a16="http://schemas.microsoft.com/office/drawing/2014/main" id="{FD380365-4302-5144-8F4C-5017A17F02C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57416" y="1280566"/>
                  <a:ext cx="306048" cy="36929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79" name="Shape of AC Curve">
                  <a:extLst>
                    <a:ext uri="{FF2B5EF4-FFF2-40B4-BE49-F238E27FC236}">
                      <a16:creationId xmlns:a16="http://schemas.microsoft.com/office/drawing/2014/main" id="{2B14B202-6E21-674B-8761-84A4743B263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00168" y="3360617"/>
                  <a:ext cx="306048" cy="36929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80" name="Arc 79">
                  <a:extLst>
                    <a:ext uri="{FF2B5EF4-FFF2-40B4-BE49-F238E27FC236}">
                      <a16:creationId xmlns:a16="http://schemas.microsoft.com/office/drawing/2014/main" id="{8AC01550-CCDB-7F41-BC06-F6E729B86406}"/>
                    </a:ext>
                  </a:extLst>
                </p:cNvPr>
                <p:cNvSpPr/>
                <p:nvPr/>
              </p:nvSpPr>
              <p:spPr>
                <a:xfrm>
                  <a:off x="3378120" y="1423960"/>
                  <a:ext cx="3450042" cy="4000205"/>
                </a:xfrm>
                <a:prstGeom prst="arc">
                  <a:avLst/>
                </a:prstGeom>
                <a:noFill/>
                <a:ln w="571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6F7EAA5-DB43-8745-A650-D141C162496A}"/>
                  </a:ext>
                </a:extLst>
              </p:cNvPr>
              <p:cNvGrpSpPr/>
              <p:nvPr/>
            </p:nvGrpSpPr>
            <p:grpSpPr>
              <a:xfrm>
                <a:off x="5833722" y="842037"/>
                <a:ext cx="6382223" cy="4991362"/>
                <a:chOff x="5852843" y="744538"/>
                <a:chExt cx="6382223" cy="4991362"/>
              </a:xfrm>
            </p:grpSpPr>
            <p:sp>
              <p:nvSpPr>
                <p:cNvPr id="74" name="Shape of AC Curve">
                  <a:extLst>
                    <a:ext uri="{FF2B5EF4-FFF2-40B4-BE49-F238E27FC236}">
                      <a16:creationId xmlns:a16="http://schemas.microsoft.com/office/drawing/2014/main" id="{390FE281-F1EA-7C48-88B9-C301F925D2F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389501" y="744538"/>
                  <a:ext cx="579691" cy="50969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r>
                    <a:rPr lang="en-US" sz="2000" b="1" baseline="-250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75" name="Shape of AC Curve">
                  <a:extLst>
                    <a:ext uri="{FF2B5EF4-FFF2-40B4-BE49-F238E27FC236}">
                      <a16:creationId xmlns:a16="http://schemas.microsoft.com/office/drawing/2014/main" id="{DE3DBE5E-7C6A-8949-B19E-BB476E40A1D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655375" y="3274283"/>
                  <a:ext cx="579691" cy="50969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r>
                    <a:rPr lang="en-US" sz="2000" b="1" baseline="-250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81" name="Arc 80">
                  <a:extLst>
                    <a:ext uri="{FF2B5EF4-FFF2-40B4-BE49-F238E27FC236}">
                      <a16:creationId xmlns:a16="http://schemas.microsoft.com/office/drawing/2014/main" id="{B195E12E-3B8D-A24C-9135-935E2023885E}"/>
                    </a:ext>
                  </a:extLst>
                </p:cNvPr>
                <p:cNvSpPr/>
                <p:nvPr/>
              </p:nvSpPr>
              <p:spPr>
                <a:xfrm>
                  <a:off x="5852843" y="1128479"/>
                  <a:ext cx="6044424" cy="4607421"/>
                </a:xfrm>
                <a:prstGeom prst="arc">
                  <a:avLst>
                    <a:gd name="adj1" fmla="val 16272192"/>
                    <a:gd name="adj2" fmla="val 0"/>
                  </a:avLst>
                </a:prstGeom>
                <a:noFill/>
                <a:ln w="57150" cap="flat">
                  <a:solidFill>
                    <a:schemeClr val="accent1">
                      <a:lumMod val="75000"/>
                    </a:schemeClr>
                  </a:solidFill>
                  <a:prstDash val="solid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82DA128-F470-D84D-B34C-0578B5C579D0}"/>
                  </a:ext>
                </a:extLst>
              </p:cNvPr>
              <p:cNvGrpSpPr/>
              <p:nvPr/>
            </p:nvGrpSpPr>
            <p:grpSpPr>
              <a:xfrm>
                <a:off x="8083228" y="451326"/>
                <a:ext cx="4940171" cy="3433554"/>
                <a:chOff x="8083228" y="451326"/>
                <a:chExt cx="4940171" cy="3433554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6B29A7F5-3CA8-244F-8AD5-DFE2A928E6FA}"/>
                    </a:ext>
                  </a:extLst>
                </p:cNvPr>
                <p:cNvGrpSpPr/>
                <p:nvPr/>
              </p:nvGrpSpPr>
              <p:grpSpPr>
                <a:xfrm>
                  <a:off x="8893895" y="567591"/>
                  <a:ext cx="3643808" cy="2975608"/>
                  <a:chOff x="1270000" y="1991976"/>
                  <a:chExt cx="3643808" cy="2975608"/>
                </a:xfrm>
              </p:grpSpPr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EF30CB95-B05B-1148-99F9-1A30875AA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70000" y="1991976"/>
                    <a:ext cx="0" cy="2956545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EE58DCE3-90AA-1748-AE12-2E8AEC5C8D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270001" y="4921623"/>
                    <a:ext cx="3643807" cy="45961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0000"/>
                    </a:solidFill>
                    <a:prstDash val="solid"/>
                    <a:miter lim="400000"/>
                    <a:headEnd type="triangle" w="med" len="med"/>
                    <a:tailEnd type="none" w="med" len="med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  <p:sp>
              <p:nvSpPr>
                <p:cNvPr id="76" name="Shape of AC Curve">
                  <a:extLst>
                    <a:ext uri="{FF2B5EF4-FFF2-40B4-BE49-F238E27FC236}">
                      <a16:creationId xmlns:a16="http://schemas.microsoft.com/office/drawing/2014/main" id="{B41D51C1-8E67-C442-B5C8-C0BB71CD25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179222" y="3454578"/>
                  <a:ext cx="84417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sz="20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82" name="Shape of AC Curve">
                  <a:extLst>
                    <a:ext uri="{FF2B5EF4-FFF2-40B4-BE49-F238E27FC236}">
                      <a16:creationId xmlns:a16="http://schemas.microsoft.com/office/drawing/2014/main" id="{1C1485FC-6A03-AA44-819C-993C587F029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083228" y="451326"/>
                  <a:ext cx="844177" cy="43030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b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1pPr>
                  <a:lvl2pPr marL="0" marR="0" indent="228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2pPr>
                  <a:lvl3pPr marL="0" marR="0" indent="457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3pPr>
                  <a:lvl4pPr marL="0" marR="0" indent="685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4pPr>
                  <a:lvl5pPr marL="0" marR="0" indent="9144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5pPr>
                  <a:lvl6pPr marL="0" marR="0" indent="11430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6pPr>
                  <a:lvl7pPr marL="0" marR="0" indent="13716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7pPr>
                  <a:lvl8pPr marL="0" marR="0" indent="16002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8pPr>
                  <a:lvl9pPr marL="0" marR="0" indent="182880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Helvetica Light"/>
                    </a:defRPr>
                  </a:lvl9pPr>
                </a:lstStyle>
                <a:p>
                  <a:pPr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  <a:r>
                    <a:rPr lang="en-US" sz="20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Y</a:t>
                  </a:r>
                </a:p>
              </p:txBody>
            </p:sp>
          </p:grpSp>
        </p:grpSp>
        <p:sp>
          <p:nvSpPr>
            <p:cNvPr id="85" name="Shape of AC Curve">
              <a:extLst>
                <a:ext uri="{FF2B5EF4-FFF2-40B4-BE49-F238E27FC236}">
                  <a16:creationId xmlns:a16="http://schemas.microsoft.com/office/drawing/2014/main" id="{247BFDC8-0123-CD4F-8734-D1F2FED03A40}"/>
                </a:ext>
              </a:extLst>
            </p:cNvPr>
            <p:cNvSpPr txBox="1">
              <a:spLocks/>
            </p:cNvSpPr>
            <p:nvPr/>
          </p:nvSpPr>
          <p:spPr>
            <a:xfrm>
              <a:off x="9100196" y="699749"/>
              <a:ext cx="2386176" cy="4985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1pPr>
              <a:lvl2pPr marL="0" marR="0" indent="228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2pPr>
              <a:lvl3pPr marL="0" marR="0" indent="457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3pPr>
              <a:lvl4pPr marL="0" marR="0" indent="685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4pPr>
              <a:lvl5pPr marL="0" marR="0" indent="9144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5pPr>
              <a:lvl6pPr marL="0" marR="0" indent="11430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6pPr>
              <a:lvl7pPr marL="0" marR="0" indent="13716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7pPr>
              <a:lvl8pPr marL="0" marR="0" indent="16002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8pPr>
              <a:lvl9pPr marL="0" marR="0" indent="182880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Light"/>
                </a:defRPr>
              </a:lvl9pPr>
            </a:lstStyle>
            <a:p>
              <a:pPr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6C69D5-D070-B344-A46B-C82D3B73B671}"/>
              </a:ext>
            </a:extLst>
          </p:cNvPr>
          <p:cNvGrpSpPr/>
          <p:nvPr/>
        </p:nvGrpSpPr>
        <p:grpSpPr>
          <a:xfrm>
            <a:off x="1201008" y="4881726"/>
            <a:ext cx="4147853" cy="3363126"/>
            <a:chOff x="1294337" y="4590713"/>
            <a:chExt cx="4147853" cy="336312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A84831-08E9-C74E-8806-C5711D2E1AC4}"/>
                </a:ext>
              </a:extLst>
            </p:cNvPr>
            <p:cNvGrpSpPr/>
            <p:nvPr/>
          </p:nvGrpSpPr>
          <p:grpSpPr>
            <a:xfrm>
              <a:off x="1294337" y="4590713"/>
              <a:ext cx="4147853" cy="3363126"/>
              <a:chOff x="1889077" y="4249629"/>
              <a:chExt cx="4147853" cy="3363126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6B51974-4BA2-6F43-9AA1-310196FE248C}"/>
                  </a:ext>
                </a:extLst>
              </p:cNvPr>
              <p:cNvGrpSpPr/>
              <p:nvPr/>
            </p:nvGrpSpPr>
            <p:grpSpPr>
              <a:xfrm>
                <a:off x="1889077" y="4249629"/>
                <a:ext cx="4147853" cy="3363126"/>
                <a:chOff x="558560" y="4243402"/>
                <a:chExt cx="4698584" cy="3644477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79A47C3D-E8F2-2C4E-860B-FB1A3C46CC0C}"/>
                    </a:ext>
                  </a:extLst>
                </p:cNvPr>
                <p:cNvGrpSpPr/>
                <p:nvPr/>
              </p:nvGrpSpPr>
              <p:grpSpPr>
                <a:xfrm>
                  <a:off x="979289" y="4766268"/>
                  <a:ext cx="2364465" cy="3121611"/>
                  <a:chOff x="998066" y="5168108"/>
                  <a:chExt cx="2364465" cy="3121611"/>
                </a:xfrm>
              </p:grpSpPr>
              <p:sp>
                <p:nvSpPr>
                  <p:cNvPr id="48" name="Shape of AC Curve">
                    <a:extLst>
                      <a:ext uri="{FF2B5EF4-FFF2-40B4-BE49-F238E27FC236}">
                        <a16:creationId xmlns:a16="http://schemas.microsoft.com/office/drawing/2014/main" id="{32E88B1D-232A-A84E-9ACD-F83874F92D4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998066" y="5168108"/>
                    <a:ext cx="306048" cy="369296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</a:p>
                </p:txBody>
              </p:sp>
              <p:sp>
                <p:nvSpPr>
                  <p:cNvPr id="49" name="Shape of AC Curve">
                    <a:extLst>
                      <a:ext uri="{FF2B5EF4-FFF2-40B4-BE49-F238E27FC236}">
                        <a16:creationId xmlns:a16="http://schemas.microsoft.com/office/drawing/2014/main" id="{5925BE67-DA44-2947-BDB9-2DAB327DDD3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056483" y="7920423"/>
                    <a:ext cx="306048" cy="369296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53" name="Arc 52">
                    <a:extLst>
                      <a:ext uri="{FF2B5EF4-FFF2-40B4-BE49-F238E27FC236}">
                        <a16:creationId xmlns:a16="http://schemas.microsoft.com/office/drawing/2014/main" id="{04190DE5-3D3A-D94F-AA33-99AD1DA163B7}"/>
                      </a:ext>
                    </a:extLst>
                  </p:cNvPr>
                  <p:cNvSpPr/>
                  <p:nvPr/>
                </p:nvSpPr>
                <p:spPr>
                  <a:xfrm>
                    <a:off x="1242503" y="5405290"/>
                    <a:ext cx="2065959" cy="2434498"/>
                  </a:xfrm>
                  <a:custGeom>
                    <a:avLst/>
                    <a:gdLst>
                      <a:gd name="connsiteX0" fmla="*/ 1725021 w 3450042"/>
                      <a:gd name="connsiteY0" fmla="*/ 0 h 4000205"/>
                      <a:gd name="connsiteX1" fmla="*/ 3144392 w 3450042"/>
                      <a:gd name="connsiteY1" fmla="*/ 863422 h 4000205"/>
                      <a:gd name="connsiteX2" fmla="*/ 3418743 w 3450042"/>
                      <a:gd name="connsiteY2" fmla="*/ 2379381 h 4000205"/>
                      <a:gd name="connsiteX3" fmla="*/ 1725021 w 3450042"/>
                      <a:gd name="connsiteY3" fmla="*/ 2000103 h 4000205"/>
                      <a:gd name="connsiteX4" fmla="*/ 1725021 w 3450042"/>
                      <a:gd name="connsiteY4" fmla="*/ 0 h 4000205"/>
                      <a:gd name="connsiteX0" fmla="*/ 1725021 w 3450042"/>
                      <a:gd name="connsiteY0" fmla="*/ 0 h 4000205"/>
                      <a:gd name="connsiteX1" fmla="*/ 3144392 w 3450042"/>
                      <a:gd name="connsiteY1" fmla="*/ 863422 h 4000205"/>
                      <a:gd name="connsiteX2" fmla="*/ 3418743 w 3450042"/>
                      <a:gd name="connsiteY2" fmla="*/ 2379381 h 4000205"/>
                      <a:gd name="connsiteX0" fmla="*/ 0 w 1998167"/>
                      <a:gd name="connsiteY0" fmla="*/ 0 h 2457202"/>
                      <a:gd name="connsiteX1" fmla="*/ 1419371 w 1998167"/>
                      <a:gd name="connsiteY1" fmla="*/ 863422 h 2457202"/>
                      <a:gd name="connsiteX2" fmla="*/ 1693722 w 1998167"/>
                      <a:gd name="connsiteY2" fmla="*/ 2379381 h 2457202"/>
                      <a:gd name="connsiteX3" fmla="*/ 0 w 1998167"/>
                      <a:gd name="connsiteY3" fmla="*/ 2000103 h 2457202"/>
                      <a:gd name="connsiteX4" fmla="*/ 0 w 1998167"/>
                      <a:gd name="connsiteY4" fmla="*/ 0 h 2457202"/>
                      <a:gd name="connsiteX0" fmla="*/ 0 w 1998167"/>
                      <a:gd name="connsiteY0" fmla="*/ 0 h 2457202"/>
                      <a:gd name="connsiteX1" fmla="*/ 1419371 w 1998167"/>
                      <a:gd name="connsiteY1" fmla="*/ 863422 h 2457202"/>
                      <a:gd name="connsiteX2" fmla="*/ 1985552 w 1998167"/>
                      <a:gd name="connsiteY2" fmla="*/ 2457202 h 2457202"/>
                      <a:gd name="connsiteX0" fmla="*/ 0 w 2070804"/>
                      <a:gd name="connsiteY0" fmla="*/ 0 h 2467365"/>
                      <a:gd name="connsiteX1" fmla="*/ 1419371 w 2070804"/>
                      <a:gd name="connsiteY1" fmla="*/ 863422 h 2467365"/>
                      <a:gd name="connsiteX2" fmla="*/ 1693722 w 2070804"/>
                      <a:gd name="connsiteY2" fmla="*/ 2379381 h 2467365"/>
                      <a:gd name="connsiteX3" fmla="*/ 0 w 2070804"/>
                      <a:gd name="connsiteY3" fmla="*/ 2000103 h 2467365"/>
                      <a:gd name="connsiteX4" fmla="*/ 0 w 2070804"/>
                      <a:gd name="connsiteY4" fmla="*/ 0 h 2467365"/>
                      <a:gd name="connsiteX0" fmla="*/ 0 w 2070804"/>
                      <a:gd name="connsiteY0" fmla="*/ 0 h 2467365"/>
                      <a:gd name="connsiteX1" fmla="*/ 1419371 w 2070804"/>
                      <a:gd name="connsiteY1" fmla="*/ 863422 h 2467365"/>
                      <a:gd name="connsiteX2" fmla="*/ 2059918 w 2070804"/>
                      <a:gd name="connsiteY2" fmla="*/ 2467365 h 2467365"/>
                      <a:gd name="connsiteX0" fmla="*/ 0 w 2059918"/>
                      <a:gd name="connsiteY0" fmla="*/ 0 h 2467365"/>
                      <a:gd name="connsiteX1" fmla="*/ 1419371 w 2059918"/>
                      <a:gd name="connsiteY1" fmla="*/ 863422 h 2467365"/>
                      <a:gd name="connsiteX2" fmla="*/ 1693722 w 2059918"/>
                      <a:gd name="connsiteY2" fmla="*/ 2379381 h 2467365"/>
                      <a:gd name="connsiteX3" fmla="*/ 0 w 2059918"/>
                      <a:gd name="connsiteY3" fmla="*/ 2000103 h 2467365"/>
                      <a:gd name="connsiteX4" fmla="*/ 0 w 2059918"/>
                      <a:gd name="connsiteY4" fmla="*/ 0 h 2467365"/>
                      <a:gd name="connsiteX0" fmla="*/ 0 w 2059918"/>
                      <a:gd name="connsiteY0" fmla="*/ 0 h 2467365"/>
                      <a:gd name="connsiteX1" fmla="*/ 1419371 w 2059918"/>
                      <a:gd name="connsiteY1" fmla="*/ 863422 h 2467365"/>
                      <a:gd name="connsiteX2" fmla="*/ 2059918 w 2059918"/>
                      <a:gd name="connsiteY2" fmla="*/ 2467365 h 24673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59918" h="2467365" stroke="0" extrusionOk="0">
                        <a:moveTo>
                          <a:pt x="0" y="0"/>
                        </a:moveTo>
                        <a:cubicBezTo>
                          <a:pt x="566723" y="0"/>
                          <a:pt x="1097296" y="322754"/>
                          <a:pt x="1419371" y="863422"/>
                        </a:cubicBezTo>
                        <a:cubicBezTo>
                          <a:pt x="1682719" y="1305505"/>
                          <a:pt x="1781594" y="1851847"/>
                          <a:pt x="1693722" y="2379381"/>
                        </a:cubicBezTo>
                        <a:lnTo>
                          <a:pt x="0" y="2000103"/>
                        </a:lnTo>
                        <a:lnTo>
                          <a:pt x="0" y="0"/>
                        </a:lnTo>
                        <a:close/>
                      </a:path>
                      <a:path w="2059918" h="2467365" fill="none">
                        <a:moveTo>
                          <a:pt x="0" y="0"/>
                        </a:moveTo>
                        <a:cubicBezTo>
                          <a:pt x="566723" y="0"/>
                          <a:pt x="1097296" y="322754"/>
                          <a:pt x="1419371" y="863422"/>
                        </a:cubicBezTo>
                        <a:cubicBezTo>
                          <a:pt x="1682719" y="1305505"/>
                          <a:pt x="2030929" y="1985564"/>
                          <a:pt x="2059918" y="2467365"/>
                        </a:cubicBezTo>
                      </a:path>
                    </a:pathLst>
                  </a:custGeom>
                  <a:noFill/>
                  <a:ln w="5715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45719" rIns="91439" bIns="45719" numCol="1" spcCol="38100" rtlCol="0" anchor="t">
                    <a:noAutofit/>
                  </a:bodyPr>
                  <a:lstStyle/>
                  <a:p>
                    <a: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0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D37B2333-3EE4-074A-8287-E216897E7615}"/>
                    </a:ext>
                  </a:extLst>
                </p:cNvPr>
                <p:cNvGrpSpPr/>
                <p:nvPr/>
              </p:nvGrpSpPr>
              <p:grpSpPr>
                <a:xfrm>
                  <a:off x="558560" y="4243402"/>
                  <a:ext cx="4698584" cy="3638254"/>
                  <a:chOff x="558560" y="4243402"/>
                  <a:chExt cx="4698584" cy="3638254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A657AE35-FE3B-614F-B031-EE8E1A548F3C}"/>
                      </a:ext>
                    </a:extLst>
                  </p:cNvPr>
                  <p:cNvGrpSpPr/>
                  <p:nvPr/>
                </p:nvGrpSpPr>
                <p:grpSpPr>
                  <a:xfrm>
                    <a:off x="1248406" y="4475746"/>
                    <a:ext cx="3643808" cy="2975608"/>
                    <a:chOff x="1270000" y="1991976"/>
                    <a:chExt cx="3643808" cy="2975608"/>
                  </a:xfrm>
                </p:grpSpPr>
                <p:cxnSp>
                  <p:nvCxnSpPr>
                    <p:cNvPr id="46" name="Straight Connector 45">
                      <a:extLst>
                        <a:ext uri="{FF2B5EF4-FFF2-40B4-BE49-F238E27FC236}">
                          <a16:creationId xmlns:a16="http://schemas.microsoft.com/office/drawing/2014/main" id="{58431CC4-E032-FF4B-A191-7C36DBD900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70000" y="1991976"/>
                      <a:ext cx="0" cy="2956545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0000"/>
                      </a:solidFill>
                      <a:prstDash val="solid"/>
                      <a:miter lim="400000"/>
                      <a:headEnd type="triangle" w="med" len="med"/>
                      <a:tailEnd type="none" w="med" len="med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19041050-D862-E841-96C4-830D8A2B67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270001" y="4921623"/>
                      <a:ext cx="3643807" cy="45961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0000"/>
                      </a:solidFill>
                      <a:prstDash val="solid"/>
                      <a:miter lim="400000"/>
                      <a:headEnd type="triangle" w="med" len="med"/>
                      <a:tailEnd type="none" w="med" len="med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</p:grpSp>
              <p:sp>
                <p:nvSpPr>
                  <p:cNvPr id="50" name="Shape of AC Curve">
                    <a:extLst>
                      <a:ext uri="{FF2B5EF4-FFF2-40B4-BE49-F238E27FC236}">
                        <a16:creationId xmlns:a16="http://schemas.microsoft.com/office/drawing/2014/main" id="{717E922E-877B-504E-BC83-2A0FCE258ED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58560" y="4243402"/>
                    <a:ext cx="579691" cy="50969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</a:t>
                    </a:r>
                    <a:r>
                      <a:rPr 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Y</a:t>
                    </a:r>
                  </a:p>
                </p:txBody>
              </p:sp>
              <p:sp>
                <p:nvSpPr>
                  <p:cNvPr id="52" name="Shape of AC Curve">
                    <a:extLst>
                      <a:ext uri="{FF2B5EF4-FFF2-40B4-BE49-F238E27FC236}">
                        <a16:creationId xmlns:a16="http://schemas.microsoft.com/office/drawing/2014/main" id="{71BBF8E7-DA08-BD47-A99B-2DCEE58DF7B9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412967" y="7451354"/>
                    <a:ext cx="844177" cy="43030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</a:t>
                    </a:r>
                    <a:r>
                      <a:rPr lang="en-US" sz="20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</a:p>
                </p:txBody>
              </p:sp>
              <p:sp>
                <p:nvSpPr>
                  <p:cNvPr id="51" name="Shape of AC Curve">
                    <a:extLst>
                      <a:ext uri="{FF2B5EF4-FFF2-40B4-BE49-F238E27FC236}">
                        <a16:creationId xmlns:a16="http://schemas.microsoft.com/office/drawing/2014/main" id="{9C6F42B0-C471-BB47-B5B3-C02714C71D6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4196565" y="7359807"/>
                    <a:ext cx="579691" cy="50969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50800" tIns="50800" rIns="50800" bIns="50800" anchor="b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1pPr>
                    <a:lvl2pPr marL="0" marR="0" indent="228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2pPr>
                    <a:lvl3pPr marL="0" marR="0" indent="457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3pPr>
                    <a:lvl4pPr marL="0" marR="0" indent="685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4pPr>
                    <a:lvl5pPr marL="0" marR="0" indent="9144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5pPr>
                    <a:lvl6pPr marL="0" marR="0" indent="11430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6pPr>
                    <a:lvl7pPr marL="0" marR="0" indent="13716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7pPr>
                    <a:lvl8pPr marL="0" marR="0" indent="16002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8pPr>
                    <a:lvl9pPr marL="0" marR="0" indent="182880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Helvetica Light"/>
                      </a:defRPr>
                    </a:lvl9pPr>
                  </a:lstStyle>
                  <a:p>
                    <a:pPr hangingPunct="1"/>
                    <a:r>
                      <a:rPr lang="en-US" sz="2000" b="1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r>
                      <a:rPr lang="en-US" sz="2000" b="1" baseline="-25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83" name="Shape of AC Curve">
                <a:extLst>
                  <a:ext uri="{FF2B5EF4-FFF2-40B4-BE49-F238E27FC236}">
                    <a16:creationId xmlns:a16="http://schemas.microsoft.com/office/drawing/2014/main" id="{A03FCC49-A102-D04B-BC5D-3F9AF7DCBD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6232" y="4584877"/>
                <a:ext cx="2386176" cy="4985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b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hangingPunct="1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3</a:t>
                </a:r>
              </a:p>
            </p:txBody>
          </p:sp>
        </p:grp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EBC5E283-F2E9-4B4F-8133-60343FB5FC57}"/>
                </a:ext>
              </a:extLst>
            </p:cNvPr>
            <p:cNvSpPr/>
            <p:nvPr/>
          </p:nvSpPr>
          <p:spPr>
            <a:xfrm>
              <a:off x="1910761" y="5250397"/>
              <a:ext cx="2812020" cy="2288246"/>
            </a:xfrm>
            <a:custGeom>
              <a:avLst/>
              <a:gdLst>
                <a:gd name="connsiteX0" fmla="*/ 2645873 w 5392265"/>
                <a:gd name="connsiteY0" fmla="*/ 370 h 4264270"/>
                <a:gd name="connsiteX1" fmla="*/ 4402243 w 5392265"/>
                <a:gd name="connsiteY1" fmla="*/ 481188 h 4264270"/>
                <a:gd name="connsiteX2" fmla="*/ 5385412 w 5392265"/>
                <a:gd name="connsiteY2" fmla="*/ 2284062 h 4264270"/>
                <a:gd name="connsiteX3" fmla="*/ 2696133 w 5392265"/>
                <a:gd name="connsiteY3" fmla="*/ 2132135 h 4264270"/>
                <a:gd name="connsiteX4" fmla="*/ 2645873 w 5392265"/>
                <a:gd name="connsiteY4" fmla="*/ 370 h 4264270"/>
                <a:gd name="connsiteX0" fmla="*/ 2645873 w 5392265"/>
                <a:gd name="connsiteY0" fmla="*/ 370 h 4264270"/>
                <a:gd name="connsiteX1" fmla="*/ 4402243 w 5392265"/>
                <a:gd name="connsiteY1" fmla="*/ 481188 h 4264270"/>
                <a:gd name="connsiteX2" fmla="*/ 5385412 w 5392265"/>
                <a:gd name="connsiteY2" fmla="*/ 2284062 h 4264270"/>
                <a:gd name="connsiteX0" fmla="*/ 0 w 2820437"/>
                <a:gd name="connsiteY0" fmla="*/ 370 h 2316886"/>
                <a:gd name="connsiteX1" fmla="*/ 1756370 w 2820437"/>
                <a:gd name="connsiteY1" fmla="*/ 481188 h 2316886"/>
                <a:gd name="connsiteX2" fmla="*/ 2739539 w 2820437"/>
                <a:gd name="connsiteY2" fmla="*/ 2284062 h 2316886"/>
                <a:gd name="connsiteX3" fmla="*/ 50260 w 2820437"/>
                <a:gd name="connsiteY3" fmla="*/ 2132135 h 2316886"/>
                <a:gd name="connsiteX4" fmla="*/ 0 w 2820437"/>
                <a:gd name="connsiteY4" fmla="*/ 370 h 2316886"/>
                <a:gd name="connsiteX0" fmla="*/ 0 w 2820437"/>
                <a:gd name="connsiteY0" fmla="*/ 370 h 2316886"/>
                <a:gd name="connsiteX1" fmla="*/ 1756370 w 2820437"/>
                <a:gd name="connsiteY1" fmla="*/ 481188 h 2316886"/>
                <a:gd name="connsiteX2" fmla="*/ 2814566 w 2820437"/>
                <a:gd name="connsiteY2" fmla="*/ 2316886 h 2316886"/>
                <a:gd name="connsiteX0" fmla="*/ 0 w 2814566"/>
                <a:gd name="connsiteY0" fmla="*/ 370 h 2316886"/>
                <a:gd name="connsiteX1" fmla="*/ 1756370 w 2814566"/>
                <a:gd name="connsiteY1" fmla="*/ 481188 h 2316886"/>
                <a:gd name="connsiteX2" fmla="*/ 2739539 w 2814566"/>
                <a:gd name="connsiteY2" fmla="*/ 2284062 h 2316886"/>
                <a:gd name="connsiteX3" fmla="*/ 50260 w 2814566"/>
                <a:gd name="connsiteY3" fmla="*/ 2132135 h 2316886"/>
                <a:gd name="connsiteX4" fmla="*/ 0 w 2814566"/>
                <a:gd name="connsiteY4" fmla="*/ 370 h 2316886"/>
                <a:gd name="connsiteX0" fmla="*/ 0 w 2814566"/>
                <a:gd name="connsiteY0" fmla="*/ 370 h 2316886"/>
                <a:gd name="connsiteX1" fmla="*/ 1756370 w 2814566"/>
                <a:gd name="connsiteY1" fmla="*/ 481188 h 2316886"/>
                <a:gd name="connsiteX2" fmla="*/ 2814566 w 2814566"/>
                <a:gd name="connsiteY2" fmla="*/ 2316886 h 2316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4566" h="2316886" stroke="0" extrusionOk="0">
                  <a:moveTo>
                    <a:pt x="0" y="370"/>
                  </a:moveTo>
                  <a:cubicBezTo>
                    <a:pt x="639016" y="-9052"/>
                    <a:pt x="1261484" y="161353"/>
                    <a:pt x="1756370" y="481188"/>
                  </a:cubicBezTo>
                  <a:cubicBezTo>
                    <a:pt x="2435301" y="919968"/>
                    <a:pt x="2802017" y="1592429"/>
                    <a:pt x="2739539" y="2284062"/>
                  </a:cubicBezTo>
                  <a:lnTo>
                    <a:pt x="50260" y="2132135"/>
                  </a:lnTo>
                  <a:lnTo>
                    <a:pt x="0" y="370"/>
                  </a:lnTo>
                  <a:close/>
                </a:path>
                <a:path w="2814566" h="2316886" fill="none">
                  <a:moveTo>
                    <a:pt x="0" y="370"/>
                  </a:moveTo>
                  <a:cubicBezTo>
                    <a:pt x="639016" y="-9052"/>
                    <a:pt x="1261484" y="161353"/>
                    <a:pt x="1756370" y="481188"/>
                  </a:cubicBezTo>
                  <a:cubicBezTo>
                    <a:pt x="2435301" y="919968"/>
                    <a:pt x="2792637" y="1639321"/>
                    <a:pt x="2814566" y="2316886"/>
                  </a:cubicBezTo>
                </a:path>
              </a:pathLst>
            </a:custGeom>
            <a:noFill/>
            <a:ln w="57150" cap="flat">
              <a:solidFill>
                <a:schemeClr val="accent1">
                  <a:lumMod val="75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349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of AC Curve">
            <a:extLst>
              <a:ext uri="{FF2B5EF4-FFF2-40B4-BE49-F238E27FC236}">
                <a16:creationId xmlns:a16="http://schemas.microsoft.com/office/drawing/2014/main" id="{CF92742B-B2FB-CD4D-8951-1C154DAF8D19}"/>
              </a:ext>
            </a:extLst>
          </p:cNvPr>
          <p:cNvSpPr txBox="1">
            <a:spLocks/>
          </p:cNvSpPr>
          <p:nvPr/>
        </p:nvSpPr>
        <p:spPr>
          <a:xfrm>
            <a:off x="3674575" y="3790610"/>
            <a:ext cx="4783625" cy="833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of AC Curve">
            <a:extLst>
              <a:ext uri="{FF2B5EF4-FFF2-40B4-BE49-F238E27FC236}">
                <a16:creationId xmlns:a16="http://schemas.microsoft.com/office/drawing/2014/main" id="{5A90311E-B4AD-A944-816A-6663CFE2C975}"/>
              </a:ext>
            </a:extLst>
          </p:cNvPr>
          <p:cNvSpPr txBox="1">
            <a:spLocks/>
          </p:cNvSpPr>
          <p:nvPr/>
        </p:nvSpPr>
        <p:spPr>
          <a:xfrm>
            <a:off x="1284560" y="1285348"/>
            <a:ext cx="11069782" cy="55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hangingPunct="1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65443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E8F006-A6AB-E645-91B0-1FD1D206EBD2}"/>
              </a:ext>
            </a:extLst>
          </p:cNvPr>
          <p:cNvSpPr txBox="1"/>
          <p:nvPr/>
        </p:nvSpPr>
        <p:spPr>
          <a:xfrm>
            <a:off x="405492" y="1403640"/>
            <a:ext cx="121158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If the technique of constrained optimization is not feasible because of the constraints being too many or complex, the </a:t>
            </a:r>
            <a:r>
              <a:rPr lang="en-I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Lagrangian Multiplier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is used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E870D-41BF-6E46-A466-DA093E60C0D6}"/>
              </a:ext>
            </a:extLst>
          </p:cNvPr>
          <p:cNvSpPr txBox="1"/>
          <p:nvPr/>
        </p:nvSpPr>
        <p:spPr>
          <a:xfrm>
            <a:off x="444500" y="2879180"/>
            <a:ext cx="12115800" cy="6612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For this the </a:t>
            </a:r>
            <a:r>
              <a:rPr lang="en-I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Lagrangian function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must be constructed by combining: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D5E1C-4FEE-EC43-9907-6A86280DD4CB}"/>
              </a:ext>
            </a:extLst>
          </p:cNvPr>
          <p:cNvSpPr txBox="1"/>
          <p:nvPr/>
        </p:nvSpPr>
        <p:spPr>
          <a:xfrm>
            <a:off x="423635" y="5799890"/>
            <a:ext cx="1211580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This Lagrangian equation is constructed so that: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89EE3-8636-E34F-9C02-4EF17C551AE6}"/>
              </a:ext>
            </a:extLst>
          </p:cNvPr>
          <p:cNvSpPr txBox="1"/>
          <p:nvPr/>
        </p:nvSpPr>
        <p:spPr>
          <a:xfrm>
            <a:off x="423635" y="6444084"/>
            <a:ext cx="12115800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41338" marR="0" lvl="0" indent="-541338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When this Lagrangian equation is optimized, the original function that must be optimized is in fact optimized</a:t>
            </a:r>
            <a:endParaRPr lang="en-IN" sz="2800" b="1" dirty="0">
              <a:effectLst/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4C789-3090-B748-99B6-61FA3F7F509B}"/>
              </a:ext>
            </a:extLst>
          </p:cNvPr>
          <p:cNvSpPr txBox="1"/>
          <p:nvPr/>
        </p:nvSpPr>
        <p:spPr>
          <a:xfrm>
            <a:off x="405492" y="7535317"/>
            <a:ext cx="11595101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2.    All the given constraints are also satisfied in this optimization process</a:t>
            </a:r>
            <a:endParaRPr lang="en-IN" sz="2800" b="1" dirty="0">
              <a:effectLst/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  <p:sp>
        <p:nvSpPr>
          <p:cNvPr id="12" name="Shape of AC Curve">
            <a:extLst>
              <a:ext uri="{FF2B5EF4-FFF2-40B4-BE49-F238E27FC236}">
                <a16:creationId xmlns:a16="http://schemas.microsoft.com/office/drawing/2014/main" id="{1D8E636F-C75D-9741-9E5D-A9244B525E95}"/>
              </a:ext>
            </a:extLst>
          </p:cNvPr>
          <p:cNvSpPr txBox="1">
            <a:spLocks/>
          </p:cNvSpPr>
          <p:nvPr/>
        </p:nvSpPr>
        <p:spPr>
          <a:xfrm>
            <a:off x="2000251" y="16944"/>
            <a:ext cx="9296399" cy="833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fontScale="925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LAGRANGE MULTIPLIER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764627-9AA2-0B47-9EE0-BD4C381264C3}"/>
              </a:ext>
            </a:extLst>
          </p:cNvPr>
          <p:cNvSpPr txBox="1"/>
          <p:nvPr/>
        </p:nvSpPr>
        <p:spPr>
          <a:xfrm>
            <a:off x="444500" y="3631630"/>
            <a:ext cx="12115800" cy="6612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The function to be optimized (i.e., either minimized or maximized)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325E9-8A1A-E347-B9AD-FF95B2393F35}"/>
              </a:ext>
            </a:extLst>
          </p:cNvPr>
          <p:cNvSpPr txBox="1"/>
          <p:nvPr/>
        </p:nvSpPr>
        <p:spPr>
          <a:xfrm>
            <a:off x="444500" y="4376101"/>
            <a:ext cx="12115800" cy="6612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With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the given constraints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566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6" grpId="0" animBg="1"/>
      <p:bldP spid="9" grpId="0" animBg="1"/>
      <p:bldP spid="13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BE61A-0775-824A-9825-D3674DC80C76}"/>
              </a:ext>
            </a:extLst>
          </p:cNvPr>
          <p:cNvSpPr txBox="1"/>
          <p:nvPr/>
        </p:nvSpPr>
        <p:spPr>
          <a:xfrm>
            <a:off x="502770" y="806585"/>
            <a:ext cx="11161059" cy="661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Illustration No. 1: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ECEF1-3AD7-664A-B0A1-910240FBDED0}"/>
              </a:ext>
            </a:extLst>
          </p:cNvPr>
          <p:cNvSpPr txBox="1"/>
          <p:nvPr/>
        </p:nvSpPr>
        <p:spPr>
          <a:xfrm>
            <a:off x="921870" y="5805963"/>
            <a:ext cx="11161059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Guide this firm as to how it </a:t>
            </a:r>
            <a:r>
              <a:rPr lang="en-IN" sz="32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should employ the two inputs 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to fulfil this objective under the given constraint</a:t>
            </a:r>
            <a:r>
              <a:rPr lang="en-IN" sz="3200" b="1" dirty="0">
                <a:effectLst/>
              </a:rPr>
              <a:t> 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C055-3CF7-5845-BDA3-AC5C4870AB36}"/>
              </a:ext>
            </a:extLst>
          </p:cNvPr>
          <p:cNvSpPr txBox="1"/>
          <p:nvPr/>
        </p:nvSpPr>
        <p:spPr>
          <a:xfrm>
            <a:off x="921870" y="1829916"/>
            <a:ext cx="11161059" cy="742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A firm wants to </a:t>
            </a:r>
            <a:r>
              <a:rPr lang="en-I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minimize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its Total Cost ( C )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B3BC5-94DA-9A46-8836-B41C43AEDF59}"/>
                  </a:ext>
                </a:extLst>
              </p:cNvPr>
              <p:cNvSpPr txBox="1"/>
              <p:nvPr/>
            </p:nvSpPr>
            <p:spPr>
              <a:xfrm>
                <a:off x="3531720" y="2701668"/>
                <a:ext cx="5057217" cy="682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3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SupPr>
                        <m:e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𝑪</m:t>
                          </m:r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= </m:t>
                          </m:r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IN" sz="36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Sup>
                        <m:sSubSupPr>
                          <m:ctrlP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SupPr>
                        <m:e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IN" sz="36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 </m:t>
                      </m:r>
                      <m:sSub>
                        <m:sSubPr>
                          <m:ctrlP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B3BC5-94DA-9A46-8836-B41C43AED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720" y="2701668"/>
                <a:ext cx="5057217" cy="682110"/>
              </a:xfrm>
              <a:prstGeom prst="rect">
                <a:avLst/>
              </a:prstGeom>
              <a:blipFill>
                <a:blip r:embed="rId2"/>
                <a:stretch>
                  <a:fillRect l="-250" b="-218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679B03-F9EB-E641-A085-1A50ADC19CBD}"/>
                  </a:ext>
                </a:extLst>
              </p:cNvPr>
              <p:cNvSpPr txBox="1"/>
              <p:nvPr/>
            </p:nvSpPr>
            <p:spPr>
              <a:xfrm>
                <a:off x="3612403" y="3513019"/>
                <a:ext cx="4895850" cy="15696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Subject to the constraint that  </a:t>
                </a:r>
                <a:endParaRPr lang="en-IN" sz="2800" b="1" dirty="0">
                  <a:latin typeface="Times New Roman" panose="02020603050405020304" pitchFamily="18" charset="0"/>
                  <a:ea typeface="Arial Unicode MS" panose="020B0604020202020204" pitchFamily="34" charset="-128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</m:oMath>
                  </m:oMathPara>
                </a14:m>
                <a:endParaRPr lang="en-US" b="1" dirty="0">
                  <a:effectLst/>
                  <a:latin typeface="Times New Roman" panose="020206030504050203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679B03-F9EB-E641-A085-1A50ADC19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03" y="3513019"/>
                <a:ext cx="4895850" cy="1569660"/>
              </a:xfrm>
              <a:prstGeom prst="rect">
                <a:avLst/>
              </a:prstGeom>
              <a:blipFill>
                <a:blip r:embed="rId3"/>
                <a:stretch>
                  <a:fillRect r="-3359" b="-4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00464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66EB8-C806-C348-A9D1-DE399ECB9879}"/>
              </a:ext>
            </a:extLst>
          </p:cNvPr>
          <p:cNvSpPr txBox="1"/>
          <p:nvPr/>
        </p:nvSpPr>
        <p:spPr>
          <a:xfrm>
            <a:off x="272302" y="0"/>
            <a:ext cx="5118848" cy="7425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(Illustration No. 1)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: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3B2252-EA4F-AC46-BEE4-1AE2538A2F90}"/>
                  </a:ext>
                </a:extLst>
              </p:cNvPr>
              <p:cNvSpPr txBox="1"/>
              <p:nvPr/>
            </p:nvSpPr>
            <p:spPr>
              <a:xfrm>
                <a:off x="291724" y="1026452"/>
                <a:ext cx="12414999" cy="6612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1:  Rewrite the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sSub>
                      <m:sSubPr>
                        <m:ctrlP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28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𝟑𝟎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as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3B2252-EA4F-AC46-BEE4-1AE2538A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24" y="1026452"/>
                <a:ext cx="12414999" cy="661207"/>
              </a:xfrm>
              <a:prstGeom prst="rect">
                <a:avLst/>
              </a:prstGeom>
              <a:blipFill>
                <a:blip r:embed="rId2"/>
                <a:stretch>
                  <a:fillRect l="-1125" b="-264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1380C-8298-6641-BF66-78255314F7AC}"/>
                  </a:ext>
                </a:extLst>
              </p:cNvPr>
              <p:cNvSpPr txBox="1"/>
              <p:nvPr/>
            </p:nvSpPr>
            <p:spPr>
              <a:xfrm>
                <a:off x="291725" y="2743526"/>
                <a:ext cx="12414998" cy="101566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2:  Multiply the restructured Constraint equation with </a:t>
                </a:r>
                <a14:m>
                  <m:oMath xmlns:m="http://schemas.openxmlformats.org/officeDocument/2006/math">
                    <m:r>
                      <a:rPr lang="en-IN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:</a:t>
                </a:r>
              </a:p>
              <a:p>
                <a:pPr algn="r"/>
                <a:r>
                  <a:rPr lang="en-IN" sz="28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IN" sz="2800" b="1" i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Lamda</a:t>
                </a:r>
                <a:r>
                  <a:rPr lang="en-IN" sz="28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is an unknown factor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1380C-8298-6641-BF66-78255314F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25" y="2743526"/>
                <a:ext cx="12414998" cy="1015663"/>
              </a:xfrm>
              <a:prstGeom prst="rect">
                <a:avLst/>
              </a:prstGeom>
              <a:blipFill>
                <a:blip r:embed="rId3"/>
                <a:stretch>
                  <a:fillRect l="-1227" t="-8642" r="-1022" b="-148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6F6FAF4-F6FD-394F-A153-851CA3A61457}"/>
              </a:ext>
            </a:extLst>
          </p:cNvPr>
          <p:cNvSpPr txBox="1"/>
          <p:nvPr/>
        </p:nvSpPr>
        <p:spPr>
          <a:xfrm>
            <a:off x="272302" y="5162472"/>
            <a:ext cx="12414998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381125" marR="0" indent="-1381125" algn="just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Step 3:  Form the </a:t>
            </a:r>
            <a:r>
              <a:rPr lang="en-I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Lagrangian function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F3D7E-80E0-B647-A3B4-AE57920BA320}"/>
                  </a:ext>
                </a:extLst>
              </p:cNvPr>
              <p:cNvSpPr txBox="1"/>
              <p:nvPr/>
            </p:nvSpPr>
            <p:spPr>
              <a:xfrm>
                <a:off x="291724" y="1763859"/>
                <a:ext cx="12414999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>
                        <m:sSubPr>
                          <m:ctrlP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=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F3D7E-80E0-B647-A3B4-AE57920B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24" y="1763859"/>
                <a:ext cx="12414999" cy="830997"/>
              </a:xfrm>
              <a:prstGeom prst="rect">
                <a:avLst/>
              </a:prstGeom>
              <a:blipFill>
                <a:blip r:embed="rId4"/>
                <a:stretch>
                  <a:fillRect b="-597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7ADE19-1617-7142-B60A-B83181488647}"/>
                  </a:ext>
                </a:extLst>
              </p:cNvPr>
              <p:cNvSpPr txBox="1"/>
              <p:nvPr/>
            </p:nvSpPr>
            <p:spPr>
              <a:xfrm>
                <a:off x="291724" y="3824555"/>
                <a:ext cx="12414998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d>
                        <m:dPr>
                          <m:ctrlPr>
                            <a:rPr lang="en-IN" sz="32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𝟑𝟎</m:t>
                          </m:r>
                        </m:e>
                      </m:d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r>
                        <a:rPr lang="en-IN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  <m:r>
                        <a:rPr lang="en-IN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7ADE19-1617-7142-B60A-B83181488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24" y="3824555"/>
                <a:ext cx="12414998" cy="830997"/>
              </a:xfrm>
              <a:prstGeom prst="rect">
                <a:avLst/>
              </a:prstGeom>
              <a:blipFill>
                <a:blip r:embed="rId5"/>
                <a:stretch>
                  <a:fillRect b="-74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0BDA58-729C-3B42-9B5B-8C6B2C95B80A}"/>
                  </a:ext>
                </a:extLst>
              </p:cNvPr>
              <p:cNvSpPr txBox="1"/>
              <p:nvPr/>
            </p:nvSpPr>
            <p:spPr>
              <a:xfrm>
                <a:off x="2209780" y="7081559"/>
                <a:ext cx="4527571" cy="87870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32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SupPr>
                        <m:e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𝑪</m:t>
                          </m:r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= </m:t>
                          </m:r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  <m:sup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IN" sz="32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Sup>
                        <m:sSubSupPr>
                          <m:ctrlP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SupPr>
                        <m:e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  <m:sup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bSup>
                      <m:r>
                        <a:rPr lang="en-IN" sz="3200" b="1" i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 </m:t>
                      </m:r>
                      <m:sSub>
                        <m:sSubPr>
                          <m:ctrlP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0BDA58-729C-3B42-9B5B-8C6B2C95B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780" y="7081559"/>
                <a:ext cx="4527571" cy="878702"/>
              </a:xfrm>
              <a:prstGeom prst="rect">
                <a:avLst/>
              </a:prstGeom>
              <a:blipFill>
                <a:blip r:embed="rId6"/>
                <a:stretch>
                  <a:fillRect l="-279" b="-571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40102BF-B402-B644-B327-CCB644D26369}"/>
              </a:ext>
            </a:extLst>
          </p:cNvPr>
          <p:cNvSpPr txBox="1"/>
          <p:nvPr/>
        </p:nvSpPr>
        <p:spPr>
          <a:xfrm>
            <a:off x="272302" y="5787413"/>
            <a:ext cx="12414998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381125" indent="-1381125" algn="just"/>
            <a:r>
              <a:rPr lang="en-IN" sz="32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               by adding to the Cost Function,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BA2B27-3E3C-844F-9C7B-73E68A260052}"/>
                  </a:ext>
                </a:extLst>
              </p:cNvPr>
              <p:cNvSpPr txBox="1"/>
              <p:nvPr/>
            </p:nvSpPr>
            <p:spPr>
              <a:xfrm>
                <a:off x="6724650" y="7100609"/>
                <a:ext cx="3689370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indent="-17463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r>
                        <a:rPr lang="en-IN" sz="32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BA2B27-3E3C-844F-9C7B-73E68A26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650" y="7100609"/>
                <a:ext cx="3689370" cy="830997"/>
              </a:xfrm>
              <a:prstGeom prst="rect">
                <a:avLst/>
              </a:prstGeom>
              <a:blipFill>
                <a:blip r:embed="rId7"/>
                <a:stretch>
                  <a:fillRect r="-344" b="-75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A81F939-EE9A-014F-8EFD-1366A0424698}"/>
              </a:ext>
            </a:extLst>
          </p:cNvPr>
          <p:cNvSpPr txBox="1"/>
          <p:nvPr/>
        </p:nvSpPr>
        <p:spPr>
          <a:xfrm>
            <a:off x="272302" y="6418624"/>
            <a:ext cx="1241499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381125" indent="-1381125" algn="just"/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             the restructured Constraint equation :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883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DAC2D-8A3B-0943-8CBD-A6B6758BF247}"/>
                  </a:ext>
                </a:extLst>
              </p:cNvPr>
              <p:cNvSpPr txBox="1"/>
              <p:nvPr/>
            </p:nvSpPr>
            <p:spPr>
              <a:xfrm>
                <a:off x="672353" y="1156401"/>
                <a:ext cx="11660094" cy="19538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4A:  Find the partial derivative of C, </a:t>
                </a:r>
                <a:r>
                  <a:rPr lang="en-IN" sz="2800" b="1" dirty="0" err="1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wrt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each of the variables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and equate each of these partially differentiated functions to 0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DAC2D-8A3B-0943-8CBD-A6B6758BF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1156401"/>
                <a:ext cx="11660094" cy="1953868"/>
              </a:xfrm>
              <a:prstGeom prst="rect">
                <a:avLst/>
              </a:prstGeom>
              <a:blipFill>
                <a:blip r:embed="rId2"/>
                <a:stretch>
                  <a:fillRect l="-870" b="-84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A78BB-F98D-394F-A8A4-27AFA9361B0C}"/>
                  </a:ext>
                </a:extLst>
              </p:cNvPr>
              <p:cNvSpPr txBox="1"/>
              <p:nvPr/>
            </p:nvSpPr>
            <p:spPr>
              <a:xfrm>
                <a:off x="672353" y="3253472"/>
                <a:ext cx="11660094" cy="17392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286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32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𝑪</m:t>
                          </m:r>
                        </m:num>
                        <m:den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Sup>
                            <m:sSubSup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 (</m:t>
                              </m:r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𝟒</m:t>
                              </m:r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𝟓</m:t>
                              </m:r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𝟑𝟎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   </m:t>
                      </m:r>
                    </m:oMath>
                  </m:oMathPara>
                </a14:m>
                <a:endParaRPr lang="en-US" sz="3200" b="1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A78BB-F98D-394F-A8A4-27AFA936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3253472"/>
                <a:ext cx="11660094" cy="17392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EC3946-2A61-974F-B7EB-21AAC19D3CE7}"/>
                  </a:ext>
                </a:extLst>
              </p:cNvPr>
              <p:cNvSpPr txBox="1"/>
              <p:nvPr/>
            </p:nvSpPr>
            <p:spPr>
              <a:xfrm>
                <a:off x="672353" y="6398029"/>
                <a:ext cx="11660094" cy="707886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𝐇</m:t>
                    </m:r>
                    <m:r>
                      <a:rPr lang="en-IN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𝐞𝐧𝐜𝐞</m:t>
                    </m:r>
                    <m:r>
                      <a:rPr lang="en-IN" sz="4000" b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−</m:t>
                        </m:r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𝟖</m:t>
                        </m:r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IN" sz="4000" b="1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EC3946-2A61-974F-B7EB-21AAC19D3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6398029"/>
                <a:ext cx="11660094" cy="707886"/>
              </a:xfrm>
              <a:prstGeom prst="rect">
                <a:avLst/>
              </a:prstGeom>
              <a:blipFill>
                <a:blip r:embed="rId4"/>
                <a:stretch>
                  <a:fillRect t="-1786" b="-25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58AFE3F-30A0-654D-B34B-63FC56888BDE}"/>
              </a:ext>
            </a:extLst>
          </p:cNvPr>
          <p:cNvSpPr txBox="1"/>
          <p:nvPr/>
        </p:nvSpPr>
        <p:spPr>
          <a:xfrm>
            <a:off x="462802" y="27609"/>
            <a:ext cx="692859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1) Contd.: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88507A-927E-F944-A7F2-3889443FA135}"/>
                  </a:ext>
                </a:extLst>
              </p:cNvPr>
              <p:cNvSpPr txBox="1"/>
              <p:nvPr/>
            </p:nvSpPr>
            <p:spPr>
              <a:xfrm>
                <a:off x="672353" y="5135934"/>
                <a:ext cx="11660094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286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 </m:t>
                      </m:r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sz="36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𝟖</m:t>
                          </m:r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 </m:t>
                      </m:r>
                      <m:sSub>
                        <m:sSubPr>
                          <m:ctrlPr>
                            <a:rPr lang="en-IN" sz="36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36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IN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88507A-927E-F944-A7F2-3889443FA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5135934"/>
                <a:ext cx="11660094" cy="923330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8404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BBE354-7FB1-D240-96DE-03B4326AEA9E}"/>
                  </a:ext>
                </a:extLst>
              </p:cNvPr>
              <p:cNvSpPr txBox="1"/>
              <p:nvPr/>
            </p:nvSpPr>
            <p:spPr>
              <a:xfrm>
                <a:off x="672353" y="3456332"/>
                <a:ext cx="11660094" cy="17392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𝑪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Sup>
                            <m:sSubSup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 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(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𝟒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𝟓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𝟑𝟎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b="1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BBE354-7FB1-D240-96DE-03B4326A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3456332"/>
                <a:ext cx="11660094" cy="17392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571D96-C615-6848-8CFD-DA2B13D0102B}"/>
                  </a:ext>
                </a:extLst>
              </p:cNvPr>
              <p:cNvSpPr txBox="1"/>
              <p:nvPr/>
            </p:nvSpPr>
            <p:spPr>
              <a:xfrm>
                <a:off x="672353" y="1281068"/>
                <a:ext cx="11660094" cy="19538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4B:  Find the partial derivative of C, </a:t>
                </a:r>
                <a:r>
                  <a:rPr lang="en-IN" sz="2800" b="1" dirty="0" err="1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wrt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each of the variables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and equate each of these partially differentiated functions to 0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571D96-C615-6848-8CFD-DA2B13D01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1281068"/>
                <a:ext cx="11660094" cy="1953868"/>
              </a:xfrm>
              <a:prstGeom prst="rect">
                <a:avLst/>
              </a:prstGeom>
              <a:blipFill>
                <a:blip r:embed="rId3"/>
                <a:stretch>
                  <a:fillRect l="-870" b="-838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2B6A520-6ECB-5C41-AEBE-CF58E91EFD7E}"/>
              </a:ext>
            </a:extLst>
          </p:cNvPr>
          <p:cNvSpPr txBox="1"/>
          <p:nvPr/>
        </p:nvSpPr>
        <p:spPr>
          <a:xfrm>
            <a:off x="462802" y="27609"/>
            <a:ext cx="692859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1) Contd.: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E425FE-EA31-4D40-802C-851FA76E668D}"/>
                  </a:ext>
                </a:extLst>
              </p:cNvPr>
              <p:cNvSpPr txBox="1"/>
              <p:nvPr/>
            </p:nvSpPr>
            <p:spPr>
              <a:xfrm>
                <a:off x="672353" y="5329397"/>
                <a:ext cx="11660094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 </m:t>
                      </m:r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I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b="1" dirty="0">
                  <a:effectLst/>
                  <a:latin typeface="Times New Roman" panose="020206030504050203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E425FE-EA31-4D40-802C-851FA76E6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5329397"/>
                <a:ext cx="11660094" cy="923330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52A1BA-8336-6941-8A15-41BD7B73E0BF}"/>
                  </a:ext>
                </a:extLst>
              </p:cNvPr>
              <p:cNvSpPr txBox="1"/>
              <p:nvPr/>
            </p:nvSpPr>
            <p:spPr>
              <a:xfrm>
                <a:off x="672353" y="6588529"/>
                <a:ext cx="11660094" cy="707886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𝐇</m:t>
                    </m:r>
                    <m:r>
                      <a:rPr lang="en-IN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𝐞𝐧𝐜𝐞</m:t>
                    </m:r>
                    <m:r>
                      <a:rPr lang="en-IN" sz="4000" b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IN" sz="4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sz="4000" b="1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IN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IN" sz="4000" b="1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52A1BA-8336-6941-8A15-41BD7B73E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6588529"/>
                <a:ext cx="11660094" cy="707886"/>
              </a:xfrm>
              <a:prstGeom prst="rect">
                <a:avLst/>
              </a:prstGeom>
              <a:blipFill>
                <a:blip r:embed="rId5"/>
                <a:stretch>
                  <a:fillRect t="-1754" b="-245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1486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B803EA-DCDB-6A46-9947-BFD766115519}"/>
                  </a:ext>
                </a:extLst>
              </p:cNvPr>
              <p:cNvSpPr txBox="1"/>
              <p:nvPr/>
            </p:nvSpPr>
            <p:spPr>
              <a:xfrm>
                <a:off x="773953" y="3825586"/>
                <a:ext cx="11660094" cy="161448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5563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f>
                        <m:f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𝑪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I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</m:den>
                      </m:f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f>
                        <m:f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Sup>
                            <m:sSubSup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 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(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𝟒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Sup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𝟓</m:t>
                              </m:r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I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𝟑𝟎</m:t>
                          </m:r>
                          <m:r>
                            <a:rPr lang="en-I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I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B803EA-DCDB-6A46-9947-BFD766115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53" y="3825586"/>
                <a:ext cx="11660094" cy="16144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A6E1E-6777-6142-9D00-064BA2F7C8D6}"/>
                  </a:ext>
                </a:extLst>
              </p:cNvPr>
              <p:cNvSpPr txBox="1"/>
              <p:nvPr/>
            </p:nvSpPr>
            <p:spPr>
              <a:xfrm>
                <a:off x="773953" y="5561708"/>
                <a:ext cx="11660094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55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>
                        <m:sSubPr>
                          <m:ctrlPr>
                            <a:rPr lang="en-IN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US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A6E1E-6777-6142-9D00-064BA2F7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53" y="5561708"/>
                <a:ext cx="11660094" cy="923330"/>
              </a:xfrm>
              <a:prstGeom prst="rect">
                <a:avLst/>
              </a:prstGeom>
              <a:blipFill>
                <a:blip r:embed="rId3"/>
                <a:stretch>
                  <a:fillRect b="-81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4F57979-4EB2-7443-B023-78D9AD0602C1}"/>
              </a:ext>
            </a:extLst>
          </p:cNvPr>
          <p:cNvSpPr txBox="1"/>
          <p:nvPr/>
        </p:nvSpPr>
        <p:spPr>
          <a:xfrm>
            <a:off x="462802" y="27609"/>
            <a:ext cx="692859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1) Contd.: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BA825B-339B-0649-B2DC-7C5A91A4B5B7}"/>
                  </a:ext>
                </a:extLst>
              </p:cNvPr>
              <p:cNvSpPr txBox="1"/>
              <p:nvPr/>
            </p:nvSpPr>
            <p:spPr>
              <a:xfrm>
                <a:off x="773953" y="1662068"/>
                <a:ext cx="11660094" cy="19538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4C:  Find the partial derivative of C, </a:t>
                </a:r>
                <a:r>
                  <a:rPr lang="en-IN" sz="2800" b="1" dirty="0" err="1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wrt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each of the variables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</a:t>
                </a:r>
              </a:p>
              <a:p>
                <a:pPr marL="1474788" marR="0" indent="-1457325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             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and equate each of these partially differentiated functions to 0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BA825B-339B-0649-B2DC-7C5A91A4B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53" y="1662068"/>
                <a:ext cx="11660094" cy="1953868"/>
              </a:xfrm>
              <a:prstGeom prst="rect">
                <a:avLst/>
              </a:prstGeom>
              <a:blipFill>
                <a:blip r:embed="rId4"/>
                <a:stretch>
                  <a:fillRect l="-870" b="-844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098A2F-1D45-8F41-87DE-8295E78AFF3B}"/>
                  </a:ext>
                </a:extLst>
              </p:cNvPr>
              <p:cNvSpPr txBox="1"/>
              <p:nvPr/>
            </p:nvSpPr>
            <p:spPr>
              <a:xfrm>
                <a:off x="773953" y="6603908"/>
                <a:ext cx="11660094" cy="707886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𝐇</m:t>
                    </m:r>
                    <m:r>
                      <a:rPr lang="en-IN" sz="4000" b="1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𝐞𝐧𝐜𝐞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IN" sz="4000" b="1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IN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 </m:t>
                        </m:r>
                        <m:r>
                          <a:rPr lang="en-IN" sz="40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   </m:t>
                        </m:r>
                      </m:sub>
                    </m:sSub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𝟑𝟎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 …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IN" sz="4000" b="1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40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098A2F-1D45-8F41-87DE-8295E78AF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53" y="6603908"/>
                <a:ext cx="11660094" cy="707886"/>
              </a:xfrm>
              <a:prstGeom prst="rect">
                <a:avLst/>
              </a:prstGeom>
              <a:blipFill>
                <a:blip r:embed="rId5"/>
                <a:stretch>
                  <a:fillRect b="-245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2962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4ABB3D-BA66-634C-A451-B5BA5BF715ED}"/>
              </a:ext>
            </a:extLst>
          </p:cNvPr>
          <p:cNvSpPr txBox="1"/>
          <p:nvPr/>
        </p:nvSpPr>
        <p:spPr>
          <a:xfrm>
            <a:off x="506722" y="707407"/>
            <a:ext cx="5227328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From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1&amp;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2, it follows that: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2DF4A-FE4B-274B-876F-0EA247303308}"/>
              </a:ext>
            </a:extLst>
          </p:cNvPr>
          <p:cNvSpPr txBox="1"/>
          <p:nvPr/>
        </p:nvSpPr>
        <p:spPr>
          <a:xfrm>
            <a:off x="281828" y="2472984"/>
            <a:ext cx="1194594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463" marR="0" indent="-17463"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Substituting this value of q</a:t>
            </a:r>
            <a:r>
              <a:rPr lang="en-IN" sz="28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from </a:t>
            </a:r>
            <a:r>
              <a:rPr lang="en-I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(A) 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into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3, we can get the value of q</a:t>
            </a:r>
            <a:r>
              <a:rPr lang="en-IN" sz="28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as: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AD2C9-6959-A849-BE61-2E515A05A64C}"/>
              </a:ext>
            </a:extLst>
          </p:cNvPr>
          <p:cNvSpPr txBox="1"/>
          <p:nvPr/>
        </p:nvSpPr>
        <p:spPr>
          <a:xfrm>
            <a:off x="9307825" y="7059966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2577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A378D3-97F3-E241-B2AA-C576A4336BD0}"/>
                  </a:ext>
                </a:extLst>
              </p:cNvPr>
              <p:cNvSpPr txBox="1"/>
              <p:nvPr/>
            </p:nvSpPr>
            <p:spPr>
              <a:xfrm>
                <a:off x="5734049" y="664758"/>
                <a:ext cx="5905559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en-IN" sz="3200" dirty="0">
                    <a:effectLst/>
                    <a:ea typeface="Arial Unicode MS" panose="020B0604020202020204" pitchFamily="34" charset="-128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sz="3200" i="1" smtClean="0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3200" b="1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𝟖</m:t>
                            </m:r>
                            <m:r>
                              <a:rPr lang="en-IN" sz="3200" b="1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IN" sz="3200" b="1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3200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3200" b="1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IN" sz="3200" b="1" i="1"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= </m:t>
                        </m:r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A378D3-97F3-E241-B2AA-C576A4336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049" y="664758"/>
                <a:ext cx="5905559" cy="584775"/>
              </a:xfrm>
              <a:prstGeom prst="rect">
                <a:avLst/>
              </a:prstGeom>
              <a:blipFill>
                <a:blip r:embed="rId2"/>
                <a:stretch>
                  <a:fillRect l="-2575" t="-12766" b="-3404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F9CDE9-B615-7B44-A74B-FDF13F9112BF}"/>
                  </a:ext>
                </a:extLst>
              </p:cNvPr>
              <p:cNvSpPr txBox="1"/>
              <p:nvPr/>
            </p:nvSpPr>
            <p:spPr>
              <a:xfrm>
                <a:off x="331353" y="3078878"/>
                <a:ext cx="2686735" cy="74251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indent="-51435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sSub>
                      <m:sSub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𝟑𝟎</m:t>
                    </m:r>
                  </m:oMath>
                </a14:m>
                <a:r>
                  <a:rPr lang="en-IN" sz="3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F9CDE9-B615-7B44-A74B-FDF13F91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53" y="3078878"/>
                <a:ext cx="2686735" cy="742511"/>
              </a:xfrm>
              <a:prstGeom prst="rect">
                <a:avLst/>
              </a:prstGeom>
              <a:blipFill>
                <a:blip r:embed="rId3"/>
                <a:stretch>
                  <a:fillRect l="-1878" r="-939" b="-203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C2F319-7E6C-B140-8A67-37CA04E55C0A}"/>
                  </a:ext>
                </a:extLst>
              </p:cNvPr>
              <p:cNvSpPr txBox="1"/>
              <p:nvPr/>
            </p:nvSpPr>
            <p:spPr>
              <a:xfrm>
                <a:off x="741169" y="5450609"/>
                <a:ext cx="3257925" cy="74251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 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𝟏𝟑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.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𝟓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𝟑𝟎</m:t>
                    </m:r>
                  </m:oMath>
                </a14:m>
                <a:r>
                  <a:rPr lang="en-IN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C2F319-7E6C-B140-8A67-37CA04E55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69" y="5450609"/>
                <a:ext cx="3257925" cy="742511"/>
              </a:xfrm>
              <a:prstGeom prst="rect">
                <a:avLst/>
              </a:prstGeom>
              <a:blipFill>
                <a:blip r:embed="rId4"/>
                <a:stretch>
                  <a:fillRect l="-3502" b="-203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74F0238-DEC8-514D-8977-EBA1D82D6E64}"/>
              </a:ext>
            </a:extLst>
          </p:cNvPr>
          <p:cNvSpPr txBox="1"/>
          <p:nvPr/>
        </p:nvSpPr>
        <p:spPr>
          <a:xfrm>
            <a:off x="506722" y="6714902"/>
            <a:ext cx="11643738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Hence, optimal values of inputs are: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                                                 q</a:t>
            </a:r>
            <a:r>
              <a:rPr lang="en-IN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= </a:t>
            </a:r>
            <a:r>
              <a:rPr lang="en-I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16.5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units and q</a:t>
            </a:r>
            <a:r>
              <a:rPr lang="en-IN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=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t>13.5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units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571D1-45DB-F542-9155-41822F16BA1E}"/>
                  </a:ext>
                </a:extLst>
              </p:cNvPr>
              <p:cNvSpPr txBox="1"/>
              <p:nvPr/>
            </p:nvSpPr>
            <p:spPr>
              <a:xfrm>
                <a:off x="3613784" y="8702831"/>
                <a:ext cx="5903572" cy="7532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𝟒</m:t>
                      </m:r>
                      <m:sSup>
                        <m:sSup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pPr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(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𝟏𝟔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e>
                        <m:sup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p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𝟓</m:t>
                      </m:r>
                      <m:sSup>
                        <m:sSup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pPr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(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𝟏𝟑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e>
                        <m:sup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p>
                      </m:sSup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US" sz="28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𝟏𝟔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</m:e>
                      </m:d>
                      <m:d>
                        <m:d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𝟏𝟑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.</m:t>
                          </m:r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571D1-45DB-F542-9155-41822F16B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784" y="8702831"/>
                <a:ext cx="5903572" cy="753283"/>
              </a:xfrm>
              <a:prstGeom prst="rect">
                <a:avLst/>
              </a:prstGeom>
              <a:blipFill>
                <a:blip r:embed="rId5"/>
                <a:stretch>
                  <a:fillRect l="-215" b="-6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8DCB23-517B-4B42-94C4-9F84C9B12FDE}"/>
                  </a:ext>
                </a:extLst>
              </p:cNvPr>
              <p:cNvSpPr txBox="1"/>
              <p:nvPr/>
            </p:nvSpPr>
            <p:spPr>
              <a:xfrm>
                <a:off x="9689506" y="8617807"/>
                <a:ext cx="2247900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r>
                        <a:rPr lang="en-IN" sz="36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𝟏𝟕𝟕𝟕</m:t>
                      </m:r>
                      <m:r>
                        <a:rPr lang="en-IN" sz="36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.</m:t>
                      </m:r>
                      <m:r>
                        <a:rPr lang="en-IN" sz="36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𝟓</m:t>
                      </m:r>
                    </m:oMath>
                  </m:oMathPara>
                </a14:m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8DCB23-517B-4B42-94C4-9F84C9B12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506" y="8617807"/>
                <a:ext cx="2247900" cy="923330"/>
              </a:xfrm>
              <a:prstGeom prst="rect">
                <a:avLst/>
              </a:prstGeom>
              <a:blipFill>
                <a:blip r:embed="rId6"/>
                <a:stretch>
                  <a:fillRect r="-5618" b="-81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5BA1F8E-4BC2-3141-BCCD-75096FA275D9}"/>
              </a:ext>
            </a:extLst>
          </p:cNvPr>
          <p:cNvSpPr txBox="1"/>
          <p:nvPr/>
        </p:nvSpPr>
        <p:spPr>
          <a:xfrm>
            <a:off x="462802" y="27609"/>
            <a:ext cx="692859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1) Contd.: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822FE4-ED88-9F43-9E44-A9EC1292372B}"/>
                  </a:ext>
                </a:extLst>
              </p:cNvPr>
              <p:cNvSpPr txBox="1"/>
              <p:nvPr/>
            </p:nvSpPr>
            <p:spPr>
              <a:xfrm>
                <a:off x="5734051" y="1327276"/>
                <a:ext cx="4868522" cy="80368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𝑯𝒆𝒏𝒄𝒆</m:t>
                    </m:r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 </m:t>
                    </m:r>
                    <m:sSub>
                      <m:sSubPr>
                        <m:ctrlP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𝟏𝟏</m:t>
                            </m:r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IN" sz="3200" b="1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     </a:t>
                </a:r>
                <a:r>
                  <a:rPr lang="en-IN" sz="3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822FE4-ED88-9F43-9E44-A9EC12923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051" y="1327276"/>
                <a:ext cx="4868522" cy="803682"/>
              </a:xfrm>
              <a:prstGeom prst="rect">
                <a:avLst/>
              </a:prstGeom>
              <a:blipFill>
                <a:blip r:embed="rId7"/>
                <a:stretch>
                  <a:fillRect l="-1042" r="-1563" b="-937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285FF2-DD5F-BE49-B67D-BE5E86BB769D}"/>
                  </a:ext>
                </a:extLst>
              </p:cNvPr>
              <p:cNvSpPr txBox="1"/>
              <p:nvPr/>
            </p:nvSpPr>
            <p:spPr>
              <a:xfrm>
                <a:off x="6491538" y="3151561"/>
                <a:ext cx="3846671" cy="83099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𝟏𝟏</m:t>
                          </m:r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𝟗</m:t>
                      </m:r>
                      <m:sSub>
                        <m:sSub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𝟐𝟕𝟎</m:t>
                      </m:r>
                    </m:oMath>
                  </m:oMathPara>
                </a14:m>
                <a:endParaRPr lang="en-IN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285FF2-DD5F-BE49-B67D-BE5E86BB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538" y="3151561"/>
                <a:ext cx="3846671" cy="830997"/>
              </a:xfrm>
              <a:prstGeom prst="rect">
                <a:avLst/>
              </a:prstGeom>
              <a:blipFill>
                <a:blip r:embed="rId8"/>
                <a:stretch>
                  <a:fillRect b="-75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6BC996-9330-8942-872B-AB3CEC98C369}"/>
                  </a:ext>
                </a:extLst>
              </p:cNvPr>
              <p:cNvSpPr txBox="1"/>
              <p:nvPr/>
            </p:nvSpPr>
            <p:spPr>
              <a:xfrm>
                <a:off x="3109524" y="3094672"/>
                <a:ext cx="3310533" cy="14801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indent="-51435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𝟏𝟏</m:t>
                              </m:r>
                              <m:r>
                                <a:rPr lang="en-I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𝟗</m:t>
                          </m:r>
                        </m:den>
                      </m:f>
                      <m:r>
                        <a:rPr lang="en-IN" sz="3200" b="1" i="1"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 </m:t>
                      </m:r>
                      <m:sSub>
                        <m:sSubPr>
                          <m:ctrlPr>
                            <a:rPr lang="en-IN" sz="3200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3200" b="1" i="1"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sz="3200" b="1" i="1"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𝟑𝟎</m:t>
                      </m:r>
                    </m:oMath>
                  </m:oMathPara>
                </a14:m>
                <a:endParaRPr lang="en-IN" sz="32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A6BC996-9330-8942-872B-AB3CEC98C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524" y="3094672"/>
                <a:ext cx="3310533" cy="14801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114B8D-5343-C14B-9813-0F242BB21770}"/>
                  </a:ext>
                </a:extLst>
              </p:cNvPr>
              <p:cNvSpPr txBox="1"/>
              <p:nvPr/>
            </p:nvSpPr>
            <p:spPr>
              <a:xfrm>
                <a:off x="10417210" y="3195803"/>
                <a:ext cx="2444798" cy="74251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indent="-17463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𝟐𝟎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𝟐𝟕𝟎</m:t>
                    </m:r>
                  </m:oMath>
                </a14:m>
                <a:r>
                  <a:rPr lang="en-IN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114B8D-5343-C14B-9813-0F242BB2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210" y="3195803"/>
                <a:ext cx="2444798" cy="742511"/>
              </a:xfrm>
              <a:prstGeom prst="rect">
                <a:avLst/>
              </a:prstGeom>
              <a:blipFill>
                <a:blip r:embed="rId10"/>
                <a:stretch>
                  <a:fillRect l="-4145" b="-16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7E7BF6-0158-3044-99D2-8B0AB42C69DC}"/>
                  </a:ext>
                </a:extLst>
              </p:cNvPr>
              <p:cNvSpPr txBox="1"/>
              <p:nvPr/>
            </p:nvSpPr>
            <p:spPr>
              <a:xfrm>
                <a:off x="8270093" y="4064424"/>
                <a:ext cx="3369516" cy="107048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𝟐𝟕𝟎</m:t>
                        </m:r>
                      </m:num>
                      <m:den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𝟐𝟎</m:t>
                        </m:r>
                      </m:den>
                    </m:f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𝟏𝟑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IN" sz="3200" dirty="0">
                    <a:solidFill>
                      <a:srgbClr val="FF0000"/>
                    </a:solidFill>
                    <a:effectLst/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7E7BF6-0158-3044-99D2-8B0AB42C6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093" y="4064424"/>
                <a:ext cx="3369516" cy="1070486"/>
              </a:xfrm>
              <a:prstGeom prst="rect">
                <a:avLst/>
              </a:prstGeom>
              <a:blipFill>
                <a:blip r:embed="rId11"/>
                <a:stretch>
                  <a:fillRect l="-1880" b="-470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0C6F1C-2605-1F42-9C76-636A0C069E2B}"/>
                  </a:ext>
                </a:extLst>
              </p:cNvPr>
              <p:cNvSpPr txBox="1"/>
              <p:nvPr/>
            </p:nvSpPr>
            <p:spPr>
              <a:xfrm>
                <a:off x="4505631" y="5481092"/>
                <a:ext cx="3257925" cy="74251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 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𝟑𝟎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−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𝟏𝟑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.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𝟓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IN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0C6F1C-2605-1F42-9C76-636A0C069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631" y="5481092"/>
                <a:ext cx="3257925" cy="742511"/>
              </a:xfrm>
              <a:prstGeom prst="rect">
                <a:avLst/>
              </a:prstGeom>
              <a:blipFill>
                <a:blip r:embed="rId12"/>
                <a:stretch>
                  <a:fillRect l="-3488" b="-1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A61A84-7E2C-FD41-A850-C820CFFFB16D}"/>
                  </a:ext>
                </a:extLst>
              </p:cNvPr>
              <p:cNvSpPr txBox="1"/>
              <p:nvPr/>
            </p:nvSpPr>
            <p:spPr>
              <a:xfrm>
                <a:off x="8270093" y="5481092"/>
                <a:ext cx="3257925" cy="74251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 </m:t>
                        </m:r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𝟏𝟔</m:t>
                    </m:r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.</m:t>
                    </m:r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𝟓</m:t>
                    </m:r>
                  </m:oMath>
                </a14:m>
                <a:r>
                  <a:rPr lang="en-IN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3A61A84-7E2C-FD41-A850-C820CFFFB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093" y="5481092"/>
                <a:ext cx="3257925" cy="742511"/>
              </a:xfrm>
              <a:prstGeom prst="rect">
                <a:avLst/>
              </a:prstGeom>
              <a:blipFill>
                <a:blip r:embed="rId13"/>
                <a:stretch>
                  <a:fillRect l="-3502" b="-1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A0BAA40-89CD-B94C-9C97-A5F52AE1B3BA}"/>
              </a:ext>
            </a:extLst>
          </p:cNvPr>
          <p:cNvSpPr txBox="1"/>
          <p:nvPr/>
        </p:nvSpPr>
        <p:spPr>
          <a:xfrm>
            <a:off x="549196" y="8002597"/>
            <a:ext cx="3449898" cy="6612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463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Minimized cost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E8651F-0E52-9E43-8490-7B0A98BA37CD}"/>
                  </a:ext>
                </a:extLst>
              </p:cNvPr>
              <p:cNvSpPr txBox="1"/>
              <p:nvPr/>
            </p:nvSpPr>
            <p:spPr>
              <a:xfrm>
                <a:off x="4056639" y="8047225"/>
                <a:ext cx="4543903" cy="61657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SupPr>
                      <m:e>
                        <m: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𝑪</m:t>
                        </m:r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= </m:t>
                        </m:r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𝟒</m:t>
                        </m:r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  <m:sup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p>
                    </m:sSubSup>
                    <m:r>
                      <a:rPr lang="en-IN" sz="3200" b="1" i="1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sSubSup>
                      <m:sSubSup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SupPr>
                      <m:e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𝟓</m:t>
                        </m:r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  <m:sup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p>
                    </m:sSubSup>
                    <m:r>
                      <a:rPr lang="en-IN" sz="3200" b="1" i="1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− </m:t>
                    </m:r>
                    <m:sSub>
                      <m:sSub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3200" b="1" dirty="0"/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E8651F-0E52-9E43-8490-7B0A98BA3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639" y="8047225"/>
                <a:ext cx="4543903" cy="616579"/>
              </a:xfrm>
              <a:prstGeom prst="rect">
                <a:avLst/>
              </a:prstGeom>
              <a:blipFill>
                <a:blip r:embed="rId14"/>
                <a:stretch>
                  <a:fillRect l="-1114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7830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ABE61A-0775-824A-9825-D3674DC80C76}"/>
              </a:ext>
            </a:extLst>
          </p:cNvPr>
          <p:cNvSpPr txBox="1"/>
          <p:nvPr/>
        </p:nvSpPr>
        <p:spPr>
          <a:xfrm>
            <a:off x="921868" y="250638"/>
            <a:ext cx="11161059" cy="7425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Illustration No. 2: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ECEF1-3AD7-664A-B0A1-910240FBDED0}"/>
              </a:ext>
            </a:extLst>
          </p:cNvPr>
          <p:cNvSpPr txBox="1"/>
          <p:nvPr/>
        </p:nvSpPr>
        <p:spPr>
          <a:xfrm>
            <a:off x="921868" y="6079824"/>
            <a:ext cx="1165113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Configure for this consumer the quantities of the two goods that </a:t>
            </a:r>
            <a:r>
              <a:rPr lang="en-IN" sz="32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she / he 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should consume </a:t>
            </a:r>
            <a:r>
              <a:rPr lang="en-IN" sz="3200" b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to fully 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maximise utility under the given budget constraint</a:t>
            </a:r>
            <a:r>
              <a:rPr lang="en-IN" sz="3200" b="1" dirty="0">
                <a:effectLst/>
              </a:rPr>
              <a:t> </a:t>
            </a:r>
            <a:endParaRPr lang="en-IN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C055-3CF7-5845-BDA3-AC5C4870AB36}"/>
              </a:ext>
            </a:extLst>
          </p:cNvPr>
          <p:cNvSpPr txBox="1"/>
          <p:nvPr/>
        </p:nvSpPr>
        <p:spPr>
          <a:xfrm>
            <a:off x="921868" y="1667922"/>
            <a:ext cx="11651130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A consumer wants to </a:t>
            </a:r>
            <a:r>
              <a:rPr lang="en-IN" sz="3200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max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imize her / his Utility ( U ), by consuming 2 goods (G</a:t>
            </a:r>
            <a:r>
              <a:rPr lang="en-IN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and G</a:t>
            </a:r>
            <a:r>
              <a:rPr lang="en-IN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).  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79B03-F9EB-E641-A085-1A50ADC19CBD}"/>
              </a:ext>
            </a:extLst>
          </p:cNvPr>
          <p:cNvSpPr txBox="1"/>
          <p:nvPr/>
        </p:nvSpPr>
        <p:spPr>
          <a:xfrm>
            <a:off x="921868" y="3991613"/>
            <a:ext cx="9564549" cy="14811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prices of the goods are: P</a:t>
            </a:r>
            <a:r>
              <a:rPr lang="en-US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1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= Rs 4 and P</a:t>
            </a:r>
            <a:r>
              <a:rPr lang="en-US" sz="32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= Rs 10</a:t>
            </a: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The consumer’s Budget is Rs 100</a:t>
            </a:r>
            <a:endParaRPr lang="en-US" sz="3600" b="1" dirty="0">
              <a:effectLst/>
              <a:latin typeface="Times New Roman" panose="02020603050405020304" pitchFamily="18" charset="0"/>
              <a:ea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D73ECA-E3E1-144C-9DCC-C958E64BD788}"/>
                  </a:ext>
                </a:extLst>
              </p:cNvPr>
              <p:cNvSpPr txBox="1"/>
              <p:nvPr/>
            </p:nvSpPr>
            <p:spPr>
              <a:xfrm>
                <a:off x="921868" y="3075989"/>
                <a:ext cx="10050932" cy="5847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The Utility function of this consumer is: 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𝑼</m:t>
                    </m:r>
                    <m:r>
                      <a:rPr lang="en-US" sz="3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 </m:t>
                    </m:r>
                    <m:sSub>
                      <m:sSub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(</m:t>
                        </m:r>
                        <m: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US" sz="3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)</m:t>
                    </m:r>
                    <m:sSub>
                      <m:sSubPr>
                        <m:ctrlP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(</m:t>
                        </m:r>
                        <m: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D73ECA-E3E1-144C-9DCC-C958E64BD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68" y="3075989"/>
                <a:ext cx="10050932" cy="584775"/>
              </a:xfrm>
              <a:prstGeom prst="rect">
                <a:avLst/>
              </a:prstGeom>
              <a:blipFill>
                <a:blip r:embed="rId2"/>
                <a:stretch>
                  <a:fillRect t="-14894" b="-2766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367013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3B2252-EA4F-AC46-BEE4-1AE2538A2F90}"/>
                  </a:ext>
                </a:extLst>
              </p:cNvPr>
              <p:cNvSpPr txBox="1"/>
              <p:nvPr/>
            </p:nvSpPr>
            <p:spPr>
              <a:xfrm>
                <a:off x="1029447" y="887045"/>
                <a:ext cx="10945906" cy="9541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1A:  Construct  the </a:t>
                </a:r>
                <a:r>
                  <a:rPr lang="en-IN" sz="28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budget 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constraint as </a:t>
                </a:r>
                <a:endParaRPr lang="en-US" sz="2800" b="1" i="0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 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𝟒</m:t>
                      </m:r>
                      <m:sSub>
                        <m:sSub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28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28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</m:t>
                      </m:r>
                      <m:sSub>
                        <m:sSubPr>
                          <m:ctrlP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28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sz="28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A3B2252-EA4F-AC46-BEE4-1AE2538A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47" y="887045"/>
                <a:ext cx="10945906" cy="954107"/>
              </a:xfrm>
              <a:prstGeom prst="rect">
                <a:avLst/>
              </a:prstGeom>
              <a:blipFill>
                <a:blip r:embed="rId2"/>
                <a:stretch>
                  <a:fillRect l="-1160" t="-9333" b="-14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1380C-8298-6641-BF66-78255314F7AC}"/>
                  </a:ext>
                </a:extLst>
              </p:cNvPr>
              <p:cNvSpPr txBox="1"/>
              <p:nvPr/>
            </p:nvSpPr>
            <p:spPr>
              <a:xfrm>
                <a:off x="1048869" y="3347966"/>
                <a:ext cx="10945905" cy="221983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2:  Multiply the restructured constraint equation as:</a:t>
                </a:r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914400" indent="457200" algn="just">
                  <a:lnSpc>
                    <a:spcPct val="150000"/>
                  </a:lnSpc>
                </a:pPr>
                <a:r>
                  <a:rPr lang="en-IN" sz="32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𝟒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sSub>
                      <m:sSubPr>
                        <m:ctrlP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𝟏𝟎</m:t>
                        </m:r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−</m:t>
                    </m:r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𝟎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) =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𝟒</m:t>
                    </m:r>
                    <m:sSub>
                      <m:sSubPr>
                        <m:ctrlP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sSub>
                      <m:sSubPr>
                        <m:ctrlP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−</m:t>
                    </m:r>
                    <m:r>
                      <a:rPr lang="en-US" sz="32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𝟎</m:t>
                    </m:r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914400" marR="0" indent="4572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32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               Where </a:t>
                </a:r>
                <a14:m>
                  <m:oMath xmlns:m="http://schemas.openxmlformats.org/officeDocument/2006/math">
                    <m:r>
                      <a:rPr lang="en-IN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32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is an unknown factor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1380C-8298-6641-BF66-78255314F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69" y="3347966"/>
                <a:ext cx="10945905" cy="2219838"/>
              </a:xfrm>
              <a:prstGeom prst="rect">
                <a:avLst/>
              </a:prstGeom>
              <a:blipFill>
                <a:blip r:embed="rId3"/>
                <a:stretch>
                  <a:fillRect l="-1390" b="-738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6FAF4-F6FD-394F-A153-851CA3A61457}"/>
                  </a:ext>
                </a:extLst>
              </p:cNvPr>
              <p:cNvSpPr txBox="1"/>
              <p:nvPr/>
            </p:nvSpPr>
            <p:spPr>
              <a:xfrm>
                <a:off x="1029448" y="5828123"/>
                <a:ext cx="10945905" cy="218521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3:  Form the Lagrangian function by adding this the restructured constraint equation to the Utility Function:</a:t>
                </a:r>
              </a:p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15913" indent="1905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𝑼</m:t>
                      </m:r>
                      <m:r>
                        <a:rPr lang="en-US" sz="40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4000" b="1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40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IN" sz="40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US" sz="4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𝟒</m:t>
                      </m:r>
                      <m:sSub>
                        <m:sSubPr>
                          <m:ctrlP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40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IN" sz="4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sSub>
                        <m:sSubPr>
                          <m:ctrlP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</m:t>
                          </m:r>
                          <m: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40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IN" sz="40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US" sz="40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</m:t>
                      </m:r>
                      <m:r>
                        <a:rPr lang="en-IN" sz="40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  <m:r>
                        <a:rPr lang="en-IN" sz="4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</m:oMath>
                  </m:oMathPara>
                </a14:m>
                <a:endParaRPr lang="en-IN" sz="40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6FAF4-F6FD-394F-A153-851CA3A61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48" y="5828123"/>
                <a:ext cx="10945905" cy="2185214"/>
              </a:xfrm>
              <a:prstGeom prst="rect">
                <a:avLst/>
              </a:prstGeom>
              <a:blipFill>
                <a:blip r:embed="rId4"/>
                <a:stretch>
                  <a:fillRect l="-1392" t="-3448" r="-1392" b="-804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59A227-C218-FB42-BB92-3646E7DDDCE3}"/>
                  </a:ext>
                </a:extLst>
              </p:cNvPr>
              <p:cNvSpPr txBox="1"/>
              <p:nvPr/>
            </p:nvSpPr>
            <p:spPr>
              <a:xfrm>
                <a:off x="1029447" y="2055950"/>
                <a:ext cx="10945906" cy="10772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1B:  Restructure  the </a:t>
                </a:r>
                <a:r>
                  <a:rPr lang="en-IN" sz="3200" b="1" dirty="0"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budget </a:t>
                </a:r>
                <a:r>
                  <a:rPr lang="en-IN" sz="32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constraint as </a:t>
                </a:r>
                <a:endParaRPr lang="en-US" sz="3200" b="1" i="0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  <a:p>
                <a:pPr marL="0" marR="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 </m:t>
                      </m:r>
                      <m:r>
                        <a:rPr lang="en-US" sz="32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𝟒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IN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𝟏𝟎𝟎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59A227-C218-FB42-BB92-3646E7DDD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47" y="2055950"/>
                <a:ext cx="10945906" cy="1077218"/>
              </a:xfrm>
              <a:prstGeom prst="rect">
                <a:avLst/>
              </a:prstGeom>
              <a:blipFill>
                <a:blip r:embed="rId5"/>
                <a:stretch>
                  <a:fillRect l="-1392" t="-8140" b="-1279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FE01F5-2122-2C44-BC54-E41847836915}"/>
              </a:ext>
            </a:extLst>
          </p:cNvPr>
          <p:cNvSpPr txBox="1"/>
          <p:nvPr/>
        </p:nvSpPr>
        <p:spPr>
          <a:xfrm>
            <a:off x="253252" y="-11094"/>
            <a:ext cx="511884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2): Contd.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234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DAC2D-8A3B-0943-8CBD-A6B6758BF247}"/>
                  </a:ext>
                </a:extLst>
              </p:cNvPr>
              <p:cNvSpPr txBox="1"/>
              <p:nvPr/>
            </p:nvSpPr>
            <p:spPr>
              <a:xfrm>
                <a:off x="672353" y="1495087"/>
                <a:ext cx="11660094" cy="13849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4A:  Find the partial derivative of U, with respect to each of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and equate each of these partially differentiated functions to 0 (as per the 1</a:t>
                </a:r>
                <a:r>
                  <a:rPr lang="en-IN" sz="2800" b="1" baseline="30000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order condition of minimization):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8DAC2D-8A3B-0943-8CBD-A6B6758BF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1495087"/>
                <a:ext cx="11660094" cy="1384995"/>
              </a:xfrm>
              <a:prstGeom prst="rect">
                <a:avLst/>
              </a:prstGeom>
              <a:blipFill>
                <a:blip r:embed="rId2"/>
                <a:stretch>
                  <a:fillRect l="-1087" t="-4545" r="-1087" b="-118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A78BB-F98D-394F-A8A4-27AFA9361B0C}"/>
                  </a:ext>
                </a:extLst>
              </p:cNvPr>
              <p:cNvSpPr txBox="1"/>
              <p:nvPr/>
            </p:nvSpPr>
            <p:spPr>
              <a:xfrm>
                <a:off x="672353" y="3220850"/>
                <a:ext cx="11660094" cy="18154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286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𝑼</m:t>
                          </m:r>
                        </m:num>
                        <m:den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f>
                        <m:fPr>
                          <m:ctrlP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I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</m:t>
                          </m:r>
                          <m:r>
                            <a:rPr lang="en-I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𝟏𝟎𝟎</m:t>
                          </m:r>
                          <m:r>
                            <a:rPr lang="en-I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6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36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   </m:t>
                      </m:r>
                    </m:oMath>
                  </m:oMathPara>
                </a14:m>
                <a:endParaRPr lang="en-US" sz="3600" b="1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AA78BB-F98D-394F-A8A4-27AFA9361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3220850"/>
                <a:ext cx="11660094" cy="1815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EC3946-2A61-974F-B7EB-21AAC19D3CE7}"/>
                  </a:ext>
                </a:extLst>
              </p:cNvPr>
              <p:cNvSpPr txBox="1"/>
              <p:nvPr/>
            </p:nvSpPr>
            <p:spPr>
              <a:xfrm>
                <a:off x="672353" y="6512329"/>
                <a:ext cx="11660094" cy="910314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000" b="0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40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ence</m:t>
                    </m:r>
                    <m:r>
                      <a:rPr lang="en-IN" sz="40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,     </m:t>
                    </m:r>
                    <m:r>
                      <a:rPr lang="en-IN" sz="4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0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IN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4000" b="1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…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IN" sz="4000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EC3946-2A61-974F-B7EB-21AAC19D3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6512329"/>
                <a:ext cx="11660094" cy="910314"/>
              </a:xfrm>
              <a:prstGeom prst="rect">
                <a:avLst/>
              </a:prstGeom>
              <a:blipFill>
                <a:blip r:embed="rId4"/>
                <a:stretch>
                  <a:fillRect b="-821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F37864-377F-CA47-BC72-F17C4EC747F1}"/>
              </a:ext>
            </a:extLst>
          </p:cNvPr>
          <p:cNvSpPr txBox="1"/>
          <p:nvPr/>
        </p:nvSpPr>
        <p:spPr>
          <a:xfrm>
            <a:off x="253252" y="-11094"/>
            <a:ext cx="511884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2): Contd.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126164-BD1C-E64E-A6BB-07E610821CBD}"/>
                  </a:ext>
                </a:extLst>
              </p:cNvPr>
              <p:cNvSpPr txBox="1"/>
              <p:nvPr/>
            </p:nvSpPr>
            <p:spPr>
              <a:xfrm>
                <a:off x="672353" y="5193063"/>
                <a:ext cx="11660094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22860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sz="36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IN" sz="36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sz="36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36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𝟒</m:t>
                      </m:r>
                      <m:r>
                        <a:rPr lang="en-IN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IN" sz="36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126164-BD1C-E64E-A6BB-07E61082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5193063"/>
                <a:ext cx="11660094" cy="923330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9132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BBE354-7FB1-D240-96DE-03B4326AEA9E}"/>
                  </a:ext>
                </a:extLst>
              </p:cNvPr>
              <p:cNvSpPr txBox="1"/>
              <p:nvPr/>
            </p:nvSpPr>
            <p:spPr>
              <a:xfrm>
                <a:off x="672353" y="3235376"/>
                <a:ext cx="11660093" cy="16240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𝑼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(</m:t>
                              </m:r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b="1" i="1">
                                  <a:effectLst/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b="1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BBE354-7FB1-D240-96DE-03B4326A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3235376"/>
                <a:ext cx="11660093" cy="16240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444E4-FF42-4D40-8602-2C0EB54F1B2F}"/>
                  </a:ext>
                </a:extLst>
              </p:cNvPr>
              <p:cNvSpPr txBox="1"/>
              <p:nvPr/>
            </p:nvSpPr>
            <p:spPr>
              <a:xfrm>
                <a:off x="672354" y="1723687"/>
                <a:ext cx="11660094" cy="13849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4B:  Find the partial derivative of U, with respect to each of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and equate each of these partially differentiated functions to 0 (as per the 1</a:t>
                </a:r>
                <a:r>
                  <a:rPr lang="en-IN" sz="2800" b="1" baseline="30000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order condition of minimization):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444E4-FF42-4D40-8602-2C0EB54F1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4" y="1723687"/>
                <a:ext cx="11660094" cy="1384995"/>
              </a:xfrm>
              <a:prstGeom prst="rect">
                <a:avLst/>
              </a:prstGeom>
              <a:blipFill>
                <a:blip r:embed="rId3"/>
                <a:stretch>
                  <a:fillRect l="-1087" t="-4545" r="-1087" b="-118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F8B4C7-3FA1-DF4A-BD1A-0ADB6F0ECF45}"/>
                  </a:ext>
                </a:extLst>
              </p:cNvPr>
              <p:cNvSpPr txBox="1"/>
              <p:nvPr/>
            </p:nvSpPr>
            <p:spPr>
              <a:xfrm>
                <a:off x="672353" y="5028420"/>
                <a:ext cx="11660093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</m:t>
                      </m:r>
                      <m:r>
                        <a:rPr lang="en-IN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𝝀</m:t>
                      </m:r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IN" sz="3200" b="1" dirty="0">
                  <a:effectLst/>
                  <a:latin typeface="Times New Roman" panose="020206030504050203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F8B4C7-3FA1-DF4A-BD1A-0ADB6F0EC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5028420"/>
                <a:ext cx="11660093" cy="830997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310257-E531-7D45-B157-DEB97ED330E5}"/>
                  </a:ext>
                </a:extLst>
              </p:cNvPr>
              <p:cNvSpPr txBox="1"/>
              <p:nvPr/>
            </p:nvSpPr>
            <p:spPr>
              <a:xfrm>
                <a:off x="672353" y="6189034"/>
                <a:ext cx="11660094" cy="910314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4000" b="0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40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ence</m:t>
                    </m:r>
                    <m:r>
                      <a:rPr lang="en-IN" sz="40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,     </m:t>
                    </m:r>
                    <m:r>
                      <a:rPr lang="en-IN" sz="4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4000" b="1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40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𝟏𝟎</m:t>
                        </m:r>
                      </m:den>
                    </m:f>
                    <m:r>
                      <a:rPr lang="en-IN" sz="40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 …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0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IN" sz="4000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C310257-E531-7D45-B157-DEB97ED33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6189034"/>
                <a:ext cx="11660094" cy="910314"/>
              </a:xfrm>
              <a:prstGeom prst="rect">
                <a:avLst/>
              </a:prstGeom>
              <a:blipFill>
                <a:blip r:embed="rId5"/>
                <a:stretch>
                  <a:fillRect t="-8219" b="-821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E0D793C-C474-5B4E-9498-505B60D48756}"/>
              </a:ext>
            </a:extLst>
          </p:cNvPr>
          <p:cNvSpPr txBox="1"/>
          <p:nvPr/>
        </p:nvSpPr>
        <p:spPr>
          <a:xfrm>
            <a:off x="253252" y="-11094"/>
            <a:ext cx="511884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2): Contd.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13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B803EA-DCDB-6A46-9947-BFD766115519}"/>
                  </a:ext>
                </a:extLst>
              </p:cNvPr>
              <p:cNvSpPr txBox="1"/>
              <p:nvPr/>
            </p:nvSpPr>
            <p:spPr>
              <a:xfrm>
                <a:off x="672354" y="3325285"/>
                <a:ext cx="11660094" cy="155151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5563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f>
                        <m:fPr>
                          <m:ctrlPr>
                            <a:rPr lang="en-IN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𝑼</m:t>
                          </m:r>
                        </m:num>
                        <m:den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</m:den>
                      </m:f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f>
                        <m:fPr>
                          <m:ctrlP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(</m:t>
                              </m:r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+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sSub>
                            <m:sSubPr>
                              <m:ctrlP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IN" sz="3200" b="1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−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𝟏𝟎𝟎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)</m:t>
                          </m:r>
                        </m:num>
                        <m:den>
                          <m:r>
                            <a:rPr lang="en-US" sz="3200" b="1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𝝏</m:t>
                          </m:r>
                          <m:r>
                            <a:rPr lang="en-IN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𝝀</m:t>
                          </m:r>
                        </m:den>
                      </m:f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B803EA-DCDB-6A46-9947-BFD766115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4" y="3325285"/>
                <a:ext cx="11660094" cy="15515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A6E1E-6777-6142-9D00-064BA2F7C8D6}"/>
                  </a:ext>
                </a:extLst>
              </p:cNvPr>
              <p:cNvSpPr txBox="1"/>
              <p:nvPr/>
            </p:nvSpPr>
            <p:spPr>
              <a:xfrm>
                <a:off x="672354" y="5027023"/>
                <a:ext cx="11660093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55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 </m:t>
                      </m:r>
                      <m:sSub>
                        <m:sSub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𝟒</m:t>
                          </m:r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𝟏</m:t>
                          </m:r>
                        </m:sub>
                      </m:sSub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+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</m:t>
                      </m:r>
                      <m:sSub>
                        <m:sSubPr>
                          <m:ctrlPr>
                            <a:rPr lang="en-IN" sz="3200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𝒒</m:t>
                          </m:r>
                        </m:e>
                        <m:sub>
                          <m:r>
                            <a:rPr lang="en-US" sz="3200" b="1" i="1">
                              <a:effectLst/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</a:rPr>
                            <m:t>𝟐</m:t>
                          </m:r>
                        </m:sub>
                      </m:sSub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−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𝟏𝟎𝟎</m:t>
                      </m:r>
                      <m:r>
                        <a:rPr lang="en-US" sz="3200" b="1" i="1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=</m:t>
                      </m:r>
                      <m:r>
                        <a:rPr lang="en-US" sz="3200" b="1" i="1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𝟎</m:t>
                      </m:r>
                    </m:oMath>
                  </m:oMathPara>
                </a14:m>
                <a:endParaRPr lang="en-US" sz="3200" i="1" dirty="0">
                  <a:effectLst/>
                  <a:latin typeface="Cambria Math" panose="02040503050406030204" pitchFamily="18" charset="0"/>
                  <a:ea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A6E1E-6777-6142-9D00-064BA2F7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4" y="5027023"/>
                <a:ext cx="11660093" cy="830997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B2FE437-B0C8-9447-88E1-C9D5F4ECF246}"/>
              </a:ext>
            </a:extLst>
          </p:cNvPr>
          <p:cNvSpPr txBox="1"/>
          <p:nvPr/>
        </p:nvSpPr>
        <p:spPr>
          <a:xfrm>
            <a:off x="253252" y="-11094"/>
            <a:ext cx="511884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2): Contd.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80CE14-6DD6-D444-A47D-CF438A6FA791}"/>
                  </a:ext>
                </a:extLst>
              </p:cNvPr>
              <p:cNvSpPr txBox="1"/>
              <p:nvPr/>
            </p:nvSpPr>
            <p:spPr>
              <a:xfrm>
                <a:off x="672354" y="1723687"/>
                <a:ext cx="11660094" cy="13849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Step 4C:  Find the partial derivative of U, with respect to each of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,  </m:t>
                    </m:r>
                    <m:sSub>
                      <m:sSubPr>
                        <m:ctrlP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𝒂𝒏𝒅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𝝀</m:t>
                    </m:r>
                  </m:oMath>
                </a14:m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and equate each of these partially differentiated functions to 0 (as per the 1</a:t>
                </a:r>
                <a:r>
                  <a:rPr lang="en-IN" sz="2800" b="1" baseline="30000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st</a:t>
                </a:r>
                <a:r>
                  <a:rPr lang="en-IN" sz="2800" b="1" dirty="0">
                    <a:effectLst/>
                    <a:latin typeface="Times New Roman" panose="02020603050405020304" pitchFamily="18" charset="0"/>
                    <a:ea typeface="Arial Unicode MS" panose="020B0604020202020204" pitchFamily="34" charset="-128"/>
                  </a:rPr>
                  <a:t> order condition of minimization):</a:t>
                </a:r>
                <a:endParaRPr lang="en-IN" sz="28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80CE14-6DD6-D444-A47D-CF438A6FA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4" y="1723687"/>
                <a:ext cx="11660094" cy="1384995"/>
              </a:xfrm>
              <a:prstGeom prst="rect">
                <a:avLst/>
              </a:prstGeom>
              <a:blipFill>
                <a:blip r:embed="rId4"/>
                <a:stretch>
                  <a:fillRect l="-1087" t="-4545" r="-1087" b="-1181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AD82AF-D26C-9248-A6AD-CD3DB4806190}"/>
                  </a:ext>
                </a:extLst>
              </p:cNvPr>
              <p:cNvSpPr txBox="1"/>
              <p:nvPr/>
            </p:nvSpPr>
            <p:spPr>
              <a:xfrm>
                <a:off x="672353" y="6189034"/>
                <a:ext cx="11660094" cy="584775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en-IN" sz="32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ence</m:t>
                    </m:r>
                    <m:r>
                      <a:rPr lang="en-IN" sz="3200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US" sz="32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US" sz="32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𝟏𝟎𝟎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IN" sz="32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𝒆𝒒</m:t>
                    </m:r>
                    <m:r>
                      <a:rPr lang="en-IN" sz="32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32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en-IN" sz="3200" dirty="0">
                    <a:solidFill>
                      <a:srgbClr val="C00000"/>
                    </a:solidFill>
                    <a:effectLst/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AD82AF-D26C-9248-A6AD-CD3DB480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6189034"/>
                <a:ext cx="11660094" cy="584775"/>
              </a:xfrm>
              <a:prstGeom prst="rect">
                <a:avLst/>
              </a:prstGeom>
              <a:blipFill>
                <a:blip r:embed="rId5"/>
                <a:stretch>
                  <a:fillRect b="-2340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8243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4ABB3D-BA66-634C-A451-B5BA5BF715ED}"/>
              </a:ext>
            </a:extLst>
          </p:cNvPr>
          <p:cNvSpPr txBox="1"/>
          <p:nvPr/>
        </p:nvSpPr>
        <p:spPr>
          <a:xfrm>
            <a:off x="253252" y="644319"/>
            <a:ext cx="2851898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From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1&amp;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2DF4A-FE4B-274B-876F-0EA247303308}"/>
              </a:ext>
            </a:extLst>
          </p:cNvPr>
          <p:cNvSpPr txBox="1"/>
          <p:nvPr/>
        </p:nvSpPr>
        <p:spPr>
          <a:xfrm>
            <a:off x="568630" y="2364046"/>
            <a:ext cx="1045501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463" marR="0" indent="-17463"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Substituting this value of q</a:t>
            </a:r>
            <a:r>
              <a:rPr lang="en-IN" sz="28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into </a:t>
            </a:r>
            <a:r>
              <a:rPr lang="en-IN" sz="2800" b="1" dirty="0" err="1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eq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3, we can get the value of q</a:t>
            </a:r>
            <a:r>
              <a:rPr lang="en-IN" sz="28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as: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AD2C9-6959-A849-BE61-2E515A05A64C}"/>
              </a:ext>
            </a:extLst>
          </p:cNvPr>
          <p:cNvSpPr txBox="1"/>
          <p:nvPr/>
        </p:nvSpPr>
        <p:spPr>
          <a:xfrm>
            <a:off x="9307825" y="7059966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2577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A378D3-97F3-E241-B2AA-C576A4336BD0}"/>
                  </a:ext>
                </a:extLst>
              </p:cNvPr>
              <p:cNvSpPr txBox="1"/>
              <p:nvPr/>
            </p:nvSpPr>
            <p:spPr>
              <a:xfrm>
                <a:off x="3393467" y="567057"/>
                <a:ext cx="1727308" cy="94275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3200" i="1" smtClean="0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  <a:cs typeface="Times New Roman" panose="02020603050405020304" pitchFamily="18" charset="0"/>
                            </a:rPr>
                            <m:t>𝟒</m:t>
                          </m:r>
                        </m:den>
                      </m:f>
                      <m:r>
                        <a:rPr lang="en-IN" sz="3200" i="1">
                          <a:latin typeface="Cambria Math" panose="020405030504060302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200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</a:rPr>
                              </m:ctrlPr>
                            </m:sSub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  <a:cs typeface="Times New Roman" panose="020206030504050203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Arial Unicode MS" panose="020B0604020202020204" pitchFamily="34" charset="-128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Arial Unicode MS" panose="020B0604020202020204" pitchFamily="34" charset="-128"/>
                              <a:cs typeface="Times New Roman" panose="020206030504050203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A378D3-97F3-E241-B2AA-C576A4336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467" y="567057"/>
                <a:ext cx="1727308" cy="942759"/>
              </a:xfrm>
              <a:prstGeom prst="rect">
                <a:avLst/>
              </a:prstGeom>
              <a:blipFill>
                <a:blip r:embed="rId2"/>
                <a:stretch>
                  <a:fillRect l="-4380" b="-789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F9CDE9-B615-7B44-A74B-FDF13F9112BF}"/>
                  </a:ext>
                </a:extLst>
              </p:cNvPr>
              <p:cNvSpPr txBox="1"/>
              <p:nvPr/>
            </p:nvSpPr>
            <p:spPr>
              <a:xfrm>
                <a:off x="7669177" y="3189881"/>
                <a:ext cx="3873205" cy="66120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𝟎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sSub>
                      <m:sSub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𝟎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 </m:t>
                    </m:r>
                  </m:oMath>
                </a14:m>
                <a:r>
                  <a:rPr lang="en-IN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F9CDE9-B615-7B44-A74B-FDF13F911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177" y="3189881"/>
                <a:ext cx="3873205" cy="661207"/>
              </a:xfrm>
              <a:prstGeom prst="rect">
                <a:avLst/>
              </a:prstGeom>
              <a:blipFill>
                <a:blip r:embed="rId3"/>
                <a:stretch>
                  <a:fillRect l="-654" b="-1886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C2F319-7E6C-B140-8A67-37CA04E55C0A}"/>
                  </a:ext>
                </a:extLst>
              </p:cNvPr>
              <p:cNvSpPr txBox="1"/>
              <p:nvPr/>
            </p:nvSpPr>
            <p:spPr>
              <a:xfrm>
                <a:off x="365439" y="4840949"/>
                <a:ext cx="2209782" cy="80131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indent="-514350"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IN" sz="32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IN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IN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sz="3200" i="1" dirty="0">
                    <a:effectLst/>
                    <a:latin typeface="Cambria Math" panose="02040503050406030204" pitchFamily="18" charset="0"/>
                    <a:ea typeface="Arial Unicode MS" panose="020B0604020202020204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C2F319-7E6C-B140-8A67-37CA04E55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39" y="4840949"/>
                <a:ext cx="2209782" cy="801310"/>
              </a:xfrm>
              <a:prstGeom prst="rect">
                <a:avLst/>
              </a:prstGeom>
              <a:blipFill>
                <a:blip r:embed="rId4"/>
                <a:stretch>
                  <a:fillRect l="-2286" b="-6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74F0238-DEC8-514D-8977-EBA1D82D6E64}"/>
              </a:ext>
            </a:extLst>
          </p:cNvPr>
          <p:cNvSpPr txBox="1"/>
          <p:nvPr/>
        </p:nvSpPr>
        <p:spPr>
          <a:xfrm>
            <a:off x="282889" y="6524777"/>
            <a:ext cx="12217713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Hence, optimal values of the goods are: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t>                                                          q</a:t>
            </a:r>
            <a:r>
              <a:rPr lang="en-IN" sz="2800" b="1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1</a:t>
            </a:r>
            <a:r>
              <a:rPr lang="en-IN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</a:t>
            </a:r>
            <a:r>
              <a:rPr lang="en-IN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= 12.5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units and q</a:t>
            </a:r>
            <a:r>
              <a:rPr lang="en-IN" sz="2800" b="1" baseline="-25000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2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=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</a:rPr>
              <a:t>5</a:t>
            </a:r>
            <a:r>
              <a:rPr lang="en-IN" sz="28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 units respectively</a:t>
            </a:r>
            <a:endParaRPr lang="en-IN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14C6D0-E4AB-CF4C-8D3C-DCB4C950F952}"/>
                  </a:ext>
                </a:extLst>
              </p:cNvPr>
              <p:cNvSpPr txBox="1"/>
              <p:nvPr/>
            </p:nvSpPr>
            <p:spPr>
              <a:xfrm>
                <a:off x="568630" y="7795776"/>
                <a:ext cx="3520575" cy="7386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𝐌𝐚𝐱𝐢𝐦𝐢𝐬𝐞𝐝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𝐔𝐭𝐢𝐥𝐢𝐭𝐲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𝐢𝐬</m:t>
                      </m:r>
                      <m:r>
                        <a:rPr lang="en-US" sz="2800" b="1" i="0" smtClean="0">
                          <a:effectLst/>
                          <a:latin typeface="Cambria Math" panose="02040503050406030204" pitchFamily="18" charset="0"/>
                          <a:ea typeface="Arial Unicode MS" panose="020B0604020202020204" pitchFamily="34" charset="-128"/>
                        </a:rPr>
                        <m:t> </m:t>
                      </m:r>
                    </m:oMath>
                  </m:oMathPara>
                </a14:m>
                <a:endParaRPr lang="en-US" sz="2800" b="1" i="0" dirty="0">
                  <a:effectLst/>
                  <a:latin typeface="Times New Roman" panose="02020603050405020304" pitchFamily="18" charset="0"/>
                  <a:ea typeface="Arial Unicode MS" panose="020B0604020202020204" pitchFamily="34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14C6D0-E4AB-CF4C-8D3C-DCB4C950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30" y="7795776"/>
                <a:ext cx="3520575" cy="738664"/>
              </a:xfrm>
              <a:prstGeom prst="rect">
                <a:avLst/>
              </a:prstGeom>
              <a:blipFill>
                <a:blip r:embed="rId5"/>
                <a:stretch>
                  <a:fillRect l="-1075" r="-4301" b="-678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571D1-45DB-F542-9155-41822F16BA1E}"/>
                  </a:ext>
                </a:extLst>
              </p:cNvPr>
              <p:cNvSpPr txBox="1"/>
              <p:nvPr/>
            </p:nvSpPr>
            <p:spPr>
              <a:xfrm>
                <a:off x="4207801" y="7824074"/>
                <a:ext cx="2580340" cy="6612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𝑼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=(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𝒒</m:t>
                    </m:r>
                    <m:r>
                      <a:rPr lang="en-US" sz="2800" b="1" i="1" baseline="-250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)∗(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𝒒</m:t>
                    </m:r>
                    <m:r>
                      <a:rPr lang="en-US" sz="2800" b="1" i="1" baseline="-250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IN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E571D1-45DB-F542-9155-41822F16B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801" y="7824074"/>
                <a:ext cx="2580340" cy="661207"/>
              </a:xfrm>
              <a:prstGeom prst="rect">
                <a:avLst/>
              </a:prstGeom>
              <a:blipFill>
                <a:blip r:embed="rId6"/>
                <a:stretch>
                  <a:fillRect l="-490" r="-2451" b="-2592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F3153BE-898F-E545-9990-E71E4D22C995}"/>
              </a:ext>
            </a:extLst>
          </p:cNvPr>
          <p:cNvSpPr txBox="1"/>
          <p:nvPr/>
        </p:nvSpPr>
        <p:spPr>
          <a:xfrm>
            <a:off x="253252" y="-11094"/>
            <a:ext cx="5118848" cy="498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rial Unicode MS" panose="020B0604020202020204" pitchFamily="34" charset="-128"/>
              </a:rPr>
              <a:t>Solution (Illustration No. 2): Contd.</a:t>
            </a:r>
            <a:endParaRPr lang="en-I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B2C538-4510-B747-B300-4C73C5C18857}"/>
                  </a:ext>
                </a:extLst>
              </p:cNvPr>
              <p:cNvSpPr txBox="1"/>
              <p:nvPr/>
            </p:nvSpPr>
            <p:spPr>
              <a:xfrm>
                <a:off x="5409092" y="617299"/>
                <a:ext cx="3715169" cy="80368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𝒂𝒏𝒅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𝒔𝒐</m:t>
                    </m:r>
                    <m:r>
                      <a:rPr lang="en-IN" sz="32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   </m:t>
                    </m:r>
                    <m:sSub>
                      <m:sSubPr>
                        <m:ctrlPr>
                          <a:rPr lang="en-IN" sz="32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32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sz="3200" b="1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IN" sz="3200" b="1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sz="3200" dirty="0">
                    <a:solidFill>
                      <a:schemeClr val="accent1">
                        <a:lumMod val="75000"/>
                      </a:schemeClr>
                    </a:solidFill>
                    <a:effectLst/>
                  </a:rPr>
                  <a:t> </a:t>
                </a:r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6B2C538-4510-B747-B300-4C73C5C1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092" y="617299"/>
                <a:ext cx="3715169" cy="803682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613685-3364-2342-B626-1F0AF82E323C}"/>
                  </a:ext>
                </a:extLst>
              </p:cNvPr>
              <p:cNvSpPr txBox="1"/>
              <p:nvPr/>
            </p:nvSpPr>
            <p:spPr>
              <a:xfrm>
                <a:off x="3662622" y="3232079"/>
                <a:ext cx="3873205" cy="94525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𝟒</m:t>
                    </m:r>
                    <m:r>
                      <a:rPr lang="en-US" sz="28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IN" sz="2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8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IN" sz="28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𝟏</m:t>
                            </m:r>
                            <m:r>
                              <a:rPr lang="en-US" sz="2800" b="1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𝟎</m:t>
                            </m:r>
                            <m:r>
                              <a:rPr lang="en-IN" sz="28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𝒒</m:t>
                            </m:r>
                          </m:e>
                          <m:sub>
                            <m:r>
                              <a:rPr lang="en-IN" sz="2800" b="1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𝟒</m:t>
                        </m:r>
                      </m:den>
                    </m:f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 </m:t>
                    </m:r>
                    <m:sSub>
                      <m:sSub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𝟏𝟎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𝟎</m:t>
                    </m:r>
                  </m:oMath>
                </a14:m>
                <a:r>
                  <a:rPr lang="en-IN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613685-3364-2342-B626-1F0AF82E3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22" y="3232079"/>
                <a:ext cx="3873205" cy="945259"/>
              </a:xfrm>
              <a:prstGeom prst="rect">
                <a:avLst/>
              </a:prstGeom>
              <a:blipFill>
                <a:blip r:embed="rId8"/>
                <a:stretch>
                  <a:fillRect l="-654" b="-4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5BD9ED-9BB3-444F-A073-7791E874C5EA}"/>
                  </a:ext>
                </a:extLst>
              </p:cNvPr>
              <p:cNvSpPr txBox="1"/>
              <p:nvPr/>
            </p:nvSpPr>
            <p:spPr>
              <a:xfrm>
                <a:off x="282889" y="3267282"/>
                <a:ext cx="3341633" cy="52322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𝟒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+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𝟏𝟎𝟎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5BD9ED-9BB3-444F-A073-7791E874C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89" y="3267282"/>
                <a:ext cx="3341633" cy="523220"/>
              </a:xfrm>
              <a:prstGeom prst="rect">
                <a:avLst/>
              </a:prstGeom>
              <a:blipFill>
                <a:blip r:embed="rId9"/>
                <a:stretch>
                  <a:fillRect l="-2273" b="-16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FA9471-C480-0D43-B64B-0B08C8A81526}"/>
                  </a:ext>
                </a:extLst>
              </p:cNvPr>
              <p:cNvSpPr txBox="1"/>
              <p:nvPr/>
            </p:nvSpPr>
            <p:spPr>
              <a:xfrm>
                <a:off x="7669177" y="3948196"/>
                <a:ext cx="2209782" cy="66120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𝟎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𝟏𝟎</m:t>
                    </m:r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𝟎</m:t>
                    </m:r>
                  </m:oMath>
                </a14:m>
                <a:r>
                  <a:rPr lang="en-IN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AFA9471-C480-0D43-B64B-0B08C8A81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177" y="3948196"/>
                <a:ext cx="2209782" cy="661207"/>
              </a:xfrm>
              <a:prstGeom prst="rect">
                <a:avLst/>
              </a:prstGeom>
              <a:blipFill>
                <a:blip r:embed="rId10"/>
                <a:stretch>
                  <a:fillRect l="-1136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44B23E-14D7-9148-83B7-5B035C2DC04B}"/>
                  </a:ext>
                </a:extLst>
              </p:cNvPr>
              <p:cNvSpPr txBox="1"/>
              <p:nvPr/>
            </p:nvSpPr>
            <p:spPr>
              <a:xfrm>
                <a:off x="10012309" y="3935097"/>
                <a:ext cx="2517930" cy="94808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IN" sz="2800" b="1" i="1"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sz="2800" b="1" i="1" smtClean="0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IN" sz="2800" b="1" i="1"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𝟎</m:t>
                        </m:r>
                      </m:den>
                    </m:f>
                    <m:r>
                      <a:rPr lang="en-IN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  <a:effectLst/>
                  </a:rPr>
                  <a:t>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44B23E-14D7-9148-83B7-5B035C2DC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309" y="3935097"/>
                <a:ext cx="2517930" cy="948080"/>
              </a:xfrm>
              <a:prstGeom prst="rect">
                <a:avLst/>
              </a:prstGeom>
              <a:blipFill>
                <a:blip r:embed="rId11"/>
                <a:stretch>
                  <a:fillRect l="-1508" b="-2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EE2F14-A187-9D46-B71F-26E9A93EC7CA}"/>
                  </a:ext>
                </a:extLst>
              </p:cNvPr>
              <p:cNvSpPr txBox="1"/>
              <p:nvPr/>
            </p:nvSpPr>
            <p:spPr>
              <a:xfrm>
                <a:off x="2708571" y="4852321"/>
                <a:ext cx="2343132" cy="80131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indent="-514350"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𝒒</m:t>
                        </m:r>
                      </m:e>
                      <m:sub>
                        <m: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IN" sz="32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𝟏𝟎</m:t>
                        </m:r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∗</m:t>
                        </m:r>
                        <m:r>
                          <a:rPr lang="en-US" sz="32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𝟓</m:t>
                        </m:r>
                      </m:num>
                      <m:den>
                        <m:r>
                          <a:rPr lang="en-US" sz="32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IN" sz="3200" i="1" dirty="0">
                    <a:latin typeface="Cambria Math" panose="02040503050406030204" pitchFamily="18" charset="0"/>
                    <a:ea typeface="Arial Unicode MS" panose="020B0604020202020204" pitchFamily="34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1EE2F14-A187-9D46-B71F-26E9A93EC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571" y="4852321"/>
                <a:ext cx="2343132" cy="801310"/>
              </a:xfrm>
              <a:prstGeom prst="rect">
                <a:avLst/>
              </a:prstGeom>
              <a:blipFill>
                <a:blip r:embed="rId12"/>
                <a:stretch>
                  <a:fillRect l="-2703" b="-952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6C7AF-190B-4843-9650-A9B0D787486C}"/>
                  </a:ext>
                </a:extLst>
              </p:cNvPr>
              <p:cNvSpPr txBox="1"/>
              <p:nvPr/>
            </p:nvSpPr>
            <p:spPr>
              <a:xfrm>
                <a:off x="5232961" y="4920857"/>
                <a:ext cx="2343132" cy="58477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514350" marR="0" indent="-514350" algn="just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 </m:t>
                        </m:r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𝒒</m:t>
                        </m:r>
                      </m:e>
                      <m:sub>
                        <m:r>
                          <a:rPr lang="en-IN" sz="32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rial Unicode MS" panose="020B0604020202020204" pitchFamily="34" charset="-128"/>
                          </a:rPr>
                          <m:t>𝟏</m:t>
                        </m:r>
                      </m:sub>
                    </m:sSub>
                    <m:r>
                      <a:rPr lang="en-IN" sz="32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𝟏𝟐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.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rial Unicode MS" panose="020B0604020202020204" pitchFamily="34" charset="-128"/>
                      </a:rPr>
                      <m:t>𝟓</m:t>
                    </m:r>
                  </m:oMath>
                </a14:m>
                <a:r>
                  <a:rPr lang="en-IN" sz="3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1A6C7AF-190B-4843-9650-A9B0D7874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961" y="4920857"/>
                <a:ext cx="2343132" cy="584775"/>
              </a:xfrm>
              <a:prstGeom prst="rect">
                <a:avLst/>
              </a:prstGeom>
              <a:blipFill>
                <a:blip r:embed="rId13"/>
                <a:stretch>
                  <a:fillRect l="-4301" b="-2553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AB4F08-7459-2843-9452-372FCAED3678}"/>
                  </a:ext>
                </a:extLst>
              </p:cNvPr>
              <p:cNvSpPr txBox="1"/>
              <p:nvPr/>
            </p:nvSpPr>
            <p:spPr>
              <a:xfrm>
                <a:off x="9576142" y="7834504"/>
                <a:ext cx="2580340" cy="6612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𝟔𝟐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𝟓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𝒖𝒕𝒊𝒍𝒔</m:t>
                    </m:r>
                  </m:oMath>
                </a14:m>
                <a:r>
                  <a:rPr lang="en-IN" sz="2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0AB4F08-7459-2843-9452-372FCAED3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142" y="7834504"/>
                <a:ext cx="2580340" cy="661207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878DFF-54AC-8048-BD53-53F98E12079C}"/>
                  </a:ext>
                </a:extLst>
              </p:cNvPr>
              <p:cNvSpPr txBox="1"/>
              <p:nvPr/>
            </p:nvSpPr>
            <p:spPr>
              <a:xfrm>
                <a:off x="6882771" y="7834504"/>
                <a:ext cx="2527231" cy="66120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17463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=(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𝟏𝟐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𝟓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)∗(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𝟓</m:t>
                    </m:r>
                    <m:r>
                      <a:rPr lang="en-US" sz="28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878DFF-54AC-8048-BD53-53F98E12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771" y="7834504"/>
                <a:ext cx="2527231" cy="661207"/>
              </a:xfrm>
              <a:prstGeom prst="rect">
                <a:avLst/>
              </a:prstGeom>
              <a:blipFill>
                <a:blip r:embed="rId15"/>
                <a:stretch>
                  <a:fillRect r="-498" b="-1481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0819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4718</TotalTime>
  <Words>2642</Words>
  <Application>Microsoft Macintosh PowerPoint</Application>
  <PresentationFormat>Custom</PresentationFormat>
  <Paragraphs>662</Paragraphs>
  <Slides>50</Slides>
  <Notes>2</Notes>
  <HiddenSlides>16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 Unicode MS</vt:lpstr>
      <vt:lpstr>Calibri</vt:lpstr>
      <vt:lpstr>Cambria Math</vt:lpstr>
      <vt:lpstr>Helvetica</vt:lpstr>
      <vt:lpstr>Helvetica Light</vt:lpstr>
      <vt:lpstr>Helvetica Neue</vt:lpstr>
      <vt:lpstr>Times New Roman</vt:lpstr>
      <vt:lpstr>White</vt:lpstr>
      <vt:lpstr>COST OF PRODUCTION</vt:lpstr>
      <vt:lpstr>Short Run Costs</vt:lpstr>
      <vt:lpstr>PowerPoint Presentation</vt:lpstr>
      <vt:lpstr>PowerPoint Presentation</vt:lpstr>
      <vt:lpstr>PowerPoint Presentation</vt:lpstr>
      <vt:lpstr>3  TOTAL COST</vt:lpstr>
      <vt:lpstr>PowerPoint Presentation</vt:lpstr>
      <vt:lpstr>SHORT RUN COST FORMULAE   (A Snap-Shot)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AC &amp; MC Relationships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Measuring AC &amp; MC  via  The TC curve and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of AC Curve</dc:title>
  <cp:lastModifiedBy>Aggie Menezes</cp:lastModifiedBy>
  <cp:revision>155</cp:revision>
  <dcterms:modified xsi:type="dcterms:W3CDTF">2025-10-26T03:20:54Z</dcterms:modified>
</cp:coreProperties>
</file>